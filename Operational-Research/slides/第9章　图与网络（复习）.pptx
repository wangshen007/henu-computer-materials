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67" r:id="rId2"/>
  </p:sldMasterIdLst>
  <p:notesMasterIdLst>
    <p:notesMasterId r:id="rId63"/>
  </p:notesMasterIdLst>
  <p:handoutMasterIdLst>
    <p:handoutMasterId r:id="rId64"/>
  </p:handoutMasterIdLst>
  <p:sldIdLst>
    <p:sldId id="417" r:id="rId3"/>
    <p:sldId id="303" r:id="rId4"/>
    <p:sldId id="369" r:id="rId5"/>
    <p:sldId id="601" r:id="rId6"/>
    <p:sldId id="593" r:id="rId7"/>
    <p:sldId id="373" r:id="rId8"/>
    <p:sldId id="376" r:id="rId9"/>
    <p:sldId id="377" r:id="rId10"/>
    <p:sldId id="623" r:id="rId11"/>
    <p:sldId id="291" r:id="rId12"/>
    <p:sldId id="310" r:id="rId13"/>
    <p:sldId id="603" r:id="rId14"/>
    <p:sldId id="311" r:id="rId15"/>
    <p:sldId id="313" r:id="rId16"/>
    <p:sldId id="315" r:id="rId17"/>
    <p:sldId id="385" r:id="rId18"/>
    <p:sldId id="387" r:id="rId19"/>
    <p:sldId id="389" r:id="rId20"/>
    <p:sldId id="335" r:id="rId21"/>
    <p:sldId id="392" r:id="rId22"/>
    <p:sldId id="390" r:id="rId23"/>
    <p:sldId id="394" r:id="rId24"/>
    <p:sldId id="414" r:id="rId25"/>
    <p:sldId id="396" r:id="rId26"/>
    <p:sldId id="402" r:id="rId27"/>
    <p:sldId id="337" r:id="rId28"/>
    <p:sldId id="339" r:id="rId29"/>
    <p:sldId id="340" r:id="rId30"/>
    <p:sldId id="341" r:id="rId31"/>
    <p:sldId id="342" r:id="rId32"/>
    <p:sldId id="343" r:id="rId33"/>
    <p:sldId id="344" r:id="rId34"/>
    <p:sldId id="632" r:id="rId35"/>
    <p:sldId id="346" r:id="rId36"/>
    <p:sldId id="415" r:id="rId37"/>
    <p:sldId id="349" r:id="rId38"/>
    <p:sldId id="350" r:id="rId39"/>
    <p:sldId id="351" r:id="rId40"/>
    <p:sldId id="612" r:id="rId41"/>
    <p:sldId id="613" r:id="rId42"/>
    <p:sldId id="614" r:id="rId43"/>
    <p:sldId id="405" r:id="rId44"/>
    <p:sldId id="615" r:id="rId45"/>
    <p:sldId id="616" r:id="rId46"/>
    <p:sldId id="633" r:id="rId47"/>
    <p:sldId id="287" r:id="rId48"/>
    <p:sldId id="639" r:id="rId49"/>
    <p:sldId id="640" r:id="rId50"/>
    <p:sldId id="641" r:id="rId51"/>
    <p:sldId id="643" r:id="rId52"/>
    <p:sldId id="644" r:id="rId53"/>
    <p:sldId id="645" r:id="rId54"/>
    <p:sldId id="646" r:id="rId55"/>
    <p:sldId id="647" r:id="rId56"/>
    <p:sldId id="648" r:id="rId57"/>
    <p:sldId id="649" r:id="rId58"/>
    <p:sldId id="650" r:id="rId59"/>
    <p:sldId id="651" r:id="rId60"/>
    <p:sldId id="652" r:id="rId61"/>
    <p:sldId id="653" r:id="rId62"/>
  </p:sldIdLst>
  <p:sldSz cx="9144000" cy="6858000" type="screen4x3"/>
  <p:notesSz cx="6735763" cy="98663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FF0000"/>
    <a:srgbClr val="0064F6"/>
    <a:srgbClr val="553AF8"/>
    <a:srgbClr val="336699"/>
    <a:srgbClr val="3B8AFF"/>
    <a:srgbClr val="0046AC"/>
    <a:srgbClr val="0051C8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8309" autoAdjust="0"/>
    <p:restoredTop sz="79247" autoAdjust="0"/>
  </p:normalViewPr>
  <p:slideViewPr>
    <p:cSldViewPr>
      <p:cViewPr varScale="1">
        <p:scale>
          <a:sx n="72" d="100"/>
          <a:sy n="72" d="100"/>
        </p:scale>
        <p:origin x="1642" y="58"/>
      </p:cViewPr>
      <p:guideLst>
        <p:guide orient="horz" pos="212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2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7DA6DE-54CB-478C-ABA6-87EA170667BB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CB4842D-52A0-4A9A-A80C-BA7DB25D4F40}">
      <dgm:prSet phldrT="[文本]" custT="1"/>
      <dgm:spPr/>
      <dgm:t>
        <a:bodyPr/>
        <a:lstStyle/>
        <a:p>
          <a:r>
            <a:rPr lang="zh-CN" altLang="en-US" sz="1400" dirty="0" smtClean="0"/>
            <a:t>顶点</a:t>
          </a:r>
          <a:endParaRPr lang="zh-CN" altLang="en-US" sz="1400" dirty="0"/>
        </a:p>
      </dgm:t>
    </dgm:pt>
    <dgm:pt modelId="{439FF546-A5E9-4929-BD61-619B7EA81F1D}" type="parTrans" cxnId="{B0D75D53-EB77-476F-92C8-A2747DB01B2D}">
      <dgm:prSet/>
      <dgm:spPr/>
      <dgm:t>
        <a:bodyPr/>
        <a:lstStyle/>
        <a:p>
          <a:endParaRPr lang="zh-CN" altLang="en-US" sz="1400"/>
        </a:p>
      </dgm:t>
    </dgm:pt>
    <dgm:pt modelId="{57EC6F28-65AE-49AB-BCA3-918949F61EEF}" type="sibTrans" cxnId="{B0D75D53-EB77-476F-92C8-A2747DB01B2D}">
      <dgm:prSet/>
      <dgm:spPr/>
      <dgm:t>
        <a:bodyPr/>
        <a:lstStyle/>
        <a:p>
          <a:endParaRPr lang="zh-CN" altLang="en-US" sz="1400"/>
        </a:p>
      </dgm:t>
    </dgm:pt>
    <dgm:pt modelId="{BB23073D-FEEF-47C8-8604-63F433C24196}">
      <dgm:prSet phldrT="[文本]" custT="1"/>
      <dgm:spPr/>
      <dgm:t>
        <a:bodyPr/>
        <a:lstStyle/>
        <a:p>
          <a:r>
            <a:rPr lang="zh-CN" altLang="en-US" sz="1400" dirty="0" smtClean="0"/>
            <a:t>有标号点</a:t>
          </a:r>
          <a:endParaRPr lang="zh-CN" altLang="en-US" sz="1400" dirty="0"/>
        </a:p>
      </dgm:t>
    </dgm:pt>
    <dgm:pt modelId="{DEEBF4A3-21B7-4107-9651-2BD93652EBF3}" type="parTrans" cxnId="{E1415148-7892-4A4D-AC3E-B2984FC0E542}">
      <dgm:prSet custT="1"/>
      <dgm:spPr/>
      <dgm:t>
        <a:bodyPr/>
        <a:lstStyle/>
        <a:p>
          <a:endParaRPr lang="zh-CN" altLang="en-US" sz="1400"/>
        </a:p>
      </dgm:t>
    </dgm:pt>
    <dgm:pt modelId="{F99EE8F8-36DF-4071-A93F-BDBFA92021E2}" type="sibTrans" cxnId="{E1415148-7892-4A4D-AC3E-B2984FC0E542}">
      <dgm:prSet/>
      <dgm:spPr/>
      <dgm:t>
        <a:bodyPr/>
        <a:lstStyle/>
        <a:p>
          <a:endParaRPr lang="zh-CN" altLang="en-US" sz="1400"/>
        </a:p>
      </dgm:t>
    </dgm:pt>
    <dgm:pt modelId="{04C7B4A7-F0C3-4CAF-AA95-3891DE663FC8}">
      <dgm:prSet phldrT="[文本]" custT="1"/>
      <dgm:spPr/>
      <dgm:t>
        <a:bodyPr/>
        <a:lstStyle/>
        <a:p>
          <a:r>
            <a:rPr lang="zh-CN" altLang="en-US" sz="1400" dirty="0" smtClean="0"/>
            <a:t>已检查点</a:t>
          </a:r>
          <a:endParaRPr lang="zh-CN" altLang="en-US" sz="1400" dirty="0"/>
        </a:p>
      </dgm:t>
    </dgm:pt>
    <dgm:pt modelId="{91498FBB-FF93-4136-8D2C-7F473DA9E20D}" type="parTrans" cxnId="{FFE9451C-E2F3-4851-B968-FB07EFAE09EC}">
      <dgm:prSet custT="1"/>
      <dgm:spPr/>
      <dgm:t>
        <a:bodyPr/>
        <a:lstStyle/>
        <a:p>
          <a:endParaRPr lang="zh-CN" altLang="en-US" sz="1400"/>
        </a:p>
      </dgm:t>
    </dgm:pt>
    <dgm:pt modelId="{C97E4F23-6171-4BCF-9534-7CBA50B34D4E}" type="sibTrans" cxnId="{FFE9451C-E2F3-4851-B968-FB07EFAE09EC}">
      <dgm:prSet/>
      <dgm:spPr/>
      <dgm:t>
        <a:bodyPr/>
        <a:lstStyle/>
        <a:p>
          <a:endParaRPr lang="zh-CN" altLang="en-US" sz="1400"/>
        </a:p>
      </dgm:t>
    </dgm:pt>
    <dgm:pt modelId="{7E47519F-A496-42A9-AC24-DC8C275FFD5A}">
      <dgm:prSet phldrT="[文本]" custT="1"/>
      <dgm:spPr/>
      <dgm:t>
        <a:bodyPr/>
        <a:lstStyle/>
        <a:p>
          <a:r>
            <a:rPr lang="zh-CN" altLang="en-US" sz="1400" dirty="0" smtClean="0"/>
            <a:t>未检查点</a:t>
          </a:r>
          <a:endParaRPr lang="zh-CN" altLang="en-US" sz="1400" dirty="0"/>
        </a:p>
      </dgm:t>
    </dgm:pt>
    <dgm:pt modelId="{A6E3C70E-10A4-41A6-A5D8-92606AA75403}" type="parTrans" cxnId="{320528F9-D0D8-4AA4-9745-1486EA443FA8}">
      <dgm:prSet custT="1"/>
      <dgm:spPr/>
      <dgm:t>
        <a:bodyPr/>
        <a:lstStyle/>
        <a:p>
          <a:endParaRPr lang="zh-CN" altLang="en-US" sz="1400"/>
        </a:p>
      </dgm:t>
    </dgm:pt>
    <dgm:pt modelId="{699BB732-F630-46A5-9E96-BE299DE6F785}" type="sibTrans" cxnId="{320528F9-D0D8-4AA4-9745-1486EA443FA8}">
      <dgm:prSet/>
      <dgm:spPr/>
      <dgm:t>
        <a:bodyPr/>
        <a:lstStyle/>
        <a:p>
          <a:endParaRPr lang="zh-CN" altLang="en-US" sz="1400"/>
        </a:p>
      </dgm:t>
    </dgm:pt>
    <dgm:pt modelId="{E7D0C07A-6CAA-4DB1-845C-E13D5EC242E1}">
      <dgm:prSet phldrT="[文本]" custT="1"/>
      <dgm:spPr/>
      <dgm:t>
        <a:bodyPr/>
        <a:lstStyle/>
        <a:p>
          <a:r>
            <a:rPr lang="zh-CN" altLang="en-US" sz="1400" dirty="0" smtClean="0"/>
            <a:t>无标号点</a:t>
          </a:r>
          <a:endParaRPr lang="zh-CN" altLang="en-US" sz="1400" dirty="0"/>
        </a:p>
      </dgm:t>
    </dgm:pt>
    <dgm:pt modelId="{DA00C7C2-07D3-4D28-8A03-42D32D0F2252}" type="parTrans" cxnId="{5DDFA76C-DB19-40ED-9E4D-E099DFDD64AF}">
      <dgm:prSet custT="1"/>
      <dgm:spPr/>
      <dgm:t>
        <a:bodyPr/>
        <a:lstStyle/>
        <a:p>
          <a:endParaRPr lang="zh-CN" altLang="en-US" sz="1400"/>
        </a:p>
      </dgm:t>
    </dgm:pt>
    <dgm:pt modelId="{4354F92A-964B-4F90-A208-58AF2724935B}" type="sibTrans" cxnId="{5DDFA76C-DB19-40ED-9E4D-E099DFDD64AF}">
      <dgm:prSet/>
      <dgm:spPr/>
      <dgm:t>
        <a:bodyPr/>
        <a:lstStyle/>
        <a:p>
          <a:endParaRPr lang="zh-CN" altLang="en-US" sz="1400"/>
        </a:p>
      </dgm:t>
    </dgm:pt>
    <dgm:pt modelId="{A751CACF-EF11-4FC3-83E6-22BD709D8276}" type="pres">
      <dgm:prSet presAssocID="{D77DA6DE-54CB-478C-ABA6-87EA170667B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BDD7E91-8634-4F95-9E59-1CA029C282A2}" type="pres">
      <dgm:prSet presAssocID="{3CB4842D-52A0-4A9A-A80C-BA7DB25D4F40}" presName="root1" presStyleCnt="0"/>
      <dgm:spPr/>
    </dgm:pt>
    <dgm:pt modelId="{53207D0C-E5B4-482D-8AE2-E1C78403796D}" type="pres">
      <dgm:prSet presAssocID="{3CB4842D-52A0-4A9A-A80C-BA7DB25D4F40}" presName="LevelOneTextNode" presStyleLbl="node0" presStyleIdx="0" presStyleCnt="1" custScaleX="127113" custScaleY="9152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BB3EF65-F28E-41BA-8928-B4CD23E8770E}" type="pres">
      <dgm:prSet presAssocID="{3CB4842D-52A0-4A9A-A80C-BA7DB25D4F40}" presName="level2hierChild" presStyleCnt="0"/>
      <dgm:spPr/>
    </dgm:pt>
    <dgm:pt modelId="{514454F2-DCCF-46FD-AF80-C38AEEB96BB9}" type="pres">
      <dgm:prSet presAssocID="{DEEBF4A3-21B7-4107-9651-2BD93652EBF3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41F79938-9479-47A2-AF5C-1B07A6BC6051}" type="pres">
      <dgm:prSet presAssocID="{DEEBF4A3-21B7-4107-9651-2BD93652EBF3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B6474836-23EC-470B-94B4-A315251BFBB5}" type="pres">
      <dgm:prSet presAssocID="{BB23073D-FEEF-47C8-8604-63F433C24196}" presName="root2" presStyleCnt="0"/>
      <dgm:spPr/>
    </dgm:pt>
    <dgm:pt modelId="{4DD6F3BD-96A4-477D-9018-C6914D3DEAED}" type="pres">
      <dgm:prSet presAssocID="{BB23073D-FEEF-47C8-8604-63F433C24196}" presName="LevelTwoTextNode" presStyleLbl="node2" presStyleIdx="0" presStyleCnt="2" custScaleX="133838" custScaleY="9636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7006BDF-2F89-4CD7-8E02-4F82B49921E2}" type="pres">
      <dgm:prSet presAssocID="{BB23073D-FEEF-47C8-8604-63F433C24196}" presName="level3hierChild" presStyleCnt="0"/>
      <dgm:spPr/>
    </dgm:pt>
    <dgm:pt modelId="{C2805A3C-0B77-4C74-8766-B2413E376CFB}" type="pres">
      <dgm:prSet presAssocID="{91498FBB-FF93-4136-8D2C-7F473DA9E20D}" presName="conn2-1" presStyleLbl="parChTrans1D3" presStyleIdx="0" presStyleCnt="2"/>
      <dgm:spPr/>
      <dgm:t>
        <a:bodyPr/>
        <a:lstStyle/>
        <a:p>
          <a:endParaRPr lang="zh-CN" altLang="en-US"/>
        </a:p>
      </dgm:t>
    </dgm:pt>
    <dgm:pt modelId="{6C640011-81FA-4D7A-AB49-CC52770342C5}" type="pres">
      <dgm:prSet presAssocID="{91498FBB-FF93-4136-8D2C-7F473DA9E20D}" presName="connTx" presStyleLbl="parChTrans1D3" presStyleIdx="0" presStyleCnt="2"/>
      <dgm:spPr/>
      <dgm:t>
        <a:bodyPr/>
        <a:lstStyle/>
        <a:p>
          <a:endParaRPr lang="zh-CN" altLang="en-US"/>
        </a:p>
      </dgm:t>
    </dgm:pt>
    <dgm:pt modelId="{8BC4467A-49F5-452C-9C72-42529FBE622C}" type="pres">
      <dgm:prSet presAssocID="{04C7B4A7-F0C3-4CAF-AA95-3891DE663FC8}" presName="root2" presStyleCnt="0"/>
      <dgm:spPr/>
    </dgm:pt>
    <dgm:pt modelId="{3B6C1C48-7511-482C-9205-0CD4693AB605}" type="pres">
      <dgm:prSet presAssocID="{04C7B4A7-F0C3-4CAF-AA95-3891DE663FC8}" presName="LevelTwoTextNode" presStyleLbl="node3" presStyleIdx="0" presStyleCnt="2" custScaleX="129223" custScaleY="9304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3648AB1-3233-4F1A-9425-387E5774652F}" type="pres">
      <dgm:prSet presAssocID="{04C7B4A7-F0C3-4CAF-AA95-3891DE663FC8}" presName="level3hierChild" presStyleCnt="0"/>
      <dgm:spPr/>
    </dgm:pt>
    <dgm:pt modelId="{303E5BA0-EBB3-44CC-AE79-90EBA3CB6F61}" type="pres">
      <dgm:prSet presAssocID="{A6E3C70E-10A4-41A6-A5D8-92606AA75403}" presName="conn2-1" presStyleLbl="parChTrans1D3" presStyleIdx="1" presStyleCnt="2"/>
      <dgm:spPr/>
      <dgm:t>
        <a:bodyPr/>
        <a:lstStyle/>
        <a:p>
          <a:endParaRPr lang="zh-CN" altLang="en-US"/>
        </a:p>
      </dgm:t>
    </dgm:pt>
    <dgm:pt modelId="{AF91646F-24FD-43E0-A01C-DFF7DBF7F7C3}" type="pres">
      <dgm:prSet presAssocID="{A6E3C70E-10A4-41A6-A5D8-92606AA75403}" presName="connTx" presStyleLbl="parChTrans1D3" presStyleIdx="1" presStyleCnt="2"/>
      <dgm:spPr/>
      <dgm:t>
        <a:bodyPr/>
        <a:lstStyle/>
        <a:p>
          <a:endParaRPr lang="zh-CN" altLang="en-US"/>
        </a:p>
      </dgm:t>
    </dgm:pt>
    <dgm:pt modelId="{F0EB7BE3-60F3-4ECB-B4F1-6A3D772E1083}" type="pres">
      <dgm:prSet presAssocID="{7E47519F-A496-42A9-AC24-DC8C275FFD5A}" presName="root2" presStyleCnt="0"/>
      <dgm:spPr/>
    </dgm:pt>
    <dgm:pt modelId="{191068F5-5EF7-4745-83C3-449BEE5CA4B2}" type="pres">
      <dgm:prSet presAssocID="{7E47519F-A496-42A9-AC24-DC8C275FFD5A}" presName="LevelTwoTextNode" presStyleLbl="node3" presStyleIdx="1" presStyleCnt="2" custScaleX="127113" custScaleY="9152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C24E746-8143-430C-8AAE-2D4338E1A89C}" type="pres">
      <dgm:prSet presAssocID="{7E47519F-A496-42A9-AC24-DC8C275FFD5A}" presName="level3hierChild" presStyleCnt="0"/>
      <dgm:spPr/>
    </dgm:pt>
    <dgm:pt modelId="{F1DA17D4-D3EC-4ED4-8CA8-F1EA64CAE741}" type="pres">
      <dgm:prSet presAssocID="{DA00C7C2-07D3-4D28-8A03-42D32D0F2252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1F12477C-5112-4922-BF71-777D7DD56B92}" type="pres">
      <dgm:prSet presAssocID="{DA00C7C2-07D3-4D28-8A03-42D32D0F2252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D659FF42-1982-4CA6-89D0-66413A1EC168}" type="pres">
      <dgm:prSet presAssocID="{E7D0C07A-6CAA-4DB1-845C-E13D5EC242E1}" presName="root2" presStyleCnt="0"/>
      <dgm:spPr/>
    </dgm:pt>
    <dgm:pt modelId="{ECD44DCC-EBD3-473C-8F3C-C0CB7A11AFDD}" type="pres">
      <dgm:prSet presAssocID="{E7D0C07A-6CAA-4DB1-845C-E13D5EC242E1}" presName="LevelTwoTextNode" presStyleLbl="node2" presStyleIdx="1" presStyleCnt="2" custScaleX="130895" custScaleY="9424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49CF655-262C-44AD-9589-DBA9E443EF4E}" type="pres">
      <dgm:prSet presAssocID="{E7D0C07A-6CAA-4DB1-845C-E13D5EC242E1}" presName="level3hierChild" presStyleCnt="0"/>
      <dgm:spPr/>
    </dgm:pt>
  </dgm:ptLst>
  <dgm:cxnLst>
    <dgm:cxn modelId="{320528F9-D0D8-4AA4-9745-1486EA443FA8}" srcId="{BB23073D-FEEF-47C8-8604-63F433C24196}" destId="{7E47519F-A496-42A9-AC24-DC8C275FFD5A}" srcOrd="1" destOrd="0" parTransId="{A6E3C70E-10A4-41A6-A5D8-92606AA75403}" sibTransId="{699BB732-F630-46A5-9E96-BE299DE6F785}"/>
    <dgm:cxn modelId="{E1415148-7892-4A4D-AC3E-B2984FC0E542}" srcId="{3CB4842D-52A0-4A9A-A80C-BA7DB25D4F40}" destId="{BB23073D-FEEF-47C8-8604-63F433C24196}" srcOrd="0" destOrd="0" parTransId="{DEEBF4A3-21B7-4107-9651-2BD93652EBF3}" sibTransId="{F99EE8F8-36DF-4071-A93F-BDBFA92021E2}"/>
    <dgm:cxn modelId="{EC6B0813-1BE6-43AB-99DC-7D88A70F3AF3}" type="presOf" srcId="{E7D0C07A-6CAA-4DB1-845C-E13D5EC242E1}" destId="{ECD44DCC-EBD3-473C-8F3C-C0CB7A11AFDD}" srcOrd="0" destOrd="0" presId="urn:microsoft.com/office/officeart/2005/8/layout/hierarchy2"/>
    <dgm:cxn modelId="{1F992FA5-F630-4E2A-9EC0-41FD84776E83}" type="presOf" srcId="{DA00C7C2-07D3-4D28-8A03-42D32D0F2252}" destId="{1F12477C-5112-4922-BF71-777D7DD56B92}" srcOrd="1" destOrd="0" presId="urn:microsoft.com/office/officeart/2005/8/layout/hierarchy2"/>
    <dgm:cxn modelId="{5DDFA76C-DB19-40ED-9E4D-E099DFDD64AF}" srcId="{3CB4842D-52A0-4A9A-A80C-BA7DB25D4F40}" destId="{E7D0C07A-6CAA-4DB1-845C-E13D5EC242E1}" srcOrd="1" destOrd="0" parTransId="{DA00C7C2-07D3-4D28-8A03-42D32D0F2252}" sibTransId="{4354F92A-964B-4F90-A208-58AF2724935B}"/>
    <dgm:cxn modelId="{66FC745C-6C18-459B-A79B-3D31909D117F}" type="presOf" srcId="{7E47519F-A496-42A9-AC24-DC8C275FFD5A}" destId="{191068F5-5EF7-4745-83C3-449BEE5CA4B2}" srcOrd="0" destOrd="0" presId="urn:microsoft.com/office/officeart/2005/8/layout/hierarchy2"/>
    <dgm:cxn modelId="{7767B813-9161-492C-BF69-A65F466B1195}" type="presOf" srcId="{3CB4842D-52A0-4A9A-A80C-BA7DB25D4F40}" destId="{53207D0C-E5B4-482D-8AE2-E1C78403796D}" srcOrd="0" destOrd="0" presId="urn:microsoft.com/office/officeart/2005/8/layout/hierarchy2"/>
    <dgm:cxn modelId="{E7E01FD7-6ABE-4A41-82C4-8A857CCB58AB}" type="presOf" srcId="{91498FBB-FF93-4136-8D2C-7F473DA9E20D}" destId="{6C640011-81FA-4D7A-AB49-CC52770342C5}" srcOrd="1" destOrd="0" presId="urn:microsoft.com/office/officeart/2005/8/layout/hierarchy2"/>
    <dgm:cxn modelId="{4E7E9CF3-2BC0-44AB-BF02-6808E4850984}" type="presOf" srcId="{BB23073D-FEEF-47C8-8604-63F433C24196}" destId="{4DD6F3BD-96A4-477D-9018-C6914D3DEAED}" srcOrd="0" destOrd="0" presId="urn:microsoft.com/office/officeart/2005/8/layout/hierarchy2"/>
    <dgm:cxn modelId="{68816777-6B75-4802-AADC-0E36FAD229D0}" type="presOf" srcId="{DEEBF4A3-21B7-4107-9651-2BD93652EBF3}" destId="{514454F2-DCCF-46FD-AF80-C38AEEB96BB9}" srcOrd="0" destOrd="0" presId="urn:microsoft.com/office/officeart/2005/8/layout/hierarchy2"/>
    <dgm:cxn modelId="{1010B1BC-F31F-41FE-A44A-52250E0F81B4}" type="presOf" srcId="{A6E3C70E-10A4-41A6-A5D8-92606AA75403}" destId="{303E5BA0-EBB3-44CC-AE79-90EBA3CB6F61}" srcOrd="0" destOrd="0" presId="urn:microsoft.com/office/officeart/2005/8/layout/hierarchy2"/>
    <dgm:cxn modelId="{CE50D493-D264-4FB5-BCAB-59D255CBE38E}" type="presOf" srcId="{DEEBF4A3-21B7-4107-9651-2BD93652EBF3}" destId="{41F79938-9479-47A2-AF5C-1B07A6BC6051}" srcOrd="1" destOrd="0" presId="urn:microsoft.com/office/officeart/2005/8/layout/hierarchy2"/>
    <dgm:cxn modelId="{FFE9451C-E2F3-4851-B968-FB07EFAE09EC}" srcId="{BB23073D-FEEF-47C8-8604-63F433C24196}" destId="{04C7B4A7-F0C3-4CAF-AA95-3891DE663FC8}" srcOrd="0" destOrd="0" parTransId="{91498FBB-FF93-4136-8D2C-7F473DA9E20D}" sibTransId="{C97E4F23-6171-4BCF-9534-7CBA50B34D4E}"/>
    <dgm:cxn modelId="{D9F4357A-670E-4276-BF6D-98107617F184}" type="presOf" srcId="{D77DA6DE-54CB-478C-ABA6-87EA170667BB}" destId="{A751CACF-EF11-4FC3-83E6-22BD709D8276}" srcOrd="0" destOrd="0" presId="urn:microsoft.com/office/officeart/2005/8/layout/hierarchy2"/>
    <dgm:cxn modelId="{AF31C3D1-4041-4377-97A3-44EF9648BD82}" type="presOf" srcId="{04C7B4A7-F0C3-4CAF-AA95-3891DE663FC8}" destId="{3B6C1C48-7511-482C-9205-0CD4693AB605}" srcOrd="0" destOrd="0" presId="urn:microsoft.com/office/officeart/2005/8/layout/hierarchy2"/>
    <dgm:cxn modelId="{B3DAFF75-AA04-4C4D-A99B-45B1F4FBA6A4}" type="presOf" srcId="{91498FBB-FF93-4136-8D2C-7F473DA9E20D}" destId="{C2805A3C-0B77-4C74-8766-B2413E376CFB}" srcOrd="0" destOrd="0" presId="urn:microsoft.com/office/officeart/2005/8/layout/hierarchy2"/>
    <dgm:cxn modelId="{B0D75D53-EB77-476F-92C8-A2747DB01B2D}" srcId="{D77DA6DE-54CB-478C-ABA6-87EA170667BB}" destId="{3CB4842D-52A0-4A9A-A80C-BA7DB25D4F40}" srcOrd="0" destOrd="0" parTransId="{439FF546-A5E9-4929-BD61-619B7EA81F1D}" sibTransId="{57EC6F28-65AE-49AB-BCA3-918949F61EEF}"/>
    <dgm:cxn modelId="{11886689-3593-4672-9EF2-62CE0B06D84A}" type="presOf" srcId="{A6E3C70E-10A4-41A6-A5D8-92606AA75403}" destId="{AF91646F-24FD-43E0-A01C-DFF7DBF7F7C3}" srcOrd="1" destOrd="0" presId="urn:microsoft.com/office/officeart/2005/8/layout/hierarchy2"/>
    <dgm:cxn modelId="{EFFDBA6E-E512-4AC7-BFD4-17D3A31A2FA0}" type="presOf" srcId="{DA00C7C2-07D3-4D28-8A03-42D32D0F2252}" destId="{F1DA17D4-D3EC-4ED4-8CA8-F1EA64CAE741}" srcOrd="0" destOrd="0" presId="urn:microsoft.com/office/officeart/2005/8/layout/hierarchy2"/>
    <dgm:cxn modelId="{A0DBAE16-2172-4728-976E-21A46B649093}" type="presParOf" srcId="{A751CACF-EF11-4FC3-83E6-22BD709D8276}" destId="{4BDD7E91-8634-4F95-9E59-1CA029C282A2}" srcOrd="0" destOrd="0" presId="urn:microsoft.com/office/officeart/2005/8/layout/hierarchy2"/>
    <dgm:cxn modelId="{D8E2669E-5DC0-4BEC-92BC-25009B24B9CF}" type="presParOf" srcId="{4BDD7E91-8634-4F95-9E59-1CA029C282A2}" destId="{53207D0C-E5B4-482D-8AE2-E1C78403796D}" srcOrd="0" destOrd="0" presId="urn:microsoft.com/office/officeart/2005/8/layout/hierarchy2"/>
    <dgm:cxn modelId="{2754DC7A-726A-4593-B797-4E196D2206A8}" type="presParOf" srcId="{4BDD7E91-8634-4F95-9E59-1CA029C282A2}" destId="{3BB3EF65-F28E-41BA-8928-B4CD23E8770E}" srcOrd="1" destOrd="0" presId="urn:microsoft.com/office/officeart/2005/8/layout/hierarchy2"/>
    <dgm:cxn modelId="{C4B37CFB-7116-44AB-BE86-6245705BDA56}" type="presParOf" srcId="{3BB3EF65-F28E-41BA-8928-B4CD23E8770E}" destId="{514454F2-DCCF-46FD-AF80-C38AEEB96BB9}" srcOrd="0" destOrd="0" presId="urn:microsoft.com/office/officeart/2005/8/layout/hierarchy2"/>
    <dgm:cxn modelId="{7DEBA0A0-AF95-4B43-BB84-A9472A697DB1}" type="presParOf" srcId="{514454F2-DCCF-46FD-AF80-C38AEEB96BB9}" destId="{41F79938-9479-47A2-AF5C-1B07A6BC6051}" srcOrd="0" destOrd="0" presId="urn:microsoft.com/office/officeart/2005/8/layout/hierarchy2"/>
    <dgm:cxn modelId="{A80E3609-A958-4ED6-B412-11D381026B3D}" type="presParOf" srcId="{3BB3EF65-F28E-41BA-8928-B4CD23E8770E}" destId="{B6474836-23EC-470B-94B4-A315251BFBB5}" srcOrd="1" destOrd="0" presId="urn:microsoft.com/office/officeart/2005/8/layout/hierarchy2"/>
    <dgm:cxn modelId="{0222D381-5FA5-4E3E-83C5-419EB523A4E9}" type="presParOf" srcId="{B6474836-23EC-470B-94B4-A315251BFBB5}" destId="{4DD6F3BD-96A4-477D-9018-C6914D3DEAED}" srcOrd="0" destOrd="0" presId="urn:microsoft.com/office/officeart/2005/8/layout/hierarchy2"/>
    <dgm:cxn modelId="{DD56AB56-CAED-4A4E-9D5B-E541341B9015}" type="presParOf" srcId="{B6474836-23EC-470B-94B4-A315251BFBB5}" destId="{77006BDF-2F89-4CD7-8E02-4F82B49921E2}" srcOrd="1" destOrd="0" presId="urn:microsoft.com/office/officeart/2005/8/layout/hierarchy2"/>
    <dgm:cxn modelId="{67EA03C1-9F71-401E-96F2-919B0C90089B}" type="presParOf" srcId="{77006BDF-2F89-4CD7-8E02-4F82B49921E2}" destId="{C2805A3C-0B77-4C74-8766-B2413E376CFB}" srcOrd="0" destOrd="0" presId="urn:microsoft.com/office/officeart/2005/8/layout/hierarchy2"/>
    <dgm:cxn modelId="{BFF3765B-0409-41A3-8764-47E96B23AA59}" type="presParOf" srcId="{C2805A3C-0B77-4C74-8766-B2413E376CFB}" destId="{6C640011-81FA-4D7A-AB49-CC52770342C5}" srcOrd="0" destOrd="0" presId="urn:microsoft.com/office/officeart/2005/8/layout/hierarchy2"/>
    <dgm:cxn modelId="{D41C3F0E-779F-44DB-B152-9BB5AC7AD690}" type="presParOf" srcId="{77006BDF-2F89-4CD7-8E02-4F82B49921E2}" destId="{8BC4467A-49F5-452C-9C72-42529FBE622C}" srcOrd="1" destOrd="0" presId="urn:microsoft.com/office/officeart/2005/8/layout/hierarchy2"/>
    <dgm:cxn modelId="{C4C75799-844E-41EA-B50B-24BAB05769EA}" type="presParOf" srcId="{8BC4467A-49F5-452C-9C72-42529FBE622C}" destId="{3B6C1C48-7511-482C-9205-0CD4693AB605}" srcOrd="0" destOrd="0" presId="urn:microsoft.com/office/officeart/2005/8/layout/hierarchy2"/>
    <dgm:cxn modelId="{1A5A87F0-1937-4A6D-BDF2-965716DBEA39}" type="presParOf" srcId="{8BC4467A-49F5-452C-9C72-42529FBE622C}" destId="{D3648AB1-3233-4F1A-9425-387E5774652F}" srcOrd="1" destOrd="0" presId="urn:microsoft.com/office/officeart/2005/8/layout/hierarchy2"/>
    <dgm:cxn modelId="{254CCA2C-F75B-42C1-B38A-FC2156324679}" type="presParOf" srcId="{77006BDF-2F89-4CD7-8E02-4F82B49921E2}" destId="{303E5BA0-EBB3-44CC-AE79-90EBA3CB6F61}" srcOrd="2" destOrd="0" presId="urn:microsoft.com/office/officeart/2005/8/layout/hierarchy2"/>
    <dgm:cxn modelId="{1D607F7F-5976-4B03-9423-C44B7CD5B5C6}" type="presParOf" srcId="{303E5BA0-EBB3-44CC-AE79-90EBA3CB6F61}" destId="{AF91646F-24FD-43E0-A01C-DFF7DBF7F7C3}" srcOrd="0" destOrd="0" presId="urn:microsoft.com/office/officeart/2005/8/layout/hierarchy2"/>
    <dgm:cxn modelId="{A1B5020E-B238-454B-90E5-3798F9D95952}" type="presParOf" srcId="{77006BDF-2F89-4CD7-8E02-4F82B49921E2}" destId="{F0EB7BE3-60F3-4ECB-B4F1-6A3D772E1083}" srcOrd="3" destOrd="0" presId="urn:microsoft.com/office/officeart/2005/8/layout/hierarchy2"/>
    <dgm:cxn modelId="{47C977B7-890D-4499-8628-D33AA43AA8C2}" type="presParOf" srcId="{F0EB7BE3-60F3-4ECB-B4F1-6A3D772E1083}" destId="{191068F5-5EF7-4745-83C3-449BEE5CA4B2}" srcOrd="0" destOrd="0" presId="urn:microsoft.com/office/officeart/2005/8/layout/hierarchy2"/>
    <dgm:cxn modelId="{D1270C12-D873-49BB-8469-785EBCFB2508}" type="presParOf" srcId="{F0EB7BE3-60F3-4ECB-B4F1-6A3D772E1083}" destId="{8C24E746-8143-430C-8AAE-2D4338E1A89C}" srcOrd="1" destOrd="0" presId="urn:microsoft.com/office/officeart/2005/8/layout/hierarchy2"/>
    <dgm:cxn modelId="{A5D58D80-CD99-4EA3-A8D1-E91ED713E085}" type="presParOf" srcId="{3BB3EF65-F28E-41BA-8928-B4CD23E8770E}" destId="{F1DA17D4-D3EC-4ED4-8CA8-F1EA64CAE741}" srcOrd="2" destOrd="0" presId="urn:microsoft.com/office/officeart/2005/8/layout/hierarchy2"/>
    <dgm:cxn modelId="{12635C08-CC99-4993-B74D-DAA951115ABE}" type="presParOf" srcId="{F1DA17D4-D3EC-4ED4-8CA8-F1EA64CAE741}" destId="{1F12477C-5112-4922-BF71-777D7DD56B92}" srcOrd="0" destOrd="0" presId="urn:microsoft.com/office/officeart/2005/8/layout/hierarchy2"/>
    <dgm:cxn modelId="{ACECDCC4-785A-4715-A53D-D4B43F44208A}" type="presParOf" srcId="{3BB3EF65-F28E-41BA-8928-B4CD23E8770E}" destId="{D659FF42-1982-4CA6-89D0-66413A1EC168}" srcOrd="3" destOrd="0" presId="urn:microsoft.com/office/officeart/2005/8/layout/hierarchy2"/>
    <dgm:cxn modelId="{DEB65FB5-60CD-4583-B192-9C61291D94C2}" type="presParOf" srcId="{D659FF42-1982-4CA6-89D0-66413A1EC168}" destId="{ECD44DCC-EBD3-473C-8F3C-C0CB7A11AFDD}" srcOrd="0" destOrd="0" presId="urn:microsoft.com/office/officeart/2005/8/layout/hierarchy2"/>
    <dgm:cxn modelId="{86842AD3-4C90-4381-95C1-2A95CB888BA6}" type="presParOf" srcId="{D659FF42-1982-4CA6-89D0-66413A1EC168}" destId="{349CF655-262C-44AD-9589-DBA9E443EF4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207D0C-E5B4-482D-8AE2-E1C78403796D}">
      <dsp:nvSpPr>
        <dsp:cNvPr id="0" name=""/>
        <dsp:cNvSpPr/>
      </dsp:nvSpPr>
      <dsp:spPr>
        <a:xfrm>
          <a:off x="459742" y="385198"/>
          <a:ext cx="900002" cy="323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顶点</a:t>
          </a:r>
          <a:endParaRPr lang="zh-CN" altLang="en-US" sz="1400" kern="1200" dirty="0"/>
        </a:p>
      </dsp:txBody>
      <dsp:txXfrm>
        <a:off x="469232" y="394688"/>
        <a:ext cx="881022" cy="305019"/>
      </dsp:txXfrm>
    </dsp:sp>
    <dsp:sp modelId="{514454F2-DCCF-46FD-AF80-C38AEEB96BB9}">
      <dsp:nvSpPr>
        <dsp:cNvPr id="0" name=""/>
        <dsp:cNvSpPr/>
      </dsp:nvSpPr>
      <dsp:spPr>
        <a:xfrm rot="19540543">
          <a:off x="1329885" y="415566"/>
          <a:ext cx="342931" cy="69892"/>
        </a:xfrm>
        <a:custGeom>
          <a:avLst/>
          <a:gdLst/>
          <a:ahLst/>
          <a:cxnLst/>
          <a:rect l="0" t="0" r="0" b="0"/>
          <a:pathLst>
            <a:path>
              <a:moveTo>
                <a:pt x="0" y="34946"/>
              </a:moveTo>
              <a:lnTo>
                <a:pt x="342931" y="349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1492778" y="441939"/>
        <a:ext cx="17146" cy="17146"/>
      </dsp:txXfrm>
    </dsp:sp>
    <dsp:sp modelId="{4DD6F3BD-96A4-477D-9018-C6914D3DEAED}">
      <dsp:nvSpPr>
        <dsp:cNvPr id="0" name=""/>
        <dsp:cNvSpPr/>
      </dsp:nvSpPr>
      <dsp:spPr>
        <a:xfrm>
          <a:off x="1642958" y="183254"/>
          <a:ext cx="947617" cy="3411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有标号点</a:t>
          </a:r>
          <a:endParaRPr lang="zh-CN" altLang="en-US" sz="1400" kern="1200" dirty="0"/>
        </a:p>
      </dsp:txBody>
      <dsp:txXfrm>
        <a:off x="1652950" y="193246"/>
        <a:ext cx="927633" cy="321160"/>
      </dsp:txXfrm>
    </dsp:sp>
    <dsp:sp modelId="{C2805A3C-0B77-4C74-8766-B2413E376CFB}">
      <dsp:nvSpPr>
        <dsp:cNvPr id="0" name=""/>
        <dsp:cNvSpPr/>
      </dsp:nvSpPr>
      <dsp:spPr>
        <a:xfrm rot="19580764">
          <a:off x="2562063" y="224605"/>
          <a:ext cx="340237" cy="69892"/>
        </a:xfrm>
        <a:custGeom>
          <a:avLst/>
          <a:gdLst/>
          <a:ahLst/>
          <a:cxnLst/>
          <a:rect l="0" t="0" r="0" b="0"/>
          <a:pathLst>
            <a:path>
              <a:moveTo>
                <a:pt x="0" y="34946"/>
              </a:moveTo>
              <a:lnTo>
                <a:pt x="340237" y="349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2723676" y="251045"/>
        <a:ext cx="17011" cy="17011"/>
      </dsp:txXfrm>
    </dsp:sp>
    <dsp:sp modelId="{3B6C1C48-7511-482C-9205-0CD4693AB605}">
      <dsp:nvSpPr>
        <dsp:cNvPr id="0" name=""/>
        <dsp:cNvSpPr/>
      </dsp:nvSpPr>
      <dsp:spPr>
        <a:xfrm>
          <a:off x="2873788" y="585"/>
          <a:ext cx="914941" cy="3293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已检查点</a:t>
          </a:r>
          <a:endParaRPr lang="zh-CN" altLang="en-US" sz="1400" kern="1200" dirty="0"/>
        </a:p>
      </dsp:txBody>
      <dsp:txXfrm>
        <a:off x="2883435" y="10232"/>
        <a:ext cx="895647" cy="310086"/>
      </dsp:txXfrm>
    </dsp:sp>
    <dsp:sp modelId="{303E5BA0-EBB3-44CC-AE79-90EBA3CB6F61}">
      <dsp:nvSpPr>
        <dsp:cNvPr id="0" name=""/>
        <dsp:cNvSpPr/>
      </dsp:nvSpPr>
      <dsp:spPr>
        <a:xfrm rot="2041766">
          <a:off x="2561314" y="414501"/>
          <a:ext cx="341735" cy="69892"/>
        </a:xfrm>
        <a:custGeom>
          <a:avLst/>
          <a:gdLst/>
          <a:ahLst/>
          <a:cxnLst/>
          <a:rect l="0" t="0" r="0" b="0"/>
          <a:pathLst>
            <a:path>
              <a:moveTo>
                <a:pt x="0" y="34946"/>
              </a:moveTo>
              <a:lnTo>
                <a:pt x="341735" y="349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2723638" y="440904"/>
        <a:ext cx="17086" cy="17086"/>
      </dsp:txXfrm>
    </dsp:sp>
    <dsp:sp modelId="{191068F5-5EF7-4745-83C3-449BEE5CA4B2}">
      <dsp:nvSpPr>
        <dsp:cNvPr id="0" name=""/>
        <dsp:cNvSpPr/>
      </dsp:nvSpPr>
      <dsp:spPr>
        <a:xfrm>
          <a:off x="2873788" y="383068"/>
          <a:ext cx="900002" cy="323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未检查点</a:t>
          </a:r>
          <a:endParaRPr lang="zh-CN" altLang="en-US" sz="1400" kern="1200" dirty="0"/>
        </a:p>
      </dsp:txBody>
      <dsp:txXfrm>
        <a:off x="2883278" y="392558"/>
        <a:ext cx="881022" cy="305019"/>
      </dsp:txXfrm>
    </dsp:sp>
    <dsp:sp modelId="{F1DA17D4-D3EC-4ED4-8CA8-F1EA64CAE741}">
      <dsp:nvSpPr>
        <dsp:cNvPr id="0" name=""/>
        <dsp:cNvSpPr/>
      </dsp:nvSpPr>
      <dsp:spPr>
        <a:xfrm rot="2090333">
          <a:off x="1328820" y="610813"/>
          <a:ext cx="345061" cy="69892"/>
        </a:xfrm>
        <a:custGeom>
          <a:avLst/>
          <a:gdLst/>
          <a:ahLst/>
          <a:cxnLst/>
          <a:rect l="0" t="0" r="0" b="0"/>
          <a:pathLst>
            <a:path>
              <a:moveTo>
                <a:pt x="0" y="34946"/>
              </a:moveTo>
              <a:lnTo>
                <a:pt x="345061" y="349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1492724" y="637133"/>
        <a:ext cx="17253" cy="17253"/>
      </dsp:txXfrm>
    </dsp:sp>
    <dsp:sp modelId="{ECD44DCC-EBD3-473C-8F3C-C0CB7A11AFDD}">
      <dsp:nvSpPr>
        <dsp:cNvPr id="0" name=""/>
        <dsp:cNvSpPr/>
      </dsp:nvSpPr>
      <dsp:spPr>
        <a:xfrm>
          <a:off x="1642958" y="577501"/>
          <a:ext cx="926780" cy="3336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无标号点</a:t>
          </a:r>
          <a:endParaRPr lang="zh-CN" altLang="en-US" sz="1400" kern="1200" dirty="0"/>
        </a:p>
      </dsp:txBody>
      <dsp:txXfrm>
        <a:off x="1652730" y="587273"/>
        <a:ext cx="907236" cy="314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2.wmf"/><Relationship Id="rId7" Type="http://schemas.openxmlformats.org/officeDocument/2006/relationships/image" Target="../media/image25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30766-AF72-4D96-8295-CEBC05A710AD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415B0-917A-42E1-8C40-F8DD2CC04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099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i="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373" y="0"/>
            <a:ext cx="2918831" cy="49331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i="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01700" y="739775"/>
            <a:ext cx="4932363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7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7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285"/>
            <a:ext cx="2918831" cy="49331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i="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7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373" y="9371285"/>
            <a:ext cx="2918831" cy="49331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i="0" noProof="1" dirty="0">
                <a:cs typeface="Times New Roman" panose="02020603050405020304" pitchFamily="18" charset="0"/>
              </a:defRPr>
            </a:lvl1pPr>
          </a:lstStyle>
          <a:p>
            <a:fld id="{EA4362AB-542E-439F-91BE-6AA55010EDD8}" type="slidenum">
              <a:rPr lang="en-US" altLang="zh-CN"/>
              <a:pPr/>
              <a:t>‹#›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圈为初等闭链，且至少含有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个不同端点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4362AB-542E-439F-91BE-6AA55010EDD8}" type="slidenum">
              <a:rPr lang="en-US" altLang="zh-CN" smtClean="0"/>
              <a:pPr/>
              <a:t>3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457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任取一个圈，比如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边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是这个圈中权最大的边，于是丢去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再取圈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，去掉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取圈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，去掉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取圈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6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，这个圈中，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6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及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6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都是权最大的边，去掉其中的一条，比如说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6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。这时得到一个不含圈的图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</a:rPr>
              <a:t>如图</a:t>
            </a:r>
            <a:r>
              <a:rPr lang="en-US" altLang="zh-CN" dirty="0" smtClean="0">
                <a:latin typeface="Times New Roman" panose="02020603050405020304" pitchFamily="18" charset="0"/>
              </a:rPr>
              <a:t> 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b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所示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，即为最小树。</a:t>
            </a:r>
            <a:endParaRPr lang="zh-CN" altLang="en-US" b="1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4362AB-542E-439F-91BE-6AA55010EDD8}" type="slidenum">
              <a:rPr lang="en-US" altLang="zh-CN" smtClean="0"/>
              <a:pPr/>
              <a:t>18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66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ln/>
        </p:spPr>
      </p:sp>
      <p:sp>
        <p:nvSpPr>
          <p:cNvPr id="98306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4362AB-542E-439F-91BE-6AA55010EDD8}" type="slidenum">
              <a:rPr lang="en-US" altLang="zh-CN" smtClean="0"/>
              <a:pPr/>
              <a:t>35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45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11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发点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标号</a:t>
            </a:r>
            <a:r>
              <a:rPr lang="zh-CN" altLang="en-US" i="1" dirty="0" smtClean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(0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dirty="0" smtClean="0">
                <a:latin typeface="Times New Roman" panose="02020603050405020304" pitchFamily="18" charset="0"/>
              </a:rPr>
              <a:t>+∞)</a:t>
            </a:r>
            <a:r>
              <a:rPr lang="zh-CN" altLang="en-US" dirty="0" smtClean="0">
                <a:latin typeface="Times New Roman" panose="02020603050405020304" pitchFamily="18" charset="0"/>
              </a:rPr>
              <a:t>，这时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是标号而未检查的点，其余都是未标号点。一般，取一个标号而未检查的点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，对一切未标号点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zh-CN" altLang="en-US" dirty="0" smtClean="0">
                <a:latin typeface="Times New Roman" panose="02020603050405020304" pitchFamily="18" charset="0"/>
              </a:rPr>
              <a:t>：</a:t>
            </a:r>
          </a:p>
          <a:p>
            <a:pPr lvl="2">
              <a:lnSpc>
                <a:spcPct val="110000"/>
              </a:lnSpc>
            </a:pPr>
            <a:r>
              <a:rPr lang="en-US" altLang="zh-CN" dirty="0" smtClean="0">
                <a:latin typeface="Times New Roman" panose="02020603050405020304" pitchFamily="18" charset="0"/>
              </a:rPr>
              <a:t>(1) </a:t>
            </a:r>
            <a:r>
              <a:rPr lang="zh-CN" altLang="en-US" dirty="0" smtClean="0">
                <a:latin typeface="Times New Roman" panose="02020603050405020304" pitchFamily="18" charset="0"/>
              </a:rPr>
              <a:t>若在弧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,v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上，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 j</a:t>
            </a:r>
            <a:r>
              <a:rPr lang="zh-CN" altLang="en-US" dirty="0" smtClean="0">
                <a:latin typeface="Times New Roman" panose="02020603050405020304" pitchFamily="18" charset="0"/>
              </a:rPr>
              <a:t>＜</a:t>
            </a:r>
            <a:r>
              <a:rPr lang="en-US" altLang="zh-CN" i="1" dirty="0" smtClean="0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 j</a:t>
            </a:r>
            <a:r>
              <a:rPr lang="zh-CN" altLang="en-US" dirty="0" smtClean="0">
                <a:latin typeface="Times New Roman" panose="02020603050405020304" pitchFamily="18" charset="0"/>
              </a:rPr>
              <a:t>，则给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zh-CN" altLang="en-US" dirty="0" smtClean="0">
                <a:latin typeface="Times New Roman" panose="02020603050405020304" pitchFamily="18" charset="0"/>
              </a:rPr>
              <a:t>标号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l</a:t>
            </a:r>
            <a:r>
              <a:rPr lang="en-US" altLang="zh-CN" i="1" dirty="0" smtClean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))</a:t>
            </a:r>
            <a:r>
              <a:rPr lang="zh-CN" altLang="en-US" dirty="0" smtClean="0">
                <a:latin typeface="Times New Roman" panose="02020603050405020304" pitchFamily="18" charset="0"/>
              </a:rPr>
              <a:t>。这里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l 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)=</a:t>
            </a:r>
            <a:r>
              <a:rPr lang="en-US" altLang="zh-CN" i="1" dirty="0" smtClean="0">
                <a:latin typeface="Times New Roman" panose="02020603050405020304" pitchFamily="18" charset="0"/>
              </a:rPr>
              <a:t>min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l 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 j</a:t>
            </a:r>
            <a:r>
              <a:rPr lang="en-US" altLang="zh-CN" i="1" dirty="0" smtClean="0">
                <a:latin typeface="Times New Roman" panose="02020603050405020304" pitchFamily="18" charset="0"/>
              </a:rPr>
              <a:t>-f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 j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。这时点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zh-CN" altLang="en-US" dirty="0" smtClean="0">
                <a:latin typeface="Times New Roman" panose="02020603050405020304" pitchFamily="18" charset="0"/>
              </a:rPr>
              <a:t>成为标号而未检查的点。</a:t>
            </a:r>
          </a:p>
          <a:p>
            <a:pPr lvl="2">
              <a:lnSpc>
                <a:spcPct val="110000"/>
              </a:lnSpc>
            </a:pPr>
            <a:r>
              <a:rPr lang="en-US" altLang="zh-CN" dirty="0" smtClean="0">
                <a:latin typeface="Times New Roman" panose="02020603050405020304" pitchFamily="18" charset="0"/>
              </a:rPr>
              <a:t>(2) </a:t>
            </a:r>
            <a:r>
              <a:rPr lang="zh-CN" altLang="en-US" dirty="0" smtClean="0">
                <a:latin typeface="Times New Roman" panose="02020603050405020304" pitchFamily="18" charset="0"/>
              </a:rPr>
              <a:t>若在弧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上，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j 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＞</a:t>
            </a:r>
            <a:r>
              <a:rPr lang="en-US" altLang="zh-CN" dirty="0" smtClean="0">
                <a:latin typeface="Times New Roman" panose="02020603050405020304" pitchFamily="18" charset="0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</a:rPr>
              <a:t>，则给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zh-CN" altLang="en-US" dirty="0" smtClean="0">
                <a:latin typeface="Times New Roman" panose="02020603050405020304" pitchFamily="18" charset="0"/>
              </a:rPr>
              <a:t>标号</a:t>
            </a:r>
            <a:r>
              <a:rPr lang="en-US" altLang="zh-CN" i="1" dirty="0" smtClean="0">
                <a:latin typeface="Times New Roman" panose="02020603050405020304" pitchFamily="18" charset="0"/>
              </a:rPr>
              <a:t>(-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l</a:t>
            </a:r>
            <a:r>
              <a:rPr lang="en-US" altLang="zh-CN" i="1" dirty="0" smtClean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))</a:t>
            </a:r>
            <a:r>
              <a:rPr lang="zh-CN" altLang="en-US" dirty="0" smtClean="0">
                <a:latin typeface="Times New Roman" panose="02020603050405020304" pitchFamily="18" charset="0"/>
              </a:rPr>
              <a:t>，这里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l</a:t>
            </a:r>
            <a:r>
              <a:rPr lang="en-US" altLang="zh-CN" dirty="0" smtClean="0">
                <a:latin typeface="Times New Roman" panose="02020603050405020304" pitchFamily="18" charset="0"/>
              </a:rPr>
              <a:t> 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)=</a:t>
            </a:r>
            <a:r>
              <a:rPr lang="en-US" altLang="zh-CN" i="1" dirty="0" smtClean="0">
                <a:latin typeface="Times New Roman" panose="02020603050405020304" pitchFamily="18" charset="0"/>
              </a:rPr>
              <a:t>min</a:t>
            </a:r>
            <a:r>
              <a:rPr lang="en-US" altLang="zh-CN" dirty="0" smtClean="0">
                <a:latin typeface="Times New Roman" panose="02020603050405020304" pitchFamily="18" charset="0"/>
              </a:rPr>
              <a:t>[</a:t>
            </a:r>
            <a:r>
              <a:rPr lang="en-US" altLang="zh-CN" i="1" dirty="0" smtClean="0">
                <a:latin typeface="Times New Roman" panose="02020603050405020304" pitchFamily="18" charset="0"/>
              </a:rPr>
              <a:t>l</a:t>
            </a:r>
            <a:r>
              <a:rPr lang="en-US" altLang="zh-CN" dirty="0" smtClean="0">
                <a:latin typeface="Times New Roman" panose="02020603050405020304" pitchFamily="18" charset="0"/>
              </a:rPr>
              <a:t> 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j 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</a:rPr>
              <a:t>]</a:t>
            </a:r>
            <a:r>
              <a:rPr lang="zh-CN" altLang="en-US" dirty="0" smtClean="0">
                <a:latin typeface="Times New Roman" panose="02020603050405020304" pitchFamily="18" charset="0"/>
              </a:rPr>
              <a:t>。这时点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zh-CN" altLang="en-US" dirty="0" smtClean="0">
                <a:latin typeface="Times New Roman" panose="02020603050405020304" pitchFamily="18" charset="0"/>
              </a:rPr>
              <a:t>成为标号而未检查的点。</a:t>
            </a:r>
          </a:p>
          <a:p>
            <a:pPr lvl="1">
              <a:lnSpc>
                <a:spcPct val="11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于是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成为标号而已检查过的点。重复上述步骤，一旦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t</a:t>
            </a:r>
            <a:r>
              <a:rPr lang="zh-CN" altLang="en-US" dirty="0" smtClean="0">
                <a:latin typeface="Times New Roman" panose="02020603050405020304" pitchFamily="18" charset="0"/>
              </a:rPr>
              <a:t>被标上号，表明得到一条从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到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t</a:t>
            </a:r>
            <a:r>
              <a:rPr lang="zh-CN" altLang="en-US" dirty="0" smtClean="0">
                <a:latin typeface="Times New Roman" panose="02020603050405020304" pitchFamily="18" charset="0"/>
              </a:rPr>
              <a:t>的增广链</a:t>
            </a:r>
            <a:r>
              <a:rPr lang="en-US" altLang="zh-CN" i="1" dirty="0" smtClean="0">
                <a:latin typeface="Times New Roman" panose="02020603050405020304" pitchFamily="18" charset="0"/>
              </a:rPr>
              <a:t>μ</a:t>
            </a:r>
            <a:r>
              <a:rPr lang="zh-CN" altLang="en-US" dirty="0" smtClean="0">
                <a:latin typeface="Times New Roman" panose="02020603050405020304" pitchFamily="18" charset="0"/>
              </a:rPr>
              <a:t>，转入调整过程。</a:t>
            </a:r>
          </a:p>
          <a:p>
            <a:pPr lvl="1">
              <a:lnSpc>
                <a:spcPct val="11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若所有标号都是已检查过的，而标号过程进行不下去时，则算法结束，这时的可行流就是最大流。 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4362AB-542E-439F-91BE-6AA55010EDD8}" type="slidenum">
              <a:rPr lang="en-US" altLang="zh-CN" smtClean="0"/>
              <a:pPr/>
              <a:t>36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20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4362AB-542E-439F-91BE-6AA55010EDD8}" type="slidenum">
              <a:rPr lang="en-US" altLang="zh-CN" smtClean="0"/>
              <a:pPr/>
              <a:t>47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245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4362AB-542E-439F-91BE-6AA55010EDD8}" type="slidenum">
              <a:rPr lang="en-US" altLang="zh-CN" smtClean="0"/>
              <a:pPr/>
              <a:t>48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81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781300"/>
            <a:ext cx="5638800" cy="1831975"/>
          </a:xfrm>
        </p:spPr>
        <p:txBody>
          <a:bodyPr/>
          <a:lstStyle>
            <a:lvl1pPr marL="0" indent="0"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12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258888" y="404664"/>
            <a:ext cx="7086600" cy="52546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" name="Rectangle 4" descr="浅色横线"/>
          <p:cNvSpPr>
            <a:spLocks noChangeArrowheads="1"/>
          </p:cNvSpPr>
          <p:nvPr userDrawn="1"/>
        </p:nvSpPr>
        <p:spPr bwMode="auto">
          <a:xfrm>
            <a:off x="40704" y="1054894"/>
            <a:ext cx="9067800" cy="698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525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 userDrawn="1"/>
        </p:nvSpPr>
        <p:spPr bwMode="auto">
          <a:xfrm>
            <a:off x="0" y="6525344"/>
            <a:ext cx="9144000" cy="332656"/>
          </a:xfrm>
          <a:prstGeom prst="rect">
            <a:avLst/>
          </a:prstGeom>
          <a:solidFill>
            <a:srgbClr val="902834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•"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203504" y="6525344"/>
            <a:ext cx="1905000" cy="332656"/>
          </a:xfrm>
        </p:spPr>
        <p:txBody>
          <a:bodyPr/>
          <a:lstStyle>
            <a:lvl1pPr>
              <a:defRPr/>
            </a:lvl1pPr>
          </a:lstStyle>
          <a:p>
            <a:fld id="{B886EBFC-4D20-41F5-B73F-3286C833CFF5}" type="slidenum">
              <a:rPr lang="en-US" altLang="zh-CN"/>
              <a:pPr/>
              <a:t>‹#›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879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183F67-13CC-472A-8E50-7B8CC8FA44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735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97BB94-0352-45F6-B4D1-C979606C63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1004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55329" y="1330136"/>
            <a:ext cx="3754438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167" y="1330136"/>
            <a:ext cx="3754437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5B81F1-8363-4929-90F3-B722A791F4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63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365125"/>
            <a:ext cx="7401322" cy="61560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3088" y="1268760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72000" y="1268760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05024-F202-479E-980B-B0D544B14F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1250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CDD4D6-4297-403E-8F3D-CBDA2752F2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515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605407-894E-4B1A-B04E-171725B18D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917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1196752"/>
            <a:ext cx="2949575" cy="860648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95936" y="1196752"/>
            <a:ext cx="4629150" cy="2160591"/>
          </a:xfr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786AA6-E35C-4680-9131-8D82C6F143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1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1268760"/>
            <a:ext cx="2949575" cy="788640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1268760"/>
            <a:ext cx="4629150" cy="459229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5F586A-52F0-450C-BCF6-C3BB7748B7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223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42E072-3ADF-43DA-B996-62469C7F4D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395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7963" y="0"/>
            <a:ext cx="2052637" cy="4241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0"/>
            <a:ext cx="6010275" cy="4241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A0F653-849A-474B-8FE9-2795216638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599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1"/>
            <a:ext cx="6437709" cy="98072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37170" y="1268760"/>
            <a:ext cx="3754438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4008" y="1268760"/>
            <a:ext cx="3754437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BDB987-2344-4D1E-A098-CD709FB7693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040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1"/>
            <a:ext cx="6437709" cy="98072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3568" y="1268760"/>
            <a:ext cx="3754438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90406" y="1268760"/>
            <a:ext cx="3754437" cy="10541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90406" y="2475260"/>
            <a:ext cx="3754437" cy="10541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AE601-C73E-4D1D-8662-4760CF7617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908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616022" y="1993068"/>
            <a:ext cx="5638800" cy="1831975"/>
          </a:xfrm>
        </p:spPr>
        <p:txBody>
          <a:bodyPr/>
          <a:lstStyle>
            <a:lvl1pPr marL="0" indent="0"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12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71600" y="20436"/>
            <a:ext cx="7086600" cy="88205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" name="Rectangle 4" descr="浅色横线"/>
          <p:cNvSpPr>
            <a:spLocks noChangeArrowheads="1"/>
          </p:cNvSpPr>
          <p:nvPr userDrawn="1"/>
        </p:nvSpPr>
        <p:spPr bwMode="auto">
          <a:xfrm>
            <a:off x="40704" y="1054894"/>
            <a:ext cx="9067800" cy="698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1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525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 userDrawn="1"/>
        </p:nvSpPr>
        <p:spPr bwMode="auto">
          <a:xfrm>
            <a:off x="0" y="6525344"/>
            <a:ext cx="9144000" cy="332656"/>
          </a:xfrm>
          <a:prstGeom prst="rect">
            <a:avLst/>
          </a:prstGeom>
          <a:solidFill>
            <a:srgbClr val="902834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•"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238139" y="6525343"/>
            <a:ext cx="1905000" cy="310491"/>
          </a:xfrm>
        </p:spPr>
        <p:txBody>
          <a:bodyPr/>
          <a:lstStyle>
            <a:lvl1pPr>
              <a:defRPr/>
            </a:lvl1pPr>
          </a:lstStyle>
          <a:p>
            <a:fld id="{DC524B35-654E-49B0-951F-D2981444A5BE}" type="slidenum">
              <a:rPr lang="en-US" altLang="zh-CN"/>
              <a:pPr/>
              <a:t>‹#›</a:t>
            </a:fld>
            <a:endParaRPr lang="en-US" altLang="zh-CN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076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93EB30-3A3F-484D-BF13-37A0D01650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3177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E3C100-F07F-4E0D-BC2B-3F2F055AD0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186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584" y="1324373"/>
            <a:ext cx="3754438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4422" y="1324373"/>
            <a:ext cx="3754437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C7221F-2BBF-45CA-BF92-D266DB5F36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47974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365125"/>
            <a:ext cx="7401322" cy="61560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003" y="1268760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0915" y="1268760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DF1005-B225-479E-9673-C83D91C42D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12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1"/>
            <a:ext cx="6509717" cy="98072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751E27-BEA2-4918-8A23-79B8A532FE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3483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0221B3-0F22-4344-B164-0B32FB6FB4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308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457200"/>
            <a:ext cx="5813970" cy="530225"/>
          </a:xfrm>
        </p:spPr>
        <p:txBody>
          <a:bodyPr/>
          <a:lstStyle>
            <a:lvl1pPr>
              <a:defRPr sz="28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1920" y="1285089"/>
            <a:ext cx="4629150" cy="201285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9552" y="1285089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D08AF-F555-45B0-BFB6-559B584230B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73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1196752"/>
            <a:ext cx="2949575" cy="860648"/>
          </a:xfrm>
        </p:spPr>
        <p:txBody>
          <a:bodyPr/>
          <a:lstStyle>
            <a:lvl1pPr>
              <a:defRPr sz="28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51920" y="1196752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D27E5E-197B-41BA-B551-F54BB50244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99413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54CFE5-53D3-4C1D-A353-76543E08450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0191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76256" y="1556792"/>
            <a:ext cx="2052637" cy="4241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536" y="1412776"/>
            <a:ext cx="6010275" cy="4241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B0AAD6-7A24-444D-9B85-1C1BAFA2FA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4573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1"/>
            <a:ext cx="6437709" cy="98072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584" y="1268760"/>
            <a:ext cx="3754438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4422" y="1268760"/>
            <a:ext cx="3754437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51B628-E231-4B76-94D8-58F20FD857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74289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1"/>
            <a:ext cx="6437709" cy="98072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71600" y="1268760"/>
            <a:ext cx="3754438" cy="2260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8438" y="1268760"/>
            <a:ext cx="3754437" cy="10541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78438" y="2475260"/>
            <a:ext cx="3754437" cy="10541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5848EA-8977-485F-BD9C-1CD0422A43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241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331640" y="509109"/>
            <a:ext cx="7158037" cy="434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043608" y="1340768"/>
            <a:ext cx="7661275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9" name="Rectangle 4" descr="浅色横线"/>
          <p:cNvSpPr>
            <a:spLocks noChangeArrowheads="1"/>
          </p:cNvSpPr>
          <p:nvPr userDrawn="1"/>
        </p:nvSpPr>
        <p:spPr bwMode="auto">
          <a:xfrm>
            <a:off x="40704" y="1054894"/>
            <a:ext cx="9067800" cy="69850"/>
          </a:xfrm>
          <a:prstGeom prst="rect">
            <a:avLst/>
          </a:prstGeom>
          <a:blipFill dpi="0" rotWithShape="0">
            <a:blip r:embed="rId1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" name="图片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525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 bwMode="auto">
          <a:xfrm>
            <a:off x="0" y="6525344"/>
            <a:ext cx="9144000" cy="332656"/>
          </a:xfrm>
          <a:prstGeom prst="rect">
            <a:avLst/>
          </a:prstGeom>
          <a:solidFill>
            <a:srgbClr val="902834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•"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6296" y="6525344"/>
            <a:ext cx="1905000" cy="3326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i="0" noProof="1" dirty="0">
                <a:cs typeface="Times New Roman" panose="02020603050405020304" pitchFamily="18" charset="0"/>
              </a:defRPr>
            </a:lvl1pPr>
          </a:lstStyle>
          <a:p>
            <a:fld id="{3E5B9D95-F059-406F-9D93-399EB783911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0" r:id="rId2"/>
    <p:sldLayoutId id="2147483679" r:id="rId3"/>
    <p:sldLayoutId id="2147483678" r:id="rId4"/>
    <p:sldLayoutId id="2147483677" r:id="rId5"/>
    <p:sldLayoutId id="2147483676" r:id="rId6"/>
    <p:sldLayoutId id="2147483675" r:id="rId7"/>
    <p:sldLayoutId id="2147483674" r:id="rId8"/>
    <p:sldLayoutId id="2147483673" r:id="rId9"/>
    <p:sldLayoutId id="2147483672" r:id="rId10"/>
    <p:sldLayoutId id="2147483671" r:id="rId11"/>
    <p:sldLayoutId id="2147483670" r:id="rId12"/>
    <p:sldLayoutId id="2147483669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  <a:cs typeface="Arial Unicode MS" panose="020B0604020202020204" pitchFamily="3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  <a:cs typeface="Arial Unicode MS" panose="020B0604020202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  <a:cs typeface="Arial Unicode MS" panose="020B0604020202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  <a:cs typeface="Arial Unicode MS" panose="020B0604020202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  <a:cs typeface="Arial Unicode MS" panose="020B0604020202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Tx/>
        <a:buSzPct val="70000"/>
        <a:buFont typeface="Wingdings" panose="05000000000000000000" pitchFamily="2" charset="2"/>
        <a:buChar char="l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6462" indent="-457200" algn="l" rtl="0" eaLnBrk="0" fontAlgn="base" hangingPunct="0">
        <a:spcBef>
          <a:spcPct val="20000"/>
        </a:spcBef>
        <a:spcAft>
          <a:spcPct val="0"/>
        </a:spcAft>
        <a:buClrTx/>
        <a:buSzPct val="65000"/>
        <a:buFont typeface="Wingdings" panose="05000000000000000000" pitchFamily="2" charset="2"/>
        <a:buChar char="Ø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Tx/>
        <a:buSzPct val="70000"/>
        <a:buFont typeface="Wingdings" panose="05000000000000000000" pitchFamily="2" charset="2"/>
        <a:buChar char="l"/>
        <a:defRPr sz="2000" b="1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Tx/>
        <a:buSzPct val="75000"/>
        <a:buFont typeface="Wingdings" panose="05000000000000000000" pitchFamily="2" charset="2"/>
        <a:buChar char="±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Tx/>
        <a:buSzPct val="70000"/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043608" y="1"/>
            <a:ext cx="6509717" cy="1054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1560" y="1311995"/>
            <a:ext cx="7661275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9" name="Rectangle 4" descr="浅色横线"/>
          <p:cNvSpPr>
            <a:spLocks noChangeArrowheads="1"/>
          </p:cNvSpPr>
          <p:nvPr userDrawn="1"/>
        </p:nvSpPr>
        <p:spPr bwMode="auto">
          <a:xfrm>
            <a:off x="40704" y="1054894"/>
            <a:ext cx="9067800" cy="69850"/>
          </a:xfrm>
          <a:prstGeom prst="rect">
            <a:avLst/>
          </a:prstGeom>
          <a:blipFill dpi="0" rotWithShape="0">
            <a:blip r:embed="rId1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" name="图片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525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 bwMode="auto">
          <a:xfrm>
            <a:off x="0" y="6525344"/>
            <a:ext cx="9144000" cy="332656"/>
          </a:xfrm>
          <a:prstGeom prst="rect">
            <a:avLst/>
          </a:prstGeom>
          <a:solidFill>
            <a:srgbClr val="902834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•"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25344"/>
            <a:ext cx="1905000" cy="33265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i="0" noProof="1" dirty="0">
                <a:cs typeface="Times New Roman" panose="02020603050405020304" pitchFamily="18" charset="0"/>
              </a:defRPr>
            </a:lvl1pPr>
          </a:lstStyle>
          <a:p>
            <a:fld id="{9FC0D427-E1CC-486E-99BA-0A6BB338B94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2" r:id="rId2"/>
    <p:sldLayoutId id="2147483691" r:id="rId3"/>
    <p:sldLayoutId id="2147483690" r:id="rId4"/>
    <p:sldLayoutId id="2147483689" r:id="rId5"/>
    <p:sldLayoutId id="2147483688" r:id="rId6"/>
    <p:sldLayoutId id="2147483687" r:id="rId7"/>
    <p:sldLayoutId id="2147483686" r:id="rId8"/>
    <p:sldLayoutId id="2147483685" r:id="rId9"/>
    <p:sldLayoutId id="2147483684" r:id="rId10"/>
    <p:sldLayoutId id="2147483683" r:id="rId11"/>
    <p:sldLayoutId id="2147483682" r:id="rId12"/>
    <p:sldLayoutId id="214748368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  <a:cs typeface="Arial Unicode MS" panose="020B0604020202020204" pitchFamily="3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  <a:cs typeface="Arial Unicode MS" panose="020B0604020202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  <a:cs typeface="Arial Unicode MS" panose="020B0604020202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  <a:cs typeface="Arial Unicode MS" panose="020B0604020202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  <a:cs typeface="Arial Unicode MS" panose="020B0604020202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604030504040204" pitchFamily="34" charset="0"/>
          <a:ea typeface="Arial Unicode MS" panose="020B0604020202020204" pitchFamily="34" charset="-122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Tx/>
        <a:buSzPct val="70000"/>
        <a:buFont typeface="Wingdings" panose="05000000000000000000" pitchFamily="2" charset="2"/>
        <a:buChar char="l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Tx/>
        <a:buSzPct val="65000"/>
        <a:buFont typeface="Wingdings" panose="05000000000000000000" pitchFamily="2" charset="2"/>
        <a:buChar char="Ø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Tx/>
        <a:buSzPct val="65000"/>
        <a:buFont typeface="Wingdings" panose="05000000000000000000" pitchFamily="2" charset="2"/>
        <a:buChar char="l"/>
        <a:defRPr sz="2000" b="1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Tx/>
        <a:buSzPct val="65000"/>
        <a:buFont typeface="Wingdings" panose="05000000000000000000" pitchFamily="2" charset="2"/>
        <a:buChar char="±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Tx/>
        <a:buSzPct val="65000"/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6.wmf"/><Relationship Id="rId3" Type="http://schemas.openxmlformats.org/officeDocument/2006/relationships/image" Target="../media/image19.png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9.bin"/><Relationship Id="rId3" Type="http://schemas.openxmlformats.org/officeDocument/2006/relationships/oleObject" Target="../embeddings/oleObject11.bin"/><Relationship Id="rId21" Type="http://schemas.openxmlformats.org/officeDocument/2006/relationships/image" Target="../media/image26.wmf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23.wmf"/><Relationship Id="rId10" Type="http://schemas.openxmlformats.org/officeDocument/2006/relationships/image" Target="../media/image22.wmf"/><Relationship Id="rId19" Type="http://schemas.openxmlformats.org/officeDocument/2006/relationships/image" Target="../media/image25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4.bin"/><Relationship Id="rId14" Type="http://schemas.openxmlformats.org/officeDocument/2006/relationships/oleObject" Target="../embeddings/oleObject17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63.png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41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oleObject" Target="../embeddings/oleObject34.bin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2.png"/><Relationship Id="rId4" Type="http://schemas.openxmlformats.org/officeDocument/2006/relationships/image" Target="../media/image43.emf"/><Relationship Id="rId9" Type="http://schemas.openxmlformats.org/officeDocument/2006/relationships/image" Target="../media/image45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3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2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3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0.png"/><Relationship Id="rId5" Type="http://schemas.openxmlformats.org/officeDocument/2006/relationships/image" Target="../media/image56.emf"/><Relationship Id="rId4" Type="http://schemas.openxmlformats.org/officeDocument/2006/relationships/oleObject" Target="../embeddings/oleObject4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45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0.png"/><Relationship Id="rId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00.png"/><Relationship Id="rId4" Type="http://schemas.openxmlformats.org/officeDocument/2006/relationships/image" Target="../media/image9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7.png"/><Relationship Id="rId7" Type="http://schemas.openxmlformats.org/officeDocument/2006/relationships/image" Target="../media/image9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00.png"/><Relationship Id="rId4" Type="http://schemas.openxmlformats.org/officeDocument/2006/relationships/image" Target="../media/image9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100.png"/><Relationship Id="rId4" Type="http://schemas.openxmlformats.org/officeDocument/2006/relationships/image" Target="../media/image90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65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zh-CN" dirty="0">
                <a:solidFill>
                  <a:srgbClr val="000000"/>
                </a:solidFill>
              </a:rPr>
              <a:t>9.1图的基本概念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3853363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Times New Roman" panose="02020603050405020304" pitchFamily="18" charset="0"/>
              </a:rPr>
              <a:t>图论中几个重要记号和术语</a:t>
            </a:r>
          </a:p>
          <a:p>
            <a:pPr lvl="1" eaLnBrk="1" hangingPunct="1"/>
            <a:r>
              <a:rPr lang="zh-CN" altLang="en-US" sz="2000" dirty="0" smtClean="0">
                <a:latin typeface="Times New Roman" panose="02020603050405020304" pitchFamily="18" charset="0"/>
              </a:rPr>
              <a:t>图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或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中的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点数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记为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p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或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p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边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弧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数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记为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q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或 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q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，分别简记为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p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q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/>
            <a:r>
              <a:rPr lang="zh-CN" altLang="en-US" sz="2000" dirty="0" smtClean="0">
                <a:latin typeface="Times New Roman" panose="02020603050405020304" pitchFamily="18" charset="0"/>
              </a:rPr>
              <a:t>无向图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常用的一些名词和记号：</a:t>
            </a:r>
          </a:p>
          <a:p>
            <a:pPr lvl="2" eaLnBrk="1" hangingPunct="1"/>
            <a:r>
              <a:rPr lang="zh-CN" altLang="en-US" sz="1800" dirty="0" smtClean="0">
                <a:latin typeface="Times New Roman" panose="02020603050405020304" pitchFamily="18" charset="0"/>
              </a:rPr>
              <a:t>若边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 =[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u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∈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，则称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u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的</a:t>
            </a:r>
            <a:r>
              <a:rPr lang="zh-CN" altLang="en-US" sz="1800" b="1" dirty="0" smtClean="0">
                <a:latin typeface="Times New Roman" panose="02020603050405020304" pitchFamily="18" charset="0"/>
              </a:rPr>
              <a:t>端点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，也称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u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是</a:t>
            </a:r>
            <a:r>
              <a:rPr lang="zh-CN" altLang="en-US" sz="1800" b="1" dirty="0" smtClean="0">
                <a:latin typeface="Times New Roman" panose="02020603050405020304" pitchFamily="18" charset="0"/>
              </a:rPr>
              <a:t>相邻的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。称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是点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u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(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及点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的</a:t>
            </a:r>
            <a:r>
              <a:rPr lang="zh-CN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关连边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。</a:t>
            </a:r>
          </a:p>
          <a:p>
            <a:pPr lvl="2" eaLnBrk="1" hangingPunct="1"/>
            <a:r>
              <a:rPr lang="zh-CN" altLang="en-US" sz="1800" dirty="0" smtClean="0">
                <a:latin typeface="Times New Roman" panose="02020603050405020304" pitchFamily="18" charset="0"/>
              </a:rPr>
              <a:t>若图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G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中，某个边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的两个端点相同，则称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是</a:t>
            </a:r>
            <a:r>
              <a:rPr lang="zh-CN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环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。</a:t>
            </a:r>
          </a:p>
          <a:p>
            <a:pPr lvl="2" eaLnBrk="1" hangingPunct="1"/>
            <a:r>
              <a:rPr lang="zh-CN" altLang="en-US" sz="1800" dirty="0" smtClean="0">
                <a:latin typeface="Times New Roman" panose="02020603050405020304" pitchFamily="18" charset="0"/>
              </a:rPr>
              <a:t>若两个点之间有多于一条的边，称这些边为</a:t>
            </a:r>
            <a:r>
              <a:rPr lang="zh-CN" altLang="en-US" sz="1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多重边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。</a:t>
            </a:r>
            <a:endParaRPr lang="en-US" altLang="zh-CN" sz="1800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简单图</a:t>
            </a:r>
            <a:r>
              <a:rPr lang="zh-CN" altLang="en-US" dirty="0" smtClean="0">
                <a:latin typeface="Times New Roman" panose="02020603050405020304" pitchFamily="18" charset="0"/>
              </a:rPr>
              <a:t>：一个无</a:t>
            </a:r>
            <a:r>
              <a:rPr lang="zh-CN" altLang="en-US" dirty="0">
                <a:latin typeface="Times New Roman" panose="02020603050405020304" pitchFamily="18" charset="0"/>
              </a:rPr>
              <a:t>环，无多重边的</a:t>
            </a:r>
            <a:r>
              <a:rPr lang="zh-CN" altLang="en-US" dirty="0" smtClean="0">
                <a:latin typeface="Times New Roman" panose="02020603050405020304" pitchFamily="18" charset="0"/>
              </a:rPr>
              <a:t>图；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多重图</a:t>
            </a:r>
            <a:r>
              <a:rPr lang="zh-CN" altLang="en-US" dirty="0" smtClean="0">
                <a:latin typeface="Times New Roman" panose="02020603050405020304" pitchFamily="18" charset="0"/>
              </a:rPr>
              <a:t>：一</a:t>
            </a:r>
            <a:r>
              <a:rPr lang="zh-CN" altLang="en-US" dirty="0">
                <a:latin typeface="Times New Roman" panose="02020603050405020304" pitchFamily="18" charset="0"/>
              </a:rPr>
              <a:t>个无环，但允许有多重边的</a:t>
            </a:r>
            <a:r>
              <a:rPr lang="zh-CN" altLang="en-US" dirty="0" smtClean="0">
                <a:latin typeface="Times New Roman" panose="02020603050405020304" pitchFamily="18" charset="0"/>
              </a:rPr>
              <a:t>图。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2" eaLnBrk="1" hangingPunct="1"/>
            <a:endParaRPr lang="zh-CN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2576329"/>
            <a:ext cx="1622174" cy="1944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4869160"/>
            <a:ext cx="3600400" cy="15131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635896" y="6309320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i="0" dirty="0">
                <a:latin typeface="Times New Roman" panose="02020603050405020304" pitchFamily="18" charset="0"/>
              </a:rPr>
              <a:t>简单图</a:t>
            </a:r>
            <a:endParaRPr lang="zh-CN" altLang="en-US" sz="1400" i="0" dirty="0"/>
          </a:p>
        </p:txBody>
      </p:sp>
      <p:sp>
        <p:nvSpPr>
          <p:cNvPr id="7" name="矩形 6"/>
          <p:cNvSpPr/>
          <p:nvPr/>
        </p:nvSpPr>
        <p:spPr>
          <a:xfrm>
            <a:off x="5220072" y="6309319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i="0" dirty="0">
                <a:latin typeface="Times New Roman" panose="02020603050405020304" pitchFamily="18" charset="0"/>
              </a:rPr>
              <a:t>多重图</a:t>
            </a:r>
            <a:endParaRPr lang="zh-CN" altLang="en-US" sz="1400" i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zh-CN" dirty="0">
                <a:solidFill>
                  <a:srgbClr val="000000"/>
                </a:solidFill>
              </a:rPr>
              <a:t>9.1图的基本概念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360098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图论中几个重要记号和术语（续）</a:t>
            </a:r>
          </a:p>
          <a:p>
            <a:pPr lvl="1" eaLnBrk="1" hangingPunct="1"/>
            <a:r>
              <a:rPr lang="zh-CN" altLang="en-US" sz="2000" dirty="0" smtClean="0">
                <a:latin typeface="Times New Roman" panose="02020603050405020304" pitchFamily="18" charset="0"/>
              </a:rPr>
              <a:t>以点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为端点的边的个数称为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次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度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，记为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d</a:t>
            </a:r>
            <a:r>
              <a:rPr lang="en-US" altLang="zh-CN" sz="2000" baseline="-25000" dirty="0" err="1" smtClean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或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。如图，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)=4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)=3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)=3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)=4(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环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7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在计算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时算作两次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/>
            <a:r>
              <a:rPr lang="zh-CN" altLang="en-US" sz="2000" dirty="0" smtClean="0">
                <a:latin typeface="Times New Roman" panose="02020603050405020304" pitchFamily="18" charset="0"/>
              </a:rPr>
              <a:t>称次为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的点为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悬挂点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，悬挂点的关连边称为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悬挂边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，次为零的点称为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孤立点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 smtClean="0"/>
              <a:t>次</a:t>
            </a:r>
            <a:r>
              <a:rPr lang="zh-CN" altLang="en-US" dirty="0"/>
              <a:t>为奇数的点，称为</a:t>
            </a:r>
            <a:r>
              <a:rPr lang="zh-CN" altLang="en-US" dirty="0">
                <a:solidFill>
                  <a:srgbClr val="FF0000"/>
                </a:solidFill>
              </a:rPr>
              <a:t>奇点</a:t>
            </a:r>
            <a:r>
              <a:rPr lang="zh-CN" altLang="en-US" dirty="0"/>
              <a:t>，否则称为</a:t>
            </a:r>
            <a:r>
              <a:rPr lang="zh-CN" altLang="en-US" dirty="0">
                <a:solidFill>
                  <a:srgbClr val="FF0000"/>
                </a:solidFill>
              </a:rPr>
              <a:t>偶点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eaLnBrk="1" hangingPunct="1"/>
            <a:endParaRPr lang="zh-CN" altLang="en-US" dirty="0"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</a:rPr>
              <a:t>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中，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所有点的次之和是边数的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两倍。</a:t>
            </a:r>
            <a:endParaRPr lang="en-US" altLang="zh-CN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个图中，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奇点的个数为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偶数。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2576329"/>
            <a:ext cx="1622174" cy="1944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zh-CN" dirty="0">
                <a:solidFill>
                  <a:srgbClr val="000000"/>
                </a:solidFill>
              </a:rPr>
              <a:t>9.1图的基本概念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43608" y="1340768"/>
                <a:ext cx="7661275" cy="5102935"/>
              </a:xfrm>
            </p:spPr>
            <p:txBody>
              <a:bodyPr/>
              <a:lstStyle/>
              <a:p>
                <a:pPr eaLnBrk="1" hangingPunct="1"/>
                <a:r>
                  <a:rPr lang="zh-CN" altLang="en-US" dirty="0" smtClean="0">
                    <a:latin typeface="Times New Roman" panose="02020603050405020304" pitchFamily="18" charset="0"/>
                  </a:rPr>
                  <a:t>图论中几个重要记号和术语（续）</a:t>
                </a:r>
              </a:p>
              <a:p>
                <a:pPr lvl="1" eaLnBrk="1" hangingPunct="1"/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链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：给定一个图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G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=(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和一个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点、边交错序列</a:t>
                </a:r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, 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如果满足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r>
                      <a:rPr lang="en-US" altLang="zh-CN" b="1" i="1" smtClean="0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en-US" altLang="zh-CN" dirty="0">
                        <a:solidFill>
                          <a:srgbClr val="292929"/>
                        </a:solidFill>
                        <a:latin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292929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altLang="zh-CN" b="1" i="1" smtClean="0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则称为一条联结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en-US" altLang="zh-CN" dirty="0">
                        <a:solidFill>
                          <a:srgbClr val="292929"/>
                        </a:solidFill>
                        <a:latin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dirty="0">
                        <a:solidFill>
                          <a:srgbClr val="292929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的</a:t>
                </a:r>
                <a:r>
                  <a:rPr lang="zh-CN" altLang="en-US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链，记</a:t>
                </a:r>
                <a:r>
                  <a:rPr lang="zh-CN" altLang="en-US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为</a:t>
                </a:r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 smtClean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。称</a:t>
                </a:r>
                <a:r>
                  <a:rPr lang="zh-CN" altLang="en-US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为</a:t>
                </a:r>
                <a:r>
                  <a:rPr lang="zh-CN" altLang="en-US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链的中间点。</a:t>
                </a:r>
              </a:p>
              <a:p>
                <a:pPr lvl="1" eaLnBrk="1" hangingPunct="1"/>
                <a:r>
                  <a:rPr lang="zh-CN" altLang="en-US" dirty="0" smtClean="0">
                    <a:solidFill>
                      <a:srgbClr val="FF0000"/>
                    </a:solidFill>
                  </a:rPr>
                  <a:t>圈</a:t>
                </a:r>
                <a:r>
                  <a:rPr lang="zh-CN" altLang="en-US" dirty="0" smtClean="0"/>
                  <a:t>：链</a:t>
                </a:r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/>
                  <a:t>中，若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，则称之为一个圈，记</a:t>
                </a:r>
                <a:r>
                  <a:rPr lang="zh-CN" altLang="en-US" dirty="0" smtClean="0"/>
                  <a:t>为</a:t>
                </a:r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 </a:t>
                </a:r>
                <a:r>
                  <a:rPr lang="zh-CN" altLang="en-US" dirty="0"/>
                  <a:t>。</a:t>
                </a:r>
              </a:p>
              <a:p>
                <a:pPr lvl="1" eaLnBrk="1" hangingPunct="1"/>
                <a:r>
                  <a:rPr lang="zh-CN" altLang="en-US" dirty="0">
                    <a:solidFill>
                      <a:srgbClr val="FF0000"/>
                    </a:solidFill>
                  </a:rPr>
                  <a:t>初等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链</a:t>
                </a:r>
                <a:r>
                  <a:rPr lang="zh-CN" altLang="en-US" dirty="0" smtClean="0"/>
                  <a:t>：若</a:t>
                </a:r>
                <a:r>
                  <a:rPr lang="zh-CN" altLang="en-US" dirty="0"/>
                  <a:t>链</a:t>
                </a:r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/>
                  <a:t>中，点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 smtClean="0"/>
                  <a:t>都是</a:t>
                </a:r>
                <a:r>
                  <a:rPr lang="zh-CN" altLang="en-US" dirty="0"/>
                  <a:t>不同的，则称之为初等链</a:t>
                </a:r>
                <a:r>
                  <a:rPr lang="zh-CN" altLang="en-US" dirty="0" smtClean="0"/>
                  <a:t>；</a:t>
                </a:r>
                <a:endParaRPr lang="en-US" altLang="zh-CN" dirty="0" smtClean="0"/>
              </a:p>
              <a:p>
                <a:pPr lvl="1" eaLnBrk="1" hangingPunct="1"/>
                <a:r>
                  <a:rPr lang="zh-CN" altLang="en-US" dirty="0">
                    <a:solidFill>
                      <a:srgbClr val="FF0000"/>
                    </a:solidFill>
                  </a:rPr>
                  <a:t>初等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圈</a:t>
                </a:r>
                <a:r>
                  <a:rPr lang="zh-CN" altLang="en-US" dirty="0" smtClean="0"/>
                  <a:t>：若</a:t>
                </a:r>
                <a:r>
                  <a:rPr lang="zh-CN" altLang="en-US" dirty="0"/>
                  <a:t>圈</a:t>
                </a:r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 smtClean="0"/>
                  <a:t>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m:rPr>
                        <m:nor/>
                      </m:rPr>
                      <a:rPr lang="en-US" altLang="zh-CN" dirty="0">
                        <a:solidFill>
                          <a:srgbClr val="292929"/>
                        </a:solidFill>
                        <a:latin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/>
                  <a:t>都是不同的，则称之为初等圈。</a:t>
                </a:r>
              </a:p>
              <a:p>
                <a:pPr lvl="1" eaLnBrk="1" hangingPunct="1"/>
                <a:r>
                  <a:rPr lang="zh-CN" altLang="en-US" dirty="0">
                    <a:solidFill>
                      <a:srgbClr val="FF0000"/>
                    </a:solidFill>
                  </a:rPr>
                  <a:t>简单链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圈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)</a:t>
                </a:r>
                <a:r>
                  <a:rPr lang="zh-CN" altLang="en-US" dirty="0" smtClean="0"/>
                  <a:t>：若</a:t>
                </a:r>
                <a:r>
                  <a:rPr lang="zh-CN" altLang="en-US" dirty="0"/>
                  <a:t>链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圈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中含的边均不相同，则称之为简单链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圈</a:t>
                </a:r>
                <a:r>
                  <a:rPr lang="en-US" altLang="zh-CN" dirty="0"/>
                  <a:t>) 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pPr lvl="1" eaLnBrk="1" hangingPunct="1"/>
                <a:r>
                  <a:rPr lang="zh-CN" altLang="en-US" dirty="0" smtClean="0"/>
                  <a:t>以后</a:t>
                </a:r>
                <a:r>
                  <a:rPr lang="zh-CN" altLang="en-US" dirty="0"/>
                  <a:t>说到链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圈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，除非特别交代，均指初等链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圈</a:t>
                </a:r>
                <a:r>
                  <a:rPr lang="en-US" altLang="zh-CN" dirty="0"/>
                  <a:t>)</a:t>
                </a:r>
                <a:r>
                  <a:rPr lang="zh-CN" altLang="en-US" dirty="0" smtClean="0"/>
                  <a:t>。</a:t>
                </a:r>
                <a:endParaRPr lang="zh-CN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53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340768"/>
                <a:ext cx="7661275" cy="5102935"/>
              </a:xfrm>
              <a:blipFill>
                <a:blip r:embed="rId3"/>
                <a:stretch>
                  <a:fillRect l="-318" t="-1314" r="-1671" b="-1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253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254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2542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2544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687" y="3850629"/>
            <a:ext cx="4570413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zh-CN" dirty="0">
                <a:solidFill>
                  <a:srgbClr val="000000"/>
                </a:solidFill>
              </a:rPr>
              <a:t>9.1图的基本概念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43608" y="1340768"/>
                <a:ext cx="7661275" cy="2123658"/>
              </a:xfrm>
            </p:spPr>
            <p:txBody>
              <a:bodyPr/>
              <a:lstStyle/>
              <a:p>
                <a:pPr eaLnBrk="1" hangingPunct="1"/>
                <a:r>
                  <a:rPr lang="zh-CN" altLang="en-US" dirty="0" smtClean="0">
                    <a:latin typeface="Times New Roman" panose="02020603050405020304" pitchFamily="18" charset="0"/>
                  </a:rPr>
                  <a:t>例子</a:t>
                </a:r>
              </a:p>
              <a:p>
                <a:pPr lvl="1" eaLnBrk="1" hangingPunct="1"/>
                <a:r>
                  <a:rPr lang="zh-CN" altLang="en-US" dirty="0" smtClean="0">
                    <a:latin typeface="Times New Roman" panose="02020603050405020304" pitchFamily="18" charset="0"/>
                  </a:rPr>
                  <a:t>图中，</a:t>
                </a:r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是一条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简单链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，但不是初等链， </a:t>
                </a:r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是一条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初等链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。图中不存在联结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</a:rPr>
                  <a:t>的链。 </a:t>
                </a:r>
              </a:p>
              <a:p>
                <a:pPr lvl="1" eaLnBrk="1" hangingPunct="1"/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是一个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初等圈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是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简单圈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，但不是初等圈。</a:t>
                </a:r>
                <a:endParaRPr lang="zh-CN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58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340768"/>
                <a:ext cx="7661275" cy="2123658"/>
              </a:xfrm>
              <a:blipFill>
                <a:blip r:embed="rId3"/>
                <a:stretch>
                  <a:fillRect l="-318" t="-3161" r="-2466" b="-4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458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458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4590" name="Text Box 13"/>
          <p:cNvSpPr txBox="1">
            <a:spLocks noChangeArrowheads="1"/>
          </p:cNvSpPr>
          <p:nvPr/>
        </p:nvSpPr>
        <p:spPr bwMode="auto">
          <a:xfrm>
            <a:off x="3204691" y="6517282"/>
            <a:ext cx="33115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1400" b="1" i="0" dirty="0">
                <a:solidFill>
                  <a:srgbClr val="FF0000"/>
                </a:solidFill>
                <a:ea typeface="楷体" panose="02010609060101010101" pitchFamily="49" charset="-122"/>
              </a:rPr>
              <a:t>初等链</a:t>
            </a:r>
            <a:r>
              <a:rPr lang="zh-CN" altLang="en-US" sz="1400" b="1" i="0" dirty="0">
                <a:ea typeface="楷体" panose="02010609060101010101" pitchFamily="49" charset="-122"/>
              </a:rPr>
              <a:t>与</a:t>
            </a:r>
            <a:r>
              <a:rPr lang="zh-CN" altLang="en-US" sz="1400" b="1" i="0" dirty="0">
                <a:solidFill>
                  <a:srgbClr val="FF0000"/>
                </a:solidFill>
                <a:ea typeface="楷体" panose="02010609060101010101" pitchFamily="49" charset="-122"/>
              </a:rPr>
              <a:t>初等圈</a:t>
            </a:r>
          </a:p>
        </p:txBody>
      </p:sp>
      <p:sp>
        <p:nvSpPr>
          <p:cNvPr id="24591" name="Rectangle 14"/>
          <p:cNvSpPr>
            <a:spLocks noChangeArrowheads="1"/>
          </p:cNvSpPr>
          <p:nvPr/>
        </p:nvSpPr>
        <p:spPr bwMode="auto">
          <a:xfrm>
            <a:off x="2417262" y="6525344"/>
            <a:ext cx="6222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53AF8"/>
              </a:buClr>
              <a:buSzPct val="70000"/>
            </a:pPr>
            <a:r>
              <a:rPr lang="zh-CN" altLang="en-US" sz="1400" i="0" dirty="0"/>
              <a:t>图</a:t>
            </a:r>
            <a:r>
              <a:rPr lang="en-US" altLang="zh-CN" sz="1400" i="0" dirty="0" smtClean="0"/>
              <a:t>9-4</a:t>
            </a:r>
            <a:endParaRPr lang="en-US" altLang="zh-CN" sz="1400" i="0" dirty="0"/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2699792" y="4149080"/>
            <a:ext cx="0" cy="108012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13" name="直接连接符 12"/>
          <p:cNvCxnSpPr/>
          <p:nvPr/>
        </p:nvCxnSpPr>
        <p:spPr bwMode="auto">
          <a:xfrm>
            <a:off x="2699792" y="5229200"/>
            <a:ext cx="1224136" cy="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16" name="直接连接符 15"/>
          <p:cNvCxnSpPr/>
          <p:nvPr/>
        </p:nvCxnSpPr>
        <p:spPr bwMode="auto">
          <a:xfrm flipV="1">
            <a:off x="3923928" y="4149080"/>
            <a:ext cx="0" cy="108012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19" name="直接连接符 18"/>
          <p:cNvCxnSpPr/>
          <p:nvPr/>
        </p:nvCxnSpPr>
        <p:spPr bwMode="auto">
          <a:xfrm flipH="1">
            <a:off x="3923928" y="4149080"/>
            <a:ext cx="1296144" cy="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22" name="直接连接符 21"/>
          <p:cNvCxnSpPr/>
          <p:nvPr/>
        </p:nvCxnSpPr>
        <p:spPr bwMode="auto">
          <a:xfrm flipV="1">
            <a:off x="3923928" y="4149080"/>
            <a:ext cx="1296144" cy="1080120"/>
          </a:xfrm>
          <a:prstGeom prst="line">
            <a:avLst/>
          </a:prstGeom>
          <a:noFill/>
          <a:ln w="28575">
            <a:solidFill>
              <a:srgbClr val="553AF8"/>
            </a:solidFill>
          </a:ln>
        </p:spPr>
      </p:cxnSp>
      <p:cxnSp>
        <p:nvCxnSpPr>
          <p:cNvPr id="25" name="直接连接符 24"/>
          <p:cNvCxnSpPr/>
          <p:nvPr/>
        </p:nvCxnSpPr>
        <p:spPr bwMode="auto">
          <a:xfrm flipV="1">
            <a:off x="3563888" y="5229200"/>
            <a:ext cx="360040" cy="936104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28" name="直接连接符 27"/>
          <p:cNvCxnSpPr/>
          <p:nvPr/>
        </p:nvCxnSpPr>
        <p:spPr bwMode="auto">
          <a:xfrm>
            <a:off x="3563888" y="6165304"/>
            <a:ext cx="1584176" cy="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32" name="直接连接符 31"/>
          <p:cNvCxnSpPr/>
          <p:nvPr/>
        </p:nvCxnSpPr>
        <p:spPr bwMode="auto">
          <a:xfrm>
            <a:off x="2699793" y="4144550"/>
            <a:ext cx="1224135" cy="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35" name="直接连接符 34"/>
          <p:cNvCxnSpPr/>
          <p:nvPr/>
        </p:nvCxnSpPr>
        <p:spPr bwMode="auto">
          <a:xfrm flipV="1">
            <a:off x="3923927" y="4158910"/>
            <a:ext cx="1296144" cy="108012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36" name="直接连接符 35"/>
          <p:cNvCxnSpPr/>
          <p:nvPr/>
        </p:nvCxnSpPr>
        <p:spPr bwMode="auto">
          <a:xfrm flipH="1" flipV="1">
            <a:off x="5220070" y="4168152"/>
            <a:ext cx="1" cy="1987322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sp>
        <p:nvSpPr>
          <p:cNvPr id="4" name="矩形 3"/>
          <p:cNvSpPr/>
          <p:nvPr/>
        </p:nvSpPr>
        <p:spPr>
          <a:xfrm>
            <a:off x="6494839" y="57332"/>
            <a:ext cx="27363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i="0" dirty="0" smtClean="0"/>
              <a:t>初等链</a:t>
            </a:r>
            <a:r>
              <a:rPr lang="en-US" altLang="zh-CN" sz="2000" i="0" dirty="0"/>
              <a:t>(</a:t>
            </a:r>
            <a:r>
              <a:rPr lang="zh-CN" altLang="en-US" sz="2000" i="0" dirty="0"/>
              <a:t>圈</a:t>
            </a:r>
            <a:r>
              <a:rPr lang="en-US" altLang="zh-CN" sz="2000" i="0" dirty="0" smtClean="0"/>
              <a:t>)</a:t>
            </a:r>
            <a:r>
              <a:rPr lang="zh-CN" altLang="en-US" sz="2000" i="0" dirty="0" smtClean="0"/>
              <a:t>：点不重复</a:t>
            </a:r>
            <a:endParaRPr lang="zh-CN" altLang="en-US" sz="2000" i="0" dirty="0"/>
          </a:p>
          <a:p>
            <a:r>
              <a:rPr lang="zh-CN" altLang="en-US" sz="2000" i="0" dirty="0" smtClean="0"/>
              <a:t>简单</a:t>
            </a:r>
            <a:r>
              <a:rPr lang="zh-CN" altLang="en-US" sz="2000" i="0" dirty="0"/>
              <a:t>链</a:t>
            </a:r>
            <a:r>
              <a:rPr lang="en-US" altLang="zh-CN" sz="2000" i="0" dirty="0"/>
              <a:t>(</a:t>
            </a:r>
            <a:r>
              <a:rPr lang="zh-CN" altLang="en-US" sz="2000" i="0" dirty="0"/>
              <a:t>圈</a:t>
            </a:r>
            <a:r>
              <a:rPr lang="en-US" altLang="zh-CN" sz="2000" i="0" dirty="0" smtClean="0"/>
              <a:t>)</a:t>
            </a:r>
            <a:r>
              <a:rPr lang="zh-CN" altLang="en-US" sz="2000" i="0" dirty="0"/>
              <a:t> </a:t>
            </a:r>
            <a:r>
              <a:rPr lang="zh-CN" altLang="en-US" sz="2000" i="0" dirty="0" smtClean="0"/>
              <a:t>：边不重复</a:t>
            </a:r>
            <a:endParaRPr lang="zh-CN" altLang="en-US" sz="2000" i="0" dirty="0"/>
          </a:p>
        </p:txBody>
      </p:sp>
    </p:spTree>
    <p:extLst>
      <p:ext uri="{BB962C8B-B14F-4D97-AF65-F5344CB8AC3E}">
        <p14:creationId xmlns:p14="http://schemas.microsoft.com/office/powerpoint/2010/main" val="367356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zh-CN" dirty="0">
                <a:solidFill>
                  <a:srgbClr val="000000"/>
                </a:solidFill>
              </a:rPr>
              <a:t>9.1图的基本概念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311995"/>
            <a:ext cx="7661275" cy="2739211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二部图</a:t>
            </a:r>
          </a:p>
          <a:p>
            <a:pPr lvl="1" eaLnBrk="1" hangingPunct="1"/>
            <a:r>
              <a:rPr lang="zh-CN" altLang="zh-CN" dirty="0" smtClean="0"/>
              <a:t>若图</a:t>
            </a:r>
            <a:r>
              <a:rPr lang="zh-CN" altLang="zh-CN" i="1" dirty="0"/>
              <a:t>G</a:t>
            </a:r>
            <a:r>
              <a:rPr lang="zh-CN" altLang="zh-CN" dirty="0" smtClean="0"/>
              <a:t>的顶点集可划分为两个非空子集</a:t>
            </a:r>
            <a:r>
              <a:rPr lang="zh-CN" altLang="zh-CN" i="1" dirty="0"/>
              <a:t>X</a:t>
            </a:r>
            <a:r>
              <a:rPr lang="zh-CN" altLang="zh-CN" dirty="0" smtClean="0"/>
              <a:t>和</a:t>
            </a:r>
            <a:r>
              <a:rPr lang="zh-CN" altLang="zh-CN" i="1" dirty="0"/>
              <a:t>Y</a:t>
            </a:r>
            <a:r>
              <a:rPr lang="zh-CN" altLang="zh-CN" dirty="0" smtClean="0"/>
              <a:t>，使得</a:t>
            </a:r>
            <a:r>
              <a:rPr lang="zh-CN" altLang="zh-CN" i="1" dirty="0"/>
              <a:t>G</a:t>
            </a:r>
            <a:r>
              <a:rPr lang="zh-CN" altLang="zh-CN" dirty="0" smtClean="0"/>
              <a:t>的任一条边都有一个端点在</a:t>
            </a:r>
            <a:r>
              <a:rPr lang="zh-CN" altLang="zh-CN" i="1" dirty="0"/>
              <a:t>X</a:t>
            </a:r>
            <a:r>
              <a:rPr lang="zh-CN" altLang="zh-CN" dirty="0" smtClean="0"/>
              <a:t>中，另一个端点在</a:t>
            </a:r>
            <a:r>
              <a:rPr lang="zh-CN" altLang="zh-CN" i="1" dirty="0"/>
              <a:t>Y</a:t>
            </a:r>
            <a:r>
              <a:rPr lang="zh-CN" altLang="zh-CN" dirty="0" smtClean="0"/>
              <a:t>中，则称</a:t>
            </a:r>
            <a:r>
              <a:rPr lang="zh-CN" altLang="zh-CN" i="1" dirty="0"/>
              <a:t>G</a:t>
            </a:r>
            <a:r>
              <a:rPr lang="zh-CN" altLang="zh-CN" dirty="0" smtClean="0"/>
              <a:t>为</a:t>
            </a:r>
            <a:r>
              <a:rPr lang="zh-CN" altLang="zh-CN" b="1" dirty="0" smtClean="0">
                <a:solidFill>
                  <a:srgbClr val="FF0000"/>
                </a:solidFill>
              </a:rPr>
              <a:t>二部图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zh-CN" altLang="zh-CN" dirty="0" smtClean="0">
                <a:solidFill>
                  <a:srgbClr val="FF0000"/>
                </a:solidFill>
              </a:rPr>
              <a:t>或</a:t>
            </a:r>
            <a:r>
              <a:rPr lang="zh-CN" altLang="zh-CN" b="1" dirty="0" smtClean="0">
                <a:solidFill>
                  <a:srgbClr val="FF0000"/>
                </a:solidFill>
              </a:rPr>
              <a:t>二分图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r>
              <a:rPr lang="zh-CN" altLang="zh-CN" dirty="0" smtClean="0"/>
              <a:t>，记为</a:t>
            </a:r>
            <a:r>
              <a:rPr lang="zh-CN" altLang="zh-CN" i="1" dirty="0"/>
              <a:t>G</a:t>
            </a:r>
            <a:r>
              <a:rPr lang="zh-CN" altLang="zh-CN" dirty="0" smtClean="0"/>
              <a:t>=(</a:t>
            </a:r>
            <a:r>
              <a:rPr lang="zh-CN" altLang="zh-CN" i="1" dirty="0"/>
              <a:t>X</a:t>
            </a:r>
            <a:r>
              <a:rPr lang="zh-CN" altLang="zh-CN" dirty="0" smtClean="0"/>
              <a:t>∪</a:t>
            </a:r>
            <a:r>
              <a:rPr lang="zh-CN" altLang="zh-CN" i="1" dirty="0"/>
              <a:t>Y</a:t>
            </a:r>
            <a:r>
              <a:rPr lang="zh-CN" altLang="zh-CN" dirty="0" smtClean="0"/>
              <a:t>,</a:t>
            </a:r>
            <a:r>
              <a:rPr lang="zh-CN" altLang="zh-CN" i="1" dirty="0"/>
              <a:t>E</a:t>
            </a:r>
            <a:r>
              <a:rPr lang="zh-CN" altLang="zh-CN" dirty="0" smtClean="0"/>
              <a:t>)或</a:t>
            </a:r>
            <a:r>
              <a:rPr lang="zh-CN" altLang="zh-CN" i="1" dirty="0"/>
              <a:t>G</a:t>
            </a:r>
            <a:r>
              <a:rPr lang="zh-CN" altLang="zh-CN" dirty="0" smtClean="0"/>
              <a:t>= (</a:t>
            </a:r>
            <a:r>
              <a:rPr lang="zh-CN" altLang="zh-CN" i="1" dirty="0"/>
              <a:t>X</a:t>
            </a:r>
            <a:r>
              <a:rPr lang="zh-CN" altLang="zh-CN" dirty="0" smtClean="0"/>
              <a:t>,</a:t>
            </a:r>
            <a:r>
              <a:rPr lang="zh-CN" altLang="zh-CN" i="1" dirty="0"/>
              <a:t>Y</a:t>
            </a:r>
            <a:r>
              <a:rPr lang="zh-CN" altLang="zh-CN" dirty="0" smtClean="0"/>
              <a:t>)，(</a:t>
            </a:r>
            <a:r>
              <a:rPr lang="zh-CN" altLang="zh-CN" i="1" dirty="0"/>
              <a:t>X</a:t>
            </a:r>
            <a:r>
              <a:rPr lang="zh-CN" altLang="zh-CN" dirty="0" smtClean="0"/>
              <a:t>,</a:t>
            </a:r>
            <a:r>
              <a:rPr lang="zh-CN" altLang="zh-CN" i="1" dirty="0"/>
              <a:t>Y</a:t>
            </a:r>
            <a:r>
              <a:rPr lang="zh-CN" altLang="zh-CN" dirty="0" smtClean="0"/>
              <a:t>)称为G的一个顶点二划分。</a:t>
            </a:r>
          </a:p>
          <a:p>
            <a:pPr lvl="1" eaLnBrk="1" hangingPunct="1"/>
            <a:r>
              <a:rPr lang="zh-CN" altLang="zh-CN" dirty="0" smtClean="0"/>
              <a:t>在二部图</a:t>
            </a:r>
            <a:r>
              <a:rPr lang="zh-CN" altLang="zh-CN" i="1" dirty="0"/>
              <a:t>G</a:t>
            </a:r>
            <a:r>
              <a:rPr lang="zh-CN" altLang="zh-CN" dirty="0" smtClean="0"/>
              <a:t>=(</a:t>
            </a:r>
            <a:r>
              <a:rPr lang="zh-CN" altLang="zh-CN" i="1" dirty="0"/>
              <a:t>X</a:t>
            </a:r>
            <a:r>
              <a:rPr lang="zh-CN" altLang="zh-CN" dirty="0" smtClean="0"/>
              <a:t>∪</a:t>
            </a:r>
            <a:r>
              <a:rPr lang="zh-CN" altLang="zh-CN" i="1" dirty="0"/>
              <a:t>Y</a:t>
            </a:r>
            <a:r>
              <a:rPr lang="zh-CN" altLang="zh-CN" dirty="0" smtClean="0"/>
              <a:t>,</a:t>
            </a:r>
            <a:r>
              <a:rPr lang="zh-CN" altLang="zh-CN" i="1" dirty="0"/>
              <a:t>E</a:t>
            </a:r>
            <a:r>
              <a:rPr lang="zh-CN" altLang="zh-CN" dirty="0" smtClean="0"/>
              <a:t>)中，若</a:t>
            </a:r>
            <a:r>
              <a:rPr lang="zh-CN" altLang="zh-CN" i="1" dirty="0"/>
              <a:t>X</a:t>
            </a:r>
            <a:r>
              <a:rPr lang="zh-CN" altLang="zh-CN" dirty="0" smtClean="0"/>
              <a:t>的每个顶点与</a:t>
            </a:r>
            <a:r>
              <a:rPr lang="zh-CN" altLang="zh-CN" i="1" dirty="0"/>
              <a:t>Y</a:t>
            </a:r>
            <a:r>
              <a:rPr lang="zh-CN" altLang="zh-CN" dirty="0" smtClean="0"/>
              <a:t>的每个顶点有边连接，则称</a:t>
            </a:r>
            <a:r>
              <a:rPr lang="zh-CN" altLang="zh-CN" i="1" dirty="0"/>
              <a:t>G</a:t>
            </a:r>
            <a:r>
              <a:rPr lang="zh-CN" altLang="zh-CN" dirty="0" smtClean="0"/>
              <a:t>为</a:t>
            </a:r>
            <a:r>
              <a:rPr lang="zh-CN" altLang="zh-CN" b="1" dirty="0" smtClean="0">
                <a:solidFill>
                  <a:srgbClr val="FF0000"/>
                </a:solidFill>
              </a:rPr>
              <a:t>完全二部图</a:t>
            </a:r>
            <a:r>
              <a:rPr lang="zh-CN" altLang="zh-CN" dirty="0" smtClean="0"/>
              <a:t>；若|</a:t>
            </a:r>
            <a:r>
              <a:rPr lang="zh-CN" altLang="zh-CN" i="1" dirty="0"/>
              <a:t>X</a:t>
            </a:r>
            <a:r>
              <a:rPr lang="zh-CN" altLang="zh-CN" dirty="0" smtClean="0"/>
              <a:t>|=</a:t>
            </a:r>
            <a:r>
              <a:rPr lang="zh-CN" altLang="zh-CN" i="1" dirty="0"/>
              <a:t>m</a:t>
            </a:r>
            <a:r>
              <a:rPr lang="zh-CN" altLang="zh-CN" dirty="0" smtClean="0"/>
              <a:t>,|</a:t>
            </a:r>
            <a:r>
              <a:rPr lang="zh-CN" altLang="zh-CN" i="1" dirty="0"/>
              <a:t>Y</a:t>
            </a:r>
            <a:r>
              <a:rPr lang="zh-CN" altLang="zh-CN" dirty="0" smtClean="0"/>
              <a:t>|=</a:t>
            </a:r>
            <a:r>
              <a:rPr lang="zh-CN" altLang="zh-CN" i="1" dirty="0"/>
              <a:t>n</a:t>
            </a:r>
            <a:r>
              <a:rPr lang="zh-CN" altLang="zh-CN" dirty="0" smtClean="0"/>
              <a:t>，则记此完全二部图为 </a:t>
            </a:r>
            <a:r>
              <a:rPr lang="zh-CN" altLang="zh-CN" i="1" dirty="0"/>
              <a:t>K</a:t>
            </a:r>
            <a:r>
              <a:rPr lang="zh-CN" altLang="zh-CN" i="1" baseline="-25000" dirty="0"/>
              <a:t>m</a:t>
            </a:r>
            <a:r>
              <a:rPr lang="zh-CN" altLang="zh-CN" baseline="-25000" dirty="0" smtClean="0"/>
              <a:t>,</a:t>
            </a:r>
            <a:r>
              <a:rPr lang="zh-CN" altLang="zh-CN" i="1" baseline="-25000" dirty="0" smtClean="0"/>
              <a:t>n</a:t>
            </a:r>
            <a:r>
              <a:rPr lang="zh-CN" altLang="zh-CN" dirty="0" smtClean="0"/>
              <a:t> 。</a:t>
            </a:r>
            <a:endParaRPr lang="zh-CN" altLang="en-US" dirty="0" smtClean="0"/>
          </a:p>
        </p:txBody>
      </p:sp>
      <p:sp>
        <p:nvSpPr>
          <p:cNvPr id="5" name="椭圆 4"/>
          <p:cNvSpPr/>
          <p:nvPr/>
        </p:nvSpPr>
        <p:spPr bwMode="auto">
          <a:xfrm>
            <a:off x="640783" y="4581129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1288855" y="4581128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1936927" y="4581129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84999" y="4581128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3233071" y="4581128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28815" y="5602674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1’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1576887" y="5602673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2224959" y="5602674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3’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2873031" y="5602673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4’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/>
          <p:cNvCxnSpPr>
            <a:stCxn id="5" idx="4"/>
            <a:endCxn id="10" idx="0"/>
          </p:cNvCxnSpPr>
          <p:nvPr/>
        </p:nvCxnSpPr>
        <p:spPr bwMode="auto">
          <a:xfrm>
            <a:off x="892811" y="5143759"/>
            <a:ext cx="28803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15" name="直接连接符 14"/>
          <p:cNvCxnSpPr>
            <a:stCxn id="5" idx="4"/>
            <a:endCxn id="12" idx="0"/>
          </p:cNvCxnSpPr>
          <p:nvPr/>
        </p:nvCxnSpPr>
        <p:spPr bwMode="auto">
          <a:xfrm>
            <a:off x="892811" y="5143759"/>
            <a:ext cx="1584176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16" name="直接连接符 15"/>
          <p:cNvCxnSpPr>
            <a:stCxn id="6" idx="4"/>
            <a:endCxn id="10" idx="0"/>
          </p:cNvCxnSpPr>
          <p:nvPr/>
        </p:nvCxnSpPr>
        <p:spPr bwMode="auto">
          <a:xfrm flipH="1">
            <a:off x="1180843" y="5143758"/>
            <a:ext cx="360040" cy="458916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17" name="直接连接符 16"/>
          <p:cNvCxnSpPr>
            <a:stCxn id="7" idx="4"/>
            <a:endCxn id="10" idx="0"/>
          </p:cNvCxnSpPr>
          <p:nvPr/>
        </p:nvCxnSpPr>
        <p:spPr bwMode="auto">
          <a:xfrm flipH="1">
            <a:off x="1180843" y="5143759"/>
            <a:ext cx="100811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18" name="直接连接符 17"/>
          <p:cNvCxnSpPr>
            <a:stCxn id="7" idx="4"/>
            <a:endCxn id="11" idx="0"/>
          </p:cNvCxnSpPr>
          <p:nvPr/>
        </p:nvCxnSpPr>
        <p:spPr bwMode="auto">
          <a:xfrm flipH="1">
            <a:off x="1828915" y="5143759"/>
            <a:ext cx="360040" cy="458914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19" name="直接连接符 18"/>
          <p:cNvCxnSpPr>
            <a:stCxn id="8" idx="4"/>
            <a:endCxn id="12" idx="0"/>
          </p:cNvCxnSpPr>
          <p:nvPr/>
        </p:nvCxnSpPr>
        <p:spPr bwMode="auto">
          <a:xfrm flipH="1">
            <a:off x="2476987" y="5143758"/>
            <a:ext cx="360040" cy="458916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20" name="直接连接符 19"/>
          <p:cNvCxnSpPr>
            <a:stCxn id="8" idx="4"/>
            <a:endCxn id="13" idx="0"/>
          </p:cNvCxnSpPr>
          <p:nvPr/>
        </p:nvCxnSpPr>
        <p:spPr bwMode="auto">
          <a:xfrm>
            <a:off x="2837027" y="5143758"/>
            <a:ext cx="28803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21" name="直接连接符 20"/>
          <p:cNvCxnSpPr>
            <a:stCxn id="9" idx="4"/>
            <a:endCxn id="13" idx="0"/>
          </p:cNvCxnSpPr>
          <p:nvPr/>
        </p:nvCxnSpPr>
        <p:spPr bwMode="auto">
          <a:xfrm flipH="1">
            <a:off x="3125059" y="5143758"/>
            <a:ext cx="360040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sp>
        <p:nvSpPr>
          <p:cNvPr id="22" name="椭圆 21"/>
          <p:cNvSpPr/>
          <p:nvPr/>
        </p:nvSpPr>
        <p:spPr bwMode="auto">
          <a:xfrm>
            <a:off x="4788024" y="4581129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5436096" y="4581128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椭圆 23"/>
          <p:cNvSpPr/>
          <p:nvPr/>
        </p:nvSpPr>
        <p:spPr bwMode="auto">
          <a:xfrm>
            <a:off x="6084168" y="4581129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椭圆 24"/>
          <p:cNvSpPr/>
          <p:nvPr/>
        </p:nvSpPr>
        <p:spPr bwMode="auto">
          <a:xfrm>
            <a:off x="6732240" y="4581128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椭圆 25"/>
          <p:cNvSpPr/>
          <p:nvPr/>
        </p:nvSpPr>
        <p:spPr bwMode="auto">
          <a:xfrm>
            <a:off x="7380312" y="4581128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5076056" y="5602674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1’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5724128" y="5602673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6372200" y="5602674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3’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7020272" y="5602673"/>
            <a:ext cx="504056" cy="562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4’</a:t>
            </a:r>
            <a:endParaRPr kumimoji="0" lang="zh-CN" altLang="en-US" sz="2000" b="1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连接符 30"/>
          <p:cNvCxnSpPr>
            <a:stCxn id="22" idx="4"/>
            <a:endCxn id="27" idx="0"/>
          </p:cNvCxnSpPr>
          <p:nvPr/>
        </p:nvCxnSpPr>
        <p:spPr bwMode="auto">
          <a:xfrm>
            <a:off x="5040052" y="5143759"/>
            <a:ext cx="28803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32" name="直接连接符 31"/>
          <p:cNvCxnSpPr>
            <a:stCxn id="22" idx="4"/>
            <a:endCxn id="29" idx="0"/>
          </p:cNvCxnSpPr>
          <p:nvPr/>
        </p:nvCxnSpPr>
        <p:spPr bwMode="auto">
          <a:xfrm>
            <a:off x="5040052" y="5143759"/>
            <a:ext cx="1584176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33" name="直接连接符 32"/>
          <p:cNvCxnSpPr>
            <a:stCxn id="23" idx="4"/>
            <a:endCxn id="27" idx="0"/>
          </p:cNvCxnSpPr>
          <p:nvPr/>
        </p:nvCxnSpPr>
        <p:spPr bwMode="auto">
          <a:xfrm flipH="1">
            <a:off x="5328084" y="5143758"/>
            <a:ext cx="360040" cy="458916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34" name="直接连接符 33"/>
          <p:cNvCxnSpPr>
            <a:stCxn id="24" idx="4"/>
            <a:endCxn id="27" idx="0"/>
          </p:cNvCxnSpPr>
          <p:nvPr/>
        </p:nvCxnSpPr>
        <p:spPr bwMode="auto">
          <a:xfrm flipH="1">
            <a:off x="5328084" y="5143759"/>
            <a:ext cx="100811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35" name="直接连接符 34"/>
          <p:cNvCxnSpPr>
            <a:stCxn id="24" idx="4"/>
            <a:endCxn id="28" idx="0"/>
          </p:cNvCxnSpPr>
          <p:nvPr/>
        </p:nvCxnSpPr>
        <p:spPr bwMode="auto">
          <a:xfrm flipH="1">
            <a:off x="5976156" y="5143759"/>
            <a:ext cx="360040" cy="458914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36" name="直接连接符 35"/>
          <p:cNvCxnSpPr>
            <a:stCxn id="25" idx="4"/>
            <a:endCxn id="29" idx="0"/>
          </p:cNvCxnSpPr>
          <p:nvPr/>
        </p:nvCxnSpPr>
        <p:spPr bwMode="auto">
          <a:xfrm flipH="1">
            <a:off x="6624228" y="5143758"/>
            <a:ext cx="360040" cy="458916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37" name="直接连接符 36"/>
          <p:cNvCxnSpPr>
            <a:stCxn id="25" idx="4"/>
            <a:endCxn id="30" idx="0"/>
          </p:cNvCxnSpPr>
          <p:nvPr/>
        </p:nvCxnSpPr>
        <p:spPr bwMode="auto">
          <a:xfrm>
            <a:off x="6984268" y="5143758"/>
            <a:ext cx="28803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38" name="直接连接符 37"/>
          <p:cNvCxnSpPr>
            <a:stCxn id="26" idx="4"/>
            <a:endCxn id="30" idx="0"/>
          </p:cNvCxnSpPr>
          <p:nvPr/>
        </p:nvCxnSpPr>
        <p:spPr bwMode="auto">
          <a:xfrm flipH="1">
            <a:off x="7272300" y="5143758"/>
            <a:ext cx="360040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39" name="直接连接符 38"/>
          <p:cNvCxnSpPr>
            <a:stCxn id="22" idx="4"/>
            <a:endCxn id="28" idx="0"/>
          </p:cNvCxnSpPr>
          <p:nvPr/>
        </p:nvCxnSpPr>
        <p:spPr bwMode="auto">
          <a:xfrm>
            <a:off x="5040052" y="5143759"/>
            <a:ext cx="936104" cy="458914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42" name="直接连接符 41"/>
          <p:cNvCxnSpPr>
            <a:stCxn id="22" idx="4"/>
            <a:endCxn id="30" idx="0"/>
          </p:cNvCxnSpPr>
          <p:nvPr/>
        </p:nvCxnSpPr>
        <p:spPr bwMode="auto">
          <a:xfrm>
            <a:off x="5040052" y="5143759"/>
            <a:ext cx="2232248" cy="458914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45" name="直接连接符 44"/>
          <p:cNvCxnSpPr>
            <a:stCxn id="23" idx="4"/>
            <a:endCxn id="28" idx="0"/>
          </p:cNvCxnSpPr>
          <p:nvPr/>
        </p:nvCxnSpPr>
        <p:spPr bwMode="auto">
          <a:xfrm>
            <a:off x="5688124" y="5143758"/>
            <a:ext cx="28803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48" name="直接连接符 47"/>
          <p:cNvCxnSpPr>
            <a:stCxn id="23" idx="4"/>
            <a:endCxn id="29" idx="0"/>
          </p:cNvCxnSpPr>
          <p:nvPr/>
        </p:nvCxnSpPr>
        <p:spPr bwMode="auto">
          <a:xfrm>
            <a:off x="5688124" y="5143758"/>
            <a:ext cx="936104" cy="458916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51" name="直接连接符 50"/>
          <p:cNvCxnSpPr>
            <a:stCxn id="23" idx="4"/>
            <a:endCxn id="30" idx="0"/>
          </p:cNvCxnSpPr>
          <p:nvPr/>
        </p:nvCxnSpPr>
        <p:spPr bwMode="auto">
          <a:xfrm>
            <a:off x="5688124" y="5143758"/>
            <a:ext cx="1584176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54" name="直接连接符 53"/>
          <p:cNvCxnSpPr>
            <a:stCxn id="24" idx="4"/>
            <a:endCxn id="29" idx="0"/>
          </p:cNvCxnSpPr>
          <p:nvPr/>
        </p:nvCxnSpPr>
        <p:spPr bwMode="auto">
          <a:xfrm>
            <a:off x="6336196" y="5143759"/>
            <a:ext cx="28803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57" name="直接连接符 56"/>
          <p:cNvCxnSpPr>
            <a:stCxn id="24" idx="4"/>
            <a:endCxn id="30" idx="0"/>
          </p:cNvCxnSpPr>
          <p:nvPr/>
        </p:nvCxnSpPr>
        <p:spPr bwMode="auto">
          <a:xfrm>
            <a:off x="6336196" y="5143759"/>
            <a:ext cx="936104" cy="458914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60" name="直接连接符 59"/>
          <p:cNvCxnSpPr>
            <a:stCxn id="25" idx="4"/>
            <a:endCxn id="27" idx="0"/>
          </p:cNvCxnSpPr>
          <p:nvPr/>
        </p:nvCxnSpPr>
        <p:spPr bwMode="auto">
          <a:xfrm flipH="1">
            <a:off x="5328084" y="5143758"/>
            <a:ext cx="1656184" cy="458916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63" name="直接连接符 62"/>
          <p:cNvCxnSpPr>
            <a:stCxn id="25" idx="4"/>
            <a:endCxn id="28" idx="0"/>
          </p:cNvCxnSpPr>
          <p:nvPr/>
        </p:nvCxnSpPr>
        <p:spPr bwMode="auto">
          <a:xfrm flipH="1">
            <a:off x="5976156" y="5143758"/>
            <a:ext cx="1008112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66" name="直接连接符 65"/>
          <p:cNvCxnSpPr>
            <a:stCxn id="26" idx="4"/>
            <a:endCxn id="27" idx="0"/>
          </p:cNvCxnSpPr>
          <p:nvPr/>
        </p:nvCxnSpPr>
        <p:spPr bwMode="auto">
          <a:xfrm flipH="1">
            <a:off x="5328084" y="5143758"/>
            <a:ext cx="2304256" cy="458916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69" name="直接连接符 68"/>
          <p:cNvCxnSpPr>
            <a:stCxn id="26" idx="4"/>
            <a:endCxn id="28" idx="0"/>
          </p:cNvCxnSpPr>
          <p:nvPr/>
        </p:nvCxnSpPr>
        <p:spPr bwMode="auto">
          <a:xfrm flipH="1">
            <a:off x="5976156" y="5143758"/>
            <a:ext cx="1656184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72" name="直接连接符 71"/>
          <p:cNvCxnSpPr>
            <a:stCxn id="26" idx="4"/>
            <a:endCxn id="29" idx="0"/>
          </p:cNvCxnSpPr>
          <p:nvPr/>
        </p:nvCxnSpPr>
        <p:spPr bwMode="auto">
          <a:xfrm flipH="1">
            <a:off x="6624228" y="5143758"/>
            <a:ext cx="1008112" cy="458916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cxnSp>
        <p:nvCxnSpPr>
          <p:cNvPr id="75" name="直接连接符 74"/>
          <p:cNvCxnSpPr>
            <a:stCxn id="26" idx="4"/>
            <a:endCxn id="30" idx="0"/>
          </p:cNvCxnSpPr>
          <p:nvPr/>
        </p:nvCxnSpPr>
        <p:spPr bwMode="auto">
          <a:xfrm flipH="1">
            <a:off x="7272300" y="5143758"/>
            <a:ext cx="360040" cy="458915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</p:cxnSp>
      <p:sp>
        <p:nvSpPr>
          <p:cNvPr id="76" name="矩形 75"/>
          <p:cNvSpPr/>
          <p:nvPr/>
        </p:nvSpPr>
        <p:spPr>
          <a:xfrm>
            <a:off x="1288855" y="6165303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i="0" dirty="0"/>
              <a:t>二部图</a:t>
            </a:r>
            <a:endParaRPr lang="zh-CN" altLang="en-US" sz="2000" i="0" dirty="0"/>
          </a:p>
        </p:txBody>
      </p:sp>
      <p:sp>
        <p:nvSpPr>
          <p:cNvPr id="79" name="矩形 78"/>
          <p:cNvSpPr/>
          <p:nvPr/>
        </p:nvSpPr>
        <p:spPr>
          <a:xfrm>
            <a:off x="5436096" y="6165303"/>
            <a:ext cx="1475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 smtClean="0"/>
              <a:t>完全</a:t>
            </a:r>
            <a:r>
              <a:rPr lang="zh-CN" altLang="zh-CN" sz="2000" b="1" i="0" dirty="0" smtClean="0"/>
              <a:t>二部图</a:t>
            </a:r>
            <a:endParaRPr lang="zh-CN" altLang="en-US" sz="2000" i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zh-CN" dirty="0">
                <a:solidFill>
                  <a:srgbClr val="000000"/>
                </a:solidFill>
              </a:rPr>
              <a:t>9.1图的基本概念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249299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支撑子图</a:t>
            </a:r>
          </a:p>
          <a:p>
            <a:pPr lvl="1" eaLnBrk="1" hangingPunct="1"/>
            <a:r>
              <a:rPr lang="zh-CN" altLang="en-US" sz="2000" dirty="0" smtClean="0">
                <a:latin typeface="Times New Roman" panose="02020603050405020304" pitchFamily="18" charset="0"/>
              </a:rPr>
              <a:t>给了一个图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，如果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′=(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′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′)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，使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′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及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′</a:t>
            </a:r>
            <a:r>
              <a:rPr lang="en-US" altLang="zh-CN" sz="2000" dirty="0" smtClean="0">
                <a:latin typeface="宋体" panose="02010600030101010101" pitchFamily="2" charset="-122"/>
              </a:rPr>
              <a:t>⊆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，则称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′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的一个</a:t>
            </a:r>
            <a:r>
              <a:rPr lang="zh-CN" altLang="en-US" sz="2000" b="1" dirty="0" smtClean="0">
                <a:latin typeface="Times New Roman" panose="02020603050405020304" pitchFamily="18" charset="0"/>
              </a:rPr>
              <a:t>支撑子图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/>
            <a:r>
              <a:rPr lang="zh-CN" altLang="en-US" sz="2000" dirty="0" smtClean="0">
                <a:latin typeface="Times New Roman" panose="02020603050405020304" pitchFamily="18" charset="0"/>
              </a:rPr>
              <a:t>设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dirty="0" err="1" smtClean="0">
                <a:latin typeface="Times New Roman" panose="02020603050405020304" pitchFamily="18" charset="0"/>
              </a:rPr>
              <a:t>∈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，用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−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表示从图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中去掉点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及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的关联边后得到的一个图。</a:t>
            </a:r>
          </a:p>
          <a:p>
            <a:pPr lvl="1" eaLnBrk="1" hangingPunct="1"/>
            <a:r>
              <a:rPr lang="zh-CN" altLang="en-US" sz="2000" dirty="0" smtClean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如图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所示，则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 − 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见图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，图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的一个支撑子图。</a:t>
            </a:r>
            <a:endParaRPr lang="zh-CN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4077072"/>
            <a:ext cx="5903913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4716016" y="6525344"/>
            <a:ext cx="6719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400" i="0" dirty="0"/>
              <a:t>图</a:t>
            </a:r>
            <a:r>
              <a:rPr lang="en-US" altLang="zh-CN" sz="1400" i="0" dirty="0" smtClean="0"/>
              <a:t>9-5 </a:t>
            </a:r>
            <a:endParaRPr lang="en-US" altLang="zh-CN" sz="1400" i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zh-CN" dirty="0">
                <a:solidFill>
                  <a:srgbClr val="000000"/>
                </a:solidFill>
              </a:rPr>
              <a:t>9.1图的基本概念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43608" y="1340768"/>
                <a:ext cx="7661275" cy="4556697"/>
              </a:xfrm>
            </p:spPr>
            <p:txBody>
              <a:bodyPr/>
              <a:lstStyle/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和有向图有关的概念和术语</a:t>
                </a:r>
              </a:p>
              <a:p>
                <a:pPr lvl="1" eaLnBrk="1" hangingPunct="1"/>
                <a:r>
                  <a:rPr lang="zh-CN" altLang="en-US" sz="2000" dirty="0" smtClean="0">
                    <a:latin typeface="Times New Roman" panose="02020603050405020304" pitchFamily="18" charset="0"/>
                  </a:rPr>
                  <a:t>设给定一个有向图，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=(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，从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中去掉所有弧上的箭头，就得到一个无向图，称之为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基础图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，记之为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。</a:t>
                </a:r>
              </a:p>
              <a:p>
                <a:pPr lvl="1" eaLnBrk="1" hangingPunct="1"/>
                <a:r>
                  <a:rPr lang="zh-CN" altLang="en-US" sz="2000" dirty="0" smtClean="0">
                    <a:latin typeface="Times New Roman" panose="02020603050405020304" pitchFamily="18" charset="0"/>
                  </a:rPr>
                  <a:t>给定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中的一条弧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=(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u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，称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u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为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始点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为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终点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，称弧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是从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u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指向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的。</a:t>
                </a:r>
              </a:p>
              <a:p>
                <a:pPr lvl="1" eaLnBrk="1" hangingPunct="1"/>
                <a:r>
                  <a:rPr lang="zh-CN" altLang="en-US" sz="2000" dirty="0" smtClean="0">
                    <a:latin typeface="Times New Roman" panose="02020603050405020304" pitchFamily="18" charset="0"/>
                  </a:rPr>
                  <a:t>设</a:t>
                </a:r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,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是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中的一个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点弧交错序列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，如果这个序列在基础图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中所对应的点边序列是一条链，则称这个点弧交错序列是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的一条链。类似定义圈和初等链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圈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。</a:t>
                </a:r>
              </a:p>
              <a:p>
                <a:pPr lvl="1" eaLnBrk="1" hangingPunct="1"/>
                <a:r>
                  <a:rPr lang="zh-CN" altLang="en-US" sz="2000" dirty="0" smtClean="0">
                    <a:latin typeface="Times New Roman" panose="02020603050405020304" pitchFamily="18" charset="0"/>
                  </a:rPr>
                  <a:t>如果</a:t>
                </a:r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,…,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是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中的一条链，并且对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=1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…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i="1" dirty="0" smtClean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-1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，均有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r>
                      <a:rPr lang="en-US" altLang="zh-CN" i="1">
                        <a:solidFill>
                          <a:srgbClr val="292929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 smtClean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2929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solidFill>
                      <a:srgbClr val="292929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 ，称之为从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2000" dirty="0" smtClean="0">
                    <a:latin typeface="Times New Roman" panose="02020603050405020304" pitchFamily="18" charset="0"/>
                  </a:rPr>
                  <a:t>的一条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路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。若路的第一个点和最后一点相同，则称之为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回路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。类似定义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初等路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回路</a:t>
                </a:r>
                <a:r>
                  <a:rPr lang="en-US" altLang="zh-CN" sz="20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dirty="0" smtClean="0">
                    <a:latin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86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340768"/>
                <a:ext cx="7661275" cy="4556697"/>
              </a:xfrm>
              <a:blipFill>
                <a:blip r:embed="rId2"/>
                <a:stretch>
                  <a:fillRect l="-318" t="-1473" r="-1273" b="-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8679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8681" name="Rectangle 11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2868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zh-CN" dirty="0">
                <a:solidFill>
                  <a:srgbClr val="000000"/>
                </a:solidFill>
              </a:rPr>
              <a:t>9.1图的基本概念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46166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例子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297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114419"/>
              </p:ext>
            </p:extLst>
          </p:nvPr>
        </p:nvGraphicFramePr>
        <p:xfrm>
          <a:off x="1333818" y="2041290"/>
          <a:ext cx="47529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6" r:id="rId3" imgW="2984500" imgH="228600" progId="Equation.DSMT4">
                  <p:embed/>
                </p:oleObj>
              </mc:Choice>
              <mc:Fallback>
                <p:oleObj r:id="rId3" imgW="2984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818" y="2041290"/>
                        <a:ext cx="47529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879007"/>
              </p:ext>
            </p:extLst>
          </p:nvPr>
        </p:nvGraphicFramePr>
        <p:xfrm>
          <a:off x="1331640" y="2592825"/>
          <a:ext cx="3600450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7" r:id="rId5" imgW="2260600" imgH="228600" progId="Equation.DSMT4">
                  <p:embed/>
                </p:oleObj>
              </mc:Choice>
              <mc:Fallback>
                <p:oleObj r:id="rId5" imgW="22606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592825"/>
                        <a:ext cx="3600450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2970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297868"/>
              </p:ext>
            </p:extLst>
          </p:nvPr>
        </p:nvGraphicFramePr>
        <p:xfrm>
          <a:off x="1331640" y="3057681"/>
          <a:ext cx="352742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8" r:id="rId7" imgW="2222500" imgH="228600" progId="Equation.DSMT4">
                  <p:embed/>
                </p:oleObj>
              </mc:Choice>
              <mc:Fallback>
                <p:oleObj r:id="rId7" imgW="22225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057681"/>
                        <a:ext cx="352742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468313" y="5363627"/>
            <a:ext cx="8622075" cy="113877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bg1"/>
              </a:buClr>
              <a:buSzPct val="70000"/>
            </a:pPr>
            <a:r>
              <a:rPr lang="zh-CN" altLang="en-US" sz="2000" b="1" i="0" dirty="0"/>
              <a:t>对无向图，链与路</a:t>
            </a:r>
            <a:r>
              <a:rPr lang="en-US" altLang="zh-CN" sz="2000" b="1" i="0" dirty="0"/>
              <a:t>(</a:t>
            </a:r>
            <a:r>
              <a:rPr lang="zh-CN" altLang="en-US" sz="2000" b="1" i="0" dirty="0"/>
              <a:t>圈与回路</a:t>
            </a:r>
            <a:r>
              <a:rPr lang="en-US" altLang="zh-CN" sz="2000" b="1" i="0" dirty="0"/>
              <a:t>)</a:t>
            </a:r>
            <a:r>
              <a:rPr lang="zh-CN" altLang="en-US" sz="2000" b="1" i="0" dirty="0"/>
              <a:t>两个概念是一致的。</a:t>
            </a:r>
          </a:p>
          <a:p>
            <a:pPr marL="0" indent="0" eaLnBrk="1" hangingPunct="1">
              <a:spcBef>
                <a:spcPct val="20000"/>
              </a:spcBef>
              <a:buClr>
                <a:schemeClr val="bg1"/>
              </a:buClr>
              <a:buSzPct val="70000"/>
            </a:pPr>
            <a:r>
              <a:rPr lang="zh-CN" altLang="en-US" sz="2000" b="1" i="0" dirty="0"/>
              <a:t>类似于无向图，可定义简单有向图、多重有向图。</a:t>
            </a:r>
          </a:p>
          <a:p>
            <a:pPr marL="0" indent="0" eaLnBrk="1" hangingPunct="1">
              <a:spcBef>
                <a:spcPct val="20000"/>
              </a:spcBef>
              <a:buClr>
                <a:schemeClr val="bg1"/>
              </a:buClr>
              <a:buSzPct val="70000"/>
            </a:pPr>
            <a:r>
              <a:rPr lang="zh-CN" altLang="en-US" sz="2000" b="1" i="0" dirty="0" smtClean="0"/>
              <a:t>上图是</a:t>
            </a:r>
            <a:r>
              <a:rPr lang="zh-CN" altLang="en-US" sz="2000" b="1" i="0" dirty="0"/>
              <a:t>一个简单有向图。</a:t>
            </a:r>
          </a:p>
        </p:txBody>
      </p:sp>
      <p:pic>
        <p:nvPicPr>
          <p:cNvPr id="29707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" t="37010" r="3702"/>
          <a:stretch>
            <a:fillRect/>
          </a:stretch>
        </p:blipFill>
        <p:spPr bwMode="auto">
          <a:xfrm>
            <a:off x="2051720" y="3494841"/>
            <a:ext cx="45720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6156176" y="204129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>
                <a:latin typeface="+mn-ea"/>
                <a:ea typeface="+mn-ea"/>
              </a:rPr>
              <a:t>是一个回路；</a:t>
            </a:r>
          </a:p>
        </p:txBody>
      </p:sp>
      <p:sp>
        <p:nvSpPr>
          <p:cNvPr id="13" name="矩形 12"/>
          <p:cNvSpPr/>
          <p:nvPr/>
        </p:nvSpPr>
        <p:spPr>
          <a:xfrm>
            <a:off x="5749014" y="2533025"/>
            <a:ext cx="21307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 smtClean="0">
                <a:latin typeface="+mn-ea"/>
                <a:ea typeface="+mn-ea"/>
              </a:rPr>
              <a:t>是</a:t>
            </a:r>
            <a:r>
              <a:rPr lang="zh-CN" altLang="en-US" sz="2000" b="1" i="0" dirty="0">
                <a:latin typeface="+mn-ea"/>
                <a:ea typeface="+mn-ea"/>
              </a:rPr>
              <a:t>从</a:t>
            </a:r>
            <a:r>
              <a:rPr lang="en-US" altLang="zh-CN" sz="2000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000" b="1" i="0" dirty="0">
                <a:latin typeface="+mn-ea"/>
                <a:ea typeface="+mn-ea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sz="2000" b="1" i="0" dirty="0" smtClean="0">
                <a:latin typeface="+mn-ea"/>
                <a:ea typeface="+mn-ea"/>
              </a:rPr>
              <a:t>的路</a:t>
            </a:r>
            <a:r>
              <a:rPr lang="zh-CN" altLang="en-US" sz="2000" b="1" i="0" dirty="0">
                <a:latin typeface="+mn-ea"/>
                <a:ea typeface="+mn-ea"/>
              </a:rPr>
              <a:t>；</a:t>
            </a:r>
          </a:p>
        </p:txBody>
      </p:sp>
      <p:sp>
        <p:nvSpPr>
          <p:cNvPr id="14" name="矩形 13"/>
          <p:cNvSpPr/>
          <p:nvPr/>
        </p:nvSpPr>
        <p:spPr>
          <a:xfrm>
            <a:off x="5114224" y="3023921"/>
            <a:ext cx="27655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>
                <a:latin typeface="+mn-ea"/>
                <a:ea typeface="+mn-ea"/>
              </a:rPr>
              <a:t>是一条链，但不是</a:t>
            </a:r>
            <a:r>
              <a:rPr lang="zh-CN" altLang="en-US" sz="2000" b="1" i="0" dirty="0" smtClean="0">
                <a:latin typeface="+mn-ea"/>
                <a:ea typeface="+mn-ea"/>
              </a:rPr>
              <a:t>路</a:t>
            </a:r>
            <a:r>
              <a:rPr lang="zh-CN" altLang="en-US" sz="2000" b="1" i="0" dirty="0">
                <a:latin typeface="+mn-ea"/>
                <a:ea typeface="+mn-ea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3059832" y="3861048"/>
            <a:ext cx="0" cy="1152128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  <p:cxnSp>
        <p:nvCxnSpPr>
          <p:cNvPr id="17" name="直接连接符 16"/>
          <p:cNvCxnSpPr/>
          <p:nvPr/>
        </p:nvCxnSpPr>
        <p:spPr bwMode="auto">
          <a:xfrm>
            <a:off x="3059832" y="5000736"/>
            <a:ext cx="2016224" cy="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  <p:cxnSp>
        <p:nvCxnSpPr>
          <p:cNvPr id="20" name="直接连接符 19"/>
          <p:cNvCxnSpPr/>
          <p:nvPr/>
        </p:nvCxnSpPr>
        <p:spPr bwMode="auto">
          <a:xfrm flipV="1">
            <a:off x="5076056" y="3861048"/>
            <a:ext cx="0" cy="1139688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  <p:cxnSp>
        <p:nvCxnSpPr>
          <p:cNvPr id="23" name="直接连接符 22"/>
          <p:cNvCxnSpPr/>
          <p:nvPr/>
        </p:nvCxnSpPr>
        <p:spPr bwMode="auto">
          <a:xfrm>
            <a:off x="3059832" y="3861048"/>
            <a:ext cx="2016224" cy="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  <p:cxnSp>
        <p:nvCxnSpPr>
          <p:cNvPr id="28" name="直接连接符 27"/>
          <p:cNvCxnSpPr/>
          <p:nvPr/>
        </p:nvCxnSpPr>
        <p:spPr bwMode="auto">
          <a:xfrm flipV="1">
            <a:off x="2339752" y="3933056"/>
            <a:ext cx="720080" cy="504056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  <p:cxnSp>
        <p:nvCxnSpPr>
          <p:cNvPr id="31" name="直接连接符 30"/>
          <p:cNvCxnSpPr/>
          <p:nvPr/>
        </p:nvCxnSpPr>
        <p:spPr bwMode="auto">
          <a:xfrm flipH="1" flipV="1">
            <a:off x="3059832" y="3933056"/>
            <a:ext cx="2016224" cy="106768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  <p:cxnSp>
        <p:nvCxnSpPr>
          <p:cNvPr id="34" name="直接连接符 33"/>
          <p:cNvCxnSpPr/>
          <p:nvPr/>
        </p:nvCxnSpPr>
        <p:spPr bwMode="auto">
          <a:xfrm flipV="1">
            <a:off x="5076056" y="4365104"/>
            <a:ext cx="792088" cy="648072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  <p:cxnSp>
        <p:nvCxnSpPr>
          <p:cNvPr id="37" name="直接连接符 36"/>
          <p:cNvCxnSpPr/>
          <p:nvPr/>
        </p:nvCxnSpPr>
        <p:spPr bwMode="auto">
          <a:xfrm flipH="1" flipV="1">
            <a:off x="5076055" y="3862734"/>
            <a:ext cx="792089" cy="489930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9.2.1 </a:t>
            </a:r>
            <a:r>
              <a:rPr lang="zh-CN" altLang="en-US" dirty="0"/>
              <a:t>树及其性质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2234458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solidFill>
                  <a:srgbClr val="FF0000"/>
                </a:solidFill>
              </a:rPr>
              <a:t>定义</a:t>
            </a:r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r>
              <a:rPr lang="zh-CN" altLang="en-US" b="1" dirty="0" smtClean="0">
                <a:solidFill>
                  <a:srgbClr val="FF0000"/>
                </a:solidFill>
              </a:rPr>
              <a:t>（树的定义）：</a:t>
            </a:r>
            <a:r>
              <a:rPr lang="zh-CN" altLang="en-US" dirty="0" smtClean="0"/>
              <a:t> 一个</a:t>
            </a:r>
            <a:r>
              <a:rPr lang="zh-CN" altLang="en-US" dirty="0" smtClean="0">
                <a:solidFill>
                  <a:srgbClr val="FF0000"/>
                </a:solidFill>
              </a:rPr>
              <a:t>无圈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0000"/>
                </a:solidFill>
              </a:rPr>
              <a:t>连通图</a:t>
            </a:r>
            <a:r>
              <a:rPr lang="zh-CN" altLang="en-US" dirty="0" smtClean="0"/>
              <a:t>称为</a:t>
            </a:r>
            <a:r>
              <a:rPr lang="zh-CN" altLang="en-US" dirty="0" smtClean="0">
                <a:solidFill>
                  <a:srgbClr val="FF0000"/>
                </a:solidFill>
              </a:rPr>
              <a:t>树</a:t>
            </a:r>
            <a:r>
              <a:rPr lang="zh-CN" altLang="en-US" dirty="0" smtClean="0"/>
              <a:t>。</a:t>
            </a:r>
            <a:endParaRPr lang="zh-CN" altLang="en-US" b="1" dirty="0" smtClean="0"/>
          </a:p>
          <a:p>
            <a:pPr lvl="1" eaLnBrk="1" hangingPunct="1"/>
            <a:r>
              <a:rPr lang="zh-CN" altLang="en-US" sz="2400" dirty="0" smtClean="0"/>
              <a:t>性质</a:t>
            </a:r>
            <a:r>
              <a:rPr lang="en-US" altLang="zh-CN" sz="2400" dirty="0" smtClean="0"/>
              <a:t>&amp;</a:t>
            </a:r>
            <a:r>
              <a:rPr lang="zh-CN" altLang="en-US" sz="2400" dirty="0" smtClean="0"/>
              <a:t>判定（充分必要条件）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400" dirty="0" smtClean="0"/>
              <a:t>无圈图，且边数</a:t>
            </a:r>
            <a:r>
              <a:rPr lang="en-US" altLang="zh-CN" sz="2400" dirty="0" smtClean="0"/>
              <a:t>=</a:t>
            </a:r>
            <a:r>
              <a:rPr lang="zh-CN" altLang="en-US" sz="2400" dirty="0" smtClean="0"/>
              <a:t>顶点数</a:t>
            </a:r>
            <a:r>
              <a:rPr lang="en-US" altLang="zh-CN" sz="2400" dirty="0" smtClean="0"/>
              <a:t>-1</a:t>
            </a:r>
            <a:r>
              <a:rPr lang="zh-CN" altLang="en-US" sz="2400" dirty="0" smtClean="0"/>
              <a:t>（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q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G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)=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G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)-1 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400" dirty="0" smtClean="0"/>
              <a:t>连通图，且边数</a:t>
            </a:r>
            <a:r>
              <a:rPr lang="en-US" altLang="zh-CN" sz="2400" dirty="0" smtClean="0"/>
              <a:t>=</a:t>
            </a:r>
            <a:r>
              <a:rPr lang="zh-CN" altLang="en-US" sz="2400" dirty="0" smtClean="0"/>
              <a:t>定点数</a:t>
            </a:r>
            <a:r>
              <a:rPr lang="en-US" altLang="zh-CN" sz="2400" dirty="0" smtClean="0"/>
              <a:t>-1</a:t>
            </a:r>
          </a:p>
          <a:p>
            <a:pPr lvl="2" eaLnBrk="1" hangingPunct="1"/>
            <a:r>
              <a:rPr lang="zh-CN" altLang="en-US" sz="2400" dirty="0" smtClean="0"/>
              <a:t>任意两个顶点间有且仅有一条链</a:t>
            </a:r>
          </a:p>
        </p:txBody>
      </p:sp>
    </p:spTree>
    <p:extLst>
      <p:ext uri="{BB962C8B-B14F-4D97-AF65-F5344CB8AC3E}">
        <p14:creationId xmlns:p14="http://schemas.microsoft.com/office/powerpoint/2010/main" val="104781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9.2.2 </a:t>
            </a:r>
            <a:r>
              <a:rPr lang="zh-CN" altLang="en-US" dirty="0" smtClean="0"/>
              <a:t>图的支撑树</a:t>
            </a:r>
            <a:r>
              <a:rPr lang="en-US" altLang="zh-CN" dirty="0" smtClean="0"/>
              <a:t>(</a:t>
            </a:r>
            <a:r>
              <a:rPr lang="zh-CN" altLang="en-US" dirty="0" smtClean="0">
                <a:solidFill>
                  <a:srgbClr val="FF0000"/>
                </a:solidFill>
              </a:rPr>
              <a:t>生成树</a:t>
            </a:r>
            <a:r>
              <a:rPr lang="en-US" altLang="zh-CN" dirty="0" smtClean="0"/>
              <a:t>)</a:t>
            </a:r>
            <a:endParaRPr lang="zh-CN" altLang="en-US" dirty="0" smtClean="0"/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2825389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</a:rPr>
              <a:t>定义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2</a:t>
            </a:r>
            <a:r>
              <a:rPr lang="en-US" altLang="zh-CN" sz="2400" b="1" dirty="0" smtClean="0"/>
              <a:t> 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设图</a:t>
            </a:r>
            <a:r>
              <a:rPr lang="en-US" altLang="zh-CN" sz="2400" i="1" dirty="0" smtClean="0"/>
              <a:t>T</a:t>
            </a:r>
            <a:r>
              <a:rPr lang="en-US" altLang="zh-CN" sz="2400" dirty="0" smtClean="0"/>
              <a:t>=(</a:t>
            </a:r>
            <a:r>
              <a:rPr lang="en-US" altLang="zh-CN" i="1" dirty="0"/>
              <a:t>V</a:t>
            </a:r>
            <a:r>
              <a:rPr lang="zh-CN" altLang="en-US" sz="2400" dirty="0" smtClean="0"/>
              <a:t>，</a:t>
            </a:r>
            <a:r>
              <a:rPr lang="en-US" altLang="zh-CN" i="1" dirty="0"/>
              <a:t>E</a:t>
            </a:r>
            <a:r>
              <a:rPr lang="en-US" altLang="zh-CN" sz="2400" dirty="0" smtClean="0"/>
              <a:t>′)</a:t>
            </a:r>
            <a:r>
              <a:rPr lang="zh-CN" altLang="en-US" sz="2400" dirty="0" smtClean="0"/>
              <a:t>是图</a:t>
            </a:r>
            <a:r>
              <a:rPr lang="en-US" altLang="zh-CN" i="1" dirty="0"/>
              <a:t>G</a:t>
            </a:r>
            <a:r>
              <a:rPr lang="en-US" altLang="zh-CN" sz="2400" dirty="0" smtClean="0"/>
              <a:t>=(</a:t>
            </a:r>
            <a:r>
              <a:rPr lang="en-US" altLang="zh-CN" i="1" dirty="0"/>
              <a:t>V</a:t>
            </a:r>
            <a:r>
              <a:rPr lang="zh-CN" altLang="en-US" sz="2400" dirty="0" smtClean="0"/>
              <a:t>，</a:t>
            </a:r>
            <a:r>
              <a:rPr lang="en-US" altLang="zh-CN" i="1" dirty="0"/>
              <a:t>E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的</a:t>
            </a:r>
            <a:r>
              <a:rPr lang="zh-CN" altLang="en-US" sz="2400" dirty="0" smtClean="0">
                <a:solidFill>
                  <a:srgbClr val="FF0000"/>
                </a:solidFill>
              </a:rPr>
              <a:t>支撑子图</a:t>
            </a:r>
            <a:r>
              <a:rPr lang="zh-CN" altLang="en-US" sz="2400" dirty="0" smtClean="0"/>
              <a:t>，如果图</a:t>
            </a:r>
            <a:r>
              <a:rPr lang="en-US" altLang="zh-CN" i="1" dirty="0"/>
              <a:t>T</a:t>
            </a:r>
            <a:r>
              <a:rPr lang="en-US" altLang="zh-CN" sz="2400" dirty="0" smtClean="0"/>
              <a:t>=(</a:t>
            </a:r>
            <a:r>
              <a:rPr lang="en-US" altLang="zh-CN" i="1" dirty="0"/>
              <a:t>V</a:t>
            </a:r>
            <a:r>
              <a:rPr lang="zh-CN" altLang="en-US" sz="2400" dirty="0" smtClean="0"/>
              <a:t>，</a:t>
            </a:r>
            <a:r>
              <a:rPr lang="en-US" altLang="zh-CN" i="1" dirty="0"/>
              <a:t>E</a:t>
            </a:r>
            <a:r>
              <a:rPr lang="en-US" altLang="zh-CN" sz="2400" dirty="0" smtClean="0"/>
              <a:t>′)</a:t>
            </a:r>
            <a:r>
              <a:rPr lang="zh-CN" altLang="en-US" sz="2400" dirty="0" smtClean="0"/>
              <a:t>是一个树，则称</a:t>
            </a:r>
            <a:r>
              <a:rPr lang="en-US" altLang="zh-CN" i="1" dirty="0"/>
              <a:t>T</a:t>
            </a:r>
            <a:r>
              <a:rPr lang="zh-CN" altLang="en-US" sz="2400" dirty="0" smtClean="0"/>
              <a:t>是</a:t>
            </a:r>
            <a:r>
              <a:rPr lang="en-US" altLang="zh-CN" i="1" dirty="0"/>
              <a:t>G</a:t>
            </a:r>
            <a:r>
              <a:rPr lang="zh-CN" altLang="en-US" sz="2400" dirty="0" smtClean="0"/>
              <a:t>的一个</a:t>
            </a:r>
            <a:r>
              <a:rPr lang="zh-CN" altLang="en-US" sz="2400" dirty="0" smtClean="0">
                <a:solidFill>
                  <a:srgbClr val="FF0000"/>
                </a:solidFill>
              </a:rPr>
              <a:t>支撑树</a:t>
            </a:r>
            <a:r>
              <a:rPr lang="zh-CN" altLang="en-US" sz="2400" dirty="0" smtClean="0"/>
              <a:t>。（</a:t>
            </a:r>
            <a:r>
              <a:rPr lang="zh-CN" altLang="en-US" sz="2400" dirty="0" smtClean="0">
                <a:solidFill>
                  <a:srgbClr val="FF0000"/>
                </a:solidFill>
              </a:rPr>
              <a:t>把图</a:t>
            </a:r>
            <a:r>
              <a:rPr lang="en-US" altLang="zh-CN" sz="2400" dirty="0" smtClean="0">
                <a:solidFill>
                  <a:srgbClr val="FF0000"/>
                </a:solidFill>
              </a:rPr>
              <a:t>G</a:t>
            </a:r>
            <a:r>
              <a:rPr lang="zh-CN" altLang="en-US" sz="2400" dirty="0" smtClean="0">
                <a:solidFill>
                  <a:srgbClr val="FF0000"/>
                </a:solidFill>
              </a:rPr>
              <a:t>中的顶点以最少的边连接起来的树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eaLnBrk="1" hangingPunct="1"/>
            <a:r>
              <a:rPr lang="zh-CN" altLang="en-US" dirty="0" smtClean="0">
                <a:latin typeface="Times New Roman" panose="02020603050405020304" pitchFamily="18" charset="0"/>
              </a:rPr>
              <a:t>若</a:t>
            </a:r>
            <a:r>
              <a:rPr lang="en-US" altLang="zh-CN" i="1" dirty="0"/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=(</a:t>
            </a:r>
            <a:r>
              <a:rPr lang="en-US" altLang="zh-CN" i="1" dirty="0"/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/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′)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/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=(</a:t>
            </a:r>
            <a:r>
              <a:rPr lang="en-US" altLang="zh-CN" i="1" dirty="0"/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/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的一个支撑树，则显然，树</a:t>
            </a:r>
            <a:r>
              <a:rPr lang="en-US" altLang="zh-CN" i="1" dirty="0"/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边的个数是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G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 − 1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/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中不属于树</a:t>
            </a:r>
            <a:r>
              <a:rPr lang="en-US" altLang="zh-CN" i="1" dirty="0"/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的边数是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/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−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/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)+1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/>
          </a:p>
        </p:txBody>
      </p:sp>
      <p:pic>
        <p:nvPicPr>
          <p:cNvPr id="4198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973932"/>
            <a:ext cx="66960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Text Box 5"/>
          <p:cNvSpPr txBox="1">
            <a:spLocks noChangeArrowheads="1"/>
          </p:cNvSpPr>
          <p:nvPr/>
        </p:nvSpPr>
        <p:spPr bwMode="auto">
          <a:xfrm>
            <a:off x="3563888" y="6505599"/>
            <a:ext cx="172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1400" i="0" dirty="0"/>
              <a:t>图</a:t>
            </a:r>
            <a:r>
              <a:rPr lang="en-US" altLang="zh-CN" sz="1400" i="0" dirty="0" smtClean="0"/>
              <a:t>9-10</a:t>
            </a:r>
            <a:endParaRPr lang="en-US" altLang="zh-CN" sz="1400" i="0" dirty="0"/>
          </a:p>
        </p:txBody>
      </p:sp>
      <p:sp>
        <p:nvSpPr>
          <p:cNvPr id="2" name="矩形 1"/>
          <p:cNvSpPr/>
          <p:nvPr/>
        </p:nvSpPr>
        <p:spPr>
          <a:xfrm>
            <a:off x="2483768" y="613760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eaLnBrk="1" hangingPunct="1">
              <a:buNone/>
            </a:pPr>
            <a:r>
              <a:rPr lang="zh-CN" altLang="en-US" sz="1600" b="1" i="0" dirty="0">
                <a:latin typeface="+mn-ea"/>
                <a:ea typeface="+mn-ea"/>
              </a:rPr>
              <a:t>右图</a:t>
            </a:r>
            <a:r>
              <a:rPr lang="en-US" altLang="zh-CN" sz="1600" b="1" i="0" dirty="0">
                <a:latin typeface="+mn-ea"/>
                <a:ea typeface="+mn-ea"/>
              </a:rPr>
              <a:t>(b)</a:t>
            </a:r>
            <a:r>
              <a:rPr lang="zh-CN" altLang="en-US" sz="1600" b="1" i="0" dirty="0">
                <a:latin typeface="+mn-ea"/>
                <a:ea typeface="+mn-ea"/>
              </a:rPr>
              <a:t>是左图</a:t>
            </a:r>
            <a:r>
              <a:rPr lang="en-US" altLang="zh-CN" sz="1600" b="1" i="0" dirty="0">
                <a:latin typeface="+mn-ea"/>
                <a:ea typeface="+mn-ea"/>
              </a:rPr>
              <a:t> (a)</a:t>
            </a:r>
            <a:r>
              <a:rPr lang="zh-CN" altLang="en-US" sz="1600" b="1" i="0" dirty="0">
                <a:latin typeface="+mn-ea"/>
                <a:ea typeface="+mn-ea"/>
              </a:rPr>
              <a:t>所示图的一个支撑树。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9.2.2 </a:t>
            </a:r>
            <a:r>
              <a:rPr lang="zh-CN" altLang="en-US" dirty="0"/>
              <a:t>图的支撑树</a:t>
            </a:r>
            <a:endParaRPr lang="zh-CN" altLang="en-US" dirty="0" smtClean="0"/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3379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 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图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G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有支撑树的充分必要条件是图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G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是连通的。</a:t>
            </a:r>
            <a:endParaRPr lang="zh-CN" altLang="en-US" sz="2400" b="1" dirty="0" smtClean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</a:rPr>
              <a:t>证明：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必要性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是显然的。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充分性。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设图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是连通图，如果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不含圈，那么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本身是一个树，从而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是它自身的一个支撑树。现设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含圈，任取一个圈，从圈中任意地去掉一条边，得到图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的一个支撑子图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G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。如果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不含圈，那么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的一个支撑树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因为易见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是连通的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；如果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仍含圈，那么从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中任取一个圈，从圈中再任意去掉一条边，得到图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的一个支撑子图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，如此重复，最终可以得到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的一个支撑子图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G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，它不含圈，于是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的一个支撑树。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9.2.2 </a:t>
            </a:r>
            <a:r>
              <a:rPr lang="zh-CN" altLang="en-US" dirty="0"/>
              <a:t>图的支撑树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2197525"/>
          </a:xfrm>
        </p:spPr>
        <p:txBody>
          <a:bodyPr/>
          <a:lstStyle/>
          <a:p>
            <a:r>
              <a:rPr lang="zh-CN" altLang="en-US" sz="2000" dirty="0"/>
              <a:t>“</a:t>
            </a:r>
            <a:r>
              <a:rPr lang="zh-CN" altLang="en-US" sz="2000" dirty="0">
                <a:solidFill>
                  <a:srgbClr val="FF0000"/>
                </a:solidFill>
              </a:rPr>
              <a:t>破圈法</a:t>
            </a:r>
            <a:r>
              <a:rPr lang="zh-CN" altLang="en-US" sz="2000" dirty="0"/>
              <a:t>”寻求连通图的支撑</a:t>
            </a:r>
            <a:r>
              <a:rPr lang="zh-CN" altLang="en-US" sz="2000" dirty="0" smtClean="0"/>
              <a:t>树。在图中任</a:t>
            </a:r>
            <a:r>
              <a:rPr lang="zh-CN" altLang="en-US" sz="2000" dirty="0"/>
              <a:t>取一个圈，从圈中去掉一边，对余下的图重复这个步骤，直到不含圈时为止，即得到一个支撑</a:t>
            </a:r>
            <a:r>
              <a:rPr lang="zh-CN" altLang="en-US" sz="2000" dirty="0" smtClean="0"/>
              <a:t>树。</a:t>
            </a:r>
            <a:endParaRPr lang="en-US" altLang="zh-CN" sz="2000" dirty="0" smtClean="0"/>
          </a:p>
          <a:p>
            <a:r>
              <a:rPr lang="zh-CN" altLang="en-US" sz="2000" dirty="0" smtClean="0"/>
              <a:t>例</a:t>
            </a:r>
            <a:r>
              <a:rPr lang="en-US" altLang="zh-CN" sz="2000" dirty="0"/>
              <a:t>9-6  </a:t>
            </a:r>
            <a:r>
              <a:rPr lang="zh-CN" altLang="en-US" sz="2000" dirty="0"/>
              <a:t>在</a:t>
            </a:r>
            <a:r>
              <a:rPr lang="zh-CN" altLang="en-US" sz="2000" dirty="0" smtClean="0"/>
              <a:t>图中</a:t>
            </a:r>
            <a:r>
              <a:rPr lang="zh-CN" altLang="en-US" sz="2000" dirty="0"/>
              <a:t>，用破圈法求出图的一个支撑树。</a:t>
            </a:r>
          </a:p>
          <a:p>
            <a:endParaRPr lang="zh-CN" altLang="en-US" sz="2000" dirty="0"/>
          </a:p>
          <a:p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76" y="3529706"/>
            <a:ext cx="3529012" cy="223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563888" y="3656119"/>
            <a:ext cx="52565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/>
            <a:r>
              <a:rPr lang="zh-CN" altLang="en-US" sz="2000" b="1" i="0" dirty="0" smtClean="0"/>
              <a:t>解：取</a:t>
            </a:r>
            <a:r>
              <a:rPr lang="zh-CN" altLang="en-US" sz="2000" b="1" i="0" dirty="0"/>
              <a:t>一个圈                ，从这个圈中去掉边           ；在余下的图中，再取一个圈                  ，去掉边            ；在余下的图中，从圈               </a:t>
            </a:r>
            <a:r>
              <a:rPr lang="zh-CN" altLang="en-US" sz="2000" b="1" i="0" dirty="0" smtClean="0"/>
              <a:t>中</a:t>
            </a:r>
            <a:r>
              <a:rPr lang="zh-CN" altLang="en-US" sz="2000" b="1" i="0" dirty="0"/>
              <a:t>去掉边；再从圈中去掉边            </a:t>
            </a:r>
            <a:r>
              <a:rPr lang="zh-CN" altLang="en-US" sz="2000" b="1" i="0" dirty="0" smtClean="0"/>
              <a:t>。再次去掉           ，这时</a:t>
            </a:r>
            <a:r>
              <a:rPr lang="zh-CN" altLang="en-US" sz="2000" b="1" i="0" dirty="0"/>
              <a:t>，剩余的图中不含圈，于是得到一个支撑树，如</a:t>
            </a:r>
            <a:r>
              <a:rPr lang="zh-CN" altLang="en-US" sz="2000" b="1" i="0" dirty="0" smtClean="0"/>
              <a:t>图中</a:t>
            </a:r>
            <a:r>
              <a:rPr lang="zh-CN" altLang="en-US" sz="2000" b="1" i="0" dirty="0"/>
              <a:t>粗线所示。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520083"/>
              </p:ext>
            </p:extLst>
          </p:nvPr>
        </p:nvGraphicFramePr>
        <p:xfrm>
          <a:off x="5687120" y="3690116"/>
          <a:ext cx="1080839" cy="318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98" r:id="rId4" imgW="774364" imgH="228501" progId="Equation.DSMT4">
                  <p:embed/>
                </p:oleObj>
              </mc:Choice>
              <mc:Fallback>
                <p:oleObj r:id="rId4" imgW="774364" imgH="228501" progId="Equation.DSMT4">
                  <p:embed/>
                  <p:pic>
                    <p:nvPicPr>
                      <p:cNvPr id="450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7120" y="3690116"/>
                        <a:ext cx="1080839" cy="318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178532"/>
              </p:ext>
            </p:extLst>
          </p:nvPr>
        </p:nvGraphicFramePr>
        <p:xfrm>
          <a:off x="4586138" y="4008276"/>
          <a:ext cx="86360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99" name="Equation" r:id="rId6" imgW="660400" imgH="228600" progId="Equation.DSMT4">
                  <p:embed/>
                </p:oleObj>
              </mc:Choice>
              <mc:Fallback>
                <p:oleObj name="Equation" r:id="rId6" imgW="660400" imgH="228600" progId="Equation.DSMT4">
                  <p:embed/>
                  <p:pic>
                    <p:nvPicPr>
                      <p:cNvPr id="4506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138" y="4008276"/>
                        <a:ext cx="863600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138623"/>
              </p:ext>
            </p:extLst>
          </p:nvPr>
        </p:nvGraphicFramePr>
        <p:xfrm>
          <a:off x="4422402" y="4303389"/>
          <a:ext cx="118745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00" r:id="rId8" imgW="952087" imgH="228501" progId="Equation.DSMT4">
                  <p:embed/>
                </p:oleObj>
              </mc:Choice>
              <mc:Fallback>
                <p:oleObj r:id="rId8" imgW="952087" imgH="228501" progId="Equation.DSMT4">
                  <p:embed/>
                  <p:pic>
                    <p:nvPicPr>
                      <p:cNvPr id="4506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402" y="4303389"/>
                        <a:ext cx="118745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273496"/>
              </p:ext>
            </p:extLst>
          </p:nvPr>
        </p:nvGraphicFramePr>
        <p:xfrm>
          <a:off x="6696408" y="4308313"/>
          <a:ext cx="82708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01" r:id="rId10" imgW="660400" imgH="228600" progId="Equation.DSMT4">
                  <p:embed/>
                </p:oleObj>
              </mc:Choice>
              <mc:Fallback>
                <p:oleObj r:id="rId10" imgW="660400" imgH="228600" progId="Equation.DSMT4">
                  <p:embed/>
                  <p:pic>
                    <p:nvPicPr>
                      <p:cNvPr id="4506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408" y="4308313"/>
                        <a:ext cx="82708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789158"/>
              </p:ext>
            </p:extLst>
          </p:nvPr>
        </p:nvGraphicFramePr>
        <p:xfrm>
          <a:off x="5634173" y="4619959"/>
          <a:ext cx="111601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02" r:id="rId12" imgW="800100" imgH="228600" progId="Equation.DSMT4">
                  <p:embed/>
                </p:oleObj>
              </mc:Choice>
              <mc:Fallback>
                <p:oleObj r:id="rId12" imgW="800100" imgH="228600" progId="Equation.DSMT4">
                  <p:embed/>
                  <p:pic>
                    <p:nvPicPr>
                      <p:cNvPr id="4507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4173" y="4619959"/>
                        <a:ext cx="1116013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514361"/>
              </p:ext>
            </p:extLst>
          </p:nvPr>
        </p:nvGraphicFramePr>
        <p:xfrm>
          <a:off x="5365091" y="4939047"/>
          <a:ext cx="8270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03" r:id="rId14" imgW="660400" imgH="228600" progId="Equation.DSMT4">
                  <p:embed/>
                </p:oleObj>
              </mc:Choice>
              <mc:Fallback>
                <p:oleObj r:id="rId14" imgW="660400" imgH="228600" progId="Equation.DSMT4">
                  <p:embed/>
                  <p:pic>
                    <p:nvPicPr>
                      <p:cNvPr id="4507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091" y="4939047"/>
                        <a:ext cx="8270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259632" y="6525344"/>
            <a:ext cx="19446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1400" i="0" dirty="0"/>
              <a:t>图</a:t>
            </a:r>
            <a:r>
              <a:rPr lang="en-US" altLang="zh-CN" sz="1400" i="0" dirty="0" smtClean="0"/>
              <a:t>9-11</a:t>
            </a:r>
            <a:endParaRPr lang="en-US" altLang="zh-CN" sz="1400" i="0" dirty="0"/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1637940" y="3871217"/>
            <a:ext cx="144016" cy="1574007"/>
          </a:xfrm>
          <a:prstGeom prst="line">
            <a:avLst/>
          </a:prstGeom>
          <a:noFill/>
          <a:ln w="76200">
            <a:solidFill>
              <a:schemeClr val="bg1"/>
            </a:solidFill>
          </a:ln>
        </p:spPr>
      </p:cxnSp>
      <p:sp>
        <p:nvSpPr>
          <p:cNvPr id="15" name="矩形 14"/>
          <p:cNvSpPr/>
          <p:nvPr/>
        </p:nvSpPr>
        <p:spPr bwMode="auto">
          <a:xfrm>
            <a:off x="1781956" y="4446264"/>
            <a:ext cx="197756" cy="27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1637940" y="3871217"/>
            <a:ext cx="701812" cy="714487"/>
          </a:xfrm>
          <a:prstGeom prst="line">
            <a:avLst/>
          </a:prstGeom>
          <a:noFill/>
          <a:ln w="76200">
            <a:solidFill>
              <a:schemeClr val="bg1"/>
            </a:solidFill>
          </a:ln>
        </p:spPr>
      </p:cxnSp>
      <p:sp>
        <p:nvSpPr>
          <p:cNvPr id="18" name="矩形 17"/>
          <p:cNvSpPr/>
          <p:nvPr/>
        </p:nvSpPr>
        <p:spPr bwMode="auto">
          <a:xfrm>
            <a:off x="2026448" y="4076055"/>
            <a:ext cx="197756" cy="27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 bwMode="auto">
          <a:xfrm flipV="1">
            <a:off x="1847907" y="4441454"/>
            <a:ext cx="1762798" cy="1003770"/>
          </a:xfrm>
          <a:prstGeom prst="line">
            <a:avLst/>
          </a:prstGeom>
          <a:noFill/>
          <a:ln w="76200">
            <a:solidFill>
              <a:schemeClr val="bg1"/>
            </a:solidFill>
          </a:ln>
        </p:spPr>
      </p:cxnSp>
      <p:sp>
        <p:nvSpPr>
          <p:cNvPr id="27" name="矩形 26"/>
          <p:cNvSpPr/>
          <p:nvPr/>
        </p:nvSpPr>
        <p:spPr bwMode="auto">
          <a:xfrm>
            <a:off x="2790068" y="4868143"/>
            <a:ext cx="197756" cy="27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7994"/>
              </p:ext>
            </p:extLst>
          </p:nvPr>
        </p:nvGraphicFramePr>
        <p:xfrm>
          <a:off x="7503654" y="4933468"/>
          <a:ext cx="82708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04" name="Equation" r:id="rId16" imgW="660240" imgH="228600" progId="Equation.DSMT4">
                  <p:embed/>
                </p:oleObj>
              </mc:Choice>
              <mc:Fallback>
                <p:oleObj name="Equation" r:id="rId16" imgW="660240" imgH="228600" progId="Equation.DSMT4">
                  <p:embed/>
                  <p:pic>
                    <p:nvPicPr>
                      <p:cNvPr id="1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3654" y="4933468"/>
                        <a:ext cx="827088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" name="直接连接符 32"/>
          <p:cNvCxnSpPr/>
          <p:nvPr/>
        </p:nvCxnSpPr>
        <p:spPr bwMode="auto">
          <a:xfrm>
            <a:off x="1699174" y="3849494"/>
            <a:ext cx="1889582" cy="505441"/>
          </a:xfrm>
          <a:prstGeom prst="line">
            <a:avLst/>
          </a:prstGeom>
          <a:noFill/>
          <a:ln w="76200">
            <a:solidFill>
              <a:schemeClr val="bg1"/>
            </a:solidFill>
          </a:ln>
        </p:spPr>
      </p:cxnSp>
      <p:sp>
        <p:nvSpPr>
          <p:cNvPr id="34" name="矩形 33"/>
          <p:cNvSpPr/>
          <p:nvPr/>
        </p:nvSpPr>
        <p:spPr bwMode="auto">
          <a:xfrm>
            <a:off x="2694417" y="3807804"/>
            <a:ext cx="197756" cy="27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8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27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9.2.2 </a:t>
            </a:r>
            <a:r>
              <a:rPr lang="zh-CN" altLang="en-US" dirty="0"/>
              <a:t>图的支撑树</a:t>
            </a:r>
            <a:endParaRPr lang="zh-CN" altLang="en-US" dirty="0" smtClean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2369880"/>
          </a:xfrm>
        </p:spPr>
        <p:txBody>
          <a:bodyPr/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“避圈法”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寻求连通图的支撑树。在图中任取一条边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，找一条与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不构成圈的边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，再找一条          与不构成圈的边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3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，一般，设已有                ，找一条与                  中的任何一些边不构成圈的边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2000" i="1" baseline="-25000" dirty="0" smtClean="0"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+1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。重复这个过程，直到不能进行为止。这时，由所有取出的边所构成的图是一个支撑树。</a:t>
            </a:r>
            <a:endParaRPr lang="en-US" altLang="zh-CN" sz="2000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例</a:t>
            </a:r>
            <a:r>
              <a:rPr lang="en-US" altLang="zh-CN" sz="2000" dirty="0">
                <a:latin typeface="Times New Roman" panose="02020603050405020304" pitchFamily="18" charset="0"/>
              </a:rPr>
              <a:t>9-7  </a:t>
            </a:r>
            <a:r>
              <a:rPr lang="zh-CN" altLang="en-US" sz="2000" dirty="0">
                <a:latin typeface="Times New Roman" panose="02020603050405020304" pitchFamily="18" charset="0"/>
              </a:rPr>
              <a:t>在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图中</a:t>
            </a:r>
            <a:r>
              <a:rPr lang="zh-CN" altLang="en-US" sz="2000" dirty="0">
                <a:latin typeface="Times New Roman" panose="02020603050405020304" pitchFamily="18" charset="0"/>
              </a:rPr>
              <a:t>，用避圈法求出一个支撑树。</a:t>
            </a:r>
          </a:p>
          <a:p>
            <a:pPr eaLnBrk="1" hangingPunct="1"/>
            <a:endParaRPr lang="zh-CN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5073" name="Rectangle 1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4507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791116"/>
              </p:ext>
            </p:extLst>
          </p:nvPr>
        </p:nvGraphicFramePr>
        <p:xfrm>
          <a:off x="5383702" y="1690358"/>
          <a:ext cx="6111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2" r:id="rId3" imgW="457200" imgH="228600" progId="Equation.DSMT4">
                  <p:embed/>
                </p:oleObj>
              </mc:Choice>
              <mc:Fallback>
                <p:oleObj r:id="rId3" imgW="4572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702" y="1690358"/>
                        <a:ext cx="611187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4507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553191"/>
              </p:ext>
            </p:extLst>
          </p:nvPr>
        </p:nvGraphicFramePr>
        <p:xfrm>
          <a:off x="2843808" y="2040397"/>
          <a:ext cx="10429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3" r:id="rId5" imgW="825500" imgH="228600" progId="Equation.DSMT4">
                  <p:embed/>
                </p:oleObj>
              </mc:Choice>
              <mc:Fallback>
                <p:oleObj r:id="rId5" imgW="8255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040397"/>
                        <a:ext cx="10429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4507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81251"/>
              </p:ext>
            </p:extLst>
          </p:nvPr>
        </p:nvGraphicFramePr>
        <p:xfrm>
          <a:off x="5142210" y="2005159"/>
          <a:ext cx="115093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4" r:id="rId7" imgW="825500" imgH="228600" progId="Equation.DSMT4">
                  <p:embed/>
                </p:oleObj>
              </mc:Choice>
              <mc:Fallback>
                <p:oleObj r:id="rId7" imgW="8255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2210" y="2005159"/>
                        <a:ext cx="1150937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" y="3662280"/>
            <a:ext cx="3959225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1046213" y="6505599"/>
            <a:ext cx="19446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1400" i="0" dirty="0"/>
              <a:t>图</a:t>
            </a:r>
            <a:r>
              <a:rPr lang="en-US" altLang="zh-CN" sz="1400" i="0" dirty="0" smtClean="0"/>
              <a:t>9-12</a:t>
            </a:r>
            <a:endParaRPr lang="en-US" altLang="zh-CN" sz="1400" i="0" dirty="0"/>
          </a:p>
        </p:txBody>
      </p:sp>
      <p:sp>
        <p:nvSpPr>
          <p:cNvPr id="2" name="矩形 1"/>
          <p:cNvSpPr/>
          <p:nvPr/>
        </p:nvSpPr>
        <p:spPr>
          <a:xfrm>
            <a:off x="4104257" y="3429000"/>
            <a:ext cx="4500191" cy="307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eaLnBrk="1" hangingPunct="1">
              <a:lnSpc>
                <a:spcPct val="110000"/>
              </a:lnSpc>
            </a:pPr>
            <a:r>
              <a:rPr lang="zh-CN" altLang="en-US" sz="1600" b="1" i="0" dirty="0">
                <a:latin typeface="Times New Roman" panose="02020603050405020304" pitchFamily="18" charset="0"/>
              </a:rPr>
              <a:t>解  首先任取边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，因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与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不构成圈，所以可以取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，因为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与          不构成圈，故可以取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(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因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与           构成一个圈                  ，所以不能取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)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；因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与                 </a:t>
            </a:r>
            <a:r>
              <a:rPr lang="zh-CN" altLang="en-US" sz="1600" b="1" i="0" dirty="0" smtClean="0">
                <a:latin typeface="Times New Roman" panose="02020603050405020304" pitchFamily="18" charset="0"/>
              </a:rPr>
              <a:t>不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构成圈，故可取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；因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8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与             不构成圈，故可取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8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(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注意，因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7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与                     中的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5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，</a:t>
            </a:r>
            <a:r>
              <a:rPr lang="en-US" altLang="zh-CN" sz="1600" b="1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构成圈                   </a:t>
            </a:r>
            <a:r>
              <a:rPr lang="zh-CN" altLang="en-US" sz="1600" b="1" i="0" dirty="0" smtClean="0">
                <a:latin typeface="Times New Roman" panose="02020603050405020304" pitchFamily="18" charset="0"/>
              </a:rPr>
              <a:t>，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故不能取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e</a:t>
            </a:r>
            <a:r>
              <a:rPr lang="en-US" altLang="zh-CN" sz="1600" b="1" i="0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)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。这时由                      </a:t>
            </a:r>
            <a:r>
              <a:rPr lang="zh-CN" altLang="en-US" sz="1600" b="1" i="0" dirty="0" smtClean="0">
                <a:latin typeface="Times New Roman" panose="02020603050405020304" pitchFamily="18" charset="0"/>
              </a:rPr>
              <a:t> 所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构成的图就是一个支撑树，如</a:t>
            </a:r>
            <a:r>
              <a:rPr lang="zh-CN" altLang="en-US" sz="1600" b="1" i="0" dirty="0" smtClean="0">
                <a:latin typeface="Times New Roman" panose="02020603050405020304" pitchFamily="18" charset="0"/>
              </a:rPr>
              <a:t>图中粗红线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所示。</a:t>
            </a:r>
          </a:p>
          <a:p>
            <a:pPr marL="0" lvl="1" eaLnBrk="1" hangingPunct="1">
              <a:lnSpc>
                <a:spcPct val="110000"/>
              </a:lnSpc>
            </a:pPr>
            <a:r>
              <a:rPr lang="zh-CN" altLang="en-US" sz="1600" b="1" i="0" dirty="0">
                <a:latin typeface="Times New Roman" panose="02020603050405020304" pitchFamily="18" charset="0"/>
              </a:rPr>
              <a:t>实际上，由定理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4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、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5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可知，在“破圈法”中去掉的边数必是</a:t>
            </a:r>
            <a:r>
              <a:rPr lang="en-US" altLang="zh-CN" sz="1600" b="1" dirty="0">
                <a:latin typeface="Times New Roman" panose="02020603050405020304" pitchFamily="18" charset="0"/>
              </a:rPr>
              <a:t>q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(</a:t>
            </a:r>
            <a:r>
              <a:rPr lang="en-US" altLang="zh-CN" sz="1600" b="1" dirty="0">
                <a:latin typeface="Times New Roman" panose="02020603050405020304" pitchFamily="18" charset="0"/>
              </a:rPr>
              <a:t>G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) − </a:t>
            </a:r>
            <a:r>
              <a:rPr lang="en-US" altLang="zh-CN" sz="1600" b="1" dirty="0">
                <a:latin typeface="Times New Roman" panose="02020603050405020304" pitchFamily="18" charset="0"/>
              </a:rPr>
              <a:t>p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(</a:t>
            </a:r>
            <a:r>
              <a:rPr lang="en-US" altLang="zh-CN" sz="1600" b="1" dirty="0">
                <a:latin typeface="Times New Roman" panose="02020603050405020304" pitchFamily="18" charset="0"/>
              </a:rPr>
              <a:t>G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)+1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条，在“避圈法”中取出的边数必定是</a:t>
            </a:r>
            <a:r>
              <a:rPr lang="en-US" altLang="zh-CN" sz="1600" b="1" dirty="0">
                <a:latin typeface="Times New Roman" panose="02020603050405020304" pitchFamily="18" charset="0"/>
              </a:rPr>
              <a:t>p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(</a:t>
            </a:r>
            <a:r>
              <a:rPr lang="en-US" altLang="zh-CN" sz="1600" b="1" dirty="0">
                <a:latin typeface="Times New Roman" panose="02020603050405020304" pitchFamily="18" charset="0"/>
              </a:rPr>
              <a:t>G</a:t>
            </a:r>
            <a:r>
              <a:rPr lang="en-US" altLang="zh-CN" sz="1600" b="1" i="0" dirty="0">
                <a:latin typeface="Times New Roman" panose="02020603050405020304" pitchFamily="18" charset="0"/>
              </a:rPr>
              <a:t>) − 1</a:t>
            </a:r>
            <a:r>
              <a:rPr lang="zh-CN" altLang="en-US" sz="1600" b="1" i="0" dirty="0">
                <a:latin typeface="Times New Roman" panose="02020603050405020304" pitchFamily="18" charset="0"/>
              </a:rPr>
              <a:t>条。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 flipV="1">
            <a:off x="395536" y="4077072"/>
            <a:ext cx="792088" cy="72008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cxnSp>
        <p:nvCxnSpPr>
          <p:cNvPr id="21" name="直接连接符 20"/>
          <p:cNvCxnSpPr/>
          <p:nvPr/>
        </p:nvCxnSpPr>
        <p:spPr bwMode="auto">
          <a:xfrm>
            <a:off x="395536" y="4797152"/>
            <a:ext cx="792088" cy="792088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41243"/>
              </p:ext>
            </p:extLst>
          </p:nvPr>
        </p:nvGraphicFramePr>
        <p:xfrm>
          <a:off x="5537969" y="3739081"/>
          <a:ext cx="588962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5" name="Equation" r:id="rId9" imgW="444240" imgH="228600" progId="Equation.DSMT4">
                  <p:embed/>
                </p:oleObj>
              </mc:Choice>
              <mc:Fallback>
                <p:oleObj name="Equation" r:id="rId9" imgW="444240" imgH="228600" progId="Equation.DSMT4">
                  <p:embed/>
                  <p:pic>
                    <p:nvPicPr>
                      <p:cNvPr id="4711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969" y="3739081"/>
                        <a:ext cx="588962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512893"/>
              </p:ext>
            </p:extLst>
          </p:nvPr>
        </p:nvGraphicFramePr>
        <p:xfrm>
          <a:off x="4398739" y="3996708"/>
          <a:ext cx="588962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6" name="Equation" r:id="rId11" imgW="444240" imgH="228600" progId="Equation.DSMT4">
                  <p:embed/>
                </p:oleObj>
              </mc:Choice>
              <mc:Fallback>
                <p:oleObj name="Equation" r:id="rId11" imgW="444240" imgH="228600" progId="Equation.DSMT4">
                  <p:embed/>
                  <p:pic>
                    <p:nvPicPr>
                      <p:cNvPr id="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739" y="3996708"/>
                        <a:ext cx="588962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195402"/>
              </p:ext>
            </p:extLst>
          </p:nvPr>
        </p:nvGraphicFramePr>
        <p:xfrm>
          <a:off x="5960639" y="4003057"/>
          <a:ext cx="1008063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7" r:id="rId12" imgW="774364" imgH="228501" progId="Equation.DSMT4">
                  <p:embed/>
                </p:oleObj>
              </mc:Choice>
              <mc:Fallback>
                <p:oleObj r:id="rId12" imgW="774364" imgH="228501" progId="Equation.DSMT4">
                  <p:embed/>
                  <p:pic>
                    <p:nvPicPr>
                      <p:cNvPr id="4711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0639" y="4003057"/>
                        <a:ext cx="1008063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 bwMode="auto">
          <a:xfrm flipH="1">
            <a:off x="1187624" y="4117268"/>
            <a:ext cx="1512168" cy="1471972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graphicFrame>
        <p:nvGraphicFramePr>
          <p:cNvPr id="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872010"/>
              </p:ext>
            </p:extLst>
          </p:nvPr>
        </p:nvGraphicFramePr>
        <p:xfrm>
          <a:off x="4783271" y="4241063"/>
          <a:ext cx="849986" cy="31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8" r:id="rId14" imgW="622030" imgH="228501" progId="Equation.DSMT4">
                  <p:embed/>
                </p:oleObj>
              </mc:Choice>
              <mc:Fallback>
                <p:oleObj r:id="rId14" imgW="622030" imgH="228501" progId="Equation.DSMT4">
                  <p:embed/>
                  <p:pic>
                    <p:nvPicPr>
                      <p:cNvPr id="4711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271" y="4241063"/>
                        <a:ext cx="849986" cy="31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接连接符 31"/>
          <p:cNvCxnSpPr/>
          <p:nvPr/>
        </p:nvCxnSpPr>
        <p:spPr bwMode="auto">
          <a:xfrm flipH="1">
            <a:off x="1212428" y="5540960"/>
            <a:ext cx="1512168" cy="48280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  <p:graphicFrame>
        <p:nvGraphicFramePr>
          <p:cNvPr id="3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960706"/>
              </p:ext>
            </p:extLst>
          </p:nvPr>
        </p:nvGraphicFramePr>
        <p:xfrm>
          <a:off x="7242174" y="4534732"/>
          <a:ext cx="104457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99" name="Equation" r:id="rId16" imgW="787400" imgH="228600" progId="Equation.DSMT4">
                  <p:embed/>
                </p:oleObj>
              </mc:Choice>
              <mc:Fallback>
                <p:oleObj name="Equation" r:id="rId16" imgW="787400" imgH="228600" progId="Equation.DSMT4">
                  <p:embed/>
                  <p:pic>
                    <p:nvPicPr>
                      <p:cNvPr id="4711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74" y="4534732"/>
                        <a:ext cx="104457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616605"/>
              </p:ext>
            </p:extLst>
          </p:nvPr>
        </p:nvGraphicFramePr>
        <p:xfrm>
          <a:off x="5694883" y="4796106"/>
          <a:ext cx="1008063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00" r:id="rId18" imgW="800100" imgH="228600" progId="Equation.DSMT4">
                  <p:embed/>
                </p:oleObj>
              </mc:Choice>
              <mc:Fallback>
                <p:oleObj r:id="rId18" imgW="800100" imgH="228600" progId="Equation.DSMT4">
                  <p:embed/>
                  <p:pic>
                    <p:nvPicPr>
                      <p:cNvPr id="4712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883" y="4796106"/>
                        <a:ext cx="1008063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425519"/>
              </p:ext>
            </p:extLst>
          </p:nvPr>
        </p:nvGraphicFramePr>
        <p:xfrm>
          <a:off x="4587901" y="5066604"/>
          <a:ext cx="12255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01" r:id="rId20" imgW="965200" imgH="228600" progId="Equation.DSMT4">
                  <p:embed/>
                </p:oleObj>
              </mc:Choice>
              <mc:Fallback>
                <p:oleObj r:id="rId20" imgW="965200" imgH="228600" progId="Equation.DSMT4">
                  <p:embed/>
                  <p:pic>
                    <p:nvPicPr>
                      <p:cNvPr id="4712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901" y="5066604"/>
                        <a:ext cx="12255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连接符 37"/>
          <p:cNvCxnSpPr/>
          <p:nvPr/>
        </p:nvCxnSpPr>
        <p:spPr bwMode="auto">
          <a:xfrm flipH="1" flipV="1">
            <a:off x="2749476" y="4079948"/>
            <a:ext cx="767284" cy="735986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9.2.3 </a:t>
            </a:r>
            <a:r>
              <a:rPr lang="zh-CN" altLang="en-US" dirty="0"/>
              <a:t>最小支撑树问题</a:t>
            </a:r>
            <a:endParaRPr lang="zh-CN" altLang="en-US" dirty="0" smtClean="0"/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1"/>
          </p:nvPr>
        </p:nvSpPr>
        <p:spPr>
          <a:xfrm>
            <a:off x="799157" y="1628775"/>
            <a:ext cx="7661275" cy="414267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给图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G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=(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中的每一条边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[</a:t>
            </a:r>
            <a:r>
              <a:rPr lang="en-US" altLang="zh-CN" sz="2400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sz="2400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]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赋予一个数值</a:t>
            </a:r>
            <a:r>
              <a:rPr lang="en-US" altLang="zh-CN" sz="2400" i="1" dirty="0" err="1" smtClean="0">
                <a:latin typeface="Times New Roman" panose="02020603050405020304" pitchFamily="18" charset="0"/>
              </a:rPr>
              <a:t>w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，则称这样的图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为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赋权图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 err="1" smtClean="0">
                <a:latin typeface="Times New Roman" panose="02020603050405020304" pitchFamily="18" charset="0"/>
              </a:rPr>
              <a:t>w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称为边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上的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权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。该赋权的图就称为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网络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这里所说的“权”，是指与边有关的数量指标。根据实际问题的需要，可以赋予它不同的含义，如表示距离、时间、费用等。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赋权图在图的理论及其应用方面有重要的地位。赋权图不仅指出了各点之间的邻接关系，而且同时也表示了各点之间的数量关系。所以，赋权图被广泛应用于工程技术及科学生产管理等领域的最优化问题。最小支撑树问题就是赋权图上的最优化问题之一。</a:t>
            </a:r>
            <a:endParaRPr lang="zh-CN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9.2.3 </a:t>
            </a:r>
            <a:r>
              <a:rPr lang="zh-CN" altLang="en-US" dirty="0"/>
              <a:t>最小支撑树问题</a:t>
            </a:r>
            <a:endParaRPr lang="zh-CN" altLang="en-US" dirty="0" smtClean="0"/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7661275" cy="385951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设有一个连通图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G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，每一边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= [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]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，有一个非负权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w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)=</a:t>
            </a:r>
            <a:r>
              <a:rPr lang="en-US" altLang="zh-CN" sz="2400" i="1" dirty="0" err="1" smtClean="0">
                <a:latin typeface="Times New Roman" panose="02020603050405020304" pitchFamily="18" charset="0"/>
              </a:rPr>
              <a:t>w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(</a:t>
            </a:r>
            <a:r>
              <a:rPr lang="en-US" altLang="zh-CN" sz="2400" i="1" dirty="0" err="1" smtClean="0">
                <a:latin typeface="Times New Roman" panose="02020603050405020304" pitchFamily="18" charset="0"/>
              </a:rPr>
              <a:t>w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≥0)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  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如果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=(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′)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的一个支撑树，称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′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中所有边的权之和为支撑树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的权，记为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w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。即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如果支撑树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*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的权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w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*)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的所有支撑树的权中最小者，则称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*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最小支撑树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简称最小树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。即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      式中对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的所有支撑树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取最小。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4916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200185"/>
              </p:ext>
            </p:extLst>
          </p:nvPr>
        </p:nvGraphicFramePr>
        <p:xfrm>
          <a:off x="3290887" y="3068960"/>
          <a:ext cx="20161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7" r:id="rId3" imgW="1091726" imgH="380835" progId="Equation.DSMT4">
                  <p:embed/>
                </p:oleObj>
              </mc:Choice>
              <mc:Fallback>
                <p:oleObj r:id="rId3" imgW="1091726" imgH="38083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7" y="3068960"/>
                        <a:ext cx="2016125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4916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330330"/>
              </p:ext>
            </p:extLst>
          </p:nvPr>
        </p:nvGraphicFramePr>
        <p:xfrm>
          <a:off x="3171038" y="4575597"/>
          <a:ext cx="20891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98" r:id="rId5" imgW="1130300" imgH="279400" progId="Equation.DSMT4">
                  <p:embed/>
                </p:oleObj>
              </mc:Choice>
              <mc:Fallback>
                <p:oleObj r:id="rId5" imgW="1130300" imgH="279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038" y="4575597"/>
                        <a:ext cx="208915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9.2.3 </a:t>
            </a:r>
            <a:r>
              <a:rPr lang="zh-CN" altLang="en-US" dirty="0"/>
              <a:t>最小支撑树问题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433965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避圈法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kruskal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pPr marL="1068387" lvl="1" indent="-609600" eaLnBrk="1" hangingPunct="1">
              <a:lnSpc>
                <a:spcPct val="11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开始选一条最小权的边，以后每一步中，总从与已选边不构成圈的那些未选边中，选一条权最小的。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</a:rPr>
              <a:t>每一步中，如果有两条或两条以上的边都是权最小的边，则从中任选一条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</a:p>
          <a:p>
            <a:pPr marL="1068387" lvl="1" indent="-609600" eaLnBrk="1" hangingPunct="1">
              <a:lnSpc>
                <a:spcPct val="11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算法的具体步骤如下：</a:t>
            </a:r>
          </a:p>
          <a:p>
            <a:pPr marL="1370014" lvl="2" indent="-533400" eaLnBrk="1" hangingPunct="1">
              <a:lnSpc>
                <a:spcPct val="11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第</a:t>
            </a: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步：令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</a:rPr>
              <a:t>=1</a:t>
            </a:r>
            <a:r>
              <a:rPr lang="zh-CN" altLang="en-US" dirty="0" smtClean="0">
                <a:latin typeface="Times New Roman" panose="02020603050405020304" pitchFamily="18" charset="0"/>
              </a:rPr>
              <a:t>，                       。</a:t>
            </a:r>
          </a:p>
          <a:p>
            <a:pPr marL="1370014" lvl="2" indent="-533400" eaLnBrk="1" hangingPunct="1">
              <a:lnSpc>
                <a:spcPct val="11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第</a:t>
            </a: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步：选一条边                  ，使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e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是使                    不含圈的所有边</a:t>
            </a:r>
            <a:r>
              <a:rPr lang="en-US" altLang="zh-CN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dirty="0" smtClean="0">
                <a:latin typeface="Times New Roman" panose="02020603050405020304" pitchFamily="18" charset="0"/>
              </a:rPr>
              <a:t>(               )</a:t>
            </a:r>
            <a:r>
              <a:rPr lang="zh-CN" altLang="en-US" dirty="0" smtClean="0">
                <a:latin typeface="Times New Roman" panose="02020603050405020304" pitchFamily="18" charset="0"/>
              </a:rPr>
              <a:t>中权最小的边。令                  ，如果这样的边不存在，则</a:t>
            </a:r>
            <a:r>
              <a:rPr lang="en-US" altLang="zh-CN" i="1" dirty="0" smtClean="0">
                <a:latin typeface="Times New Roman" panose="02020603050405020304" pitchFamily="18" charset="0"/>
              </a:rPr>
              <a:t>T=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i="1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i-1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是最小树。</a:t>
            </a:r>
          </a:p>
          <a:p>
            <a:pPr marL="1370014" lvl="2" indent="-533400" eaLnBrk="1" hangingPunct="1">
              <a:lnSpc>
                <a:spcPct val="11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第</a:t>
            </a: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步：把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换成</a:t>
            </a:r>
            <a:r>
              <a:rPr lang="en-US" altLang="zh-CN" i="1" dirty="0" smtClean="0">
                <a:latin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</a:rPr>
              <a:t>+1</a:t>
            </a:r>
            <a:r>
              <a:rPr lang="zh-CN" altLang="en-US" dirty="0" smtClean="0">
                <a:latin typeface="Times New Roman" panose="02020603050405020304" pitchFamily="18" charset="0"/>
              </a:rPr>
              <a:t>，转入第</a:t>
            </a: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步。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5120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137263"/>
              </p:ext>
            </p:extLst>
          </p:nvPr>
        </p:nvGraphicFramePr>
        <p:xfrm>
          <a:off x="4139952" y="3670642"/>
          <a:ext cx="1584176" cy="29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0" r:id="rId3" imgW="1409700" imgH="228600" progId="Equation.DSMT4">
                  <p:embed/>
                </p:oleObj>
              </mc:Choice>
              <mc:Fallback>
                <p:oleObj r:id="rId3" imgW="14097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670642"/>
                        <a:ext cx="1584176" cy="29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5120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205542"/>
              </p:ext>
            </p:extLst>
          </p:nvPr>
        </p:nvGraphicFramePr>
        <p:xfrm>
          <a:off x="4428604" y="4005857"/>
          <a:ext cx="10795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1" r:id="rId5" imgW="672808" imgH="228501" progId="Equation.DSMT4">
                  <p:embed/>
                </p:oleObj>
              </mc:Choice>
              <mc:Fallback>
                <p:oleObj r:id="rId5" imgW="672808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8604" y="4005857"/>
                        <a:ext cx="10795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512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883843"/>
              </p:ext>
            </p:extLst>
          </p:nvPr>
        </p:nvGraphicFramePr>
        <p:xfrm>
          <a:off x="6732240" y="4068570"/>
          <a:ext cx="1296144" cy="328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2" r:id="rId7" imgW="812447" imgH="228501" progId="Equation.DSMT4">
                  <p:embed/>
                </p:oleObj>
              </mc:Choice>
              <mc:Fallback>
                <p:oleObj r:id="rId7" imgW="812447" imgH="22850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4068570"/>
                        <a:ext cx="1296144" cy="328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512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584176"/>
              </p:ext>
            </p:extLst>
          </p:nvPr>
        </p:nvGraphicFramePr>
        <p:xfrm>
          <a:off x="3955028" y="4384629"/>
          <a:ext cx="993182" cy="352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3" r:id="rId9" imgW="634725" imgH="228501" progId="Equation.DSMT4">
                  <p:embed/>
                </p:oleObj>
              </mc:Choice>
              <mc:Fallback>
                <p:oleObj r:id="rId9" imgW="634725" imgH="22850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028" y="4384629"/>
                        <a:ext cx="993182" cy="352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512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185308"/>
              </p:ext>
            </p:extLst>
          </p:nvPr>
        </p:nvGraphicFramePr>
        <p:xfrm>
          <a:off x="7020271" y="4397069"/>
          <a:ext cx="1201409" cy="3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4" r:id="rId11" imgW="838200" imgH="228600" progId="Equation.DSMT4">
                  <p:embed/>
                </p:oleObj>
              </mc:Choice>
              <mc:Fallback>
                <p:oleObj r:id="rId11" imgW="8382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1" y="4397069"/>
                        <a:ext cx="1201409" cy="3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9.2.3 </a:t>
            </a:r>
            <a:r>
              <a:rPr lang="zh-CN" altLang="en-US" dirty="0"/>
              <a:t>最小支撑树问题</a:t>
            </a:r>
            <a:endParaRPr lang="zh-CN" altLang="en-US" dirty="0" smtClean="0"/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438581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 smtClean="0">
                <a:latin typeface="Times New Roman" panose="02020603050405020304" pitchFamily="18" charset="0"/>
              </a:rPr>
              <a:t>解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   这个问题就是求图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(a)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所示的赋权图上的最小树，用避圈法求解。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i="1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=1,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0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=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Ø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，从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中选最小权边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</a:rPr>
              <a:t>={[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]}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 ；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i="1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=2,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从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\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中选最小权边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](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与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不构成圈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i="1" dirty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= ={[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],</a:t>
            </a:r>
            <a:r>
              <a:rPr lang="en-US" altLang="zh-CN" sz="1800" dirty="0">
                <a:latin typeface="Times New Roman" panose="02020603050405020304" pitchFamily="18" charset="0"/>
              </a:rPr>
              <a:t>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]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}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</a:rPr>
              <a:t>；</a:t>
            </a:r>
            <a:endParaRPr lang="zh-CN" altLang="en-US" sz="1800" dirty="0" smtClean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=3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，从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\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中选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]((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∪ 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{[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]}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不含圈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，令</a:t>
            </a:r>
            <a:r>
              <a:rPr lang="en-US" altLang="zh-CN" sz="1800" i="1" dirty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Times New Roman" panose="02020603050405020304" pitchFamily="18" charset="0"/>
              </a:rPr>
              <a:t>= 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{[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Times New Roman" panose="02020603050405020304" pitchFamily="18" charset="0"/>
              </a:rPr>
              <a:t>],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],</a:t>
            </a:r>
            <a:r>
              <a:rPr lang="en-US" altLang="zh-CN" sz="1800" dirty="0">
                <a:latin typeface="Times New Roman" panose="02020603050405020304" pitchFamily="18" charset="0"/>
              </a:rPr>
              <a:t>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]}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</a:rPr>
              <a:t>；</a:t>
            </a:r>
            <a:endParaRPr lang="zh-CN" altLang="en-US" sz="1800" dirty="0" smtClean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=4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，从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\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3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中选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6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](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或选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6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])((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∪ </a:t>
            </a:r>
            <a:r>
              <a:rPr lang="en-US" altLang="zh-CN" sz="1800" dirty="0">
                <a:latin typeface="Times New Roman" panose="02020603050405020304" pitchFamily="18" charset="0"/>
              </a:rPr>
              <a:t>{[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6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]}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不含圈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，令</a:t>
            </a:r>
            <a:r>
              <a:rPr lang="en-US" altLang="zh-CN" sz="1800" i="1" dirty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= 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{[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Times New Roman" panose="02020603050405020304" pitchFamily="18" charset="0"/>
              </a:rPr>
              <a:t>],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],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],</a:t>
            </a:r>
            <a:r>
              <a:rPr lang="en-US" altLang="zh-CN" sz="1800" dirty="0">
                <a:latin typeface="Times New Roman" panose="02020603050405020304" pitchFamily="18" charset="0"/>
              </a:rPr>
              <a:t>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]}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</a:rPr>
              <a:t>；</a:t>
            </a:r>
            <a:endParaRPr lang="zh-CN" altLang="en-US" sz="1800" dirty="0" smtClean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=5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，从</a:t>
            </a:r>
            <a:r>
              <a:rPr lang="en-US" altLang="zh-CN" sz="1800" i="1" dirty="0">
                <a:latin typeface="Times New Roman" panose="02020603050405020304" pitchFamily="18" charset="0"/>
              </a:rPr>
              <a:t>E</a:t>
            </a:r>
            <a:r>
              <a:rPr lang="en-US" altLang="zh-CN" sz="1800" dirty="0">
                <a:latin typeface="Times New Roman" panose="02020603050405020304" pitchFamily="18" charset="0"/>
              </a:rPr>
              <a:t>\</a:t>
            </a:r>
            <a:r>
              <a:rPr lang="en-US" altLang="zh-CN" sz="1800" i="1" dirty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4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中选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]((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∪ </a:t>
            </a:r>
            <a:r>
              <a:rPr lang="en-US" altLang="zh-CN" sz="1800" dirty="0">
                <a:latin typeface="Times New Roman" panose="02020603050405020304" pitchFamily="18" charset="0"/>
              </a:rPr>
              <a:t>{[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]}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不含圈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。注意，因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与已选边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1800" dirty="0">
                <a:latin typeface="Times New Roman" panose="02020603050405020304" pitchFamily="18" charset="0"/>
              </a:rPr>
              <a:t>],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1800" dirty="0">
                <a:latin typeface="Times New Roman" panose="02020603050405020304" pitchFamily="18" charset="0"/>
              </a:rPr>
              <a:t>]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构成圈，所以虽然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1800" dirty="0">
                <a:latin typeface="Times New Roman" panose="02020603050405020304" pitchFamily="18" charset="0"/>
              </a:rPr>
              <a:t>]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的权小于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的权，但这时不能选</a:t>
            </a:r>
            <a:r>
              <a:rPr lang="en-US" altLang="zh-CN" sz="1800" dirty="0">
                <a:latin typeface="Times New Roman" panose="02020603050405020304" pitchFamily="18" charset="0"/>
              </a:rPr>
              <a:t>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1800" dirty="0">
                <a:latin typeface="Times New Roman" panose="02020603050405020304" pitchFamily="18" charset="0"/>
              </a:rPr>
              <a:t>])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，令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sz="1800" dirty="0">
                <a:latin typeface="Times New Roman" panose="02020603050405020304" pitchFamily="18" charset="0"/>
              </a:rPr>
              <a:t>= {[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Times New Roman" panose="02020603050405020304" pitchFamily="18" charset="0"/>
              </a:rPr>
              <a:t>],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],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1800" dirty="0">
                <a:latin typeface="Times New Roman" panose="02020603050405020304" pitchFamily="18" charset="0"/>
              </a:rPr>
              <a:t>],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],</a:t>
            </a:r>
            <a:r>
              <a:rPr lang="en-US" altLang="zh-CN" sz="1800" dirty="0">
                <a:latin typeface="Times New Roman" panose="02020603050405020304" pitchFamily="18" charset="0"/>
              </a:rPr>
              <a:t> [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Times New Roman" panose="02020603050405020304" pitchFamily="18" charset="0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</a:rPr>
              <a:t>v</a:t>
            </a:r>
            <a:r>
              <a:rPr lang="en-US" altLang="zh-CN" sz="1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]}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</a:rPr>
              <a:t>；</a:t>
            </a:r>
            <a:endParaRPr lang="zh-CN" altLang="en-US" sz="1800" dirty="0" smtClean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8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=6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，这时，任一条未选的边都与已选的边构成圈，所以算法终止。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>
                <a:latin typeface="Times New Roman" panose="02020603050405020304" pitchFamily="18" charset="0"/>
              </a:rPr>
              <a:t>      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V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E</a:t>
            </a:r>
            <a:r>
              <a:rPr lang="en-US" altLang="zh-CN" sz="1800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就是要求的最小树，即电话线总长最小的电话线网方案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(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图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 (</a:t>
            </a:r>
            <a:r>
              <a:rPr lang="en-US" altLang="zh-CN" sz="1800" i="1" dirty="0" smtClean="0">
                <a:latin typeface="Times New Roman" panose="02020603050405020304" pitchFamily="18" charset="0"/>
              </a:rPr>
              <a:t>b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))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，电话线总长为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15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单位。</a:t>
            </a:r>
            <a:endParaRPr lang="zh-CN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7" y="18533"/>
            <a:ext cx="4139953" cy="1267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9.2.3 </a:t>
            </a:r>
            <a:r>
              <a:rPr lang="zh-CN" altLang="en-US" dirty="0"/>
              <a:t>最小支撑树问题</a:t>
            </a:r>
            <a:endParaRPr lang="zh-CN" altLang="en-US" dirty="0" smtClean="0"/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2702278"/>
          </a:xfrm>
        </p:spPr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rgbClr val="FF0000"/>
                </a:solidFill>
              </a:rPr>
              <a:t>2.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破圈法</a:t>
            </a:r>
          </a:p>
          <a:p>
            <a:pPr lvl="1" eaLnBrk="1" hangingPunct="1"/>
            <a:r>
              <a:rPr lang="zh-CN" altLang="en-US" dirty="0" smtClean="0"/>
              <a:t>任取一个圈，从圈中去掉一条权最大的边</a:t>
            </a:r>
            <a:r>
              <a:rPr lang="en-US" altLang="zh-CN" dirty="0" smtClean="0"/>
              <a:t>(</a:t>
            </a:r>
            <a:r>
              <a:rPr lang="zh-CN" altLang="en-US" dirty="0" smtClean="0"/>
              <a:t>如果有两条或两条以上的边都是权最大的边，则任意去掉其中一条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。在余下的图中，重复这个步骤，直至得到一个不含圈的图为止，这时的图便是最小树。</a:t>
            </a:r>
            <a:endParaRPr lang="en-US" altLang="zh-CN" dirty="0" smtClean="0"/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9-9   </a:t>
            </a:r>
            <a:r>
              <a:rPr lang="zh-CN" altLang="en-US" dirty="0">
                <a:latin typeface="Times New Roman" panose="02020603050405020304" pitchFamily="18" charset="0"/>
              </a:rPr>
              <a:t>用破圈法求图</a:t>
            </a:r>
            <a:r>
              <a:rPr lang="en-US" altLang="zh-CN" dirty="0">
                <a:latin typeface="Times New Roman" panose="02020603050405020304" pitchFamily="18" charset="0"/>
              </a:rPr>
              <a:t> (a)</a:t>
            </a:r>
            <a:r>
              <a:rPr lang="zh-CN" altLang="en-US" dirty="0">
                <a:latin typeface="Times New Roman" panose="02020603050405020304" pitchFamily="18" charset="0"/>
              </a:rPr>
              <a:t>所示赋权图的最小支撑树。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90" y="4043046"/>
            <a:ext cx="7871959" cy="2410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 bwMode="auto">
          <a:xfrm flipH="1">
            <a:off x="1304745" y="4419369"/>
            <a:ext cx="720080" cy="620990"/>
          </a:xfrm>
          <a:prstGeom prst="line">
            <a:avLst/>
          </a:prstGeom>
          <a:noFill/>
          <a:ln w="76200">
            <a:solidFill>
              <a:schemeClr val="bg1"/>
            </a:solidFill>
          </a:ln>
        </p:spPr>
      </p:cxnSp>
      <p:sp>
        <p:nvSpPr>
          <p:cNvPr id="6" name="矩形 5"/>
          <p:cNvSpPr/>
          <p:nvPr/>
        </p:nvSpPr>
        <p:spPr bwMode="auto">
          <a:xfrm>
            <a:off x="1403648" y="4446264"/>
            <a:ext cx="197756" cy="27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flipH="1">
            <a:off x="2105798" y="4419369"/>
            <a:ext cx="1080120" cy="1385895"/>
          </a:xfrm>
          <a:prstGeom prst="line">
            <a:avLst/>
          </a:prstGeom>
          <a:noFill/>
          <a:ln w="76200">
            <a:solidFill>
              <a:schemeClr val="bg1"/>
            </a:solidFill>
          </a:ln>
        </p:spPr>
      </p:cxnSp>
      <p:sp>
        <p:nvSpPr>
          <p:cNvPr id="13" name="矩形 12"/>
          <p:cNvSpPr/>
          <p:nvPr/>
        </p:nvSpPr>
        <p:spPr bwMode="auto">
          <a:xfrm>
            <a:off x="2366647" y="4896055"/>
            <a:ext cx="197756" cy="27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/>
          <p:cNvCxnSpPr/>
          <p:nvPr/>
        </p:nvCxnSpPr>
        <p:spPr bwMode="auto">
          <a:xfrm flipH="1">
            <a:off x="2123728" y="4419369"/>
            <a:ext cx="1062190" cy="0"/>
          </a:xfrm>
          <a:prstGeom prst="line">
            <a:avLst/>
          </a:prstGeom>
          <a:noFill/>
          <a:ln w="76200">
            <a:solidFill>
              <a:schemeClr val="bg1"/>
            </a:solidFill>
          </a:ln>
        </p:spPr>
      </p:cxnSp>
      <p:sp>
        <p:nvSpPr>
          <p:cNvPr id="17" name="矩形 16"/>
          <p:cNvSpPr/>
          <p:nvPr/>
        </p:nvSpPr>
        <p:spPr bwMode="auto">
          <a:xfrm>
            <a:off x="2438655" y="4059041"/>
            <a:ext cx="197756" cy="27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连接符 23"/>
          <p:cNvCxnSpPr/>
          <p:nvPr/>
        </p:nvCxnSpPr>
        <p:spPr bwMode="auto">
          <a:xfrm flipH="1" flipV="1">
            <a:off x="3275856" y="4419369"/>
            <a:ext cx="720080" cy="620991"/>
          </a:xfrm>
          <a:prstGeom prst="line">
            <a:avLst/>
          </a:prstGeom>
          <a:noFill/>
          <a:ln w="76200">
            <a:solidFill>
              <a:schemeClr val="bg1"/>
            </a:solidFill>
          </a:ln>
        </p:spPr>
      </p:cxnSp>
      <p:sp>
        <p:nvSpPr>
          <p:cNvPr id="25" name="矩形 24"/>
          <p:cNvSpPr/>
          <p:nvPr/>
        </p:nvSpPr>
        <p:spPr bwMode="auto">
          <a:xfrm>
            <a:off x="3662791" y="4536015"/>
            <a:ext cx="197756" cy="278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9.3.2 </a:t>
            </a:r>
            <a:r>
              <a:rPr lang="zh-CN" altLang="en-US" dirty="0"/>
              <a:t>最短路算法</a:t>
            </a:r>
            <a:endParaRPr lang="zh-CN" altLang="en-US" dirty="0" smtClean="0"/>
          </a:p>
        </p:txBody>
      </p:sp>
      <p:sp>
        <p:nvSpPr>
          <p:cNvPr id="75780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5324535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Times New Roman" panose="02020603050405020304" pitchFamily="18" charset="0"/>
              </a:rPr>
              <a:t>赋权有向图中存在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负权弧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时，求最短路的方法。</a:t>
            </a: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设从任一点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到任一个点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zh-CN" altLang="en-US" dirty="0" smtClean="0">
                <a:latin typeface="Times New Roman" panose="02020603050405020304" pitchFamily="18" charset="0"/>
              </a:rPr>
              <a:t>都有一条弧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</a:rPr>
              <a:t>如果在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dirty="0" smtClean="0">
                <a:latin typeface="Times New Roman" panose="02020603050405020304" pitchFamily="18" charset="0"/>
              </a:rPr>
              <a:t>中</a:t>
            </a:r>
            <a:r>
              <a:rPr lang="en-US" altLang="zh-CN" i="1" dirty="0" smtClean="0">
                <a:latin typeface="Times New Roman" panose="02020603050405020304" pitchFamily="18" charset="0"/>
              </a:rPr>
              <a:t>                  </a:t>
            </a:r>
            <a:r>
              <a:rPr lang="zh-CN" altLang="en-US" dirty="0" smtClean="0">
                <a:latin typeface="Times New Roman" panose="02020603050405020304" pitchFamily="18" charset="0"/>
              </a:rPr>
              <a:t>则添加弧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。令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dirty="0" smtClean="0">
                <a:latin typeface="Times New Roman" panose="02020603050405020304" pitchFamily="18" charset="0"/>
              </a:rPr>
              <a:t>=+∞)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显然，从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到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zh-CN" altLang="en-US" dirty="0" smtClean="0">
                <a:latin typeface="Times New Roman" panose="02020603050405020304" pitchFamily="18" charset="0"/>
              </a:rPr>
              <a:t>的最短路总是从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出发，沿着一条路到某个点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，再沿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到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 smtClean="0">
                <a:latin typeface="Times New Roman" panose="02020603050405020304" pitchFamily="18" charset="0"/>
              </a:rPr>
              <a:t>的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</a:rPr>
              <a:t>这里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可以是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本身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，则在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的最</a:t>
            </a:r>
            <a:r>
              <a:rPr lang="zh-CN" altLang="en-US" dirty="0" smtClean="0">
                <a:latin typeface="Times New Roman" panose="02020603050405020304" pitchFamily="18" charset="0"/>
              </a:rPr>
              <a:t>短路中，从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的这条路必定是从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的最短路，所以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s 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必满足如下方程：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为了求得这个方程的</a:t>
            </a:r>
            <a:r>
              <a:rPr lang="zh-CN" altLang="en-US" dirty="0" smtClean="0">
                <a:latin typeface="Times New Roman" panose="02020603050405020304" pitchFamily="18" charset="0"/>
              </a:rPr>
              <a:t>解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</a:rPr>
              <a:t>) 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 d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</a:rPr>
              <a:t>) 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 d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p</a:t>
            </a:r>
            <a:r>
              <a:rPr lang="en-US" altLang="zh-CN" dirty="0" smtClean="0">
                <a:latin typeface="Times New Roman" panose="02020603050405020304" pitchFamily="18" charset="0"/>
              </a:rPr>
              <a:t>) (</a:t>
            </a:r>
            <a:r>
              <a:rPr lang="zh-CN" altLang="en-US" dirty="0">
                <a:latin typeface="Times New Roman" panose="02020603050405020304" pitchFamily="18" charset="0"/>
              </a:rPr>
              <a:t>这里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zh-CN" altLang="en-US" dirty="0">
                <a:latin typeface="Times New Roman" panose="02020603050405020304" pitchFamily="18" charset="0"/>
              </a:rPr>
              <a:t>，可用如下递推公式：</a:t>
            </a:r>
          </a:p>
          <a:p>
            <a:pPr lvl="2" eaLnBrk="1" hangingPunct="1"/>
            <a:r>
              <a:rPr lang="zh-CN" altLang="en-US" dirty="0">
                <a:latin typeface="Times New Roman" panose="02020603050405020304" pitchFamily="18" charset="0"/>
              </a:rPr>
              <a:t>开始时</a:t>
            </a:r>
            <a:r>
              <a:rPr lang="zh-CN" altLang="en-US" dirty="0" smtClean="0">
                <a:latin typeface="Times New Roman" panose="02020603050405020304" pitchFamily="18" charset="0"/>
              </a:rPr>
              <a:t>，令                                                                       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对</a:t>
            </a:r>
            <a:r>
              <a:rPr lang="en-US" altLang="zh-CN" i="1" dirty="0" smtClean="0">
                <a:latin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</a:rPr>
              <a:t>=2,3,…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n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</a:rPr>
              <a:t>进行到某一步，例如第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步时，对</a:t>
            </a:r>
            <a:r>
              <a:rPr lang="zh-CN" altLang="en-US" dirty="0" smtClean="0">
                <a:latin typeface="Times New Roman" panose="02020603050405020304" pitchFamily="18" charset="0"/>
              </a:rPr>
              <a:t>所有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=1,2,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zh-CN" altLang="en-US" dirty="0" smtClean="0">
                <a:latin typeface="Times New Roman" panose="02020603050405020304" pitchFamily="18" charset="0"/>
              </a:rPr>
              <a:t>有    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marL="890588" lvl="2" indent="0" eaLnBrk="1" hangingPunct="1">
              <a:buNone/>
            </a:pPr>
            <a:r>
              <a:rPr lang="zh-CN" altLang="en-US" dirty="0" smtClean="0">
                <a:latin typeface="Times New Roman" panose="02020603050405020304" pitchFamily="18" charset="0"/>
              </a:rPr>
              <a:t>则                         即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到各点的最短路的权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7578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966346"/>
              </p:ext>
            </p:extLst>
          </p:nvPr>
        </p:nvGraphicFramePr>
        <p:xfrm>
          <a:off x="7464189" y="1754495"/>
          <a:ext cx="122396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77" r:id="rId3" imgW="685800" imgH="241300" progId="Equation.DSMT4">
                  <p:embed/>
                </p:oleObj>
              </mc:Choice>
              <mc:Fallback>
                <p:oleObj r:id="rId3" imgW="6858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89" y="1754495"/>
                        <a:ext cx="122396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7578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445185"/>
              </p:ext>
            </p:extLst>
          </p:nvPr>
        </p:nvGraphicFramePr>
        <p:xfrm>
          <a:off x="4820808" y="3393657"/>
          <a:ext cx="2775528" cy="449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78" r:id="rId5" imgW="1828800" imgH="266700" progId="Equation.DSMT4">
                  <p:embed/>
                </p:oleObj>
              </mc:Choice>
              <mc:Fallback>
                <p:oleObj r:id="rId5" imgW="1828800" imgH="266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0808" y="3393657"/>
                        <a:ext cx="2775528" cy="449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783604"/>
              </p:ext>
            </p:extLst>
          </p:nvPr>
        </p:nvGraphicFramePr>
        <p:xfrm>
          <a:off x="3851920" y="4757047"/>
          <a:ext cx="1584176" cy="410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79" r:id="rId7" imgW="990170" imgH="253890" progId="Equation.DSMT4">
                  <p:embed/>
                </p:oleObj>
              </mc:Choice>
              <mc:Fallback>
                <p:oleObj r:id="rId7" imgW="990170" imgH="253890" progId="Equation.DSMT4">
                  <p:embed/>
                  <p:pic>
                    <p:nvPicPr>
                      <p:cNvPr id="7680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4757047"/>
                        <a:ext cx="1584176" cy="410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004575"/>
              </p:ext>
            </p:extLst>
          </p:nvPr>
        </p:nvGraphicFramePr>
        <p:xfrm>
          <a:off x="3861941" y="5143500"/>
          <a:ext cx="33147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80" name="Equation" r:id="rId9" imgW="2158920" imgH="279360" progId="Equation.DSMT4">
                  <p:embed/>
                </p:oleObj>
              </mc:Choice>
              <mc:Fallback>
                <p:oleObj name="Equation" r:id="rId9" imgW="2158920" imgH="279360" progId="Equation.DSMT4">
                  <p:embed/>
                  <p:pic>
                    <p:nvPicPr>
                      <p:cNvPr id="7681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941" y="5143500"/>
                        <a:ext cx="331470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063716"/>
              </p:ext>
            </p:extLst>
          </p:nvPr>
        </p:nvGraphicFramePr>
        <p:xfrm>
          <a:off x="3717925" y="5805264"/>
          <a:ext cx="2316907" cy="390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81" r:id="rId11" imgW="1524000" imgH="254000" progId="Equation.DSMT4">
                  <p:embed/>
                </p:oleObj>
              </mc:Choice>
              <mc:Fallback>
                <p:oleObj r:id="rId11" imgW="1524000" imgH="254000" progId="Equation.DSMT4">
                  <p:embed/>
                  <p:pic>
                    <p:nvPicPr>
                      <p:cNvPr id="7681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5" y="5805264"/>
                        <a:ext cx="2316907" cy="390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307959"/>
              </p:ext>
            </p:extLst>
          </p:nvPr>
        </p:nvGraphicFramePr>
        <p:xfrm>
          <a:off x="2339752" y="6203589"/>
          <a:ext cx="1509216" cy="364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82" r:id="rId13" imgW="1180588" imgH="253890" progId="Equation.DSMT4">
                  <p:embed/>
                </p:oleObj>
              </mc:Choice>
              <mc:Fallback>
                <p:oleObj r:id="rId13" imgW="1180588" imgH="253890" progId="Equation.DSMT4">
                  <p:embed/>
                  <p:pic>
                    <p:nvPicPr>
                      <p:cNvPr id="768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6203589"/>
                        <a:ext cx="1509216" cy="364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4584365" y="4780422"/>
            <a:ext cx="23262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</a:rPr>
              <a:t>(j=1,2,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latin typeface="Times New Roman" panose="02020603050405020304" pitchFamily="18" charset="0"/>
              </a:rPr>
              <a:t>,p)</a:t>
            </a:r>
          </a:p>
        </p:txBody>
      </p:sp>
      <p:sp>
        <p:nvSpPr>
          <p:cNvPr id="13" name="矩形 12"/>
          <p:cNvSpPr/>
          <p:nvPr/>
        </p:nvSpPr>
        <p:spPr>
          <a:xfrm>
            <a:off x="6269308" y="5088625"/>
            <a:ext cx="23262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</a:rPr>
              <a:t>(j=1,2,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latin typeface="Times New Roman" panose="02020603050405020304" pitchFamily="18" charset="0"/>
              </a:rPr>
              <a:t>,p)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8688" y="4636418"/>
                <a:ext cx="1708707" cy="1812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zh-CN" altLang="en-US" sz="2000"/>
                                <m:t>d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sz="2000"/>
                                    <m:t>t</m:t>
                                  </m:r>
                                </m:e>
                              </m:d>
                            </m:sup>
                          </m:sSup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altLang="zh-CN" sz="2000" b="0" i="1" dirty="0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从点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zh-CN" altLang="en-US" sz="2000" smtClean="0">
                          <a:latin typeface="Cambria Math" panose="02040503050406030204" pitchFamily="18" charset="0"/>
                        </a:rPr>
                        <m:t>出发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sz="2000" b="0" i="1" dirty="0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最多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走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步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sz="2000" b="0" i="1" dirty="0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到达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点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的</m:t>
                      </m:r>
                    </m:oMath>
                  </m:oMathPara>
                </a14:m>
                <a:endParaRPr lang="en-US" altLang="zh-CN" sz="2000" b="0" i="1" dirty="0" smtClean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最短路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</a:rPr>
                        <m:t>的权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8" y="4636418"/>
                <a:ext cx="1708707" cy="1812099"/>
              </a:xfrm>
              <a:prstGeom prst="rect">
                <a:avLst/>
              </a:prstGeom>
              <a:blipFill>
                <a:blip r:embed="rId15"/>
                <a:stretch>
                  <a:fillRect l="-1071" b="-2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9.3.2 </a:t>
            </a:r>
            <a:r>
              <a:rPr lang="zh-CN" altLang="en-US" dirty="0"/>
              <a:t>最短路算法</a:t>
            </a:r>
            <a:endParaRPr lang="zh-CN" altLang="en-US" dirty="0" smtClean="0"/>
          </a:p>
        </p:txBody>
      </p:sp>
      <p:sp>
        <p:nvSpPr>
          <p:cNvPr id="77828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357313"/>
            <a:ext cx="7661275" cy="461665"/>
          </a:xfrm>
        </p:spPr>
        <p:txBody>
          <a:bodyPr/>
          <a:lstStyle/>
          <a:p>
            <a:pPr eaLnBrk="1" hangingPunct="1"/>
            <a:r>
              <a:rPr lang="zh-CN" altLang="en-US" sz="2400" b="1" dirty="0" smtClean="0"/>
              <a:t>例</a:t>
            </a:r>
            <a:r>
              <a:rPr lang="en-US" altLang="zh-CN" sz="2400" b="1" dirty="0" smtClean="0"/>
              <a:t>9-12</a:t>
            </a:r>
            <a:r>
              <a:rPr lang="en-US" altLang="zh-CN" sz="2400" dirty="0" smtClean="0"/>
              <a:t>  </a:t>
            </a:r>
            <a:r>
              <a:rPr lang="zh-CN" altLang="en-US" sz="2400" dirty="0" smtClean="0"/>
              <a:t>求图所示赋权有向图中从</a:t>
            </a: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 smtClean="0"/>
              <a:t>1</a:t>
            </a:r>
            <a:r>
              <a:rPr lang="zh-CN" altLang="en-US" sz="2400" dirty="0" smtClean="0"/>
              <a:t>到各点的最短路。</a:t>
            </a:r>
            <a:endParaRPr lang="zh-CN" altLang="en-US" sz="2400" b="1" dirty="0" smtClean="0"/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77830" name="Rectangle 5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pic>
        <p:nvPicPr>
          <p:cNvPr id="7783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544" y="2121020"/>
            <a:ext cx="3743325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2" name="Text Box 7"/>
          <p:cNvSpPr txBox="1">
            <a:spLocks noChangeArrowheads="1"/>
          </p:cNvSpPr>
          <p:nvPr/>
        </p:nvSpPr>
        <p:spPr bwMode="auto">
          <a:xfrm>
            <a:off x="3347864" y="6462093"/>
            <a:ext cx="19446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2000" i="0" dirty="0"/>
              <a:t>图</a:t>
            </a:r>
            <a:r>
              <a:rPr lang="en-US" altLang="zh-CN" sz="2000" i="0" dirty="0"/>
              <a:t>9-21</a:t>
            </a:r>
          </a:p>
        </p:txBody>
      </p:sp>
      <p:sp>
        <p:nvSpPr>
          <p:cNvPr id="3" name="矩形 2"/>
          <p:cNvSpPr/>
          <p:nvPr/>
        </p:nvSpPr>
        <p:spPr>
          <a:xfrm>
            <a:off x="644934" y="5299226"/>
            <a:ext cx="7854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 lvl="0" indent="-447675">
              <a:spcBef>
                <a:spcPct val="200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i="0" dirty="0">
                <a:solidFill>
                  <a:srgbClr val="292929"/>
                </a:solidFill>
                <a:latin typeface="Arial"/>
                <a:ea typeface="宋体"/>
              </a:rPr>
              <a:t>解  利用上述递推公式，求解结果如表</a:t>
            </a:r>
            <a:r>
              <a:rPr lang="en-US" altLang="zh-CN" sz="2400" b="1" i="0" dirty="0">
                <a:solidFill>
                  <a:srgbClr val="292929"/>
                </a:solidFill>
                <a:latin typeface="Arial"/>
                <a:ea typeface="宋体"/>
              </a:rPr>
              <a:t>9-1</a:t>
            </a:r>
            <a:r>
              <a:rPr lang="zh-CN" altLang="en-US" sz="2400" b="1" i="0" dirty="0">
                <a:solidFill>
                  <a:srgbClr val="292929"/>
                </a:solidFill>
                <a:latin typeface="Arial"/>
                <a:ea typeface="宋体"/>
              </a:rPr>
              <a:t>所示</a:t>
            </a:r>
            <a:r>
              <a:rPr lang="en-US" altLang="zh-CN" sz="2400" b="1" i="0" dirty="0">
                <a:solidFill>
                  <a:srgbClr val="292929"/>
                </a:solidFill>
                <a:latin typeface="Arial"/>
                <a:ea typeface="宋体"/>
              </a:rPr>
              <a:t>(</a:t>
            </a:r>
            <a:r>
              <a:rPr lang="zh-CN" altLang="en-US" sz="2400" b="1" i="0" dirty="0">
                <a:solidFill>
                  <a:srgbClr val="292929"/>
                </a:solidFill>
                <a:latin typeface="Arial"/>
                <a:ea typeface="宋体"/>
              </a:rPr>
              <a:t>表中未写数字的空格内是</a:t>
            </a:r>
            <a:r>
              <a:rPr lang="en-US" altLang="zh-CN" sz="2400" b="1" i="0" dirty="0">
                <a:solidFill>
                  <a:srgbClr val="292929"/>
                </a:solidFill>
                <a:latin typeface="Arial"/>
                <a:ea typeface="宋体"/>
              </a:rPr>
              <a:t>+∞)</a:t>
            </a:r>
            <a:r>
              <a:rPr lang="zh-CN" altLang="en-US" sz="2400" b="1" i="0" dirty="0">
                <a:solidFill>
                  <a:srgbClr val="292929"/>
                </a:solidFill>
                <a:latin typeface="Arial"/>
                <a:ea typeface="宋体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9.3.2 </a:t>
            </a:r>
            <a:r>
              <a:rPr lang="zh-CN" altLang="en-US" dirty="0"/>
              <a:t>最短路算法</a:t>
            </a:r>
            <a:endParaRPr lang="zh-CN" altLang="en-US" dirty="0" smtClean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78854" name="Rectangle 11"/>
          <p:cNvSpPr>
            <a:spLocks noChangeArrowheads="1"/>
          </p:cNvSpPr>
          <p:nvPr/>
        </p:nvSpPr>
        <p:spPr bwMode="auto">
          <a:xfrm>
            <a:off x="1127125" y="2495550"/>
            <a:ext cx="17145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78855" name="Rectangle 230"/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78857" name="Object 23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0714470"/>
              </p:ext>
            </p:extLst>
          </p:nvPr>
        </p:nvGraphicFramePr>
        <p:xfrm>
          <a:off x="-227013" y="2987675"/>
          <a:ext cx="7127876" cy="392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6" name="Document" r:id="rId3" imgW="4005141" imgH="2204143" progId="Word.Document.8">
                  <p:embed/>
                </p:oleObj>
              </mc:Choice>
              <mc:Fallback>
                <p:oleObj name="Document" r:id="rId3" imgW="4005141" imgH="2204143" progId="Word.Document.8">
                  <p:embed/>
                  <p:pic>
                    <p:nvPicPr>
                      <p:cNvPr id="0" name="Object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7013" y="2987675"/>
                        <a:ext cx="7127876" cy="39227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8" name="Rectangle 237"/>
          <p:cNvSpPr>
            <a:spLocks noChangeArrowheads="1"/>
          </p:cNvSpPr>
          <p:nvPr/>
        </p:nvSpPr>
        <p:spPr bwMode="auto">
          <a:xfrm>
            <a:off x="6725214" y="3668646"/>
            <a:ext cx="212596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rgbClr val="553AF8"/>
              </a:buClr>
              <a:buSzPct val="70000"/>
            </a:pPr>
            <a:r>
              <a:rPr lang="en-US" altLang="zh-CN" sz="2000" i="0" dirty="0"/>
              <a:t>(</a:t>
            </a:r>
            <a:r>
              <a:rPr lang="zh-CN" altLang="en-US" sz="2000" i="0" dirty="0"/>
              <a:t>表中未写数字的空格内是</a:t>
            </a:r>
            <a:r>
              <a:rPr lang="en-US" altLang="zh-CN" sz="2000" i="0" dirty="0"/>
              <a:t>+∞)</a:t>
            </a: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75" y="70137"/>
            <a:ext cx="3743325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583165" y="4797152"/>
            <a:ext cx="2632667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47675" indent="-447675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6462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3813" indent="-403225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81163" indent="-3857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±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7010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t</a:t>
            </a:r>
            <a:r>
              <a:rPr lang="en-US" altLang="zh-CN" sz="1800" i="0" dirty="0" smtClean="0">
                <a:latin typeface="Times New Roman" panose="02020603050405020304" pitchFamily="18" charset="0"/>
              </a:rPr>
              <a:t>=4</a:t>
            </a:r>
            <a:r>
              <a:rPr lang="zh-CN" altLang="en-US" sz="1800" i="0" dirty="0" smtClean="0">
                <a:latin typeface="Times New Roman" panose="02020603050405020304" pitchFamily="18" charset="0"/>
              </a:rPr>
              <a:t>时，对所有</a:t>
            </a:r>
            <a:r>
              <a:rPr lang="en-US" altLang="zh-CN" sz="1800" i="0" dirty="0" smtClean="0">
                <a:latin typeface="Times New Roman" panose="02020603050405020304" pitchFamily="18" charset="0"/>
              </a:rPr>
              <a:t>j=1,2,</a:t>
            </a:r>
            <a:r>
              <a:rPr lang="en-US" altLang="zh-CN" sz="18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1800" i="0" dirty="0" smtClean="0">
                <a:latin typeface="Times New Roman" panose="02020603050405020304" pitchFamily="18" charset="0"/>
              </a:rPr>
              <a:t>,8</a:t>
            </a:r>
            <a:r>
              <a:rPr lang="zh-CN" altLang="en-US" sz="1800" i="0" dirty="0" smtClean="0">
                <a:latin typeface="Times New Roman" panose="02020603050405020304" pitchFamily="18" charset="0"/>
              </a:rPr>
              <a:t>，有                                   ，于是表中最后一列</a:t>
            </a:r>
            <a:r>
              <a:rPr lang="en-US" altLang="zh-CN" sz="1800" i="0" dirty="0" smtClean="0">
                <a:latin typeface="Times New Roman" panose="02020603050405020304" pitchFamily="18" charset="0"/>
              </a:rPr>
              <a:t>0,-5,-2,-7,-3,-1,-5,6</a:t>
            </a:r>
            <a:r>
              <a:rPr lang="zh-CN" altLang="en-US" sz="1800" i="0" dirty="0" smtClean="0">
                <a:latin typeface="Times New Roman" panose="02020603050405020304" pitchFamily="18" charset="0"/>
              </a:rPr>
              <a:t>就分别是从</a:t>
            </a:r>
            <a:r>
              <a:rPr lang="en-US" altLang="zh-CN" sz="1800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i="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1800" i="0" dirty="0" smtClean="0">
                <a:latin typeface="Times New Roman" panose="02020603050405020304" pitchFamily="18" charset="0"/>
              </a:rPr>
              <a:t>到</a:t>
            </a:r>
            <a:r>
              <a:rPr lang="en-US" altLang="zh-CN" sz="1800" dirty="0">
                <a:latin typeface="Times New Roman" panose="02020603050405020304" pitchFamily="18" charset="0"/>
              </a:rPr>
              <a:t>v</a:t>
            </a:r>
            <a:r>
              <a:rPr lang="en-US" altLang="zh-CN" sz="1800" i="0" baseline="-25000" dirty="0" smtClean="0">
                <a:latin typeface="Times New Roman" panose="02020603050405020304" pitchFamily="18" charset="0"/>
              </a:rPr>
              <a:t>1</a:t>
            </a:r>
            <a:r>
              <a:rPr lang="zh-CN" altLang="en-US" sz="1800" i="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</a:rPr>
              <a:t>v</a:t>
            </a:r>
            <a:r>
              <a:rPr lang="en-US" altLang="zh-CN" sz="1800" i="0" baseline="-25000" dirty="0" smtClean="0">
                <a:latin typeface="Times New Roman" panose="02020603050405020304" pitchFamily="18" charset="0"/>
              </a:rPr>
              <a:t>2</a:t>
            </a:r>
            <a:r>
              <a:rPr lang="zh-CN" altLang="en-US" sz="1800" i="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1800" i="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800" dirty="0">
                <a:latin typeface="Times New Roman" panose="02020603050405020304" pitchFamily="18" charset="0"/>
              </a:rPr>
              <a:t>v</a:t>
            </a:r>
            <a:r>
              <a:rPr lang="en-US" altLang="zh-CN" sz="1800" i="0" baseline="-25000" dirty="0" smtClean="0">
                <a:latin typeface="Times New Roman" panose="02020603050405020304" pitchFamily="18" charset="0"/>
              </a:rPr>
              <a:t>8</a:t>
            </a:r>
            <a:r>
              <a:rPr lang="zh-CN" altLang="en-US" sz="1800" i="0" dirty="0" smtClean="0">
                <a:latin typeface="Times New Roman" panose="02020603050405020304" pitchFamily="18" charset="0"/>
              </a:rPr>
              <a:t>的最短路的权。</a:t>
            </a: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792796"/>
              </p:ext>
            </p:extLst>
          </p:nvPr>
        </p:nvGraphicFramePr>
        <p:xfrm>
          <a:off x="6947820" y="5107257"/>
          <a:ext cx="1903355" cy="355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7" r:id="rId6" imgW="1473200" imgH="254000" progId="Equation.DSMT4">
                  <p:embed/>
                </p:oleObj>
              </mc:Choice>
              <mc:Fallback>
                <p:oleObj r:id="rId6" imgW="1473200" imgH="254000" progId="Equation.DSMT4">
                  <p:embed/>
                  <p:pic>
                    <p:nvPicPr>
                      <p:cNvPr id="7987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7820" y="5107257"/>
                        <a:ext cx="1903355" cy="3550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07504" y="1194493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47675" lvl="0" indent="-447675">
              <a:spcBef>
                <a:spcPct val="20000"/>
              </a:spcBef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i="0" dirty="0">
                <a:solidFill>
                  <a:srgbClr val="292929"/>
                </a:solidFill>
                <a:latin typeface="Arial"/>
                <a:ea typeface="宋体"/>
              </a:rPr>
              <a:t>例</a:t>
            </a:r>
            <a:r>
              <a:rPr lang="en-US" altLang="zh-CN" sz="2400" b="1" i="0" dirty="0">
                <a:solidFill>
                  <a:srgbClr val="292929"/>
                </a:solidFill>
                <a:latin typeface="Arial"/>
                <a:ea typeface="宋体"/>
              </a:rPr>
              <a:t>9-12  </a:t>
            </a:r>
            <a:r>
              <a:rPr lang="zh-CN" altLang="en-US" sz="2400" b="1" i="0" dirty="0">
                <a:solidFill>
                  <a:srgbClr val="292929"/>
                </a:solidFill>
                <a:latin typeface="Arial"/>
                <a:ea typeface="宋体"/>
              </a:rPr>
              <a:t>求图所示赋权有向图中从</a:t>
            </a:r>
            <a:r>
              <a:rPr lang="en-US" altLang="zh-CN" sz="2400" b="1" dirty="0">
                <a:solidFill>
                  <a:srgbClr val="292929"/>
                </a:solidFill>
                <a:latin typeface="Arial"/>
                <a:ea typeface="宋体"/>
              </a:rPr>
              <a:t>v</a:t>
            </a:r>
            <a:r>
              <a:rPr lang="en-US" altLang="zh-CN" sz="2400" b="1" i="0" baseline="-25000" dirty="0">
                <a:solidFill>
                  <a:srgbClr val="292929"/>
                </a:solidFill>
                <a:latin typeface="Arial"/>
                <a:ea typeface="宋体"/>
              </a:rPr>
              <a:t>1</a:t>
            </a:r>
            <a:r>
              <a:rPr lang="zh-CN" altLang="en-US" sz="2400" b="1" i="0" dirty="0">
                <a:solidFill>
                  <a:srgbClr val="292929"/>
                </a:solidFill>
                <a:latin typeface="Arial"/>
                <a:ea typeface="宋体"/>
              </a:rPr>
              <a:t>到各点的最短路。</a:t>
            </a: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584174"/>
              </p:ext>
            </p:extLst>
          </p:nvPr>
        </p:nvGraphicFramePr>
        <p:xfrm>
          <a:off x="581025" y="1971675"/>
          <a:ext cx="4805363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8" name="Equation" r:id="rId8" imgW="3720960" imgH="787320" progId="Equation.DSMT4">
                  <p:embed/>
                </p:oleObj>
              </mc:Choice>
              <mc:Fallback>
                <p:oleObj name="Equation" r:id="rId8" imgW="3720960" imgH="787320" progId="Equation.DSMT4">
                  <p:embed/>
                  <p:pic>
                    <p:nvPicPr>
                      <p:cNvPr id="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1971675"/>
                        <a:ext cx="4805363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596359" y="3789040"/>
            <a:ext cx="3615601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4381672" y="3771104"/>
            <a:ext cx="267433" cy="2744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1043608" y="3789040"/>
            <a:ext cx="267433" cy="2744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>
            <a:stCxn id="17" idx="3"/>
            <a:endCxn id="16" idx="1"/>
          </p:cNvCxnSpPr>
          <p:nvPr/>
        </p:nvCxnSpPr>
        <p:spPr bwMode="auto">
          <a:xfrm flipV="1">
            <a:off x="1311041" y="5143361"/>
            <a:ext cx="3070631" cy="17936"/>
          </a:xfrm>
          <a:prstGeom prst="line">
            <a:avLst/>
          </a:prstGeom>
          <a:noFill/>
          <a:ln>
            <a:solidFill>
              <a:srgbClr val="FF0000"/>
            </a:solidFill>
          </a:ln>
        </p:spPr>
      </p:cxnSp>
      <p:sp>
        <p:nvSpPr>
          <p:cNvPr id="7" name="文本框 6"/>
          <p:cNvSpPr txBox="1"/>
          <p:nvPr/>
        </p:nvSpPr>
        <p:spPr>
          <a:xfrm>
            <a:off x="1338649" y="4731845"/>
            <a:ext cx="3005951" cy="4001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i="0" dirty="0"/>
              <a:t>两</a:t>
            </a:r>
            <a:r>
              <a:rPr lang="zh-CN" altLang="en-US" sz="2000" i="0" dirty="0" smtClean="0"/>
              <a:t>列对应值相加后取最小</a:t>
            </a:r>
            <a:endParaRPr lang="zh-CN" altLang="en-US" sz="2000" i="0" dirty="0"/>
          </a:p>
        </p:txBody>
      </p:sp>
      <p:sp>
        <p:nvSpPr>
          <p:cNvPr id="21" name="矩形 20"/>
          <p:cNvSpPr/>
          <p:nvPr/>
        </p:nvSpPr>
        <p:spPr bwMode="auto">
          <a:xfrm>
            <a:off x="4986118" y="4170237"/>
            <a:ext cx="284745" cy="214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7" grpId="0" animBg="1"/>
      <p:bldP spid="7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9.3.2 </a:t>
            </a:r>
            <a:r>
              <a:rPr lang="zh-CN" altLang="en-US" dirty="0"/>
              <a:t>最短路算法</a:t>
            </a:r>
            <a:endParaRPr lang="zh-CN" altLang="en-US" dirty="0" smtClean="0"/>
          </a:p>
        </p:txBody>
      </p:sp>
      <p:sp>
        <p:nvSpPr>
          <p:cNvPr id="80900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268760"/>
            <a:ext cx="7661275" cy="2062103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9-12  </a:t>
            </a:r>
            <a:r>
              <a:rPr lang="zh-CN" altLang="en-US" dirty="0" smtClean="0"/>
              <a:t>求图所示赋权有向图中从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 smtClean="0"/>
              <a:t>1</a:t>
            </a:r>
            <a:r>
              <a:rPr lang="zh-CN" altLang="en-US" dirty="0" smtClean="0"/>
              <a:t>到各点的最短路。</a:t>
            </a:r>
          </a:p>
          <a:p>
            <a:pPr lvl="1"/>
            <a:r>
              <a:rPr lang="zh-CN" altLang="en-US" dirty="0" smtClean="0">
                <a:latin typeface="Times New Roman" panose="02020603050405020304" pitchFamily="18" charset="0"/>
              </a:rPr>
              <a:t>寻求</a:t>
            </a:r>
            <a:r>
              <a:rPr lang="zh-CN" altLang="en-US" dirty="0">
                <a:latin typeface="Times New Roman" panose="02020603050405020304" pitchFamily="18" charset="0"/>
              </a:rPr>
              <a:t>最短路的另一个办法是在求出最短路的权以后，采用</a:t>
            </a:r>
            <a:r>
              <a:rPr lang="zh-CN" altLang="en-US" i="1" dirty="0">
                <a:latin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反向追踪</a:t>
            </a:r>
            <a:r>
              <a:rPr lang="zh-CN" altLang="en-US" i="1" dirty="0"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</a:rPr>
              <a:t>的方法。比如已知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，则寻求一个点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，使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)+</a:t>
            </a:r>
            <a:r>
              <a:rPr lang="en-US" altLang="zh-CN" i="1" dirty="0" err="1">
                <a:latin typeface="Times New Roman" panose="02020603050405020304" pitchFamily="18" charset="0"/>
              </a:rPr>
              <a:t>w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=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，记录下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 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，再考查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，寻求一点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，使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)+</a:t>
            </a:r>
            <a:r>
              <a:rPr lang="en-US" altLang="zh-CN" i="1" dirty="0" err="1">
                <a:latin typeface="Times New Roman" panose="02020603050405020304" pitchFamily="18" charset="0"/>
              </a:rPr>
              <a:t>w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 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k</a:t>
            </a:r>
            <a:r>
              <a:rPr lang="en-US" altLang="zh-CN" dirty="0" smtClean="0">
                <a:latin typeface="Times New Roman" panose="02020603050405020304" pitchFamily="18" charset="0"/>
              </a:rPr>
              <a:t>=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 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，如此等等，直至</a:t>
            </a:r>
            <a:r>
              <a:rPr lang="zh-CN" altLang="en-US" dirty="0" smtClean="0">
                <a:latin typeface="Times New Roman" panose="02020603050405020304" pitchFamily="18" charset="0"/>
              </a:rPr>
              <a:t>到达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为止</a:t>
            </a:r>
            <a:r>
              <a:rPr lang="zh-CN" altLang="en-US" dirty="0">
                <a:latin typeface="Times New Roman" panose="02020603050405020304" pitchFamily="18" charset="0"/>
              </a:rPr>
              <a:t>，于是</a:t>
            </a:r>
            <a:r>
              <a:rPr lang="zh-CN" altLang="en-US" dirty="0" smtClean="0">
                <a:latin typeface="Times New Roman" panose="02020603050405020304" pitchFamily="18" charset="0"/>
              </a:rPr>
              <a:t>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latin typeface="Times New Roman" panose="02020603050405020304" pitchFamily="18" charset="0"/>
              </a:rPr>
              <a:t>到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的最短路是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s</a:t>
            </a:r>
            <a:r>
              <a:rPr lang="en-US" altLang="zh-CN" dirty="0" smtClean="0">
                <a:latin typeface="Times New Roman" panose="02020603050405020304" pitchFamily="18" charset="0"/>
              </a:rPr>
              <a:t>,…,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en-US" altLang="zh-CN" sz="2400" dirty="0" smtClean="0"/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9.3.2 </a:t>
            </a:r>
            <a:r>
              <a:rPr lang="zh-CN" altLang="en-US" dirty="0"/>
              <a:t>最短路算法</a:t>
            </a:r>
            <a:endParaRPr lang="zh-CN" altLang="en-US" dirty="0" smtClean="0"/>
          </a:p>
        </p:txBody>
      </p:sp>
      <p:sp>
        <p:nvSpPr>
          <p:cNvPr id="81924" name="Rectangle 7"/>
          <p:cNvSpPr>
            <a:spLocks noChangeArrowheads="1"/>
          </p:cNvSpPr>
          <p:nvPr/>
        </p:nvSpPr>
        <p:spPr bwMode="auto">
          <a:xfrm>
            <a:off x="0" y="2811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2941" y="4752551"/>
                <a:ext cx="7878117" cy="1832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  <a:buFontTx/>
                  <a:buChar char="•"/>
                </a:pPr>
                <a:r>
                  <a:rPr lang="zh-CN" altLang="en-US" sz="2400" b="1" i="0" dirty="0" smtClean="0">
                    <a:latin typeface="Times New Roman" panose="02020603050405020304" pitchFamily="18" charset="0"/>
                  </a:rPr>
                  <a:t>如例</a:t>
                </a:r>
                <a:r>
                  <a:rPr lang="en-US" altLang="zh-CN" sz="2400" b="1" i="0" dirty="0">
                    <a:latin typeface="Times New Roman" panose="02020603050405020304" pitchFamily="18" charset="0"/>
                  </a:rPr>
                  <a:t>9-3</a:t>
                </a:r>
                <a:r>
                  <a:rPr lang="zh-CN" altLang="en-US" sz="2400" b="1" i="0" dirty="0">
                    <a:latin typeface="Times New Roman" panose="02020603050405020304" pitchFamily="18" charset="0"/>
                  </a:rPr>
                  <a:t>，由</a:t>
                </a:r>
                <a:r>
                  <a:rPr lang="zh-CN" altLang="en-US" sz="2400" b="1" i="0" dirty="0" smtClean="0">
                    <a:latin typeface="Times New Roman" panose="02020603050405020304" pitchFamily="18" charset="0"/>
                  </a:rPr>
                  <a:t>表知，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sup>
                    </m:sSup>
                    <m:r>
                      <a:rPr lang="en-US" altLang="zh-CN" sz="2400" b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a:rPr lang="en-US" altLang="zh-CN" sz="2400" b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400" b="1" i="0" dirty="0">
                    <a:latin typeface="Times New Roman" panose="02020603050405020304" pitchFamily="18" charset="0"/>
                  </a:rPr>
                  <a:t>=6</a:t>
                </a:r>
                <a:endParaRPr lang="zh-CN" altLang="en-US" sz="2400" b="1" i="0" dirty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30000"/>
                  </a:lnSpc>
                  <a:buFontTx/>
                  <a:buChar char="•"/>
                </a:pP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d>
                          <m:d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(v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6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)+w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68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=(-1)+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7=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a:rPr lang="en-US" altLang="zh-CN" sz="2000" b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000" b="1" dirty="0" smtClean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故记下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6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8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。</a:t>
                </a:r>
              </a:p>
              <a:p>
                <a:pPr lvl="1">
                  <a:lnSpc>
                    <a:spcPct val="130000"/>
                  </a:lnSpc>
                  <a:buFontTx/>
                  <a:buChar char="•"/>
                </a:pP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(v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)+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w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36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=(-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2)+1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(v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6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故记下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6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。</a:t>
                </a:r>
              </a:p>
              <a:p>
                <a:pPr lvl="1">
                  <a:lnSpc>
                    <a:spcPct val="130000"/>
                  </a:lnSpc>
                  <a:buFontTx/>
                  <a:buChar char="•"/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b="1" dirty="0">
                    <a:latin typeface="Times New Roman" panose="02020603050405020304" pitchFamily="18" charset="0"/>
                  </a:rPr>
                  <a:t>(v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)=-2</a:t>
                </a:r>
                <a:r>
                  <a:rPr lang="zh-CN" altLang="en-US" sz="2000" b="1" dirty="0" smtClean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从而从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到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8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的最短路是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6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,v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8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41" y="4752551"/>
                <a:ext cx="7878117" cy="1832489"/>
              </a:xfrm>
              <a:prstGeom prst="rect">
                <a:avLst/>
              </a:prstGeom>
              <a:blipFill>
                <a:blip r:embed="rId3"/>
                <a:stretch>
                  <a:fillRect l="-1084"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2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785084"/>
              </p:ext>
            </p:extLst>
          </p:nvPr>
        </p:nvGraphicFramePr>
        <p:xfrm>
          <a:off x="998538" y="1196975"/>
          <a:ext cx="7127875" cy="392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40" name="Document" r:id="rId4" imgW="4005141" imgH="2204143" progId="Word.Document.8">
                  <p:embed/>
                </p:oleObj>
              </mc:Choice>
              <mc:Fallback>
                <p:oleObj name="Document" r:id="rId4" imgW="4005141" imgH="2204143" progId="Word.Document.8">
                  <p:embed/>
                  <p:pic>
                    <p:nvPicPr>
                      <p:cNvPr id="78857" name="Object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1196975"/>
                        <a:ext cx="7127875" cy="39211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 bwMode="auto">
          <a:xfrm>
            <a:off x="5076056" y="3789040"/>
            <a:ext cx="1383353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804248" y="4464930"/>
            <a:ext cx="284745" cy="214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 flipV="1">
            <a:off x="5767732" y="4005064"/>
            <a:ext cx="1180532" cy="421111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</p:cxnSp>
      <p:sp>
        <p:nvSpPr>
          <p:cNvPr id="20" name="矩形 19"/>
          <p:cNvSpPr/>
          <p:nvPr/>
        </p:nvSpPr>
        <p:spPr bwMode="auto">
          <a:xfrm>
            <a:off x="4218981" y="2720008"/>
            <a:ext cx="1721171" cy="276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163610" y="3790383"/>
            <a:ext cx="284745" cy="214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endCxn id="20" idx="2"/>
          </p:cNvCxnSpPr>
          <p:nvPr/>
        </p:nvCxnSpPr>
        <p:spPr bwMode="auto">
          <a:xfrm flipH="1" flipV="1">
            <a:off x="5079567" y="2996952"/>
            <a:ext cx="1278431" cy="783612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</p:cxnSp>
      <p:sp>
        <p:nvSpPr>
          <p:cNvPr id="24" name="矩形 23"/>
          <p:cNvSpPr/>
          <p:nvPr/>
        </p:nvSpPr>
        <p:spPr bwMode="auto">
          <a:xfrm>
            <a:off x="5576409" y="2717504"/>
            <a:ext cx="284745" cy="214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20" grpId="0" animBg="1"/>
      <p:bldP spid="21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9.3.2 </a:t>
            </a:r>
            <a:r>
              <a:rPr lang="zh-CN" altLang="en-US" dirty="0"/>
              <a:t>最短路算法</a:t>
            </a:r>
            <a:endParaRPr lang="zh-CN" altLang="en-US" dirty="0" smtClean="0"/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5102935"/>
          </a:xfrm>
        </p:spPr>
        <p:txBody>
          <a:bodyPr/>
          <a:lstStyle/>
          <a:p>
            <a:pPr eaLnBrk="1" hangingPunct="1"/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  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设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是赋权有向图，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中的一个回路，如果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的权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w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小于零，则称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中的一个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负回路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如果赋权有向图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dirty="0" smtClean="0">
                <a:latin typeface="Times New Roman" panose="02020603050405020304" pitchFamily="18" charset="0"/>
              </a:rPr>
              <a:t>中存在负回路，那么从到某一点的最短路就可能不存在。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因此，递推算法收敛的充分条件就是赋权有向图中不存在负回路。</a:t>
            </a:r>
          </a:p>
          <a:p>
            <a:pPr eaLnBrk="1" hangingPunct="1"/>
            <a:r>
              <a:rPr lang="zh-CN" altLang="en-US" sz="2400" dirty="0" smtClean="0">
                <a:latin typeface="Times New Roman" panose="02020603050405020304" pitchFamily="18" charset="0"/>
              </a:rPr>
              <a:t>不难证明：</a:t>
            </a:r>
          </a:p>
          <a:p>
            <a:pPr lvl="1" eaLnBrk="1" hangingPunct="1"/>
            <a:r>
              <a:rPr lang="en-US" altLang="zh-CN" sz="2000" dirty="0" smtClean="0">
                <a:latin typeface="Times New Roman" panose="02020603050405020304" pitchFamily="18" charset="0"/>
              </a:rPr>
              <a:t>(1)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如果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是不含负回路的赋权有向图，那么，从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到任一个点的最短路必可取为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初等路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，从而最多包含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p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-2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个中间点；</a:t>
            </a:r>
          </a:p>
          <a:p>
            <a:pPr lvl="1" eaLnBrk="1" hangingPunct="1"/>
            <a:r>
              <a:rPr lang="en-US" altLang="zh-CN" sz="2000" dirty="0" smtClean="0">
                <a:latin typeface="Times New Roman" panose="02020603050405020304" pitchFamily="18" charset="0"/>
              </a:rPr>
              <a:t>(2)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上述递推公式中的              是在至多包含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t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-1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个中间点的限制条件下，从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到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的最短路的权。</a:t>
            </a:r>
          </a:p>
          <a:p>
            <a:pPr lvl="1" eaLnBrk="1" hangingPunct="1"/>
            <a:r>
              <a:rPr lang="zh-CN" altLang="en-US" sz="2000" dirty="0" smtClean="0">
                <a:latin typeface="Times New Roman" panose="02020603050405020304" pitchFamily="18" charset="0"/>
              </a:rPr>
              <a:t>由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(1)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、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(2)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可知：当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中不含负回路时，上述算法最多经过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p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-1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次迭代必定收敛，即对所有的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j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=1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p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，均有                                          ，从而求出从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800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到各个顶点的最短路的权。</a:t>
            </a:r>
            <a:endParaRPr lang="zh-CN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829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539333"/>
              </p:ext>
            </p:extLst>
          </p:nvPr>
        </p:nvGraphicFramePr>
        <p:xfrm>
          <a:off x="4419426" y="4437112"/>
          <a:ext cx="872654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5" name="Equation" r:id="rId3" imgW="647419" imgH="253890" progId="Equation.DSMT4">
                  <p:embed/>
                </p:oleObj>
              </mc:Choice>
              <mc:Fallback>
                <p:oleObj name="Equation" r:id="rId3" imgW="647419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426" y="4437112"/>
                        <a:ext cx="872654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8295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84591"/>
              </p:ext>
            </p:extLst>
          </p:nvPr>
        </p:nvGraphicFramePr>
        <p:xfrm>
          <a:off x="2353853" y="5755544"/>
          <a:ext cx="25019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" r:id="rId5" imgW="1612900" imgH="254000" progId="Equation.DSMT4">
                  <p:embed/>
                </p:oleObj>
              </mc:Choice>
              <mc:Fallback>
                <p:oleObj r:id="rId5" imgW="16129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3853" y="5755544"/>
                        <a:ext cx="25019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662" y="0"/>
            <a:ext cx="2134485" cy="10527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9.4 </a:t>
            </a:r>
            <a:r>
              <a:rPr lang="zh-CN" altLang="en-US" dirty="0" smtClean="0"/>
              <a:t>网络</a:t>
            </a:r>
            <a:r>
              <a:rPr lang="zh-CN" altLang="en-US" dirty="0"/>
              <a:t>最大流问题</a:t>
            </a:r>
            <a:endParaRPr lang="zh-CN" altLang="en-US" dirty="0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319472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2000" dirty="0"/>
              <a:t>许多系统包含了流量问题。例如，公路系统中有车辆流，控制系统中有信息流，供水系统中有水流，金融系统中有现金流等。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zh-CN" altLang="en-US" sz="1600" dirty="0" smtClean="0"/>
              <a:t>左图是</a:t>
            </a:r>
            <a:r>
              <a:rPr lang="zh-CN" altLang="en-US" sz="1600" dirty="0"/>
              <a:t>联结某产品产地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/>
              <a:t>和销地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600" dirty="0"/>
              <a:t>的交通网，每一弧</a:t>
            </a:r>
            <a:r>
              <a:rPr lang="en-US" altLang="zh-CN" sz="1600" dirty="0"/>
              <a:t>(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i="1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600" i="1" baseline="-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i="1" baseline="-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1600" dirty="0"/>
              <a:t>)</a:t>
            </a:r>
            <a:r>
              <a:rPr lang="zh-CN" altLang="en-US" sz="1600" dirty="0"/>
              <a:t>代表</a:t>
            </a:r>
            <a:r>
              <a:rPr lang="zh-CN" altLang="en-US" sz="1600" dirty="0" smtClean="0"/>
              <a:t>从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600" dirty="0" smtClean="0"/>
              <a:t>到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1600" dirty="0" smtClean="0"/>
              <a:t>的</a:t>
            </a:r>
            <a:r>
              <a:rPr lang="zh-CN" altLang="en-US" sz="1600" dirty="0"/>
              <a:t>运输线，产品经这条弧</a:t>
            </a:r>
            <a:r>
              <a:rPr lang="zh-CN" altLang="en-US" sz="1600" dirty="0" smtClean="0"/>
              <a:t>由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600" dirty="0" smtClean="0"/>
              <a:t>输送到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16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 smtClean="0"/>
              <a:t>，</a:t>
            </a:r>
            <a:r>
              <a:rPr lang="zh-CN" altLang="en-US" sz="1600" dirty="0"/>
              <a:t>弧旁的数字表示这条运输线的</a:t>
            </a:r>
            <a:r>
              <a:rPr lang="zh-CN" altLang="en-US" sz="1600" dirty="0">
                <a:solidFill>
                  <a:srgbClr val="FF0000"/>
                </a:solidFill>
              </a:rPr>
              <a:t>最大</a:t>
            </a:r>
            <a:r>
              <a:rPr lang="zh-CN" altLang="en-US" sz="1600" dirty="0" smtClean="0">
                <a:solidFill>
                  <a:srgbClr val="FF0000"/>
                </a:solidFill>
              </a:rPr>
              <a:t>通过能力</a:t>
            </a:r>
            <a:r>
              <a:rPr lang="en-US" altLang="zh-CN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1600" dirty="0" smtClean="0"/>
              <a:t>。</a:t>
            </a:r>
            <a:r>
              <a:rPr lang="zh-CN" altLang="en-US" sz="1600" dirty="0"/>
              <a:t>产品经过交通网</a:t>
            </a:r>
            <a:r>
              <a:rPr lang="zh-CN" altLang="en-US" sz="1600" dirty="0" smtClean="0"/>
              <a:t>从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 smtClean="0"/>
              <a:t>输送到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zh-CN" altLang="en-US" sz="1600" dirty="0" smtClean="0"/>
              <a:t>。</a:t>
            </a:r>
            <a:r>
              <a:rPr lang="zh-CN" altLang="en-US" sz="1600" dirty="0"/>
              <a:t>现在要求制定一个运输方案使</a:t>
            </a:r>
            <a:r>
              <a:rPr lang="zh-CN" altLang="en-US" sz="1600" dirty="0" smtClean="0"/>
              <a:t>从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 smtClean="0"/>
              <a:t>运到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600" dirty="0" smtClean="0"/>
              <a:t>的</a:t>
            </a:r>
            <a:r>
              <a:rPr lang="zh-CN" altLang="en-US" sz="1600" dirty="0" smtClean="0">
                <a:solidFill>
                  <a:srgbClr val="FF0000"/>
                </a:solidFill>
              </a:rPr>
              <a:t>产品</a:t>
            </a:r>
            <a:r>
              <a:rPr lang="zh-CN" altLang="en-US" sz="1600" dirty="0">
                <a:solidFill>
                  <a:srgbClr val="FF0000"/>
                </a:solidFill>
              </a:rPr>
              <a:t>输送</a:t>
            </a:r>
            <a:r>
              <a:rPr lang="zh-CN" altLang="en-US" sz="1600" dirty="0" smtClean="0">
                <a:solidFill>
                  <a:srgbClr val="FF0000"/>
                </a:solidFill>
              </a:rPr>
              <a:t>数量最多</a:t>
            </a:r>
            <a:r>
              <a:rPr lang="zh-CN" altLang="en-US" sz="1600" dirty="0"/>
              <a:t>。</a:t>
            </a:r>
            <a:endParaRPr lang="zh-CN" altLang="en-US" sz="1600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n"/>
            </a:pPr>
            <a:r>
              <a:rPr lang="zh-CN" altLang="en-US" sz="1600" dirty="0" smtClean="0">
                <a:latin typeface="Times New Roman" panose="02020603050405020304" pitchFamily="18" charset="0"/>
              </a:rPr>
              <a:t>右图给</a:t>
            </a:r>
            <a:r>
              <a:rPr lang="zh-CN" altLang="en-US" sz="1600" dirty="0">
                <a:latin typeface="Times New Roman" panose="02020603050405020304" pitchFamily="18" charset="0"/>
              </a:rPr>
              <a:t>出了一个运输方案，每条弧旁的数字表示在这个方案中，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每条运输线上的运输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数量</a:t>
            </a:r>
            <a:r>
              <a:rPr lang="en-US" altLang="zh-CN" sz="16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16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 smtClean="0">
                <a:latin typeface="Times New Roman" panose="02020603050405020304" pitchFamily="18" charset="0"/>
              </a:rPr>
              <a:t>。</a:t>
            </a:r>
            <a:r>
              <a:rPr lang="zh-CN" altLang="en-US" sz="1600" dirty="0">
                <a:latin typeface="Times New Roman" panose="02020603050405020304" pitchFamily="18" charset="0"/>
              </a:rPr>
              <a:t>这个方案使</a:t>
            </a:r>
            <a:r>
              <a:rPr lang="en-US" altLang="zh-CN" sz="1600" dirty="0">
                <a:latin typeface="Times New Roman" panose="02020603050405020304" pitchFamily="18" charset="0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</a:rPr>
              <a:t>个单位的产品</a:t>
            </a:r>
            <a:r>
              <a:rPr lang="zh-CN" altLang="en-US" sz="1600" dirty="0" smtClean="0">
                <a:latin typeface="Times New Roman" panose="02020603050405020304" pitchFamily="18" charset="0"/>
              </a:rPr>
              <a:t>从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 smtClean="0">
                <a:latin typeface="Times New Roman" panose="02020603050405020304" pitchFamily="18" charset="0"/>
              </a:rPr>
              <a:t>运到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zh-CN" altLang="en-US" sz="1600" dirty="0" smtClean="0">
                <a:latin typeface="Times New Roman" panose="02020603050405020304" pitchFamily="18" charset="0"/>
              </a:rPr>
              <a:t>，</a:t>
            </a:r>
            <a:r>
              <a:rPr lang="zh-CN" altLang="en-US" sz="1600" dirty="0">
                <a:latin typeface="Times New Roman" panose="02020603050405020304" pitchFamily="18" charset="0"/>
              </a:rPr>
              <a:t>在这个交通网上输送</a:t>
            </a:r>
            <a:r>
              <a:rPr lang="zh-CN" altLang="en-US" sz="1600" dirty="0" smtClean="0">
                <a:latin typeface="Times New Roman" panose="02020603050405020304" pitchFamily="18" charset="0"/>
              </a:rPr>
              <a:t>量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是否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还可以增多</a:t>
            </a:r>
            <a:r>
              <a:rPr lang="zh-CN" altLang="en-US" sz="1600" dirty="0">
                <a:latin typeface="Times New Roman" panose="02020603050405020304" pitchFamily="18" charset="0"/>
              </a:rPr>
              <a:t>，或者说这个运输网络中，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最大输送量是多少呢</a:t>
            </a:r>
            <a:r>
              <a:rPr lang="en-US" altLang="zh-CN" sz="1600" dirty="0">
                <a:latin typeface="Times New Roman" panose="02020603050405020304" pitchFamily="18" charset="0"/>
              </a:rPr>
              <a:t>?</a:t>
            </a:r>
            <a:r>
              <a:rPr lang="zh-CN" altLang="en-US" sz="1600" dirty="0">
                <a:latin typeface="Times New Roman" panose="02020603050405020304" pitchFamily="18" charset="0"/>
              </a:rPr>
              <a:t>本节就是要研究类似这样的问题。</a:t>
            </a:r>
            <a:r>
              <a:rPr lang="zh-CN" altLang="en-US" sz="1600" dirty="0"/>
              <a:t> </a:t>
            </a:r>
          </a:p>
          <a:p>
            <a:endParaRPr lang="zh-CN" altLang="en-US" sz="1600" dirty="0"/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4431881"/>
            <a:ext cx="3528392" cy="206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015" y="4431880"/>
            <a:ext cx="3715264" cy="2064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6" name="Text Box 6"/>
          <p:cNvSpPr txBox="1">
            <a:spLocks noChangeArrowheads="1"/>
          </p:cNvSpPr>
          <p:nvPr/>
        </p:nvSpPr>
        <p:spPr bwMode="auto">
          <a:xfrm>
            <a:off x="1834828" y="6526014"/>
            <a:ext cx="12239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2000" i="0">
                <a:solidFill>
                  <a:srgbClr val="FF0000"/>
                </a:solidFill>
              </a:rPr>
              <a:t>图</a:t>
            </a:r>
            <a:r>
              <a:rPr lang="en-US" altLang="zh-CN" sz="2000" i="0">
                <a:solidFill>
                  <a:srgbClr val="FF0000"/>
                </a:solidFill>
              </a:rPr>
              <a:t>9-23</a:t>
            </a:r>
          </a:p>
        </p:txBody>
      </p:sp>
      <p:sp>
        <p:nvSpPr>
          <p:cNvPr id="92167" name="Text Box 7"/>
          <p:cNvSpPr txBox="1">
            <a:spLocks noChangeArrowheads="1"/>
          </p:cNvSpPr>
          <p:nvPr/>
        </p:nvSpPr>
        <p:spPr bwMode="auto">
          <a:xfrm>
            <a:off x="6174653" y="6558319"/>
            <a:ext cx="12255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2000" i="0">
                <a:solidFill>
                  <a:srgbClr val="FF0000"/>
                </a:solidFill>
              </a:rPr>
              <a:t>图</a:t>
            </a:r>
            <a:r>
              <a:rPr lang="en-US" altLang="zh-CN" sz="2000" i="0">
                <a:solidFill>
                  <a:srgbClr val="FF0000"/>
                </a:solidFill>
              </a:rPr>
              <a:t>9-24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5157192"/>
            <a:ext cx="2135403" cy="118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" y="2348881"/>
            <a:ext cx="2113196" cy="1236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776864" cy="484440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网络与流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6  </a:t>
            </a:r>
            <a:r>
              <a:rPr lang="zh-CN" altLang="en-US" dirty="0">
                <a:latin typeface="Times New Roman" panose="02020603050405020304" pitchFamily="18" charset="0"/>
              </a:rPr>
              <a:t>给一个有向图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=(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dirty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，在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中指定了一点称为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发点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记为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，而另一点称为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收点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记为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，其余的点叫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中间点</a:t>
            </a:r>
            <a:r>
              <a:rPr lang="zh-CN" altLang="en-US" dirty="0">
                <a:latin typeface="Times New Roman" panose="02020603050405020304" pitchFamily="18" charset="0"/>
              </a:rPr>
              <a:t>。对于每一个弧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，对应有一个</a:t>
            </a:r>
            <a:r>
              <a:rPr lang="en-US" altLang="zh-CN" i="1" dirty="0" smtClean="0">
                <a:latin typeface="Times New Roman" panose="02020603050405020304" pitchFamily="18" charset="0"/>
              </a:rPr>
              <a:t>c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 ≥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</a:rPr>
              <a:t>简写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 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弧的容量</a:t>
            </a:r>
            <a:r>
              <a:rPr lang="zh-CN" altLang="en-US" dirty="0" smtClean="0">
                <a:latin typeface="Times New Roman" panose="02020603050405020304" pitchFamily="18" charset="0"/>
              </a:rPr>
              <a:t>。这样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叫作一个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网络</a:t>
            </a:r>
            <a:r>
              <a:rPr lang="zh-CN" altLang="en-US" dirty="0">
                <a:latin typeface="Times New Roman" panose="02020603050405020304" pitchFamily="18" charset="0"/>
              </a:rPr>
              <a:t>。记</a:t>
            </a:r>
            <a:r>
              <a:rPr lang="zh-CN" altLang="en-US" dirty="0" smtClean="0">
                <a:latin typeface="Times New Roman" panose="02020603050405020304" pitchFamily="18" charset="0"/>
              </a:rPr>
              <a:t>作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=(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C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网络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上的流</a:t>
            </a:r>
            <a:r>
              <a:rPr lang="zh-CN" altLang="en-US" dirty="0">
                <a:latin typeface="Times New Roman" panose="02020603050405020304" pitchFamily="18" charset="0"/>
              </a:rPr>
              <a:t>，是指定义在弧集合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上的一个函数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)}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zh-CN" altLang="en-US" dirty="0" smtClean="0">
                <a:latin typeface="Times New Roman" panose="02020603050405020304" pitchFamily="18" charset="0"/>
              </a:rPr>
              <a:t>并称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弧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上的流量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zh-CN" altLang="en-US" dirty="0" smtClean="0">
                <a:latin typeface="Times New Roman" panose="02020603050405020304" pitchFamily="18" charset="0"/>
              </a:rPr>
              <a:t>简记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smtClean="0">
                <a:latin typeface="Times New Roman" panose="02020603050405020304" pitchFamily="18" charset="0"/>
              </a:rPr>
              <a:t>i 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Tx/>
              <a:buChar char="•"/>
            </a:pPr>
            <a:r>
              <a:rPr lang="zh-CN" altLang="en-US" dirty="0" smtClean="0">
                <a:latin typeface="Times New Roman" panose="02020603050405020304" pitchFamily="18" charset="0"/>
              </a:rPr>
              <a:t>例如</a:t>
            </a:r>
            <a:r>
              <a:rPr lang="en-US" altLang="zh-CN" dirty="0" smtClean="0">
                <a:latin typeface="Times New Roman" panose="02020603050405020304" pitchFamily="18" charset="0"/>
              </a:rPr>
              <a:t>:</a:t>
            </a:r>
            <a:r>
              <a:rPr lang="zh-CN" altLang="en-US" dirty="0" smtClean="0">
                <a:latin typeface="Times New Roman" panose="02020603050405020304" pitchFamily="18" charset="0"/>
              </a:rPr>
              <a:t>左上图是</a:t>
            </a:r>
            <a:r>
              <a:rPr lang="zh-CN" altLang="en-US" dirty="0">
                <a:latin typeface="Times New Roman" panose="02020603050405020304" pitchFamily="18" charset="0"/>
              </a:rPr>
              <a:t>一个网络，指定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是发点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 smtClean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是收点，其他的点是中间</a:t>
            </a:r>
            <a:r>
              <a:rPr lang="zh-CN" altLang="en-US" dirty="0" smtClean="0">
                <a:latin typeface="Times New Roman" panose="02020603050405020304" pitchFamily="18" charset="0"/>
              </a:rPr>
              <a:t>点，弧</a:t>
            </a:r>
            <a:r>
              <a:rPr lang="zh-CN" altLang="en-US" dirty="0">
                <a:latin typeface="Times New Roman" panose="02020603050405020304" pitchFamily="18" charset="0"/>
              </a:rPr>
              <a:t>旁的数字为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pPr lvl="1">
              <a:lnSpc>
                <a:spcPct val="120000"/>
              </a:lnSpc>
              <a:buFontTx/>
              <a:buChar char="•"/>
            </a:pPr>
            <a:r>
              <a:rPr lang="zh-CN" altLang="en-US" dirty="0">
                <a:latin typeface="Times New Roman" panose="02020603050405020304" pitchFamily="18" charset="0"/>
              </a:rPr>
              <a:t>左下</a:t>
            </a:r>
            <a:r>
              <a:rPr lang="zh-CN" altLang="en-US" dirty="0" smtClean="0">
                <a:latin typeface="Times New Roman" panose="02020603050405020304" pitchFamily="18" charset="0"/>
              </a:rPr>
              <a:t>图为运输方案，可看作是上图网络</a:t>
            </a:r>
            <a:r>
              <a:rPr lang="zh-CN" altLang="en-US" dirty="0">
                <a:latin typeface="Times New Roman" panose="02020603050405020304" pitchFamily="18" charset="0"/>
              </a:rPr>
              <a:t>上的一个流，每个弧上的运输量就是该弧上的</a:t>
            </a:r>
            <a:r>
              <a:rPr lang="zh-CN" altLang="en-US" dirty="0" smtClean="0">
                <a:latin typeface="Times New Roman" panose="02020603050405020304" pitchFamily="18" charset="0"/>
              </a:rPr>
              <a:t>流量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 j 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dirty="0">
                <a:latin typeface="Times New Roman" panose="02020603050405020304" pitchFamily="18" charset="0"/>
              </a:rPr>
              <a:t>=5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30000" dirty="0">
                <a:latin typeface="Times New Roman" panose="02020603050405020304" pitchFamily="18" charset="0"/>
              </a:rPr>
              <a:t>24</a:t>
            </a:r>
            <a:r>
              <a:rPr lang="en-US" altLang="zh-CN" dirty="0">
                <a:latin typeface="Times New Roman" panose="02020603050405020304" pitchFamily="18" charset="0"/>
              </a:rPr>
              <a:t>=2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30000" dirty="0">
                <a:latin typeface="Times New Roman" panose="02020603050405020304" pitchFamily="18" charset="0"/>
              </a:rPr>
              <a:t>13</a:t>
            </a:r>
            <a:r>
              <a:rPr lang="en-US" altLang="zh-CN" dirty="0">
                <a:latin typeface="Times New Roman" panose="02020603050405020304" pitchFamily="18" charset="0"/>
              </a:rPr>
              <a:t>=3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30000" dirty="0">
                <a:latin typeface="Times New Roman" panose="02020603050405020304" pitchFamily="18" charset="0"/>
              </a:rPr>
              <a:t>34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zh-CN" altLang="en-US" dirty="0">
                <a:latin typeface="Times New Roman" panose="02020603050405020304" pitchFamily="18" charset="0"/>
              </a:rPr>
              <a:t>等。 </a:t>
            </a:r>
            <a:endParaRPr lang="zh-CN" altLang="en-US" dirty="0"/>
          </a:p>
        </p:txBody>
      </p:sp>
      <p:sp>
        <p:nvSpPr>
          <p:cNvPr id="94212" name="Rectangle 7"/>
          <p:cNvSpPr>
            <a:spLocks noChangeArrowheads="1"/>
          </p:cNvSpPr>
          <p:nvPr/>
        </p:nvSpPr>
        <p:spPr bwMode="auto">
          <a:xfrm>
            <a:off x="-2386013" y="2659063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95236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3847207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2. </a:t>
            </a:r>
            <a:r>
              <a:rPr lang="zh-CN" altLang="en-US" dirty="0">
                <a:solidFill>
                  <a:srgbClr val="FF0000"/>
                </a:solidFill>
              </a:rPr>
              <a:t>可行流与最大流</a:t>
            </a:r>
          </a:p>
          <a:p>
            <a:pPr lvl="1" eaLnBrk="1" hangingPunct="1"/>
            <a:r>
              <a:rPr lang="zh-CN" altLang="en-US" dirty="0" smtClean="0"/>
              <a:t>在</a:t>
            </a:r>
            <a:r>
              <a:rPr lang="zh-CN" altLang="en-US" dirty="0"/>
              <a:t>运输网络的实际问题中可以看出，对于流</a:t>
            </a:r>
            <a:r>
              <a:rPr lang="zh-CN" altLang="en-US" dirty="0" smtClean="0"/>
              <a:t>有明显</a:t>
            </a:r>
            <a:r>
              <a:rPr lang="zh-CN" altLang="en-US" dirty="0"/>
              <a:t>的要求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0000"/>
                </a:solidFill>
              </a:rPr>
              <a:t>每个</a:t>
            </a:r>
            <a:r>
              <a:rPr lang="zh-CN" altLang="en-US" dirty="0">
                <a:solidFill>
                  <a:srgbClr val="FF0000"/>
                </a:solidFill>
              </a:rPr>
              <a:t>弧上的</a:t>
            </a:r>
            <a:r>
              <a:rPr lang="zh-CN" altLang="en-US" dirty="0" smtClean="0">
                <a:solidFill>
                  <a:srgbClr val="FF0000"/>
                </a:solidFill>
              </a:rPr>
              <a:t>流量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i j</a:t>
            </a:r>
            <a:r>
              <a:rPr lang="zh-CN" altLang="en-US" dirty="0" smtClean="0"/>
              <a:t>不能</a:t>
            </a:r>
            <a:r>
              <a:rPr lang="zh-CN" altLang="en-US" dirty="0"/>
              <a:t>超过该弧的最大通过能力</a:t>
            </a:r>
            <a:r>
              <a:rPr lang="en-US" altLang="zh-CN" dirty="0"/>
              <a:t>(</a:t>
            </a:r>
            <a:r>
              <a:rPr lang="zh-CN" altLang="en-US" dirty="0"/>
              <a:t>即弧的</a:t>
            </a:r>
            <a:r>
              <a:rPr lang="zh-CN" altLang="en-US" dirty="0" smtClean="0"/>
              <a:t>容量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i j</a:t>
            </a:r>
            <a:r>
              <a:rPr lang="en-US" altLang="zh-CN" dirty="0" smtClean="0"/>
              <a:t>)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0000"/>
                </a:solidFill>
              </a:rPr>
              <a:t>中间</a:t>
            </a:r>
            <a:r>
              <a:rPr lang="zh-CN" altLang="en-US" dirty="0">
                <a:solidFill>
                  <a:srgbClr val="FF0000"/>
                </a:solidFill>
              </a:rPr>
              <a:t>点的</a:t>
            </a:r>
            <a:r>
              <a:rPr lang="zh-CN" altLang="en-US" dirty="0" smtClean="0">
                <a:solidFill>
                  <a:srgbClr val="FF0000"/>
                </a:solidFill>
              </a:rPr>
              <a:t>流量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i j</a:t>
            </a:r>
            <a:r>
              <a:rPr lang="zh-CN" altLang="en-US" dirty="0" smtClean="0">
                <a:solidFill>
                  <a:srgbClr val="FF0000"/>
                </a:solidFill>
              </a:rPr>
              <a:t>为</a:t>
            </a:r>
            <a:r>
              <a:rPr lang="zh-CN" altLang="en-US" dirty="0">
                <a:solidFill>
                  <a:srgbClr val="FF0000"/>
                </a:solidFill>
              </a:rPr>
              <a:t>零</a:t>
            </a:r>
            <a:r>
              <a:rPr lang="zh-CN" altLang="en-US" dirty="0"/>
              <a:t>。因为对于每个点，运出这点的产品总量与运进这点的产品总量之差，是这点的净输出量，简称为是这一点的流量</a:t>
            </a:r>
            <a:r>
              <a:rPr lang="zh-CN" altLang="en-US" dirty="0" smtClean="0"/>
              <a:t>；由于</a:t>
            </a:r>
            <a:r>
              <a:rPr lang="zh-CN" altLang="en-US" dirty="0"/>
              <a:t>中间点只起转运作用，所以中间点的流量必为零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0000"/>
                </a:solidFill>
              </a:rPr>
              <a:t>发点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dirty="0" smtClean="0">
                <a:solidFill>
                  <a:srgbClr val="FF000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净流出量和收</a:t>
            </a:r>
            <a:r>
              <a:rPr lang="zh-CN" altLang="en-US" dirty="0" smtClean="0">
                <a:solidFill>
                  <a:srgbClr val="FF0000"/>
                </a:solidFill>
              </a:rPr>
              <a:t>点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 smtClean="0">
                <a:solidFill>
                  <a:srgbClr val="FF0000"/>
                </a:solidFill>
              </a:rPr>
              <a:t>的</a:t>
            </a:r>
            <a:r>
              <a:rPr lang="zh-CN" altLang="en-US" dirty="0">
                <a:solidFill>
                  <a:srgbClr val="FF0000"/>
                </a:solidFill>
              </a:rPr>
              <a:t>净流入量必相等</a:t>
            </a:r>
            <a:r>
              <a:rPr lang="zh-CN" altLang="en-US" dirty="0"/>
              <a:t>，也是这个方案的总输送</a:t>
            </a:r>
            <a:r>
              <a:rPr lang="zh-CN" altLang="en-US" dirty="0" smtClean="0"/>
              <a:t>量。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000" dirty="0" smtClean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804591"/>
            <a:ext cx="3096344" cy="1720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511216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dirty="0" smtClean="0">
                <a:latin typeface="Times New Roman" panose="02020603050405020304" pitchFamily="18" charset="0"/>
              </a:rPr>
              <a:t>  </a:t>
            </a:r>
            <a:r>
              <a:rPr lang="zh-CN" altLang="en-US" dirty="0" smtClean="0">
                <a:latin typeface="Times New Roman" panose="02020603050405020304" pitchFamily="18" charset="0"/>
              </a:rPr>
              <a:t>满足下述条件的流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称为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可行流</a:t>
            </a:r>
            <a:r>
              <a:rPr lang="zh-CN" altLang="en-US" dirty="0" smtClean="0"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lnSpc>
                <a:spcPct val="8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       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(1)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容量限制条件：对每一弧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smtClean="0">
                <a:latin typeface="Times New Roman" panose="02020603050405020304" pitchFamily="18" charset="0"/>
              </a:rPr>
              <a:t>i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)∈A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</a:rPr>
              <a:t>0≤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 smtClean="0">
                <a:latin typeface="Times New Roman" panose="02020603050405020304" pitchFamily="18" charset="0"/>
              </a:rPr>
              <a:t>ij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≤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c</a:t>
            </a:r>
            <a:r>
              <a:rPr lang="en-US" altLang="zh-CN" sz="2000" i="1" baseline="-25000" dirty="0" smtClean="0">
                <a:latin typeface="Times New Roman" panose="02020603050405020304" pitchFamily="18" charset="0"/>
              </a:rPr>
              <a:t>ij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</a:rPr>
              <a:t>       (2)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平衡条件：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       对于中间点：流出量等于流入量，即对每个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sz="2000" dirty="0" err="1" smtClean="0">
                <a:latin typeface="Times New Roman" panose="02020603050405020304" pitchFamily="18" charset="0"/>
              </a:rPr>
              <a:t>≠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s,t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有</a:t>
            </a:r>
          </a:p>
          <a:p>
            <a:pPr eaLnBrk="1" hangingPunct="1">
              <a:lnSpc>
                <a:spcPct val="80000"/>
              </a:lnSpc>
            </a:pPr>
            <a:endParaRPr lang="zh-CN" altLang="en-US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对于发点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对于收点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t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，记</a:t>
            </a:r>
          </a:p>
          <a:p>
            <a:pPr eaLnBrk="1" hangingPunct="1">
              <a:lnSpc>
                <a:spcPct val="80000"/>
              </a:lnSpc>
            </a:pPr>
            <a:endParaRPr lang="zh-CN" altLang="en-US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        式中</a:t>
            </a:r>
            <a:r>
              <a:rPr lang="en-US" altLang="zh-CN" sz="2000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称为这个可行流的流量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，即发点的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净输出量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或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收点的净输入量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  <a:endParaRPr lang="zh-CN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962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87810"/>
              </p:ext>
            </p:extLst>
          </p:nvPr>
        </p:nvGraphicFramePr>
        <p:xfrm>
          <a:off x="3809630" y="3188437"/>
          <a:ext cx="2202056" cy="54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38" r:id="rId3" imgW="1524000" imgH="381000" progId="Equation.DSMT4">
                  <p:embed/>
                </p:oleObj>
              </mc:Choice>
              <mc:Fallback>
                <p:oleObj r:id="rId3" imgW="15240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630" y="3188437"/>
                        <a:ext cx="2202056" cy="54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962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410958"/>
              </p:ext>
            </p:extLst>
          </p:nvPr>
        </p:nvGraphicFramePr>
        <p:xfrm>
          <a:off x="3563888" y="3896852"/>
          <a:ext cx="3168352" cy="548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39" r:id="rId5" imgW="1803400" imgH="381000" progId="Equation.DSMT4">
                  <p:embed/>
                </p:oleObj>
              </mc:Choice>
              <mc:Fallback>
                <p:oleObj r:id="rId5" imgW="1803400" imgH="381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896852"/>
                        <a:ext cx="3168352" cy="548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9626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582820"/>
              </p:ext>
            </p:extLst>
          </p:nvPr>
        </p:nvGraphicFramePr>
        <p:xfrm>
          <a:off x="3635896" y="4788139"/>
          <a:ext cx="2808312" cy="570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40" r:id="rId7" imgW="1854200" imgH="381000" progId="Equation.DSMT4">
                  <p:embed/>
                </p:oleObj>
              </mc:Choice>
              <mc:Fallback>
                <p:oleObj r:id="rId7" imgW="1854200" imgH="381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4788139"/>
                        <a:ext cx="2808312" cy="570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97284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4585871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可行流总是存在的。比如令所有弧的流量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=0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，就得到一个可行流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称为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零流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。其流量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)=0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最大流问题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就是求一个流｛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｝使其流量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达到最大，并且满足：                 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</a:rPr>
              <a:t>≤</a:t>
            </a:r>
            <a:r>
              <a:rPr lang="en-US" altLang="zh-CN" sz="2000" i="1" dirty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000" dirty="0">
                <a:latin typeface="Times New Roman" panose="02020603050405020304" pitchFamily="18" charset="0"/>
              </a:rPr>
              <a:t>≤</a:t>
            </a: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sz="2000" dirty="0">
                <a:latin typeface="Times New Roman" panose="02020603050405020304" pitchFamily="18" charset="0"/>
              </a:rPr>
              <a:t>     (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000" i="1" dirty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</a:rPr>
              <a:t>)∈A        </a:t>
            </a:r>
          </a:p>
          <a:p>
            <a:pPr eaLnBrk="1" hangingPunct="1">
              <a:lnSpc>
                <a:spcPct val="110000"/>
              </a:lnSpc>
            </a:pPr>
            <a:endParaRPr lang="zh-CN" altLang="en-US" sz="2000" dirty="0" smtClean="0"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</a:rPr>
              <a:t>                                             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Times New Roman" panose="02020603050405020304" pitchFamily="18" charset="0"/>
              </a:rPr>
              <a:t>                                                </a:t>
            </a:r>
          </a:p>
          <a:p>
            <a:pPr eaLnBrk="1" hangingPunct="1">
              <a:lnSpc>
                <a:spcPct val="110000"/>
              </a:lnSpc>
            </a:pPr>
            <a:endParaRPr lang="en-US" altLang="zh-CN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最大流问题是一个特殊的线性规划问题。即求一组｛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｝，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满足上述两个条件且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达到极大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本章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将会看到利用图的特点，解决这个问题的方法较之线性规划的一般方法要方便、直观得多。 </a:t>
            </a:r>
            <a:endParaRPr lang="zh-CN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9728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769015"/>
              </p:ext>
            </p:extLst>
          </p:nvPr>
        </p:nvGraphicFramePr>
        <p:xfrm>
          <a:off x="3131840" y="2852936"/>
          <a:ext cx="3487444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44" r:id="rId4" imgW="2146300" imgH="711200" progId="Equation.DSMT4">
                  <p:embed/>
                </p:oleObj>
              </mc:Choice>
              <mc:Fallback>
                <p:oleObj r:id="rId4" imgW="2146300" imgH="71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2852936"/>
                        <a:ext cx="3487444" cy="1152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356" y="4837495"/>
            <a:ext cx="3037134" cy="1687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</a:p>
        </p:txBody>
      </p:sp>
      <p:graphicFrame>
        <p:nvGraphicFramePr>
          <p:cNvPr id="99333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0412735"/>
              </p:ext>
            </p:extLst>
          </p:nvPr>
        </p:nvGraphicFramePr>
        <p:xfrm>
          <a:off x="4716016" y="4409988"/>
          <a:ext cx="3517726" cy="575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95" name="Document" r:id="rId4" imgW="3629806" imgH="594226" progId="Word.Document.8">
                  <p:embed/>
                </p:oleObj>
              </mc:Choice>
              <mc:Fallback>
                <p:oleObj name="Document" r:id="rId4" imgW="3629806" imgH="594226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l="-1024" t="36198"/>
                      <a:stretch>
                        <a:fillRect/>
                      </a:stretch>
                    </p:blipFill>
                    <p:spPr bwMode="auto">
                      <a:xfrm>
                        <a:off x="4716016" y="4409988"/>
                        <a:ext cx="3517726" cy="575456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544" y="1340768"/>
            <a:ext cx="8353425" cy="341632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增广链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可行流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｛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14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｝中使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20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的弧称为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饱和弧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，使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14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＜</a:t>
            </a:r>
            <a:r>
              <a:rPr lang="en-US" altLang="zh-CN" sz="2000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14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的弧称为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非饱和弧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。使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=0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的弧称为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零流弧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，使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＞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0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的弧称为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非零流弧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1600" dirty="0" smtClean="0">
                <a:latin typeface="Times New Roman" panose="02020603050405020304" pitchFamily="18" charset="0"/>
              </a:rPr>
              <a:t>右图中，</a:t>
            </a:r>
            <a:r>
              <a:rPr lang="en-US" altLang="zh-CN" sz="16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16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000" baseline="-25000" dirty="0" smtClean="0">
                <a:latin typeface="Times New Roman" panose="02020603050405020304" pitchFamily="18" charset="0"/>
              </a:rPr>
              <a:t>5</a:t>
            </a:r>
            <a:r>
              <a:rPr lang="zh-CN" altLang="en-US" sz="1000" baseline="-25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16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10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16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1600" dirty="0" smtClean="0">
                <a:latin typeface="Times New Roman" panose="02020603050405020304" pitchFamily="18" charset="0"/>
              </a:rPr>
              <a:t>是饱和弧，其他的弧为非饱和弧。所有弧都是非零流弧。</a:t>
            </a:r>
            <a:endParaRPr lang="en-US" altLang="zh-CN" sz="1600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若</a:t>
            </a:r>
            <a:r>
              <a:rPr lang="en-US" altLang="zh-CN" sz="2000" i="1" dirty="0">
                <a:latin typeface="Times New Roman" panose="02020603050405020304" pitchFamily="18" charset="0"/>
              </a:rPr>
              <a:t>μ</a:t>
            </a:r>
            <a:r>
              <a:rPr lang="zh-CN" altLang="en-US" sz="2000" dirty="0">
                <a:latin typeface="Times New Roman" panose="02020603050405020304" pitchFamily="18" charset="0"/>
              </a:rPr>
              <a:t>是网络中联结发点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100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</a:rPr>
              <a:t>和收点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1100" i="1" baseline="-25000" dirty="0" err="1">
                <a:latin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</a:rPr>
              <a:t>的一条链，我们定义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链的方向</a:t>
            </a:r>
            <a:r>
              <a:rPr lang="zh-CN" altLang="en-US" sz="2000" dirty="0">
                <a:latin typeface="Times New Roman" panose="02020603050405020304" pitchFamily="18" charset="0"/>
              </a:rPr>
              <a:t>是从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1100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</a:rPr>
              <a:t>到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1100" i="1" baseline="-25000" dirty="0" err="1">
                <a:latin typeface="Times New Roman" panose="02020603050405020304" pitchFamily="18" charset="0"/>
              </a:rPr>
              <a:t>t</a:t>
            </a:r>
            <a:r>
              <a:rPr lang="zh-CN" altLang="en-US" sz="2000" dirty="0">
                <a:latin typeface="Times New Roman" panose="02020603050405020304" pitchFamily="18" charset="0"/>
              </a:rPr>
              <a:t>，链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上的弧被分为两类：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弧的方向与链的方向一致，叫做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前向弧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。前向弧的全体记为</a:t>
            </a:r>
            <a:r>
              <a:rPr lang="en-US" altLang="zh-CN" sz="2000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baseline="30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</a:rPr>
              <a:t>弧与链的方向相反，称为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后向弧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。后向弧的全体记为</a:t>
            </a:r>
            <a:r>
              <a:rPr lang="en-US" altLang="zh-CN" sz="2000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baseline="30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。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1600" dirty="0" smtClean="0">
                <a:latin typeface="Times New Roman" panose="02020603050405020304" pitchFamily="18" charset="0"/>
              </a:rPr>
              <a:t>右图中，在链</a:t>
            </a:r>
            <a:r>
              <a:rPr lang="en-US" altLang="zh-CN" sz="1600" i="1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μ=</a:t>
            </a:r>
            <a:r>
              <a:rPr lang="en-US" altLang="zh-CN" sz="16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(</a:t>
            </a:r>
            <a:r>
              <a:rPr lang="en-US" altLang="zh-CN" sz="1600" i="1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v</a:t>
            </a:r>
            <a:r>
              <a:rPr lang="en-US" altLang="zh-CN" sz="1600" i="1" baseline="-250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1</a:t>
            </a:r>
            <a:r>
              <a:rPr lang="en-US" altLang="zh-CN" sz="1600" i="1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,v</a:t>
            </a:r>
            <a:r>
              <a:rPr lang="en-US" altLang="zh-CN" sz="1600" i="1" baseline="-250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2</a:t>
            </a:r>
            <a:r>
              <a:rPr lang="en-US" altLang="zh-CN" sz="1600" i="1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,v</a:t>
            </a:r>
            <a:r>
              <a:rPr lang="en-US" altLang="zh-CN" sz="1600" i="1" baseline="-250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3</a:t>
            </a:r>
            <a:r>
              <a:rPr lang="en-US" altLang="zh-CN" sz="1600" i="1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,v</a:t>
            </a:r>
            <a:r>
              <a:rPr lang="en-US" altLang="zh-CN" sz="1600" i="1" baseline="-250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4</a:t>
            </a:r>
            <a:r>
              <a:rPr lang="en-US" altLang="zh-CN" sz="1600" i="1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,v</a:t>
            </a:r>
            <a:r>
              <a:rPr lang="en-US" altLang="zh-CN" sz="1600" i="1" baseline="-250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5</a:t>
            </a:r>
            <a:r>
              <a:rPr lang="en-US" altLang="zh-CN" sz="1600" i="1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,v</a:t>
            </a:r>
            <a:r>
              <a:rPr lang="en-US" altLang="zh-CN" sz="1600" i="1" baseline="-250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6</a:t>
            </a:r>
            <a:r>
              <a:rPr lang="en-US" altLang="zh-CN" sz="16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)</a:t>
            </a:r>
            <a:r>
              <a:rPr lang="zh-CN" altLang="en-US" sz="1600" dirty="0" smtClean="0">
                <a:latin typeface="Times New Roman" panose="02020603050405020304" pitchFamily="18" charset="0"/>
                <a:sym typeface="宋体" panose="02010600030101010101" pitchFamily="2" charset="-122"/>
              </a:rPr>
              <a:t>上</a:t>
            </a:r>
            <a:endParaRPr lang="zh-CN" alt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348" y="4837109"/>
            <a:ext cx="2887254" cy="1689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/>
          <p:cNvCxnSpPr/>
          <p:nvPr/>
        </p:nvCxnSpPr>
        <p:spPr bwMode="auto">
          <a:xfrm flipV="1">
            <a:off x="5076056" y="5083883"/>
            <a:ext cx="648072" cy="576064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cxnSp>
        <p:nvCxnSpPr>
          <p:cNvPr id="9" name="直接连接符 8"/>
          <p:cNvCxnSpPr/>
          <p:nvPr/>
        </p:nvCxnSpPr>
        <p:spPr bwMode="auto">
          <a:xfrm>
            <a:off x="5745560" y="5083883"/>
            <a:ext cx="0" cy="1224136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cxnSp>
        <p:nvCxnSpPr>
          <p:cNvPr id="10" name="直接连接符 9"/>
          <p:cNvCxnSpPr/>
          <p:nvPr/>
        </p:nvCxnSpPr>
        <p:spPr bwMode="auto">
          <a:xfrm flipV="1">
            <a:off x="5774136" y="5105315"/>
            <a:ext cx="1202704" cy="1152128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cxnSp>
        <p:nvCxnSpPr>
          <p:cNvPr id="11" name="直接连接符 10"/>
          <p:cNvCxnSpPr/>
          <p:nvPr/>
        </p:nvCxnSpPr>
        <p:spPr bwMode="auto">
          <a:xfrm flipV="1">
            <a:off x="6976840" y="5659947"/>
            <a:ext cx="619496" cy="611784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cxnSp>
        <p:nvCxnSpPr>
          <p:cNvPr id="12" name="直接连接符 11"/>
          <p:cNvCxnSpPr/>
          <p:nvPr/>
        </p:nvCxnSpPr>
        <p:spPr bwMode="auto">
          <a:xfrm flipV="1">
            <a:off x="6976840" y="5083883"/>
            <a:ext cx="0" cy="1187848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5312995" y="4965907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6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65395" y="530120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72858" y="545360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08962" y="530120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41010" y="573325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3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</a:p>
        </p:txBody>
      </p:sp>
      <p:sp>
        <p:nvSpPr>
          <p:cNvPr id="100356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2726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设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f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是一个可行流，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μ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是从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 smtClean="0">
                <a:latin typeface="Times New Roman" panose="02020603050405020304" pitchFamily="18" charset="0"/>
              </a:rPr>
              <a:t>s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到</a:t>
            </a:r>
            <a:r>
              <a:rPr lang="en-US" altLang="zh-CN" sz="2400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t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的一条链，若</a:t>
            </a:r>
            <a:r>
              <a:rPr lang="en-US" altLang="zh-CN" i="1" dirty="0">
                <a:latin typeface="Times New Roman" panose="02020603050405020304" pitchFamily="18" charset="0"/>
              </a:rPr>
              <a:t>μ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满足下列条件，称之为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关于可行流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f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增广链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在弧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)∈</a:t>
            </a:r>
            <a:r>
              <a:rPr lang="en-US" altLang="zh-CN" i="1" dirty="0" smtClean="0">
                <a:latin typeface="Times New Roman" panose="02020603050405020304" pitchFamily="18" charset="0"/>
              </a:rPr>
              <a:t>μ</a:t>
            </a:r>
            <a:r>
              <a:rPr lang="en-US" altLang="zh-CN" baseline="30000" dirty="0" smtClean="0">
                <a:latin typeface="Times New Roman" panose="02020603050405020304" pitchFamily="18" charset="0"/>
              </a:rPr>
              <a:t>+</a:t>
            </a:r>
            <a:r>
              <a:rPr lang="zh-CN" altLang="en-US" dirty="0" smtClean="0">
                <a:latin typeface="Times New Roman" panose="02020603050405020304" pitchFamily="18" charset="0"/>
              </a:rPr>
              <a:t>上，</a:t>
            </a:r>
            <a:r>
              <a:rPr lang="en-US" altLang="zh-CN" dirty="0" smtClean="0">
                <a:latin typeface="Times New Roman" panose="02020603050405020304" pitchFamily="18" charset="0"/>
              </a:rPr>
              <a:t>0≤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ij</a:t>
            </a:r>
            <a:r>
              <a:rPr lang="zh-CN" altLang="en-US" dirty="0" smtClean="0">
                <a:latin typeface="Times New Roman" panose="02020603050405020304" pitchFamily="18" charset="0"/>
              </a:rPr>
              <a:t>＜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</a:rPr>
              <a:t>，即</a:t>
            </a:r>
            <a:r>
              <a:rPr lang="en-US" altLang="zh-CN" i="1" dirty="0" smtClean="0">
                <a:latin typeface="Times New Roman" panose="02020603050405020304" pitchFamily="18" charset="0"/>
              </a:rPr>
              <a:t>μ</a:t>
            </a:r>
            <a:r>
              <a:rPr lang="en-US" altLang="zh-CN" baseline="30000" dirty="0" smtClean="0">
                <a:latin typeface="Times New Roman" panose="02020603050405020304" pitchFamily="18" charset="0"/>
              </a:rPr>
              <a:t>+</a:t>
            </a:r>
            <a:r>
              <a:rPr lang="zh-CN" altLang="en-US" dirty="0" smtClean="0">
                <a:latin typeface="Times New Roman" panose="02020603050405020304" pitchFamily="18" charset="0"/>
              </a:rPr>
              <a:t>中每一弧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非饱和弧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在弧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i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)∈</a:t>
            </a:r>
            <a:r>
              <a:rPr lang="en-US" altLang="zh-CN" i="1" dirty="0" smtClean="0">
                <a:latin typeface="Times New Roman" panose="02020603050405020304" pitchFamily="18" charset="0"/>
              </a:rPr>
              <a:t>μ</a:t>
            </a:r>
            <a:r>
              <a:rPr lang="en-US" altLang="zh-CN" baseline="30000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上，</a:t>
            </a:r>
            <a:r>
              <a:rPr lang="en-US" altLang="zh-CN" dirty="0" smtClean="0">
                <a:latin typeface="Times New Roman" panose="02020603050405020304" pitchFamily="18" charset="0"/>
              </a:rPr>
              <a:t>0</a:t>
            </a:r>
            <a:r>
              <a:rPr lang="zh-CN" altLang="en-US" dirty="0" smtClean="0">
                <a:latin typeface="Times New Roman" panose="02020603050405020304" pitchFamily="18" charset="0"/>
              </a:rPr>
              <a:t>＜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≤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dirty="0" smtClean="0">
                <a:latin typeface="Times New Roman" panose="02020603050405020304" pitchFamily="18" charset="0"/>
              </a:rPr>
              <a:t>，即</a:t>
            </a:r>
            <a:r>
              <a:rPr lang="en-US" altLang="zh-CN" i="1" dirty="0" smtClean="0">
                <a:latin typeface="Times New Roman" panose="02020603050405020304" pitchFamily="18" charset="0"/>
              </a:rPr>
              <a:t>μ</a:t>
            </a:r>
            <a:r>
              <a:rPr lang="en-US" altLang="zh-CN" baseline="30000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中每一弧是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非零流弧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</a:p>
          <a:p>
            <a:pPr lvl="2" eaLnBrk="1" hangingPunct="1">
              <a:lnSpc>
                <a:spcPct val="90000"/>
              </a:lnSpc>
              <a:spcBef>
                <a:spcPts val="24"/>
              </a:spcBef>
            </a:pPr>
            <a:r>
              <a:rPr lang="zh-CN" altLang="en-US" dirty="0" smtClean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右</a:t>
            </a:r>
            <a:r>
              <a:rPr lang="zh-CN" altLang="en-US" dirty="0" smtClean="0">
                <a:latin typeface="Times New Roman" panose="02020603050405020304" pitchFamily="18" charset="0"/>
              </a:rPr>
              <a:t>图中，链</a:t>
            </a:r>
            <a:r>
              <a:rPr lang="en-US" altLang="zh-CN" i="1" dirty="0" smtClean="0">
                <a:latin typeface="Times New Roman" panose="02020603050405020304" pitchFamily="18" charset="0"/>
              </a:rPr>
              <a:t>μ</a:t>
            </a:r>
            <a:r>
              <a:rPr lang="en-US" altLang="zh-CN" dirty="0" smtClean="0">
                <a:latin typeface="Times New Roman" panose="02020603050405020304" pitchFamily="18" charset="0"/>
              </a:rPr>
              <a:t>=(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smtClean="0">
                <a:latin typeface="Times New Roman" panose="02020603050405020304" pitchFamily="18" charset="0"/>
              </a:rPr>
              <a:t>6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是一条增广链。因为</a:t>
            </a:r>
            <a:r>
              <a:rPr lang="en-US" altLang="zh-CN" i="1" dirty="0" smtClean="0">
                <a:latin typeface="Times New Roman" panose="02020603050405020304" pitchFamily="18" charset="0"/>
              </a:rPr>
              <a:t>μ</a:t>
            </a:r>
            <a:r>
              <a:rPr lang="en-US" altLang="zh-CN" baseline="30000" dirty="0" smtClean="0">
                <a:latin typeface="Times New Roman" panose="02020603050405020304" pitchFamily="18" charset="0"/>
              </a:rPr>
              <a:t>+</a:t>
            </a:r>
            <a:r>
              <a:rPr lang="zh-CN" altLang="en-US" dirty="0" smtClean="0">
                <a:latin typeface="Times New Roman" panose="02020603050405020304" pitchFamily="18" charset="0"/>
              </a:rPr>
              <a:t>和</a:t>
            </a:r>
            <a:r>
              <a:rPr lang="en-US" altLang="zh-CN" i="1" dirty="0" smtClean="0">
                <a:latin typeface="Times New Roman" panose="02020603050405020304" pitchFamily="18" charset="0"/>
              </a:rPr>
              <a:t>μ</a:t>
            </a:r>
            <a:r>
              <a:rPr lang="en-US" altLang="zh-CN" baseline="30000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中的弧满足增广链的条件。比如：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890588" lvl="2" indent="0"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             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)∈ </a:t>
            </a:r>
            <a:r>
              <a:rPr lang="en-US" altLang="zh-CN" sz="2000" i="1" dirty="0">
                <a:latin typeface="Times New Roman" panose="02020603050405020304" pitchFamily="18" charset="0"/>
              </a:rPr>
              <a:t>μ</a:t>
            </a:r>
            <a:r>
              <a:rPr lang="en-US" altLang="zh-CN" sz="2000" baseline="30000" dirty="0" smtClean="0">
                <a:latin typeface="Times New Roman" panose="02020603050405020304" pitchFamily="18" charset="0"/>
              </a:rPr>
              <a:t>+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12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=5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＜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c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12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=10</a:t>
            </a:r>
          </a:p>
          <a:p>
            <a:pPr marL="890588" lvl="2" indent="0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         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5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)∈ </a:t>
            </a:r>
            <a:r>
              <a:rPr lang="en-US" altLang="zh-CN" sz="2000" i="1" dirty="0">
                <a:latin typeface="Times New Roman" panose="02020603050405020304" pitchFamily="18" charset="0"/>
              </a:rPr>
              <a:t>μ</a:t>
            </a:r>
            <a:r>
              <a:rPr lang="en-US" altLang="zh-CN" sz="2000" baseline="30000" dirty="0" smtClean="0">
                <a:latin typeface="Times New Roman" panose="02020603050405020304" pitchFamily="18" charset="0"/>
              </a:rPr>
              <a:t>-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，</a:t>
            </a:r>
            <a:r>
              <a:rPr lang="en-US" altLang="zh-CN" sz="2000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54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=3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＞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0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356" y="4838796"/>
            <a:ext cx="3037134" cy="1687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348" y="4837109"/>
            <a:ext cx="2887254" cy="1689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 bwMode="auto">
          <a:xfrm flipV="1">
            <a:off x="5076056" y="5085184"/>
            <a:ext cx="648072" cy="576064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cxnSp>
        <p:nvCxnSpPr>
          <p:cNvPr id="9" name="直接连接符 8"/>
          <p:cNvCxnSpPr/>
          <p:nvPr/>
        </p:nvCxnSpPr>
        <p:spPr bwMode="auto">
          <a:xfrm>
            <a:off x="5745560" y="5085184"/>
            <a:ext cx="0" cy="1224136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cxnSp>
        <p:nvCxnSpPr>
          <p:cNvPr id="12" name="直接连接符 11"/>
          <p:cNvCxnSpPr/>
          <p:nvPr/>
        </p:nvCxnSpPr>
        <p:spPr bwMode="auto">
          <a:xfrm flipV="1">
            <a:off x="5774136" y="5106616"/>
            <a:ext cx="1202704" cy="1152128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cxnSp>
        <p:nvCxnSpPr>
          <p:cNvPr id="15" name="直接连接符 14"/>
          <p:cNvCxnSpPr/>
          <p:nvPr/>
        </p:nvCxnSpPr>
        <p:spPr bwMode="auto">
          <a:xfrm flipV="1">
            <a:off x="6976840" y="5661248"/>
            <a:ext cx="619496" cy="611784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  <p:cxnSp>
        <p:nvCxnSpPr>
          <p:cNvPr id="19" name="直接连接符 18"/>
          <p:cNvCxnSpPr/>
          <p:nvPr/>
        </p:nvCxnSpPr>
        <p:spPr bwMode="auto">
          <a:xfrm flipV="1">
            <a:off x="6976840" y="5085184"/>
            <a:ext cx="0" cy="1187848"/>
          </a:xfrm>
          <a:prstGeom prst="line">
            <a:avLst/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8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43608" y="1340768"/>
                <a:ext cx="7661275" cy="2739211"/>
              </a:xfrm>
            </p:spPr>
            <p:txBody>
              <a:bodyPr/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en-US" altLang="zh-CN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4. 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截集与截量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zh-CN" altLang="en-US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定义</a:t>
                </a:r>
                <a:r>
                  <a:rPr lang="en-US" altLang="zh-CN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9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网络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dirty="0" smtClean="0">
                    <a:latin typeface="Times New Roman" panose="02020603050405020304" pitchFamily="18" charset="0"/>
                  </a:rPr>
                  <a:t>=(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，若点集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被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剖分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为两个非空集合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Times New Roman" panose="02020603050405020304" pitchFamily="18" charset="0"/>
                  </a:rPr>
                  <a:t>，使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Times New Roman" panose="02020603050405020304" pitchFamily="18" charset="0"/>
                  </a:rPr>
                  <a:t>则把弧集</a:t>
                </a:r>
                <a:r>
                  <a:rPr lang="en-US" altLang="zh-CN" sz="2400" dirty="0" smtClean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称为是</a:t>
                </a:r>
                <a:r>
                  <a:rPr lang="en-US" altLang="zh-CN" sz="2400" dirty="0" smtClean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分离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i="1" baseline="-25000" dirty="0" smtClean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和</a:t>
                </a:r>
                <a:r>
                  <a:rPr lang="en-US" altLang="zh-CN" sz="2400" i="1" dirty="0" err="1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i="1" baseline="-25000" dirty="0" err="1" smtClean="0">
                    <a:latin typeface="Times New Roman" panose="02020603050405020304" pitchFamily="18" charset="0"/>
                  </a:rPr>
                  <a:t>t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的</a:t>
                </a:r>
                <a:r>
                  <a:rPr lang="en-US" altLang="zh-CN" sz="240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截集（割集）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。</a:t>
                </a:r>
                <a:endParaRPr lang="en-US" altLang="zh-CN" sz="2400" dirty="0" smtClean="0">
                  <a:latin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12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</a:rPr>
                  <a:t>显然，若把某一截集的弧从网络中丢去，则从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25000" dirty="0" smtClean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到</a:t>
                </a:r>
                <a:r>
                  <a:rPr lang="en-US" altLang="zh-CN" i="1" dirty="0" err="1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25000" dirty="0" err="1" smtClean="0">
                    <a:latin typeface="Times New Roman" panose="02020603050405020304" pitchFamily="18" charset="0"/>
                  </a:rPr>
                  <a:t>t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便不存在路。所以，直观上说，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截集是从</a:t>
                </a:r>
                <a:r>
                  <a:rPr lang="en-US" altLang="zh-CN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25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到</a:t>
                </a:r>
                <a:r>
                  <a:rPr lang="en-US" altLang="zh-CN" i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25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的必经之道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</a:t>
                </a:r>
                <a:endParaRPr lang="zh-CN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38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340768"/>
                <a:ext cx="7661275" cy="2739211"/>
              </a:xfrm>
              <a:blipFill>
                <a:blip r:embed="rId2"/>
                <a:stretch>
                  <a:fillRect l="-318" t="-1336" b="-20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38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013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59" y="4221088"/>
            <a:ext cx="3654559" cy="2151988"/>
          </a:xfrm>
          <a:prstGeom prst="rect">
            <a:avLst/>
          </a:prstGeom>
        </p:spPr>
      </p:pic>
      <p:sp>
        <p:nvSpPr>
          <p:cNvPr id="3" name="弧形 2"/>
          <p:cNvSpPr/>
          <p:nvPr/>
        </p:nvSpPr>
        <p:spPr bwMode="auto">
          <a:xfrm>
            <a:off x="611560" y="4968088"/>
            <a:ext cx="288032" cy="1086176"/>
          </a:xfrm>
          <a:prstGeom prst="arc">
            <a:avLst>
              <a:gd name="adj1" fmla="val 16368403"/>
              <a:gd name="adj2" fmla="val 0"/>
            </a:avLst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83968" y="5111066"/>
            <a:ext cx="27493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i="0" dirty="0">
                <a:solidFill>
                  <a:srgbClr val="FF0000"/>
                </a:solidFill>
                <a:latin typeface="Times New Roman" panose="02020603050405020304" pitchFamily="18" charset="0"/>
              </a:rPr>
              <a:t>截</a:t>
            </a:r>
            <a:r>
              <a:rPr lang="zh-CN" altLang="en-US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集：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{(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)}</a:t>
            </a:r>
            <a:endParaRPr lang="zh-CN" altLang="en-US" sz="2000" i="0" dirty="0"/>
          </a:p>
        </p:txBody>
      </p:sp>
      <p:sp>
        <p:nvSpPr>
          <p:cNvPr id="5" name="弧形 4"/>
          <p:cNvSpPr/>
          <p:nvPr/>
        </p:nvSpPr>
        <p:spPr bwMode="auto">
          <a:xfrm rot="18140360">
            <a:off x="1587757" y="4403844"/>
            <a:ext cx="872104" cy="2085843"/>
          </a:xfrm>
          <a:prstGeom prst="arc">
            <a:avLst>
              <a:gd name="adj1" fmla="val 16515208"/>
              <a:gd name="adj2" fmla="val 4309225"/>
            </a:avLst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83968" y="5572331"/>
            <a:ext cx="45365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i="0" dirty="0">
                <a:solidFill>
                  <a:srgbClr val="FF0000"/>
                </a:solidFill>
                <a:latin typeface="Times New Roman" panose="02020603050405020304" pitchFamily="18" charset="0"/>
              </a:rPr>
              <a:t>截</a:t>
            </a:r>
            <a:r>
              <a:rPr lang="zh-CN" altLang="en-US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集：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{(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0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)}    X</a:t>
            </a:r>
            <a:endParaRPr lang="zh-CN" altLang="en-US" sz="2000" i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340768"/>
                <a:ext cx="9001000" cy="3251339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定义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10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给一截集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)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，把截集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中所有弧的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容量之和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称为这个截集的容量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简称为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截量或割量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，记为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c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) 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12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易证明，任何一个可行流的流量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都不会超过任一截集的容量。即</a:t>
                </a:r>
                <a:r>
                  <a:rPr lang="en-US" altLang="zh-CN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v(</a:t>
                </a:r>
                <a:r>
                  <a:rPr lang="en-US" altLang="zh-CN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 )≤c(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 </a:t>
                </a:r>
              </a:p>
              <a:p>
                <a:pPr lvl="1" eaLnBrk="1" hangingPunct="1">
                  <a:lnSpc>
                    <a:spcPct val="12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显然，若对于一个可行流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*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，网络中有一个截集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)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，使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v(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*)=c(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)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，则</a:t>
                </a:r>
                <a:r>
                  <a:rPr lang="en-US" altLang="zh-CN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*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是最大流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，而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必定是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D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的所有截集中，容量最小的一个，即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最小截集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。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340768"/>
                <a:ext cx="9001000" cy="3251339"/>
              </a:xfrm>
              <a:blipFill>
                <a:blip r:embed="rId2"/>
                <a:stretch>
                  <a:fillRect l="-271" t="-2064" r="-10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内容占位符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4077072"/>
            <a:ext cx="9064653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 bwMode="auto">
          <a:xfrm>
            <a:off x="8489677" y="5733256"/>
            <a:ext cx="186779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50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9.4.1 </a:t>
            </a:r>
            <a:r>
              <a:rPr lang="zh-CN" altLang="en-US" dirty="0"/>
              <a:t>基本概念与基本定理</a:t>
            </a:r>
            <a:endParaRPr lang="zh-CN" altLang="en-US" dirty="0" smtClean="0"/>
          </a:p>
        </p:txBody>
      </p:sp>
      <p:sp>
        <p:nvSpPr>
          <p:cNvPr id="103428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1643527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可行</a:t>
            </a:r>
            <a:r>
              <a:rPr lang="zh-CN" altLang="en-US" dirty="0" smtClean="0">
                <a:latin typeface="Times New Roman" panose="02020603050405020304" pitchFamily="18" charset="0"/>
              </a:rPr>
              <a:t>流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</a:rPr>
              <a:t> *</a:t>
            </a:r>
            <a:r>
              <a:rPr lang="zh-CN" altLang="en-US" dirty="0" smtClean="0">
                <a:latin typeface="Times New Roman" panose="02020603050405020304" pitchFamily="18" charset="0"/>
              </a:rPr>
              <a:t>是最大流，当且仅当不存在发点到收点的增广链。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最大流量最小截量定理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任一个网络</a:t>
            </a:r>
            <a:r>
              <a:rPr lang="en-US" altLang="zh-CN" i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中，从</a:t>
            </a:r>
            <a:r>
              <a:rPr lang="en-US" altLang="zh-CN" i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i="1" dirty="0" err="1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的最大流的流量等于分离</a:t>
            </a:r>
            <a:r>
              <a:rPr lang="en-US" altLang="zh-CN" i="1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 err="1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的最小截集的容量</a:t>
            </a:r>
            <a:r>
              <a:rPr lang="zh-CN" altLang="en-US" dirty="0" smtClean="0">
                <a:solidFill>
                  <a:srgbClr val="55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0343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034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p:sp>
        <p:nvSpPr>
          <p:cNvPr id="106500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4893647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Times New Roman" panose="02020603050405020304" pitchFamily="18" charset="0"/>
              </a:rPr>
              <a:t>寻求网络中最大流的</a:t>
            </a:r>
            <a:r>
              <a:rPr lang="zh-CN" altLang="en-US" dirty="0">
                <a:latin typeface="Times New Roman" panose="02020603050405020304" pitchFamily="18" charset="0"/>
              </a:rPr>
              <a:t>标号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法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dirty="0" smtClean="0">
                <a:latin typeface="Times New Roman" panose="02020603050405020304" pitchFamily="18" charset="0"/>
              </a:rPr>
              <a:t>给了一个可行流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只要判断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中有无关于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的增广链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如果有增广链，则可以按定理</a:t>
            </a:r>
            <a:r>
              <a:rPr lang="en-US" altLang="zh-CN" dirty="0" smtClean="0">
                <a:latin typeface="Times New Roman" panose="02020603050405020304" pitchFamily="18" charset="0"/>
              </a:rPr>
              <a:t>8</a:t>
            </a:r>
            <a:r>
              <a:rPr lang="zh-CN" altLang="en-US" dirty="0" smtClean="0">
                <a:latin typeface="Times New Roman" panose="02020603050405020304" pitchFamily="18" charset="0"/>
              </a:rPr>
              <a:t>前半部证明中的办法，改进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，得到一个流量增大的新的可行流。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如果没有增广链，则得到最大流。而利用定理</a:t>
            </a:r>
            <a:r>
              <a:rPr lang="en-US" altLang="zh-CN" dirty="0" smtClean="0">
                <a:latin typeface="Times New Roman" panose="02020603050405020304" pitchFamily="18" charset="0"/>
              </a:rPr>
              <a:t>8</a:t>
            </a:r>
            <a:r>
              <a:rPr lang="zh-CN" altLang="en-US" dirty="0" smtClean="0">
                <a:latin typeface="Times New Roman" panose="02020603050405020304" pitchFamily="18" charset="0"/>
              </a:rPr>
              <a:t>后半部证明中定义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i="1" dirty="0" smtClean="0">
                <a:latin typeface="Times New Roman" panose="02020603050405020304" pitchFamily="18" charset="0"/>
              </a:rPr>
              <a:t>*</a:t>
            </a:r>
            <a:r>
              <a:rPr lang="zh-CN" altLang="en-US" dirty="0" smtClean="0">
                <a:latin typeface="Times New Roman" panose="02020603050405020304" pitchFamily="18" charset="0"/>
              </a:rPr>
              <a:t>的办法，可以根据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t</a:t>
            </a:r>
            <a:r>
              <a:rPr lang="zh-CN" altLang="en-US" dirty="0" smtClean="0">
                <a:latin typeface="Times New Roman" panose="02020603050405020304" pitchFamily="18" charset="0"/>
              </a:rPr>
              <a:t>是否属于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i="1" dirty="0" smtClean="0">
                <a:latin typeface="Times New Roman" panose="02020603050405020304" pitchFamily="18" charset="0"/>
              </a:rPr>
              <a:t>*</a:t>
            </a:r>
            <a:r>
              <a:rPr lang="zh-CN" altLang="en-US" dirty="0" smtClean="0">
                <a:latin typeface="Times New Roman" panose="02020603050405020304" pitchFamily="18" charset="0"/>
              </a:rPr>
              <a:t>来判断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dirty="0" smtClean="0">
                <a:latin typeface="Times New Roman" panose="02020603050405020304" pitchFamily="18" charset="0"/>
              </a:rPr>
              <a:t>中有无关于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的增广链。</a:t>
            </a:r>
          </a:p>
          <a:p>
            <a:pPr lvl="1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用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给顶点标号</a:t>
            </a:r>
            <a:r>
              <a:rPr lang="zh-CN" altLang="en-US" dirty="0" smtClean="0">
                <a:latin typeface="Times New Roman" panose="02020603050405020304" pitchFamily="18" charset="0"/>
              </a:rPr>
              <a:t>的方法来定义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latin typeface="Times New Roman" panose="02020603050405020304" pitchFamily="18" charset="0"/>
              </a:rPr>
              <a:t>1</a:t>
            </a:r>
            <a:r>
              <a:rPr lang="en-US" altLang="zh-CN" i="1" dirty="0" smtClean="0">
                <a:latin typeface="Times New Roman" panose="02020603050405020304" pitchFamily="18" charset="0"/>
              </a:rPr>
              <a:t>*</a:t>
            </a:r>
            <a:r>
              <a:rPr lang="zh-CN" altLang="en-US" dirty="0" smtClean="0">
                <a:latin typeface="Times New Roman" panose="02020603050405020304" pitchFamily="18" charset="0"/>
              </a:rPr>
              <a:t>。在标号过程中：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有标号的顶点表示</a:t>
            </a:r>
            <a:r>
              <a:rPr lang="zh-CN" altLang="en-US" dirty="0" smtClean="0">
                <a:solidFill>
                  <a:srgbClr val="0064F6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中的点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没有标号的点表示</a:t>
            </a:r>
            <a:r>
              <a:rPr lang="zh-CN" altLang="en-US" dirty="0" smtClean="0">
                <a:solidFill>
                  <a:srgbClr val="0064F6"/>
                </a:solidFill>
                <a:latin typeface="Times New Roman" panose="02020603050405020304" pitchFamily="18" charset="0"/>
              </a:rPr>
              <a:t>不是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中的点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一旦</a:t>
            </a:r>
            <a:r>
              <a:rPr lang="en-US" altLang="zh-CN" i="1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有了标号</a:t>
            </a:r>
            <a:r>
              <a:rPr lang="zh-CN" altLang="en-US" dirty="0" smtClean="0">
                <a:latin typeface="Times New Roman" panose="02020603050405020304" pitchFamily="18" charset="0"/>
              </a:rPr>
              <a:t>，就表明找到一条增广链；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zh-CN" altLang="en-US" dirty="0" smtClean="0">
                <a:latin typeface="Times New Roman" panose="02020603050405020304" pitchFamily="18" charset="0"/>
              </a:rPr>
              <a:t>如果标号过程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进行不下去</a:t>
            </a:r>
            <a:r>
              <a:rPr lang="zh-CN" altLang="en-US" dirty="0" smtClean="0">
                <a:latin typeface="Times New Roman" panose="02020603050405020304" pitchFamily="18" charset="0"/>
              </a:rPr>
              <a:t>，而</a:t>
            </a:r>
            <a:r>
              <a:rPr lang="en-US" altLang="zh-CN" i="1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尚未标号</a:t>
            </a:r>
            <a:r>
              <a:rPr lang="zh-CN" altLang="en-US" dirty="0" smtClean="0">
                <a:latin typeface="Times New Roman" panose="02020603050405020304" pitchFamily="18" charset="0"/>
              </a:rPr>
              <a:t>，则说明不存在增广链，于是得到最大流。而且同时也得到一个最小截集。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50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3248840256"/>
              </p:ext>
            </p:extLst>
          </p:nvPr>
        </p:nvGraphicFramePr>
        <p:xfrm>
          <a:off x="5292080" y="116632"/>
          <a:ext cx="4248473" cy="911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矩形 2"/>
          <p:cNvSpPr/>
          <p:nvPr/>
        </p:nvSpPr>
        <p:spPr>
          <a:xfrm>
            <a:off x="0" y="6021288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i="0" dirty="0"/>
              <a:t>第一个标号表明它的标号是从哪一点得到的，以便找出增广链；第二个标号是为确定增广链的调整量</a:t>
            </a:r>
            <a:r>
              <a:rPr lang="en-US" altLang="zh-CN" sz="2000" i="0" dirty="0"/>
              <a:t>θ</a:t>
            </a:r>
            <a:r>
              <a:rPr lang="zh-CN" altLang="en-US" sz="2000" i="0" dirty="0"/>
              <a:t>用的。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1043608" y="1340768"/>
                <a:ext cx="7848872" cy="5199500"/>
              </a:xfrm>
            </p:spPr>
            <p:txBody>
              <a:bodyPr/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CN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1.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标号过程</a:t>
                </a:r>
              </a:p>
              <a:p>
                <a:pPr lvl="1" eaLnBrk="1" hangingPunct="1">
                  <a:lnSpc>
                    <a:spcPct val="11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</a:rPr>
                  <a:t>发点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标号</a:t>
                </a:r>
                <a:r>
                  <a:rPr lang="zh-CN" altLang="en-US" i="1" dirty="0" smtClean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+∞)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，这时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是标号而未检查的点，其余都是未标号点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</a:t>
                </a:r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11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</a:rPr>
                  <a:t>取一个已标号但为检查的点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smtClean="0">
                    <a:latin typeface="Times New Roman" panose="02020603050405020304" pitchFamily="18" charset="0"/>
                  </a:rPr>
                  <a:t>i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，对一切未标号的点</a:t>
                </a:r>
                <a:r>
                  <a:rPr lang="en-US" altLang="zh-CN" i="1" dirty="0" err="1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 smtClean="0"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：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lvl="2">
                  <a:lnSpc>
                    <a:spcPct val="110000"/>
                  </a:lnSpc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(1) 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若弧为前向弧，且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i="1" baseline="-30000" dirty="0" smtClean="0">
                    <a:latin typeface="Times New Roman" panose="02020603050405020304" pitchFamily="18" charset="0"/>
                  </a:rPr>
                  <a:t>i 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＜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i j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则给</a:t>
                </a:r>
                <a:r>
                  <a:rPr lang="en-US" altLang="zh-CN" i="1" dirty="0" err="1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 smtClean="0"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标号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smtClean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zh-CN" dirty="0" smtClean="0">
                    <a:latin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zh-CN" i="1" dirty="0" smtClean="0">
                    <a:latin typeface="Times New Roman" panose="02020603050405020304" pitchFamily="18" charset="0"/>
                  </a:rPr>
                  <a:t>=min(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i="1" dirty="0" smtClean="0">
                    <a:latin typeface="Times New Roman" panose="02020603050405020304" pitchFamily="18" charset="0"/>
                  </a:rPr>
                  <a:t>, c</a:t>
                </a:r>
                <a:r>
                  <a:rPr lang="en-US" altLang="zh-CN" i="1" baseline="-30000" dirty="0" smtClean="0">
                    <a:latin typeface="Times New Roman" panose="02020603050405020304" pitchFamily="18" charset="0"/>
                  </a:rPr>
                  <a:t>i j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i="1" dirty="0" err="1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i="1" baseline="-30000" dirty="0" err="1" smtClean="0">
                    <a:latin typeface="Times New Roman" panose="02020603050405020304" pitchFamily="18" charset="0"/>
                  </a:rPr>
                  <a:t>ij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，这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时点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成为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标号而未检查的点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</a:t>
                </a:r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2">
                  <a:lnSpc>
                    <a:spcPct val="11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若弧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为后向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弧，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且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i="1" baseline="-30000" dirty="0" smtClean="0">
                    <a:latin typeface="Times New Roman" panose="02020603050405020304" pitchFamily="18" charset="0"/>
                  </a:rPr>
                  <a:t>j 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i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＞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，则给</a:t>
                </a:r>
                <a:r>
                  <a:rPr lang="en-US" altLang="zh-CN" i="1" dirty="0" err="1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 smtClean="0"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标号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(-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smtClean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zh-CN" dirty="0" smtClean="0">
                    <a:latin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</a:rPr>
                  <a:t>=min(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i="1" dirty="0" smtClean="0">
                    <a:latin typeface="Times New Roman" panose="02020603050405020304" pitchFamily="18" charset="0"/>
                  </a:rPr>
                  <a:t>, </a:t>
                </a:r>
                <a:r>
                  <a:rPr lang="en-US" altLang="zh-CN" i="1" dirty="0" err="1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i="1" baseline="-30000" dirty="0" err="1" smtClean="0">
                    <a:latin typeface="Times New Roman" panose="02020603050405020304" pitchFamily="18" charset="0"/>
                  </a:rPr>
                  <a:t>ji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 ，这时点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成为标号而未检查的点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于是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i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成为标号而已检查过的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点，重复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上述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步骤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。</a:t>
                </a:r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</a:rPr>
                  <a:t>一旦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收点</a:t>
                </a:r>
                <a:r>
                  <a:rPr lang="en-US" altLang="zh-CN" i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被标上号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，依据标号点的第一个标号进行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反向追踪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得到增广链。转入调整过程。</a:t>
                </a:r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若所有标号都是已检查过的，而标号过程进行不下去时，则算法结束，这时的可行流就是最大流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340768"/>
                <a:ext cx="7848872" cy="5199500"/>
              </a:xfrm>
              <a:blipFill>
                <a:blip r:embed="rId3"/>
                <a:stretch>
                  <a:fillRect l="-621" t="-1524" b="-3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524" name="Rectangle 6"/>
          <p:cNvSpPr>
            <a:spLocks noChangeArrowheads="1"/>
          </p:cNvSpPr>
          <p:nvPr/>
        </p:nvSpPr>
        <p:spPr bwMode="auto">
          <a:xfrm>
            <a:off x="-2109788" y="2490788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1043608" y="1340768"/>
                <a:ext cx="7661275" cy="4955203"/>
              </a:xfrm>
            </p:spPr>
            <p:txBody>
              <a:bodyPr/>
              <a:lstStyle/>
              <a:p>
                <a:pPr eaLnBrk="1" hangingPunct="1"/>
                <a:r>
                  <a:rPr lang="en-US" altLang="zh-CN" sz="28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2.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调整过程</a:t>
                </a:r>
              </a:p>
              <a:p>
                <a:pPr lvl="1"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首先按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t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及其它点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的第一个标号，利用“反向追踪”的办法，找出增广链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μ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</a:t>
                </a:r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2" eaLnBrk="1" hangingPunct="1"/>
                <a:r>
                  <a:rPr lang="zh-CN" altLang="en-US" dirty="0" smtClean="0">
                    <a:latin typeface="Times New Roman" panose="02020603050405020304" pitchFamily="18" charset="0"/>
                  </a:rPr>
                  <a:t>例如设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t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第一个标号为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k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或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k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，则弧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k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)(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或 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 dirty="0" err="1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 smtClean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是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μ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上的弧。接下来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检查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k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的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第一个标号，若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为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或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 v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，则找出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i 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 dirty="0" err="1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 smtClean="0">
                    <a:latin typeface="Times New Roman" panose="02020603050405020304" pitchFamily="18" charset="0"/>
                  </a:rPr>
                  <a:t>k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)(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或相应地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k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i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 smtClean="0"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。再检查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i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的第一个标号，依此下去，直到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i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为止。这时被找出的弧就构成了增广链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μ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。</a:t>
                </a:r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1" eaLnBrk="1" hangingPunct="1"/>
                <a:r>
                  <a:rPr lang="zh-CN" altLang="en-US" dirty="0" smtClean="0">
                    <a:latin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1" eaLnBrk="1" hangingPunct="1"/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lvl="1" eaLnBrk="1" hangingPunct="1"/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1" eaLnBrk="1" hangingPunct="1"/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lvl="1" eaLnBrk="1" hangingPunct="1"/>
                <a:r>
                  <a:rPr lang="zh-CN" altLang="en-US" dirty="0" smtClean="0">
                    <a:latin typeface="Times New Roman" panose="02020603050405020304" pitchFamily="18" charset="0"/>
                  </a:rPr>
                  <a:t>去掉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所有的标号，对新的可行流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f′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=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｛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f</a:t>
                </a:r>
                <a:r>
                  <a:rPr lang="en-US" altLang="zh-CN" i="1" baseline="-30000" dirty="0" err="1">
                    <a:latin typeface="Times New Roman" panose="02020603050405020304" pitchFamily="18" charset="0"/>
                  </a:rPr>
                  <a:t>ij</a:t>
                </a:r>
                <a:r>
                  <a:rPr lang="en-US" altLang="zh-CN" i="1" dirty="0">
                    <a:latin typeface="Times New Roman" panose="02020603050405020304" pitchFamily="18" charset="0"/>
                  </a:rPr>
                  <a:t>′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｝，重新进入标号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过程。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340768"/>
                <a:ext cx="7661275" cy="4955203"/>
              </a:xfrm>
              <a:blipFill>
                <a:blip r:embed="rId3"/>
                <a:stretch>
                  <a:fillRect l="-636" t="-1722" r="-3978" b="-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5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10855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047686"/>
              </p:ext>
            </p:extLst>
          </p:nvPr>
        </p:nvGraphicFramePr>
        <p:xfrm>
          <a:off x="2987824" y="4149080"/>
          <a:ext cx="2808288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09" r:id="rId4" imgW="1701800" imgH="838200" progId="Equation.DSMT4">
                  <p:embed/>
                </p:oleObj>
              </mc:Choice>
              <mc:Fallback>
                <p:oleObj r:id="rId4" imgW="1701800" imgH="838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4149080"/>
                        <a:ext cx="2808288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171739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9-14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用标号法</a:t>
            </a:r>
            <a:r>
              <a:rPr lang="zh-CN" altLang="en-US" dirty="0" smtClean="0">
                <a:latin typeface="Times New Roman" panose="02020603050405020304" pitchFamily="18" charset="0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</a:rPr>
              <a:t>下</a:t>
            </a:r>
            <a:r>
              <a:rPr lang="zh-CN" altLang="en-US" dirty="0" smtClean="0">
                <a:latin typeface="Times New Roman" panose="02020603050405020304" pitchFamily="18" charset="0"/>
              </a:rPr>
              <a:t>图所</a:t>
            </a:r>
            <a:r>
              <a:rPr lang="zh-CN" altLang="en-US" dirty="0">
                <a:latin typeface="Times New Roman" panose="02020603050405020304" pitchFamily="18" charset="0"/>
              </a:rPr>
              <a:t>示网络的最大流。弧旁的数是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0957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707656"/>
            <a:ext cx="4537075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9574" name="Rectangle 9"/>
              <p:cNvSpPr>
                <a:spLocks noChangeArrowheads="1"/>
              </p:cNvSpPr>
              <p:nvPr/>
            </p:nvSpPr>
            <p:spPr bwMode="auto">
              <a:xfrm>
                <a:off x="1259632" y="2122315"/>
                <a:ext cx="7632848" cy="25308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indent="266700"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解  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(1) 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标号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过程，寻找增广链</a:t>
                </a:r>
                <a:endParaRPr lang="zh-CN" altLang="en-US" sz="2000" b="1" i="0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      ① 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首先给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标上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(0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+∞)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      ② 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检查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endParaRPr lang="en-US" altLang="zh-CN" sz="2000" b="1" i="0" dirty="0" smtClean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000" b="1" i="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      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弧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=3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，不满足标号条件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。</a:t>
                </a:r>
                <a:endParaRPr lang="en-US" altLang="zh-CN" sz="2000" b="1" i="0" dirty="0" smtClean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       弧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=1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=5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＜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，则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的标号为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endParaRPr lang="en-US" altLang="zh-CN" sz="2000" b="1" i="0" dirty="0" smtClean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000" b="1" i="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   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  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b="1" i="0" dirty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,(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s1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s1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)]=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[+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∞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5-1]=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</mc:Choice>
        <mc:Fallback xmlns="">
          <p:sp>
            <p:nvSpPr>
              <p:cNvPr id="109574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2122315"/>
                <a:ext cx="7632848" cy="2530821"/>
              </a:xfrm>
              <a:prstGeom prst="rect">
                <a:avLst/>
              </a:prstGeom>
              <a:blipFill>
                <a:blip r:embed="rId3"/>
                <a:stretch>
                  <a:fillRect b="-19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575" name="Rectangle 10"/>
          <p:cNvSpPr>
            <a:spLocks noChangeArrowheads="1"/>
          </p:cNvSpPr>
          <p:nvPr/>
        </p:nvSpPr>
        <p:spPr bwMode="auto">
          <a:xfrm>
            <a:off x="3941010" y="6464090"/>
            <a:ext cx="9445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53AF8"/>
              </a:buClr>
              <a:buSzPct val="70000"/>
            </a:pPr>
            <a:r>
              <a:rPr lang="zh-CN" altLang="en-US" sz="2000" i="0" dirty="0"/>
              <a:t>图</a:t>
            </a:r>
            <a:r>
              <a:rPr lang="en-US" altLang="zh-CN" sz="2000" i="0" dirty="0"/>
              <a:t>9-25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51720" y="5308723"/>
            <a:ext cx="668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400" b="1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0,+</a:t>
            </a:r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∞)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200229" y="6310201"/>
                <a:ext cx="619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229" y="6310201"/>
                <a:ext cx="619080" cy="307777"/>
              </a:xfrm>
              <a:prstGeom prst="rect">
                <a:avLst/>
              </a:prstGeom>
              <a:blipFill>
                <a:blip r:embed="rId4"/>
                <a:stretch>
                  <a:fillRect l="-2941" t="-3922" r="-196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171739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9-14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用标号法</a:t>
            </a:r>
            <a:r>
              <a:rPr lang="zh-CN" altLang="en-US" dirty="0" smtClean="0">
                <a:latin typeface="Times New Roman" panose="02020603050405020304" pitchFamily="18" charset="0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</a:rPr>
              <a:t>下</a:t>
            </a:r>
            <a:r>
              <a:rPr lang="zh-CN" altLang="en-US" dirty="0" smtClean="0">
                <a:latin typeface="Times New Roman" panose="02020603050405020304" pitchFamily="18" charset="0"/>
              </a:rPr>
              <a:t>图所</a:t>
            </a:r>
            <a:r>
              <a:rPr lang="zh-CN" altLang="en-US" dirty="0">
                <a:latin typeface="Times New Roman" panose="02020603050405020304" pitchFamily="18" charset="0"/>
              </a:rPr>
              <a:t>示网络的最大流。弧旁的数是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0957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707656"/>
            <a:ext cx="4537075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4" name="Rectangle 9"/>
          <p:cNvSpPr>
            <a:spLocks noChangeArrowheads="1"/>
          </p:cNvSpPr>
          <p:nvPr/>
        </p:nvSpPr>
        <p:spPr bwMode="auto">
          <a:xfrm>
            <a:off x="1187624" y="2235819"/>
            <a:ext cx="7632848" cy="449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b="1" i="0" dirty="0">
                <a:latin typeface="Times New Roman" panose="02020603050405020304" pitchFamily="18" charset="0"/>
              </a:rPr>
              <a:t>解  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(1) 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标号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过程</a:t>
            </a:r>
            <a:endParaRPr lang="zh-CN" altLang="en-US" sz="2000" b="1" i="0" dirty="0">
              <a:latin typeface="Times New Roman" panose="02020603050405020304" pitchFamily="18" charset="0"/>
            </a:endParaRPr>
          </a:p>
        </p:txBody>
      </p:sp>
      <p:sp>
        <p:nvSpPr>
          <p:cNvPr id="109575" name="Rectangle 10"/>
          <p:cNvSpPr>
            <a:spLocks noChangeArrowheads="1"/>
          </p:cNvSpPr>
          <p:nvPr/>
        </p:nvSpPr>
        <p:spPr bwMode="auto">
          <a:xfrm>
            <a:off x="3941010" y="6464090"/>
            <a:ext cx="9445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53AF8"/>
              </a:buClr>
              <a:buSzPct val="70000"/>
            </a:pPr>
            <a:r>
              <a:rPr lang="zh-CN" altLang="en-US" sz="2000" i="0" dirty="0"/>
              <a:t>图</a:t>
            </a:r>
            <a:r>
              <a:rPr lang="en-US" altLang="zh-CN" sz="2000" i="0" dirty="0"/>
              <a:t>9-25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835696" y="2699750"/>
                <a:ext cx="6984776" cy="1292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30000"/>
                  </a:lnSpc>
                </a:pP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③ 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检查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 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在弧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 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13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=2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13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=2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，不满足标号条件。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在弧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21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=1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＞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，则给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记下标号为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endParaRPr lang="en-US" altLang="zh-CN" sz="2000" b="1" i="0" dirty="0" smtClean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21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]=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[4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1]=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699750"/>
                <a:ext cx="6984776" cy="1292662"/>
              </a:xfrm>
              <a:prstGeom prst="rect">
                <a:avLst/>
              </a:prstGeom>
              <a:blipFill>
                <a:blip r:embed="rId3"/>
                <a:stretch>
                  <a:fillRect l="-873" b="-5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2051720" y="5308723"/>
            <a:ext cx="668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400" b="1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0,+</a:t>
            </a:r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∞)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3200229" y="6310201"/>
                <a:ext cx="619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229" y="6310201"/>
                <a:ext cx="619080" cy="307777"/>
              </a:xfrm>
              <a:prstGeom prst="rect">
                <a:avLst/>
              </a:prstGeom>
              <a:blipFill>
                <a:blip r:embed="rId4"/>
                <a:stretch>
                  <a:fillRect l="-2941" t="-3922" r="-196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321930" y="4470007"/>
                <a:ext cx="6912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930" y="4470007"/>
                <a:ext cx="691215" cy="307777"/>
              </a:xfrm>
              <a:prstGeom prst="rect">
                <a:avLst/>
              </a:prstGeom>
              <a:blipFill>
                <a:blip r:embed="rId5"/>
                <a:stretch>
                  <a:fillRect l="-2655" t="-1961" r="-2655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93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171739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9-14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用标号法</a:t>
            </a:r>
            <a:r>
              <a:rPr lang="zh-CN" altLang="en-US" dirty="0" smtClean="0">
                <a:latin typeface="Times New Roman" panose="02020603050405020304" pitchFamily="18" charset="0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</a:rPr>
              <a:t>下</a:t>
            </a:r>
            <a:r>
              <a:rPr lang="zh-CN" altLang="en-US" dirty="0" smtClean="0">
                <a:latin typeface="Times New Roman" panose="02020603050405020304" pitchFamily="18" charset="0"/>
              </a:rPr>
              <a:t>图所</a:t>
            </a:r>
            <a:r>
              <a:rPr lang="zh-CN" altLang="en-US" dirty="0">
                <a:latin typeface="Times New Roman" panose="02020603050405020304" pitchFamily="18" charset="0"/>
              </a:rPr>
              <a:t>示网络的最大流。弧旁的数是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0957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707656"/>
            <a:ext cx="4537075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4" name="Rectangle 9"/>
          <p:cNvSpPr>
            <a:spLocks noChangeArrowheads="1"/>
          </p:cNvSpPr>
          <p:nvPr/>
        </p:nvSpPr>
        <p:spPr bwMode="auto">
          <a:xfrm>
            <a:off x="1187624" y="2235819"/>
            <a:ext cx="7632848" cy="449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b="1" i="0" dirty="0">
                <a:latin typeface="Times New Roman" panose="02020603050405020304" pitchFamily="18" charset="0"/>
              </a:rPr>
              <a:t>解  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(1) 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标号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过程</a:t>
            </a:r>
            <a:endParaRPr lang="zh-CN" altLang="en-US" sz="2000" b="1" i="0" dirty="0">
              <a:latin typeface="Times New Roman" panose="02020603050405020304" pitchFamily="18" charset="0"/>
            </a:endParaRPr>
          </a:p>
        </p:txBody>
      </p:sp>
      <p:sp>
        <p:nvSpPr>
          <p:cNvPr id="109575" name="Rectangle 10"/>
          <p:cNvSpPr>
            <a:spLocks noChangeArrowheads="1"/>
          </p:cNvSpPr>
          <p:nvPr/>
        </p:nvSpPr>
        <p:spPr bwMode="auto">
          <a:xfrm>
            <a:off x="3941010" y="6464090"/>
            <a:ext cx="9445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53AF8"/>
              </a:buClr>
              <a:buSzPct val="70000"/>
            </a:pPr>
            <a:r>
              <a:rPr lang="zh-CN" altLang="en-US" sz="2000" i="0" dirty="0"/>
              <a:t>图</a:t>
            </a:r>
            <a:r>
              <a:rPr lang="en-US" altLang="zh-CN" sz="2000" i="0" dirty="0"/>
              <a:t>9-25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1547664" y="2717188"/>
                <a:ext cx="7704856" cy="16927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indent="266700"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④ 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检查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，在弧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4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24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=3)&lt;(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24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=4)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，则给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标号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endParaRPr lang="en-US" altLang="zh-CN" sz="2000" b="1" i="0" dirty="0" smtClean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 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24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24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)]=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 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[1,1]=1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在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弧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32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＞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给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标号：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endParaRPr lang="en-US" altLang="zh-CN" sz="2000" b="1" i="0" dirty="0" smtClean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 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32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]=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 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[1,1]=1</a:t>
                </a:r>
                <a:endParaRPr lang="en-US" altLang="zh-CN" sz="2000" b="1" i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2717188"/>
                <a:ext cx="7704856" cy="1692771"/>
              </a:xfrm>
              <a:prstGeom prst="rect">
                <a:avLst/>
              </a:prstGeom>
              <a:blipFill>
                <a:blip r:embed="rId3"/>
                <a:stretch>
                  <a:fillRect b="-43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2051720" y="5308723"/>
            <a:ext cx="668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400" b="1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0,+</a:t>
            </a:r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∞)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200229" y="6310201"/>
                <a:ext cx="619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229" y="6310201"/>
                <a:ext cx="619080" cy="307777"/>
              </a:xfrm>
              <a:prstGeom prst="rect">
                <a:avLst/>
              </a:prstGeom>
              <a:blipFill>
                <a:blip r:embed="rId4"/>
                <a:stretch>
                  <a:fillRect l="-2941" t="-3922" r="-196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321930" y="4470007"/>
                <a:ext cx="6912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930" y="4470007"/>
                <a:ext cx="691215" cy="307777"/>
              </a:xfrm>
              <a:prstGeom prst="rect">
                <a:avLst/>
              </a:prstGeom>
              <a:blipFill>
                <a:blip r:embed="rId5"/>
                <a:stretch>
                  <a:fillRect l="-2655" t="-1961" r="-2655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164232" y="4493719"/>
                <a:ext cx="6319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232" y="4493719"/>
                <a:ext cx="631904" cy="307777"/>
              </a:xfrm>
              <a:prstGeom prst="rect">
                <a:avLst/>
              </a:prstGeom>
              <a:blipFill>
                <a:blip r:embed="rId6"/>
                <a:stretch>
                  <a:fillRect l="-2885" t="-3922" r="-1923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5220072" y="6344686"/>
                <a:ext cx="6912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6344686"/>
                <a:ext cx="691215" cy="307777"/>
              </a:xfrm>
              <a:prstGeom prst="rect">
                <a:avLst/>
              </a:prstGeom>
              <a:blipFill>
                <a:blip r:embed="rId7"/>
                <a:stretch>
                  <a:fillRect l="-2632" t="-4000" r="-1754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611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171739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9-14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用标号法</a:t>
            </a:r>
            <a:r>
              <a:rPr lang="zh-CN" altLang="en-US" dirty="0" smtClean="0">
                <a:latin typeface="Times New Roman" panose="02020603050405020304" pitchFamily="18" charset="0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</a:rPr>
              <a:t>下</a:t>
            </a:r>
            <a:r>
              <a:rPr lang="zh-CN" altLang="en-US" dirty="0" smtClean="0">
                <a:latin typeface="Times New Roman" panose="02020603050405020304" pitchFamily="18" charset="0"/>
              </a:rPr>
              <a:t>图所</a:t>
            </a:r>
            <a:r>
              <a:rPr lang="zh-CN" altLang="en-US" dirty="0">
                <a:latin typeface="Times New Roman" panose="02020603050405020304" pitchFamily="18" charset="0"/>
              </a:rPr>
              <a:t>示网络的最大流。弧旁的数是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10957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707656"/>
            <a:ext cx="4537075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4" name="Rectangle 9"/>
          <p:cNvSpPr>
            <a:spLocks noChangeArrowheads="1"/>
          </p:cNvSpPr>
          <p:nvPr/>
        </p:nvSpPr>
        <p:spPr bwMode="auto">
          <a:xfrm>
            <a:off x="1187624" y="2235819"/>
            <a:ext cx="7632848" cy="449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b="1" i="0" dirty="0">
                <a:latin typeface="Times New Roman" panose="02020603050405020304" pitchFamily="18" charset="0"/>
              </a:rPr>
              <a:t>解  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(1) 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标号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过程</a:t>
            </a:r>
            <a:endParaRPr lang="zh-CN" altLang="en-US" sz="2000" b="1" i="0" dirty="0">
              <a:latin typeface="Times New Roman" panose="02020603050405020304" pitchFamily="18" charset="0"/>
            </a:endParaRPr>
          </a:p>
        </p:txBody>
      </p:sp>
      <p:sp>
        <p:nvSpPr>
          <p:cNvPr id="109575" name="Rectangle 10"/>
          <p:cNvSpPr>
            <a:spLocks noChangeArrowheads="1"/>
          </p:cNvSpPr>
          <p:nvPr/>
        </p:nvSpPr>
        <p:spPr bwMode="auto">
          <a:xfrm>
            <a:off x="3941010" y="6464090"/>
            <a:ext cx="9445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53AF8"/>
              </a:buClr>
              <a:buSzPct val="70000"/>
            </a:pPr>
            <a:r>
              <a:rPr lang="zh-CN" altLang="en-US" sz="2000" i="0" dirty="0"/>
              <a:t>图</a:t>
            </a:r>
            <a:r>
              <a:rPr lang="en-US" altLang="zh-CN" sz="2000" i="0" dirty="0"/>
              <a:t>9-25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1547664" y="2671375"/>
                <a:ext cx="6942013" cy="16927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indent="266700"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⑤ 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在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中</a:t>
                </a:r>
                <a:r>
                  <a:rPr lang="zh-CN" altLang="en-US" sz="20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任选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一个进行检查。例如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在弧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=1)&lt;(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=2)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，给</a:t>
                </a:r>
                <a:r>
                  <a:rPr lang="en-US" altLang="zh-CN" sz="2000" b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err="1" smtClean="0">
                    <a:latin typeface="Times New Roman" panose="02020603050405020304" pitchFamily="18" charset="0"/>
                  </a:rPr>
                  <a:t>t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标号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为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endParaRPr lang="en-US" altLang="zh-CN" sz="2000" b="1" i="0" dirty="0" smtClean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 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)]=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 min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[1,1]=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1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因</a:t>
                </a:r>
                <a:r>
                  <a:rPr lang="en-US" altLang="zh-CN" sz="2000" b="1" dirty="0" err="1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err="1">
                    <a:latin typeface="Times New Roman" panose="02020603050405020304" pitchFamily="18" charset="0"/>
                  </a:rPr>
                  <a:t>t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有了标号，故转入调整过程。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2671375"/>
                <a:ext cx="6942013" cy="1692771"/>
              </a:xfrm>
              <a:prstGeom prst="rect">
                <a:avLst/>
              </a:prstGeom>
              <a:blipFill>
                <a:blip r:embed="rId3"/>
                <a:stretch>
                  <a:fillRect b="-43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2051720" y="5308723"/>
            <a:ext cx="668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400" b="1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0,+</a:t>
            </a:r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∞)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200229" y="6310201"/>
                <a:ext cx="619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229" y="6310201"/>
                <a:ext cx="619080" cy="307777"/>
              </a:xfrm>
              <a:prstGeom prst="rect">
                <a:avLst/>
              </a:prstGeom>
              <a:blipFill>
                <a:blip r:embed="rId4"/>
                <a:stretch>
                  <a:fillRect l="-2941" t="-3922" r="-196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321930" y="4470007"/>
                <a:ext cx="6912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930" y="4470007"/>
                <a:ext cx="691215" cy="307777"/>
              </a:xfrm>
              <a:prstGeom prst="rect">
                <a:avLst/>
              </a:prstGeom>
              <a:blipFill>
                <a:blip r:embed="rId5"/>
                <a:stretch>
                  <a:fillRect l="-2655" t="-1961" r="-2655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164232" y="4493719"/>
                <a:ext cx="6319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232" y="4493719"/>
                <a:ext cx="631904" cy="307777"/>
              </a:xfrm>
              <a:prstGeom prst="rect">
                <a:avLst/>
              </a:prstGeom>
              <a:blipFill>
                <a:blip r:embed="rId6"/>
                <a:stretch>
                  <a:fillRect l="-2885" t="-3922" r="-1923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5220072" y="6344686"/>
                <a:ext cx="6912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6344686"/>
                <a:ext cx="691215" cy="307777"/>
              </a:xfrm>
              <a:prstGeom prst="rect">
                <a:avLst/>
              </a:prstGeom>
              <a:blipFill>
                <a:blip r:embed="rId7"/>
                <a:stretch>
                  <a:fillRect l="-2632" t="-4000" r="-1754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6387203" y="5616500"/>
                <a:ext cx="6319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203" y="5616500"/>
                <a:ext cx="631904" cy="307777"/>
              </a:xfrm>
              <a:prstGeom prst="rect">
                <a:avLst/>
              </a:prstGeom>
              <a:blipFill>
                <a:blip r:embed="rId8"/>
                <a:stretch>
                  <a:fillRect l="-2913" t="-1961" r="-2913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18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830997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9-14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用标号法求下图所示网络的最大流。弧旁的数是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111620" name="Text Box 5"/>
          <p:cNvSpPr txBox="1">
            <a:spLocks noChangeArrowheads="1"/>
          </p:cNvSpPr>
          <p:nvPr/>
        </p:nvSpPr>
        <p:spPr bwMode="auto">
          <a:xfrm>
            <a:off x="4882802" y="6497092"/>
            <a:ext cx="12969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2000" i="0" dirty="0"/>
              <a:t>图</a:t>
            </a:r>
            <a:r>
              <a:rPr lang="en-US" altLang="zh-CN" sz="2000" i="0" dirty="0"/>
              <a:t>9-26</a:t>
            </a:r>
          </a:p>
        </p:txBody>
      </p:sp>
      <p:sp>
        <p:nvSpPr>
          <p:cNvPr id="111623" name="Rectangle 9"/>
          <p:cNvSpPr>
            <a:spLocks noChangeArrowheads="1"/>
          </p:cNvSpPr>
          <p:nvPr/>
        </p:nvSpPr>
        <p:spPr bwMode="auto">
          <a:xfrm>
            <a:off x="1403649" y="4941168"/>
            <a:ext cx="724264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i="0" dirty="0">
                <a:latin typeface="Times New Roman" panose="02020603050405020304" pitchFamily="18" charset="0"/>
              </a:rPr>
              <a:t>易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见       </a:t>
            </a:r>
            <a:r>
              <a:rPr lang="en-US" altLang="zh-CN" sz="2000" b="1" dirty="0">
                <a:latin typeface="Times New Roman" panose="02020603050405020304" pitchFamily="18" charset="0"/>
              </a:rPr>
              <a:t>μ</a:t>
            </a:r>
            <a:r>
              <a:rPr lang="en-US" altLang="zh-CN" sz="2000" b="1" i="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=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｛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30000" dirty="0" smtClean="0">
                <a:latin typeface="Times New Roman" panose="02020603050405020304" pitchFamily="18" charset="0"/>
              </a:rPr>
              <a:t>s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)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t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)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｝ </a:t>
            </a:r>
            <a:r>
              <a:rPr lang="en-US" altLang="zh-CN" sz="2000" b="1" dirty="0">
                <a:latin typeface="Times New Roman" panose="02020603050405020304" pitchFamily="18" charset="0"/>
              </a:rPr>
              <a:t>μ </a:t>
            </a:r>
            <a:r>
              <a:rPr lang="en-US" altLang="zh-CN" sz="2000" b="1" i="0" baseline="30000" dirty="0" smtClean="0">
                <a:latin typeface="Times New Roman" panose="02020603050405020304" pitchFamily="18" charset="0"/>
              </a:rPr>
              <a:t>-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=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｛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)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，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)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｝</a:t>
            </a:r>
          </a:p>
          <a:p>
            <a:r>
              <a:rPr lang="zh-CN" altLang="en-US" sz="2000" b="1" i="0" dirty="0" smtClean="0">
                <a:latin typeface="Times New Roman" panose="02020603050405020304" pitchFamily="18" charset="0"/>
              </a:rPr>
              <a:t>按</a:t>
            </a:r>
            <a:r>
              <a:rPr lang="en-US" altLang="zh-CN" sz="2000" b="1" dirty="0">
                <a:latin typeface="Times New Roman" panose="02020603050405020304" pitchFamily="18" charset="0"/>
              </a:rPr>
              <a:t>θ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=1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在</a:t>
            </a:r>
            <a:r>
              <a:rPr lang="en-US" altLang="zh-CN" sz="2000" b="1" dirty="0">
                <a:latin typeface="Times New Roman" panose="02020603050405020304" pitchFamily="18" charset="0"/>
              </a:rPr>
              <a:t>μ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上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调整</a:t>
            </a:r>
            <a:r>
              <a:rPr lang="en-US" altLang="zh-CN" sz="2000" b="1" dirty="0">
                <a:latin typeface="Times New Roman" panose="02020603050405020304" pitchFamily="18" charset="0"/>
              </a:rPr>
              <a:t>f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。</a:t>
            </a:r>
          </a:p>
          <a:p>
            <a:r>
              <a:rPr lang="zh-CN" altLang="en-US" sz="2000" b="1" i="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μ </a:t>
            </a:r>
            <a:r>
              <a:rPr lang="en-US" altLang="zh-CN" sz="2000" b="1" i="0" baseline="30000" dirty="0" smtClean="0">
                <a:latin typeface="Times New Roman" panose="02020603050405020304" pitchFamily="18" charset="0"/>
              </a:rPr>
              <a:t>+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上：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30000" dirty="0" smtClean="0">
                <a:latin typeface="Times New Roman" panose="02020603050405020304" pitchFamily="18" charset="0"/>
              </a:rPr>
              <a:t>s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1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+</a:t>
            </a:r>
            <a:r>
              <a:rPr lang="en-US" altLang="zh-CN" sz="2000" b="1" dirty="0">
                <a:latin typeface="Times New Roman" panose="02020603050405020304" pitchFamily="18" charset="0"/>
              </a:rPr>
              <a:t>θ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=1+1=2        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2000" b="1" baseline="-30000" dirty="0" smtClean="0">
                <a:latin typeface="Times New Roman" panose="02020603050405020304" pitchFamily="18" charset="0"/>
              </a:rPr>
              <a:t>t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+</a:t>
            </a:r>
            <a:r>
              <a:rPr lang="en-US" altLang="zh-CN" sz="2000" b="1" dirty="0">
                <a:latin typeface="Times New Roman" panose="02020603050405020304" pitchFamily="18" charset="0"/>
              </a:rPr>
              <a:t>θ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=1+1=2</a:t>
            </a:r>
            <a:endParaRPr lang="en-US" altLang="zh-CN" sz="2000" b="1" i="0" dirty="0">
              <a:latin typeface="Times New Roman" panose="02020603050405020304" pitchFamily="18" charset="0"/>
            </a:endParaRPr>
          </a:p>
          <a:p>
            <a:r>
              <a:rPr lang="en-US" altLang="zh-CN" sz="2000" b="1" i="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μ </a:t>
            </a:r>
            <a:r>
              <a:rPr lang="en-US" altLang="zh-CN" sz="2000" b="1" i="0" baseline="30000" dirty="0" smtClean="0">
                <a:latin typeface="Times New Roman" panose="02020603050405020304" pitchFamily="18" charset="0"/>
              </a:rPr>
              <a:t>-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上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21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−</a:t>
            </a:r>
            <a:r>
              <a:rPr lang="en-US" altLang="zh-CN" sz="2000" b="1" dirty="0">
                <a:latin typeface="Times New Roman" panose="02020603050405020304" pitchFamily="18" charset="0"/>
              </a:rPr>
              <a:t>θ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=1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−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1=0      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i="0" baseline="-30000" dirty="0" smtClean="0">
                <a:latin typeface="Times New Roman" panose="02020603050405020304" pitchFamily="18" charset="0"/>
              </a:rPr>
              <a:t>32</a:t>
            </a:r>
            <a:r>
              <a:rPr lang="en-US" altLang="zh-CN" sz="2000" b="1" i="0" dirty="0"/>
              <a:t>−</a:t>
            </a:r>
            <a:r>
              <a:rPr lang="en-US" altLang="zh-CN" sz="2000" b="1" dirty="0">
                <a:latin typeface="Times New Roman" panose="02020603050405020304" pitchFamily="18" charset="0"/>
              </a:rPr>
              <a:t>θ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=1</a:t>
            </a:r>
            <a:r>
              <a:rPr lang="en-US" altLang="zh-CN" sz="2000" b="1" i="0" dirty="0"/>
              <a:t>−</a:t>
            </a:r>
            <a:r>
              <a:rPr lang="en-US" altLang="zh-CN" sz="2000" b="1" i="0" dirty="0">
                <a:latin typeface="Times New Roman" panose="02020603050405020304" pitchFamily="18" charset="0"/>
              </a:rPr>
              <a:t>1=0</a:t>
            </a:r>
          </a:p>
          <a:p>
            <a:r>
              <a:rPr lang="zh-CN" altLang="en-US" sz="2000" b="1" i="0" dirty="0">
                <a:latin typeface="Times New Roman" panose="02020603050405020304" pitchFamily="18" charset="0"/>
              </a:rPr>
              <a:t>其余的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sz="2000" b="1" i="0" dirty="0">
                <a:latin typeface="Times New Roman" panose="02020603050405020304" pitchFamily="18" charset="0"/>
              </a:rPr>
              <a:t>不变。</a:t>
            </a:r>
          </a:p>
        </p:txBody>
      </p:sp>
      <p:sp>
        <p:nvSpPr>
          <p:cNvPr id="4" name="矩形 3"/>
          <p:cNvSpPr/>
          <p:nvPr/>
        </p:nvSpPr>
        <p:spPr>
          <a:xfrm>
            <a:off x="1619672" y="2204864"/>
            <a:ext cx="73448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SzPct val="70000"/>
            </a:pPr>
            <a:r>
              <a:rPr lang="zh-CN" altLang="en-US" sz="2000" b="1" i="0" dirty="0" smtClean="0">
                <a:solidFill>
                  <a:srgbClr val="292929"/>
                </a:solidFill>
                <a:latin typeface="Arial"/>
                <a:ea typeface="宋体"/>
              </a:rPr>
              <a:t>解 </a:t>
            </a:r>
            <a:r>
              <a:rPr lang="en-US" altLang="zh-CN" sz="2000" b="1" i="0" dirty="0" smtClean="0">
                <a:solidFill>
                  <a:srgbClr val="292929"/>
                </a:solidFill>
                <a:latin typeface="Arial"/>
                <a:ea typeface="宋体"/>
              </a:rPr>
              <a:t>(2</a:t>
            </a:r>
            <a:r>
              <a:rPr lang="en-US" altLang="zh-CN" sz="2000" b="1" i="0" dirty="0">
                <a:solidFill>
                  <a:srgbClr val="292929"/>
                </a:solidFill>
                <a:latin typeface="Arial"/>
                <a:ea typeface="宋体"/>
              </a:rPr>
              <a:t>) </a:t>
            </a:r>
            <a:r>
              <a:rPr lang="zh-CN" altLang="en-US" sz="2000" b="1" i="0" dirty="0">
                <a:solidFill>
                  <a:srgbClr val="292929"/>
                </a:solidFill>
                <a:latin typeface="Arial"/>
                <a:ea typeface="宋体"/>
              </a:rPr>
              <a:t>调整过程</a:t>
            </a:r>
          </a:p>
          <a:p>
            <a:pPr lvl="0" eaLnBrk="0" hangingPunct="0">
              <a:spcBef>
                <a:spcPct val="20000"/>
              </a:spcBef>
              <a:buSzPct val="70000"/>
            </a:pPr>
            <a:r>
              <a:rPr lang="zh-CN" altLang="en-US" sz="2000" b="1" i="0" dirty="0">
                <a:solidFill>
                  <a:srgbClr val="292929"/>
                </a:solidFill>
                <a:latin typeface="Arial"/>
                <a:ea typeface="宋体"/>
              </a:rPr>
              <a:t>按点的第一个标号找到一条增广链，如</a:t>
            </a:r>
            <a:r>
              <a:rPr lang="zh-CN" altLang="en-US" sz="2000" b="1" i="0" dirty="0" smtClean="0">
                <a:solidFill>
                  <a:srgbClr val="292929"/>
                </a:solidFill>
                <a:latin typeface="Arial"/>
                <a:ea typeface="宋体"/>
              </a:rPr>
              <a:t>图中</a:t>
            </a:r>
            <a:r>
              <a:rPr lang="zh-CN" altLang="en-US" sz="2000" b="1" i="0" dirty="0">
                <a:solidFill>
                  <a:srgbClr val="292929"/>
                </a:solidFill>
                <a:latin typeface="Arial"/>
                <a:ea typeface="宋体"/>
              </a:rPr>
              <a:t>双箭头线表示。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157030"/>
            <a:ext cx="4537075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2123728" y="3758097"/>
            <a:ext cx="668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400" b="1" i="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0,+</a:t>
            </a:r>
            <a:r>
              <a:rPr lang="en-US" altLang="zh-CN" sz="1400" b="1" i="0" dirty="0">
                <a:solidFill>
                  <a:srgbClr val="FF0000"/>
                </a:solidFill>
                <a:latin typeface="Times New Roman" panose="02020603050405020304" pitchFamily="18" charset="0"/>
              </a:rPr>
              <a:t>∞)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272237" y="4759575"/>
                <a:ext cx="6190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237" y="4759575"/>
                <a:ext cx="619080" cy="307777"/>
              </a:xfrm>
              <a:prstGeom prst="rect">
                <a:avLst/>
              </a:prstGeom>
              <a:blipFill>
                <a:blip r:embed="rId3"/>
                <a:stretch>
                  <a:fillRect l="-2970" t="-4000" r="-297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393938" y="2919381"/>
                <a:ext cx="6912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938" y="2919381"/>
                <a:ext cx="691215" cy="307777"/>
              </a:xfrm>
              <a:prstGeom prst="rect">
                <a:avLst/>
              </a:prstGeom>
              <a:blipFill>
                <a:blip r:embed="rId4"/>
                <a:stretch>
                  <a:fillRect l="-2655" t="-4000" r="-2655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236240" y="2943093"/>
                <a:ext cx="6319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240" y="2943093"/>
                <a:ext cx="631904" cy="307777"/>
              </a:xfrm>
              <a:prstGeom prst="rect">
                <a:avLst/>
              </a:prstGeom>
              <a:blipFill>
                <a:blip r:embed="rId5"/>
                <a:stretch>
                  <a:fillRect l="-2885" t="-4000" r="-1923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5292080" y="4794060"/>
                <a:ext cx="6912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(-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4794060"/>
                <a:ext cx="691215" cy="307777"/>
              </a:xfrm>
              <a:prstGeom prst="rect">
                <a:avLst/>
              </a:prstGeom>
              <a:blipFill>
                <a:blip r:embed="rId6"/>
                <a:stretch>
                  <a:fillRect l="-2632" t="-1961" r="-1754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6459211" y="4065874"/>
                <a:ext cx="6319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400" b="1" baseline="-30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14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14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)</a:t>
                </a:r>
                <a:endParaRPr lang="zh-CN" alt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211" y="4065874"/>
                <a:ext cx="631904" cy="307777"/>
              </a:xfrm>
              <a:prstGeom prst="rect">
                <a:avLst/>
              </a:prstGeom>
              <a:blipFill>
                <a:blip r:embed="rId7"/>
                <a:stretch>
                  <a:fillRect l="-2913" t="-4000" r="-2913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/>
          <p:cNvCxnSpPr/>
          <p:nvPr/>
        </p:nvCxnSpPr>
        <p:spPr bwMode="auto">
          <a:xfrm flipV="1">
            <a:off x="5531295" y="3989099"/>
            <a:ext cx="927916" cy="686261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</p:cxnSp>
      <p:cxnSp>
        <p:nvCxnSpPr>
          <p:cNvPr id="18" name="直接箭头连接符 17"/>
          <p:cNvCxnSpPr/>
          <p:nvPr/>
        </p:nvCxnSpPr>
        <p:spPr bwMode="auto">
          <a:xfrm flipH="1" flipV="1">
            <a:off x="3635896" y="3383718"/>
            <a:ext cx="1895399" cy="1262408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</p:cxnSp>
      <p:cxnSp>
        <p:nvCxnSpPr>
          <p:cNvPr id="21" name="直接箭头连接符 20"/>
          <p:cNvCxnSpPr/>
          <p:nvPr/>
        </p:nvCxnSpPr>
        <p:spPr bwMode="auto">
          <a:xfrm flipH="1">
            <a:off x="3640923" y="3418794"/>
            <a:ext cx="12574" cy="125656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</p:cxnSp>
      <p:cxnSp>
        <p:nvCxnSpPr>
          <p:cNvPr id="27" name="直接箭头连接符 26"/>
          <p:cNvCxnSpPr/>
          <p:nvPr/>
        </p:nvCxnSpPr>
        <p:spPr bwMode="auto">
          <a:xfrm>
            <a:off x="2695315" y="4047077"/>
            <a:ext cx="895427" cy="594024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</p:cxnSp>
      <p:sp>
        <p:nvSpPr>
          <p:cNvPr id="25" name="文本框 24"/>
          <p:cNvSpPr txBox="1"/>
          <p:nvPr/>
        </p:nvSpPr>
        <p:spPr>
          <a:xfrm rot="19689269">
            <a:off x="5851302" y="4338463"/>
            <a:ext cx="63350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i="0" dirty="0" smtClean="0">
                <a:solidFill>
                  <a:srgbClr val="FF0000"/>
                </a:solidFill>
                <a:latin typeface="+mn-ea"/>
                <a:ea typeface="+mn-ea"/>
              </a:rPr>
              <a:t>(2,2)</a:t>
            </a:r>
            <a:endParaRPr lang="zh-CN" altLang="en-US" sz="14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 rot="1705316">
            <a:off x="2669187" y="4358879"/>
            <a:ext cx="63350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i="0" dirty="0" smtClean="0">
                <a:solidFill>
                  <a:srgbClr val="FF0000"/>
                </a:solidFill>
                <a:latin typeface="+mn-ea"/>
                <a:ea typeface="+mn-ea"/>
              </a:rPr>
              <a:t>(5,2)</a:t>
            </a:r>
            <a:endParaRPr lang="zh-CN" altLang="en-US" sz="14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663335" y="3893188"/>
            <a:ext cx="63350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i="0" dirty="0" smtClean="0">
                <a:solidFill>
                  <a:srgbClr val="FF0000"/>
                </a:solidFill>
                <a:latin typeface="+mn-ea"/>
                <a:ea typeface="+mn-ea"/>
              </a:rPr>
              <a:t>(1,0)</a:t>
            </a:r>
            <a:endParaRPr lang="zh-CN" altLang="en-US" sz="14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 rot="1986463">
            <a:off x="4366707" y="3701514"/>
            <a:ext cx="63350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i="0" dirty="0" smtClean="0">
                <a:solidFill>
                  <a:srgbClr val="FF0000"/>
                </a:solidFill>
                <a:latin typeface="+mn-ea"/>
                <a:ea typeface="+mn-ea"/>
              </a:rPr>
              <a:t>(1,0)</a:t>
            </a:r>
            <a:endParaRPr lang="zh-CN" altLang="en-US" sz="1400" b="1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1" grpId="0" animBg="1"/>
      <p:bldP spid="32" grpId="0" animBg="1"/>
      <p:bldP spid="3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830997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9-14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用标号法求下图所示网络的最大流。弧旁的数是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111620" name="Text Box 5"/>
          <p:cNvSpPr txBox="1">
            <a:spLocks noChangeArrowheads="1"/>
          </p:cNvSpPr>
          <p:nvPr/>
        </p:nvSpPr>
        <p:spPr bwMode="auto">
          <a:xfrm>
            <a:off x="4882802" y="6497092"/>
            <a:ext cx="12969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2000" i="0" dirty="0"/>
              <a:t>图</a:t>
            </a:r>
            <a:r>
              <a:rPr lang="en-US" altLang="zh-CN" sz="2000" i="0" dirty="0" smtClean="0"/>
              <a:t>9-27</a:t>
            </a:r>
            <a:endParaRPr lang="en-US" altLang="zh-CN" sz="2000" i="0" dirty="0"/>
          </a:p>
        </p:txBody>
      </p:sp>
      <p:sp>
        <p:nvSpPr>
          <p:cNvPr id="4" name="矩形 3"/>
          <p:cNvSpPr/>
          <p:nvPr/>
        </p:nvSpPr>
        <p:spPr>
          <a:xfrm>
            <a:off x="1619672" y="2204864"/>
            <a:ext cx="73448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SzPct val="70000"/>
            </a:pPr>
            <a:r>
              <a:rPr lang="zh-CN" altLang="en-US" sz="2000" b="1" i="0" dirty="0" smtClean="0">
                <a:solidFill>
                  <a:srgbClr val="292929"/>
                </a:solidFill>
                <a:latin typeface="Arial"/>
                <a:ea typeface="宋体"/>
              </a:rPr>
              <a:t>解  调整后得如下图所</a:t>
            </a:r>
            <a:r>
              <a:rPr lang="zh-CN" altLang="en-US" sz="2000" b="1" i="0" dirty="0">
                <a:solidFill>
                  <a:srgbClr val="292929"/>
                </a:solidFill>
                <a:latin typeface="Arial"/>
                <a:ea typeface="宋体"/>
              </a:rPr>
              <a:t>示的可行流，对这个可行流</a:t>
            </a:r>
            <a:r>
              <a:rPr lang="zh-CN" altLang="en-US" sz="2000" b="1" i="0" dirty="0">
                <a:solidFill>
                  <a:srgbClr val="FF0000"/>
                </a:solidFill>
                <a:latin typeface="Arial"/>
                <a:ea typeface="宋体"/>
              </a:rPr>
              <a:t>进入标号过程，寻找增广链</a:t>
            </a:r>
            <a:r>
              <a:rPr lang="zh-CN" altLang="en-US" sz="2000" b="1" i="0" dirty="0">
                <a:solidFill>
                  <a:srgbClr val="292929"/>
                </a:solidFill>
                <a:latin typeface="Arial"/>
                <a:ea typeface="宋体"/>
              </a:rPr>
              <a:t>。</a:t>
            </a:r>
          </a:p>
        </p:txBody>
      </p:sp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600" y="2564904"/>
            <a:ext cx="4176712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8"/>
              <p:cNvSpPr>
                <a:spLocks noChangeArrowheads="1"/>
              </p:cNvSpPr>
              <p:nvPr/>
            </p:nvSpPr>
            <p:spPr bwMode="auto">
              <a:xfrm>
                <a:off x="1546970" y="4537575"/>
                <a:ext cx="7344816" cy="1938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indent="333375"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i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0"/>
                <a:r>
                  <a:rPr lang="zh-CN" altLang="en-US" sz="2000" b="1" i="0" dirty="0">
                    <a:latin typeface="Times New Roman" panose="02020603050405020304" pitchFamily="18" charset="0"/>
                  </a:rPr>
                  <a:t>开始给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标以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0,+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∞)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，于是检查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，给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标以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,3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检查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弧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13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＝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13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，弧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上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21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=0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，均不符号条件，标号过程无法继续下去，算法结束。</a:t>
                </a:r>
              </a:p>
              <a:p>
                <a:pPr indent="0"/>
                <a:r>
                  <a:rPr lang="zh-CN" altLang="en-US" sz="2000" b="1" i="0" dirty="0">
                    <a:latin typeface="Times New Roman" panose="02020603050405020304" pitchFamily="18" charset="0"/>
                  </a:rPr>
                  <a:t>这时的可行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流即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为所求</a:t>
                </a:r>
                <a:r>
                  <a:rPr lang="zh-CN" altLang="en-US" sz="20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最大流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。最大流量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为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)=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s1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+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s2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4t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+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3t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=5</a:t>
                </a:r>
                <a:endParaRPr lang="en-US" altLang="zh-CN" sz="2000" b="1" i="0" dirty="0">
                  <a:latin typeface="Times New Roman" panose="02020603050405020304" pitchFamily="18" charset="0"/>
                </a:endParaRPr>
              </a:p>
              <a:p>
                <a:pPr indent="0"/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与此同时可找到</a:t>
                </a:r>
                <a:r>
                  <a:rPr lang="zh-CN" altLang="en-US" sz="2000" b="1" i="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最小截</a:t>
                </a:r>
                <a:r>
                  <a:rPr lang="zh-CN" altLang="en-US" sz="2000" b="1" i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集</a:t>
                </a:r>
                <a:r>
                  <a:rPr lang="en-US" altLang="zh-CN" sz="2000" i="0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000" i="0" dirty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其中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为标号点集合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为未标号点集合。弧集合</a:t>
                </a:r>
                <a:r>
                  <a:rPr lang="en-US" altLang="zh-CN" sz="2000" i="0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000" i="0" dirty="0" smtClean="0">
                    <a:latin typeface="Times New Roman" panose="02020603050405020304" pitchFamily="18" charset="0"/>
                  </a:rPr>
                  <a:t>)={(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 smtClean="0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000" b="1" i="0" dirty="0" smtClean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 smtClean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 smtClean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i="0" dirty="0" smtClean="0">
                    <a:latin typeface="Times New Roman" panose="02020603050405020304" pitchFamily="18" charset="0"/>
                  </a:rPr>
                  <a:t>),(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2000" b="1" i="0" dirty="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i="0" baseline="-30000" dirty="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2000" i="0" dirty="0" smtClean="0">
                    <a:latin typeface="Times New Roman" panose="02020603050405020304" pitchFamily="18" charset="0"/>
                  </a:rPr>
                  <a:t>)}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即</a:t>
                </a:r>
                <a:r>
                  <a:rPr lang="zh-CN" altLang="en-US" sz="2000" b="1" i="0" dirty="0">
                    <a:latin typeface="Times New Roman" panose="02020603050405020304" pitchFamily="18" charset="0"/>
                  </a:rPr>
                  <a:t>为最小截集</a:t>
                </a:r>
                <a:r>
                  <a:rPr lang="zh-CN" altLang="en-US" sz="2000" b="1" i="0" dirty="0" smtClean="0">
                    <a:latin typeface="Times New Roman" panose="02020603050405020304" pitchFamily="18" charset="0"/>
                  </a:rPr>
                  <a:t>。</a:t>
                </a:r>
                <a:endParaRPr lang="zh-CN" altLang="en-US" sz="2000" b="1" i="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6970" y="4537575"/>
                <a:ext cx="7344816" cy="1938992"/>
              </a:xfrm>
              <a:prstGeom prst="rect">
                <a:avLst/>
              </a:prstGeom>
              <a:blipFill>
                <a:blip r:embed="rId3"/>
                <a:stretch>
                  <a:fillRect l="-913" t="-1887" b="-59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18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  <a:endParaRPr lang="zh-CN" altLang="en-US" dirty="0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830997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9-14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用标号法求下图所示网络的最大流。弧旁的数是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111620" name="Text Box 5"/>
          <p:cNvSpPr txBox="1">
            <a:spLocks noChangeArrowheads="1"/>
          </p:cNvSpPr>
          <p:nvPr/>
        </p:nvSpPr>
        <p:spPr bwMode="auto">
          <a:xfrm>
            <a:off x="4882802" y="6497092"/>
            <a:ext cx="12969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7675" indent="-447675"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553AF8"/>
              </a:buClr>
              <a:buSzPct val="70000"/>
            </a:pPr>
            <a:r>
              <a:rPr lang="zh-CN" altLang="en-US" sz="2000" i="0" dirty="0"/>
              <a:t>图</a:t>
            </a:r>
            <a:r>
              <a:rPr lang="en-US" altLang="zh-CN" sz="2000" i="0" dirty="0" smtClean="0"/>
              <a:t>9-28</a:t>
            </a:r>
            <a:endParaRPr lang="en-US" altLang="zh-CN" sz="2000" i="0" dirty="0"/>
          </a:p>
        </p:txBody>
      </p:sp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939" y="2060848"/>
            <a:ext cx="4176712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914127" y="4149080"/>
            <a:ext cx="7993062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47675" indent="-447675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6462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65000"/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3813" indent="-403225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81163" indent="-3857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Char char="±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7010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0" dirty="0" smtClean="0">
                <a:solidFill>
                  <a:srgbClr val="336699"/>
                </a:solidFill>
                <a:ea typeface="仿宋" panose="02010609060101010101" pitchFamily="49" charset="-122"/>
              </a:rPr>
              <a:t>由上述可见，用标号法找增广链以求最大流的结果，同时得到一个最小截集。最小截集容量的大小影响总的输送量的提高。</a:t>
            </a:r>
            <a:endParaRPr lang="en-US" altLang="zh-CN" sz="2000" i="0" dirty="0" smtClean="0">
              <a:solidFill>
                <a:srgbClr val="336699"/>
              </a:solidFill>
              <a:ea typeface="仿宋" panose="0201060906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0" dirty="0" smtClean="0">
                <a:solidFill>
                  <a:srgbClr val="336699"/>
                </a:solidFill>
                <a:ea typeface="仿宋" panose="02010609060101010101" pitchFamily="49" charset="-122"/>
              </a:rPr>
              <a:t>因此，为提高总的输送量，必须首先考虑改善最小截集中各弧的输送状况，提高它们的通过能力。另一方面，一旦最小截集中弧的通过能力被降低，就会使总的输送量减少。</a:t>
            </a:r>
          </a:p>
        </p:txBody>
      </p:sp>
    </p:spTree>
    <p:extLst>
      <p:ext uri="{BB962C8B-B14F-4D97-AF65-F5344CB8AC3E}">
        <p14:creationId xmlns:p14="http://schemas.microsoft.com/office/powerpoint/2010/main" val="63693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9.4.2 </a:t>
            </a:r>
            <a:r>
              <a:rPr lang="zh-CN" altLang="en-US" dirty="0"/>
              <a:t>寻求最大流的标号法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461665"/>
          </a:xfrm>
        </p:spPr>
        <p:txBody>
          <a:bodyPr/>
          <a:lstStyle/>
          <a:p>
            <a:r>
              <a:rPr lang="zh-CN" altLang="en-US" dirty="0"/>
              <a:t>练习：标号法寻找网络最大</a:t>
            </a:r>
            <a:r>
              <a:rPr lang="zh-CN" altLang="en-US" dirty="0" smtClean="0"/>
              <a:t>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802433"/>
            <a:ext cx="5464013" cy="26824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4509120"/>
            <a:ext cx="5334462" cy="189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6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340768"/>
            <a:ext cx="7661275" cy="387798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＝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，弧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sz="2400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上，容量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400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，单位流量的费用</a:t>
            </a:r>
            <a:r>
              <a:rPr lang="en-US" altLang="zh-CN" i="1" dirty="0" smtClean="0">
                <a:latin typeface="Times New Roman" panose="02020603050405020304" pitchFamily="18" charset="0"/>
              </a:rPr>
              <a:t>b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)≥0(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简记为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最小费用最大流问题</a:t>
            </a:r>
            <a:r>
              <a:rPr lang="en-US" altLang="zh-CN" sz="2400" b="1" dirty="0" smtClean="0">
                <a:latin typeface="Times New Roman" panose="02020603050405020304" pitchFamily="18" charset="0"/>
              </a:rPr>
              <a:t>: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求一个最大流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，使流的总输送费用                       取极小值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求解思路：</a:t>
            </a:r>
            <a:endParaRPr lang="en-US" altLang="zh-CN" sz="2400" dirty="0" smtClean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求得最大流量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调整网络流量分布以减少网络费用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达到最小费用</a:t>
            </a:r>
            <a:endParaRPr lang="en-US" altLang="zh-C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满足最小费用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寻找最小费用增广链以增大网络流量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达到最大流量</a:t>
            </a: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graphicFrame>
        <p:nvGraphicFramePr>
          <p:cNvPr id="1157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749594"/>
              </p:ext>
            </p:extLst>
          </p:nvPr>
        </p:nvGraphicFramePr>
        <p:xfrm>
          <a:off x="2267744" y="2420888"/>
          <a:ext cx="1656184" cy="631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0" r:id="rId3" imgW="1218671" imgH="380835" progId="Equation.DSMT4">
                  <p:embed/>
                </p:oleObj>
              </mc:Choice>
              <mc:Fallback>
                <p:oleObj r:id="rId3" imgW="1218671" imgH="38083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420888"/>
                        <a:ext cx="1656184" cy="631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340768"/>
            <a:ext cx="7877299" cy="564462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伴随网络流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的增流网络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：设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f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是网络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＝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C,F,B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的一个网络流，按照</a:t>
            </a:r>
            <a:r>
              <a:rPr lang="zh-CN" altLang="en-US" dirty="0">
                <a:latin typeface="Times New Roman" panose="02020603050405020304" pitchFamily="18" charset="0"/>
              </a:rPr>
              <a:t>以下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规则建立一个新的网络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smtClean="0">
                <a:latin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A’</a:t>
            </a:r>
            <a:r>
              <a:rPr lang="en-US" altLang="zh-CN" dirty="0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smtClean="0">
                <a:latin typeface="Times New Roman" panose="02020603050405020304" pitchFamily="18" charset="0"/>
              </a:rPr>
              <a:t>C’, B’</a:t>
            </a:r>
            <a:r>
              <a:rPr lang="en-US" altLang="zh-CN" dirty="0" smtClean="0">
                <a:latin typeface="Times New Roman" panose="02020603050405020304" pitchFamily="18" charset="0"/>
              </a:rPr>
              <a:t>) 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，</a:t>
            </a:r>
            <a:r>
              <a:rPr lang="zh-CN" altLang="en-US" dirty="0" smtClean="0">
                <a:latin typeface="Times New Roman" panose="02020603050405020304" pitchFamily="18" charset="0"/>
              </a:rPr>
              <a:t>该网络为伴随</a:t>
            </a:r>
            <a:r>
              <a:rPr lang="en-US" altLang="zh-CN" i="1" dirty="0" smtClean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的增流网络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顶点：网络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的顶点与网络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dirty="0" smtClean="0">
                <a:latin typeface="Times New Roman" panose="02020603050405020304" pitchFamily="18" charset="0"/>
              </a:rPr>
              <a:t>的顶点相同；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弧与权：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在</a:t>
            </a:r>
            <a:r>
              <a:rPr lang="en-US" altLang="zh-CN" i="1" dirty="0" smtClean="0">
                <a:latin typeface="Times New Roman" panose="02020603050405020304" pitchFamily="18" charset="0"/>
              </a:rPr>
              <a:t>D</a:t>
            </a:r>
            <a:r>
              <a:rPr lang="zh-CN" altLang="en-US" dirty="0" smtClean="0">
                <a:latin typeface="Times New Roman" panose="02020603050405020304" pitchFamily="18" charset="0"/>
              </a:rPr>
              <a:t>中的弧</a:t>
            </a:r>
            <a:r>
              <a:rPr lang="en-US" altLang="zh-CN" dirty="0" smtClean="0">
                <a:latin typeface="Times New Roman" panose="02020603050405020304" pitchFamily="18" charset="0"/>
              </a:rPr>
              <a:t>(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</a:t>
            </a:r>
            <a:r>
              <a:rPr lang="en-US" altLang="zh-CN" dirty="0" err="1" smtClean="0">
                <a:latin typeface="Times New Roman" panose="02020603050405020304" pitchFamily="18" charset="0"/>
              </a:rPr>
              <a:t>,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j</a:t>
            </a:r>
            <a:r>
              <a:rPr lang="en-US" altLang="zh-CN" dirty="0" smtClean="0">
                <a:latin typeface="Times New Roman" panose="02020603050405020304" pitchFamily="18" charset="0"/>
              </a:rPr>
              <a:t>)</a:t>
            </a:r>
            <a:r>
              <a:rPr lang="zh-CN" altLang="en-US" dirty="0" smtClean="0">
                <a:latin typeface="Times New Roman" panose="02020603050405020304" pitchFamily="18" charset="0"/>
              </a:rPr>
              <a:t>若为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零流弧</a:t>
            </a:r>
            <a:r>
              <a:rPr lang="zh-CN" altLang="en-US" dirty="0" smtClean="0">
                <a:latin typeface="Times New Roman" panose="02020603050405020304" pitchFamily="18" charset="0"/>
              </a:rPr>
              <a:t>，即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dirty="0" smtClean="0">
                <a:latin typeface="Times New Roman" panose="02020603050405020304" pitchFamily="18" charset="0"/>
              </a:rPr>
              <a:t>=0</a:t>
            </a:r>
            <a:r>
              <a:rPr lang="zh-CN" altLang="en-US" dirty="0" smtClean="0">
                <a:latin typeface="Times New Roman" panose="02020603050405020304" pitchFamily="18" charset="0"/>
              </a:rPr>
              <a:t>，则在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中构建一条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同向的弧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r>
              <a:rPr lang="en-US" altLang="zh-CN" dirty="0" smtClean="0">
                <a:latin typeface="Times New Roman" panose="02020603050405020304" pitchFamily="18" charset="0"/>
              </a:rPr>
              <a:t> 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i="1" baseline="30000" dirty="0" smtClean="0">
                <a:latin typeface="Times New Roman" panose="02020603050405020304" pitchFamily="18" charset="0"/>
              </a:rPr>
              <a:t>’</a:t>
            </a:r>
            <a:r>
              <a:rPr lang="en-US" altLang="zh-CN" i="1" dirty="0" smtClean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-f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i="1" dirty="0" smtClean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’</a:t>
            </a:r>
            <a:r>
              <a:rPr lang="en-US" altLang="zh-CN" i="1" dirty="0" smtClean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endParaRPr lang="en-US" altLang="zh-CN" i="1" baseline="-25000" dirty="0" smtClean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zh-CN" i="1" baseline="-25000" dirty="0" smtClean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zh-CN" i="1" baseline="-250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zh-CN" i="1" baseline="-25000" dirty="0" smtClean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中的弧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dirty="0" smtClean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饱和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弧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dirty="0" smtClean="0">
                <a:latin typeface="Times New Roman" panose="02020603050405020304" pitchFamily="18" charset="0"/>
              </a:rPr>
              <a:t>=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zh-CN" altLang="en-US" dirty="0" smtClean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则在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中构建一条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反向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的弧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’</a:t>
            </a:r>
            <a:r>
              <a:rPr lang="en-US" altLang="zh-CN" i="1" dirty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i="1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’</a:t>
            </a:r>
            <a:r>
              <a:rPr lang="en-US" altLang="zh-CN" i="1" dirty="0">
                <a:latin typeface="Times New Roman" panose="02020603050405020304" pitchFamily="18" charset="0"/>
              </a:rPr>
              <a:t>= </a:t>
            </a:r>
            <a:r>
              <a:rPr lang="en-US" altLang="zh-CN" i="1" dirty="0" smtClean="0">
                <a:latin typeface="Times New Roman" panose="02020603050405020304" pitchFamily="18" charset="0"/>
              </a:rPr>
              <a:t>-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endParaRPr lang="en-US" altLang="zh-CN" i="1" dirty="0" smtClean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zh-CN" i="1" baseline="-250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zh-CN" i="1" baseline="-25000" dirty="0" smtClean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zh-CN" i="1" baseline="-250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中的弧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dirty="0" smtClean="0">
                <a:latin typeface="Times New Roman" panose="02020603050405020304" pitchFamily="18" charset="0"/>
              </a:rPr>
              <a:t>为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非饱和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弧</a:t>
            </a:r>
            <a:r>
              <a:rPr lang="zh-CN" altLang="en-US" dirty="0">
                <a:latin typeface="Times New Roman" panose="02020603050405020304" pitchFamily="18" charset="0"/>
              </a:rPr>
              <a:t>，即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dirty="0" smtClean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</a:rPr>
              <a:t>，则在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中构建一</a:t>
            </a:r>
            <a:r>
              <a:rPr lang="zh-CN" altLang="en-US" dirty="0" smtClean="0">
                <a:latin typeface="Times New Roman" panose="02020603050405020304" pitchFamily="18" charset="0"/>
              </a:rPr>
              <a:t>条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同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向的弧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’</a:t>
            </a:r>
            <a:r>
              <a:rPr lang="en-US" altLang="zh-CN" i="1" dirty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dirty="0" err="1">
                <a:latin typeface="Times New Roman" panose="02020603050405020304" pitchFamily="18" charset="0"/>
              </a:rPr>
              <a:t>-f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’</a:t>
            </a:r>
            <a:r>
              <a:rPr lang="en-US" altLang="zh-CN" i="1" dirty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dirty="0" smtClean="0">
                <a:latin typeface="Times New Roman" panose="02020603050405020304" pitchFamily="18" charset="0"/>
              </a:rPr>
              <a:t>和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反向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弧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’</a:t>
            </a:r>
            <a:r>
              <a:rPr lang="en-US" altLang="zh-CN" i="1" dirty="0">
                <a:latin typeface="Times New Roman" panose="02020603050405020304" pitchFamily="18" charset="0"/>
              </a:rPr>
              <a:t>=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’</a:t>
            </a:r>
            <a:r>
              <a:rPr lang="en-US" altLang="zh-CN" i="1" dirty="0">
                <a:latin typeface="Times New Roman" panose="02020603050405020304" pitchFamily="18" charset="0"/>
              </a:rPr>
              <a:t>= -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zh-CN" altLang="en-US" dirty="0" smtClean="0">
                <a:latin typeface="Times New Roman" panose="02020603050405020304" pitchFamily="18" charset="0"/>
              </a:rPr>
              <a:t>。</a:t>
            </a:r>
            <a:endParaRPr lang="en-US" altLang="zh-CN" i="1" baseline="-25000" dirty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zh-CN" altLang="en-US" dirty="0" smtClean="0"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endParaRPr lang="zh-CN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 bwMode="auto">
          <a:xfrm>
            <a:off x="4910841" y="3995343"/>
            <a:ext cx="72008" cy="7674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V="1">
            <a:off x="3461716" y="4032740"/>
            <a:ext cx="1512168" cy="25870"/>
          </a:xfrm>
          <a:prstGeom prst="straightConnector1">
            <a:avLst/>
          </a:prstGeom>
          <a:noFill/>
          <a:ln w="28575">
            <a:solidFill>
              <a:schemeClr val="tx2"/>
            </a:solidFill>
            <a:headEnd type="oval"/>
            <a:tailEnd type="arrow"/>
          </a:ln>
        </p:spPr>
      </p:cxnSp>
      <p:sp>
        <p:nvSpPr>
          <p:cNvPr id="14" name="文本框 13"/>
          <p:cNvSpPr txBox="1"/>
          <p:nvPr/>
        </p:nvSpPr>
        <p:spPr>
          <a:xfrm>
            <a:off x="3245692" y="3665976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endParaRPr lang="zh-CN" altLang="en-US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4809564" y="3645024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j</a:t>
            </a:r>
            <a:endParaRPr lang="zh-CN" altLang="en-US" sz="2000" b="1" dirty="0"/>
          </a:p>
        </p:txBody>
      </p:sp>
      <p:sp>
        <p:nvSpPr>
          <p:cNvPr id="22" name="文本框 21"/>
          <p:cNvSpPr txBox="1"/>
          <p:nvPr/>
        </p:nvSpPr>
        <p:spPr>
          <a:xfrm>
            <a:off x="3592262" y="3665976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zh-CN" sz="2000" b="1" i="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   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=0</a:t>
            </a:r>
            <a:endParaRPr lang="zh-CN" altLang="en-US" sz="2000" b="1" dirty="0"/>
          </a:p>
        </p:txBody>
      </p:sp>
      <p:sp>
        <p:nvSpPr>
          <p:cNvPr id="16" name="矩形 15"/>
          <p:cNvSpPr/>
          <p:nvPr/>
        </p:nvSpPr>
        <p:spPr>
          <a:xfrm>
            <a:off x="2339752" y="3789040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>
                <a:latin typeface="Times New Roman" panose="02020603050405020304" pitchFamily="18" charset="0"/>
              </a:rPr>
              <a:t>网络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D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:</a:t>
            </a:r>
            <a:endParaRPr lang="zh-CN" altLang="en-US" sz="2000" b="1" i="0" dirty="0"/>
          </a:p>
        </p:txBody>
      </p:sp>
      <p:sp>
        <p:nvSpPr>
          <p:cNvPr id="24" name="椭圆 23"/>
          <p:cNvSpPr/>
          <p:nvPr/>
        </p:nvSpPr>
        <p:spPr bwMode="auto">
          <a:xfrm>
            <a:off x="8388424" y="3995343"/>
            <a:ext cx="72008" cy="7674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/>
          <p:cNvCxnSpPr/>
          <p:nvPr/>
        </p:nvCxnSpPr>
        <p:spPr bwMode="auto">
          <a:xfrm flipV="1">
            <a:off x="6910030" y="4032740"/>
            <a:ext cx="1512168" cy="25870"/>
          </a:xfrm>
          <a:prstGeom prst="straightConnector1">
            <a:avLst/>
          </a:prstGeom>
          <a:noFill/>
          <a:ln w="28575">
            <a:solidFill>
              <a:schemeClr val="tx2"/>
            </a:solidFill>
            <a:headEnd type="oval"/>
            <a:tailEnd type="arrow"/>
          </a:ln>
        </p:spPr>
      </p:cxnSp>
      <p:sp>
        <p:nvSpPr>
          <p:cNvPr id="26" name="文本框 25"/>
          <p:cNvSpPr txBox="1"/>
          <p:nvPr/>
        </p:nvSpPr>
        <p:spPr>
          <a:xfrm>
            <a:off x="6694006" y="3665976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endParaRPr lang="zh-CN" altLang="en-US" sz="2000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8257878" y="3645024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j</a:t>
            </a:r>
            <a:endParaRPr lang="zh-CN" altLang="en-US" sz="2000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7112584" y="3665976"/>
            <a:ext cx="1203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err="1" smtClean="0">
                <a:latin typeface="Times New Roman" panose="02020603050405020304" pitchFamily="18" charset="0"/>
              </a:rPr>
              <a:t>-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9" name="矩形 28"/>
          <p:cNvSpPr/>
          <p:nvPr/>
        </p:nvSpPr>
        <p:spPr>
          <a:xfrm>
            <a:off x="5284206" y="3789040"/>
            <a:ext cx="1572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 smtClean="0">
                <a:latin typeface="Times New Roman" panose="02020603050405020304" pitchFamily="18" charset="0"/>
              </a:rPr>
              <a:t>增流网络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:</a:t>
            </a:r>
            <a:endParaRPr lang="zh-CN" altLang="en-US" sz="2000" b="1" i="0" dirty="0"/>
          </a:p>
        </p:txBody>
      </p:sp>
      <p:sp>
        <p:nvSpPr>
          <p:cNvPr id="30" name="椭圆 29"/>
          <p:cNvSpPr/>
          <p:nvPr/>
        </p:nvSpPr>
        <p:spPr bwMode="auto">
          <a:xfrm>
            <a:off x="4910841" y="5291487"/>
            <a:ext cx="72008" cy="7674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/>
          <p:cNvCxnSpPr/>
          <p:nvPr/>
        </p:nvCxnSpPr>
        <p:spPr bwMode="auto">
          <a:xfrm flipV="1">
            <a:off x="3461716" y="5328884"/>
            <a:ext cx="1512168" cy="25870"/>
          </a:xfrm>
          <a:prstGeom prst="straightConnector1">
            <a:avLst/>
          </a:prstGeom>
          <a:noFill/>
          <a:ln w="28575">
            <a:solidFill>
              <a:schemeClr val="tx2"/>
            </a:solidFill>
            <a:headEnd type="oval"/>
            <a:tailEnd type="arrow"/>
          </a:ln>
        </p:spPr>
      </p:cxnSp>
      <p:sp>
        <p:nvSpPr>
          <p:cNvPr id="32" name="文本框 31"/>
          <p:cNvSpPr txBox="1"/>
          <p:nvPr/>
        </p:nvSpPr>
        <p:spPr>
          <a:xfrm>
            <a:off x="3245692" y="4962120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endParaRPr lang="zh-CN" altLang="en-US" sz="2000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4809564" y="4941168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j</a:t>
            </a:r>
            <a:endParaRPr lang="zh-CN" altLang="en-US" sz="2000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592262" y="4962120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zh-CN" sz="2000" b="1" i="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   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=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endParaRPr lang="zh-CN" altLang="en-US" sz="2000" b="1" dirty="0"/>
          </a:p>
        </p:txBody>
      </p:sp>
      <p:sp>
        <p:nvSpPr>
          <p:cNvPr id="35" name="矩形 34"/>
          <p:cNvSpPr/>
          <p:nvPr/>
        </p:nvSpPr>
        <p:spPr>
          <a:xfrm>
            <a:off x="2339752" y="5085184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>
                <a:latin typeface="Times New Roman" panose="02020603050405020304" pitchFamily="18" charset="0"/>
              </a:rPr>
              <a:t>网络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D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:</a:t>
            </a:r>
            <a:endParaRPr lang="zh-CN" altLang="en-US" sz="2000" b="1" i="0" dirty="0"/>
          </a:p>
        </p:txBody>
      </p:sp>
      <p:sp>
        <p:nvSpPr>
          <p:cNvPr id="36" name="椭圆 35"/>
          <p:cNvSpPr/>
          <p:nvPr/>
        </p:nvSpPr>
        <p:spPr bwMode="auto">
          <a:xfrm>
            <a:off x="6867291" y="5310173"/>
            <a:ext cx="72008" cy="7674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/>
          <p:cNvCxnSpPr/>
          <p:nvPr/>
        </p:nvCxnSpPr>
        <p:spPr bwMode="auto">
          <a:xfrm flipV="1">
            <a:off x="6910030" y="5328884"/>
            <a:ext cx="1512168" cy="25870"/>
          </a:xfrm>
          <a:prstGeom prst="straightConnector1">
            <a:avLst/>
          </a:prstGeom>
          <a:noFill/>
          <a:ln w="28575">
            <a:solidFill>
              <a:schemeClr val="tx2"/>
            </a:solidFill>
            <a:headEnd type="arrow"/>
            <a:tailEnd type="oval"/>
          </a:ln>
        </p:spPr>
      </p:cxnSp>
      <p:sp>
        <p:nvSpPr>
          <p:cNvPr id="38" name="文本框 37"/>
          <p:cNvSpPr txBox="1"/>
          <p:nvPr/>
        </p:nvSpPr>
        <p:spPr>
          <a:xfrm>
            <a:off x="6694006" y="4962120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endParaRPr lang="zh-CN" altLang="en-US" sz="2000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8257878" y="4941168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j</a:t>
            </a:r>
            <a:endParaRPr lang="zh-CN" altLang="en-US" sz="2000" b="1" dirty="0"/>
          </a:p>
        </p:txBody>
      </p:sp>
      <p:sp>
        <p:nvSpPr>
          <p:cNvPr id="40" name="文本框 39"/>
          <p:cNvSpPr txBox="1"/>
          <p:nvPr/>
        </p:nvSpPr>
        <p:spPr>
          <a:xfrm>
            <a:off x="7165775" y="4962120"/>
            <a:ext cx="934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-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)</a:t>
            </a:r>
            <a:endParaRPr lang="zh-CN" altLang="en-US" sz="2000" b="1" dirty="0"/>
          </a:p>
        </p:txBody>
      </p:sp>
      <p:sp>
        <p:nvSpPr>
          <p:cNvPr id="41" name="矩形 40"/>
          <p:cNvSpPr/>
          <p:nvPr/>
        </p:nvSpPr>
        <p:spPr>
          <a:xfrm>
            <a:off x="5284206" y="5085184"/>
            <a:ext cx="1572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 smtClean="0">
                <a:latin typeface="Times New Roman" panose="02020603050405020304" pitchFamily="18" charset="0"/>
              </a:rPr>
              <a:t>增流网络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:</a:t>
            </a:r>
            <a:endParaRPr lang="zh-CN" altLang="en-US" sz="2000" b="1" i="0" dirty="0"/>
          </a:p>
        </p:txBody>
      </p:sp>
      <p:sp>
        <p:nvSpPr>
          <p:cNvPr id="42" name="椭圆 41"/>
          <p:cNvSpPr/>
          <p:nvPr/>
        </p:nvSpPr>
        <p:spPr bwMode="auto">
          <a:xfrm>
            <a:off x="4910841" y="6515623"/>
            <a:ext cx="72008" cy="7674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 bwMode="auto">
          <a:xfrm flipV="1">
            <a:off x="3461716" y="6553020"/>
            <a:ext cx="1512168" cy="25870"/>
          </a:xfrm>
          <a:prstGeom prst="straightConnector1">
            <a:avLst/>
          </a:prstGeom>
          <a:noFill/>
          <a:ln w="28575">
            <a:solidFill>
              <a:schemeClr val="tx2"/>
            </a:solidFill>
            <a:headEnd type="oval"/>
            <a:tailEnd type="arrow"/>
          </a:ln>
        </p:spPr>
      </p:cxnSp>
      <p:sp>
        <p:nvSpPr>
          <p:cNvPr id="44" name="文本框 43"/>
          <p:cNvSpPr txBox="1"/>
          <p:nvPr/>
        </p:nvSpPr>
        <p:spPr>
          <a:xfrm>
            <a:off x="3245692" y="6186256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endParaRPr lang="zh-CN" altLang="en-US" sz="2000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4809564" y="6165304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j</a:t>
            </a:r>
            <a:endParaRPr lang="zh-CN" altLang="en-US" sz="20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3592262" y="6186256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)</a:t>
            </a:r>
          </a:p>
          <a:p>
            <a:r>
              <a:rPr lang="en-US" altLang="zh-CN" sz="2000" b="1" i="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   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=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endParaRPr lang="zh-CN" altLang="en-US" sz="2000" b="1" dirty="0"/>
          </a:p>
        </p:txBody>
      </p:sp>
      <p:sp>
        <p:nvSpPr>
          <p:cNvPr id="47" name="矩形 46"/>
          <p:cNvSpPr/>
          <p:nvPr/>
        </p:nvSpPr>
        <p:spPr>
          <a:xfrm>
            <a:off x="2339752" y="6309320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>
                <a:latin typeface="Times New Roman" panose="02020603050405020304" pitchFamily="18" charset="0"/>
              </a:rPr>
              <a:t>网络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D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:</a:t>
            </a:r>
            <a:endParaRPr lang="zh-CN" altLang="en-US" sz="2000" b="1" i="0" dirty="0"/>
          </a:p>
        </p:txBody>
      </p:sp>
      <p:sp>
        <p:nvSpPr>
          <p:cNvPr id="48" name="椭圆 47"/>
          <p:cNvSpPr/>
          <p:nvPr/>
        </p:nvSpPr>
        <p:spPr bwMode="auto">
          <a:xfrm>
            <a:off x="6867291" y="6534309"/>
            <a:ext cx="72008" cy="7674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694006" y="6186256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endParaRPr lang="zh-CN" altLang="en-US" sz="2000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257878" y="6165304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j</a:t>
            </a:r>
            <a:endParaRPr lang="zh-CN" altLang="en-US" sz="2000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7252689" y="6509375"/>
            <a:ext cx="934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-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)</a:t>
            </a:r>
            <a:endParaRPr lang="zh-CN" altLang="en-US" sz="2000" b="1" dirty="0"/>
          </a:p>
        </p:txBody>
      </p:sp>
      <p:sp>
        <p:nvSpPr>
          <p:cNvPr id="53" name="矩形 52"/>
          <p:cNvSpPr/>
          <p:nvPr/>
        </p:nvSpPr>
        <p:spPr>
          <a:xfrm>
            <a:off x="5284206" y="6309320"/>
            <a:ext cx="1572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 smtClean="0">
                <a:latin typeface="Times New Roman" panose="02020603050405020304" pitchFamily="18" charset="0"/>
              </a:rPr>
              <a:t>增流网络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:</a:t>
            </a:r>
            <a:endParaRPr lang="zh-CN" altLang="en-US" sz="2000" b="1" i="0" dirty="0"/>
          </a:p>
        </p:txBody>
      </p:sp>
      <p:sp>
        <p:nvSpPr>
          <p:cNvPr id="54" name="椭圆 53"/>
          <p:cNvSpPr/>
          <p:nvPr/>
        </p:nvSpPr>
        <p:spPr bwMode="auto">
          <a:xfrm>
            <a:off x="8460432" y="6525344"/>
            <a:ext cx="72008" cy="76744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47675" marR="0" indent="-447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kumimoji="0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8" name="曲线连接符 17"/>
          <p:cNvCxnSpPr>
            <a:stCxn id="54" idx="4"/>
            <a:endCxn id="48" idx="3"/>
          </p:cNvCxnSpPr>
          <p:nvPr/>
        </p:nvCxnSpPr>
        <p:spPr bwMode="auto">
          <a:xfrm rot="5400000" flipH="1">
            <a:off x="7685999" y="5791651"/>
            <a:ext cx="2274" cy="1618600"/>
          </a:xfrm>
          <a:prstGeom prst="curvedConnector3">
            <a:avLst>
              <a:gd name="adj1" fmla="val -3350923"/>
            </a:avLst>
          </a:prstGeom>
          <a:noFill/>
          <a:ln w="28575">
            <a:solidFill>
              <a:schemeClr val="tx2"/>
            </a:solidFill>
            <a:headEnd type="arrow"/>
            <a:tailEnd type="none"/>
          </a:ln>
        </p:spPr>
      </p:cxnSp>
      <p:cxnSp>
        <p:nvCxnSpPr>
          <p:cNvPr id="60" name="曲线连接符 59"/>
          <p:cNvCxnSpPr>
            <a:stCxn id="54" idx="0"/>
            <a:endCxn id="50" idx="2"/>
          </p:cNvCxnSpPr>
          <p:nvPr/>
        </p:nvCxnSpPr>
        <p:spPr bwMode="auto">
          <a:xfrm rot="16200000" flipH="1" flipV="1">
            <a:off x="7651353" y="5741282"/>
            <a:ext cx="61022" cy="1629145"/>
          </a:xfrm>
          <a:prstGeom prst="curvedConnector5">
            <a:avLst>
              <a:gd name="adj1" fmla="val -95492"/>
              <a:gd name="adj2" fmla="val 45787"/>
              <a:gd name="adj3" fmla="val -98327"/>
            </a:avLst>
          </a:prstGeom>
          <a:noFill/>
          <a:ln w="28575">
            <a:solidFill>
              <a:schemeClr val="tx2"/>
            </a:solidFill>
            <a:tailEnd type="arrow"/>
          </a:ln>
        </p:spPr>
      </p:cxnSp>
      <p:sp>
        <p:nvSpPr>
          <p:cNvPr id="77" name="文本框 76"/>
          <p:cNvSpPr txBox="1"/>
          <p:nvPr/>
        </p:nvSpPr>
        <p:spPr>
          <a:xfrm>
            <a:off x="7112584" y="6093296"/>
            <a:ext cx="1203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err="1" smtClean="0">
                <a:latin typeface="Times New Roman" panose="02020603050405020304" pitchFamily="18" charset="0"/>
              </a:rPr>
              <a:t>-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f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,</a:t>
            </a:r>
            <a:r>
              <a:rPr lang="en-US" altLang="zh-CN" sz="2000" b="1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</a:rPr>
              <a:t>b</a:t>
            </a:r>
            <a:r>
              <a:rPr lang="en-US" altLang="zh-CN" sz="2000" b="1" baseline="-25000" dirty="0" err="1" smtClean="0">
                <a:latin typeface="Times New Roman" panose="02020603050405020304" pitchFamily="18" charset="0"/>
              </a:rPr>
              <a:t>ij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263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340768"/>
            <a:ext cx="7877299" cy="216059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负回路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：在增流网络</a:t>
            </a:r>
            <a:r>
              <a:rPr lang="en-US" altLang="zh-CN" i="1" dirty="0" err="1" smtClean="0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 smtClean="0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中，所有弧的权（费用）之和小于零的回路称为负回路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增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流圈</a:t>
            </a:r>
            <a:r>
              <a:rPr lang="zh-CN" altLang="en-US" dirty="0" smtClean="0">
                <a:latin typeface="Times New Roman" panose="02020603050405020304" pitchFamily="18" charset="0"/>
              </a:rPr>
              <a:t>：在</a:t>
            </a:r>
            <a:r>
              <a:rPr lang="zh-CN" altLang="en-US" dirty="0">
                <a:latin typeface="Times New Roman" panose="02020603050405020304" pitchFamily="18" charset="0"/>
              </a:rPr>
              <a:t>增流网络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f</a:t>
            </a:r>
            <a:r>
              <a:rPr lang="zh-CN" altLang="en-US" dirty="0" smtClean="0">
                <a:latin typeface="Times New Roman" panose="02020603050405020304" pitchFamily="18" charset="0"/>
              </a:rPr>
              <a:t>中的负回路对应网络</a:t>
            </a:r>
            <a:r>
              <a:rPr lang="en-US" altLang="zh-CN" dirty="0" smtClean="0">
                <a:latin typeface="Times New Roman" panose="02020603050405020304" pitchFamily="18" charset="0"/>
              </a:rPr>
              <a:t>D</a:t>
            </a:r>
            <a:r>
              <a:rPr lang="zh-CN" altLang="en-US" dirty="0" smtClean="0">
                <a:latin typeface="Times New Roman" panose="02020603050405020304" pitchFamily="18" charset="0"/>
              </a:rPr>
              <a:t>中的一个圈，在这个圈中，如果方向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与负回路方向相同的所有弧都为不饱和弧</a:t>
            </a:r>
            <a:r>
              <a:rPr lang="zh-CN" altLang="en-US" dirty="0" smtClean="0">
                <a:latin typeface="Times New Roman" panose="02020603050405020304" pitchFamily="18" charset="0"/>
              </a:rPr>
              <a:t>，方向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与负回路方向相反的所有弧都为非零流弧</a:t>
            </a:r>
            <a:r>
              <a:rPr lang="zh-CN" altLang="en-US" dirty="0" smtClean="0">
                <a:latin typeface="Times New Roman" panose="02020603050405020304" pitchFamily="18" charset="0"/>
              </a:rPr>
              <a:t>，则这个圈称为增流圈。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3" name="椭圆 2"/>
          <p:cNvSpPr/>
          <p:nvPr/>
        </p:nvSpPr>
        <p:spPr bwMode="auto">
          <a:xfrm>
            <a:off x="667395" y="545997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48"/>
          <p:cNvSpPr/>
          <p:nvPr/>
        </p:nvSpPr>
        <p:spPr bwMode="auto">
          <a:xfrm>
            <a:off x="1270493" y="4345605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/>
          <p:nvPr/>
        </p:nvSpPr>
        <p:spPr bwMode="auto">
          <a:xfrm>
            <a:off x="3547715" y="4345605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椭圆 55"/>
          <p:cNvSpPr/>
          <p:nvPr/>
        </p:nvSpPr>
        <p:spPr bwMode="auto">
          <a:xfrm>
            <a:off x="2944617" y="545997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>
            <a:stCxn id="49" idx="6"/>
            <a:endCxn id="55" idx="2"/>
          </p:cNvCxnSpPr>
          <p:nvPr/>
        </p:nvCxnSpPr>
        <p:spPr bwMode="auto">
          <a:xfrm>
            <a:off x="1873591" y="4626920"/>
            <a:ext cx="1674124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7" name="直接箭头连接符 56"/>
          <p:cNvCxnSpPr>
            <a:stCxn id="3" idx="0"/>
            <a:endCxn id="49" idx="4"/>
          </p:cNvCxnSpPr>
          <p:nvPr/>
        </p:nvCxnSpPr>
        <p:spPr bwMode="auto">
          <a:xfrm flipV="1">
            <a:off x="968944" y="4908235"/>
            <a:ext cx="603098" cy="55173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8" name="直接箭头连接符 57"/>
          <p:cNvCxnSpPr>
            <a:stCxn id="3" idx="6"/>
            <a:endCxn id="56" idx="2"/>
          </p:cNvCxnSpPr>
          <p:nvPr/>
        </p:nvCxnSpPr>
        <p:spPr bwMode="auto">
          <a:xfrm>
            <a:off x="1270493" y="5741285"/>
            <a:ext cx="1674124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9" name="直接箭头连接符 58"/>
          <p:cNvCxnSpPr>
            <a:stCxn id="49" idx="5"/>
            <a:endCxn id="56" idx="1"/>
          </p:cNvCxnSpPr>
          <p:nvPr/>
        </p:nvCxnSpPr>
        <p:spPr bwMode="auto">
          <a:xfrm>
            <a:off x="1785269" y="4825840"/>
            <a:ext cx="1247670" cy="71652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61" name="直接箭头连接符 60"/>
          <p:cNvCxnSpPr>
            <a:stCxn id="56" idx="0"/>
            <a:endCxn id="55" idx="4"/>
          </p:cNvCxnSpPr>
          <p:nvPr/>
        </p:nvCxnSpPr>
        <p:spPr bwMode="auto">
          <a:xfrm flipV="1">
            <a:off x="3246166" y="4908235"/>
            <a:ext cx="603098" cy="55173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23" name="文本框 22"/>
          <p:cNvSpPr txBox="1"/>
          <p:nvPr/>
        </p:nvSpPr>
        <p:spPr>
          <a:xfrm>
            <a:off x="2073008" y="4263210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3,1,4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67" name="文本框 66"/>
          <p:cNvSpPr txBox="1"/>
          <p:nvPr/>
        </p:nvSpPr>
        <p:spPr>
          <a:xfrm>
            <a:off x="1448108" y="5382372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2,0,4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68" name="文本框 67"/>
          <p:cNvSpPr txBox="1"/>
          <p:nvPr/>
        </p:nvSpPr>
        <p:spPr>
          <a:xfrm>
            <a:off x="178064" y="4945248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4,4,2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69" name="文本框 68"/>
          <p:cNvSpPr txBox="1"/>
          <p:nvPr/>
        </p:nvSpPr>
        <p:spPr>
          <a:xfrm>
            <a:off x="3289664" y="5057493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4,3,1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70" name="文本框 69"/>
          <p:cNvSpPr txBox="1"/>
          <p:nvPr/>
        </p:nvSpPr>
        <p:spPr>
          <a:xfrm>
            <a:off x="2067795" y="4789441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5,3,2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72" name="椭圆 71"/>
          <p:cNvSpPr/>
          <p:nvPr/>
        </p:nvSpPr>
        <p:spPr bwMode="auto">
          <a:xfrm>
            <a:off x="5075526" y="5467814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椭圆 72"/>
          <p:cNvSpPr/>
          <p:nvPr/>
        </p:nvSpPr>
        <p:spPr bwMode="auto">
          <a:xfrm>
            <a:off x="5678624" y="4353449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椭圆 73"/>
          <p:cNvSpPr/>
          <p:nvPr/>
        </p:nvSpPr>
        <p:spPr bwMode="auto">
          <a:xfrm>
            <a:off x="7955846" y="4353449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椭圆 74"/>
          <p:cNvSpPr/>
          <p:nvPr/>
        </p:nvSpPr>
        <p:spPr bwMode="auto">
          <a:xfrm>
            <a:off x="7352748" y="5467814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/>
          <p:cNvCxnSpPr>
            <a:stCxn id="72" idx="0"/>
            <a:endCxn id="73" idx="4"/>
          </p:cNvCxnSpPr>
          <p:nvPr/>
        </p:nvCxnSpPr>
        <p:spPr bwMode="auto">
          <a:xfrm flipV="1">
            <a:off x="5377075" y="4916079"/>
            <a:ext cx="603098" cy="551735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arrow"/>
            <a:tailEnd type="none"/>
          </a:ln>
        </p:spPr>
      </p:cxnSp>
      <p:cxnSp>
        <p:nvCxnSpPr>
          <p:cNvPr id="79" name="直接箭头连接符 78"/>
          <p:cNvCxnSpPr>
            <a:stCxn id="72" idx="6"/>
            <a:endCxn id="75" idx="2"/>
          </p:cNvCxnSpPr>
          <p:nvPr/>
        </p:nvCxnSpPr>
        <p:spPr bwMode="auto">
          <a:xfrm>
            <a:off x="5678624" y="5749129"/>
            <a:ext cx="1674124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81" name="直接箭头连接符 80"/>
          <p:cNvCxnSpPr>
            <a:stCxn id="75" idx="0"/>
            <a:endCxn id="74" idx="4"/>
          </p:cNvCxnSpPr>
          <p:nvPr/>
        </p:nvCxnSpPr>
        <p:spPr bwMode="auto">
          <a:xfrm flipV="1">
            <a:off x="7654297" y="4916079"/>
            <a:ext cx="603098" cy="55173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82" name="文本框 81"/>
          <p:cNvSpPr txBox="1"/>
          <p:nvPr/>
        </p:nvSpPr>
        <p:spPr>
          <a:xfrm>
            <a:off x="6517151" y="4278901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2,4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83" name="文本框 82"/>
          <p:cNvSpPr txBox="1"/>
          <p:nvPr/>
        </p:nvSpPr>
        <p:spPr>
          <a:xfrm>
            <a:off x="5856239" y="5390216"/>
            <a:ext cx="1124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2, 4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84" name="文本框 83"/>
          <p:cNvSpPr txBox="1"/>
          <p:nvPr/>
        </p:nvSpPr>
        <p:spPr>
          <a:xfrm>
            <a:off x="4716016" y="4953092"/>
            <a:ext cx="959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4, -2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85" name="文本框 84"/>
          <p:cNvSpPr txBox="1"/>
          <p:nvPr/>
        </p:nvSpPr>
        <p:spPr>
          <a:xfrm>
            <a:off x="7838986" y="5094340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1,1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sp>
        <p:nvSpPr>
          <p:cNvPr id="86" name="文本框 85"/>
          <p:cNvSpPr txBox="1"/>
          <p:nvPr/>
        </p:nvSpPr>
        <p:spPr>
          <a:xfrm>
            <a:off x="5896556" y="4978809"/>
            <a:ext cx="1053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2,2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cxnSp>
        <p:nvCxnSpPr>
          <p:cNvPr id="91" name="曲线连接符 90"/>
          <p:cNvCxnSpPr>
            <a:stCxn id="75" idx="1"/>
          </p:cNvCxnSpPr>
          <p:nvPr/>
        </p:nvCxnSpPr>
        <p:spPr bwMode="auto">
          <a:xfrm rot="16200000" flipV="1">
            <a:off x="6473565" y="4582703"/>
            <a:ext cx="687344" cy="1247667"/>
          </a:xfrm>
          <a:prstGeom prst="curvedConnector2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09" name="曲线连接符 108"/>
          <p:cNvCxnSpPr>
            <a:stCxn id="73" idx="5"/>
          </p:cNvCxnSpPr>
          <p:nvPr/>
        </p:nvCxnSpPr>
        <p:spPr bwMode="auto">
          <a:xfrm rot="16200000" flipH="1">
            <a:off x="6432112" y="4594971"/>
            <a:ext cx="739054" cy="1216479"/>
          </a:xfrm>
          <a:prstGeom prst="curvedConnector2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18" name="文本框 117"/>
          <p:cNvSpPr txBox="1"/>
          <p:nvPr/>
        </p:nvSpPr>
        <p:spPr>
          <a:xfrm>
            <a:off x="6581272" y="4835502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3,-2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cxnSp>
        <p:nvCxnSpPr>
          <p:cNvPr id="119" name="曲线连接符 118"/>
          <p:cNvCxnSpPr>
            <a:stCxn id="73" idx="6"/>
            <a:endCxn id="74" idx="2"/>
          </p:cNvCxnSpPr>
          <p:nvPr/>
        </p:nvCxnSpPr>
        <p:spPr bwMode="auto">
          <a:xfrm>
            <a:off x="6281722" y="4634764"/>
            <a:ext cx="1674124" cy="1270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46" name="曲线连接符 145"/>
          <p:cNvCxnSpPr>
            <a:stCxn id="74" idx="1"/>
            <a:endCxn id="73" idx="7"/>
          </p:cNvCxnSpPr>
          <p:nvPr/>
        </p:nvCxnSpPr>
        <p:spPr bwMode="auto">
          <a:xfrm rot="16200000" flipV="1">
            <a:off x="7118784" y="3510460"/>
            <a:ext cx="12700" cy="1850768"/>
          </a:xfrm>
          <a:prstGeom prst="curvedConnector3">
            <a:avLst>
              <a:gd name="adj1" fmla="val 2448780"/>
            </a:avLst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52" name="文本框 151"/>
          <p:cNvSpPr txBox="1"/>
          <p:nvPr/>
        </p:nvSpPr>
        <p:spPr>
          <a:xfrm>
            <a:off x="6530087" y="3789040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1,-4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cxnSp>
        <p:nvCxnSpPr>
          <p:cNvPr id="153" name="曲线连接符 152"/>
          <p:cNvCxnSpPr>
            <a:endCxn id="75" idx="0"/>
          </p:cNvCxnSpPr>
          <p:nvPr/>
        </p:nvCxnSpPr>
        <p:spPr bwMode="auto">
          <a:xfrm rot="10800000" flipV="1">
            <a:off x="7654297" y="4922428"/>
            <a:ext cx="603102" cy="545386"/>
          </a:xfrm>
          <a:prstGeom prst="curvedConnector2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59" name="文本框 158"/>
          <p:cNvSpPr txBox="1"/>
          <p:nvPr/>
        </p:nvSpPr>
        <p:spPr>
          <a:xfrm>
            <a:off x="7326989" y="487158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0" dirty="0" smtClean="0"/>
              <a:t>（</a:t>
            </a:r>
            <a:r>
              <a:rPr lang="en-US" altLang="zh-CN" sz="2000" i="0" dirty="0" smtClean="0"/>
              <a:t>3,-1</a:t>
            </a:r>
            <a:r>
              <a:rPr lang="zh-CN" altLang="en-US" sz="2000" i="0" dirty="0" smtClean="0"/>
              <a:t>）</a:t>
            </a:r>
            <a:endParaRPr lang="zh-CN" altLang="en-US" sz="2000" i="0" dirty="0"/>
          </a:p>
        </p:txBody>
      </p:sp>
      <p:cxnSp>
        <p:nvCxnSpPr>
          <p:cNvPr id="160" name="直接箭头连接符 159"/>
          <p:cNvCxnSpPr/>
          <p:nvPr/>
        </p:nvCxnSpPr>
        <p:spPr bwMode="auto">
          <a:xfrm flipV="1">
            <a:off x="7654292" y="4916074"/>
            <a:ext cx="603098" cy="551735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61" name="曲线连接符 160"/>
          <p:cNvCxnSpPr/>
          <p:nvPr/>
        </p:nvCxnSpPr>
        <p:spPr bwMode="auto">
          <a:xfrm rot="16200000" flipH="1">
            <a:off x="6432107" y="4594966"/>
            <a:ext cx="739054" cy="1216479"/>
          </a:xfrm>
          <a:prstGeom prst="curvedConnector2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62" name="曲线连接符 161"/>
          <p:cNvCxnSpPr/>
          <p:nvPr/>
        </p:nvCxnSpPr>
        <p:spPr bwMode="auto">
          <a:xfrm rot="16200000" flipV="1">
            <a:off x="7118779" y="3510455"/>
            <a:ext cx="12700" cy="1850768"/>
          </a:xfrm>
          <a:prstGeom prst="curvedConnector3">
            <a:avLst>
              <a:gd name="adj1" fmla="val 2448780"/>
            </a:avLst>
          </a:prstGeom>
          <a:noFill/>
          <a:ln w="19050">
            <a:solidFill>
              <a:srgbClr val="FF0000"/>
            </a:solidFill>
            <a:tailEnd type="triangle"/>
          </a:ln>
        </p:spPr>
      </p:cxnSp>
      <p:sp>
        <p:nvSpPr>
          <p:cNvPr id="124" name="矩形 123"/>
          <p:cNvSpPr/>
          <p:nvPr/>
        </p:nvSpPr>
        <p:spPr>
          <a:xfrm>
            <a:off x="6636989" y="3573016"/>
            <a:ext cx="21114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i="0" dirty="0">
                <a:latin typeface="Times New Roman" panose="02020603050405020304" pitchFamily="18" charset="0"/>
              </a:rPr>
              <a:t>负</a:t>
            </a:r>
            <a:r>
              <a:rPr lang="zh-CN" altLang="en-US" sz="2000" i="0" dirty="0" smtClean="0">
                <a:latin typeface="Times New Roman" panose="02020603050405020304" pitchFamily="18" charset="0"/>
              </a:rPr>
              <a:t>回路</a:t>
            </a:r>
            <a:r>
              <a:rPr lang="en-US" altLang="zh-CN" sz="2000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,v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,v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,v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000" i="0" dirty="0" smtClean="0">
                <a:latin typeface="Times New Roman" panose="02020603050405020304" pitchFamily="18" charset="0"/>
              </a:rPr>
              <a:t>)</a:t>
            </a:r>
            <a:endParaRPr lang="zh-CN" altLang="en-US" sz="2000" i="0" dirty="0"/>
          </a:p>
        </p:txBody>
      </p:sp>
      <p:cxnSp>
        <p:nvCxnSpPr>
          <p:cNvPr id="164" name="直接箭头连接符 163"/>
          <p:cNvCxnSpPr/>
          <p:nvPr/>
        </p:nvCxnSpPr>
        <p:spPr bwMode="auto">
          <a:xfrm>
            <a:off x="1873586" y="4635880"/>
            <a:ext cx="1674124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65" name="直接箭头连接符 164"/>
          <p:cNvCxnSpPr/>
          <p:nvPr/>
        </p:nvCxnSpPr>
        <p:spPr bwMode="auto">
          <a:xfrm>
            <a:off x="1785264" y="4834800"/>
            <a:ext cx="1247670" cy="716525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66" name="直接箭头连接符 165"/>
          <p:cNvCxnSpPr/>
          <p:nvPr/>
        </p:nvCxnSpPr>
        <p:spPr bwMode="auto">
          <a:xfrm flipV="1">
            <a:off x="3246161" y="4917195"/>
            <a:ext cx="603098" cy="551735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sp>
        <p:nvSpPr>
          <p:cNvPr id="167" name="矩形 166"/>
          <p:cNvSpPr/>
          <p:nvPr/>
        </p:nvSpPr>
        <p:spPr>
          <a:xfrm>
            <a:off x="2588885" y="3573016"/>
            <a:ext cx="21114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i="0" dirty="0" smtClean="0">
                <a:latin typeface="Times New Roman" panose="02020603050405020304" pitchFamily="18" charset="0"/>
              </a:rPr>
              <a:t>增流圈</a:t>
            </a:r>
            <a:r>
              <a:rPr lang="en-US" altLang="zh-CN" sz="2000" i="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,v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2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,v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3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,v</a:t>
            </a:r>
            <a:r>
              <a:rPr lang="en-US" altLang="zh-CN" sz="2000" baseline="-25000" dirty="0" smtClean="0">
                <a:latin typeface="Times New Roman" panose="02020603050405020304" pitchFamily="18" charset="0"/>
              </a:rPr>
              <a:t>4</a:t>
            </a:r>
            <a:r>
              <a:rPr lang="en-US" altLang="zh-CN" sz="2000" i="0" dirty="0" smtClean="0">
                <a:latin typeface="Times New Roman" panose="02020603050405020304" pitchFamily="18" charset="0"/>
              </a:rPr>
              <a:t>)</a:t>
            </a:r>
            <a:endParaRPr lang="zh-CN" altLang="en-US" sz="2000" i="0" dirty="0"/>
          </a:p>
        </p:txBody>
      </p:sp>
      <p:sp>
        <p:nvSpPr>
          <p:cNvPr id="125" name="矩形 124"/>
          <p:cNvSpPr/>
          <p:nvPr/>
        </p:nvSpPr>
        <p:spPr>
          <a:xfrm>
            <a:off x="6227737" y="6147557"/>
            <a:ext cx="14446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i="0" dirty="0">
                <a:latin typeface="Times New Roman" panose="02020603050405020304" pitchFamily="18" charset="0"/>
              </a:rPr>
              <a:t>增流网络</a:t>
            </a:r>
            <a:r>
              <a:rPr lang="en-US" altLang="zh-CN" sz="2000" dirty="0" err="1">
                <a:latin typeface="Times New Roman" panose="02020603050405020304" pitchFamily="18" charset="0"/>
              </a:rPr>
              <a:t>D</a:t>
            </a:r>
            <a:r>
              <a:rPr lang="en-US" altLang="zh-CN" sz="2000" baseline="-25000" dirty="0" err="1">
                <a:latin typeface="Times New Roman" panose="02020603050405020304" pitchFamily="18" charset="0"/>
              </a:rPr>
              <a:t>f</a:t>
            </a:r>
            <a:endParaRPr lang="zh-CN" altLang="en-US" sz="2000" dirty="0"/>
          </a:p>
        </p:txBody>
      </p:sp>
      <p:sp>
        <p:nvSpPr>
          <p:cNvPr id="126" name="矩形 125"/>
          <p:cNvSpPr/>
          <p:nvPr/>
        </p:nvSpPr>
        <p:spPr>
          <a:xfrm>
            <a:off x="1705310" y="6158470"/>
            <a:ext cx="8835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i="0" dirty="0">
                <a:latin typeface="Times New Roman" panose="02020603050405020304" pitchFamily="18" charset="0"/>
              </a:rPr>
              <a:t>网络</a:t>
            </a:r>
            <a:r>
              <a:rPr lang="en-US" altLang="zh-CN" sz="2000" dirty="0">
                <a:latin typeface="Times New Roman" panose="02020603050405020304" pitchFamily="18" charset="0"/>
              </a:rPr>
              <a:t>D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0063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9" grpId="0" animBg="1"/>
      <p:bldP spid="55" grpId="0" animBg="1"/>
      <p:bldP spid="56" grpId="0" animBg="1"/>
      <p:bldP spid="23" grpId="0"/>
      <p:bldP spid="67" grpId="0"/>
      <p:bldP spid="68" grpId="0"/>
      <p:bldP spid="69" grpId="0"/>
      <p:bldP spid="70" grpId="0"/>
      <p:bldP spid="72" grpId="0" animBg="1"/>
      <p:bldP spid="73" grpId="0" animBg="1"/>
      <p:bldP spid="74" grpId="0" animBg="1"/>
      <p:bldP spid="75" grpId="0" animBg="1"/>
      <p:bldP spid="82" grpId="0"/>
      <p:bldP spid="83" grpId="0"/>
      <p:bldP spid="84" grpId="0"/>
      <p:bldP spid="85" grpId="0"/>
      <p:bldP spid="86" grpId="0"/>
      <p:bldP spid="118" grpId="0"/>
      <p:bldP spid="152" grpId="0"/>
      <p:bldP spid="159" grpId="0"/>
      <p:bldP spid="124" grpId="0"/>
      <p:bldP spid="167" grpId="0"/>
      <p:bldP spid="125" grpId="0"/>
      <p:bldP spid="1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716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43608" y="1340768"/>
                <a:ext cx="7661275" cy="4267900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求解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方法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I</a:t>
                </a:r>
                <a:r>
                  <a:rPr lang="zh-CN" altLang="en-US" sz="2400" dirty="0" smtClean="0">
                    <a:latin typeface="Times New Roman" panose="02020603050405020304" pitchFamily="18" charset="0"/>
                  </a:rPr>
                  <a:t>：（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求得最大流量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-&gt;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调整网络流量分布以减少网络费用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-&gt;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达到最小费用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）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步骤一：利用最大流法，将网络的流量调整到最大流</a:t>
                </a:r>
                <a:endPara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步骤二：构建伴随网络流</a:t>
                </a:r>
                <a:r>
                  <a:rPr lang="en-US" altLang="zh-CN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的增流网络</a:t>
                </a:r>
                <a:r>
                  <a:rPr lang="en-US" altLang="zh-CN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US" altLang="zh-CN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步骤三：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在增流网络</a:t>
                </a:r>
                <a:r>
                  <a:rPr lang="en-US" altLang="zh-CN" i="1" dirty="0" err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i="1" baseline="-25000" dirty="0" err="1">
                    <a:latin typeface="Times New Roman" panose="02020603050405020304" pitchFamily="18" charset="0"/>
                  </a:rPr>
                  <a:t>f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中。查找关于费用的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负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回路，另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𝒎𝒊𝒏𝒄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</a:rPr>
                  <a:t>为负回路中各弧的容量</a:t>
                </a:r>
                <a:r>
                  <a:rPr lang="en-US" altLang="zh-CN" dirty="0" smtClean="0">
                    <a:latin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 ，</a:t>
                </a:r>
                <a:r>
                  <a:rPr lang="zh-CN" altLang="en-US" dirty="0" smtClean="0">
                    <a:latin typeface="Times New Roman" panose="02020603050405020304" pitchFamily="18" charset="0"/>
                  </a:rPr>
                  <a:t>若不存在负回路，则说明当前网络流已经是最小费用流，结束算法</a:t>
                </a:r>
                <a:endParaRPr lang="en-US" altLang="zh-CN" dirty="0" smtClean="0">
                  <a:latin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步骤四：针对负回路对应网络</a:t>
                </a:r>
                <a:r>
                  <a:rPr lang="en-US" altLang="zh-CN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中的圈</a:t>
                </a:r>
                <a:endPara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若该圈是增流圈，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则把增流圈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与负回路方向一致的所有弧的流量加上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方向相反的所有弧的流量减去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endPara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eaLnBrk="1" hangingPunct="1">
                  <a:lnSpc>
                    <a:spcPct val="9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该圈不是增流圈，则转到步骤三重新寻找负回路</a:t>
                </a:r>
                <a:endPara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步骤五：继续寻找负回路，如果还有负回路，继续调整，否则返回步骤二</a:t>
                </a:r>
              </a:p>
            </p:txBody>
          </p:sp>
        </mc:Choice>
        <mc:Fallback xmlns="">
          <p:sp>
            <p:nvSpPr>
              <p:cNvPr id="11571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08" y="1340768"/>
                <a:ext cx="7661275" cy="4267900"/>
              </a:xfrm>
              <a:blipFill>
                <a:blip r:embed="rId2"/>
                <a:stretch>
                  <a:fillRect l="-318" t="-2429" r="-159" b="-1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46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idx="1"/>
          </p:nvPr>
        </p:nvSpPr>
        <p:spPr>
          <a:xfrm>
            <a:off x="584526" y="1124744"/>
            <a:ext cx="8075692" cy="109568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求解</a:t>
            </a:r>
            <a:r>
              <a:rPr lang="zh-CN" altLang="en-US" dirty="0" smtClean="0">
                <a:latin typeface="Times New Roman" panose="02020603050405020304" pitchFamily="18" charset="0"/>
              </a:rPr>
              <a:t>方法</a:t>
            </a:r>
            <a:r>
              <a:rPr lang="en-US" altLang="zh-CN" dirty="0" smtClean="0">
                <a:latin typeface="Times New Roman" panose="02020603050405020304" pitchFamily="18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：（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求得最大流量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调整网络流量分布以减少网络费用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达到最小费用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利用最大流法，将网络的流量调整到最大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6" name="椭圆 5"/>
          <p:cNvSpPr/>
          <p:nvPr/>
        </p:nvSpPr>
        <p:spPr bwMode="auto">
          <a:xfrm>
            <a:off x="656534" y="2974697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1880670" y="213285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3203848" y="300955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1321342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/>
          <p:cNvCxnSpPr>
            <a:stCxn id="7" idx="6"/>
            <a:endCxn id="8" idx="0"/>
          </p:cNvCxnSpPr>
          <p:nvPr/>
        </p:nvCxnSpPr>
        <p:spPr bwMode="auto">
          <a:xfrm>
            <a:off x="2483768" y="2414171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" name="直接箭头连接符 10"/>
          <p:cNvCxnSpPr>
            <a:stCxn id="6" idx="0"/>
            <a:endCxn id="7" idx="2"/>
          </p:cNvCxnSpPr>
          <p:nvPr/>
        </p:nvCxnSpPr>
        <p:spPr bwMode="auto">
          <a:xfrm flipV="1">
            <a:off x="958083" y="2414171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2" name="直接箭头连接符 11"/>
          <p:cNvCxnSpPr>
            <a:stCxn id="6" idx="4"/>
            <a:endCxn id="9" idx="2"/>
          </p:cNvCxnSpPr>
          <p:nvPr/>
        </p:nvCxnSpPr>
        <p:spPr bwMode="auto">
          <a:xfrm>
            <a:off x="958083" y="3537327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" name="直接箭头连接符 12"/>
          <p:cNvCxnSpPr>
            <a:stCxn id="7" idx="5"/>
            <a:endCxn id="31" idx="0"/>
          </p:cNvCxnSpPr>
          <p:nvPr/>
        </p:nvCxnSpPr>
        <p:spPr bwMode="auto">
          <a:xfrm>
            <a:off x="2395446" y="2613091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4" name="直接箭头连接符 13"/>
          <p:cNvCxnSpPr>
            <a:stCxn id="31" idx="6"/>
            <a:endCxn id="8" idx="4"/>
          </p:cNvCxnSpPr>
          <p:nvPr/>
        </p:nvCxnSpPr>
        <p:spPr bwMode="auto">
          <a:xfrm flipV="1">
            <a:off x="3282167" y="3572183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6" name="文本框 15"/>
          <p:cNvSpPr txBox="1"/>
          <p:nvPr/>
        </p:nvSpPr>
        <p:spPr>
          <a:xfrm>
            <a:off x="437706" y="2373548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10,0,4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31" name="椭圆 30"/>
          <p:cNvSpPr/>
          <p:nvPr/>
        </p:nvSpPr>
        <p:spPr bwMode="auto">
          <a:xfrm>
            <a:off x="2679069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>
            <a:stCxn id="9" idx="0"/>
            <a:endCxn id="7" idx="3"/>
          </p:cNvCxnSpPr>
          <p:nvPr/>
        </p:nvCxnSpPr>
        <p:spPr bwMode="auto">
          <a:xfrm flipV="1">
            <a:off x="1622891" y="2613091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42" name="直接箭头连接符 41"/>
          <p:cNvCxnSpPr>
            <a:stCxn id="9" idx="6"/>
            <a:endCxn id="31" idx="2"/>
          </p:cNvCxnSpPr>
          <p:nvPr/>
        </p:nvCxnSpPr>
        <p:spPr bwMode="auto">
          <a:xfrm>
            <a:off x="1924440" y="4056921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63" name="文本框 62"/>
          <p:cNvSpPr txBox="1"/>
          <p:nvPr/>
        </p:nvSpPr>
        <p:spPr>
          <a:xfrm>
            <a:off x="2796509" y="2367724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7,0,1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4" name="文本框 63"/>
          <p:cNvSpPr txBox="1"/>
          <p:nvPr/>
        </p:nvSpPr>
        <p:spPr>
          <a:xfrm>
            <a:off x="1043608" y="2932996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5,0,2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5" name="文本框 64"/>
          <p:cNvSpPr txBox="1"/>
          <p:nvPr/>
        </p:nvSpPr>
        <p:spPr>
          <a:xfrm>
            <a:off x="2451553" y="2927172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2,0,6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6" name="文本框 65"/>
          <p:cNvSpPr txBox="1"/>
          <p:nvPr/>
        </p:nvSpPr>
        <p:spPr>
          <a:xfrm>
            <a:off x="107504" y="3709422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8,0,1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7" name="文本框 66"/>
          <p:cNvSpPr txBox="1"/>
          <p:nvPr/>
        </p:nvSpPr>
        <p:spPr>
          <a:xfrm>
            <a:off x="3171633" y="3703598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4,0,2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8" name="文本框 67"/>
          <p:cNvSpPr txBox="1"/>
          <p:nvPr/>
        </p:nvSpPr>
        <p:spPr>
          <a:xfrm>
            <a:off x="1763688" y="407724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10,0,3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9" name="椭圆 68"/>
          <p:cNvSpPr/>
          <p:nvPr/>
        </p:nvSpPr>
        <p:spPr bwMode="auto">
          <a:xfrm>
            <a:off x="5193038" y="2974697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椭圆 69"/>
          <p:cNvSpPr/>
          <p:nvPr/>
        </p:nvSpPr>
        <p:spPr bwMode="auto">
          <a:xfrm>
            <a:off x="6417174" y="213285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椭圆 70"/>
          <p:cNvSpPr/>
          <p:nvPr/>
        </p:nvSpPr>
        <p:spPr bwMode="auto">
          <a:xfrm>
            <a:off x="7740352" y="300955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椭圆 71"/>
          <p:cNvSpPr/>
          <p:nvPr/>
        </p:nvSpPr>
        <p:spPr bwMode="auto">
          <a:xfrm>
            <a:off x="5857846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接箭头连接符 72"/>
          <p:cNvCxnSpPr>
            <a:stCxn id="70" idx="6"/>
            <a:endCxn id="71" idx="0"/>
          </p:cNvCxnSpPr>
          <p:nvPr/>
        </p:nvCxnSpPr>
        <p:spPr bwMode="auto">
          <a:xfrm>
            <a:off x="7020272" y="2414171"/>
            <a:ext cx="1021629" cy="595382"/>
          </a:xfrm>
          <a:prstGeom prst="straightConnector1">
            <a:avLst/>
          </a:prstGeom>
          <a:noFill/>
          <a:ln w="19050">
            <a:solidFill>
              <a:schemeClr val="tx2"/>
            </a:solidFill>
            <a:tailEnd type="triangle"/>
          </a:ln>
        </p:spPr>
      </p:cxnSp>
      <p:cxnSp>
        <p:nvCxnSpPr>
          <p:cNvPr id="74" name="直接箭头连接符 73"/>
          <p:cNvCxnSpPr>
            <a:stCxn id="69" idx="0"/>
            <a:endCxn id="70" idx="2"/>
          </p:cNvCxnSpPr>
          <p:nvPr/>
        </p:nvCxnSpPr>
        <p:spPr bwMode="auto">
          <a:xfrm flipV="1">
            <a:off x="5494587" y="2414171"/>
            <a:ext cx="922587" cy="560526"/>
          </a:xfrm>
          <a:prstGeom prst="straightConnector1">
            <a:avLst/>
          </a:prstGeom>
          <a:noFill/>
          <a:ln w="19050">
            <a:solidFill>
              <a:schemeClr val="tx2"/>
            </a:solidFill>
            <a:tailEnd type="triangle"/>
          </a:ln>
        </p:spPr>
      </p:cxnSp>
      <p:cxnSp>
        <p:nvCxnSpPr>
          <p:cNvPr id="75" name="直接箭头连接符 74"/>
          <p:cNvCxnSpPr>
            <a:stCxn id="69" idx="4"/>
            <a:endCxn id="72" idx="2"/>
          </p:cNvCxnSpPr>
          <p:nvPr/>
        </p:nvCxnSpPr>
        <p:spPr bwMode="auto">
          <a:xfrm>
            <a:off x="5494587" y="3537327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76" name="直接箭头连接符 75"/>
          <p:cNvCxnSpPr>
            <a:stCxn id="70" idx="5"/>
            <a:endCxn id="79" idx="0"/>
          </p:cNvCxnSpPr>
          <p:nvPr/>
        </p:nvCxnSpPr>
        <p:spPr bwMode="auto">
          <a:xfrm>
            <a:off x="6931950" y="2613091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77" name="直接箭头连接符 76"/>
          <p:cNvCxnSpPr>
            <a:stCxn id="79" idx="6"/>
            <a:endCxn id="71" idx="4"/>
          </p:cNvCxnSpPr>
          <p:nvPr/>
        </p:nvCxnSpPr>
        <p:spPr bwMode="auto">
          <a:xfrm flipV="1">
            <a:off x="7818671" y="3572183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78" name="文本框 77"/>
          <p:cNvSpPr txBox="1"/>
          <p:nvPr/>
        </p:nvSpPr>
        <p:spPr>
          <a:xfrm>
            <a:off x="4974210" y="2373548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i="0" dirty="0" smtClean="0">
                <a:solidFill>
                  <a:srgbClr val="FF0000"/>
                </a:solidFill>
              </a:rPr>
              <a:t>10,7,4</a:t>
            </a:r>
            <a:r>
              <a:rPr lang="zh-CN" altLang="en-US" sz="1600" i="0" dirty="0" smtClean="0">
                <a:solidFill>
                  <a:srgbClr val="FF0000"/>
                </a:solidFill>
              </a:rPr>
              <a:t>）</a:t>
            </a:r>
            <a:endParaRPr lang="zh-CN" altLang="en-US" sz="1600" i="0" dirty="0">
              <a:solidFill>
                <a:srgbClr val="FF0000"/>
              </a:solidFill>
            </a:endParaRPr>
          </a:p>
        </p:txBody>
      </p:sp>
      <p:sp>
        <p:nvSpPr>
          <p:cNvPr id="79" name="椭圆 78"/>
          <p:cNvSpPr/>
          <p:nvPr/>
        </p:nvSpPr>
        <p:spPr bwMode="auto">
          <a:xfrm>
            <a:off x="7215573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直接箭头连接符 79"/>
          <p:cNvCxnSpPr>
            <a:stCxn id="72" idx="0"/>
            <a:endCxn id="70" idx="3"/>
          </p:cNvCxnSpPr>
          <p:nvPr/>
        </p:nvCxnSpPr>
        <p:spPr bwMode="auto">
          <a:xfrm flipV="1">
            <a:off x="6159395" y="2613091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81" name="直接箭头连接符 80"/>
          <p:cNvCxnSpPr>
            <a:stCxn id="72" idx="6"/>
            <a:endCxn id="79" idx="2"/>
          </p:cNvCxnSpPr>
          <p:nvPr/>
        </p:nvCxnSpPr>
        <p:spPr bwMode="auto">
          <a:xfrm>
            <a:off x="6460944" y="4056921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82" name="文本框 81"/>
          <p:cNvSpPr txBox="1"/>
          <p:nvPr/>
        </p:nvSpPr>
        <p:spPr>
          <a:xfrm>
            <a:off x="7333013" y="2367724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i="0" dirty="0" smtClean="0">
                <a:solidFill>
                  <a:srgbClr val="FF0000"/>
                </a:solidFill>
              </a:rPr>
              <a:t>7,7,1</a:t>
            </a:r>
            <a:r>
              <a:rPr lang="zh-CN" altLang="en-US" sz="1600" i="0" dirty="0" smtClean="0">
                <a:solidFill>
                  <a:srgbClr val="FF0000"/>
                </a:solidFill>
              </a:rPr>
              <a:t>）</a:t>
            </a:r>
            <a:endParaRPr lang="zh-CN" altLang="en-US" sz="1600" i="0" dirty="0">
              <a:solidFill>
                <a:srgbClr val="FF0000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580112" y="2932996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5,0,2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84" name="文本框 83"/>
          <p:cNvSpPr txBox="1"/>
          <p:nvPr/>
        </p:nvSpPr>
        <p:spPr>
          <a:xfrm>
            <a:off x="6988057" y="2927172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2,0,6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85" name="文本框 84"/>
          <p:cNvSpPr txBox="1"/>
          <p:nvPr/>
        </p:nvSpPr>
        <p:spPr>
          <a:xfrm>
            <a:off x="4644008" y="3709422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8,0,1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86" name="文本框 85"/>
          <p:cNvSpPr txBox="1"/>
          <p:nvPr/>
        </p:nvSpPr>
        <p:spPr>
          <a:xfrm>
            <a:off x="7708137" y="3703598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4,0,2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87" name="文本框 86"/>
          <p:cNvSpPr txBox="1"/>
          <p:nvPr/>
        </p:nvSpPr>
        <p:spPr>
          <a:xfrm>
            <a:off x="6300192" y="407724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10,0,3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88" name="椭圆 87"/>
          <p:cNvSpPr/>
          <p:nvPr/>
        </p:nvSpPr>
        <p:spPr bwMode="auto">
          <a:xfrm>
            <a:off x="656534" y="5228254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椭圆 88"/>
          <p:cNvSpPr/>
          <p:nvPr/>
        </p:nvSpPr>
        <p:spPr bwMode="auto">
          <a:xfrm>
            <a:off x="1880670" y="438641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椭圆 89"/>
          <p:cNvSpPr/>
          <p:nvPr/>
        </p:nvSpPr>
        <p:spPr bwMode="auto">
          <a:xfrm>
            <a:off x="3203848" y="526311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椭圆 90"/>
          <p:cNvSpPr/>
          <p:nvPr/>
        </p:nvSpPr>
        <p:spPr bwMode="auto">
          <a:xfrm>
            <a:off x="1321342" y="602916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/>
          <p:cNvCxnSpPr>
            <a:stCxn id="89" idx="6"/>
            <a:endCxn id="90" idx="0"/>
          </p:cNvCxnSpPr>
          <p:nvPr/>
        </p:nvCxnSpPr>
        <p:spPr bwMode="auto">
          <a:xfrm>
            <a:off x="2483768" y="4667728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93" name="直接箭头连接符 92"/>
          <p:cNvCxnSpPr>
            <a:stCxn id="88" idx="0"/>
            <a:endCxn id="89" idx="2"/>
          </p:cNvCxnSpPr>
          <p:nvPr/>
        </p:nvCxnSpPr>
        <p:spPr bwMode="auto">
          <a:xfrm flipV="1">
            <a:off x="958083" y="4667728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94" name="直接箭头连接符 93"/>
          <p:cNvCxnSpPr>
            <a:stCxn id="88" idx="4"/>
            <a:endCxn id="91" idx="2"/>
          </p:cNvCxnSpPr>
          <p:nvPr/>
        </p:nvCxnSpPr>
        <p:spPr bwMode="auto">
          <a:xfrm>
            <a:off x="958083" y="5790884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95" name="直接箭头连接符 94"/>
          <p:cNvCxnSpPr>
            <a:stCxn id="89" idx="5"/>
            <a:endCxn id="98" idx="0"/>
          </p:cNvCxnSpPr>
          <p:nvPr/>
        </p:nvCxnSpPr>
        <p:spPr bwMode="auto">
          <a:xfrm>
            <a:off x="2395446" y="4866648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96" name="直接箭头连接符 95"/>
          <p:cNvCxnSpPr>
            <a:stCxn id="98" idx="6"/>
            <a:endCxn id="90" idx="4"/>
          </p:cNvCxnSpPr>
          <p:nvPr/>
        </p:nvCxnSpPr>
        <p:spPr bwMode="auto">
          <a:xfrm flipV="1">
            <a:off x="3282167" y="5825740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97" name="文本框 96"/>
          <p:cNvSpPr txBox="1"/>
          <p:nvPr/>
        </p:nvSpPr>
        <p:spPr>
          <a:xfrm>
            <a:off x="437706" y="4627105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10,7,4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98" name="椭圆 97"/>
          <p:cNvSpPr/>
          <p:nvPr/>
        </p:nvSpPr>
        <p:spPr bwMode="auto">
          <a:xfrm>
            <a:off x="2679069" y="602916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直接箭头连接符 98"/>
          <p:cNvCxnSpPr>
            <a:stCxn id="91" idx="0"/>
            <a:endCxn id="89" idx="3"/>
          </p:cNvCxnSpPr>
          <p:nvPr/>
        </p:nvCxnSpPr>
        <p:spPr bwMode="auto">
          <a:xfrm flipV="1">
            <a:off x="1622891" y="4866648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00" name="直接箭头连接符 99"/>
          <p:cNvCxnSpPr>
            <a:stCxn id="91" idx="6"/>
            <a:endCxn id="98" idx="2"/>
          </p:cNvCxnSpPr>
          <p:nvPr/>
        </p:nvCxnSpPr>
        <p:spPr bwMode="auto">
          <a:xfrm>
            <a:off x="1924440" y="6310478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01" name="文本框 100"/>
          <p:cNvSpPr txBox="1"/>
          <p:nvPr/>
        </p:nvSpPr>
        <p:spPr>
          <a:xfrm>
            <a:off x="2796509" y="4621281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7,7,1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02" name="文本框 101"/>
          <p:cNvSpPr txBox="1"/>
          <p:nvPr/>
        </p:nvSpPr>
        <p:spPr>
          <a:xfrm>
            <a:off x="1043608" y="5186553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5,0,2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03" name="文本框 102"/>
          <p:cNvSpPr txBox="1"/>
          <p:nvPr/>
        </p:nvSpPr>
        <p:spPr>
          <a:xfrm>
            <a:off x="2451553" y="518072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2,0,6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04" name="文本框 103"/>
          <p:cNvSpPr txBox="1"/>
          <p:nvPr/>
        </p:nvSpPr>
        <p:spPr>
          <a:xfrm>
            <a:off x="107504" y="596297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i="0" dirty="0" smtClean="0">
                <a:solidFill>
                  <a:srgbClr val="FF0000"/>
                </a:solidFill>
              </a:rPr>
              <a:t>8,4,1</a:t>
            </a:r>
            <a:r>
              <a:rPr lang="zh-CN" altLang="en-US" sz="1600" i="0" dirty="0" smtClean="0">
                <a:solidFill>
                  <a:srgbClr val="FF0000"/>
                </a:solidFill>
              </a:rPr>
              <a:t>）</a:t>
            </a:r>
            <a:endParaRPr lang="zh-CN" altLang="en-US" sz="1600" i="0" dirty="0">
              <a:solidFill>
                <a:srgbClr val="FF0000"/>
              </a:solidFill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171633" y="5957155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i="0" dirty="0" smtClean="0">
                <a:solidFill>
                  <a:srgbClr val="FF0000"/>
                </a:solidFill>
              </a:rPr>
              <a:t>4,4,2</a:t>
            </a:r>
            <a:r>
              <a:rPr lang="zh-CN" altLang="en-US" sz="1600" i="0" dirty="0" smtClean="0">
                <a:solidFill>
                  <a:srgbClr val="FF0000"/>
                </a:solidFill>
              </a:rPr>
              <a:t>）</a:t>
            </a:r>
            <a:endParaRPr lang="zh-CN" altLang="en-US" sz="1600" i="0" dirty="0">
              <a:solidFill>
                <a:srgbClr val="FF0000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1763688" y="6330806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i="0" dirty="0" smtClean="0">
                <a:solidFill>
                  <a:srgbClr val="FF0000"/>
                </a:solidFill>
              </a:rPr>
              <a:t>10,4,3</a:t>
            </a:r>
            <a:r>
              <a:rPr lang="zh-CN" altLang="en-US" sz="1600" i="0" dirty="0" smtClean="0">
                <a:solidFill>
                  <a:srgbClr val="FF0000"/>
                </a:solidFill>
              </a:rPr>
              <a:t>）</a:t>
            </a:r>
            <a:endParaRPr lang="zh-CN" altLang="en-US" sz="1600" i="0" dirty="0">
              <a:solidFill>
                <a:srgbClr val="FF0000"/>
              </a:solidFill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>
            <a:off x="35496" y="4338236"/>
            <a:ext cx="9073008" cy="48177"/>
          </a:xfrm>
          <a:prstGeom prst="line">
            <a:avLst/>
          </a:prstGeom>
          <a:noFill/>
          <a:ln>
            <a:solidFill>
              <a:schemeClr val="tx1"/>
            </a:solidFill>
          </a:ln>
        </p:spPr>
      </p:cxnSp>
      <p:cxnSp>
        <p:nvCxnSpPr>
          <p:cNvPr id="128" name="直接箭头连接符 127"/>
          <p:cNvCxnSpPr/>
          <p:nvPr/>
        </p:nvCxnSpPr>
        <p:spPr bwMode="auto">
          <a:xfrm>
            <a:off x="2470251" y="2420888"/>
            <a:ext cx="1021629" cy="595382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29" name="直接箭头连接符 128"/>
          <p:cNvCxnSpPr/>
          <p:nvPr/>
        </p:nvCxnSpPr>
        <p:spPr bwMode="auto">
          <a:xfrm flipV="1">
            <a:off x="944566" y="2420888"/>
            <a:ext cx="922587" cy="560526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30" name="直接箭头连接符 129"/>
          <p:cNvCxnSpPr/>
          <p:nvPr/>
        </p:nvCxnSpPr>
        <p:spPr bwMode="auto">
          <a:xfrm>
            <a:off x="5507965" y="3546121"/>
            <a:ext cx="363259" cy="519594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31" name="直接箭头连接符 130"/>
          <p:cNvCxnSpPr/>
          <p:nvPr/>
        </p:nvCxnSpPr>
        <p:spPr bwMode="auto">
          <a:xfrm flipV="1">
            <a:off x="7814119" y="3580977"/>
            <a:ext cx="223230" cy="484738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32" name="直接箭头连接符 131"/>
          <p:cNvCxnSpPr/>
          <p:nvPr/>
        </p:nvCxnSpPr>
        <p:spPr bwMode="auto">
          <a:xfrm>
            <a:off x="6456392" y="4056750"/>
            <a:ext cx="754629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414634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72" grpId="0" animBg="1"/>
      <p:bldP spid="78" grpId="0"/>
      <p:bldP spid="79" grpId="0" animBg="1"/>
      <p:bldP spid="82" grpId="0"/>
      <p:bldP spid="83" grpId="0"/>
      <p:bldP spid="84" grpId="0"/>
      <p:bldP spid="85" grpId="0"/>
      <p:bldP spid="86" grpId="0"/>
      <p:bldP spid="87" grpId="0"/>
      <p:bldP spid="88" grpId="0" animBg="1"/>
      <p:bldP spid="89" grpId="0" animBg="1"/>
      <p:bldP spid="90" grpId="0" animBg="1"/>
      <p:bldP spid="91" grpId="0" animBg="1"/>
      <p:bldP spid="97" grpId="0"/>
      <p:bldP spid="98" grpId="0" animBg="1"/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idx="1"/>
          </p:nvPr>
        </p:nvSpPr>
        <p:spPr>
          <a:xfrm>
            <a:off x="584526" y="1124744"/>
            <a:ext cx="8075692" cy="109568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求解</a:t>
            </a:r>
            <a:r>
              <a:rPr lang="zh-CN" altLang="en-US" dirty="0" smtClean="0">
                <a:latin typeface="Times New Roman" panose="02020603050405020304" pitchFamily="18" charset="0"/>
              </a:rPr>
              <a:t>方法</a:t>
            </a:r>
            <a:r>
              <a:rPr lang="en-US" altLang="zh-CN" dirty="0" smtClean="0">
                <a:latin typeface="Times New Roman" panose="02020603050405020304" pitchFamily="18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：（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求得最大流量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调整网络流量分布以减少网络费用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达到最小费用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二：构建伴随网络流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的增流网络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07" name="椭圆 106"/>
          <p:cNvSpPr/>
          <p:nvPr/>
        </p:nvSpPr>
        <p:spPr bwMode="auto">
          <a:xfrm>
            <a:off x="584526" y="3068014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椭圆 107"/>
          <p:cNvSpPr/>
          <p:nvPr/>
        </p:nvSpPr>
        <p:spPr bwMode="auto">
          <a:xfrm>
            <a:off x="1808662" y="222617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椭圆 108"/>
          <p:cNvSpPr/>
          <p:nvPr/>
        </p:nvSpPr>
        <p:spPr bwMode="auto">
          <a:xfrm>
            <a:off x="3131840" y="310287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椭圆 109"/>
          <p:cNvSpPr/>
          <p:nvPr/>
        </p:nvSpPr>
        <p:spPr bwMode="auto">
          <a:xfrm>
            <a:off x="1249334" y="386892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/>
          <p:cNvCxnSpPr>
            <a:stCxn id="108" idx="6"/>
            <a:endCxn id="109" idx="0"/>
          </p:cNvCxnSpPr>
          <p:nvPr/>
        </p:nvCxnSpPr>
        <p:spPr bwMode="auto">
          <a:xfrm>
            <a:off x="2411760" y="2507488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2" name="直接箭头连接符 111"/>
          <p:cNvCxnSpPr>
            <a:stCxn id="107" idx="0"/>
            <a:endCxn id="108" idx="2"/>
          </p:cNvCxnSpPr>
          <p:nvPr/>
        </p:nvCxnSpPr>
        <p:spPr bwMode="auto">
          <a:xfrm flipV="1">
            <a:off x="886075" y="2507488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3" name="直接箭头连接符 112"/>
          <p:cNvCxnSpPr>
            <a:stCxn id="107" idx="4"/>
            <a:endCxn id="110" idx="2"/>
          </p:cNvCxnSpPr>
          <p:nvPr/>
        </p:nvCxnSpPr>
        <p:spPr bwMode="auto">
          <a:xfrm>
            <a:off x="886075" y="3630644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4" name="直接箭头连接符 113"/>
          <p:cNvCxnSpPr>
            <a:stCxn id="108" idx="5"/>
            <a:endCxn id="117" idx="0"/>
          </p:cNvCxnSpPr>
          <p:nvPr/>
        </p:nvCxnSpPr>
        <p:spPr bwMode="auto">
          <a:xfrm>
            <a:off x="2323438" y="2706408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5" name="直接箭头连接符 114"/>
          <p:cNvCxnSpPr>
            <a:stCxn id="117" idx="6"/>
            <a:endCxn id="109" idx="4"/>
          </p:cNvCxnSpPr>
          <p:nvPr/>
        </p:nvCxnSpPr>
        <p:spPr bwMode="auto">
          <a:xfrm flipV="1">
            <a:off x="3210159" y="3665500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16" name="文本框 115"/>
          <p:cNvSpPr txBox="1"/>
          <p:nvPr/>
        </p:nvSpPr>
        <p:spPr>
          <a:xfrm>
            <a:off x="365698" y="2466865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10,7,4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17" name="椭圆 116"/>
          <p:cNvSpPr/>
          <p:nvPr/>
        </p:nvSpPr>
        <p:spPr bwMode="auto">
          <a:xfrm>
            <a:off x="2607061" y="386892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/>
          <p:cNvCxnSpPr>
            <a:stCxn id="110" idx="0"/>
            <a:endCxn id="108" idx="3"/>
          </p:cNvCxnSpPr>
          <p:nvPr/>
        </p:nvCxnSpPr>
        <p:spPr bwMode="auto">
          <a:xfrm flipV="1">
            <a:off x="1550883" y="2706408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9" name="直接箭头连接符 118"/>
          <p:cNvCxnSpPr>
            <a:stCxn id="110" idx="6"/>
            <a:endCxn id="117" idx="2"/>
          </p:cNvCxnSpPr>
          <p:nvPr/>
        </p:nvCxnSpPr>
        <p:spPr bwMode="auto">
          <a:xfrm>
            <a:off x="1852432" y="4150238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20" name="文本框 119"/>
          <p:cNvSpPr txBox="1"/>
          <p:nvPr/>
        </p:nvSpPr>
        <p:spPr>
          <a:xfrm>
            <a:off x="2724501" y="2461041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7,7,1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71600" y="3026313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5,0,2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2" name="文本框 121"/>
          <p:cNvSpPr txBox="1"/>
          <p:nvPr/>
        </p:nvSpPr>
        <p:spPr>
          <a:xfrm>
            <a:off x="2379545" y="302048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2,0,6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5496" y="380273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8,4,1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099625" y="3796915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4,4,2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5" name="文本框 124"/>
          <p:cNvSpPr txBox="1"/>
          <p:nvPr/>
        </p:nvSpPr>
        <p:spPr>
          <a:xfrm>
            <a:off x="1691680" y="4170566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10,4,3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6" name="椭圆 125"/>
          <p:cNvSpPr/>
          <p:nvPr/>
        </p:nvSpPr>
        <p:spPr bwMode="auto">
          <a:xfrm>
            <a:off x="5121030" y="3063011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/>
          <p:cNvSpPr/>
          <p:nvPr/>
        </p:nvSpPr>
        <p:spPr bwMode="auto">
          <a:xfrm>
            <a:off x="6345166" y="222117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椭圆 132"/>
          <p:cNvSpPr/>
          <p:nvPr/>
        </p:nvSpPr>
        <p:spPr bwMode="auto">
          <a:xfrm>
            <a:off x="7668344" y="3097867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椭圆 133"/>
          <p:cNvSpPr/>
          <p:nvPr/>
        </p:nvSpPr>
        <p:spPr bwMode="auto">
          <a:xfrm>
            <a:off x="5785838" y="386392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直接箭头连接符 134"/>
          <p:cNvCxnSpPr>
            <a:stCxn id="133" idx="0"/>
            <a:endCxn id="127" idx="6"/>
          </p:cNvCxnSpPr>
          <p:nvPr/>
        </p:nvCxnSpPr>
        <p:spPr bwMode="auto">
          <a:xfrm flipH="1" flipV="1">
            <a:off x="6948264" y="2502485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6" name="直接箭头连接符 135"/>
          <p:cNvCxnSpPr>
            <a:stCxn id="126" idx="0"/>
            <a:endCxn id="127" idx="2"/>
          </p:cNvCxnSpPr>
          <p:nvPr/>
        </p:nvCxnSpPr>
        <p:spPr bwMode="auto">
          <a:xfrm flipV="1">
            <a:off x="5422579" y="2502485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7" name="直接箭头连接符 136"/>
          <p:cNvCxnSpPr>
            <a:stCxn id="126" idx="4"/>
            <a:endCxn id="134" idx="2"/>
          </p:cNvCxnSpPr>
          <p:nvPr/>
        </p:nvCxnSpPr>
        <p:spPr bwMode="auto">
          <a:xfrm>
            <a:off x="5422579" y="3625641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8" name="直接箭头连接符 137"/>
          <p:cNvCxnSpPr>
            <a:stCxn id="127" idx="5"/>
            <a:endCxn id="141" idx="0"/>
          </p:cNvCxnSpPr>
          <p:nvPr/>
        </p:nvCxnSpPr>
        <p:spPr bwMode="auto">
          <a:xfrm>
            <a:off x="6859942" y="2701405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9" name="直接箭头连接符 138"/>
          <p:cNvCxnSpPr>
            <a:stCxn id="133" idx="4"/>
            <a:endCxn id="141" idx="6"/>
          </p:cNvCxnSpPr>
          <p:nvPr/>
        </p:nvCxnSpPr>
        <p:spPr bwMode="auto">
          <a:xfrm flipH="1">
            <a:off x="7746663" y="3660497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40" name="文本框 139"/>
          <p:cNvSpPr txBox="1"/>
          <p:nvPr/>
        </p:nvSpPr>
        <p:spPr>
          <a:xfrm>
            <a:off x="5422579" y="2613290"/>
            <a:ext cx="699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3,4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1" name="椭圆 140"/>
          <p:cNvSpPr/>
          <p:nvPr/>
        </p:nvSpPr>
        <p:spPr bwMode="auto">
          <a:xfrm>
            <a:off x="7143565" y="386392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直接箭头连接符 141"/>
          <p:cNvCxnSpPr>
            <a:stCxn id="134" idx="0"/>
            <a:endCxn id="127" idx="3"/>
          </p:cNvCxnSpPr>
          <p:nvPr/>
        </p:nvCxnSpPr>
        <p:spPr bwMode="auto">
          <a:xfrm flipV="1">
            <a:off x="6087387" y="2701405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43" name="直接箭头连接符 142"/>
          <p:cNvCxnSpPr>
            <a:stCxn id="134" idx="6"/>
            <a:endCxn id="141" idx="2"/>
          </p:cNvCxnSpPr>
          <p:nvPr/>
        </p:nvCxnSpPr>
        <p:spPr bwMode="auto">
          <a:xfrm>
            <a:off x="6388936" y="4145235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44" name="文本框 143"/>
          <p:cNvSpPr txBox="1"/>
          <p:nvPr/>
        </p:nvSpPr>
        <p:spPr>
          <a:xfrm>
            <a:off x="7261006" y="2456038"/>
            <a:ext cx="86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7,-1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5756343" y="3029931"/>
            <a:ext cx="764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5, 2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6656718" y="3026313"/>
            <a:ext cx="830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2, 6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5121030" y="3655260"/>
            <a:ext cx="742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8" name="文本框 147"/>
          <p:cNvSpPr txBox="1"/>
          <p:nvPr/>
        </p:nvSpPr>
        <p:spPr>
          <a:xfrm>
            <a:off x="7648339" y="3791912"/>
            <a:ext cx="808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9" name="文本框 148"/>
          <p:cNvSpPr txBox="1"/>
          <p:nvPr/>
        </p:nvSpPr>
        <p:spPr>
          <a:xfrm>
            <a:off x="6283033" y="3877354"/>
            <a:ext cx="73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6,3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3" name="曲线连接符 2"/>
          <p:cNvCxnSpPr>
            <a:stCxn id="127" idx="2"/>
            <a:endCxn id="126" idx="1"/>
          </p:cNvCxnSpPr>
          <p:nvPr/>
        </p:nvCxnSpPr>
        <p:spPr bwMode="auto">
          <a:xfrm rot="10800000" flipV="1">
            <a:off x="5209352" y="2502484"/>
            <a:ext cx="1135814" cy="642921"/>
          </a:xfrm>
          <a:prstGeom prst="curvedConnector2">
            <a:avLst/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150" name="文本框 149"/>
          <p:cNvSpPr txBox="1"/>
          <p:nvPr/>
        </p:nvSpPr>
        <p:spPr>
          <a:xfrm>
            <a:off x="4984122" y="2415576"/>
            <a:ext cx="80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7,-4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151" name="曲线连接符 150"/>
          <p:cNvCxnSpPr>
            <a:stCxn id="134" idx="2"/>
            <a:endCxn id="126" idx="3"/>
          </p:cNvCxnSpPr>
          <p:nvPr/>
        </p:nvCxnSpPr>
        <p:spPr bwMode="auto">
          <a:xfrm rot="10800000">
            <a:off x="5209352" y="3543247"/>
            <a:ext cx="576486" cy="601989"/>
          </a:xfrm>
          <a:prstGeom prst="curvedConnector2">
            <a:avLst/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152" name="文本框 151"/>
          <p:cNvSpPr txBox="1"/>
          <p:nvPr/>
        </p:nvSpPr>
        <p:spPr>
          <a:xfrm>
            <a:off x="4598840" y="3694643"/>
            <a:ext cx="742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153" name="曲线连接符 152"/>
          <p:cNvCxnSpPr>
            <a:stCxn id="141" idx="2"/>
            <a:endCxn id="134" idx="5"/>
          </p:cNvCxnSpPr>
          <p:nvPr/>
        </p:nvCxnSpPr>
        <p:spPr bwMode="auto">
          <a:xfrm rot="10800000" flipV="1">
            <a:off x="6300615" y="4145235"/>
            <a:ext cx="842951" cy="198920"/>
          </a:xfrm>
          <a:prstGeom prst="curvedConnector4">
            <a:avLst>
              <a:gd name="adj1" fmla="val 2221"/>
              <a:gd name="adj2" fmla="val 98608"/>
            </a:avLst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154" name="文本框 153"/>
          <p:cNvSpPr txBox="1"/>
          <p:nvPr/>
        </p:nvSpPr>
        <p:spPr>
          <a:xfrm>
            <a:off x="6228184" y="4114864"/>
            <a:ext cx="73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56" name="矩形 155"/>
          <p:cNvSpPr/>
          <p:nvPr/>
        </p:nvSpPr>
        <p:spPr>
          <a:xfrm>
            <a:off x="6010793" y="4532663"/>
            <a:ext cx="17427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>
                <a:latin typeface="Times New Roman" panose="02020603050405020304" pitchFamily="18" charset="0"/>
              </a:rPr>
              <a:t>增流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2000" b="1" dirty="0"/>
          </a:p>
        </p:txBody>
      </p:sp>
      <p:sp>
        <p:nvSpPr>
          <p:cNvPr id="157" name="矩形 156"/>
          <p:cNvSpPr/>
          <p:nvPr/>
        </p:nvSpPr>
        <p:spPr>
          <a:xfrm>
            <a:off x="1488366" y="4543576"/>
            <a:ext cx="8835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i="0" dirty="0">
                <a:latin typeface="Times New Roman" panose="02020603050405020304" pitchFamily="18" charset="0"/>
              </a:rPr>
              <a:t>网络</a:t>
            </a:r>
            <a:r>
              <a:rPr lang="en-US" altLang="zh-CN" sz="2000" b="1" dirty="0">
                <a:latin typeface="Times New Roman" panose="02020603050405020304" pitchFamily="18" charset="0"/>
              </a:rPr>
              <a:t>D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1379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27" grpId="0" animBg="1"/>
      <p:bldP spid="133" grpId="0" animBg="1"/>
      <p:bldP spid="134" grpId="0" animBg="1"/>
      <p:bldP spid="140" grpId="0"/>
      <p:bldP spid="141" grpId="0" animBg="1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2" grpId="0"/>
      <p:bldP spid="154" grpId="0"/>
      <p:bldP spid="15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idx="1"/>
          </p:nvPr>
        </p:nvSpPr>
        <p:spPr>
          <a:xfrm>
            <a:off x="584526" y="1124744"/>
            <a:ext cx="8075692" cy="109568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求解</a:t>
            </a:r>
            <a:r>
              <a:rPr lang="zh-CN" altLang="en-US" dirty="0" smtClean="0">
                <a:latin typeface="Times New Roman" panose="02020603050405020304" pitchFamily="18" charset="0"/>
              </a:rPr>
              <a:t>方法</a:t>
            </a:r>
            <a:r>
              <a:rPr lang="en-US" altLang="zh-CN" dirty="0" smtClean="0">
                <a:latin typeface="Times New Roman" panose="02020603050405020304" pitchFamily="18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：（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求得最大流量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调整网络流量分布以减少网络费用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达到最小费用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步骤三：</a:t>
            </a:r>
            <a:r>
              <a:rPr lang="zh-CN" altLang="en-US" dirty="0">
                <a:latin typeface="Times New Roman" panose="02020603050405020304" pitchFamily="18" charset="0"/>
              </a:rPr>
              <a:t>在增流</a:t>
            </a:r>
            <a:r>
              <a:rPr lang="zh-CN" altLang="en-US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dirty="0" smtClean="0">
                <a:latin typeface="Times New Roman" panose="02020603050405020304" pitchFamily="18" charset="0"/>
              </a:rPr>
              <a:t>中</a:t>
            </a:r>
            <a:r>
              <a:rPr lang="zh-CN" altLang="en-US" dirty="0">
                <a:latin typeface="Times New Roman" panose="02020603050405020304" pitchFamily="18" charset="0"/>
              </a:rPr>
              <a:t>。查找关于费用的负回路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07" name="椭圆 106"/>
          <p:cNvSpPr/>
          <p:nvPr/>
        </p:nvSpPr>
        <p:spPr bwMode="auto">
          <a:xfrm>
            <a:off x="584526" y="297970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椭圆 107"/>
          <p:cNvSpPr/>
          <p:nvPr/>
        </p:nvSpPr>
        <p:spPr bwMode="auto">
          <a:xfrm>
            <a:off x="1808662" y="2137859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椭圆 108"/>
          <p:cNvSpPr/>
          <p:nvPr/>
        </p:nvSpPr>
        <p:spPr bwMode="auto">
          <a:xfrm>
            <a:off x="3131840" y="301455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椭圆 109"/>
          <p:cNvSpPr/>
          <p:nvPr/>
        </p:nvSpPr>
        <p:spPr bwMode="auto">
          <a:xfrm>
            <a:off x="1249334" y="3780609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/>
          <p:cNvCxnSpPr>
            <a:stCxn id="108" idx="6"/>
            <a:endCxn id="109" idx="0"/>
          </p:cNvCxnSpPr>
          <p:nvPr/>
        </p:nvCxnSpPr>
        <p:spPr bwMode="auto">
          <a:xfrm>
            <a:off x="2411760" y="2419174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2" name="直接箭头连接符 111"/>
          <p:cNvCxnSpPr>
            <a:stCxn id="107" idx="0"/>
            <a:endCxn id="108" idx="2"/>
          </p:cNvCxnSpPr>
          <p:nvPr/>
        </p:nvCxnSpPr>
        <p:spPr bwMode="auto">
          <a:xfrm flipV="1">
            <a:off x="886075" y="2419174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3" name="直接箭头连接符 112"/>
          <p:cNvCxnSpPr>
            <a:stCxn id="107" idx="4"/>
            <a:endCxn id="110" idx="2"/>
          </p:cNvCxnSpPr>
          <p:nvPr/>
        </p:nvCxnSpPr>
        <p:spPr bwMode="auto">
          <a:xfrm>
            <a:off x="886075" y="3542330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4" name="直接箭头连接符 113"/>
          <p:cNvCxnSpPr>
            <a:stCxn id="108" idx="5"/>
            <a:endCxn id="117" idx="0"/>
          </p:cNvCxnSpPr>
          <p:nvPr/>
        </p:nvCxnSpPr>
        <p:spPr bwMode="auto">
          <a:xfrm>
            <a:off x="2323438" y="2618094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5" name="直接箭头连接符 114"/>
          <p:cNvCxnSpPr>
            <a:stCxn id="117" idx="6"/>
            <a:endCxn id="109" idx="4"/>
          </p:cNvCxnSpPr>
          <p:nvPr/>
        </p:nvCxnSpPr>
        <p:spPr bwMode="auto">
          <a:xfrm flipV="1">
            <a:off x="3210159" y="3577186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16" name="文本框 115"/>
          <p:cNvSpPr txBox="1"/>
          <p:nvPr/>
        </p:nvSpPr>
        <p:spPr>
          <a:xfrm>
            <a:off x="365698" y="2378551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10,7,4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17" name="椭圆 116"/>
          <p:cNvSpPr/>
          <p:nvPr/>
        </p:nvSpPr>
        <p:spPr bwMode="auto">
          <a:xfrm>
            <a:off x="2607061" y="3780609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/>
          <p:cNvCxnSpPr>
            <a:stCxn id="110" idx="0"/>
            <a:endCxn id="108" idx="3"/>
          </p:cNvCxnSpPr>
          <p:nvPr/>
        </p:nvCxnSpPr>
        <p:spPr bwMode="auto">
          <a:xfrm flipV="1">
            <a:off x="1550883" y="2618094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19" name="直接箭头连接符 118"/>
          <p:cNvCxnSpPr>
            <a:stCxn id="110" idx="6"/>
            <a:endCxn id="117" idx="2"/>
          </p:cNvCxnSpPr>
          <p:nvPr/>
        </p:nvCxnSpPr>
        <p:spPr bwMode="auto">
          <a:xfrm>
            <a:off x="1852432" y="4061924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20" name="文本框 119"/>
          <p:cNvSpPr txBox="1"/>
          <p:nvPr/>
        </p:nvSpPr>
        <p:spPr>
          <a:xfrm>
            <a:off x="2724501" y="2372727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7,7,1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1" name="文本框 120"/>
          <p:cNvSpPr txBox="1"/>
          <p:nvPr/>
        </p:nvSpPr>
        <p:spPr>
          <a:xfrm>
            <a:off x="971600" y="293799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5,0,2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2" name="文本框 121"/>
          <p:cNvSpPr txBox="1"/>
          <p:nvPr/>
        </p:nvSpPr>
        <p:spPr>
          <a:xfrm>
            <a:off x="2379545" y="2932175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2,0,6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3" name="文本框 122"/>
          <p:cNvSpPr txBox="1"/>
          <p:nvPr/>
        </p:nvSpPr>
        <p:spPr>
          <a:xfrm>
            <a:off x="35496" y="3714425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8,4,1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4" name="文本框 123"/>
          <p:cNvSpPr txBox="1"/>
          <p:nvPr/>
        </p:nvSpPr>
        <p:spPr>
          <a:xfrm>
            <a:off x="3099625" y="3708601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4,4,2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5" name="文本框 124"/>
          <p:cNvSpPr txBox="1"/>
          <p:nvPr/>
        </p:nvSpPr>
        <p:spPr>
          <a:xfrm>
            <a:off x="1691680" y="4082252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10,4,3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26" name="椭圆 125"/>
          <p:cNvSpPr/>
          <p:nvPr/>
        </p:nvSpPr>
        <p:spPr bwMode="auto">
          <a:xfrm>
            <a:off x="5121030" y="2974697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/>
          <p:cNvSpPr/>
          <p:nvPr/>
        </p:nvSpPr>
        <p:spPr bwMode="auto">
          <a:xfrm>
            <a:off x="6345166" y="213285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椭圆 132"/>
          <p:cNvSpPr/>
          <p:nvPr/>
        </p:nvSpPr>
        <p:spPr bwMode="auto">
          <a:xfrm>
            <a:off x="7668344" y="300955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椭圆 133"/>
          <p:cNvSpPr/>
          <p:nvPr/>
        </p:nvSpPr>
        <p:spPr bwMode="auto">
          <a:xfrm>
            <a:off x="5785838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直接箭头连接符 134"/>
          <p:cNvCxnSpPr>
            <a:stCxn id="133" idx="0"/>
            <a:endCxn id="127" idx="6"/>
          </p:cNvCxnSpPr>
          <p:nvPr/>
        </p:nvCxnSpPr>
        <p:spPr bwMode="auto">
          <a:xfrm flipH="1" flipV="1">
            <a:off x="6948264" y="2414171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6" name="直接箭头连接符 135"/>
          <p:cNvCxnSpPr>
            <a:stCxn id="126" idx="0"/>
            <a:endCxn id="127" idx="2"/>
          </p:cNvCxnSpPr>
          <p:nvPr/>
        </p:nvCxnSpPr>
        <p:spPr bwMode="auto">
          <a:xfrm flipV="1">
            <a:off x="5422579" y="2414171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7" name="直接箭头连接符 136"/>
          <p:cNvCxnSpPr>
            <a:stCxn id="126" idx="4"/>
            <a:endCxn id="134" idx="2"/>
          </p:cNvCxnSpPr>
          <p:nvPr/>
        </p:nvCxnSpPr>
        <p:spPr bwMode="auto">
          <a:xfrm>
            <a:off x="5422579" y="3537327"/>
            <a:ext cx="363259" cy="519594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38" name="直接箭头连接符 137"/>
          <p:cNvCxnSpPr>
            <a:stCxn id="127" idx="5"/>
            <a:endCxn id="141" idx="0"/>
          </p:cNvCxnSpPr>
          <p:nvPr/>
        </p:nvCxnSpPr>
        <p:spPr bwMode="auto">
          <a:xfrm>
            <a:off x="6859942" y="2613091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9" name="直接箭头连接符 138"/>
          <p:cNvCxnSpPr>
            <a:stCxn id="133" idx="4"/>
            <a:endCxn id="141" idx="6"/>
          </p:cNvCxnSpPr>
          <p:nvPr/>
        </p:nvCxnSpPr>
        <p:spPr bwMode="auto">
          <a:xfrm flipH="1">
            <a:off x="7746663" y="3572183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40" name="文本框 139"/>
          <p:cNvSpPr txBox="1"/>
          <p:nvPr/>
        </p:nvSpPr>
        <p:spPr>
          <a:xfrm>
            <a:off x="5422579" y="2524976"/>
            <a:ext cx="699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3,4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1" name="椭圆 140"/>
          <p:cNvSpPr/>
          <p:nvPr/>
        </p:nvSpPr>
        <p:spPr bwMode="auto">
          <a:xfrm>
            <a:off x="7143565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直接箭头连接符 141"/>
          <p:cNvCxnSpPr>
            <a:stCxn id="134" idx="0"/>
            <a:endCxn id="127" idx="3"/>
          </p:cNvCxnSpPr>
          <p:nvPr/>
        </p:nvCxnSpPr>
        <p:spPr bwMode="auto">
          <a:xfrm flipV="1">
            <a:off x="6087387" y="2613091"/>
            <a:ext cx="346101" cy="1162515"/>
          </a:xfrm>
          <a:prstGeom prst="straightConnector1">
            <a:avLst/>
          </a:prstGeom>
          <a:noFill/>
          <a:ln w="19050">
            <a:solidFill>
              <a:srgbClr val="FF0000"/>
            </a:solidFill>
            <a:tailEnd type="triangle"/>
          </a:ln>
        </p:spPr>
      </p:cxnSp>
      <p:cxnSp>
        <p:nvCxnSpPr>
          <p:cNvPr id="143" name="直接箭头连接符 142"/>
          <p:cNvCxnSpPr>
            <a:stCxn id="134" idx="6"/>
            <a:endCxn id="141" idx="2"/>
          </p:cNvCxnSpPr>
          <p:nvPr/>
        </p:nvCxnSpPr>
        <p:spPr bwMode="auto">
          <a:xfrm>
            <a:off x="6388936" y="4056921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44" name="文本框 143"/>
          <p:cNvSpPr txBox="1"/>
          <p:nvPr/>
        </p:nvSpPr>
        <p:spPr>
          <a:xfrm>
            <a:off x="7261006" y="2367724"/>
            <a:ext cx="86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7,-1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5756343" y="2941617"/>
            <a:ext cx="764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5, 2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6656718" y="2937999"/>
            <a:ext cx="830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2, 6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5121030" y="3566946"/>
            <a:ext cx="742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8" name="文本框 147"/>
          <p:cNvSpPr txBox="1"/>
          <p:nvPr/>
        </p:nvSpPr>
        <p:spPr>
          <a:xfrm>
            <a:off x="7648339" y="3703598"/>
            <a:ext cx="808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9" name="文本框 148"/>
          <p:cNvSpPr txBox="1"/>
          <p:nvPr/>
        </p:nvSpPr>
        <p:spPr>
          <a:xfrm>
            <a:off x="6283033" y="3789040"/>
            <a:ext cx="73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6,3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3" name="曲线连接符 2"/>
          <p:cNvCxnSpPr>
            <a:stCxn id="127" idx="2"/>
            <a:endCxn id="126" idx="1"/>
          </p:cNvCxnSpPr>
          <p:nvPr/>
        </p:nvCxnSpPr>
        <p:spPr bwMode="auto">
          <a:xfrm rot="10800000" flipV="1">
            <a:off x="5209352" y="2414170"/>
            <a:ext cx="1135814" cy="642921"/>
          </a:xfrm>
          <a:prstGeom prst="curvedConnector2">
            <a:avLst/>
          </a:prstGeom>
          <a:noFill/>
          <a:ln>
            <a:solidFill>
              <a:srgbClr val="FF0000"/>
            </a:solidFill>
            <a:tailEnd type="triangle"/>
          </a:ln>
        </p:spPr>
      </p:cxnSp>
      <p:sp>
        <p:nvSpPr>
          <p:cNvPr id="150" name="文本框 149"/>
          <p:cNvSpPr txBox="1"/>
          <p:nvPr/>
        </p:nvSpPr>
        <p:spPr>
          <a:xfrm>
            <a:off x="4984122" y="2327262"/>
            <a:ext cx="80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7,-4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151" name="曲线连接符 150"/>
          <p:cNvCxnSpPr>
            <a:stCxn id="134" idx="2"/>
            <a:endCxn id="126" idx="3"/>
          </p:cNvCxnSpPr>
          <p:nvPr/>
        </p:nvCxnSpPr>
        <p:spPr bwMode="auto">
          <a:xfrm rot="10800000">
            <a:off x="5209352" y="3454933"/>
            <a:ext cx="576486" cy="601989"/>
          </a:xfrm>
          <a:prstGeom prst="curvedConnector2">
            <a:avLst/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152" name="文本框 151"/>
          <p:cNvSpPr txBox="1"/>
          <p:nvPr/>
        </p:nvSpPr>
        <p:spPr>
          <a:xfrm>
            <a:off x="4598840" y="3606329"/>
            <a:ext cx="742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153" name="曲线连接符 152"/>
          <p:cNvCxnSpPr>
            <a:stCxn id="141" idx="2"/>
            <a:endCxn id="134" idx="5"/>
          </p:cNvCxnSpPr>
          <p:nvPr/>
        </p:nvCxnSpPr>
        <p:spPr bwMode="auto">
          <a:xfrm rot="10800000" flipV="1">
            <a:off x="6300615" y="4056921"/>
            <a:ext cx="842951" cy="198920"/>
          </a:xfrm>
          <a:prstGeom prst="curvedConnector4">
            <a:avLst>
              <a:gd name="adj1" fmla="val 2221"/>
              <a:gd name="adj2" fmla="val 98608"/>
            </a:avLst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154" name="文本框 153"/>
          <p:cNvSpPr txBox="1"/>
          <p:nvPr/>
        </p:nvSpPr>
        <p:spPr>
          <a:xfrm>
            <a:off x="6228184" y="4026550"/>
            <a:ext cx="73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50" name="椭圆 49"/>
          <p:cNvSpPr/>
          <p:nvPr/>
        </p:nvSpPr>
        <p:spPr bwMode="auto">
          <a:xfrm>
            <a:off x="5121030" y="5228254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椭圆 50"/>
          <p:cNvSpPr/>
          <p:nvPr/>
        </p:nvSpPr>
        <p:spPr bwMode="auto">
          <a:xfrm>
            <a:off x="6345166" y="438641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/>
          <p:nvPr/>
        </p:nvSpPr>
        <p:spPr bwMode="auto">
          <a:xfrm>
            <a:off x="7668344" y="5263110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椭圆 52"/>
          <p:cNvSpPr/>
          <p:nvPr/>
        </p:nvSpPr>
        <p:spPr bwMode="auto">
          <a:xfrm>
            <a:off x="5785838" y="602916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接箭头连接符 53"/>
          <p:cNvCxnSpPr>
            <a:stCxn id="51" idx="6"/>
            <a:endCxn id="52" idx="0"/>
          </p:cNvCxnSpPr>
          <p:nvPr/>
        </p:nvCxnSpPr>
        <p:spPr bwMode="auto">
          <a:xfrm>
            <a:off x="6948264" y="4667728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5" name="直接箭头连接符 54"/>
          <p:cNvCxnSpPr>
            <a:stCxn id="50" idx="0"/>
            <a:endCxn id="51" idx="2"/>
          </p:cNvCxnSpPr>
          <p:nvPr/>
        </p:nvCxnSpPr>
        <p:spPr bwMode="auto">
          <a:xfrm flipV="1">
            <a:off x="5422579" y="4667728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6" name="直接箭头连接符 55"/>
          <p:cNvCxnSpPr>
            <a:stCxn id="50" idx="4"/>
            <a:endCxn id="53" idx="2"/>
          </p:cNvCxnSpPr>
          <p:nvPr/>
        </p:nvCxnSpPr>
        <p:spPr bwMode="auto">
          <a:xfrm>
            <a:off x="5422579" y="5790884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7" name="直接箭头连接符 56"/>
          <p:cNvCxnSpPr>
            <a:stCxn id="51" idx="5"/>
            <a:endCxn id="60" idx="0"/>
          </p:cNvCxnSpPr>
          <p:nvPr/>
        </p:nvCxnSpPr>
        <p:spPr bwMode="auto">
          <a:xfrm>
            <a:off x="6859942" y="4866648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8" name="直接箭头连接符 57"/>
          <p:cNvCxnSpPr>
            <a:stCxn id="60" idx="6"/>
            <a:endCxn id="52" idx="4"/>
          </p:cNvCxnSpPr>
          <p:nvPr/>
        </p:nvCxnSpPr>
        <p:spPr bwMode="auto">
          <a:xfrm flipV="1">
            <a:off x="7746663" y="5825740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59" name="文本框 58"/>
          <p:cNvSpPr txBox="1"/>
          <p:nvPr/>
        </p:nvSpPr>
        <p:spPr>
          <a:xfrm>
            <a:off x="4902202" y="4627105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i="0" dirty="0" smtClean="0">
                <a:solidFill>
                  <a:srgbClr val="FF0000"/>
                </a:solidFill>
              </a:rPr>
              <a:t>10,3,4</a:t>
            </a:r>
            <a:r>
              <a:rPr lang="zh-CN" altLang="en-US" sz="1600" i="0" dirty="0" smtClean="0">
                <a:solidFill>
                  <a:srgbClr val="FF0000"/>
                </a:solidFill>
              </a:rPr>
              <a:t>）</a:t>
            </a:r>
            <a:endParaRPr lang="zh-CN" altLang="en-US" sz="1600" i="0" dirty="0">
              <a:solidFill>
                <a:srgbClr val="FF0000"/>
              </a:solidFill>
            </a:endParaRPr>
          </a:p>
        </p:txBody>
      </p:sp>
      <p:sp>
        <p:nvSpPr>
          <p:cNvPr id="60" name="椭圆 59"/>
          <p:cNvSpPr/>
          <p:nvPr/>
        </p:nvSpPr>
        <p:spPr bwMode="auto">
          <a:xfrm>
            <a:off x="7143565" y="602916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/>
          <p:cNvCxnSpPr>
            <a:stCxn id="53" idx="0"/>
            <a:endCxn id="51" idx="3"/>
          </p:cNvCxnSpPr>
          <p:nvPr/>
        </p:nvCxnSpPr>
        <p:spPr bwMode="auto">
          <a:xfrm flipV="1">
            <a:off x="6087387" y="4866648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62" name="直接箭头连接符 61"/>
          <p:cNvCxnSpPr>
            <a:stCxn id="53" idx="6"/>
            <a:endCxn id="60" idx="2"/>
          </p:cNvCxnSpPr>
          <p:nvPr/>
        </p:nvCxnSpPr>
        <p:spPr bwMode="auto">
          <a:xfrm>
            <a:off x="6388936" y="6310478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63" name="文本框 62"/>
          <p:cNvSpPr txBox="1"/>
          <p:nvPr/>
        </p:nvSpPr>
        <p:spPr>
          <a:xfrm>
            <a:off x="7261005" y="4621281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7,7,1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4" name="文本框 63"/>
          <p:cNvSpPr txBox="1"/>
          <p:nvPr/>
        </p:nvSpPr>
        <p:spPr>
          <a:xfrm>
            <a:off x="5508104" y="5186553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i="0" dirty="0" smtClean="0">
                <a:solidFill>
                  <a:srgbClr val="FF0000"/>
                </a:solidFill>
              </a:rPr>
              <a:t>5,4,2</a:t>
            </a:r>
            <a:r>
              <a:rPr lang="zh-CN" altLang="en-US" sz="1600" i="0" dirty="0" smtClean="0">
                <a:solidFill>
                  <a:srgbClr val="FF0000"/>
                </a:solidFill>
              </a:rPr>
              <a:t>）</a:t>
            </a:r>
            <a:endParaRPr lang="zh-CN" altLang="en-US" sz="1600" i="0" dirty="0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916049" y="518072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2,0,6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6" name="文本框 65"/>
          <p:cNvSpPr txBox="1"/>
          <p:nvPr/>
        </p:nvSpPr>
        <p:spPr>
          <a:xfrm>
            <a:off x="4572000" y="5962979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>
                <a:solidFill>
                  <a:srgbClr val="FF0000"/>
                </a:solidFill>
              </a:rPr>
              <a:t>（</a:t>
            </a:r>
            <a:r>
              <a:rPr lang="en-US" altLang="zh-CN" sz="1600" i="0" dirty="0" smtClean="0">
                <a:solidFill>
                  <a:srgbClr val="FF0000"/>
                </a:solidFill>
              </a:rPr>
              <a:t>8,8,1</a:t>
            </a:r>
            <a:r>
              <a:rPr lang="zh-CN" altLang="en-US" sz="1600" i="0" dirty="0" smtClean="0">
                <a:solidFill>
                  <a:srgbClr val="FF0000"/>
                </a:solidFill>
              </a:rPr>
              <a:t>）</a:t>
            </a:r>
            <a:endParaRPr lang="zh-CN" altLang="en-US" sz="1600" i="0" dirty="0">
              <a:solidFill>
                <a:srgbClr val="FF0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636129" y="5957155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4,4,2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8" name="文本框 67"/>
          <p:cNvSpPr txBox="1"/>
          <p:nvPr/>
        </p:nvSpPr>
        <p:spPr>
          <a:xfrm>
            <a:off x="6228184" y="6330806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10,4,3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69" name="直接连接符 68"/>
          <p:cNvCxnSpPr/>
          <p:nvPr/>
        </p:nvCxnSpPr>
        <p:spPr bwMode="auto">
          <a:xfrm>
            <a:off x="35496" y="4338236"/>
            <a:ext cx="9073008" cy="48177"/>
          </a:xfrm>
          <a:prstGeom prst="line">
            <a:avLst/>
          </a:prstGeom>
          <a:noFill/>
          <a:ln>
            <a:solidFill>
              <a:schemeClr val="tx1"/>
            </a:solidFill>
          </a:ln>
        </p:spPr>
      </p:cxnSp>
      <p:sp>
        <p:nvSpPr>
          <p:cNvPr id="4" name="矩形 3"/>
          <p:cNvSpPr/>
          <p:nvPr/>
        </p:nvSpPr>
        <p:spPr>
          <a:xfrm>
            <a:off x="519140" y="451184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906462" lvl="1" indent="-457200">
              <a:lnSpc>
                <a:spcPct val="90000"/>
              </a:lnSpc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</a:pPr>
            <a:r>
              <a:rPr lang="zh-CN" altLang="en-US" sz="2000" b="1" i="0" dirty="0" smtClean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步骤</a:t>
            </a:r>
            <a:r>
              <a:rPr lang="zh-CN" altLang="en-US" sz="2000" b="1" i="0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四</a:t>
            </a:r>
            <a:r>
              <a:rPr lang="zh-CN" altLang="en-US" sz="2000" b="1" i="0" dirty="0" smtClean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：</a:t>
            </a:r>
            <a:r>
              <a:rPr lang="zh-CN" altLang="en-US" sz="2000" b="1" i="0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针对负回路对应网络</a:t>
            </a:r>
            <a:r>
              <a:rPr lang="en-US" altLang="zh-CN" sz="2000" b="1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zh-CN" altLang="en-US" sz="2000" b="1" i="0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中的</a:t>
            </a:r>
            <a:r>
              <a:rPr lang="zh-CN" altLang="en-US" sz="2000" b="1" i="0" dirty="0" smtClean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圈调整流量得到</a:t>
            </a:r>
            <a:r>
              <a:rPr lang="en-US" altLang="zh-CN" sz="2000" b="1" dirty="0" smtClean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sz="2000" b="1" i="0" dirty="0" smtClean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(2)</a:t>
            </a:r>
            <a:endParaRPr lang="zh-CN" altLang="en-US" sz="2000" b="1" i="0" dirty="0">
              <a:solidFill>
                <a:srgbClr val="292929"/>
              </a:solidFill>
              <a:latin typeface="Times New Roman" panose="02020603050405020304" pitchFamily="18" charset="0"/>
              <a:ea typeface="宋体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784890" y="4013327"/>
            <a:ext cx="14318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i="0" dirty="0">
                <a:latin typeface="Times New Roman" panose="02020603050405020304" pitchFamily="18" charset="0"/>
              </a:rPr>
              <a:t>增流</a:t>
            </a:r>
            <a:r>
              <a:rPr lang="zh-CN" altLang="en-US" sz="1600" b="1" i="0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1600" b="1" dirty="0"/>
          </a:p>
        </p:txBody>
      </p:sp>
      <p:sp>
        <p:nvSpPr>
          <p:cNvPr id="73" name="矩形 72"/>
          <p:cNvSpPr/>
          <p:nvPr/>
        </p:nvSpPr>
        <p:spPr>
          <a:xfrm>
            <a:off x="3317138" y="4025618"/>
            <a:ext cx="7425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i="0" dirty="0">
                <a:latin typeface="Times New Roman" panose="02020603050405020304" pitchFamily="18" charset="0"/>
              </a:rPr>
              <a:t>网络</a:t>
            </a:r>
            <a:r>
              <a:rPr lang="en-US" altLang="zh-CN" sz="1600" b="1" dirty="0">
                <a:latin typeface="Times New Roman" panose="02020603050405020304" pitchFamily="18" charset="0"/>
              </a:rPr>
              <a:t>D</a:t>
            </a:r>
            <a:endParaRPr lang="zh-CN" altLang="en-US" sz="1600" b="1" dirty="0"/>
          </a:p>
        </p:txBody>
      </p:sp>
      <p:sp>
        <p:nvSpPr>
          <p:cNvPr id="74" name="矩形 73"/>
          <p:cNvSpPr/>
          <p:nvPr/>
        </p:nvSpPr>
        <p:spPr>
          <a:xfrm>
            <a:off x="8023140" y="6253239"/>
            <a:ext cx="9861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i="0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sz="1600" b="1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sz="1600" b="1" i="0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(2)</a:t>
            </a:r>
            <a:endParaRPr lang="zh-CN" altLang="en-US" sz="1600" b="1" dirty="0"/>
          </a:p>
        </p:txBody>
      </p:sp>
      <p:sp>
        <p:nvSpPr>
          <p:cNvPr id="77" name="矩形 76"/>
          <p:cNvSpPr/>
          <p:nvPr/>
        </p:nvSpPr>
        <p:spPr>
          <a:xfrm>
            <a:off x="518175" y="519611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906462" lvl="1" indent="-457200">
              <a:lnSpc>
                <a:spcPct val="90000"/>
              </a:lnSpc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</a:pPr>
            <a:r>
              <a:rPr lang="zh-CN" altLang="en-US" sz="2000" b="1" i="0" dirty="0" smtClean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步骤五：</a:t>
            </a:r>
            <a:r>
              <a:rPr lang="zh-CN" altLang="en-US" sz="2000" b="1" i="0" dirty="0" smtClean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继续</a:t>
            </a:r>
            <a:r>
              <a:rPr lang="zh-CN" altLang="en-US" sz="2000" b="1" i="0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在增流网络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000" b="1" i="0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中</a:t>
            </a:r>
            <a:r>
              <a:rPr lang="zh-CN" altLang="en-US" sz="2000" b="1" i="0" dirty="0" smtClean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寻找</a:t>
            </a:r>
            <a:r>
              <a:rPr lang="zh-CN" altLang="en-US" sz="2000" b="1" i="0" dirty="0">
                <a:solidFill>
                  <a:srgbClr val="292929"/>
                </a:solidFill>
                <a:latin typeface="Times New Roman" panose="02020603050405020304" pitchFamily="18" charset="0"/>
                <a:ea typeface="宋体"/>
              </a:rPr>
              <a:t>负回路</a:t>
            </a:r>
          </a:p>
        </p:txBody>
      </p:sp>
    </p:spTree>
    <p:extLst>
      <p:ext uri="{BB962C8B-B14F-4D97-AF65-F5344CB8AC3E}">
        <p14:creationId xmlns:p14="http://schemas.microsoft.com/office/powerpoint/2010/main" val="347884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27" grpId="0" animBg="1"/>
      <p:bldP spid="133" grpId="0" animBg="1"/>
      <p:bldP spid="134" grpId="0" animBg="1"/>
      <p:bldP spid="140" grpId="0"/>
      <p:bldP spid="141" grpId="0" animBg="1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2" grpId="0"/>
      <p:bldP spid="154" grpId="0"/>
      <p:bldP spid="50" grpId="0" animBg="1"/>
      <p:bldP spid="51" grpId="0" animBg="1"/>
      <p:bldP spid="52" grpId="0" animBg="1"/>
      <p:bldP spid="53" grpId="0" animBg="1"/>
      <p:bldP spid="59" grpId="0"/>
      <p:bldP spid="60" grpId="0" animBg="1"/>
      <p:bldP spid="63" grpId="0"/>
      <p:bldP spid="64" grpId="0"/>
      <p:bldP spid="65" grpId="0"/>
      <p:bldP spid="66" grpId="0"/>
      <p:bldP spid="67" grpId="0"/>
      <p:bldP spid="68" grpId="0"/>
      <p:bldP spid="4" grpId="0"/>
      <p:bldP spid="72" grpId="0"/>
      <p:bldP spid="74" grpId="0"/>
      <p:bldP spid="7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idx="1"/>
          </p:nvPr>
        </p:nvSpPr>
        <p:spPr>
          <a:xfrm>
            <a:off x="584526" y="1124744"/>
            <a:ext cx="8075692" cy="109568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求解</a:t>
            </a:r>
            <a:r>
              <a:rPr lang="zh-CN" altLang="en-US" dirty="0" smtClean="0">
                <a:latin typeface="Times New Roman" panose="02020603050405020304" pitchFamily="18" charset="0"/>
              </a:rPr>
              <a:t>方法</a:t>
            </a:r>
            <a:r>
              <a:rPr lang="en-US" altLang="zh-CN" dirty="0" smtClean="0">
                <a:latin typeface="Times New Roman" panose="02020603050405020304" pitchFamily="18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：（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求得最大流量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调整网络流量分布以减少网络费用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达到最小费用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步骤六：构建</a:t>
            </a:r>
            <a:r>
              <a:rPr lang="zh-CN" altLang="en-US" dirty="0" smtClean="0">
                <a:latin typeface="Times New Roman" panose="02020603050405020304" pitchFamily="18" charset="0"/>
              </a:rPr>
              <a:t>增</a:t>
            </a:r>
            <a:r>
              <a:rPr lang="zh-CN" altLang="en-US" dirty="0">
                <a:latin typeface="Times New Roman" panose="02020603050405020304" pitchFamily="18" charset="0"/>
              </a:rPr>
              <a:t>流</a:t>
            </a:r>
            <a:r>
              <a:rPr lang="zh-CN" altLang="en-US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26" name="椭圆 125"/>
          <p:cNvSpPr/>
          <p:nvPr/>
        </p:nvSpPr>
        <p:spPr bwMode="auto">
          <a:xfrm>
            <a:off x="5121030" y="2974697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/>
          <p:cNvSpPr/>
          <p:nvPr/>
        </p:nvSpPr>
        <p:spPr bwMode="auto">
          <a:xfrm>
            <a:off x="6345166" y="213285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椭圆 132"/>
          <p:cNvSpPr/>
          <p:nvPr/>
        </p:nvSpPr>
        <p:spPr bwMode="auto">
          <a:xfrm>
            <a:off x="7668344" y="300955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椭圆 133"/>
          <p:cNvSpPr/>
          <p:nvPr/>
        </p:nvSpPr>
        <p:spPr bwMode="auto">
          <a:xfrm>
            <a:off x="5785838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直接箭头连接符 134"/>
          <p:cNvCxnSpPr>
            <a:stCxn id="133" idx="0"/>
            <a:endCxn id="127" idx="6"/>
          </p:cNvCxnSpPr>
          <p:nvPr/>
        </p:nvCxnSpPr>
        <p:spPr bwMode="auto">
          <a:xfrm flipH="1" flipV="1">
            <a:off x="6948264" y="2414171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6" name="直接箭头连接符 135"/>
          <p:cNvCxnSpPr>
            <a:stCxn id="126" idx="0"/>
            <a:endCxn id="127" idx="2"/>
          </p:cNvCxnSpPr>
          <p:nvPr/>
        </p:nvCxnSpPr>
        <p:spPr bwMode="auto">
          <a:xfrm flipV="1">
            <a:off x="5422579" y="2414171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7" name="直接箭头连接符 136"/>
          <p:cNvCxnSpPr>
            <a:stCxn id="126" idx="4"/>
            <a:endCxn id="134" idx="2"/>
          </p:cNvCxnSpPr>
          <p:nvPr/>
        </p:nvCxnSpPr>
        <p:spPr bwMode="auto">
          <a:xfrm>
            <a:off x="5422579" y="3537327"/>
            <a:ext cx="363259" cy="519594"/>
          </a:xfrm>
          <a:prstGeom prst="straightConnector1">
            <a:avLst/>
          </a:prstGeom>
          <a:noFill/>
          <a:ln w="19050">
            <a:solidFill>
              <a:schemeClr val="tx2"/>
            </a:solidFill>
            <a:headEnd type="triangle" w="med" len="med"/>
            <a:tailEnd type="none" w="med" len="med"/>
          </a:ln>
        </p:spPr>
      </p:cxnSp>
      <p:cxnSp>
        <p:nvCxnSpPr>
          <p:cNvPr id="138" name="直接箭头连接符 137"/>
          <p:cNvCxnSpPr>
            <a:stCxn id="127" idx="5"/>
            <a:endCxn id="141" idx="0"/>
          </p:cNvCxnSpPr>
          <p:nvPr/>
        </p:nvCxnSpPr>
        <p:spPr bwMode="auto">
          <a:xfrm>
            <a:off x="6859942" y="2613091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9" name="直接箭头连接符 138"/>
          <p:cNvCxnSpPr>
            <a:stCxn id="133" idx="4"/>
            <a:endCxn id="141" idx="6"/>
          </p:cNvCxnSpPr>
          <p:nvPr/>
        </p:nvCxnSpPr>
        <p:spPr bwMode="auto">
          <a:xfrm flipH="1">
            <a:off x="7746663" y="3572183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40" name="文本框 139"/>
          <p:cNvSpPr txBox="1"/>
          <p:nvPr/>
        </p:nvSpPr>
        <p:spPr>
          <a:xfrm>
            <a:off x="5422579" y="2524976"/>
            <a:ext cx="699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1" name="椭圆 140"/>
          <p:cNvSpPr/>
          <p:nvPr/>
        </p:nvSpPr>
        <p:spPr bwMode="auto">
          <a:xfrm>
            <a:off x="7143565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直接箭头连接符 141"/>
          <p:cNvCxnSpPr>
            <a:stCxn id="134" idx="0"/>
            <a:endCxn id="127" idx="3"/>
          </p:cNvCxnSpPr>
          <p:nvPr/>
        </p:nvCxnSpPr>
        <p:spPr bwMode="auto">
          <a:xfrm flipV="1">
            <a:off x="6087387" y="2613091"/>
            <a:ext cx="346101" cy="1162515"/>
          </a:xfrm>
          <a:prstGeom prst="straightConnector1">
            <a:avLst/>
          </a:prstGeom>
          <a:noFill/>
          <a:ln w="19050">
            <a:solidFill>
              <a:schemeClr val="tx2"/>
            </a:solidFill>
            <a:tailEnd type="triangle"/>
          </a:ln>
        </p:spPr>
      </p:cxnSp>
      <p:cxnSp>
        <p:nvCxnSpPr>
          <p:cNvPr id="143" name="直接箭头连接符 142"/>
          <p:cNvCxnSpPr>
            <a:stCxn id="134" idx="6"/>
            <a:endCxn id="141" idx="2"/>
          </p:cNvCxnSpPr>
          <p:nvPr/>
        </p:nvCxnSpPr>
        <p:spPr bwMode="auto">
          <a:xfrm>
            <a:off x="6388936" y="4056921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44" name="文本框 143"/>
          <p:cNvSpPr txBox="1"/>
          <p:nvPr/>
        </p:nvSpPr>
        <p:spPr>
          <a:xfrm>
            <a:off x="7261006" y="2367724"/>
            <a:ext cx="86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7,-1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5533368" y="2961263"/>
            <a:ext cx="764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1, 2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6656718" y="2937999"/>
            <a:ext cx="830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2, 6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5121030" y="3566946"/>
            <a:ext cx="742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8,-1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8" name="文本框 147"/>
          <p:cNvSpPr txBox="1"/>
          <p:nvPr/>
        </p:nvSpPr>
        <p:spPr>
          <a:xfrm>
            <a:off x="7648339" y="3703598"/>
            <a:ext cx="808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49" name="文本框 148"/>
          <p:cNvSpPr txBox="1"/>
          <p:nvPr/>
        </p:nvSpPr>
        <p:spPr>
          <a:xfrm>
            <a:off x="6283033" y="3789040"/>
            <a:ext cx="73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6,3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3" name="曲线连接符 2"/>
          <p:cNvCxnSpPr>
            <a:stCxn id="127" idx="2"/>
            <a:endCxn id="126" idx="1"/>
          </p:cNvCxnSpPr>
          <p:nvPr/>
        </p:nvCxnSpPr>
        <p:spPr bwMode="auto">
          <a:xfrm rot="10800000" flipV="1">
            <a:off x="5209352" y="2414170"/>
            <a:ext cx="1135814" cy="642921"/>
          </a:xfrm>
          <a:prstGeom prst="curvedConnector2">
            <a:avLst/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150" name="文本框 149"/>
          <p:cNvSpPr txBox="1"/>
          <p:nvPr/>
        </p:nvSpPr>
        <p:spPr>
          <a:xfrm>
            <a:off x="4984122" y="2327262"/>
            <a:ext cx="80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3,-4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153" name="曲线连接符 152"/>
          <p:cNvCxnSpPr>
            <a:stCxn id="141" idx="2"/>
            <a:endCxn id="134" idx="5"/>
          </p:cNvCxnSpPr>
          <p:nvPr/>
        </p:nvCxnSpPr>
        <p:spPr bwMode="auto">
          <a:xfrm rot="10800000" flipV="1">
            <a:off x="6300615" y="4056921"/>
            <a:ext cx="842951" cy="198920"/>
          </a:xfrm>
          <a:prstGeom prst="curvedConnector4">
            <a:avLst>
              <a:gd name="adj1" fmla="val 2221"/>
              <a:gd name="adj2" fmla="val 98608"/>
            </a:avLst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154" name="文本框 153"/>
          <p:cNvSpPr txBox="1"/>
          <p:nvPr/>
        </p:nvSpPr>
        <p:spPr>
          <a:xfrm>
            <a:off x="6228184" y="4026550"/>
            <a:ext cx="73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50" name="椭圆 49"/>
          <p:cNvSpPr/>
          <p:nvPr/>
        </p:nvSpPr>
        <p:spPr bwMode="auto">
          <a:xfrm>
            <a:off x="817755" y="2985489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椭圆 50"/>
          <p:cNvSpPr/>
          <p:nvPr/>
        </p:nvSpPr>
        <p:spPr bwMode="auto">
          <a:xfrm>
            <a:off x="2041891" y="2143648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椭圆 51"/>
          <p:cNvSpPr/>
          <p:nvPr/>
        </p:nvSpPr>
        <p:spPr bwMode="auto">
          <a:xfrm>
            <a:off x="3365069" y="3020345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椭圆 52"/>
          <p:cNvSpPr/>
          <p:nvPr/>
        </p:nvSpPr>
        <p:spPr bwMode="auto">
          <a:xfrm>
            <a:off x="1482563" y="3786398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接箭头连接符 53"/>
          <p:cNvCxnSpPr>
            <a:stCxn id="51" idx="6"/>
            <a:endCxn id="52" idx="0"/>
          </p:cNvCxnSpPr>
          <p:nvPr/>
        </p:nvCxnSpPr>
        <p:spPr bwMode="auto">
          <a:xfrm>
            <a:off x="2644989" y="2424963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5" name="直接箭头连接符 54"/>
          <p:cNvCxnSpPr>
            <a:stCxn id="50" idx="0"/>
            <a:endCxn id="51" idx="2"/>
          </p:cNvCxnSpPr>
          <p:nvPr/>
        </p:nvCxnSpPr>
        <p:spPr bwMode="auto">
          <a:xfrm flipV="1">
            <a:off x="1119304" y="2424963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6" name="直接箭头连接符 55"/>
          <p:cNvCxnSpPr>
            <a:stCxn id="50" idx="4"/>
            <a:endCxn id="53" idx="2"/>
          </p:cNvCxnSpPr>
          <p:nvPr/>
        </p:nvCxnSpPr>
        <p:spPr bwMode="auto">
          <a:xfrm>
            <a:off x="1119304" y="3548119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7" name="直接箭头连接符 56"/>
          <p:cNvCxnSpPr>
            <a:stCxn id="51" idx="5"/>
            <a:endCxn id="60" idx="0"/>
          </p:cNvCxnSpPr>
          <p:nvPr/>
        </p:nvCxnSpPr>
        <p:spPr bwMode="auto">
          <a:xfrm>
            <a:off x="2556667" y="2623883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58" name="直接箭头连接符 57"/>
          <p:cNvCxnSpPr>
            <a:stCxn id="60" idx="6"/>
            <a:endCxn id="52" idx="4"/>
          </p:cNvCxnSpPr>
          <p:nvPr/>
        </p:nvCxnSpPr>
        <p:spPr bwMode="auto">
          <a:xfrm flipV="1">
            <a:off x="3443388" y="3582975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59" name="文本框 58"/>
          <p:cNvSpPr txBox="1"/>
          <p:nvPr/>
        </p:nvSpPr>
        <p:spPr>
          <a:xfrm>
            <a:off x="598927" y="2384340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10,3,4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0" name="椭圆 59"/>
          <p:cNvSpPr/>
          <p:nvPr/>
        </p:nvSpPr>
        <p:spPr bwMode="auto">
          <a:xfrm>
            <a:off x="2840290" y="3786398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/>
          <p:cNvCxnSpPr>
            <a:stCxn id="53" idx="0"/>
            <a:endCxn id="51" idx="3"/>
          </p:cNvCxnSpPr>
          <p:nvPr/>
        </p:nvCxnSpPr>
        <p:spPr bwMode="auto">
          <a:xfrm flipV="1">
            <a:off x="1784112" y="2623883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62" name="直接箭头连接符 61"/>
          <p:cNvCxnSpPr>
            <a:stCxn id="53" idx="6"/>
            <a:endCxn id="60" idx="2"/>
          </p:cNvCxnSpPr>
          <p:nvPr/>
        </p:nvCxnSpPr>
        <p:spPr bwMode="auto">
          <a:xfrm>
            <a:off x="2085661" y="4067713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63" name="文本框 62"/>
          <p:cNvSpPr txBox="1"/>
          <p:nvPr/>
        </p:nvSpPr>
        <p:spPr>
          <a:xfrm>
            <a:off x="2957730" y="2378516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7,7,1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4" name="文本框 63"/>
          <p:cNvSpPr txBox="1"/>
          <p:nvPr/>
        </p:nvSpPr>
        <p:spPr>
          <a:xfrm>
            <a:off x="1204829" y="2943788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5,4,2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5" name="文本框 64"/>
          <p:cNvSpPr txBox="1"/>
          <p:nvPr/>
        </p:nvSpPr>
        <p:spPr>
          <a:xfrm>
            <a:off x="2612774" y="2937964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2,0,6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6" name="文本框 65"/>
          <p:cNvSpPr txBox="1"/>
          <p:nvPr/>
        </p:nvSpPr>
        <p:spPr>
          <a:xfrm>
            <a:off x="268725" y="3720214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8,8,1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7" name="文本框 66"/>
          <p:cNvSpPr txBox="1"/>
          <p:nvPr/>
        </p:nvSpPr>
        <p:spPr>
          <a:xfrm>
            <a:off x="3332854" y="3714390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4,4,2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68" name="文本框 67"/>
          <p:cNvSpPr txBox="1"/>
          <p:nvPr/>
        </p:nvSpPr>
        <p:spPr>
          <a:xfrm>
            <a:off x="1924909" y="4088041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10,4,3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69" name="直接连接符 68"/>
          <p:cNvCxnSpPr/>
          <p:nvPr/>
        </p:nvCxnSpPr>
        <p:spPr bwMode="auto">
          <a:xfrm>
            <a:off x="35496" y="4338236"/>
            <a:ext cx="9073008" cy="48177"/>
          </a:xfrm>
          <a:prstGeom prst="line">
            <a:avLst/>
          </a:prstGeom>
          <a:noFill/>
          <a:ln>
            <a:solidFill>
              <a:schemeClr val="tx1"/>
            </a:solidFill>
          </a:ln>
        </p:spPr>
      </p:cxnSp>
      <p:sp>
        <p:nvSpPr>
          <p:cNvPr id="72" name="矩形 71"/>
          <p:cNvSpPr/>
          <p:nvPr/>
        </p:nvSpPr>
        <p:spPr>
          <a:xfrm>
            <a:off x="7784890" y="4013327"/>
            <a:ext cx="14318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i="0" dirty="0">
                <a:latin typeface="Times New Roman" panose="02020603050405020304" pitchFamily="18" charset="0"/>
              </a:rPr>
              <a:t>增流</a:t>
            </a:r>
            <a:r>
              <a:rPr lang="zh-CN" altLang="en-US" sz="1600" b="1" i="0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1600" b="1" dirty="0"/>
          </a:p>
        </p:txBody>
      </p:sp>
      <p:sp>
        <p:nvSpPr>
          <p:cNvPr id="74" name="矩形 73"/>
          <p:cNvSpPr/>
          <p:nvPr/>
        </p:nvSpPr>
        <p:spPr>
          <a:xfrm>
            <a:off x="3719865" y="4010474"/>
            <a:ext cx="9861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i="0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sz="1600" b="1" dirty="0"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sz="1600" b="1" i="0" dirty="0">
                <a:latin typeface="Times New Roman" panose="02020603050405020304" pitchFamily="18" charset="0"/>
                <a:ea typeface="宋体"/>
              </a:rPr>
              <a:t>(2)</a:t>
            </a:r>
            <a:endParaRPr lang="zh-CN" altLang="en-US" sz="1600" b="1" dirty="0"/>
          </a:p>
        </p:txBody>
      </p:sp>
      <p:cxnSp>
        <p:nvCxnSpPr>
          <p:cNvPr id="20" name="曲线连接符 19"/>
          <p:cNvCxnSpPr>
            <a:stCxn id="127" idx="3"/>
            <a:endCxn id="134" idx="7"/>
          </p:cNvCxnSpPr>
          <p:nvPr/>
        </p:nvCxnSpPr>
        <p:spPr bwMode="auto">
          <a:xfrm rot="5400000">
            <a:off x="5744596" y="3169109"/>
            <a:ext cx="1244910" cy="132874"/>
          </a:xfrm>
          <a:prstGeom prst="curvedConnector3">
            <a:avLst>
              <a:gd name="adj1" fmla="val 95258"/>
            </a:avLst>
          </a:prstGeom>
          <a:noFill/>
          <a:ln w="19050">
            <a:solidFill>
              <a:schemeClr val="tx2"/>
            </a:solidFill>
            <a:tailEnd type="triangle"/>
          </a:ln>
        </p:spPr>
      </p:cxnSp>
      <p:sp>
        <p:nvSpPr>
          <p:cNvPr id="99" name="文本框 98"/>
          <p:cNvSpPr txBox="1"/>
          <p:nvPr/>
        </p:nvSpPr>
        <p:spPr>
          <a:xfrm>
            <a:off x="5951112" y="3296266"/>
            <a:ext cx="863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 -2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</p:spTree>
    <p:extLst>
      <p:ext uri="{BB962C8B-B14F-4D97-AF65-F5344CB8AC3E}">
        <p14:creationId xmlns:p14="http://schemas.microsoft.com/office/powerpoint/2010/main" val="381352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anose="02020603050405020304" pitchFamily="18" charset="0"/>
              </a:rPr>
              <a:t>9.5 </a:t>
            </a:r>
            <a:r>
              <a:rPr lang="zh-CN" altLang="en-US" dirty="0" smtClean="0">
                <a:latin typeface="Times New Roman" panose="02020603050405020304" pitchFamily="18" charset="0"/>
              </a:rPr>
              <a:t>最小费用最大流问题</a:t>
            </a:r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idx="1"/>
          </p:nvPr>
        </p:nvSpPr>
        <p:spPr>
          <a:xfrm>
            <a:off x="584526" y="1124744"/>
            <a:ext cx="8075692" cy="109568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</a:rPr>
              <a:t>求解</a:t>
            </a:r>
            <a:r>
              <a:rPr lang="zh-CN" altLang="en-US" dirty="0" smtClean="0">
                <a:latin typeface="Times New Roman" panose="02020603050405020304" pitchFamily="18" charset="0"/>
              </a:rPr>
              <a:t>方法</a:t>
            </a:r>
            <a:r>
              <a:rPr lang="en-US" altLang="zh-CN" dirty="0" smtClean="0">
                <a:latin typeface="Times New Roman" panose="02020603050405020304" pitchFamily="18" charset="0"/>
              </a:rPr>
              <a:t>I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：（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求得最大流量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调整网络流量分布以减少网络费用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达到最小费用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步骤七：</a:t>
            </a:r>
            <a:r>
              <a:rPr lang="zh-CN" altLang="en-US" dirty="0">
                <a:latin typeface="Times New Roman" panose="02020603050405020304" pitchFamily="18" charset="0"/>
              </a:rPr>
              <a:t>在增流</a:t>
            </a:r>
            <a:r>
              <a:rPr lang="zh-CN" altLang="en-US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dirty="0" smtClean="0">
                <a:latin typeface="Times New Roman" panose="02020603050405020304" pitchFamily="18" charset="0"/>
              </a:rPr>
              <a:t>中</a:t>
            </a:r>
            <a:r>
              <a:rPr lang="zh-CN" altLang="en-US" dirty="0">
                <a:latin typeface="Times New Roman" panose="02020603050405020304" pitchFamily="18" charset="0"/>
              </a:rPr>
              <a:t>。查找关于费用的负回路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20000"/>
              </a:spcBef>
              <a:buClr>
                <a:srgbClr val="553AF8"/>
              </a:buClr>
              <a:buSzPct val="70000"/>
              <a:buFont typeface="Wingdings" panose="05000000000000000000" pitchFamily="2" charset="2"/>
              <a:buChar char="v"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8926" y="4511844"/>
            <a:ext cx="836556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6462" lvl="1" indent="-457200">
              <a:lnSpc>
                <a:spcPct val="90000"/>
              </a:lnSpc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中找不到负回路，说明网络已经是最小费用，结束算法，得到最小费用最大流，最大流为</a:t>
            </a:r>
            <a:r>
              <a:rPr lang="en-US" altLang="zh-CN" sz="2000" b="1" i="0" dirty="0" smtClean="0">
                <a:latin typeface="Times New Roman" panose="02020603050405020304" pitchFamily="18" charset="0"/>
              </a:rPr>
              <a:t>11</a:t>
            </a:r>
            <a:r>
              <a:rPr lang="zh-CN" altLang="en-US" sz="2000" b="1" i="0" dirty="0" smtClean="0">
                <a:latin typeface="Times New Roman" panose="02020603050405020304" pitchFamily="18" charset="0"/>
              </a:rPr>
              <a:t>，最小费用为：</a:t>
            </a:r>
            <a:endParaRPr lang="en-US" altLang="zh-CN" sz="2000" b="1" i="0" dirty="0" smtClean="0">
              <a:latin typeface="Times New Roman" panose="02020603050405020304" pitchFamily="18" charset="0"/>
            </a:endParaRPr>
          </a:p>
          <a:p>
            <a:pPr marL="449262" lvl="1">
              <a:lnSpc>
                <a:spcPct val="90000"/>
              </a:lnSpc>
              <a:spcBef>
                <a:spcPct val="20000"/>
              </a:spcBef>
              <a:buSzPct val="65000"/>
            </a:pPr>
            <a:r>
              <a:rPr lang="en-US" altLang="zh-CN" sz="2000" b="1" i="0" dirty="0" smtClean="0">
                <a:latin typeface="Times New Roman" panose="02020603050405020304" pitchFamily="18" charset="0"/>
              </a:rPr>
              <a:t>        3*4+8*1+4*2+4*3+7*1+4*2=55</a:t>
            </a:r>
          </a:p>
          <a:p>
            <a:pPr marL="906462" lvl="1" indent="-457200">
              <a:lnSpc>
                <a:spcPct val="90000"/>
              </a:lnSpc>
              <a:spcBef>
                <a:spcPct val="20000"/>
              </a:spcBef>
              <a:buSzPct val="65000"/>
              <a:buFont typeface="Wingdings" panose="05000000000000000000" pitchFamily="2" charset="2"/>
              <a:buChar char="Ø"/>
            </a:pPr>
            <a:endParaRPr lang="zh-CN" altLang="en-US" sz="2000" b="1" i="0" dirty="0">
              <a:solidFill>
                <a:srgbClr val="292929"/>
              </a:solidFill>
              <a:latin typeface="Times New Roman" panose="02020603050405020304" pitchFamily="18" charset="0"/>
              <a:ea typeface="宋体"/>
            </a:endParaRPr>
          </a:p>
        </p:txBody>
      </p:sp>
      <p:sp>
        <p:nvSpPr>
          <p:cNvPr id="75" name="椭圆 74"/>
          <p:cNvSpPr/>
          <p:nvPr/>
        </p:nvSpPr>
        <p:spPr bwMode="auto">
          <a:xfrm>
            <a:off x="5121030" y="2974697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椭圆 75"/>
          <p:cNvSpPr/>
          <p:nvPr/>
        </p:nvSpPr>
        <p:spPr bwMode="auto">
          <a:xfrm>
            <a:off x="6345166" y="213285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椭圆 77"/>
          <p:cNvSpPr/>
          <p:nvPr/>
        </p:nvSpPr>
        <p:spPr bwMode="auto">
          <a:xfrm>
            <a:off x="7668344" y="3009553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椭圆 78"/>
          <p:cNvSpPr/>
          <p:nvPr/>
        </p:nvSpPr>
        <p:spPr bwMode="auto">
          <a:xfrm>
            <a:off x="5785838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直接箭头连接符 79"/>
          <p:cNvCxnSpPr>
            <a:stCxn id="78" idx="0"/>
            <a:endCxn id="76" idx="6"/>
          </p:cNvCxnSpPr>
          <p:nvPr/>
        </p:nvCxnSpPr>
        <p:spPr bwMode="auto">
          <a:xfrm flipH="1" flipV="1">
            <a:off x="6948264" y="2414171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81" name="直接箭头连接符 80"/>
          <p:cNvCxnSpPr>
            <a:stCxn id="75" idx="0"/>
            <a:endCxn id="76" idx="2"/>
          </p:cNvCxnSpPr>
          <p:nvPr/>
        </p:nvCxnSpPr>
        <p:spPr bwMode="auto">
          <a:xfrm flipV="1">
            <a:off x="5422579" y="2414171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82" name="直接箭头连接符 81"/>
          <p:cNvCxnSpPr>
            <a:stCxn id="75" idx="4"/>
            <a:endCxn id="79" idx="2"/>
          </p:cNvCxnSpPr>
          <p:nvPr/>
        </p:nvCxnSpPr>
        <p:spPr bwMode="auto">
          <a:xfrm>
            <a:off x="5422579" y="3537327"/>
            <a:ext cx="363259" cy="519594"/>
          </a:xfrm>
          <a:prstGeom prst="straightConnector1">
            <a:avLst/>
          </a:prstGeom>
          <a:noFill/>
          <a:ln w="19050">
            <a:solidFill>
              <a:schemeClr val="tx2"/>
            </a:solidFill>
            <a:headEnd type="triangle" w="med" len="med"/>
            <a:tailEnd type="none" w="med" len="med"/>
          </a:ln>
        </p:spPr>
      </p:cxnSp>
      <p:cxnSp>
        <p:nvCxnSpPr>
          <p:cNvPr id="83" name="直接箭头连接符 82"/>
          <p:cNvCxnSpPr>
            <a:stCxn id="76" idx="5"/>
            <a:endCxn id="86" idx="0"/>
          </p:cNvCxnSpPr>
          <p:nvPr/>
        </p:nvCxnSpPr>
        <p:spPr bwMode="auto">
          <a:xfrm>
            <a:off x="6859942" y="2613091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84" name="直接箭头连接符 83"/>
          <p:cNvCxnSpPr>
            <a:stCxn id="78" idx="4"/>
            <a:endCxn id="86" idx="6"/>
          </p:cNvCxnSpPr>
          <p:nvPr/>
        </p:nvCxnSpPr>
        <p:spPr bwMode="auto">
          <a:xfrm flipH="1">
            <a:off x="7746663" y="3572183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85" name="文本框 84"/>
          <p:cNvSpPr txBox="1"/>
          <p:nvPr/>
        </p:nvSpPr>
        <p:spPr>
          <a:xfrm>
            <a:off x="5422579" y="2524976"/>
            <a:ext cx="699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86" name="椭圆 85"/>
          <p:cNvSpPr/>
          <p:nvPr/>
        </p:nvSpPr>
        <p:spPr bwMode="auto">
          <a:xfrm>
            <a:off x="7143565" y="3775606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直接箭头连接符 86"/>
          <p:cNvCxnSpPr>
            <a:stCxn id="79" idx="0"/>
            <a:endCxn id="76" idx="3"/>
          </p:cNvCxnSpPr>
          <p:nvPr/>
        </p:nvCxnSpPr>
        <p:spPr bwMode="auto">
          <a:xfrm flipV="1">
            <a:off x="6087387" y="2613091"/>
            <a:ext cx="346101" cy="1162515"/>
          </a:xfrm>
          <a:prstGeom prst="straightConnector1">
            <a:avLst/>
          </a:prstGeom>
          <a:noFill/>
          <a:ln w="19050">
            <a:solidFill>
              <a:schemeClr val="tx2"/>
            </a:solidFill>
            <a:tailEnd type="triangle"/>
          </a:ln>
        </p:spPr>
      </p:cxnSp>
      <p:cxnSp>
        <p:nvCxnSpPr>
          <p:cNvPr id="88" name="直接箭头连接符 87"/>
          <p:cNvCxnSpPr>
            <a:stCxn id="79" idx="6"/>
            <a:endCxn id="86" idx="2"/>
          </p:cNvCxnSpPr>
          <p:nvPr/>
        </p:nvCxnSpPr>
        <p:spPr bwMode="auto">
          <a:xfrm>
            <a:off x="6388936" y="4056921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89" name="文本框 88"/>
          <p:cNvSpPr txBox="1"/>
          <p:nvPr/>
        </p:nvSpPr>
        <p:spPr>
          <a:xfrm>
            <a:off x="7261006" y="2367724"/>
            <a:ext cx="860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7,-1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90" name="文本框 89"/>
          <p:cNvSpPr txBox="1"/>
          <p:nvPr/>
        </p:nvSpPr>
        <p:spPr>
          <a:xfrm>
            <a:off x="5533368" y="2961263"/>
            <a:ext cx="764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1, 2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91" name="文本框 90"/>
          <p:cNvSpPr txBox="1"/>
          <p:nvPr/>
        </p:nvSpPr>
        <p:spPr>
          <a:xfrm>
            <a:off x="6656718" y="2937999"/>
            <a:ext cx="830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2, 6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92" name="文本框 91"/>
          <p:cNvSpPr txBox="1"/>
          <p:nvPr/>
        </p:nvSpPr>
        <p:spPr>
          <a:xfrm>
            <a:off x="5121030" y="3566946"/>
            <a:ext cx="742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8,-1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93" name="文本框 92"/>
          <p:cNvSpPr txBox="1"/>
          <p:nvPr/>
        </p:nvSpPr>
        <p:spPr>
          <a:xfrm>
            <a:off x="7648339" y="3703598"/>
            <a:ext cx="808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94" name="文本框 93"/>
          <p:cNvSpPr txBox="1"/>
          <p:nvPr/>
        </p:nvSpPr>
        <p:spPr>
          <a:xfrm>
            <a:off x="6283033" y="3789040"/>
            <a:ext cx="73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6,3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95" name="曲线连接符 94"/>
          <p:cNvCxnSpPr>
            <a:stCxn id="76" idx="2"/>
            <a:endCxn id="75" idx="1"/>
          </p:cNvCxnSpPr>
          <p:nvPr/>
        </p:nvCxnSpPr>
        <p:spPr bwMode="auto">
          <a:xfrm rot="10800000" flipV="1">
            <a:off x="5209352" y="2414170"/>
            <a:ext cx="1135814" cy="642921"/>
          </a:xfrm>
          <a:prstGeom prst="curvedConnector2">
            <a:avLst/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96" name="文本框 95"/>
          <p:cNvSpPr txBox="1"/>
          <p:nvPr/>
        </p:nvSpPr>
        <p:spPr>
          <a:xfrm>
            <a:off x="4984122" y="2327262"/>
            <a:ext cx="80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3,-4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97" name="曲线连接符 96"/>
          <p:cNvCxnSpPr>
            <a:stCxn id="86" idx="2"/>
            <a:endCxn id="79" idx="5"/>
          </p:cNvCxnSpPr>
          <p:nvPr/>
        </p:nvCxnSpPr>
        <p:spPr bwMode="auto">
          <a:xfrm rot="10800000" flipV="1">
            <a:off x="6300615" y="4056921"/>
            <a:ext cx="842951" cy="198920"/>
          </a:xfrm>
          <a:prstGeom prst="curvedConnector4">
            <a:avLst>
              <a:gd name="adj1" fmla="val 2221"/>
              <a:gd name="adj2" fmla="val 98608"/>
            </a:avLst>
          </a:prstGeom>
          <a:noFill/>
          <a:ln>
            <a:solidFill>
              <a:schemeClr val="tx2"/>
            </a:solidFill>
            <a:tailEnd type="triangle"/>
          </a:ln>
        </p:spPr>
      </p:cxnSp>
      <p:sp>
        <p:nvSpPr>
          <p:cNvPr id="98" name="文本框 97"/>
          <p:cNvSpPr txBox="1"/>
          <p:nvPr/>
        </p:nvSpPr>
        <p:spPr>
          <a:xfrm>
            <a:off x="6228184" y="4026550"/>
            <a:ext cx="737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4,-3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99" name="椭圆 98"/>
          <p:cNvSpPr/>
          <p:nvPr/>
        </p:nvSpPr>
        <p:spPr bwMode="auto">
          <a:xfrm>
            <a:off x="817755" y="2985489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椭圆 99"/>
          <p:cNvSpPr/>
          <p:nvPr/>
        </p:nvSpPr>
        <p:spPr bwMode="auto">
          <a:xfrm>
            <a:off x="2041891" y="2143648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椭圆 100"/>
          <p:cNvSpPr/>
          <p:nvPr/>
        </p:nvSpPr>
        <p:spPr bwMode="auto">
          <a:xfrm>
            <a:off x="3365069" y="3020345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err="1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椭圆 101"/>
          <p:cNvSpPr/>
          <p:nvPr/>
        </p:nvSpPr>
        <p:spPr bwMode="auto">
          <a:xfrm>
            <a:off x="1482563" y="3786398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" name="直接箭头连接符 102"/>
          <p:cNvCxnSpPr>
            <a:stCxn id="100" idx="6"/>
            <a:endCxn id="101" idx="0"/>
          </p:cNvCxnSpPr>
          <p:nvPr/>
        </p:nvCxnSpPr>
        <p:spPr bwMode="auto">
          <a:xfrm>
            <a:off x="2644989" y="2424963"/>
            <a:ext cx="1021629" cy="595382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04" name="直接箭头连接符 103"/>
          <p:cNvCxnSpPr>
            <a:stCxn id="99" idx="0"/>
            <a:endCxn id="100" idx="2"/>
          </p:cNvCxnSpPr>
          <p:nvPr/>
        </p:nvCxnSpPr>
        <p:spPr bwMode="auto">
          <a:xfrm flipV="1">
            <a:off x="1119304" y="2424963"/>
            <a:ext cx="922587" cy="560526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05" name="直接箭头连接符 104"/>
          <p:cNvCxnSpPr>
            <a:stCxn id="99" idx="4"/>
            <a:endCxn id="102" idx="2"/>
          </p:cNvCxnSpPr>
          <p:nvPr/>
        </p:nvCxnSpPr>
        <p:spPr bwMode="auto">
          <a:xfrm>
            <a:off x="1119304" y="3548119"/>
            <a:ext cx="363259" cy="519594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06" name="直接箭头连接符 105"/>
          <p:cNvCxnSpPr>
            <a:stCxn id="100" idx="5"/>
            <a:endCxn id="130" idx="0"/>
          </p:cNvCxnSpPr>
          <p:nvPr/>
        </p:nvCxnSpPr>
        <p:spPr bwMode="auto">
          <a:xfrm>
            <a:off x="2556667" y="2623883"/>
            <a:ext cx="585172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28" name="直接箭头连接符 127"/>
          <p:cNvCxnSpPr>
            <a:stCxn id="130" idx="6"/>
            <a:endCxn id="101" idx="4"/>
          </p:cNvCxnSpPr>
          <p:nvPr/>
        </p:nvCxnSpPr>
        <p:spPr bwMode="auto">
          <a:xfrm flipV="1">
            <a:off x="3443388" y="3582975"/>
            <a:ext cx="223230" cy="484738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29" name="文本框 128"/>
          <p:cNvSpPr txBox="1"/>
          <p:nvPr/>
        </p:nvSpPr>
        <p:spPr>
          <a:xfrm>
            <a:off x="598927" y="2384340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10,3,4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30" name="椭圆 129"/>
          <p:cNvSpPr/>
          <p:nvPr/>
        </p:nvSpPr>
        <p:spPr bwMode="auto">
          <a:xfrm>
            <a:off x="2840290" y="3786398"/>
            <a:ext cx="603098" cy="5626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53AF8"/>
              </a:buClr>
              <a:buSzPct val="70000"/>
            </a:pPr>
            <a:r>
              <a:rPr kumimoji="0" lang="en-US" altLang="zh-CN" sz="2000" b="1" i="1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cap="none" normalizeH="0" baseline="-2500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zh-CN" altLang="en-US" sz="2000" b="1" i="1" u="none" strike="noStrike" cap="none" normalizeH="0" baseline="-2500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1" name="直接箭头连接符 130"/>
          <p:cNvCxnSpPr>
            <a:stCxn id="102" idx="0"/>
            <a:endCxn id="100" idx="3"/>
          </p:cNvCxnSpPr>
          <p:nvPr/>
        </p:nvCxnSpPr>
        <p:spPr bwMode="auto">
          <a:xfrm flipV="1">
            <a:off x="1784112" y="2623883"/>
            <a:ext cx="346101" cy="1162515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cxnSp>
        <p:nvCxnSpPr>
          <p:cNvPr id="132" name="直接箭头连接符 131"/>
          <p:cNvCxnSpPr>
            <a:stCxn id="102" idx="6"/>
            <a:endCxn id="130" idx="2"/>
          </p:cNvCxnSpPr>
          <p:nvPr/>
        </p:nvCxnSpPr>
        <p:spPr bwMode="auto">
          <a:xfrm>
            <a:off x="2085661" y="4067713"/>
            <a:ext cx="75462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tailEnd type="triangle"/>
          </a:ln>
        </p:spPr>
      </p:cxnSp>
      <p:sp>
        <p:nvSpPr>
          <p:cNvPr id="155" name="文本框 154"/>
          <p:cNvSpPr txBox="1"/>
          <p:nvPr/>
        </p:nvSpPr>
        <p:spPr>
          <a:xfrm>
            <a:off x="2957730" y="2378516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7,7,1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56" name="文本框 155"/>
          <p:cNvSpPr txBox="1"/>
          <p:nvPr/>
        </p:nvSpPr>
        <p:spPr>
          <a:xfrm>
            <a:off x="1204829" y="2943788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5,4,2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57" name="文本框 156"/>
          <p:cNvSpPr txBox="1"/>
          <p:nvPr/>
        </p:nvSpPr>
        <p:spPr>
          <a:xfrm>
            <a:off x="2612774" y="2937964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2,0,6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58" name="文本框 157"/>
          <p:cNvSpPr txBox="1"/>
          <p:nvPr/>
        </p:nvSpPr>
        <p:spPr>
          <a:xfrm>
            <a:off x="268725" y="3720214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8,8,1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59" name="文本框 158"/>
          <p:cNvSpPr txBox="1"/>
          <p:nvPr/>
        </p:nvSpPr>
        <p:spPr>
          <a:xfrm>
            <a:off x="3332854" y="3714390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4,4,2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sp>
        <p:nvSpPr>
          <p:cNvPr id="160" name="文本框 159"/>
          <p:cNvSpPr txBox="1"/>
          <p:nvPr/>
        </p:nvSpPr>
        <p:spPr>
          <a:xfrm>
            <a:off x="1924909" y="4088041"/>
            <a:ext cx="104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10,4,3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  <p:cxnSp>
        <p:nvCxnSpPr>
          <p:cNvPr id="161" name="直接连接符 160"/>
          <p:cNvCxnSpPr/>
          <p:nvPr/>
        </p:nvCxnSpPr>
        <p:spPr bwMode="auto">
          <a:xfrm>
            <a:off x="35496" y="4338236"/>
            <a:ext cx="9073008" cy="48177"/>
          </a:xfrm>
          <a:prstGeom prst="line">
            <a:avLst/>
          </a:prstGeom>
          <a:noFill/>
          <a:ln>
            <a:solidFill>
              <a:schemeClr val="tx1"/>
            </a:solidFill>
          </a:ln>
        </p:spPr>
      </p:cxnSp>
      <p:sp>
        <p:nvSpPr>
          <p:cNvPr id="162" name="矩形 161"/>
          <p:cNvSpPr/>
          <p:nvPr/>
        </p:nvSpPr>
        <p:spPr>
          <a:xfrm>
            <a:off x="7784890" y="4013327"/>
            <a:ext cx="14318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i="0" dirty="0">
                <a:latin typeface="Times New Roman" panose="02020603050405020304" pitchFamily="18" charset="0"/>
              </a:rPr>
              <a:t>增流</a:t>
            </a:r>
            <a:r>
              <a:rPr lang="zh-CN" altLang="en-US" sz="1600" b="1" i="0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1600" b="1" dirty="0"/>
          </a:p>
        </p:txBody>
      </p:sp>
      <p:sp>
        <p:nvSpPr>
          <p:cNvPr id="163" name="矩形 162"/>
          <p:cNvSpPr/>
          <p:nvPr/>
        </p:nvSpPr>
        <p:spPr>
          <a:xfrm>
            <a:off x="3719865" y="4010474"/>
            <a:ext cx="9861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i="0" dirty="0" smtClean="0">
                <a:latin typeface="Times New Roman" panose="02020603050405020304" pitchFamily="18" charset="0"/>
              </a:rPr>
              <a:t>网络</a:t>
            </a:r>
            <a:r>
              <a:rPr lang="en-US" altLang="zh-CN" sz="1600" b="1" dirty="0"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sz="1600" b="1" i="0" dirty="0">
                <a:latin typeface="Times New Roman" panose="02020603050405020304" pitchFamily="18" charset="0"/>
                <a:ea typeface="宋体"/>
              </a:rPr>
              <a:t>(2)</a:t>
            </a:r>
            <a:endParaRPr lang="zh-CN" altLang="en-US" sz="1600" b="1" dirty="0"/>
          </a:p>
        </p:txBody>
      </p:sp>
      <p:cxnSp>
        <p:nvCxnSpPr>
          <p:cNvPr id="164" name="曲线连接符 163"/>
          <p:cNvCxnSpPr>
            <a:stCxn id="76" idx="3"/>
            <a:endCxn id="79" idx="7"/>
          </p:cNvCxnSpPr>
          <p:nvPr/>
        </p:nvCxnSpPr>
        <p:spPr bwMode="auto">
          <a:xfrm rot="5400000">
            <a:off x="5744596" y="3169109"/>
            <a:ext cx="1244910" cy="132874"/>
          </a:xfrm>
          <a:prstGeom prst="curvedConnector3">
            <a:avLst>
              <a:gd name="adj1" fmla="val 95258"/>
            </a:avLst>
          </a:prstGeom>
          <a:noFill/>
          <a:ln w="19050">
            <a:solidFill>
              <a:schemeClr val="tx2"/>
            </a:solidFill>
            <a:tailEnd type="triangle"/>
          </a:ln>
        </p:spPr>
      </p:cxnSp>
      <p:sp>
        <p:nvSpPr>
          <p:cNvPr id="165" name="文本框 164"/>
          <p:cNvSpPr txBox="1"/>
          <p:nvPr/>
        </p:nvSpPr>
        <p:spPr>
          <a:xfrm>
            <a:off x="5951112" y="3296266"/>
            <a:ext cx="863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i="0" dirty="0" smtClean="0"/>
              <a:t>（</a:t>
            </a:r>
            <a:r>
              <a:rPr lang="en-US" altLang="zh-CN" sz="1600" i="0" dirty="0" smtClean="0"/>
              <a:t>4, -2</a:t>
            </a:r>
            <a:r>
              <a:rPr lang="zh-CN" altLang="en-US" sz="1600" i="0" dirty="0" smtClean="0"/>
              <a:t>）</a:t>
            </a:r>
            <a:endParaRPr lang="zh-CN" altLang="en-US" sz="1600" i="0" dirty="0"/>
          </a:p>
        </p:txBody>
      </p:sp>
    </p:spTree>
    <p:extLst>
      <p:ext uri="{BB962C8B-B14F-4D97-AF65-F5344CB8AC3E}">
        <p14:creationId xmlns:p14="http://schemas.microsoft.com/office/powerpoint/2010/main" val="428445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本章练习题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5414624"/>
          </a:xfrm>
        </p:spPr>
        <p:txBody>
          <a:bodyPr/>
          <a:lstStyle/>
          <a:p>
            <a:pPr marL="0" indent="0"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zh-CN" altLang="zh-CN" sz="1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1400" kern="100" dirty="0" smtClean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选择题</a:t>
            </a:r>
            <a:endParaRPr lang="en-US" altLang="zh-CN" sz="1400" kern="100" dirty="0" smtClean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说法正确的是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割集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子图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量等于割集中弧的流量之和</a:t>
            </a:r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割量大于等于最大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量小于等于最大流量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错误的结论是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容量不超过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负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负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发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点流出的合流等于流入收点的合流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正确的结论是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最大流等于最大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</a:t>
            </a:r>
            <a:endParaRPr lang="en-US" altLang="zh-CN" sz="1400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流是最大流当且仅当存在发点到收点的增广链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可行流是最大流当且仅当不存在发点到收点的增广链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调整量等于增广链上点标号的最大值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正确的结论是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最大流量等于最大割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流量等于最小割量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任意流量不小于最小割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流量不小于任意割量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连通图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个点，其部分树是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，则有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个点，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边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T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的长度等于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的每条边的长度之和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个点，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条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边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T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个点，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条边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最短路的计算方法有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加边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Floyd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破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圈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Ford-Fulkerson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算法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16584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本章练习题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0020" y="1196752"/>
            <a:ext cx="7661275" cy="5802422"/>
          </a:xfrm>
        </p:spPr>
        <p:txBody>
          <a:bodyPr/>
          <a:lstStyle/>
          <a:p>
            <a:pPr marL="0" indent="0"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zh-CN" altLang="zh-CN" sz="1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1400" kern="100" dirty="0" smtClean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选择题</a:t>
            </a:r>
            <a:endParaRPr lang="en-US" altLang="zh-CN" sz="1400" kern="100" dirty="0" smtClean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是图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400" kern="100" baseline="-25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400" kern="100" baseline="-25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的最短路，则有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的长度等于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的每条边的长度之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P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的最短路长等于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400" kern="100" baseline="-25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1400" kern="100" baseline="-25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的最大流量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的长度等于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的每条边的长度之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P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个点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条边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说法错误的是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旅行售货员问题可以建立一个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0-1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规划数学模型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旅行售货员问题归结为求总距离最小的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Hamilton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回路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旅行售货员问题是售货员遍历图的每个点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旅行售货员问题是售货员遍历图的每条边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最大流的计算方法有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>
              <a:spcAft>
                <a:spcPts val="0"/>
              </a:spcAft>
              <a:buNone/>
            </a:pPr>
            <a:r>
              <a:rPr lang="en-US" altLang="zh-CN" sz="1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Dijkstra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Floyd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算法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边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Ford-Fulkerson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算法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某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配电站要向由其供电的五个小区铺设电缆，此时应采用的方法是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最短路线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最小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树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表上作业法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个居民住宅区的道路构成图是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树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不连通图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连通图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有向图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图论中图的概念，以下叙述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正确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图中的有向边表示研究对象，结点表示衔接关系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图中的点表示研究对象，边表示点与点之间的关系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图中任意两点之间必有边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图的边数必定等于点数减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59767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本章练习题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5543890"/>
          </a:xfrm>
        </p:spPr>
        <p:txBody>
          <a:bodyPr/>
          <a:lstStyle/>
          <a:p>
            <a:pPr marL="0" indent="0"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zh-CN" altLang="zh-CN" sz="1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1400" kern="100" dirty="0" smtClean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选择题</a:t>
            </a:r>
            <a:endParaRPr lang="en-US" altLang="zh-CN" sz="1400" kern="100" dirty="0" smtClean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树的概念，以下叙述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正确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树中的点数等于边数减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连通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无圈的图必定是树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含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个点的树是唯一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任一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树中，去掉一条边仍为树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最大流量问题，以下叙述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)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正确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一个容量网络的最大流是唯一确定的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达到最大流的方案是唯一的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当用标号法求最大流时，可能得到不同的最大流方案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当最大流方案不唯一时，得到的最大流量亦可能不相同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最小树，以下叙述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正确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最小树是一个网络中连通所有点而边数最少的图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最小树是一个网络中连通所有的点，而权数最少的图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个网络中的最大权边必不包含在其最小树内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一个网络的最小树一般是不唯一的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可行流，以下叙述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不正确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可行流的流量大于零而小于容量限制条件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在网络的任一中间点，可行流满足流入量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流出量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各条有向边上的流量均为零的流是一个可行流</a:t>
            </a:r>
          </a:p>
          <a:p>
            <a:pPr marL="0" lv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可行流的流量小于容量限制条件而大于或等于零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120469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本章练习题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4768293"/>
          </a:xfrm>
        </p:spPr>
        <p:txBody>
          <a:bodyPr/>
          <a:lstStyle/>
          <a:p>
            <a:pPr marL="0" indent="0"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zh-CN" altLang="zh-CN" sz="1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1400" kern="100" dirty="0" smtClean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选择题</a:t>
            </a:r>
            <a:endParaRPr lang="en-US" altLang="zh-CN" sz="1400" kern="100" dirty="0" smtClean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为了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在各住宅之间安装一条供暖管道，若要求所用材料最省，则应采用（ ）。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最大流量法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最小支撑树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最短路线法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树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的逐步生成法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增广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链要求（）。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向弧流量大于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向弧流量严格小于容量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全部为前向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弧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向弧流量严格小于容量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说法正确的是（）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割集是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量等于割集中弧的流量之和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量大于等于最大流量 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量小于等于最大流量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下列正确的结论是（ ）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流等于最大流量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流是最大流当且仅当存在发点到收点的增广链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流是最大流当且仅当不存在发点到收点的增广链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调整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量等于增广链上点标号的最大值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下列错误的结论是（ ）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不超过流量 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非负 </a:t>
            </a:r>
          </a:p>
          <a:p>
            <a:pPr marL="0" indent="0">
              <a:buNone/>
            </a:pPr>
            <a:r>
              <a:rPr lang="zh-CN" altLang="zh-CN" sz="14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lang="zh-CN" altLang="zh-CN" sz="1400" dirty="0">
                <a:ea typeface="等线" panose="02010600030101010101" pitchFamily="2" charset="-122"/>
                <a:cs typeface="Times New Roman" panose="02020603050405020304" pitchFamily="18" charset="0"/>
              </a:rPr>
              <a:t>非负 </a:t>
            </a:r>
            <a:r>
              <a:rPr lang="en-US" altLang="zh-CN" sz="1400" dirty="0">
                <a:ea typeface="等线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14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发</a:t>
            </a:r>
            <a:r>
              <a:rPr lang="zh-CN" altLang="zh-CN" sz="1400" dirty="0">
                <a:ea typeface="等线" panose="02010600030101010101" pitchFamily="2" charset="-122"/>
                <a:cs typeface="Times New Roman" panose="02020603050405020304" pitchFamily="18" charset="0"/>
              </a:rPr>
              <a:t>点流出的合流等于流入收点的合流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782478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本章练习题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4768293"/>
          </a:xfrm>
        </p:spPr>
        <p:txBody>
          <a:bodyPr/>
          <a:lstStyle/>
          <a:p>
            <a:pPr marL="0" indent="0"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zh-CN" altLang="zh-CN" sz="1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一、</a:t>
            </a:r>
            <a:r>
              <a:rPr lang="zh-CN" altLang="zh-CN" sz="1400" kern="100" dirty="0" smtClean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选择题</a:t>
            </a:r>
            <a:endParaRPr lang="en-US" altLang="zh-CN" sz="1400" kern="100" dirty="0" smtClean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为了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在各住宅之间安装一条供暖管道，若要求所用材料最省，则应采用（ ）。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最大流量法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最小支撑树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法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最短路线法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树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的逐步生成法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增广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链要求（）。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向弧流量大于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向弧流量严格小于容量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全部为前向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弧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向弧流量严格小于容量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说法正确的是（）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割集是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量等于割集中弧的流量之和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量大于等于最大流量 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割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量小于等于最大流量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下列正确的结论是（ ）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流等于最大流量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流是最大流当且仅当存在发点到收点的增广链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可行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流是最大流当且仅当不存在发点到收点的增广链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调整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量等于增广链上点标号的最大值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下列错误的结论是（ ）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不超过流量 </a:t>
            </a:r>
            <a:r>
              <a:rPr lang="en-US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流量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非负 </a:t>
            </a:r>
          </a:p>
          <a:p>
            <a:pPr marL="0" indent="0">
              <a:buNone/>
            </a:pPr>
            <a:r>
              <a:rPr lang="zh-CN" altLang="zh-CN" sz="14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lang="zh-CN" altLang="zh-CN" sz="1400" dirty="0">
                <a:ea typeface="等线" panose="02010600030101010101" pitchFamily="2" charset="-122"/>
                <a:cs typeface="Times New Roman" panose="02020603050405020304" pitchFamily="18" charset="0"/>
              </a:rPr>
              <a:t>非负 </a:t>
            </a:r>
            <a:r>
              <a:rPr lang="en-US" altLang="zh-CN" sz="1400" dirty="0">
                <a:ea typeface="等线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14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zh-CN" altLang="zh-CN" sz="14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发</a:t>
            </a:r>
            <a:r>
              <a:rPr lang="zh-CN" altLang="zh-CN" sz="1400" dirty="0">
                <a:ea typeface="等线" panose="02010600030101010101" pitchFamily="2" charset="-122"/>
                <a:cs typeface="Times New Roman" panose="02020603050405020304" pitchFamily="18" charset="0"/>
              </a:rPr>
              <a:t>点流出的合流等于流入收点的合流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624082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本章练习题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340768"/>
            <a:ext cx="7661275" cy="3779946"/>
          </a:xfrm>
        </p:spPr>
        <p:txBody>
          <a:bodyPr/>
          <a:lstStyle/>
          <a:p>
            <a:pPr marL="0" indent="0"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zh-CN" altLang="zh-CN" sz="1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二、判断题</a:t>
            </a:r>
            <a:endParaRPr lang="zh-CN" altLang="zh-CN" sz="1800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最大流问题中，弧上的流量不超过弧的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lang="en-US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11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对于有向图问题，增广链上所有的弧均为前向弧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1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  <a:buNone/>
            </a:pPr>
            <a:endParaRPr lang="en-US" altLang="zh-CN" sz="1400" kern="100" dirty="0" smtClean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zh-CN" altLang="zh-CN" sz="1400" kern="100" dirty="0" smtClean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三</a:t>
            </a:r>
            <a:r>
              <a:rPr lang="zh-CN" altLang="zh-CN" sz="1400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、填空题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在图论中，称</a:t>
            </a:r>
            <a:r>
              <a:rPr lang="en-US" altLang="zh-CN" sz="1400" u="sng" kern="1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400" u="sng" kern="100" dirty="0" smtClean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连通图为树。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树是</a:t>
            </a:r>
            <a:r>
              <a:rPr lang="en-US" altLang="zh-CN" sz="1400" u="sng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的连通图，在树上任意除去一条边则该树余下的图</a:t>
            </a:r>
            <a:r>
              <a:rPr lang="en-US" altLang="zh-CN" sz="1400" u="sng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1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求最小生成树问题，常用的方法有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u="sng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u="sng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zh-CN" altLang="zh-CN" sz="1400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2318096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Verdana"/>
        <a:ea typeface="Arial Unicode MS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447675" marR="0" indent="-447675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553AF8"/>
          </a:buClr>
          <a:buSzPct val="70000"/>
          <a:buFont typeface="Wingdings" panose="05000000000000000000" pitchFamily="2" charset="2"/>
          <a:buChar char="v"/>
          <a:defRPr kumimoji="0" lang="zh-CN" alt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447675" marR="0" indent="-447675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553AF8"/>
          </a:buClr>
          <a:buSzPct val="70000"/>
          <a:buFont typeface="Wingdings" panose="05000000000000000000" pitchFamily="2" charset="2"/>
          <a:buChar char="v"/>
          <a:defRPr kumimoji="0" lang="zh-CN" alt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Verdana"/>
        <a:ea typeface="Arial Unicode MS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447675" marR="0" indent="-447675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553AF8"/>
          </a:buClr>
          <a:buSzPct val="70000"/>
          <a:buFont typeface="Wingdings" panose="05000000000000000000" pitchFamily="2" charset="2"/>
          <a:buChar char="v"/>
          <a:defRPr kumimoji="0" lang="zh-CN" alt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447675" marR="0" indent="-447675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553AF8"/>
          </a:buClr>
          <a:buSzPct val="70000"/>
          <a:buFont typeface="Wingdings" panose="05000000000000000000" pitchFamily="2" charset="2"/>
          <a:buChar char="v"/>
          <a:defRPr kumimoji="0" lang="zh-CN" alt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5665</TotalTime>
  <Words>7742</Words>
  <Application>Microsoft Office PowerPoint</Application>
  <PresentationFormat>全屏显示(4:3)</PresentationFormat>
  <Paragraphs>768</Paragraphs>
  <Slides>60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60</vt:i4>
      </vt:variant>
    </vt:vector>
  </HeadingPairs>
  <TitlesOfParts>
    <vt:vector size="77" baseType="lpstr">
      <vt:lpstr>Arial Unicode MS</vt:lpstr>
      <vt:lpstr>等线</vt:lpstr>
      <vt:lpstr>等线 Light</vt:lpstr>
      <vt:lpstr>仿宋</vt:lpstr>
      <vt:lpstr>黑体</vt:lpstr>
      <vt:lpstr>楷体</vt:lpstr>
      <vt:lpstr>宋体</vt:lpstr>
      <vt:lpstr>Arial</vt:lpstr>
      <vt:lpstr>Cambria Math</vt:lpstr>
      <vt:lpstr>Times New Roman</vt:lpstr>
      <vt:lpstr>Verdana</vt:lpstr>
      <vt:lpstr>Wingdings</vt:lpstr>
      <vt:lpstr>Axis</vt:lpstr>
      <vt:lpstr>1_Axis</vt:lpstr>
      <vt:lpstr>MathType 6.0 Equation</vt:lpstr>
      <vt:lpstr>Equation</vt:lpstr>
      <vt:lpstr>Document</vt:lpstr>
      <vt:lpstr>9.1图的基本概念</vt:lpstr>
      <vt:lpstr>9.1图的基本概念</vt:lpstr>
      <vt:lpstr>9.1图的基本概念</vt:lpstr>
      <vt:lpstr>9.1图的基本概念</vt:lpstr>
      <vt:lpstr>9.1图的基本概念</vt:lpstr>
      <vt:lpstr>9.1图的基本概念</vt:lpstr>
      <vt:lpstr>9.1图的基本概念</vt:lpstr>
      <vt:lpstr>9.1图的基本概念</vt:lpstr>
      <vt:lpstr>9.2.1 树及其性质</vt:lpstr>
      <vt:lpstr>9.2.2 图的支撑树(生成树)</vt:lpstr>
      <vt:lpstr>9.2.2 图的支撑树</vt:lpstr>
      <vt:lpstr>9.2.2 图的支撑树</vt:lpstr>
      <vt:lpstr>9.2.2 图的支撑树</vt:lpstr>
      <vt:lpstr>9.2.3 最小支撑树问题</vt:lpstr>
      <vt:lpstr>9.2.3 最小支撑树问题</vt:lpstr>
      <vt:lpstr>9.2.3 最小支撑树问题</vt:lpstr>
      <vt:lpstr>9.2.3 最小支撑树问题</vt:lpstr>
      <vt:lpstr>9.2.3 最小支撑树问题</vt:lpstr>
      <vt:lpstr>9.3.2 最短路算法</vt:lpstr>
      <vt:lpstr>9.3.2 最短路算法</vt:lpstr>
      <vt:lpstr>9.3.2 最短路算法</vt:lpstr>
      <vt:lpstr>9.3.2 最短路算法</vt:lpstr>
      <vt:lpstr>9.3.2 最短路算法</vt:lpstr>
      <vt:lpstr>9.3.2 最短路算法</vt:lpstr>
      <vt:lpstr>9.4 网络最大流问题</vt:lpstr>
      <vt:lpstr>9.4.1 基本概念与基本定理</vt:lpstr>
      <vt:lpstr>9.4.1 基本概念与基本定理</vt:lpstr>
      <vt:lpstr>9.4.1 基本概念与基本定理</vt:lpstr>
      <vt:lpstr>9.4.1 基本概念与基本定理</vt:lpstr>
      <vt:lpstr>9.4.1 基本概念与基本定理</vt:lpstr>
      <vt:lpstr>9.4.1 基本概念与基本定理</vt:lpstr>
      <vt:lpstr>9.4.1 基本概念与基本定理</vt:lpstr>
      <vt:lpstr>9.4.1 基本概念与基本定理</vt:lpstr>
      <vt:lpstr>9.4.1 基本概念与基本定理</vt:lpstr>
      <vt:lpstr>9.4.2 寻求最大流的标号法</vt:lpstr>
      <vt:lpstr>9.4.2 寻求最大流的标号法</vt:lpstr>
      <vt:lpstr>9.4.2 寻求最大流的标号法</vt:lpstr>
      <vt:lpstr>9.4.2 寻求最大流的标号法</vt:lpstr>
      <vt:lpstr>9.4.2 寻求最大流的标号法</vt:lpstr>
      <vt:lpstr>9.4.2 寻求最大流的标号法</vt:lpstr>
      <vt:lpstr>9.4.2 寻求最大流的标号法</vt:lpstr>
      <vt:lpstr>9.4.2 寻求最大流的标号法</vt:lpstr>
      <vt:lpstr>9.4.2 寻求最大流的标号法</vt:lpstr>
      <vt:lpstr>9.4.2 寻求最大流的标号法</vt:lpstr>
      <vt:lpstr>9.4.2 寻求最大流的标号法</vt:lpstr>
      <vt:lpstr>9.5 最小费用最大流问题</vt:lpstr>
      <vt:lpstr>9.5 最小费用最大流问题</vt:lpstr>
      <vt:lpstr>9.5 最小费用最大流问题</vt:lpstr>
      <vt:lpstr>9.5 最小费用最大流问题</vt:lpstr>
      <vt:lpstr>9.5 最小费用最大流问题</vt:lpstr>
      <vt:lpstr>9.5 最小费用最大流问题</vt:lpstr>
      <vt:lpstr>9.5 最小费用最大流问题</vt:lpstr>
      <vt:lpstr>9.5 最小费用最大流问题</vt:lpstr>
      <vt:lpstr>9.5 最小费用最大流问题</vt:lpstr>
      <vt:lpstr>本章练习题</vt:lpstr>
      <vt:lpstr>本章练习题</vt:lpstr>
      <vt:lpstr>本章练习题</vt:lpstr>
      <vt:lpstr>本章练习题</vt:lpstr>
      <vt:lpstr>本章练习题</vt:lpstr>
      <vt:lpstr>本章练习题</vt:lpstr>
    </vt:vector>
  </TitlesOfParts>
  <Company>Tsinghua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zoeyleo</dc:creator>
  <cp:lastModifiedBy>zhang</cp:lastModifiedBy>
  <cp:revision>546</cp:revision>
  <cp:lastPrinted>2024-05-28T05:33:22Z</cp:lastPrinted>
  <dcterms:created xsi:type="dcterms:W3CDTF">2006-05-22T13:27:53Z</dcterms:created>
  <dcterms:modified xsi:type="dcterms:W3CDTF">2025-06-12T10:32:38Z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