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86"/>
  </p:notesMasterIdLst>
  <p:handoutMasterIdLst>
    <p:handoutMasterId r:id="rId87"/>
  </p:handoutMasterIdLst>
  <p:sldIdLst>
    <p:sldId id="257" r:id="rId2"/>
    <p:sldId id="295" r:id="rId3"/>
    <p:sldId id="608" r:id="rId4"/>
    <p:sldId id="609" r:id="rId5"/>
    <p:sldId id="610" r:id="rId6"/>
    <p:sldId id="612" r:id="rId7"/>
    <p:sldId id="611" r:id="rId8"/>
    <p:sldId id="631" r:id="rId9"/>
    <p:sldId id="630" r:id="rId10"/>
    <p:sldId id="615" r:id="rId11"/>
    <p:sldId id="614" r:id="rId12"/>
    <p:sldId id="620" r:id="rId13"/>
    <p:sldId id="636" r:id="rId14"/>
    <p:sldId id="635" r:id="rId15"/>
    <p:sldId id="637" r:id="rId16"/>
    <p:sldId id="638" r:id="rId17"/>
    <p:sldId id="639" r:id="rId18"/>
    <p:sldId id="640" r:id="rId19"/>
    <p:sldId id="621" r:id="rId20"/>
    <p:sldId id="623" r:id="rId21"/>
    <p:sldId id="624" r:id="rId22"/>
    <p:sldId id="441" r:id="rId23"/>
    <p:sldId id="627" r:id="rId24"/>
    <p:sldId id="658" r:id="rId25"/>
    <p:sldId id="447" r:id="rId26"/>
    <p:sldId id="641" r:id="rId27"/>
    <p:sldId id="660" r:id="rId28"/>
    <p:sldId id="645" r:id="rId29"/>
    <p:sldId id="457" r:id="rId30"/>
    <p:sldId id="646" r:id="rId31"/>
    <p:sldId id="461" r:id="rId32"/>
    <p:sldId id="647" r:id="rId33"/>
    <p:sldId id="667" r:id="rId34"/>
    <p:sldId id="666" r:id="rId35"/>
    <p:sldId id="665" r:id="rId36"/>
    <p:sldId id="664" r:id="rId37"/>
    <p:sldId id="663" r:id="rId38"/>
    <p:sldId id="662" r:id="rId39"/>
    <p:sldId id="661" r:id="rId40"/>
    <p:sldId id="642" r:id="rId41"/>
    <p:sldId id="648" r:id="rId42"/>
    <p:sldId id="650" r:id="rId43"/>
    <p:sldId id="469" r:id="rId44"/>
    <p:sldId id="652" r:id="rId45"/>
    <p:sldId id="654" r:id="rId46"/>
    <p:sldId id="586" r:id="rId47"/>
    <p:sldId id="587" r:id="rId48"/>
    <p:sldId id="477" r:id="rId49"/>
    <p:sldId id="588" r:id="rId50"/>
    <p:sldId id="704" r:id="rId51"/>
    <p:sldId id="705" r:id="rId52"/>
    <p:sldId id="706" r:id="rId53"/>
    <p:sldId id="591" r:id="rId54"/>
    <p:sldId id="592" r:id="rId55"/>
    <p:sldId id="680" r:id="rId56"/>
    <p:sldId id="517" r:id="rId57"/>
    <p:sldId id="518" r:id="rId58"/>
    <p:sldId id="700" r:id="rId59"/>
    <p:sldId id="701" r:id="rId60"/>
    <p:sldId id="702" r:id="rId61"/>
    <p:sldId id="685" r:id="rId62"/>
    <p:sldId id="593" r:id="rId63"/>
    <p:sldId id="708" r:id="rId64"/>
    <p:sldId id="709" r:id="rId65"/>
    <p:sldId id="537" r:id="rId66"/>
    <p:sldId id="710" r:id="rId67"/>
    <p:sldId id="686" r:id="rId68"/>
    <p:sldId id="594" r:id="rId69"/>
    <p:sldId id="568" r:id="rId70"/>
    <p:sldId id="569" r:id="rId71"/>
    <p:sldId id="711" r:id="rId72"/>
    <p:sldId id="571" r:id="rId73"/>
    <p:sldId id="574" r:id="rId74"/>
    <p:sldId id="693" r:id="rId75"/>
    <p:sldId id="694" r:id="rId76"/>
    <p:sldId id="695" r:id="rId77"/>
    <p:sldId id="696" r:id="rId78"/>
    <p:sldId id="601" r:id="rId79"/>
    <p:sldId id="712" r:id="rId80"/>
    <p:sldId id="580" r:id="rId81"/>
    <p:sldId id="676" r:id="rId82"/>
    <p:sldId id="677" r:id="rId83"/>
    <p:sldId id="713" r:id="rId84"/>
    <p:sldId id="714" r:id="rId85"/>
  </p:sldIdLst>
  <p:sldSz cx="9144000" cy="6858000" type="screen4x3"/>
  <p:notesSz cx="6735763" cy="9866313"/>
  <p:defaultTextStyle>
    <a:defPPr>
      <a:defRPr lang="zh-CN"/>
    </a:defPPr>
    <a:lvl1pPr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0064F6"/>
    <a:srgbClr val="336699"/>
    <a:srgbClr val="3B8AFF"/>
    <a:srgbClr val="0046AC"/>
    <a:srgbClr val="553AF8"/>
    <a:srgbClr val="0051C8"/>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2250" autoAdjust="0"/>
  </p:normalViewPr>
  <p:slideViewPr>
    <p:cSldViewPr>
      <p:cViewPr varScale="1">
        <p:scale>
          <a:sx n="84" d="100"/>
          <a:sy n="84" d="100"/>
        </p:scale>
        <p:origin x="1133" y="7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4206"/>
    </p:cViewPr>
  </p:sorterViewPr>
  <p:notesViewPr>
    <p:cSldViewPr>
      <p:cViewPr varScale="1">
        <p:scale>
          <a:sx n="71" d="100"/>
          <a:sy n="71" d="100"/>
        </p:scale>
        <p:origin x="2126" y="5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5" Type="http://schemas.openxmlformats.org/officeDocument/2006/relationships/image" Target="../media/image9.wmf"/><Relationship Id="rId4"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image" Target="../media/image33.wmf"/><Relationship Id="rId3" Type="http://schemas.openxmlformats.org/officeDocument/2006/relationships/image" Target="../media/image24.wmf"/><Relationship Id="rId7" Type="http://schemas.openxmlformats.org/officeDocument/2006/relationships/image" Target="../media/image27.wmf"/><Relationship Id="rId12" Type="http://schemas.openxmlformats.org/officeDocument/2006/relationships/image" Target="../media/image32.wmf"/><Relationship Id="rId2" Type="http://schemas.openxmlformats.org/officeDocument/2006/relationships/image" Target="../media/image23.wmf"/><Relationship Id="rId1" Type="http://schemas.openxmlformats.org/officeDocument/2006/relationships/image" Target="../media/image22.wmf"/><Relationship Id="rId6" Type="http://schemas.openxmlformats.org/officeDocument/2006/relationships/image" Target="../media/image26.wmf"/><Relationship Id="rId11" Type="http://schemas.openxmlformats.org/officeDocument/2006/relationships/image" Target="../media/image31.wmf"/><Relationship Id="rId5" Type="http://schemas.openxmlformats.org/officeDocument/2006/relationships/image" Target="../media/image25.wmf"/><Relationship Id="rId15" Type="http://schemas.openxmlformats.org/officeDocument/2006/relationships/image" Target="../media/image35.wmf"/><Relationship Id="rId10" Type="http://schemas.openxmlformats.org/officeDocument/2006/relationships/image" Target="../media/image30.wmf"/><Relationship Id="rId4" Type="http://schemas.openxmlformats.org/officeDocument/2006/relationships/image" Target="../media/image19.wmf"/><Relationship Id="rId9" Type="http://schemas.openxmlformats.org/officeDocument/2006/relationships/image" Target="../media/image29.wmf"/><Relationship Id="rId14" Type="http://schemas.openxmlformats.org/officeDocument/2006/relationships/image" Target="../media/image34.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image" Target="../media/image32.wmf"/><Relationship Id="rId7" Type="http://schemas.openxmlformats.org/officeDocument/2006/relationships/image" Target="../media/image38.wmf"/><Relationship Id="rId12" Type="http://schemas.openxmlformats.org/officeDocument/2006/relationships/image" Target="../media/image43.wmf"/><Relationship Id="rId2" Type="http://schemas.openxmlformats.org/officeDocument/2006/relationships/image" Target="../media/image19.wmf"/><Relationship Id="rId1" Type="http://schemas.openxmlformats.org/officeDocument/2006/relationships/image" Target="../media/image23.wmf"/><Relationship Id="rId6" Type="http://schemas.openxmlformats.org/officeDocument/2006/relationships/image" Target="../media/image37.wmf"/><Relationship Id="rId11" Type="http://schemas.openxmlformats.org/officeDocument/2006/relationships/image" Target="../media/image42.wmf"/><Relationship Id="rId5" Type="http://schemas.openxmlformats.org/officeDocument/2006/relationships/image" Target="../media/image36.wmf"/><Relationship Id="rId10" Type="http://schemas.openxmlformats.org/officeDocument/2006/relationships/image" Target="../media/image41.wmf"/><Relationship Id="rId4" Type="http://schemas.openxmlformats.org/officeDocument/2006/relationships/image" Target="../media/image34.wmf"/><Relationship Id="rId9" Type="http://schemas.openxmlformats.org/officeDocument/2006/relationships/image" Target="../media/image40.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image" Target="../media/image19.wmf"/><Relationship Id="rId7" Type="http://schemas.openxmlformats.org/officeDocument/2006/relationships/image" Target="../media/image49.wmf"/><Relationship Id="rId12" Type="http://schemas.openxmlformats.org/officeDocument/2006/relationships/image" Target="../media/image54.wmf"/><Relationship Id="rId2" Type="http://schemas.openxmlformats.org/officeDocument/2006/relationships/image" Target="../media/image45.wmf"/><Relationship Id="rId1" Type="http://schemas.openxmlformats.org/officeDocument/2006/relationships/image" Target="../media/image44.wmf"/><Relationship Id="rId6" Type="http://schemas.openxmlformats.org/officeDocument/2006/relationships/image" Target="../media/image48.wmf"/><Relationship Id="rId11" Type="http://schemas.openxmlformats.org/officeDocument/2006/relationships/image" Target="../media/image53.wmf"/><Relationship Id="rId5" Type="http://schemas.openxmlformats.org/officeDocument/2006/relationships/image" Target="../media/image47.wmf"/><Relationship Id="rId10" Type="http://schemas.openxmlformats.org/officeDocument/2006/relationships/image" Target="../media/image52.wmf"/><Relationship Id="rId4" Type="http://schemas.openxmlformats.org/officeDocument/2006/relationships/image" Target="../media/image46.wmf"/><Relationship Id="rId9" Type="http://schemas.openxmlformats.org/officeDocument/2006/relationships/image" Target="../media/image5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image" Target="../media/image56.wmf"/><Relationship Id="rId7" Type="http://schemas.openxmlformats.org/officeDocument/2006/relationships/image" Target="../media/image61.wmf"/><Relationship Id="rId12" Type="http://schemas.openxmlformats.org/officeDocument/2006/relationships/image" Target="../media/image66.wmf"/><Relationship Id="rId2" Type="http://schemas.openxmlformats.org/officeDocument/2006/relationships/image" Target="../media/image57.wmf"/><Relationship Id="rId1" Type="http://schemas.openxmlformats.org/officeDocument/2006/relationships/image" Target="../media/image55.wmf"/><Relationship Id="rId6" Type="http://schemas.openxmlformats.org/officeDocument/2006/relationships/image" Target="../media/image60.wmf"/><Relationship Id="rId11" Type="http://schemas.openxmlformats.org/officeDocument/2006/relationships/image" Target="../media/image65.wmf"/><Relationship Id="rId5" Type="http://schemas.openxmlformats.org/officeDocument/2006/relationships/image" Target="../media/image59.wmf"/><Relationship Id="rId10" Type="http://schemas.openxmlformats.org/officeDocument/2006/relationships/image" Target="../media/image64.wmf"/><Relationship Id="rId4" Type="http://schemas.openxmlformats.org/officeDocument/2006/relationships/image" Target="../media/image58.wmf"/><Relationship Id="rId9" Type="http://schemas.openxmlformats.org/officeDocument/2006/relationships/image" Target="../media/image63.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71.wmf"/><Relationship Id="rId13" Type="http://schemas.openxmlformats.org/officeDocument/2006/relationships/image" Target="../media/image76.wmf"/><Relationship Id="rId3" Type="http://schemas.openxmlformats.org/officeDocument/2006/relationships/image" Target="../media/image56.wmf"/><Relationship Id="rId7" Type="http://schemas.openxmlformats.org/officeDocument/2006/relationships/image" Target="../media/image70.wmf"/><Relationship Id="rId12" Type="http://schemas.openxmlformats.org/officeDocument/2006/relationships/image" Target="../media/image75.wmf"/><Relationship Id="rId2" Type="http://schemas.openxmlformats.org/officeDocument/2006/relationships/image" Target="../media/image57.wmf"/><Relationship Id="rId16" Type="http://schemas.openxmlformats.org/officeDocument/2006/relationships/image" Target="../media/image79.wmf"/><Relationship Id="rId1" Type="http://schemas.openxmlformats.org/officeDocument/2006/relationships/image" Target="../media/image55.wmf"/><Relationship Id="rId6" Type="http://schemas.openxmlformats.org/officeDocument/2006/relationships/image" Target="../media/image69.wmf"/><Relationship Id="rId11" Type="http://schemas.openxmlformats.org/officeDocument/2006/relationships/image" Target="../media/image74.wmf"/><Relationship Id="rId5" Type="http://schemas.openxmlformats.org/officeDocument/2006/relationships/image" Target="../media/image68.wmf"/><Relationship Id="rId15" Type="http://schemas.openxmlformats.org/officeDocument/2006/relationships/image" Target="../media/image78.wmf"/><Relationship Id="rId10" Type="http://schemas.openxmlformats.org/officeDocument/2006/relationships/image" Target="../media/image73.wmf"/><Relationship Id="rId4" Type="http://schemas.openxmlformats.org/officeDocument/2006/relationships/image" Target="../media/image67.wmf"/><Relationship Id="rId9" Type="http://schemas.openxmlformats.org/officeDocument/2006/relationships/image" Target="../media/image72.wmf"/><Relationship Id="rId14" Type="http://schemas.openxmlformats.org/officeDocument/2006/relationships/image" Target="../media/image77.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image" Target="../media/image56.wmf"/><Relationship Id="rId7" Type="http://schemas.openxmlformats.org/officeDocument/2006/relationships/image" Target="../media/image81.wmf"/><Relationship Id="rId2" Type="http://schemas.openxmlformats.org/officeDocument/2006/relationships/image" Target="../media/image57.wmf"/><Relationship Id="rId1" Type="http://schemas.openxmlformats.org/officeDocument/2006/relationships/image" Target="../media/image55.wmf"/><Relationship Id="rId6" Type="http://schemas.openxmlformats.org/officeDocument/2006/relationships/image" Target="../media/image75.wmf"/><Relationship Id="rId5" Type="http://schemas.openxmlformats.org/officeDocument/2006/relationships/image" Target="../media/image66.wmf"/><Relationship Id="rId4" Type="http://schemas.openxmlformats.org/officeDocument/2006/relationships/image" Target="../media/image8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 Id="rId5" Type="http://schemas.openxmlformats.org/officeDocument/2006/relationships/image" Target="../media/image87.wmf"/><Relationship Id="rId4" Type="http://schemas.openxmlformats.org/officeDocument/2006/relationships/image" Target="../media/image86.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88.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88.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88.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8.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88.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image" Target="../media/image90.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92.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 Id="rId6" Type="http://schemas.openxmlformats.org/officeDocument/2006/relationships/image" Target="../media/image100.wmf"/><Relationship Id="rId5" Type="http://schemas.openxmlformats.org/officeDocument/2006/relationships/image" Target="../media/image99.wmf"/><Relationship Id="rId4" Type="http://schemas.openxmlformats.org/officeDocument/2006/relationships/image" Target="../media/image98.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08.wmf"/><Relationship Id="rId3" Type="http://schemas.openxmlformats.org/officeDocument/2006/relationships/image" Target="../media/image103.wmf"/><Relationship Id="rId7" Type="http://schemas.openxmlformats.org/officeDocument/2006/relationships/image" Target="../media/image107.wmf"/><Relationship Id="rId2" Type="http://schemas.openxmlformats.org/officeDocument/2006/relationships/image" Target="../media/image102.wmf"/><Relationship Id="rId1" Type="http://schemas.openxmlformats.org/officeDocument/2006/relationships/image" Target="../media/image101.wmf"/><Relationship Id="rId6" Type="http://schemas.openxmlformats.org/officeDocument/2006/relationships/image" Target="../media/image106.wmf"/><Relationship Id="rId5" Type="http://schemas.openxmlformats.org/officeDocument/2006/relationships/image" Target="../media/image105.wmf"/><Relationship Id="rId4" Type="http://schemas.openxmlformats.org/officeDocument/2006/relationships/image" Target="../media/image104.wmf"/><Relationship Id="rId9" Type="http://schemas.openxmlformats.org/officeDocument/2006/relationships/image" Target="../media/image109.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13.wmf"/><Relationship Id="rId3" Type="http://schemas.openxmlformats.org/officeDocument/2006/relationships/image" Target="../media/image106.wmf"/><Relationship Id="rId7" Type="http://schemas.openxmlformats.org/officeDocument/2006/relationships/image" Target="../media/image112.wmf"/><Relationship Id="rId2" Type="http://schemas.openxmlformats.org/officeDocument/2006/relationships/image" Target="../media/image104.wmf"/><Relationship Id="rId1" Type="http://schemas.openxmlformats.org/officeDocument/2006/relationships/image" Target="../media/image102.wmf"/><Relationship Id="rId6" Type="http://schemas.openxmlformats.org/officeDocument/2006/relationships/image" Target="../media/image111.wmf"/><Relationship Id="rId5" Type="http://schemas.openxmlformats.org/officeDocument/2006/relationships/image" Target="../media/image110.wmf"/><Relationship Id="rId4" Type="http://schemas.openxmlformats.org/officeDocument/2006/relationships/image" Target="../media/image109.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wmf"/><Relationship Id="rId4" Type="http://schemas.openxmlformats.org/officeDocument/2006/relationships/image" Target="../media/image117.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20.wmf"/><Relationship Id="rId2" Type="http://schemas.openxmlformats.org/officeDocument/2006/relationships/image" Target="../media/image119.wmf"/><Relationship Id="rId1" Type="http://schemas.openxmlformats.org/officeDocument/2006/relationships/image" Target="../media/image118.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26.wmf"/><Relationship Id="rId2" Type="http://schemas.openxmlformats.org/officeDocument/2006/relationships/image" Target="../media/image125.wmf"/><Relationship Id="rId1" Type="http://schemas.openxmlformats.org/officeDocument/2006/relationships/image" Target="../media/image124.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128.wmf"/><Relationship Id="rId1" Type="http://schemas.openxmlformats.org/officeDocument/2006/relationships/image" Target="../media/image127.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33.wmf"/><Relationship Id="rId1" Type="http://schemas.openxmlformats.org/officeDocument/2006/relationships/image" Target="../media/image13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15373" y="0"/>
            <a:ext cx="2918831" cy="495029"/>
          </a:xfrm>
          <a:prstGeom prst="rect">
            <a:avLst/>
          </a:prstGeom>
        </p:spPr>
        <p:txBody>
          <a:bodyPr vert="horz" lIns="91440" tIns="45720" rIns="91440" bIns="45720" rtlCol="0"/>
          <a:lstStyle>
            <a:lvl1pPr algn="r">
              <a:defRPr sz="1200"/>
            </a:lvl1pPr>
          </a:lstStyle>
          <a:p>
            <a:fld id="{A844D20E-76FE-4A3D-8CA4-E3C13CF3CAA5}" type="datetimeFigureOut">
              <a:rPr lang="zh-CN" altLang="en-US" smtClean="0"/>
              <a:t>2025/6/12</a:t>
            </a:fld>
            <a:endParaRPr lang="zh-CN" altLang="en-US"/>
          </a:p>
        </p:txBody>
      </p:sp>
      <p:sp>
        <p:nvSpPr>
          <p:cNvPr id="4" name="页脚占位符 3"/>
          <p:cNvSpPr>
            <a:spLocks noGrp="1"/>
          </p:cNvSpPr>
          <p:nvPr>
            <p:ph type="ftr" sz="quarter" idx="2"/>
          </p:nvPr>
        </p:nvSpPr>
        <p:spPr>
          <a:xfrm>
            <a:off x="0" y="9371286"/>
            <a:ext cx="2918831" cy="495028"/>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15373" y="9371286"/>
            <a:ext cx="2918831" cy="495028"/>
          </a:xfrm>
          <a:prstGeom prst="rect">
            <a:avLst/>
          </a:prstGeom>
        </p:spPr>
        <p:txBody>
          <a:bodyPr vert="horz" lIns="91440" tIns="45720" rIns="91440" bIns="45720" rtlCol="0" anchor="b"/>
          <a:lstStyle>
            <a:lvl1pPr algn="r">
              <a:defRPr sz="1200"/>
            </a:lvl1pPr>
          </a:lstStyle>
          <a:p>
            <a:fld id="{208B3336-F87D-491C-A01A-1E36F3D5DDB8}" type="slidenum">
              <a:rPr lang="zh-CN" altLang="en-US" smtClean="0"/>
              <a:t>‹#›</a:t>
            </a:fld>
            <a:endParaRPr lang="zh-CN" altLang="en-US"/>
          </a:p>
        </p:txBody>
      </p:sp>
    </p:spTree>
    <p:extLst>
      <p:ext uri="{BB962C8B-B14F-4D97-AF65-F5344CB8AC3E}">
        <p14:creationId xmlns:p14="http://schemas.microsoft.com/office/powerpoint/2010/main" val="16260063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p:cNvSpPr>
            <a:spLocks noGrp="1" noChangeArrowheads="1"/>
          </p:cNvSpPr>
          <p:nvPr>
            <p:ph type="hdr" sz="quarter"/>
          </p:nvPr>
        </p:nvSpPr>
        <p:spPr bwMode="auto">
          <a:xfrm>
            <a:off x="0" y="0"/>
            <a:ext cx="2918831" cy="493316"/>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spcBef>
                <a:spcPct val="0"/>
              </a:spcBef>
              <a:buClrTx/>
              <a:buSzTx/>
              <a:buFontTx/>
              <a:buNone/>
              <a:defRPr sz="1200"/>
            </a:lvl1pPr>
          </a:lstStyle>
          <a:p>
            <a:pPr>
              <a:defRPr/>
            </a:pPr>
            <a:endParaRPr lang="en-US" altLang="zh-CN"/>
          </a:p>
        </p:txBody>
      </p:sp>
      <p:sp>
        <p:nvSpPr>
          <p:cNvPr id="267267" name="Rectangle 3"/>
          <p:cNvSpPr>
            <a:spLocks noGrp="1" noChangeArrowheads="1"/>
          </p:cNvSpPr>
          <p:nvPr>
            <p:ph type="dt" idx="1"/>
          </p:nvPr>
        </p:nvSpPr>
        <p:spPr bwMode="auto">
          <a:xfrm>
            <a:off x="3815373" y="0"/>
            <a:ext cx="2918831" cy="493316"/>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spcBef>
                <a:spcPct val="0"/>
              </a:spcBef>
              <a:buClrTx/>
              <a:buSzTx/>
              <a:buFontTx/>
              <a:buNone/>
              <a:defRPr sz="1200"/>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01700" y="739775"/>
            <a:ext cx="4932363" cy="37004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67269" name="Rectangle 5"/>
          <p:cNvSpPr>
            <a:spLocks noGrp="1" noChangeArrowheads="1"/>
          </p:cNvSpPr>
          <p:nvPr>
            <p:ph type="body" sz="quarter" idx="3"/>
          </p:nvPr>
        </p:nvSpPr>
        <p:spPr bwMode="auto">
          <a:xfrm>
            <a:off x="673577" y="4686499"/>
            <a:ext cx="5388610" cy="4439841"/>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67270" name="Rectangle 6"/>
          <p:cNvSpPr>
            <a:spLocks noGrp="1" noChangeArrowheads="1"/>
          </p:cNvSpPr>
          <p:nvPr>
            <p:ph type="ftr" sz="quarter" idx="4"/>
          </p:nvPr>
        </p:nvSpPr>
        <p:spPr bwMode="auto">
          <a:xfrm>
            <a:off x="0" y="9371285"/>
            <a:ext cx="2918831" cy="493316"/>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sz="1200"/>
            </a:lvl1pPr>
          </a:lstStyle>
          <a:p>
            <a:pPr>
              <a:defRPr/>
            </a:pPr>
            <a:endParaRPr lang="en-US" altLang="zh-CN"/>
          </a:p>
        </p:txBody>
      </p:sp>
      <p:sp>
        <p:nvSpPr>
          <p:cNvPr id="267271" name="Rectangle 7"/>
          <p:cNvSpPr>
            <a:spLocks noGrp="1" noChangeArrowheads="1"/>
          </p:cNvSpPr>
          <p:nvPr>
            <p:ph type="sldNum" sz="quarter" idx="5"/>
          </p:nvPr>
        </p:nvSpPr>
        <p:spPr bwMode="auto">
          <a:xfrm>
            <a:off x="3815373" y="9371285"/>
            <a:ext cx="2918831" cy="493316"/>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9E5C5926-152F-40ED-B045-98BFEC4388C1}"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t>把所给问题的过程，恰当地分为若干个相互联系的阶段，以便能按一定的次序去求解。</a:t>
            </a: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9E5C5926-152F-40ED-B045-98BFEC4388C1}" type="slidenum">
              <a:rPr lang="en-US" altLang="zh-CN" smtClean="0"/>
              <a:pPr/>
              <a:t>2</a:t>
            </a:fld>
            <a:endParaRPr lang="en-US" altLang="zh-CN"/>
          </a:p>
        </p:txBody>
      </p:sp>
    </p:spTree>
    <p:extLst>
      <p:ext uri="{BB962C8B-B14F-4D97-AF65-F5344CB8AC3E}">
        <p14:creationId xmlns:p14="http://schemas.microsoft.com/office/powerpoint/2010/main" val="65930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2" indent="0" algn="l" defTabSz="914400" rtl="0" eaLnBrk="0" fontAlgn="base" latinLnBrk="0" hangingPunct="0">
              <a:lnSpc>
                <a:spcPct val="100000"/>
              </a:lnSpc>
              <a:spcBef>
                <a:spcPct val="30000"/>
              </a:spcBef>
              <a:spcAft>
                <a:spcPct val="0"/>
              </a:spcAft>
              <a:buClrTx/>
              <a:buSzTx/>
              <a:buFontTx/>
              <a:buNone/>
              <a:tabLst/>
              <a:defRPr/>
            </a:pPr>
            <a:r>
              <a:rPr lang="zh-CN" altLang="en-US" sz="1800" dirty="0" smtClean="0"/>
              <a:t>例</a:t>
            </a:r>
            <a:r>
              <a:rPr lang="en-US" altLang="zh-CN" sz="1800" dirty="0" smtClean="0"/>
              <a:t>1</a:t>
            </a:r>
            <a:r>
              <a:rPr lang="zh-CN" altLang="en-US" sz="1800" dirty="0" smtClean="0"/>
              <a:t>中，状态就是某阶段的出发位置。它既是该阶段某支路的起点，又是前一阶段某支路的终点。通常一个阶段有若干个状态，第一阶段有一个状态就是点</a:t>
            </a:r>
            <a:r>
              <a:rPr lang="en-US" altLang="zh-CN" sz="1800" dirty="0" smtClean="0"/>
              <a:t>A</a:t>
            </a:r>
            <a:r>
              <a:rPr lang="zh-CN" altLang="en-US" sz="1800" dirty="0" smtClean="0"/>
              <a:t>，第二阶段有两个状态，即点集合｛</a:t>
            </a:r>
            <a:r>
              <a:rPr lang="en-US" altLang="zh-CN" sz="1800" dirty="0" smtClean="0"/>
              <a:t>B</a:t>
            </a:r>
            <a:r>
              <a:rPr lang="en-US" altLang="zh-CN" sz="1800" baseline="-25000" dirty="0" smtClean="0"/>
              <a:t>1</a:t>
            </a:r>
            <a:r>
              <a:rPr lang="zh-CN" altLang="en-US" sz="1800" dirty="0" smtClean="0"/>
              <a:t>，</a:t>
            </a:r>
            <a:r>
              <a:rPr lang="en-US" altLang="zh-CN" sz="1800" dirty="0" smtClean="0"/>
              <a:t>B</a:t>
            </a:r>
            <a:r>
              <a:rPr lang="en-US" altLang="zh-CN" sz="1800" baseline="-25000" dirty="0" smtClean="0"/>
              <a:t>2</a:t>
            </a:r>
            <a:r>
              <a:rPr lang="zh-CN" altLang="en-US" sz="1800" dirty="0" smtClean="0"/>
              <a:t>｝，一般第</a:t>
            </a:r>
            <a:r>
              <a:rPr lang="en-US" altLang="zh-CN" sz="1800" dirty="0" smtClean="0"/>
              <a:t>k</a:t>
            </a:r>
            <a:r>
              <a:rPr lang="zh-CN" altLang="en-US" sz="1800" dirty="0" smtClean="0"/>
              <a:t>阶段的状态就是第</a:t>
            </a:r>
            <a:r>
              <a:rPr lang="en-US" altLang="zh-CN" sz="1800" dirty="0" smtClean="0"/>
              <a:t>k</a:t>
            </a:r>
            <a:r>
              <a:rPr lang="zh-CN" altLang="en-US" sz="1800" dirty="0" smtClean="0"/>
              <a:t>阶段所有始点的集合。</a:t>
            </a:r>
          </a:p>
          <a:p>
            <a:pPr marL="0" marR="0" lvl="2" indent="0" algn="l" defTabSz="914400" rtl="0" eaLnBrk="0" fontAlgn="base" latinLnBrk="0" hangingPunct="0">
              <a:lnSpc>
                <a:spcPct val="100000"/>
              </a:lnSpc>
              <a:spcBef>
                <a:spcPct val="30000"/>
              </a:spcBef>
              <a:spcAft>
                <a:spcPct val="0"/>
              </a:spcAft>
              <a:buClrTx/>
              <a:buSzTx/>
              <a:buFontTx/>
              <a:buNone/>
              <a:tabLst/>
              <a:defRPr/>
            </a:pPr>
            <a:r>
              <a:rPr lang="zh-CN" altLang="en-US" sz="1800" dirty="0" smtClean="0">
                <a:latin typeface="Times New Roman" panose="02020603050405020304" pitchFamily="18" charset="0"/>
                <a:cs typeface="Courier New" panose="02070309020205020404" pitchFamily="49" charset="0"/>
              </a:rPr>
              <a:t>例</a:t>
            </a:r>
            <a:r>
              <a:rPr lang="en-US" altLang="zh-CN" sz="1800" dirty="0" smtClean="0">
                <a:latin typeface="Times New Roman" panose="02020603050405020304" pitchFamily="18" charset="0"/>
                <a:cs typeface="Courier New" panose="02070309020205020404" pitchFamily="49" charset="0"/>
              </a:rPr>
              <a:t>1</a:t>
            </a:r>
            <a:r>
              <a:rPr lang="zh-CN" altLang="en-US" sz="1800" dirty="0" smtClean="0">
                <a:latin typeface="Times New Roman" panose="02020603050405020304" pitchFamily="18" charset="0"/>
                <a:cs typeface="Courier New" panose="02070309020205020404" pitchFamily="49" charset="0"/>
              </a:rPr>
              <a:t>中第三阶段有四个状态，则状态变量</a:t>
            </a:r>
            <a:r>
              <a:rPr lang="en-US" altLang="zh-CN" sz="1800" dirty="0" err="1" smtClean="0">
                <a:latin typeface="Times New Roman" panose="02020603050405020304" pitchFamily="18" charset="0"/>
                <a:cs typeface="Courier New" panose="02070309020205020404" pitchFamily="49" charset="0"/>
              </a:rPr>
              <a:t>S</a:t>
            </a:r>
            <a:r>
              <a:rPr lang="en-US" altLang="zh-CN" sz="1800" baseline="-30000" dirty="0" err="1" smtClean="0">
                <a:latin typeface="Times New Roman" panose="02020603050405020304" pitchFamily="18" charset="0"/>
                <a:cs typeface="Courier New" panose="02070309020205020404" pitchFamily="49" charset="0"/>
              </a:rPr>
              <a:t>k</a:t>
            </a:r>
            <a:r>
              <a:rPr lang="zh-CN" altLang="en-US" sz="1800" dirty="0" smtClean="0">
                <a:latin typeface="Times New Roman" panose="02020603050405020304" pitchFamily="18" charset="0"/>
                <a:cs typeface="Courier New" panose="02070309020205020404" pitchFamily="49" charset="0"/>
              </a:rPr>
              <a:t>可取四个值，即</a:t>
            </a:r>
            <a:r>
              <a:rPr lang="en-US" altLang="zh-CN" sz="1800" dirty="0" smtClean="0">
                <a:latin typeface="Times New Roman" panose="02020603050405020304" pitchFamily="18" charset="0"/>
                <a:cs typeface="Courier New" panose="02070309020205020404" pitchFamily="49" charset="0"/>
              </a:rPr>
              <a:t>C</a:t>
            </a:r>
            <a:r>
              <a:rPr lang="en-US" altLang="zh-CN" sz="1800" baseline="-30000" dirty="0" smtClean="0">
                <a:latin typeface="Times New Roman" panose="02020603050405020304" pitchFamily="18" charset="0"/>
                <a:cs typeface="Courier New" panose="02070309020205020404" pitchFamily="49" charset="0"/>
              </a:rPr>
              <a:t>1</a:t>
            </a:r>
            <a:r>
              <a:rPr lang="zh-CN" altLang="en-US" sz="1800" dirty="0" smtClean="0">
                <a:latin typeface="Times New Roman" panose="02020603050405020304" pitchFamily="18" charset="0"/>
                <a:cs typeface="Courier New" panose="02070309020205020404" pitchFamily="49" charset="0"/>
              </a:rPr>
              <a:t>、</a:t>
            </a:r>
            <a:r>
              <a:rPr lang="en-US" altLang="zh-CN" sz="1800" dirty="0" smtClean="0">
                <a:latin typeface="Times New Roman" panose="02020603050405020304" pitchFamily="18" charset="0"/>
                <a:cs typeface="Courier New" panose="02070309020205020404" pitchFamily="49" charset="0"/>
              </a:rPr>
              <a:t>C</a:t>
            </a:r>
            <a:r>
              <a:rPr lang="en-US" altLang="zh-CN" sz="1800" baseline="-30000" dirty="0" smtClean="0">
                <a:latin typeface="Times New Roman" panose="02020603050405020304" pitchFamily="18" charset="0"/>
                <a:cs typeface="Courier New" panose="02070309020205020404" pitchFamily="49" charset="0"/>
              </a:rPr>
              <a:t>2</a:t>
            </a:r>
            <a:r>
              <a:rPr lang="zh-CN" altLang="en-US" sz="1800" dirty="0" smtClean="0">
                <a:latin typeface="Times New Roman" panose="02020603050405020304" pitchFamily="18" charset="0"/>
                <a:cs typeface="Courier New" panose="02070309020205020404" pitchFamily="49" charset="0"/>
              </a:rPr>
              <a:t>、</a:t>
            </a:r>
            <a:r>
              <a:rPr lang="en-US" altLang="zh-CN" sz="1800" dirty="0" smtClean="0">
                <a:latin typeface="Times New Roman" panose="02020603050405020304" pitchFamily="18" charset="0"/>
                <a:cs typeface="Courier New" panose="02070309020205020404" pitchFamily="49" charset="0"/>
              </a:rPr>
              <a:t>C</a:t>
            </a:r>
            <a:r>
              <a:rPr lang="en-US" altLang="zh-CN" sz="1800" baseline="-30000" dirty="0" smtClean="0">
                <a:latin typeface="Times New Roman" panose="02020603050405020304" pitchFamily="18" charset="0"/>
                <a:cs typeface="Courier New" panose="02070309020205020404" pitchFamily="49" charset="0"/>
              </a:rPr>
              <a:t>3</a:t>
            </a:r>
            <a:r>
              <a:rPr lang="zh-CN" altLang="en-US" sz="1800" dirty="0" smtClean="0">
                <a:latin typeface="Times New Roman" panose="02020603050405020304" pitchFamily="18" charset="0"/>
                <a:cs typeface="Courier New" panose="02070309020205020404" pitchFamily="49" charset="0"/>
              </a:rPr>
              <a:t>、</a:t>
            </a:r>
            <a:r>
              <a:rPr lang="en-US" altLang="zh-CN" sz="1800" dirty="0" smtClean="0">
                <a:latin typeface="Times New Roman" panose="02020603050405020304" pitchFamily="18" charset="0"/>
                <a:cs typeface="Courier New" panose="02070309020205020404" pitchFamily="49" charset="0"/>
              </a:rPr>
              <a:t>C</a:t>
            </a:r>
            <a:r>
              <a:rPr lang="en-US" altLang="zh-CN" sz="1800" baseline="-30000" dirty="0" smtClean="0">
                <a:latin typeface="Times New Roman" panose="02020603050405020304" pitchFamily="18" charset="0"/>
                <a:cs typeface="Courier New" panose="02070309020205020404" pitchFamily="49" charset="0"/>
              </a:rPr>
              <a:t>4</a:t>
            </a:r>
            <a:r>
              <a:rPr lang="zh-CN" altLang="en-US" sz="1800" dirty="0" smtClean="0">
                <a:latin typeface="Times New Roman" panose="02020603050405020304" pitchFamily="18" charset="0"/>
                <a:cs typeface="Courier New" panose="02070309020205020404" pitchFamily="49" charset="0"/>
              </a:rPr>
              <a:t>。点集合就称为第三阶段的</a:t>
            </a:r>
            <a:r>
              <a:rPr lang="zh-CN" altLang="en-US" sz="1800" dirty="0" smtClean="0">
                <a:solidFill>
                  <a:srgbClr val="FF0000"/>
                </a:solidFill>
                <a:latin typeface="Times New Roman" panose="02020603050405020304" pitchFamily="18" charset="0"/>
                <a:cs typeface="Courier New" panose="02070309020205020404" pitchFamily="49" charset="0"/>
              </a:rPr>
              <a:t>可达状态集合</a:t>
            </a:r>
            <a:r>
              <a:rPr lang="zh-CN" altLang="en-US" sz="1800" dirty="0" smtClean="0">
                <a:latin typeface="Times New Roman" panose="02020603050405020304" pitchFamily="18" charset="0"/>
                <a:cs typeface="Courier New" panose="02070309020205020404" pitchFamily="49" charset="0"/>
              </a:rPr>
              <a:t>。记为</a:t>
            </a:r>
            <a:r>
              <a:rPr lang="en-US" altLang="zh-CN" sz="1800" dirty="0" smtClean="0">
                <a:latin typeface="Times New Roman" panose="02020603050405020304" pitchFamily="18" charset="0"/>
                <a:cs typeface="Courier New" panose="02070309020205020404" pitchFamily="49" charset="0"/>
              </a:rPr>
              <a:t>S</a:t>
            </a:r>
            <a:r>
              <a:rPr lang="en-US" altLang="zh-CN" sz="1800" baseline="-30000" dirty="0" smtClean="0">
                <a:latin typeface="Times New Roman" panose="02020603050405020304" pitchFamily="18" charset="0"/>
                <a:cs typeface="Courier New" panose="02070309020205020404" pitchFamily="49" charset="0"/>
              </a:rPr>
              <a:t>3</a:t>
            </a:r>
            <a:r>
              <a:rPr lang="zh-CN" altLang="en-US" sz="1800" dirty="0" smtClean="0">
                <a:latin typeface="Times New Roman" panose="02020603050405020304" pitchFamily="18" charset="0"/>
                <a:cs typeface="Courier New" panose="02070309020205020404" pitchFamily="49" charset="0"/>
              </a:rPr>
              <a:t>＝｛</a:t>
            </a:r>
            <a:r>
              <a:rPr lang="en-US" altLang="zh-CN" sz="1800" dirty="0" smtClean="0">
                <a:latin typeface="Times New Roman" panose="02020603050405020304" pitchFamily="18" charset="0"/>
                <a:cs typeface="Courier New" panose="02070309020205020404" pitchFamily="49" charset="0"/>
              </a:rPr>
              <a:t>C</a:t>
            </a:r>
            <a:r>
              <a:rPr lang="en-US" altLang="zh-CN" sz="1800" baseline="-30000" dirty="0" smtClean="0">
                <a:latin typeface="Times New Roman" panose="02020603050405020304" pitchFamily="18" charset="0"/>
                <a:cs typeface="Courier New" panose="02070309020205020404" pitchFamily="49" charset="0"/>
              </a:rPr>
              <a:t>1</a:t>
            </a:r>
            <a:r>
              <a:rPr lang="zh-CN" altLang="en-US" sz="1800" dirty="0" smtClean="0">
                <a:latin typeface="Times New Roman" panose="02020603050405020304" pitchFamily="18" charset="0"/>
                <a:cs typeface="Courier New" panose="02070309020205020404" pitchFamily="49" charset="0"/>
              </a:rPr>
              <a:t>，</a:t>
            </a:r>
            <a:r>
              <a:rPr lang="en-US" altLang="zh-CN" sz="1800" dirty="0" smtClean="0">
                <a:latin typeface="Times New Roman" panose="02020603050405020304" pitchFamily="18" charset="0"/>
                <a:cs typeface="Courier New" panose="02070309020205020404" pitchFamily="49" charset="0"/>
              </a:rPr>
              <a:t>C</a:t>
            </a:r>
            <a:r>
              <a:rPr lang="en-US" altLang="zh-CN" sz="1800" baseline="-30000" dirty="0" smtClean="0">
                <a:latin typeface="Times New Roman" panose="02020603050405020304" pitchFamily="18" charset="0"/>
                <a:cs typeface="Courier New" panose="02070309020205020404" pitchFamily="49" charset="0"/>
              </a:rPr>
              <a:t>2</a:t>
            </a:r>
            <a:r>
              <a:rPr lang="zh-CN" altLang="en-US" sz="1800" dirty="0" smtClean="0">
                <a:latin typeface="Times New Roman" panose="02020603050405020304" pitchFamily="18" charset="0"/>
                <a:cs typeface="Courier New" panose="02070309020205020404" pitchFamily="49" charset="0"/>
              </a:rPr>
              <a:t>，</a:t>
            </a:r>
            <a:r>
              <a:rPr lang="en-US" altLang="zh-CN" sz="1800" dirty="0" smtClean="0">
                <a:latin typeface="Times New Roman" panose="02020603050405020304" pitchFamily="18" charset="0"/>
                <a:cs typeface="Courier New" panose="02070309020205020404" pitchFamily="49" charset="0"/>
              </a:rPr>
              <a:t>C</a:t>
            </a:r>
            <a:r>
              <a:rPr lang="en-US" altLang="zh-CN" sz="1800" baseline="-30000" dirty="0" smtClean="0">
                <a:latin typeface="Times New Roman" panose="02020603050405020304" pitchFamily="18" charset="0"/>
                <a:cs typeface="Courier New" panose="02070309020205020404" pitchFamily="49" charset="0"/>
              </a:rPr>
              <a:t>3</a:t>
            </a:r>
            <a:r>
              <a:rPr lang="zh-CN" altLang="en-US" sz="1800" dirty="0" smtClean="0">
                <a:latin typeface="Times New Roman" panose="02020603050405020304" pitchFamily="18" charset="0"/>
                <a:cs typeface="Courier New" panose="02070309020205020404" pitchFamily="49" charset="0"/>
              </a:rPr>
              <a:t>，</a:t>
            </a:r>
            <a:r>
              <a:rPr lang="en-US" altLang="zh-CN" sz="1800" dirty="0" smtClean="0">
                <a:latin typeface="Times New Roman" panose="02020603050405020304" pitchFamily="18" charset="0"/>
                <a:cs typeface="Courier New" panose="02070309020205020404" pitchFamily="49" charset="0"/>
              </a:rPr>
              <a:t>C</a:t>
            </a:r>
            <a:r>
              <a:rPr lang="en-US" altLang="zh-CN" sz="1800" baseline="-30000" dirty="0" smtClean="0">
                <a:latin typeface="Times New Roman" panose="02020603050405020304" pitchFamily="18" charset="0"/>
                <a:cs typeface="Courier New" panose="02070309020205020404" pitchFamily="49" charset="0"/>
              </a:rPr>
              <a:t>4</a:t>
            </a:r>
            <a:r>
              <a:rPr lang="zh-CN" altLang="en-US" sz="1800" dirty="0" smtClean="0">
                <a:latin typeface="Times New Roman" panose="02020603050405020304" pitchFamily="18" charset="0"/>
                <a:cs typeface="Courier New" panose="02070309020205020404" pitchFamily="49" charset="0"/>
              </a:rPr>
              <a:t>｝。有时为了方便起见，将该阶段的状态编上号码</a:t>
            </a:r>
            <a:r>
              <a:rPr lang="en-US" altLang="zh-CN" sz="1800" dirty="0" smtClean="0">
                <a:latin typeface="Times New Roman" panose="02020603050405020304" pitchFamily="18" charset="0"/>
                <a:cs typeface="Courier New" panose="02070309020205020404" pitchFamily="49" charset="0"/>
              </a:rPr>
              <a:t>1</a:t>
            </a:r>
            <a:r>
              <a:rPr lang="zh-CN" altLang="en-US" sz="1800" dirty="0" smtClean="0">
                <a:latin typeface="Times New Roman" panose="02020603050405020304" pitchFamily="18" charset="0"/>
                <a:cs typeface="Courier New" panose="02070309020205020404" pitchFamily="49" charset="0"/>
              </a:rPr>
              <a:t>，</a:t>
            </a:r>
            <a:r>
              <a:rPr lang="en-US" altLang="zh-CN" sz="1800" dirty="0" smtClean="0">
                <a:latin typeface="Times New Roman" panose="02020603050405020304" pitchFamily="18" charset="0"/>
                <a:cs typeface="Courier New" panose="02070309020205020404" pitchFamily="49" charset="0"/>
              </a:rPr>
              <a:t>2…</a:t>
            </a:r>
            <a:r>
              <a:rPr lang="zh-CN" altLang="en-US" sz="1800" dirty="0" smtClean="0">
                <a:latin typeface="Times New Roman" panose="02020603050405020304" pitchFamily="18" charset="0"/>
                <a:cs typeface="Courier New" panose="02070309020205020404" pitchFamily="49" charset="0"/>
              </a:rPr>
              <a:t>这时也可记</a:t>
            </a:r>
            <a:r>
              <a:rPr lang="en-US" altLang="zh-CN" sz="1800" dirty="0" smtClean="0">
                <a:latin typeface="Times New Roman" panose="02020603050405020304" pitchFamily="18" charset="0"/>
                <a:cs typeface="Courier New" panose="02070309020205020404" pitchFamily="49" charset="0"/>
              </a:rPr>
              <a:t>S</a:t>
            </a:r>
            <a:r>
              <a:rPr lang="en-US" altLang="zh-CN" sz="1800" baseline="-30000" dirty="0" smtClean="0">
                <a:latin typeface="Times New Roman" panose="02020603050405020304" pitchFamily="18" charset="0"/>
                <a:cs typeface="Courier New" panose="02070309020205020404" pitchFamily="49" charset="0"/>
              </a:rPr>
              <a:t>3</a:t>
            </a:r>
            <a:r>
              <a:rPr lang="zh-CN" altLang="en-US" sz="1800" dirty="0" smtClean="0">
                <a:latin typeface="Times New Roman" panose="02020603050405020304" pitchFamily="18" charset="0"/>
                <a:cs typeface="Courier New" panose="02070309020205020404" pitchFamily="49" charset="0"/>
              </a:rPr>
              <a:t>＝｛</a:t>
            </a:r>
            <a:r>
              <a:rPr lang="en-US" altLang="zh-CN" sz="1800" dirty="0" smtClean="0">
                <a:latin typeface="Times New Roman" panose="02020603050405020304" pitchFamily="18" charset="0"/>
                <a:cs typeface="Courier New" panose="02070309020205020404" pitchFamily="49" charset="0"/>
              </a:rPr>
              <a:t>1</a:t>
            </a:r>
            <a:r>
              <a:rPr lang="zh-CN" altLang="en-US" sz="1800" dirty="0" smtClean="0">
                <a:latin typeface="Times New Roman" panose="02020603050405020304" pitchFamily="18" charset="0"/>
                <a:cs typeface="Courier New" panose="02070309020205020404" pitchFamily="49" charset="0"/>
              </a:rPr>
              <a:t>，</a:t>
            </a:r>
            <a:r>
              <a:rPr lang="en-US" altLang="zh-CN" sz="1800" dirty="0" smtClean="0">
                <a:latin typeface="Times New Roman" panose="02020603050405020304" pitchFamily="18" charset="0"/>
                <a:cs typeface="Courier New" panose="02070309020205020404" pitchFamily="49" charset="0"/>
              </a:rPr>
              <a:t>2</a:t>
            </a:r>
            <a:r>
              <a:rPr lang="zh-CN" altLang="en-US" sz="1800" dirty="0" smtClean="0">
                <a:latin typeface="Times New Roman" panose="02020603050405020304" pitchFamily="18" charset="0"/>
                <a:cs typeface="Courier New" panose="02070309020205020404" pitchFamily="49" charset="0"/>
              </a:rPr>
              <a:t>，</a:t>
            </a:r>
            <a:r>
              <a:rPr lang="en-US" altLang="zh-CN" sz="1800" dirty="0" smtClean="0">
                <a:latin typeface="Times New Roman" panose="02020603050405020304" pitchFamily="18" charset="0"/>
                <a:cs typeface="Courier New" panose="02070309020205020404" pitchFamily="49" charset="0"/>
              </a:rPr>
              <a:t>3</a:t>
            </a:r>
            <a:r>
              <a:rPr lang="zh-CN" altLang="en-US" sz="1800" dirty="0" smtClean="0">
                <a:latin typeface="Times New Roman" panose="02020603050405020304" pitchFamily="18" charset="0"/>
                <a:cs typeface="Courier New" panose="02070309020205020404" pitchFamily="49" charset="0"/>
              </a:rPr>
              <a:t>，</a:t>
            </a:r>
            <a:r>
              <a:rPr lang="en-US" altLang="zh-CN" sz="1800" dirty="0" smtClean="0">
                <a:latin typeface="Times New Roman" panose="02020603050405020304" pitchFamily="18" charset="0"/>
                <a:cs typeface="Courier New" panose="02070309020205020404" pitchFamily="49" charset="0"/>
              </a:rPr>
              <a:t>4</a:t>
            </a:r>
            <a:r>
              <a:rPr lang="zh-CN" altLang="en-US" sz="1800" dirty="0" smtClean="0">
                <a:latin typeface="Times New Roman" panose="02020603050405020304" pitchFamily="18" charset="0"/>
                <a:cs typeface="Courier New" panose="02070309020205020404" pitchFamily="49" charset="0"/>
              </a:rPr>
              <a:t>｝。</a:t>
            </a:r>
            <a:endParaRPr lang="en-US" altLang="zh-CN" sz="1800" dirty="0" smtClean="0"/>
          </a:p>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3</a:t>
            </a:fld>
            <a:endParaRPr lang="en-US" altLang="zh-CN"/>
          </a:p>
        </p:txBody>
      </p:sp>
    </p:spTree>
    <p:extLst>
      <p:ext uri="{BB962C8B-B14F-4D97-AF65-F5344CB8AC3E}">
        <p14:creationId xmlns:p14="http://schemas.microsoft.com/office/powerpoint/2010/main" val="3265234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dirty="0" smtClean="0">
                <a:latin typeface="Times New Roman" panose="02020603050405020304" pitchFamily="18" charset="0"/>
                <a:cs typeface="Courier New" panose="02070309020205020404" pitchFamily="49" charset="0"/>
              </a:rPr>
              <a:t>如若从状态</a:t>
            </a:r>
            <a:r>
              <a:rPr lang="en-US" altLang="zh-CN" sz="1200" i="1" dirty="0" smtClean="0">
                <a:latin typeface="Times New Roman" panose="02020603050405020304" pitchFamily="18" charset="0"/>
                <a:cs typeface="Courier New" panose="02070309020205020404" pitchFamily="49" charset="0"/>
              </a:rPr>
              <a:t>B</a:t>
            </a:r>
            <a:r>
              <a:rPr lang="en-US" altLang="zh-CN" sz="1200" baseline="-30000" dirty="0" smtClean="0">
                <a:latin typeface="Times New Roman" panose="02020603050405020304" pitchFamily="18" charset="0"/>
                <a:cs typeface="Courier New" panose="02070309020205020404" pitchFamily="49" charset="0"/>
              </a:rPr>
              <a:t>1</a:t>
            </a:r>
            <a:r>
              <a:rPr lang="zh-CN" altLang="en-US" sz="1200" dirty="0" smtClean="0">
                <a:latin typeface="Times New Roman" panose="02020603050405020304" pitchFamily="18" charset="0"/>
                <a:cs typeface="Courier New" panose="02070309020205020404" pitchFamily="49" charset="0"/>
              </a:rPr>
              <a:t>出发，就可作出三种不同的决策，其允许决策集合</a:t>
            </a:r>
            <a:r>
              <a:rPr lang="en-US" altLang="zh-CN" sz="1200" i="1" dirty="0" smtClean="0">
                <a:latin typeface="Times New Roman" panose="02020603050405020304" pitchFamily="18" charset="0"/>
                <a:cs typeface="Courier New" panose="02070309020205020404" pitchFamily="49" charset="0"/>
              </a:rPr>
              <a:t>D</a:t>
            </a:r>
            <a:r>
              <a:rPr lang="en-US" altLang="zh-CN" sz="1200" baseline="-30000" dirty="0" smtClean="0">
                <a:latin typeface="Times New Roman" panose="02020603050405020304" pitchFamily="18" charset="0"/>
                <a:cs typeface="Courier New" panose="02070309020205020404" pitchFamily="49" charset="0"/>
              </a:rPr>
              <a:t>2</a:t>
            </a:r>
            <a:r>
              <a:rPr lang="en-US" altLang="zh-CN" sz="1200" dirty="0" smtClean="0">
                <a:latin typeface="Times New Roman" panose="02020603050405020304" pitchFamily="18" charset="0"/>
                <a:cs typeface="Courier New" panose="02070309020205020404" pitchFamily="49" charset="0"/>
              </a:rPr>
              <a:t>(</a:t>
            </a:r>
            <a:r>
              <a:rPr lang="en-US" altLang="zh-CN" sz="1200" i="1" dirty="0" smtClean="0">
                <a:latin typeface="Times New Roman" panose="02020603050405020304" pitchFamily="18" charset="0"/>
                <a:cs typeface="Courier New" panose="02070309020205020404" pitchFamily="49" charset="0"/>
              </a:rPr>
              <a:t>B</a:t>
            </a:r>
            <a:r>
              <a:rPr lang="en-US" altLang="zh-CN" sz="1200" baseline="-30000" dirty="0" smtClean="0">
                <a:latin typeface="Times New Roman" panose="02020603050405020304" pitchFamily="18" charset="0"/>
                <a:cs typeface="Courier New" panose="02070309020205020404" pitchFamily="49" charset="0"/>
              </a:rPr>
              <a:t>1</a:t>
            </a:r>
            <a:r>
              <a:rPr lang="en-US" altLang="zh-CN" sz="1200" dirty="0" smtClean="0">
                <a:latin typeface="Times New Roman" panose="02020603050405020304" pitchFamily="18" charset="0"/>
                <a:cs typeface="Courier New" panose="02070309020205020404" pitchFamily="49" charset="0"/>
              </a:rPr>
              <a:t>)</a:t>
            </a:r>
            <a:r>
              <a:rPr lang="zh-CN" altLang="en-US" sz="1200" dirty="0" smtClean="0">
                <a:latin typeface="Times New Roman" panose="02020603050405020304" pitchFamily="18" charset="0"/>
                <a:cs typeface="Courier New" panose="02070309020205020404" pitchFamily="49" charset="0"/>
              </a:rPr>
              <a:t>＝｛</a:t>
            </a:r>
            <a:r>
              <a:rPr lang="en-US" altLang="zh-CN" sz="1200" i="1" dirty="0" smtClean="0">
                <a:latin typeface="Times New Roman" panose="02020603050405020304" pitchFamily="18" charset="0"/>
                <a:cs typeface="Courier New" panose="02070309020205020404" pitchFamily="49" charset="0"/>
              </a:rPr>
              <a:t>C</a:t>
            </a:r>
            <a:r>
              <a:rPr lang="en-US" altLang="zh-CN" sz="1200" baseline="-30000" dirty="0" smtClean="0">
                <a:latin typeface="Times New Roman" panose="02020603050405020304" pitchFamily="18" charset="0"/>
                <a:cs typeface="Courier New" panose="02070309020205020404" pitchFamily="49" charset="0"/>
              </a:rPr>
              <a:t>1</a:t>
            </a:r>
            <a:r>
              <a:rPr lang="en-US" altLang="zh-CN" sz="1200" dirty="0" smtClean="0">
                <a:latin typeface="Times New Roman" panose="02020603050405020304" pitchFamily="18" charset="0"/>
                <a:cs typeface="Courier New" panose="02070309020205020404" pitchFamily="49" charset="0"/>
              </a:rPr>
              <a:t>,</a:t>
            </a:r>
            <a:r>
              <a:rPr lang="en-US" altLang="zh-CN" sz="1200" i="1" dirty="0" smtClean="0">
                <a:latin typeface="Times New Roman" panose="02020603050405020304" pitchFamily="18" charset="0"/>
                <a:cs typeface="Courier New" panose="02070309020205020404" pitchFamily="49" charset="0"/>
              </a:rPr>
              <a:t>C</a:t>
            </a:r>
            <a:r>
              <a:rPr lang="en-US" altLang="zh-CN" sz="1200" baseline="-30000" dirty="0" smtClean="0">
                <a:latin typeface="Times New Roman" panose="02020603050405020304" pitchFamily="18" charset="0"/>
                <a:cs typeface="Courier New" panose="02070309020205020404" pitchFamily="49" charset="0"/>
              </a:rPr>
              <a:t>2</a:t>
            </a:r>
            <a:r>
              <a:rPr lang="en-US" altLang="zh-CN" sz="1200" dirty="0" smtClean="0">
                <a:latin typeface="Times New Roman" panose="02020603050405020304" pitchFamily="18" charset="0"/>
                <a:cs typeface="Courier New" panose="02070309020205020404" pitchFamily="49" charset="0"/>
              </a:rPr>
              <a:t>,</a:t>
            </a:r>
            <a:r>
              <a:rPr lang="en-US" altLang="zh-CN" sz="1200" i="1" dirty="0" smtClean="0">
                <a:latin typeface="Times New Roman" panose="02020603050405020304" pitchFamily="18" charset="0"/>
                <a:cs typeface="Courier New" panose="02070309020205020404" pitchFamily="49" charset="0"/>
              </a:rPr>
              <a:t>C</a:t>
            </a:r>
            <a:r>
              <a:rPr lang="en-US" altLang="zh-CN" sz="1200" baseline="-30000" dirty="0" smtClean="0">
                <a:latin typeface="Times New Roman" panose="02020603050405020304" pitchFamily="18" charset="0"/>
                <a:cs typeface="Courier New" panose="02070309020205020404" pitchFamily="49" charset="0"/>
              </a:rPr>
              <a:t>3</a:t>
            </a:r>
            <a:r>
              <a:rPr lang="zh-CN" altLang="en-US" sz="1200" dirty="0" smtClean="0">
                <a:latin typeface="Times New Roman" panose="02020603050405020304" pitchFamily="18" charset="0"/>
                <a:cs typeface="Courier New" panose="02070309020205020404" pitchFamily="49" charset="0"/>
              </a:rPr>
              <a:t>｝，若选取的点为</a:t>
            </a:r>
            <a:r>
              <a:rPr lang="en-US" altLang="zh-CN" sz="1200" i="1" dirty="0" smtClean="0">
                <a:latin typeface="Times New Roman" panose="02020603050405020304" pitchFamily="18" charset="0"/>
                <a:cs typeface="Courier New" panose="02070309020205020404" pitchFamily="49" charset="0"/>
              </a:rPr>
              <a:t>C</a:t>
            </a:r>
            <a:r>
              <a:rPr lang="en-US" altLang="zh-CN" sz="1200" baseline="-30000" dirty="0" smtClean="0">
                <a:latin typeface="Times New Roman" panose="02020603050405020304" pitchFamily="18" charset="0"/>
                <a:cs typeface="Courier New" panose="02070309020205020404" pitchFamily="49" charset="0"/>
              </a:rPr>
              <a:t>2</a:t>
            </a:r>
            <a:r>
              <a:rPr lang="zh-CN" altLang="en-US" sz="1200" dirty="0" smtClean="0">
                <a:latin typeface="Times New Roman" panose="02020603050405020304" pitchFamily="18" charset="0"/>
                <a:cs typeface="Courier New" panose="02070309020205020404" pitchFamily="49" charset="0"/>
              </a:rPr>
              <a:t>，则</a:t>
            </a:r>
            <a:r>
              <a:rPr lang="en-US" altLang="zh-CN" sz="1200" i="1" dirty="0" smtClean="0">
                <a:latin typeface="Times New Roman" panose="02020603050405020304" pitchFamily="18" charset="0"/>
                <a:cs typeface="Courier New" panose="02070309020205020404" pitchFamily="49" charset="0"/>
              </a:rPr>
              <a:t>C</a:t>
            </a:r>
            <a:r>
              <a:rPr lang="en-US" altLang="zh-CN" sz="1200" baseline="-30000" dirty="0" smtClean="0">
                <a:latin typeface="Times New Roman" panose="02020603050405020304" pitchFamily="18" charset="0"/>
                <a:cs typeface="Courier New" panose="02070309020205020404" pitchFamily="49" charset="0"/>
              </a:rPr>
              <a:t>2</a:t>
            </a:r>
            <a:r>
              <a:rPr lang="zh-CN" altLang="en-US" sz="1200" dirty="0" smtClean="0">
                <a:latin typeface="Times New Roman" panose="02020603050405020304" pitchFamily="18" charset="0"/>
                <a:cs typeface="Courier New" panose="02070309020205020404" pitchFamily="49" charset="0"/>
              </a:rPr>
              <a:t>是状态</a:t>
            </a:r>
            <a:r>
              <a:rPr lang="en-US" altLang="zh-CN" sz="1200" i="1" dirty="0" smtClean="0">
                <a:latin typeface="Times New Roman" panose="02020603050405020304" pitchFamily="18" charset="0"/>
                <a:cs typeface="Courier New" panose="02070309020205020404" pitchFamily="49" charset="0"/>
              </a:rPr>
              <a:t>B</a:t>
            </a:r>
            <a:r>
              <a:rPr lang="en-US" altLang="zh-CN" sz="1200" baseline="-30000" dirty="0" smtClean="0">
                <a:latin typeface="Times New Roman" panose="02020603050405020304" pitchFamily="18" charset="0"/>
                <a:cs typeface="Courier New" panose="02070309020205020404" pitchFamily="49" charset="0"/>
              </a:rPr>
              <a:t>1</a:t>
            </a:r>
            <a:r>
              <a:rPr lang="zh-CN" altLang="en-US" sz="1200" dirty="0" smtClean="0">
                <a:latin typeface="Times New Roman" panose="02020603050405020304" pitchFamily="18" charset="0"/>
                <a:cs typeface="Courier New" panose="02070309020205020404" pitchFamily="49" charset="0"/>
              </a:rPr>
              <a:t>在决策</a:t>
            </a:r>
            <a:r>
              <a:rPr lang="en-US" altLang="zh-CN" sz="1200" i="1" dirty="0" smtClean="0">
                <a:latin typeface="Times New Roman" panose="02020603050405020304" pitchFamily="18" charset="0"/>
                <a:cs typeface="Courier New" panose="02070309020205020404" pitchFamily="49" charset="0"/>
              </a:rPr>
              <a:t>x</a:t>
            </a:r>
            <a:r>
              <a:rPr lang="en-US" altLang="zh-CN" sz="1200" baseline="-30000" dirty="0" smtClean="0">
                <a:latin typeface="Times New Roman" panose="02020603050405020304" pitchFamily="18" charset="0"/>
                <a:cs typeface="Courier New" panose="02070309020205020404" pitchFamily="49" charset="0"/>
              </a:rPr>
              <a:t>2</a:t>
            </a:r>
            <a:r>
              <a:rPr lang="en-US" altLang="zh-CN" sz="1200" dirty="0" smtClean="0">
                <a:latin typeface="Times New Roman" panose="02020603050405020304" pitchFamily="18" charset="0"/>
                <a:cs typeface="Courier New" panose="02070309020205020404" pitchFamily="49" charset="0"/>
              </a:rPr>
              <a:t>(</a:t>
            </a:r>
            <a:r>
              <a:rPr lang="en-US" altLang="zh-CN" sz="1200" i="1" dirty="0" smtClean="0">
                <a:latin typeface="Times New Roman" panose="02020603050405020304" pitchFamily="18" charset="0"/>
                <a:cs typeface="Courier New" panose="02070309020205020404" pitchFamily="49" charset="0"/>
              </a:rPr>
              <a:t>B</a:t>
            </a:r>
            <a:r>
              <a:rPr lang="en-US" altLang="zh-CN" sz="1200" baseline="-30000" dirty="0" smtClean="0">
                <a:latin typeface="Times New Roman" panose="02020603050405020304" pitchFamily="18" charset="0"/>
                <a:cs typeface="Courier New" panose="02070309020205020404" pitchFamily="49" charset="0"/>
              </a:rPr>
              <a:t>1</a:t>
            </a:r>
            <a:r>
              <a:rPr lang="en-US" altLang="zh-CN" sz="1200" dirty="0" smtClean="0">
                <a:latin typeface="Times New Roman" panose="02020603050405020304" pitchFamily="18" charset="0"/>
                <a:cs typeface="Courier New" panose="02070309020205020404" pitchFamily="49" charset="0"/>
              </a:rPr>
              <a:t>)</a:t>
            </a:r>
            <a:r>
              <a:rPr lang="zh-CN" altLang="en-US" sz="1200" dirty="0" smtClean="0">
                <a:latin typeface="Times New Roman" panose="02020603050405020304" pitchFamily="18" charset="0"/>
                <a:cs typeface="Courier New" panose="02070309020205020404" pitchFamily="49" charset="0"/>
              </a:rPr>
              <a:t>作用下的一个新状态，记作</a:t>
            </a:r>
            <a:r>
              <a:rPr lang="en-US" altLang="zh-CN" sz="1200" i="1" dirty="0" smtClean="0">
                <a:latin typeface="Times New Roman" panose="02020603050405020304" pitchFamily="18" charset="0"/>
                <a:cs typeface="Courier New" panose="02070309020205020404" pitchFamily="49" charset="0"/>
              </a:rPr>
              <a:t>x</a:t>
            </a:r>
            <a:r>
              <a:rPr lang="en-US" altLang="zh-CN" sz="1200" baseline="-30000" dirty="0" smtClean="0">
                <a:latin typeface="Times New Roman" panose="02020603050405020304" pitchFamily="18" charset="0"/>
                <a:cs typeface="Courier New" panose="02070309020205020404" pitchFamily="49" charset="0"/>
              </a:rPr>
              <a:t>2</a:t>
            </a:r>
            <a:r>
              <a:rPr lang="en-US" altLang="zh-CN" sz="1200" dirty="0" smtClean="0">
                <a:latin typeface="Times New Roman" panose="02020603050405020304" pitchFamily="18" charset="0"/>
                <a:cs typeface="Courier New" panose="02070309020205020404" pitchFamily="49" charset="0"/>
              </a:rPr>
              <a:t>(</a:t>
            </a:r>
            <a:r>
              <a:rPr lang="en-US" altLang="zh-CN" sz="1200" i="1" dirty="0" smtClean="0">
                <a:latin typeface="Times New Roman" panose="02020603050405020304" pitchFamily="18" charset="0"/>
                <a:cs typeface="Courier New" panose="02070309020205020404" pitchFamily="49" charset="0"/>
              </a:rPr>
              <a:t>B</a:t>
            </a:r>
            <a:r>
              <a:rPr lang="en-US" altLang="zh-CN" sz="1200" baseline="-30000" dirty="0" smtClean="0">
                <a:latin typeface="Times New Roman" panose="02020603050405020304" pitchFamily="18" charset="0"/>
                <a:cs typeface="Courier New" panose="02070309020205020404" pitchFamily="49" charset="0"/>
              </a:rPr>
              <a:t>1</a:t>
            </a:r>
            <a:r>
              <a:rPr lang="en-US" altLang="zh-CN" sz="1200" dirty="0" smtClean="0">
                <a:latin typeface="Times New Roman" panose="02020603050405020304" pitchFamily="18" charset="0"/>
                <a:cs typeface="Courier New" panose="02070309020205020404" pitchFamily="49" charset="0"/>
              </a:rPr>
              <a:t>)=</a:t>
            </a:r>
            <a:r>
              <a:rPr lang="en-US" altLang="zh-CN" sz="1200" i="1" dirty="0" smtClean="0">
                <a:latin typeface="Times New Roman" panose="02020603050405020304" pitchFamily="18" charset="0"/>
                <a:cs typeface="Courier New" panose="02070309020205020404" pitchFamily="49" charset="0"/>
              </a:rPr>
              <a:t>C</a:t>
            </a:r>
            <a:r>
              <a:rPr lang="en-US" altLang="zh-CN" sz="1200" baseline="-30000" dirty="0" smtClean="0">
                <a:latin typeface="Times New Roman" panose="02020603050405020304" pitchFamily="18" charset="0"/>
                <a:cs typeface="Courier New" panose="02070309020205020404" pitchFamily="49" charset="0"/>
              </a:rPr>
              <a:t>2</a:t>
            </a:r>
            <a:r>
              <a:rPr lang="zh-CN" altLang="en-US" sz="1200" dirty="0" smtClean="0">
                <a:latin typeface="Times New Roman" panose="02020603050405020304" pitchFamily="18" charset="0"/>
                <a:cs typeface="Courier New" panose="02070309020205020404" pitchFamily="49" charset="0"/>
              </a:rPr>
              <a:t>。</a:t>
            </a:r>
            <a:endParaRPr lang="en-US" altLang="zh-CN" sz="1200" dirty="0" smtClean="0"/>
          </a:p>
          <a:p>
            <a:endParaRPr lang="zh-CN" altLang="en-US" dirty="0"/>
          </a:p>
        </p:txBody>
      </p:sp>
      <p:sp>
        <p:nvSpPr>
          <p:cNvPr id="4" name="灯片编号占位符 3"/>
          <p:cNvSpPr>
            <a:spLocks noGrp="1"/>
          </p:cNvSpPr>
          <p:nvPr>
            <p:ph type="sldNum" sz="quarter" idx="5"/>
          </p:nvPr>
        </p:nvSpPr>
        <p:spPr/>
        <p:txBody>
          <a:bodyPr/>
          <a:lstStyle/>
          <a:p>
            <a:fld id="{9E5C5926-152F-40ED-B045-98BFEC4388C1}" type="slidenum">
              <a:rPr lang="en-US" altLang="zh-CN" smtClean="0"/>
              <a:pPr/>
              <a:t>5</a:t>
            </a:fld>
            <a:endParaRPr lang="en-US" altLang="zh-CN"/>
          </a:p>
        </p:txBody>
      </p:sp>
    </p:spTree>
    <p:extLst>
      <p:ext uri="{BB962C8B-B14F-4D97-AF65-F5344CB8AC3E}">
        <p14:creationId xmlns:p14="http://schemas.microsoft.com/office/powerpoint/2010/main" val="1950797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普塞</a:t>
            </a:r>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8</a:t>
            </a:fld>
            <a:endParaRPr lang="en-US" altLang="zh-CN"/>
          </a:p>
        </p:txBody>
      </p:sp>
    </p:spTree>
    <p:extLst>
      <p:ext uri="{BB962C8B-B14F-4D97-AF65-F5344CB8AC3E}">
        <p14:creationId xmlns:p14="http://schemas.microsoft.com/office/powerpoint/2010/main" val="157570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11</a:t>
            </a:fld>
            <a:endParaRPr lang="en-US" altLang="zh-CN"/>
          </a:p>
        </p:txBody>
      </p:sp>
    </p:spTree>
    <p:extLst>
      <p:ext uri="{BB962C8B-B14F-4D97-AF65-F5344CB8AC3E}">
        <p14:creationId xmlns:p14="http://schemas.microsoft.com/office/powerpoint/2010/main" val="3440562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14</a:t>
            </a:fld>
            <a:endParaRPr lang="en-US" altLang="zh-CN"/>
          </a:p>
        </p:txBody>
      </p:sp>
    </p:spTree>
    <p:extLst>
      <p:ext uri="{BB962C8B-B14F-4D97-AF65-F5344CB8AC3E}">
        <p14:creationId xmlns:p14="http://schemas.microsoft.com/office/powerpoint/2010/main" val="2357673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15</a:t>
            </a:fld>
            <a:endParaRPr lang="en-US" altLang="zh-CN"/>
          </a:p>
        </p:txBody>
      </p:sp>
    </p:spTree>
    <p:extLst>
      <p:ext uri="{BB962C8B-B14F-4D97-AF65-F5344CB8AC3E}">
        <p14:creationId xmlns:p14="http://schemas.microsoft.com/office/powerpoint/2010/main" val="3088629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16</a:t>
            </a:fld>
            <a:endParaRPr lang="en-US" altLang="zh-CN"/>
          </a:p>
        </p:txBody>
      </p:sp>
    </p:spTree>
    <p:extLst>
      <p:ext uri="{BB962C8B-B14F-4D97-AF65-F5344CB8AC3E}">
        <p14:creationId xmlns:p14="http://schemas.microsoft.com/office/powerpoint/2010/main" val="2709056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17</a:t>
            </a:fld>
            <a:endParaRPr lang="en-US" altLang="zh-CN"/>
          </a:p>
        </p:txBody>
      </p:sp>
    </p:spTree>
    <p:extLst>
      <p:ext uri="{BB962C8B-B14F-4D97-AF65-F5344CB8AC3E}">
        <p14:creationId xmlns:p14="http://schemas.microsoft.com/office/powerpoint/2010/main" val="31394133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18</a:t>
            </a:fld>
            <a:endParaRPr lang="en-US" altLang="zh-CN"/>
          </a:p>
        </p:txBody>
      </p:sp>
    </p:spTree>
    <p:extLst>
      <p:ext uri="{BB962C8B-B14F-4D97-AF65-F5344CB8AC3E}">
        <p14:creationId xmlns:p14="http://schemas.microsoft.com/office/powerpoint/2010/main" val="25081522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“作为整个过程的最优策略具有这样的性质：即无论过去的状态和决策如何，对前面的决策所形成的状态而言，余下的诸决策必须构成最优策略。”</a:t>
            </a:r>
            <a:endParaRPr lang="en-US" altLang="zh-CN" dirty="0" smtClean="0"/>
          </a:p>
          <a:p>
            <a:r>
              <a:rPr lang="zh-CN" altLang="en-US" dirty="0" smtClean="0"/>
              <a:t>动态规划规划的最优性原理描述如下：“作为整个过程的最优策略具有这样的性质：即无论过去的状态和决策如何，对前面的决策所形成的状态而言，余下的诸决策必须构成最优策略。”简言之，一个最优策略的子策略总是最优的 </a:t>
            </a:r>
          </a:p>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25</a:t>
            </a:fld>
            <a:endParaRPr lang="en-US" altLang="zh-CN"/>
          </a:p>
        </p:txBody>
      </p:sp>
    </p:spTree>
    <p:extLst>
      <p:ext uri="{BB962C8B-B14F-4D97-AF65-F5344CB8AC3E}">
        <p14:creationId xmlns:p14="http://schemas.microsoft.com/office/powerpoint/2010/main" val="14241770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dirty="0" smtClean="0"/>
              <a:t>对于某些静态规划问题，引入时间的因素，把它看作是按阶段进行的一个动态规划问题，这就使得动态规划成为求解一些简单的线性规划或非线性规划的有效方法。 。</a:t>
            </a:r>
          </a:p>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28</a:t>
            </a:fld>
            <a:endParaRPr lang="en-US" altLang="zh-CN"/>
          </a:p>
        </p:txBody>
      </p:sp>
    </p:spTree>
    <p:extLst>
      <p:ext uri="{BB962C8B-B14F-4D97-AF65-F5344CB8AC3E}">
        <p14:creationId xmlns:p14="http://schemas.microsoft.com/office/powerpoint/2010/main" val="959794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29</a:t>
            </a:fld>
            <a:endParaRPr lang="en-US" altLang="zh-CN"/>
          </a:p>
        </p:txBody>
      </p:sp>
    </p:spTree>
    <p:extLst>
      <p:ext uri="{BB962C8B-B14F-4D97-AF65-F5344CB8AC3E}">
        <p14:creationId xmlns:p14="http://schemas.microsoft.com/office/powerpoint/2010/main" val="3518634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30</a:t>
            </a:fld>
            <a:endParaRPr lang="en-US" altLang="zh-CN"/>
          </a:p>
        </p:txBody>
      </p:sp>
    </p:spTree>
    <p:extLst>
      <p:ext uri="{BB962C8B-B14F-4D97-AF65-F5344CB8AC3E}">
        <p14:creationId xmlns:p14="http://schemas.microsoft.com/office/powerpoint/2010/main" val="18022203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zh-CN" altLang="en-US" dirty="0" smtClean="0">
                <a:latin typeface="Times New Roman" panose="02020603050405020304" pitchFamily="18" charset="0"/>
                <a:cs typeface="Times New Roman" panose="02020603050405020304" pitchFamily="18" charset="0"/>
              </a:rPr>
              <a:t>已知终止状态</a:t>
            </a:r>
            <a:r>
              <a:rPr lang="en-US" altLang="zh-CN" i="1" dirty="0" smtClean="0">
                <a:latin typeface="Times New Roman" panose="02020603050405020304" pitchFamily="18" charset="0"/>
                <a:cs typeface="Times New Roman" panose="02020603050405020304" pitchFamily="18" charset="0"/>
              </a:rPr>
              <a:t>s</a:t>
            </a:r>
            <a:r>
              <a:rPr lang="en-US" altLang="zh-CN" i="1" baseline="-25000" dirty="0" smtClean="0">
                <a:latin typeface="Times New Roman" panose="02020603050405020304" pitchFamily="18" charset="0"/>
                <a:cs typeface="Times New Roman" panose="02020603050405020304" pitchFamily="18" charset="0"/>
              </a:rPr>
              <a:t>k</a:t>
            </a:r>
            <a:r>
              <a:rPr lang="en-US" altLang="zh-CN" baseline="-25000" dirty="0" smtClean="0">
                <a:latin typeface="Times New Roman" panose="02020603050405020304" pitchFamily="18" charset="0"/>
                <a:cs typeface="Times New Roman" panose="02020603050405020304" pitchFamily="18" charset="0"/>
              </a:rPr>
              <a:t>+1</a:t>
            </a:r>
            <a:r>
              <a:rPr lang="zh-CN" altLang="en-US" dirty="0" smtClean="0">
                <a:latin typeface="Times New Roman" panose="02020603050405020304" pitchFamily="18" charset="0"/>
                <a:cs typeface="Times New Roman" panose="02020603050405020304" pitchFamily="18" charset="0"/>
              </a:rPr>
              <a:t>用顺推解法与已知初始状态</a:t>
            </a:r>
            <a:r>
              <a:rPr lang="en-US" altLang="zh-CN" i="1" dirty="0" smtClean="0">
                <a:latin typeface="Times New Roman" panose="02020603050405020304" pitchFamily="18" charset="0"/>
                <a:cs typeface="Times New Roman" panose="02020603050405020304" pitchFamily="18" charset="0"/>
              </a:rPr>
              <a:t>s</a:t>
            </a:r>
            <a:r>
              <a:rPr lang="en-US" altLang="zh-CN" baseline="-25000" dirty="0" smtClean="0">
                <a:latin typeface="Times New Roman" panose="02020603050405020304" pitchFamily="18" charset="0"/>
                <a:cs typeface="Times New Roman" panose="02020603050405020304" pitchFamily="18" charset="0"/>
              </a:rPr>
              <a:t>1</a:t>
            </a:r>
            <a:r>
              <a:rPr lang="zh-CN" altLang="en-US" dirty="0" smtClean="0">
                <a:latin typeface="Times New Roman" panose="02020603050405020304" pitchFamily="18" charset="0"/>
                <a:cs typeface="Times New Roman" panose="02020603050405020304" pitchFamily="18" charset="0"/>
              </a:rPr>
              <a:t>用逆推解法在本质上没有区别，它相当于把实际的起点视为终点，实际的终点视为起点，而按逆推解法进行的。</a:t>
            </a:r>
            <a:endParaRPr lang="en-US" altLang="zh-CN" dirty="0" smtClean="0">
              <a:latin typeface="Times New Roman" panose="02020603050405020304" pitchFamily="18" charset="0"/>
              <a:cs typeface="Times New Roman" panose="02020603050405020304" pitchFamily="18" charset="0"/>
            </a:endParaRPr>
          </a:p>
          <a:p>
            <a:pPr lvl="1"/>
            <a:endParaRPr lang="en-US" altLang="zh-CN" dirty="0" smtClean="0">
              <a:latin typeface="Times New Roman" panose="02020603050405020304" pitchFamily="18" charset="0"/>
              <a:cs typeface="Times New Roman" panose="02020603050405020304" pitchFamily="18" charset="0"/>
            </a:endParaRPr>
          </a:p>
          <a:p>
            <a:pPr lvl="1"/>
            <a:r>
              <a:rPr lang="zh-CN" altLang="en-US" dirty="0" smtClean="0">
                <a:latin typeface="Times New Roman" panose="02020603050405020304" pitchFamily="18" charset="0"/>
                <a:cs typeface="Times New Roman" panose="02020603050405020304" pitchFamily="18" charset="0"/>
              </a:rPr>
              <a:t>换言之，只要把图</a:t>
            </a:r>
            <a:r>
              <a:rPr lang="en-US" altLang="zh-CN" dirty="0" smtClean="0">
                <a:latin typeface="Times New Roman" panose="02020603050405020304" pitchFamily="18" charset="0"/>
                <a:cs typeface="Times New Roman" panose="02020603050405020304" pitchFamily="18" charset="0"/>
              </a:rPr>
              <a:t>8-6</a:t>
            </a:r>
            <a:r>
              <a:rPr lang="zh-CN" altLang="en-US" dirty="0" smtClean="0">
                <a:latin typeface="Times New Roman" panose="02020603050405020304" pitchFamily="18" charset="0"/>
                <a:cs typeface="Times New Roman" panose="02020603050405020304" pitchFamily="18" charset="0"/>
              </a:rPr>
              <a:t>的箭头倒转过来即可，把输出</a:t>
            </a:r>
            <a:r>
              <a:rPr lang="en-US" altLang="zh-CN" i="1" dirty="0" smtClean="0">
                <a:latin typeface="Times New Roman" panose="02020603050405020304" pitchFamily="18" charset="0"/>
                <a:cs typeface="Times New Roman" panose="02020603050405020304" pitchFamily="18" charset="0"/>
              </a:rPr>
              <a:t>s</a:t>
            </a:r>
            <a:r>
              <a:rPr lang="en-US" altLang="zh-CN" i="1" baseline="-25000" dirty="0" smtClean="0">
                <a:latin typeface="Times New Roman" panose="02020603050405020304" pitchFamily="18" charset="0"/>
                <a:cs typeface="Times New Roman" panose="02020603050405020304" pitchFamily="18" charset="0"/>
              </a:rPr>
              <a:t>k</a:t>
            </a:r>
            <a:r>
              <a:rPr lang="en-US" altLang="zh-CN" baseline="-25000" dirty="0" smtClean="0">
                <a:latin typeface="Times New Roman" panose="02020603050405020304" pitchFamily="18" charset="0"/>
                <a:cs typeface="Times New Roman" panose="02020603050405020304" pitchFamily="18" charset="0"/>
              </a:rPr>
              <a:t>+1</a:t>
            </a:r>
            <a:r>
              <a:rPr lang="zh-CN" altLang="en-US" dirty="0" smtClean="0">
                <a:latin typeface="Times New Roman" panose="02020603050405020304" pitchFamily="18" charset="0"/>
                <a:cs typeface="Times New Roman" panose="02020603050405020304" pitchFamily="18" charset="0"/>
              </a:rPr>
              <a:t>看作输入，把输入</a:t>
            </a:r>
            <a:r>
              <a:rPr lang="en-US" altLang="zh-CN" i="1" dirty="0" err="1" smtClean="0">
                <a:latin typeface="Times New Roman" panose="02020603050405020304" pitchFamily="18" charset="0"/>
                <a:cs typeface="Times New Roman" panose="02020603050405020304" pitchFamily="18" charset="0"/>
              </a:rPr>
              <a:t>s</a:t>
            </a:r>
            <a:r>
              <a:rPr lang="en-US" altLang="zh-CN" i="1" baseline="-25000" dirty="0" err="1" smtClean="0">
                <a:latin typeface="Times New Roman" panose="02020603050405020304" pitchFamily="18" charset="0"/>
                <a:cs typeface="Times New Roman" panose="02020603050405020304" pitchFamily="18" charset="0"/>
              </a:rPr>
              <a:t>k</a:t>
            </a:r>
            <a:r>
              <a:rPr lang="zh-CN" altLang="en-US" dirty="0" smtClean="0">
                <a:latin typeface="Times New Roman" panose="02020603050405020304" pitchFamily="18" charset="0"/>
                <a:cs typeface="Times New Roman" panose="02020603050405020304" pitchFamily="18" charset="0"/>
              </a:rPr>
              <a:t>看作输出，这样便得到顺推解法。但应注意，这里是在上述状态变量和决策变量的记法不变的情况下考虑的。因而这时的状态变换是上面状态变换的逆变换，记为</a:t>
            </a:r>
          </a:p>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31</a:t>
            </a:fld>
            <a:endParaRPr lang="en-US" altLang="zh-CN"/>
          </a:p>
        </p:txBody>
      </p:sp>
    </p:spTree>
    <p:extLst>
      <p:ext uri="{BB962C8B-B14F-4D97-AF65-F5344CB8AC3E}">
        <p14:creationId xmlns:p14="http://schemas.microsoft.com/office/powerpoint/2010/main" val="27259114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latin typeface="Times New Roman" panose="02020603050405020304" pitchFamily="18" charset="0"/>
                <a:cs typeface="Times New Roman" panose="02020603050405020304" pitchFamily="18" charset="0"/>
              </a:rPr>
              <a:t>换言之，只要把图</a:t>
            </a:r>
            <a:r>
              <a:rPr lang="en-US" altLang="zh-CN" dirty="0" smtClean="0">
                <a:latin typeface="Times New Roman" panose="02020603050405020304" pitchFamily="18" charset="0"/>
                <a:cs typeface="Times New Roman" panose="02020603050405020304" pitchFamily="18" charset="0"/>
              </a:rPr>
              <a:t>8-6</a:t>
            </a:r>
            <a:r>
              <a:rPr lang="zh-CN" altLang="en-US" dirty="0" smtClean="0">
                <a:latin typeface="Times New Roman" panose="02020603050405020304" pitchFamily="18" charset="0"/>
                <a:cs typeface="Times New Roman" panose="02020603050405020304" pitchFamily="18" charset="0"/>
              </a:rPr>
              <a:t>的箭头倒转过来即可，把输出</a:t>
            </a:r>
            <a:r>
              <a:rPr lang="en-US" altLang="zh-CN" i="1" dirty="0" smtClean="0">
                <a:latin typeface="Times New Roman" panose="02020603050405020304" pitchFamily="18" charset="0"/>
                <a:cs typeface="Times New Roman" panose="02020603050405020304" pitchFamily="18" charset="0"/>
              </a:rPr>
              <a:t>s</a:t>
            </a:r>
            <a:r>
              <a:rPr lang="en-US" altLang="zh-CN" i="1" baseline="-25000" dirty="0" smtClean="0">
                <a:latin typeface="Times New Roman" panose="02020603050405020304" pitchFamily="18" charset="0"/>
                <a:cs typeface="Times New Roman" panose="02020603050405020304" pitchFamily="18" charset="0"/>
              </a:rPr>
              <a:t>k</a:t>
            </a:r>
            <a:r>
              <a:rPr lang="en-US" altLang="zh-CN" baseline="-25000" dirty="0" smtClean="0">
                <a:latin typeface="Times New Roman" panose="02020603050405020304" pitchFamily="18" charset="0"/>
                <a:cs typeface="Times New Roman" panose="02020603050405020304" pitchFamily="18" charset="0"/>
              </a:rPr>
              <a:t>+1</a:t>
            </a:r>
            <a:r>
              <a:rPr lang="zh-CN" altLang="en-US" dirty="0" smtClean="0">
                <a:latin typeface="Times New Roman" panose="02020603050405020304" pitchFamily="18" charset="0"/>
                <a:cs typeface="Times New Roman" panose="02020603050405020304" pitchFamily="18" charset="0"/>
              </a:rPr>
              <a:t>看作输入，把输入</a:t>
            </a:r>
            <a:r>
              <a:rPr lang="en-US" altLang="zh-CN" i="1" dirty="0" err="1" smtClean="0">
                <a:latin typeface="Times New Roman" panose="02020603050405020304" pitchFamily="18" charset="0"/>
                <a:cs typeface="Times New Roman" panose="02020603050405020304" pitchFamily="18" charset="0"/>
              </a:rPr>
              <a:t>s</a:t>
            </a:r>
            <a:r>
              <a:rPr lang="en-US" altLang="zh-CN" i="1" baseline="-25000" dirty="0" err="1" smtClean="0">
                <a:latin typeface="Times New Roman" panose="02020603050405020304" pitchFamily="18" charset="0"/>
                <a:cs typeface="Times New Roman" panose="02020603050405020304" pitchFamily="18" charset="0"/>
              </a:rPr>
              <a:t>k</a:t>
            </a:r>
            <a:r>
              <a:rPr lang="zh-CN" altLang="en-US" dirty="0" smtClean="0">
                <a:latin typeface="Times New Roman" panose="02020603050405020304" pitchFamily="18" charset="0"/>
                <a:cs typeface="Times New Roman" panose="02020603050405020304" pitchFamily="18" charset="0"/>
              </a:rPr>
              <a:t>看作输出，这样便得到顺推解法。但应注意，这里是在上述状态变量和决策变量的记法不变的情况下考虑的。因而这时的状态变换是上面状态变换的逆变换，记为</a:t>
            </a:r>
          </a:p>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32</a:t>
            </a:fld>
            <a:endParaRPr lang="en-US" altLang="zh-CN"/>
          </a:p>
        </p:txBody>
      </p:sp>
    </p:spTree>
    <p:extLst>
      <p:ext uri="{BB962C8B-B14F-4D97-AF65-F5344CB8AC3E}">
        <p14:creationId xmlns:p14="http://schemas.microsoft.com/office/powerpoint/2010/main" val="30501650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33</a:t>
            </a:fld>
            <a:endParaRPr lang="en-US" altLang="zh-CN"/>
          </a:p>
        </p:txBody>
      </p:sp>
    </p:spTree>
    <p:extLst>
      <p:ext uri="{BB962C8B-B14F-4D97-AF65-F5344CB8AC3E}">
        <p14:creationId xmlns:p14="http://schemas.microsoft.com/office/powerpoint/2010/main" val="3830422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34</a:t>
            </a:fld>
            <a:endParaRPr lang="en-US" altLang="zh-CN"/>
          </a:p>
        </p:txBody>
      </p:sp>
    </p:spTree>
    <p:extLst>
      <p:ext uri="{BB962C8B-B14F-4D97-AF65-F5344CB8AC3E}">
        <p14:creationId xmlns:p14="http://schemas.microsoft.com/office/powerpoint/2010/main" val="2050265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35</a:t>
            </a:fld>
            <a:endParaRPr lang="en-US" altLang="zh-CN"/>
          </a:p>
        </p:txBody>
      </p:sp>
    </p:spTree>
    <p:extLst>
      <p:ext uri="{BB962C8B-B14F-4D97-AF65-F5344CB8AC3E}">
        <p14:creationId xmlns:p14="http://schemas.microsoft.com/office/powerpoint/2010/main" val="30524690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36</a:t>
            </a:fld>
            <a:endParaRPr lang="en-US" altLang="zh-CN"/>
          </a:p>
        </p:txBody>
      </p:sp>
    </p:spTree>
    <p:extLst>
      <p:ext uri="{BB962C8B-B14F-4D97-AF65-F5344CB8AC3E}">
        <p14:creationId xmlns:p14="http://schemas.microsoft.com/office/powerpoint/2010/main" val="41881563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37</a:t>
            </a:fld>
            <a:endParaRPr lang="en-US" altLang="zh-CN"/>
          </a:p>
        </p:txBody>
      </p:sp>
    </p:spTree>
    <p:extLst>
      <p:ext uri="{BB962C8B-B14F-4D97-AF65-F5344CB8AC3E}">
        <p14:creationId xmlns:p14="http://schemas.microsoft.com/office/powerpoint/2010/main" val="32075529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54</a:t>
            </a:fld>
            <a:endParaRPr lang="en-US" altLang="zh-CN"/>
          </a:p>
        </p:txBody>
      </p:sp>
    </p:spTree>
    <p:extLst>
      <p:ext uri="{BB962C8B-B14F-4D97-AF65-F5344CB8AC3E}">
        <p14:creationId xmlns:p14="http://schemas.microsoft.com/office/powerpoint/2010/main" val="40165514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smtClean="0">
                <a:latin typeface="Times New Roman" panose="02020603050405020304" pitchFamily="18" charset="0"/>
                <a:cs typeface="Times New Roman" panose="02020603050405020304" pitchFamily="18" charset="0"/>
              </a:rPr>
              <a:t>从边界条件出发，利用递推关系式，对每个</a:t>
            </a:r>
            <a:r>
              <a:rPr lang="en-US" altLang="zh-CN" b="1" i="1" dirty="0"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计算出</a:t>
            </a:r>
            <a:r>
              <a:rPr lang="en-US" altLang="zh-CN" b="1" i="1" dirty="0" err="1" smtClean="0">
                <a:latin typeface="Times New Roman" panose="02020603050405020304" pitchFamily="18" charset="0"/>
                <a:cs typeface="Times New Roman" panose="02020603050405020304" pitchFamily="18" charset="0"/>
              </a:rPr>
              <a:t>f</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v</a:t>
            </a:r>
            <a:r>
              <a:rPr lang="en-US" altLang="zh-CN" b="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中的</a:t>
            </a:r>
            <a:r>
              <a:rPr lang="en-US" altLang="zh-CN" b="1" i="1" dirty="0" err="1" smtClean="0">
                <a:latin typeface="Times New Roman" panose="02020603050405020304" pitchFamily="18" charset="0"/>
                <a:cs typeface="Times New Roman" panose="02020603050405020304" pitchFamily="18" charset="0"/>
              </a:rPr>
              <a:t>v</a:t>
            </a:r>
            <a:r>
              <a:rPr lang="en-US" altLang="zh-CN" b="1" i="1" baseline="-25000" dirty="0" err="1"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在</a:t>
            </a:r>
            <a:r>
              <a:rPr lang="en-US" altLang="zh-CN" b="1" dirty="0" smtClean="0">
                <a:latin typeface="Times New Roman" panose="02020603050405020304" pitchFamily="18" charset="0"/>
                <a:cs typeface="Times New Roman" panose="02020603050405020304" pitchFamily="18" charset="0"/>
              </a:rPr>
              <a:t>0</a:t>
            </a:r>
            <a:r>
              <a:rPr lang="zh-CN" altLang="en-US" b="1" dirty="0" smtClean="0">
                <a:latin typeface="Times New Roman" panose="02020603050405020304" pitchFamily="18" charset="0"/>
                <a:cs typeface="Times New Roman" panose="02020603050405020304" pitchFamily="18" charset="0"/>
              </a:rPr>
              <a:t>至</a:t>
            </a:r>
            <a:r>
              <a:rPr lang="en-US" altLang="zh-CN" sz="1200" b="1" i="1" dirty="0" smtClean="0">
                <a:latin typeface="Times New Roman" panose="02020603050405020304" pitchFamily="18" charset="0"/>
                <a:cs typeface="Times New Roman" panose="02020603050405020304" pitchFamily="18" charset="0"/>
              </a:rPr>
              <a:t>min</a:t>
            </a:r>
            <a:r>
              <a:rPr lang="en-US" altLang="zh-CN" sz="1200" b="1" dirty="0" smtClean="0">
                <a:latin typeface="Times New Roman" panose="02020603050405020304" pitchFamily="18" charset="0"/>
                <a:cs typeface="Times New Roman" panose="02020603050405020304" pitchFamily="18" charset="0"/>
              </a:rPr>
              <a:t>{</a:t>
            </a:r>
            <a:r>
              <a:rPr lang="en-US" altLang="zh-CN" sz="1200" b="1" i="1" dirty="0" err="1" smtClean="0">
                <a:latin typeface="Times New Roman" panose="02020603050405020304" pitchFamily="18" charset="0"/>
                <a:cs typeface="Times New Roman" panose="02020603050405020304" pitchFamily="18" charset="0"/>
              </a:rPr>
              <a:t>d</a:t>
            </a:r>
            <a:r>
              <a:rPr lang="en-US" altLang="zh-CN" sz="1200" b="1" i="1" baseline="-25000" dirty="0" err="1" smtClean="0">
                <a:latin typeface="Times New Roman" panose="02020603050405020304" pitchFamily="18" charset="0"/>
                <a:cs typeface="Times New Roman" panose="02020603050405020304" pitchFamily="18" charset="0"/>
              </a:rPr>
              <a:t>k</a:t>
            </a:r>
            <a:r>
              <a:rPr lang="en-US" altLang="zh-CN" sz="1200" b="1" i="1" baseline="-25000" dirty="0" smtClean="0">
                <a:latin typeface="Times New Roman" panose="02020603050405020304" pitchFamily="18" charset="0"/>
                <a:cs typeface="Times New Roman" panose="02020603050405020304" pitchFamily="18" charset="0"/>
              </a:rPr>
              <a:t> </a:t>
            </a:r>
            <a:r>
              <a:rPr lang="en-US" altLang="zh-CN" sz="1200" b="1" dirty="0" smtClean="0">
                <a:latin typeface="Times New Roman" panose="02020603050405020304" pitchFamily="18" charset="0"/>
                <a:cs typeface="Times New Roman" panose="02020603050405020304" pitchFamily="18" charset="0"/>
              </a:rPr>
              <a:t>+</a:t>
            </a:r>
            <a:r>
              <a:rPr lang="en-US" altLang="zh-CN" sz="1200" b="1" i="1" dirty="0" smtClean="0">
                <a:latin typeface="Times New Roman" panose="02020603050405020304" pitchFamily="18" charset="0"/>
                <a:cs typeface="Times New Roman" panose="02020603050405020304" pitchFamily="18" charset="0"/>
              </a:rPr>
              <a:t> </a:t>
            </a:r>
            <a:r>
              <a:rPr lang="en-US" altLang="zh-CN" sz="1200" b="1" i="1" dirty="0" err="1" smtClean="0">
                <a:latin typeface="Times New Roman" panose="02020603050405020304" pitchFamily="18" charset="0"/>
                <a:cs typeface="Times New Roman" panose="02020603050405020304" pitchFamily="18" charset="0"/>
              </a:rPr>
              <a:t>d</a:t>
            </a:r>
            <a:r>
              <a:rPr lang="en-US" altLang="zh-CN" sz="1200" b="1" i="1" baseline="-25000" dirty="0" err="1" smtClean="0">
                <a:latin typeface="Times New Roman" panose="02020603050405020304" pitchFamily="18" charset="0"/>
                <a:cs typeface="Times New Roman" panose="02020603050405020304" pitchFamily="18" charset="0"/>
              </a:rPr>
              <a:t>k</a:t>
            </a:r>
            <a:r>
              <a:rPr lang="en-US" altLang="zh-CN" sz="1200" b="1" i="1" baseline="-25000" dirty="0" smtClean="0">
                <a:latin typeface="Times New Roman" panose="02020603050405020304" pitchFamily="18" charset="0"/>
                <a:cs typeface="Times New Roman" panose="02020603050405020304" pitchFamily="18" charset="0"/>
              </a:rPr>
              <a:t> +1</a:t>
            </a:r>
            <a:r>
              <a:rPr lang="en-US" altLang="zh-CN" sz="1200" b="1" dirty="0" smtClean="0">
                <a:latin typeface="Times New Roman" panose="02020603050405020304" pitchFamily="18" charset="0"/>
                <a:cs typeface="Times New Roman" panose="02020603050405020304" pitchFamily="18" charset="0"/>
              </a:rPr>
              <a:t>+…+</a:t>
            </a:r>
            <a:r>
              <a:rPr lang="en-US" altLang="zh-CN" sz="1200" b="1" i="1" dirty="0" smtClean="0">
                <a:latin typeface="Times New Roman" panose="02020603050405020304" pitchFamily="18" charset="0"/>
                <a:cs typeface="Times New Roman" panose="02020603050405020304" pitchFamily="18" charset="0"/>
              </a:rPr>
              <a:t> </a:t>
            </a:r>
            <a:r>
              <a:rPr lang="en-US" altLang="zh-CN" sz="1200" b="1" i="1" dirty="0" err="1" smtClean="0">
                <a:latin typeface="Times New Roman" panose="02020603050405020304" pitchFamily="18" charset="0"/>
                <a:cs typeface="Times New Roman" panose="02020603050405020304" pitchFamily="18" charset="0"/>
              </a:rPr>
              <a:t>d</a:t>
            </a:r>
            <a:r>
              <a:rPr lang="en-US" altLang="zh-CN" sz="1200" b="1" i="1" baseline="-25000" dirty="0" err="1" smtClean="0">
                <a:latin typeface="Times New Roman" panose="02020603050405020304" pitchFamily="18" charset="0"/>
                <a:cs typeface="Times New Roman" panose="02020603050405020304" pitchFamily="18" charset="0"/>
              </a:rPr>
              <a:t>n</a:t>
            </a:r>
            <a:r>
              <a:rPr lang="en-US" altLang="zh-CN" sz="1200" b="1" dirty="0" smtClean="0">
                <a:latin typeface="Times New Roman" panose="02020603050405020304" pitchFamily="18" charset="0"/>
                <a:cs typeface="Times New Roman" panose="02020603050405020304" pitchFamily="18" charset="0"/>
              </a:rPr>
              <a:t>,</a:t>
            </a:r>
            <a:r>
              <a:rPr lang="en-US" altLang="zh-CN" sz="1200" b="1" i="1" dirty="0" smtClean="0">
                <a:latin typeface="Times New Roman" panose="02020603050405020304" pitchFamily="18" charset="0"/>
                <a:cs typeface="Times New Roman" panose="02020603050405020304" pitchFamily="18" charset="0"/>
              </a:rPr>
              <a:t> m</a:t>
            </a:r>
            <a:r>
              <a:rPr lang="en-US" altLang="zh-CN" sz="1200" b="1" dirty="0" smtClean="0">
                <a:latin typeface="Times New Roman" panose="02020603050405020304" pitchFamily="18" charset="0"/>
                <a:cs typeface="Times New Roman" panose="02020603050405020304" pitchFamily="18" charset="0"/>
              </a:rPr>
              <a:t> –</a:t>
            </a:r>
            <a:r>
              <a:rPr lang="en-US" altLang="zh-CN" sz="1200" b="1" i="1" dirty="0" smtClean="0">
                <a:latin typeface="Times New Roman" panose="02020603050405020304" pitchFamily="18" charset="0"/>
                <a:cs typeface="Times New Roman" panose="02020603050405020304" pitchFamily="18" charset="0"/>
              </a:rPr>
              <a:t> </a:t>
            </a:r>
            <a:r>
              <a:rPr lang="en-US" altLang="zh-CN" sz="1200" b="1" i="1" dirty="0" err="1" smtClean="0">
                <a:latin typeface="Times New Roman" panose="02020603050405020304" pitchFamily="18" charset="0"/>
                <a:cs typeface="Times New Roman" panose="02020603050405020304" pitchFamily="18" charset="0"/>
              </a:rPr>
              <a:t>d</a:t>
            </a:r>
            <a:r>
              <a:rPr lang="en-US" altLang="zh-CN" sz="1200" b="1" i="1" baseline="-25000" dirty="0" err="1" smtClean="0">
                <a:latin typeface="Times New Roman" panose="02020603050405020304" pitchFamily="18" charset="0"/>
                <a:cs typeface="Times New Roman" panose="02020603050405020304" pitchFamily="18" charset="0"/>
              </a:rPr>
              <a:t>k</a:t>
            </a:r>
            <a:r>
              <a:rPr lang="en-US" altLang="zh-CN" sz="1200"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之间的值，最后求得的</a:t>
            </a:r>
            <a:r>
              <a:rPr lang="en-US" altLang="zh-CN" b="1" i="1" dirty="0" err="1" smtClean="0">
                <a:latin typeface="Times New Roman" panose="02020603050405020304" pitchFamily="18" charset="0"/>
                <a:cs typeface="Times New Roman" panose="02020603050405020304" pitchFamily="18" charset="0"/>
              </a:rPr>
              <a:t>f</a:t>
            </a:r>
            <a:r>
              <a:rPr lang="en-US" altLang="zh-CN" b="1" i="1" baseline="-25000" dirty="0" err="1" smtClean="0">
                <a:latin typeface="Times New Roman" panose="02020603050405020304" pitchFamily="18" charset="0"/>
                <a:cs typeface="Times New Roman" panose="02020603050405020304" pitchFamily="18" charset="0"/>
              </a:rPr>
              <a:t>n</a:t>
            </a:r>
            <a:r>
              <a:rPr lang="en-US" altLang="zh-CN" b="1" dirty="0" smtClean="0">
                <a:latin typeface="Times New Roman" panose="02020603050405020304" pitchFamily="18" charset="0"/>
                <a:cs typeface="Times New Roman" panose="02020603050405020304" pitchFamily="18" charset="0"/>
              </a:rPr>
              <a:t>(0)</a:t>
            </a:r>
            <a:r>
              <a:rPr lang="zh-CN" altLang="en-US" b="1" dirty="0" smtClean="0">
                <a:latin typeface="Times New Roman" panose="02020603050405020304" pitchFamily="18" charset="0"/>
                <a:cs typeface="Times New Roman" panose="02020603050405020304" pitchFamily="18" charset="0"/>
              </a:rPr>
              <a:t>即为所求的最小总费用。</a:t>
            </a:r>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b="1" dirty="0" smtClean="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55</a:t>
            </a:fld>
            <a:endParaRPr lang="en-US" altLang="zh-CN"/>
          </a:p>
        </p:txBody>
      </p:sp>
    </p:spTree>
    <p:extLst>
      <p:ext uri="{BB962C8B-B14F-4D97-AF65-F5344CB8AC3E}">
        <p14:creationId xmlns:p14="http://schemas.microsoft.com/office/powerpoint/2010/main" val="36002846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smtClean="0">
                    <a:latin typeface="Times New Roman" panose="02020603050405020304" pitchFamily="18" charset="0"/>
                    <a:cs typeface="Times New Roman" panose="02020603050405020304" pitchFamily="18" charset="0"/>
                  </a:rPr>
                  <a:t>其中“</a:t>
                </a:r>
                <a:r>
                  <a:rPr lang="en-US" altLang="zh-CN" b="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是</a:t>
                </a:r>
                <a:r>
                  <a:rPr lang="en-US" altLang="zh-CN" b="1" dirty="0" smtClean="0">
                    <a:latin typeface="Times New Roman" panose="02020603050405020304" pitchFamily="18" charset="0"/>
                    <a:cs typeface="Times New Roman" panose="02020603050405020304" pitchFamily="18" charset="0"/>
                  </a:rPr>
                  <a:t>Keep</a:t>
                </a:r>
                <a:r>
                  <a:rPr lang="zh-CN" altLang="en-US" b="1" dirty="0" smtClean="0">
                    <a:latin typeface="Times New Roman" panose="02020603050405020304" pitchFamily="18" charset="0"/>
                    <a:cs typeface="Times New Roman" panose="02020603050405020304" pitchFamily="18" charset="0"/>
                  </a:rPr>
                  <a:t>的缩写，表示保留使用；“</a:t>
                </a:r>
                <a:r>
                  <a:rPr lang="en-US" altLang="zh-CN" b="1" dirty="0" smtClean="0">
                    <a:latin typeface="Times New Roman" panose="02020603050405020304" pitchFamily="18" charset="0"/>
                    <a:cs typeface="Times New Roman" panose="02020603050405020304" pitchFamily="18" charset="0"/>
                  </a:rPr>
                  <a:t>R”</a:t>
                </a:r>
                <a:r>
                  <a:rPr lang="zh-CN" altLang="en-US" b="1" dirty="0" smtClean="0">
                    <a:latin typeface="Times New Roman" panose="02020603050405020304" pitchFamily="18" charset="0"/>
                    <a:cs typeface="Times New Roman" panose="02020603050405020304" pitchFamily="18" charset="0"/>
                  </a:rPr>
                  <a:t>是</a:t>
                </a:r>
                <a:r>
                  <a:rPr lang="en-US" altLang="zh-CN" b="1" dirty="0" smtClean="0">
                    <a:latin typeface="Times New Roman" panose="02020603050405020304" pitchFamily="18" charset="0"/>
                    <a:cs typeface="Times New Roman" panose="02020603050405020304" pitchFamily="18" charset="0"/>
                  </a:rPr>
                  <a:t>Replacement</a:t>
                </a:r>
                <a:r>
                  <a:rPr lang="zh-CN" altLang="en-US" b="1" dirty="0" smtClean="0">
                    <a:latin typeface="Times New Roman" panose="02020603050405020304" pitchFamily="18" charset="0"/>
                    <a:cs typeface="Times New Roman" panose="02020603050405020304" pitchFamily="18" charset="0"/>
                  </a:rPr>
                  <a:t>的缩写，表示更新机器。</a:t>
                </a: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smtClean="0">
                    <a:latin typeface="Times New Roman" panose="02020603050405020304" pitchFamily="18" charset="0"/>
                    <a:cs typeface="Times New Roman" panose="02020603050405020304" pitchFamily="18" charset="0"/>
                  </a:rPr>
                  <a:t>由于研究的是今后</a:t>
                </a:r>
                <a:r>
                  <a:rPr lang="en-US" altLang="zh-CN" b="1" i="1" dirty="0" smtClean="0">
                    <a:latin typeface="Times New Roman" panose="02020603050405020304" pitchFamily="18" charset="0"/>
                    <a:cs typeface="Times New Roman" panose="02020603050405020304" pitchFamily="18" charset="0"/>
                  </a:rPr>
                  <a:t>n</a:t>
                </a:r>
                <a:r>
                  <a:rPr lang="zh-CN" altLang="en-US" b="1" dirty="0" smtClean="0">
                    <a:latin typeface="Times New Roman" panose="02020603050405020304" pitchFamily="18" charset="0"/>
                    <a:cs typeface="Times New Roman" panose="02020603050405020304" pitchFamily="18" charset="0"/>
                  </a:rPr>
                  <a:t>年的计划，故还要求</a:t>
                </a:r>
                <a14:m>
                  <m:oMath xmlns:m="http://schemas.openxmlformats.org/officeDocument/2006/math">
                    <m:r>
                      <m:rPr>
                        <m:nor/>
                      </m:rPr>
                      <a:rPr lang="en-US" altLang="zh-CN" sz="1200" b="1" i="1" dirty="0" smtClean="0">
                        <a:latin typeface="Times New Roman" panose="02020603050405020304" pitchFamily="18" charset="0"/>
                        <a:cs typeface="Times New Roman" panose="02020603050405020304" pitchFamily="18" charset="0"/>
                      </a:rPr>
                      <m:t>f</m:t>
                    </m:r>
                    <m:r>
                      <m:rPr>
                        <m:nor/>
                      </m:rPr>
                      <a:rPr lang="en-US" altLang="zh-CN" sz="1200" b="1" i="1" baseline="-25000" dirty="0" smtClean="0">
                        <a:latin typeface="Times New Roman" panose="02020603050405020304" pitchFamily="18" charset="0"/>
                        <a:cs typeface="Times New Roman" panose="02020603050405020304" pitchFamily="18" charset="0"/>
                      </a:rPr>
                      <m:t>n</m:t>
                    </m:r>
                    <m:r>
                      <m:rPr>
                        <m:nor/>
                      </m:rPr>
                      <a:rPr lang="en-US" altLang="zh-CN" sz="1200" b="1" i="1" baseline="-25000" dirty="0" smtClean="0">
                        <a:latin typeface="Times New Roman" panose="02020603050405020304" pitchFamily="18" charset="0"/>
                        <a:cs typeface="Times New Roman" panose="02020603050405020304" pitchFamily="18" charset="0"/>
                      </a:rPr>
                      <m:t>+1</m:t>
                    </m:r>
                    <m:r>
                      <m:rPr>
                        <m:nor/>
                      </m:rPr>
                      <a:rPr lang="en-US" altLang="zh-CN" sz="1200" b="1" dirty="0" smtClean="0">
                        <a:latin typeface="Times New Roman" panose="02020603050405020304" pitchFamily="18" charset="0"/>
                        <a:cs typeface="Times New Roman" panose="02020603050405020304" pitchFamily="18" charset="0"/>
                      </a:rPr>
                      <m:t>(</m:t>
                    </m:r>
                    <m:r>
                      <m:rPr>
                        <m:nor/>
                      </m:rPr>
                      <a:rPr lang="en-US" altLang="zh-CN" sz="1200" b="1" i="1" dirty="0" smtClean="0">
                        <a:latin typeface="Times New Roman" panose="02020603050405020304" pitchFamily="18" charset="0"/>
                        <a:cs typeface="Times New Roman" panose="02020603050405020304" pitchFamily="18" charset="0"/>
                      </a:rPr>
                      <m:t>s</m:t>
                    </m:r>
                    <m:r>
                      <m:rPr>
                        <m:nor/>
                      </m:rPr>
                      <a:rPr lang="en-US" altLang="zh-CN" sz="1200" b="1" i="0" baseline="-25000" dirty="0" smtClean="0">
                        <a:latin typeface="Times New Roman" panose="02020603050405020304" pitchFamily="18" charset="0"/>
                        <a:cs typeface="Times New Roman" panose="02020603050405020304" pitchFamily="18" charset="0"/>
                      </a:rPr>
                      <m:t>k</m:t>
                    </m:r>
                    <m:r>
                      <m:rPr>
                        <m:nor/>
                      </m:rPr>
                      <a:rPr lang="en-US" altLang="zh-CN" sz="1200" b="1" dirty="0" smtClean="0">
                        <a:latin typeface="Times New Roman" panose="02020603050405020304" pitchFamily="18" charset="0"/>
                        <a:cs typeface="Times New Roman" panose="02020603050405020304" pitchFamily="18" charset="0"/>
                      </a:rPr>
                      <m:t>)</m:t>
                    </m:r>
                    <m:r>
                      <a:rPr lang="en-US" altLang="zh-CN" sz="1200" b="1" i="1" dirty="0">
                        <a:latin typeface="Cambria Math" panose="02040503050406030204" pitchFamily="18" charset="0"/>
                        <a:cs typeface="Times New Roman" panose="02020603050405020304" pitchFamily="18" charset="0"/>
                      </a:rPr>
                      <m:t>=</m:t>
                    </m:r>
                    <m:r>
                      <a:rPr lang="en-US" altLang="zh-CN" sz="1200" b="1" i="1" dirty="0">
                        <a:latin typeface="Cambria Math" panose="02040503050406030204" pitchFamily="18" charset="0"/>
                        <a:cs typeface="Times New Roman" panose="02020603050405020304" pitchFamily="18" charset="0"/>
                      </a:rPr>
                      <m:t>𝟎</m:t>
                    </m:r>
                    <m:r>
                      <a:rPr lang="en-US" altLang="zh-CN" sz="1200" b="1" i="1" dirty="0">
                        <a:latin typeface="Cambria Math" panose="02040503050406030204" pitchFamily="18" charset="0"/>
                        <a:cs typeface="Times New Roman" panose="02020603050405020304" pitchFamily="18" charset="0"/>
                      </a:rPr>
                      <m:t> </m:t>
                    </m:r>
                  </m:oMath>
                </a14:m>
                <a:endParaRPr lang="zh-CN" altLang="en-US" b="1" dirty="0" smtClean="0">
                  <a:latin typeface="Times New Roman" panose="02020603050405020304" pitchFamily="18" charset="0"/>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smtClean="0">
                    <a:latin typeface="Times New Roman" panose="02020603050405020304" pitchFamily="18" charset="0"/>
                    <a:cs typeface="Times New Roman" panose="02020603050405020304" pitchFamily="18" charset="0"/>
                  </a:rPr>
                  <a:t>其中“</a:t>
                </a:r>
                <a:r>
                  <a:rPr lang="en-US" altLang="zh-CN" b="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是</a:t>
                </a:r>
                <a:r>
                  <a:rPr lang="en-US" altLang="zh-CN" b="1" dirty="0" smtClean="0">
                    <a:latin typeface="Times New Roman" panose="02020603050405020304" pitchFamily="18" charset="0"/>
                    <a:cs typeface="Times New Roman" panose="02020603050405020304" pitchFamily="18" charset="0"/>
                  </a:rPr>
                  <a:t>Keep</a:t>
                </a:r>
                <a:r>
                  <a:rPr lang="zh-CN" altLang="en-US" b="1" dirty="0" smtClean="0">
                    <a:latin typeface="Times New Roman" panose="02020603050405020304" pitchFamily="18" charset="0"/>
                    <a:cs typeface="Times New Roman" panose="02020603050405020304" pitchFamily="18" charset="0"/>
                  </a:rPr>
                  <a:t>的缩写，表示保留使用；“</a:t>
                </a:r>
                <a:r>
                  <a:rPr lang="en-US" altLang="zh-CN" b="1" dirty="0" smtClean="0">
                    <a:latin typeface="Times New Roman" panose="02020603050405020304" pitchFamily="18" charset="0"/>
                    <a:cs typeface="Times New Roman" panose="02020603050405020304" pitchFamily="18" charset="0"/>
                  </a:rPr>
                  <a:t>R”</a:t>
                </a:r>
                <a:r>
                  <a:rPr lang="zh-CN" altLang="en-US" b="1" dirty="0" smtClean="0">
                    <a:latin typeface="Times New Roman" panose="02020603050405020304" pitchFamily="18" charset="0"/>
                    <a:cs typeface="Times New Roman" panose="02020603050405020304" pitchFamily="18" charset="0"/>
                  </a:rPr>
                  <a:t>是</a:t>
                </a:r>
                <a:r>
                  <a:rPr lang="en-US" altLang="zh-CN" b="1" dirty="0" smtClean="0">
                    <a:latin typeface="Times New Roman" panose="02020603050405020304" pitchFamily="18" charset="0"/>
                    <a:cs typeface="Times New Roman" panose="02020603050405020304" pitchFamily="18" charset="0"/>
                  </a:rPr>
                  <a:t>Replacement</a:t>
                </a:r>
                <a:r>
                  <a:rPr lang="zh-CN" altLang="en-US" b="1" dirty="0" smtClean="0">
                    <a:latin typeface="Times New Roman" panose="02020603050405020304" pitchFamily="18" charset="0"/>
                    <a:cs typeface="Times New Roman" panose="02020603050405020304" pitchFamily="18" charset="0"/>
                  </a:rPr>
                  <a:t>的缩写，表示更新机器。</a:t>
                </a: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smtClean="0">
                    <a:latin typeface="Times New Roman" panose="02020603050405020304" pitchFamily="18" charset="0"/>
                    <a:cs typeface="Times New Roman" panose="02020603050405020304" pitchFamily="18" charset="0"/>
                  </a:rPr>
                  <a:t>由于研究的是今后</a:t>
                </a:r>
                <a:r>
                  <a:rPr lang="en-US" altLang="zh-CN" b="1" i="1" dirty="0" smtClean="0">
                    <a:latin typeface="Times New Roman" panose="02020603050405020304" pitchFamily="18" charset="0"/>
                    <a:cs typeface="Times New Roman" panose="02020603050405020304" pitchFamily="18" charset="0"/>
                  </a:rPr>
                  <a:t>n</a:t>
                </a:r>
                <a:r>
                  <a:rPr lang="zh-CN" altLang="en-US" b="1" dirty="0" smtClean="0">
                    <a:latin typeface="Times New Roman" panose="02020603050405020304" pitchFamily="18" charset="0"/>
                    <a:cs typeface="Times New Roman" panose="02020603050405020304" pitchFamily="18" charset="0"/>
                  </a:rPr>
                  <a:t>年的计划，故还要求</a:t>
                </a:r>
                <a:r>
                  <a:rPr lang="en-US" altLang="zh-CN" sz="1200" b="1" i="0" dirty="0" smtClean="0">
                    <a:latin typeface="Cambria Math" panose="02040503050406030204" pitchFamily="18" charset="0"/>
                    <a:cs typeface="Times New Roman" panose="02020603050405020304" pitchFamily="18" charset="0"/>
                  </a:rPr>
                  <a:t>"f</a:t>
                </a:r>
                <a:r>
                  <a:rPr lang="en-US" altLang="zh-CN" sz="1200" b="1" i="0" baseline="-25000" dirty="0" smtClean="0">
                    <a:latin typeface="Cambria Math" panose="02040503050406030204" pitchFamily="18" charset="0"/>
                    <a:cs typeface="Times New Roman" panose="02020603050405020304" pitchFamily="18" charset="0"/>
                  </a:rPr>
                  <a:t>n+1</a:t>
                </a:r>
                <a:r>
                  <a:rPr lang="en-US" altLang="zh-CN" sz="1200" b="1" i="0" dirty="0" smtClean="0">
                    <a:latin typeface="Cambria Math" panose="02040503050406030204" pitchFamily="18" charset="0"/>
                    <a:cs typeface="Times New Roman" panose="02020603050405020304" pitchFamily="18" charset="0"/>
                  </a:rPr>
                  <a:t>(s</a:t>
                </a:r>
                <a:r>
                  <a:rPr lang="en-US" altLang="zh-CN" sz="1200" b="1" i="0" baseline="-25000" dirty="0" smtClean="0">
                    <a:latin typeface="Cambria Math" panose="02040503050406030204" pitchFamily="18" charset="0"/>
                    <a:cs typeface="Times New Roman" panose="02020603050405020304" pitchFamily="18" charset="0"/>
                  </a:rPr>
                  <a:t>k</a:t>
                </a:r>
                <a:r>
                  <a:rPr lang="en-US" altLang="zh-CN" sz="1200" b="1" i="0" dirty="0" smtClean="0">
                    <a:latin typeface="Cambria Math" panose="02040503050406030204" pitchFamily="18" charset="0"/>
                    <a:cs typeface="Times New Roman" panose="02020603050405020304" pitchFamily="18" charset="0"/>
                  </a:rPr>
                  <a:t>)</a:t>
                </a:r>
                <a:r>
                  <a:rPr lang="en-US" altLang="zh-CN" sz="1200" b="1" i="0" dirty="0">
                    <a:latin typeface="Cambria Math" panose="02040503050406030204" pitchFamily="18" charset="0"/>
                    <a:cs typeface="Times New Roman" panose="02020603050405020304" pitchFamily="18" charset="0"/>
                  </a:rPr>
                  <a:t>"</a:t>
                </a:r>
                <a:r>
                  <a:rPr lang="en-US" altLang="zh-CN" sz="1200" b="1" i="0" dirty="0">
                    <a:latin typeface="Cambria Math" panose="02040503050406030204" pitchFamily="18" charset="0"/>
                    <a:cs typeface="Times New Roman" panose="02020603050405020304" pitchFamily="18" charset="0"/>
                  </a:rPr>
                  <a:t>=𝟎 </a:t>
                </a:r>
                <a:endParaRPr lang="zh-CN" altLang="en-US" b="1" dirty="0" smtClean="0">
                  <a:latin typeface="Times New Roman" panose="02020603050405020304" pitchFamily="18" charset="0"/>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9E5C5926-152F-40ED-B045-98BFEC4388C1}" type="slidenum">
              <a:rPr lang="en-US" altLang="zh-CN" smtClean="0"/>
              <a:pPr/>
              <a:t>71</a:t>
            </a:fld>
            <a:endParaRPr lang="en-US" altLang="zh-CN"/>
          </a:p>
        </p:txBody>
      </p:sp>
    </p:spTree>
    <p:extLst>
      <p:ext uri="{BB962C8B-B14F-4D97-AF65-F5344CB8AC3E}">
        <p14:creationId xmlns:p14="http://schemas.microsoft.com/office/powerpoint/2010/main" val="21003159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i,S</a:t>
            </a:r>
            <a:r>
              <a:rPr lang="en-US" altLang="zh-CN" b="1" dirty="0" smtClean="0">
                <a:latin typeface="Times New Roman" panose="02020603050405020304" pitchFamily="18" charset="0"/>
                <a:cs typeface="Times New Roman" panose="02020603050405020304" pitchFamily="18" charset="0"/>
              </a:rPr>
              <a:t>)</a:t>
            </a:r>
          </a:p>
          <a:p>
            <a:r>
              <a:rPr lang="en-US" altLang="zh-CN" dirty="0" err="1" smtClean="0"/>
              <a:t>i</a:t>
            </a:r>
            <a:r>
              <a:rPr lang="zh-CN" altLang="en-US" dirty="0" smtClean="0"/>
              <a:t>指的是第</a:t>
            </a:r>
            <a:r>
              <a:rPr lang="en-US" altLang="zh-CN" dirty="0" smtClean="0"/>
              <a:t>k</a:t>
            </a:r>
            <a:r>
              <a:rPr lang="zh-CN" altLang="en-US" dirty="0" smtClean="0"/>
              <a:t>阶段的所在城市，也就是所谓的“终点”；</a:t>
            </a:r>
            <a:r>
              <a:rPr lang="en-US" altLang="zh-CN" dirty="0" smtClean="0"/>
              <a:t>S</a:t>
            </a:r>
            <a:r>
              <a:rPr lang="zh-CN" altLang="en-US" dirty="0" smtClean="0"/>
              <a:t>指的是除了</a:t>
            </a:r>
            <a:r>
              <a:rPr lang="en-US" altLang="zh-CN" dirty="0" err="1" smtClean="0"/>
              <a:t>i</a:t>
            </a:r>
            <a:r>
              <a:rPr lang="zh-CN" altLang="en-US" dirty="0" smtClean="0"/>
              <a:t>城以外还经历过的城市，一共有</a:t>
            </a:r>
            <a:r>
              <a:rPr lang="en-US" altLang="zh-CN" dirty="0" smtClean="0"/>
              <a:t>k-1</a:t>
            </a:r>
            <a:r>
              <a:rPr lang="zh-CN" altLang="en-US" dirty="0" smtClean="0"/>
              <a:t>个（加上</a:t>
            </a:r>
            <a:r>
              <a:rPr lang="en-US" altLang="zh-CN" dirty="0" err="1" smtClean="0"/>
              <a:t>i</a:t>
            </a:r>
            <a:r>
              <a:rPr lang="zh-CN" altLang="en-US" dirty="0" smtClean="0"/>
              <a:t>城一共</a:t>
            </a:r>
            <a:r>
              <a:rPr lang="en-US" altLang="zh-CN" dirty="0" smtClean="0"/>
              <a:t>k</a:t>
            </a:r>
            <a:r>
              <a:rPr lang="zh-CN" altLang="en-US" dirty="0" smtClean="0"/>
              <a:t>个） 作者：江景页</a:t>
            </a:r>
            <a:r>
              <a:rPr lang="en-US" altLang="zh-CN" dirty="0" smtClean="0"/>
              <a:t>jy333 https://www.bilibili.com/read/cv6365462/ </a:t>
            </a:r>
            <a:r>
              <a:rPr lang="zh-CN" altLang="en-US" dirty="0" smtClean="0"/>
              <a:t>出处：</a:t>
            </a:r>
            <a:r>
              <a:rPr lang="en-US" altLang="zh-CN" dirty="0" err="1" smtClean="0"/>
              <a:t>bilibili</a:t>
            </a:r>
            <a:endParaRPr lang="zh-CN" altLang="en-US" dirty="0"/>
          </a:p>
        </p:txBody>
      </p:sp>
      <p:sp>
        <p:nvSpPr>
          <p:cNvPr id="4" name="灯片编号占位符 3"/>
          <p:cNvSpPr>
            <a:spLocks noGrp="1"/>
          </p:cNvSpPr>
          <p:nvPr>
            <p:ph type="sldNum" sz="quarter" idx="10"/>
          </p:nvPr>
        </p:nvSpPr>
        <p:spPr/>
        <p:txBody>
          <a:bodyPr/>
          <a:lstStyle/>
          <a:p>
            <a:fld id="{9E5C5926-152F-40ED-B045-98BFEC4388C1}" type="slidenum">
              <a:rPr lang="en-US" altLang="zh-CN" smtClean="0"/>
              <a:pPr/>
              <a:t>79</a:t>
            </a:fld>
            <a:endParaRPr lang="en-US" altLang="zh-CN"/>
          </a:p>
        </p:txBody>
      </p:sp>
    </p:spTree>
    <p:extLst>
      <p:ext uri="{BB962C8B-B14F-4D97-AF65-F5344CB8AC3E}">
        <p14:creationId xmlns:p14="http://schemas.microsoft.com/office/powerpoint/2010/main" val="2330911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11266" name="Rectangle 2"/>
          <p:cNvSpPr>
            <a:spLocks noGrp="1" noChangeArrowheads="1"/>
          </p:cNvSpPr>
          <p:nvPr>
            <p:ph type="subTitle" idx="1"/>
          </p:nvPr>
        </p:nvSpPr>
        <p:spPr>
          <a:xfrm>
            <a:off x="1258888" y="2781300"/>
            <a:ext cx="5638800" cy="1831975"/>
          </a:xfrm>
        </p:spPr>
        <p:txBody>
          <a:bodyPr/>
          <a:lstStyle>
            <a:lvl1pPr marL="0" indent="0">
              <a:buFont typeface="Wingdings" panose="05000000000000000000" pitchFamily="2" charset="2"/>
              <a:buChar char="n"/>
              <a:defRPr/>
            </a:lvl1pPr>
          </a:lstStyle>
          <a:p>
            <a:pPr lvl="0"/>
            <a:r>
              <a:rPr lang="zh-CN" altLang="en-US" noProof="0"/>
              <a:t>单击此处编辑母版副标题样式</a:t>
            </a:r>
          </a:p>
        </p:txBody>
      </p:sp>
      <p:sp>
        <p:nvSpPr>
          <p:cNvPr id="7" name="Rectangle 3"/>
          <p:cNvSpPr>
            <a:spLocks noGrp="1" noChangeArrowheads="1"/>
          </p:cNvSpPr>
          <p:nvPr>
            <p:ph type="dt" sz="half" idx="10"/>
          </p:nvPr>
        </p:nvSpPr>
        <p:spPr>
          <a:xfrm>
            <a:off x="685800" y="6248400"/>
            <a:ext cx="1905000" cy="457200"/>
          </a:xfrm>
          <a:prstGeom prst="rect">
            <a:avLst/>
          </a:prstGeom>
        </p:spPr>
        <p:txBody>
          <a:bodyPr/>
          <a:lstStyle>
            <a:lvl1pPr>
              <a:defRPr/>
            </a:lvl1pPr>
          </a:lstStyle>
          <a:p>
            <a:pPr>
              <a:defRPr/>
            </a:pPr>
            <a:endParaRPr lang="en-US" altLang="zh-CN"/>
          </a:p>
        </p:txBody>
      </p:sp>
      <p:sp>
        <p:nvSpPr>
          <p:cNvPr id="9" name="Rectangle 5"/>
          <p:cNvSpPr>
            <a:spLocks noGrp="1" noChangeArrowheads="1"/>
          </p:cNvSpPr>
          <p:nvPr>
            <p:ph type="sldNum" sz="quarter" idx="12"/>
          </p:nvPr>
        </p:nvSpPr>
        <p:spPr>
          <a:xfrm>
            <a:off x="6553200" y="6248400"/>
            <a:ext cx="1905000" cy="457200"/>
          </a:xfrm>
        </p:spPr>
        <p:txBody>
          <a:bodyPr/>
          <a:lstStyle>
            <a:lvl1pPr>
              <a:defRPr/>
            </a:lvl1pPr>
          </a:lstStyle>
          <a:p>
            <a:fld id="{0CD966E1-0814-4963-9BBF-CC24EDE085C0}" type="slidenum">
              <a:rPr lang="en-US" altLang="zh-CN"/>
              <a:pPr/>
              <a:t>‹#›</a:t>
            </a:fld>
            <a:endParaRPr lang="en-US" altLang="zh-CN"/>
          </a:p>
        </p:txBody>
      </p:sp>
    </p:spTree>
    <p:extLst>
      <p:ext uri="{BB962C8B-B14F-4D97-AF65-F5344CB8AC3E}">
        <p14:creationId xmlns:p14="http://schemas.microsoft.com/office/powerpoint/2010/main" val="3341590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hasCustomPrompt="1"/>
          </p:nvPr>
        </p:nvSpPr>
        <p:spPr/>
        <p:txBody>
          <a:bodyPr/>
          <a:lstStyle/>
          <a:p>
            <a:pPr lvl="0"/>
            <a:r>
              <a:rPr lang="zh-CN" altLang="en-US" dirty="0"/>
              <a:t>单击此处编辑母版文本样式</a:t>
            </a:r>
          </a:p>
          <a:p>
            <a:pPr lvl="1"/>
            <a:r>
              <a:rPr lang="zh-CN" altLang="en-US" dirty="0"/>
              <a:t>二级</a:t>
            </a:r>
          </a:p>
          <a:p>
            <a:pPr lvl="2"/>
            <a:r>
              <a:rPr lang="zh-CN" altLang="en-US" dirty="0"/>
              <a:t>三级</a:t>
            </a:r>
          </a:p>
        </p:txBody>
      </p:sp>
      <p:sp>
        <p:nvSpPr>
          <p:cNvPr id="6" name="Rectangle 8"/>
          <p:cNvSpPr>
            <a:spLocks noGrp="1" noChangeArrowheads="1"/>
          </p:cNvSpPr>
          <p:nvPr>
            <p:ph type="sldNum" sz="quarter" idx="12"/>
          </p:nvPr>
        </p:nvSpPr>
        <p:spPr>
          <a:ln/>
        </p:spPr>
        <p:txBody>
          <a:bodyPr/>
          <a:lstStyle>
            <a:lvl1pPr>
              <a:defRPr/>
            </a:lvl1pPr>
          </a:lstStyle>
          <a:p>
            <a:fld id="{D6B2FC51-1DE3-4359-9B39-6CC27C545D80}" type="slidenum">
              <a:rPr lang="en-US" altLang="zh-CN"/>
              <a:pPr/>
              <a:t>‹#›</a:t>
            </a:fld>
            <a:endParaRPr lang="en-US" altLang="zh-CN"/>
          </a:p>
        </p:txBody>
      </p:sp>
    </p:spTree>
    <p:extLst>
      <p:ext uri="{BB962C8B-B14F-4D97-AF65-F5344CB8AC3E}">
        <p14:creationId xmlns:p14="http://schemas.microsoft.com/office/powerpoint/2010/main" val="1187926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1359222"/>
          </a:xfrm>
        </p:spPr>
        <p:txBody>
          <a:bodyPr/>
          <a:lstStyle>
            <a:lvl1pPr>
              <a:defRPr sz="4800"/>
            </a:lvl1pPr>
          </a:lstStyle>
          <a:p>
            <a:r>
              <a:rPr lang="zh-CN" altLang="en-US" dirty="0"/>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dirty="0"/>
              <a:t>单击此处编辑母版文本样式</a:t>
            </a:r>
          </a:p>
        </p:txBody>
      </p:sp>
      <p:sp>
        <p:nvSpPr>
          <p:cNvPr id="6" name="Rectangle 8"/>
          <p:cNvSpPr>
            <a:spLocks noGrp="1" noChangeArrowheads="1"/>
          </p:cNvSpPr>
          <p:nvPr>
            <p:ph type="sldNum" sz="quarter" idx="12"/>
          </p:nvPr>
        </p:nvSpPr>
        <p:spPr>
          <a:ln/>
        </p:spPr>
        <p:txBody>
          <a:bodyPr/>
          <a:lstStyle>
            <a:lvl1pPr>
              <a:defRPr/>
            </a:lvl1pPr>
          </a:lstStyle>
          <a:p>
            <a:fld id="{18A5D767-4ADC-4B3A-9906-C3D8903A5309}" type="slidenum">
              <a:rPr lang="en-US" altLang="zh-CN"/>
              <a:pPr/>
              <a:t>‹#›</a:t>
            </a:fld>
            <a:endParaRPr lang="en-US" altLang="zh-CN"/>
          </a:p>
        </p:txBody>
      </p:sp>
    </p:spTree>
    <p:extLst>
      <p:ext uri="{BB962C8B-B14F-4D97-AF65-F5344CB8AC3E}">
        <p14:creationId xmlns:p14="http://schemas.microsoft.com/office/powerpoint/2010/main" val="3753329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464343" y="1292035"/>
            <a:ext cx="4089252" cy="1848934"/>
          </a:xfrm>
        </p:spPr>
        <p:txBody>
          <a:bodyPr/>
          <a:lstStyle/>
          <a:p>
            <a:pPr lvl="0"/>
            <a:r>
              <a:rPr lang="zh-CN" altLang="en-US" dirty="0"/>
              <a:t>单击此处编辑母版文本样式</a:t>
            </a:r>
          </a:p>
          <a:p>
            <a:pPr lvl="1"/>
            <a:r>
              <a:rPr lang="zh-CN" altLang="en-US" dirty="0"/>
              <a:t>二级</a:t>
            </a:r>
          </a:p>
          <a:p>
            <a:pPr lvl="2"/>
            <a:r>
              <a:rPr lang="zh-CN" altLang="en-US" dirty="0"/>
              <a:t>三级</a:t>
            </a:r>
          </a:p>
        </p:txBody>
      </p:sp>
      <p:sp>
        <p:nvSpPr>
          <p:cNvPr id="4" name="内容占位符 3"/>
          <p:cNvSpPr>
            <a:spLocks noGrp="1"/>
          </p:cNvSpPr>
          <p:nvPr>
            <p:ph sz="half" idx="2" hasCustomPrompt="1"/>
          </p:nvPr>
        </p:nvSpPr>
        <p:spPr>
          <a:xfrm>
            <a:off x="4659213" y="1292035"/>
            <a:ext cx="4089251" cy="1848934"/>
          </a:xfrm>
        </p:spPr>
        <p:txBody>
          <a:bodyPr/>
          <a:lstStyle/>
          <a:p>
            <a:pPr lvl="0"/>
            <a:r>
              <a:rPr lang="zh-CN" altLang="en-US" dirty="0"/>
              <a:t>单击此处编辑母版文本样式</a:t>
            </a:r>
          </a:p>
          <a:p>
            <a:pPr lvl="1"/>
            <a:r>
              <a:rPr lang="zh-CN" altLang="en-US" dirty="0"/>
              <a:t>二级</a:t>
            </a:r>
          </a:p>
          <a:p>
            <a:pPr lvl="2"/>
            <a:r>
              <a:rPr lang="zh-CN" altLang="en-US" dirty="0"/>
              <a:t>三级</a:t>
            </a:r>
          </a:p>
        </p:txBody>
      </p:sp>
      <p:sp>
        <p:nvSpPr>
          <p:cNvPr id="7" name="Rectangle 8"/>
          <p:cNvSpPr>
            <a:spLocks noGrp="1" noChangeArrowheads="1"/>
          </p:cNvSpPr>
          <p:nvPr>
            <p:ph type="sldNum" sz="quarter" idx="12"/>
          </p:nvPr>
        </p:nvSpPr>
        <p:spPr>
          <a:ln/>
        </p:spPr>
        <p:txBody>
          <a:bodyPr/>
          <a:lstStyle>
            <a:lvl1pPr>
              <a:defRPr/>
            </a:lvl1pPr>
          </a:lstStyle>
          <a:p>
            <a:fld id="{09D23FB2-1C82-4504-AEFC-63391FC9A4FA}" type="slidenum">
              <a:rPr lang="en-US" altLang="zh-CN"/>
              <a:pPr/>
              <a:t>‹#›</a:t>
            </a:fld>
            <a:endParaRPr lang="en-US" altLang="zh-CN"/>
          </a:p>
        </p:txBody>
      </p:sp>
    </p:spTree>
    <p:extLst>
      <p:ext uri="{BB962C8B-B14F-4D97-AF65-F5344CB8AC3E}">
        <p14:creationId xmlns:p14="http://schemas.microsoft.com/office/powerpoint/2010/main" val="2191278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043608" y="365125"/>
            <a:ext cx="7473330" cy="615603"/>
          </a:xfrm>
        </p:spPr>
        <p:txBody>
          <a:bodyPr/>
          <a:lstStyle/>
          <a:p>
            <a:r>
              <a:rPr lang="zh-CN" altLang="en-US" dirty="0"/>
              <a:t>单击此处编辑母版标题样式</a:t>
            </a:r>
          </a:p>
        </p:txBody>
      </p:sp>
      <p:sp>
        <p:nvSpPr>
          <p:cNvPr id="4" name="内容占位符 3"/>
          <p:cNvSpPr>
            <a:spLocks noGrp="1"/>
          </p:cNvSpPr>
          <p:nvPr>
            <p:ph sz="half" idx="2" hasCustomPrompt="1"/>
          </p:nvPr>
        </p:nvSpPr>
        <p:spPr>
          <a:xfrm>
            <a:off x="665379" y="1268760"/>
            <a:ext cx="3868737" cy="1569660"/>
          </a:xfrm>
        </p:spPr>
        <p:txBody>
          <a:bodyPr/>
          <a:lstStyle/>
          <a:p>
            <a:pPr lvl="0"/>
            <a:r>
              <a:rPr lang="zh-CN" altLang="en-US" dirty="0"/>
              <a:t>单击此处编辑母版文本样式</a:t>
            </a:r>
          </a:p>
          <a:p>
            <a:pPr lvl="1"/>
            <a:r>
              <a:rPr lang="zh-CN" altLang="en-US" dirty="0"/>
              <a:t>二级</a:t>
            </a:r>
          </a:p>
          <a:p>
            <a:pPr lvl="2"/>
            <a:r>
              <a:rPr lang="zh-CN" altLang="en-US" dirty="0"/>
              <a:t>三级</a:t>
            </a:r>
          </a:p>
        </p:txBody>
      </p:sp>
      <p:sp>
        <p:nvSpPr>
          <p:cNvPr id="6" name="内容占位符 5"/>
          <p:cNvSpPr>
            <a:spLocks noGrp="1"/>
          </p:cNvSpPr>
          <p:nvPr>
            <p:ph sz="quarter" idx="4" hasCustomPrompt="1"/>
          </p:nvPr>
        </p:nvSpPr>
        <p:spPr>
          <a:xfrm>
            <a:off x="4664291" y="1268760"/>
            <a:ext cx="3887788" cy="1569660"/>
          </a:xfrm>
        </p:spPr>
        <p:txBody>
          <a:bodyPr/>
          <a:lstStyle/>
          <a:p>
            <a:pPr lvl="0"/>
            <a:r>
              <a:rPr lang="zh-CN" altLang="en-US" dirty="0"/>
              <a:t>单击此处编辑母版文本样式</a:t>
            </a:r>
          </a:p>
          <a:p>
            <a:pPr lvl="1"/>
            <a:r>
              <a:rPr lang="zh-CN" altLang="en-US" dirty="0"/>
              <a:t>二级</a:t>
            </a:r>
          </a:p>
          <a:p>
            <a:pPr lvl="2"/>
            <a:r>
              <a:rPr lang="zh-CN" altLang="en-US" dirty="0"/>
              <a:t>三级</a:t>
            </a:r>
          </a:p>
        </p:txBody>
      </p:sp>
      <p:sp>
        <p:nvSpPr>
          <p:cNvPr id="9" name="Rectangle 8"/>
          <p:cNvSpPr>
            <a:spLocks noGrp="1" noChangeArrowheads="1"/>
          </p:cNvSpPr>
          <p:nvPr>
            <p:ph type="sldNum" sz="quarter" idx="12"/>
          </p:nvPr>
        </p:nvSpPr>
        <p:spPr>
          <a:ln/>
        </p:spPr>
        <p:txBody>
          <a:bodyPr/>
          <a:lstStyle>
            <a:lvl1pPr>
              <a:defRPr/>
            </a:lvl1pPr>
          </a:lstStyle>
          <a:p>
            <a:fld id="{0D0CC410-BF7E-47C6-9B82-4DFC50DC49D8}" type="slidenum">
              <a:rPr lang="en-US" altLang="zh-CN"/>
              <a:pPr/>
              <a:t>‹#›</a:t>
            </a:fld>
            <a:endParaRPr lang="en-US" altLang="zh-CN"/>
          </a:p>
        </p:txBody>
      </p:sp>
    </p:spTree>
    <p:extLst>
      <p:ext uri="{BB962C8B-B14F-4D97-AF65-F5344CB8AC3E}">
        <p14:creationId xmlns:p14="http://schemas.microsoft.com/office/powerpoint/2010/main" val="22939456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Rectangle 8"/>
          <p:cNvSpPr>
            <a:spLocks noGrp="1" noChangeArrowheads="1"/>
          </p:cNvSpPr>
          <p:nvPr>
            <p:ph type="sldNum" sz="quarter" idx="12"/>
          </p:nvPr>
        </p:nvSpPr>
        <p:spPr>
          <a:ln/>
        </p:spPr>
        <p:txBody>
          <a:bodyPr/>
          <a:lstStyle>
            <a:lvl1pPr>
              <a:defRPr/>
            </a:lvl1pPr>
          </a:lstStyle>
          <a:p>
            <a:fld id="{6CD01967-5060-41D4-B7DA-F594483C40BB}" type="slidenum">
              <a:rPr lang="en-US" altLang="zh-CN"/>
              <a:pPr/>
              <a:t>‹#›</a:t>
            </a:fld>
            <a:endParaRPr lang="en-US" altLang="zh-CN"/>
          </a:p>
        </p:txBody>
      </p:sp>
    </p:spTree>
    <p:extLst>
      <p:ext uri="{BB962C8B-B14F-4D97-AF65-F5344CB8AC3E}">
        <p14:creationId xmlns:p14="http://schemas.microsoft.com/office/powerpoint/2010/main" val="2479164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Rectangle 8"/>
          <p:cNvSpPr>
            <a:spLocks noGrp="1" noChangeArrowheads="1"/>
          </p:cNvSpPr>
          <p:nvPr>
            <p:ph type="sldNum" sz="quarter" idx="12"/>
          </p:nvPr>
        </p:nvSpPr>
        <p:spPr>
          <a:ln/>
        </p:spPr>
        <p:txBody>
          <a:bodyPr/>
          <a:lstStyle>
            <a:lvl1pPr>
              <a:defRPr/>
            </a:lvl1pPr>
          </a:lstStyle>
          <a:p>
            <a:fld id="{25F62453-F60A-4058-8761-770782EE9012}" type="slidenum">
              <a:rPr lang="en-US" altLang="zh-CN"/>
              <a:pPr/>
              <a:t>‹#›</a:t>
            </a:fld>
            <a:endParaRPr lang="en-US" altLang="zh-CN"/>
          </a:p>
        </p:txBody>
      </p:sp>
    </p:spTree>
    <p:extLst>
      <p:ext uri="{BB962C8B-B14F-4D97-AF65-F5344CB8AC3E}">
        <p14:creationId xmlns:p14="http://schemas.microsoft.com/office/powerpoint/2010/main" val="2828256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259632" y="457200"/>
            <a:ext cx="7257306" cy="530225"/>
          </a:xfrm>
        </p:spPr>
        <p:txBody>
          <a:bodyPr/>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995936" y="1268760"/>
            <a:ext cx="4629150" cy="1421928"/>
          </a:xfrm>
        </p:spPr>
        <p:txBody>
          <a:bodyPr/>
          <a:lstStyle>
            <a:lvl1pPr>
              <a:defRPr sz="24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二级</a:t>
            </a:r>
          </a:p>
          <a:p>
            <a:pPr lvl="2"/>
            <a:r>
              <a:rPr lang="zh-CN" altLang="en-US" dirty="0"/>
              <a:t>三级</a:t>
            </a:r>
          </a:p>
        </p:txBody>
      </p:sp>
      <p:sp>
        <p:nvSpPr>
          <p:cNvPr id="4" name="文本占位符 3"/>
          <p:cNvSpPr>
            <a:spLocks noGrp="1"/>
          </p:cNvSpPr>
          <p:nvPr>
            <p:ph type="body" sz="half" idx="2"/>
          </p:nvPr>
        </p:nvSpPr>
        <p:spPr>
          <a:xfrm>
            <a:off x="467544" y="1268760"/>
            <a:ext cx="3384376" cy="707886"/>
          </a:xfrm>
        </p:spPr>
        <p:txBody>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7" name="Rectangle 8"/>
          <p:cNvSpPr>
            <a:spLocks noGrp="1" noChangeArrowheads="1"/>
          </p:cNvSpPr>
          <p:nvPr>
            <p:ph type="sldNum" sz="quarter" idx="12"/>
          </p:nvPr>
        </p:nvSpPr>
        <p:spPr>
          <a:ln/>
        </p:spPr>
        <p:txBody>
          <a:bodyPr/>
          <a:lstStyle>
            <a:lvl1pPr>
              <a:defRPr/>
            </a:lvl1pPr>
          </a:lstStyle>
          <a:p>
            <a:fld id="{573870DC-C525-495B-A711-0CB64BA3E8A5}" type="slidenum">
              <a:rPr lang="en-US" altLang="zh-CN"/>
              <a:pPr/>
              <a:t>‹#›</a:t>
            </a:fld>
            <a:endParaRPr lang="en-US" altLang="zh-CN"/>
          </a:p>
        </p:txBody>
      </p:sp>
    </p:spTree>
    <p:extLst>
      <p:ext uri="{BB962C8B-B14F-4D97-AF65-F5344CB8AC3E}">
        <p14:creationId xmlns:p14="http://schemas.microsoft.com/office/powerpoint/2010/main" val="283422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187624" y="382361"/>
            <a:ext cx="6912768" cy="588282"/>
          </a:xfrm>
        </p:spPr>
        <p:txBody>
          <a:bodyPr/>
          <a:lstStyle>
            <a:lvl1pPr>
              <a:defRPr sz="3200"/>
            </a:lvl1pPr>
          </a:lstStyle>
          <a:p>
            <a:r>
              <a:rPr lang="zh-CN" altLang="en-US" dirty="0"/>
              <a:t>单击此处编辑母版标题样式</a:t>
            </a:r>
          </a:p>
        </p:txBody>
      </p:sp>
      <p:sp>
        <p:nvSpPr>
          <p:cNvPr id="3" name="图片占位符 2"/>
          <p:cNvSpPr>
            <a:spLocks noGrp="1"/>
          </p:cNvSpPr>
          <p:nvPr>
            <p:ph type="pic" idx="1"/>
          </p:nvPr>
        </p:nvSpPr>
        <p:spPr>
          <a:xfrm>
            <a:off x="4211960" y="1268760"/>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dirty="0"/>
          </a:p>
        </p:txBody>
      </p:sp>
      <p:sp>
        <p:nvSpPr>
          <p:cNvPr id="4" name="文本占位符 3"/>
          <p:cNvSpPr>
            <a:spLocks noGrp="1"/>
          </p:cNvSpPr>
          <p:nvPr>
            <p:ph type="body" sz="half" idx="2"/>
          </p:nvPr>
        </p:nvSpPr>
        <p:spPr>
          <a:xfrm>
            <a:off x="323528" y="1268760"/>
            <a:ext cx="3672408" cy="400110"/>
          </a:xfrm>
        </p:spPr>
        <p:txBody>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7" name="Rectangle 8"/>
          <p:cNvSpPr>
            <a:spLocks noGrp="1" noChangeArrowheads="1"/>
          </p:cNvSpPr>
          <p:nvPr>
            <p:ph type="sldNum" sz="quarter" idx="12"/>
          </p:nvPr>
        </p:nvSpPr>
        <p:spPr>
          <a:ln/>
        </p:spPr>
        <p:txBody>
          <a:bodyPr/>
          <a:lstStyle>
            <a:lvl1pPr>
              <a:defRPr/>
            </a:lvl1pPr>
          </a:lstStyle>
          <a:p>
            <a:fld id="{EFBCC2DC-A2FF-4DDE-B33F-16F236824E18}" type="slidenum">
              <a:rPr lang="en-US" altLang="zh-CN"/>
              <a:pPr/>
              <a:t>‹#›</a:t>
            </a:fld>
            <a:endParaRPr lang="en-US" altLang="zh-CN"/>
          </a:p>
        </p:txBody>
      </p:sp>
    </p:spTree>
    <p:extLst>
      <p:ext uri="{BB962C8B-B14F-4D97-AF65-F5344CB8AC3E}">
        <p14:creationId xmlns:p14="http://schemas.microsoft.com/office/powerpoint/2010/main" val="407499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899592" y="1196752"/>
            <a:ext cx="7139250" cy="1200329"/>
          </a:xfrm>
        </p:spPr>
        <p:txBody>
          <a:bodyPr vert="eaVert"/>
          <a:lstStyle/>
          <a:p>
            <a:pPr lvl="0"/>
            <a:r>
              <a:rPr lang="zh-CN" altLang="en-US" dirty="0"/>
              <a:t>单击此处编辑母版文本样式</a:t>
            </a:r>
          </a:p>
          <a:p>
            <a:pPr lvl="1"/>
            <a:r>
              <a:rPr lang="zh-CN" altLang="en-US" dirty="0"/>
              <a:t>二级</a:t>
            </a:r>
          </a:p>
          <a:p>
            <a:pPr lvl="2"/>
            <a:r>
              <a:rPr lang="zh-CN" altLang="en-US" dirty="0"/>
              <a:t>三级</a:t>
            </a:r>
          </a:p>
        </p:txBody>
      </p:sp>
      <p:sp>
        <p:nvSpPr>
          <p:cNvPr id="6" name="Rectangle 8"/>
          <p:cNvSpPr>
            <a:spLocks noGrp="1" noChangeArrowheads="1"/>
          </p:cNvSpPr>
          <p:nvPr>
            <p:ph type="sldNum" sz="quarter" idx="12"/>
          </p:nvPr>
        </p:nvSpPr>
        <p:spPr>
          <a:ln/>
        </p:spPr>
        <p:txBody>
          <a:bodyPr/>
          <a:lstStyle>
            <a:lvl1pPr>
              <a:defRPr/>
            </a:lvl1pPr>
          </a:lstStyle>
          <a:p>
            <a:fld id="{65C7EAAE-B443-4E9C-9E06-028F6E4B1EA9}" type="slidenum">
              <a:rPr lang="en-US" altLang="zh-CN"/>
              <a:pPr/>
              <a:t>‹#›</a:t>
            </a:fld>
            <a:endParaRPr lang="en-US" altLang="zh-CN"/>
          </a:p>
        </p:txBody>
      </p:sp>
    </p:spTree>
    <p:extLst>
      <p:ext uri="{BB962C8B-B14F-4D97-AF65-F5344CB8AC3E}">
        <p14:creationId xmlns:p14="http://schemas.microsoft.com/office/powerpoint/2010/main" val="1232626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7963" y="0"/>
            <a:ext cx="2052637" cy="4241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95288" y="0"/>
            <a:ext cx="6010275" cy="42418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6"/>
          <p:cNvSpPr>
            <a:spLocks noGrp="1" noChangeArrowheads="1"/>
          </p:cNvSpPr>
          <p:nvPr>
            <p:ph type="dt" sz="half" idx="10"/>
          </p:nvPr>
        </p:nvSpPr>
        <p:spPr>
          <a:xfrm>
            <a:off x="946150" y="6248400"/>
            <a:ext cx="1905000" cy="457200"/>
          </a:xfrm>
          <a:prstGeom prst="rect">
            <a:avLst/>
          </a:prstGeom>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xfrm>
            <a:off x="3352800" y="6381750"/>
            <a:ext cx="2895600" cy="323850"/>
          </a:xfrm>
          <a:prstGeom prst="rect">
            <a:avLst/>
          </a:prstGeom>
          <a:ln/>
        </p:spPr>
        <p:txBody>
          <a:bodyPr/>
          <a:lstStyle>
            <a:lvl1pPr>
              <a:defRPr/>
            </a:lvl1pPr>
          </a:lstStyle>
          <a:p>
            <a:pPr>
              <a:defRPr/>
            </a:pPr>
            <a:r>
              <a:rPr lang="en-US" altLang="zh-CN"/>
              <a:t>清华大学出版社</a:t>
            </a:r>
          </a:p>
        </p:txBody>
      </p:sp>
      <p:sp>
        <p:nvSpPr>
          <p:cNvPr id="6" name="Rectangle 8"/>
          <p:cNvSpPr>
            <a:spLocks noGrp="1" noChangeArrowheads="1"/>
          </p:cNvSpPr>
          <p:nvPr>
            <p:ph type="sldNum" sz="quarter" idx="12"/>
          </p:nvPr>
        </p:nvSpPr>
        <p:spPr>
          <a:ln/>
        </p:spPr>
        <p:txBody>
          <a:bodyPr/>
          <a:lstStyle>
            <a:lvl1pPr>
              <a:defRPr/>
            </a:lvl1pPr>
          </a:lstStyle>
          <a:p>
            <a:fld id="{C82F14FB-D1A9-4734-A959-28004498E9F4}" type="slidenum">
              <a:rPr lang="en-US" altLang="zh-CN"/>
              <a:pPr/>
              <a:t>‹#›</a:t>
            </a:fld>
            <a:endParaRPr lang="en-US" altLang="zh-CN"/>
          </a:p>
        </p:txBody>
      </p:sp>
    </p:spTree>
    <p:extLst>
      <p:ext uri="{BB962C8B-B14F-4D97-AF65-F5344CB8AC3E}">
        <p14:creationId xmlns:p14="http://schemas.microsoft.com/office/powerpoint/2010/main" val="2920777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8" name="Rectangle 4"/>
          <p:cNvSpPr>
            <a:spLocks noGrp="1" noChangeArrowheads="1"/>
          </p:cNvSpPr>
          <p:nvPr>
            <p:ph type="title"/>
          </p:nvPr>
        </p:nvSpPr>
        <p:spPr bwMode="auto">
          <a:xfrm>
            <a:off x="1270422" y="478731"/>
            <a:ext cx="6221685" cy="576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9" name="Rectangle 5"/>
          <p:cNvSpPr>
            <a:spLocks noGrp="1" noChangeArrowheads="1"/>
          </p:cNvSpPr>
          <p:nvPr>
            <p:ph type="body" idx="1"/>
          </p:nvPr>
        </p:nvSpPr>
        <p:spPr bwMode="auto">
          <a:xfrm>
            <a:off x="539552" y="1337268"/>
            <a:ext cx="828092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9" name="Rectangle 4" descr="浅色横线"/>
          <p:cNvSpPr>
            <a:spLocks noChangeArrowheads="1"/>
          </p:cNvSpPr>
          <p:nvPr userDrawn="1"/>
        </p:nvSpPr>
        <p:spPr bwMode="auto">
          <a:xfrm>
            <a:off x="40704" y="1054894"/>
            <a:ext cx="9067800" cy="69850"/>
          </a:xfrm>
          <a:prstGeom prst="rect">
            <a:avLst/>
          </a:prstGeom>
          <a:blipFill dpi="0" rotWithShape="0">
            <a:blip r:embed="rId1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pic>
        <p:nvPicPr>
          <p:cNvPr id="10" name="图片 11"/>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2525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userDrawn="1"/>
        </p:nvSpPr>
        <p:spPr bwMode="auto">
          <a:xfrm>
            <a:off x="0" y="6525344"/>
            <a:ext cx="9144000" cy="332656"/>
          </a:xfrm>
          <a:prstGeom prst="rect">
            <a:avLst/>
          </a:prstGeom>
          <a:solidFill>
            <a:srgbClr val="902834"/>
          </a:solidFill>
          <a:ln>
            <a:no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248" name="Rectangle 8"/>
          <p:cNvSpPr>
            <a:spLocks noGrp="1" noChangeArrowheads="1"/>
          </p:cNvSpPr>
          <p:nvPr>
            <p:ph type="sldNum" sz="quarter" idx="4"/>
          </p:nvPr>
        </p:nvSpPr>
        <p:spPr bwMode="auto">
          <a:xfrm>
            <a:off x="7236296" y="6525344"/>
            <a:ext cx="1905000" cy="332656"/>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000"/>
            </a:lvl1pPr>
          </a:lstStyle>
          <a:p>
            <a:fld id="{31A227FC-E527-4F8B-B6E2-2B295E690E2C}"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88"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hdr="0" ftr="0" dt="0"/>
  <p:txStyles>
    <p:titleStyle>
      <a:lvl1pPr algn="l" rtl="0" eaLnBrk="0" fontAlgn="base" hangingPunct="0">
        <a:spcBef>
          <a:spcPct val="0"/>
        </a:spcBef>
        <a:spcAft>
          <a:spcPct val="0"/>
        </a:spcAft>
        <a:defRPr sz="2800" kern="1200">
          <a:solidFill>
            <a:schemeClr val="tx2"/>
          </a:solidFill>
          <a:latin typeface="黑体" panose="02010609060101010101" pitchFamily="49" charset="-122"/>
          <a:ea typeface="黑体" panose="02010609060101010101" pitchFamily="49" charset="-122"/>
          <a:cs typeface="Arial Unicode MS" panose="020B0604020202020204" pitchFamily="34" charset="-122"/>
        </a:defRPr>
      </a:lvl1pPr>
      <a:lvl2pPr algn="l" rtl="0" eaLnBrk="0" fontAlgn="base" hangingPunct="0">
        <a:spcBef>
          <a:spcPct val="0"/>
        </a:spcBef>
        <a:spcAft>
          <a:spcPct val="0"/>
        </a:spcAft>
        <a:defRPr sz="4000">
          <a:solidFill>
            <a:schemeClr val="tx2"/>
          </a:solidFill>
          <a:latin typeface="Verdana" panose="020B0604030504040204" pitchFamily="34" charset="0"/>
          <a:ea typeface="Arial Unicode MS" pitchFamily="34" charset="-122"/>
          <a:cs typeface="Arial Unicode MS" panose="020B0604020202020204" pitchFamily="34" charset="-122"/>
        </a:defRPr>
      </a:lvl2pPr>
      <a:lvl3pPr algn="l" rtl="0" eaLnBrk="0" fontAlgn="base" hangingPunct="0">
        <a:spcBef>
          <a:spcPct val="0"/>
        </a:spcBef>
        <a:spcAft>
          <a:spcPct val="0"/>
        </a:spcAft>
        <a:defRPr sz="4000">
          <a:solidFill>
            <a:schemeClr val="tx2"/>
          </a:solidFill>
          <a:latin typeface="Verdana" panose="020B0604030504040204" pitchFamily="34" charset="0"/>
          <a:ea typeface="Arial Unicode MS" pitchFamily="34" charset="-122"/>
          <a:cs typeface="Arial Unicode MS" panose="020B0604020202020204" pitchFamily="34" charset="-122"/>
        </a:defRPr>
      </a:lvl3pPr>
      <a:lvl4pPr algn="l" rtl="0" eaLnBrk="0" fontAlgn="base" hangingPunct="0">
        <a:spcBef>
          <a:spcPct val="0"/>
        </a:spcBef>
        <a:spcAft>
          <a:spcPct val="0"/>
        </a:spcAft>
        <a:defRPr sz="4000">
          <a:solidFill>
            <a:schemeClr val="tx2"/>
          </a:solidFill>
          <a:latin typeface="Verdana" panose="020B0604030504040204" pitchFamily="34" charset="0"/>
          <a:ea typeface="Arial Unicode MS" pitchFamily="34" charset="-122"/>
          <a:cs typeface="Arial Unicode MS" panose="020B0604020202020204" pitchFamily="34" charset="-122"/>
        </a:defRPr>
      </a:lvl4pPr>
      <a:lvl5pPr algn="l" rtl="0" eaLnBrk="0" fontAlgn="base" hangingPunct="0">
        <a:spcBef>
          <a:spcPct val="0"/>
        </a:spcBef>
        <a:spcAft>
          <a:spcPct val="0"/>
        </a:spcAft>
        <a:defRPr sz="4000">
          <a:solidFill>
            <a:schemeClr val="tx2"/>
          </a:solidFill>
          <a:latin typeface="Verdana" panose="020B0604030504040204" pitchFamily="34" charset="0"/>
          <a:ea typeface="Arial Unicode MS" pitchFamily="34" charset="-122"/>
          <a:cs typeface="Arial Unicode MS" panose="020B0604020202020204" pitchFamily="34" charset="-122"/>
        </a:defRPr>
      </a:lvl5pPr>
      <a:lvl6pPr marL="457200" algn="l" rtl="0" fontAlgn="base">
        <a:spcBef>
          <a:spcPct val="0"/>
        </a:spcBef>
        <a:spcAft>
          <a:spcPct val="0"/>
        </a:spcAft>
        <a:defRPr sz="4000">
          <a:solidFill>
            <a:schemeClr val="tx2"/>
          </a:solidFill>
          <a:latin typeface="Verdana" panose="020B0604030504040204" pitchFamily="34" charset="0"/>
          <a:ea typeface="Arial Unicode MS" pitchFamily="34" charset="-122"/>
        </a:defRPr>
      </a:lvl6pPr>
      <a:lvl7pPr marL="914400" algn="l" rtl="0" fontAlgn="base">
        <a:spcBef>
          <a:spcPct val="0"/>
        </a:spcBef>
        <a:spcAft>
          <a:spcPct val="0"/>
        </a:spcAft>
        <a:defRPr sz="4000">
          <a:solidFill>
            <a:schemeClr val="tx2"/>
          </a:solidFill>
          <a:latin typeface="Verdana" panose="020B0604030504040204" pitchFamily="34" charset="0"/>
          <a:ea typeface="Arial Unicode MS" pitchFamily="34" charset="-122"/>
        </a:defRPr>
      </a:lvl7pPr>
      <a:lvl8pPr marL="1371600" algn="l" rtl="0" fontAlgn="base">
        <a:spcBef>
          <a:spcPct val="0"/>
        </a:spcBef>
        <a:spcAft>
          <a:spcPct val="0"/>
        </a:spcAft>
        <a:defRPr sz="4000">
          <a:solidFill>
            <a:schemeClr val="tx2"/>
          </a:solidFill>
          <a:latin typeface="Verdana" panose="020B0604030504040204" pitchFamily="34" charset="0"/>
          <a:ea typeface="Arial Unicode MS" pitchFamily="34" charset="-122"/>
        </a:defRPr>
      </a:lvl8pPr>
      <a:lvl9pPr marL="1828800" algn="l" rtl="0" fontAlgn="base">
        <a:spcBef>
          <a:spcPct val="0"/>
        </a:spcBef>
        <a:spcAft>
          <a:spcPct val="0"/>
        </a:spcAft>
        <a:defRPr sz="4000">
          <a:solidFill>
            <a:schemeClr val="tx2"/>
          </a:solidFill>
          <a:latin typeface="Verdana" panose="020B0604030504040204" pitchFamily="34" charset="0"/>
          <a:ea typeface="Arial Unicode MS" pitchFamily="34" charset="-122"/>
        </a:defRPr>
      </a:lvl9pPr>
    </p:titleStyle>
    <p:bodyStyle>
      <a:lvl1pPr marL="457200" indent="-457200" algn="l" rtl="0" eaLnBrk="0" fontAlgn="base" hangingPunct="0">
        <a:spcBef>
          <a:spcPct val="20000"/>
        </a:spcBef>
        <a:spcAft>
          <a:spcPct val="0"/>
        </a:spcAft>
        <a:buClr>
          <a:schemeClr val="tx1"/>
        </a:buClr>
        <a:buSzPct val="70000"/>
        <a:buFont typeface="Wingdings" panose="05000000000000000000" pitchFamily="2" charset="2"/>
        <a:buChar char="l"/>
        <a:defRPr sz="2400" b="1" kern="1200">
          <a:solidFill>
            <a:schemeClr val="tx1"/>
          </a:solidFill>
          <a:latin typeface="+mn-lt"/>
          <a:ea typeface="+mn-ea"/>
          <a:cs typeface="+mn-cs"/>
        </a:defRPr>
      </a:lvl1pPr>
      <a:lvl2pPr marL="889000" indent="-439738" algn="l" rtl="0" eaLnBrk="0" fontAlgn="base" hangingPunct="0">
        <a:spcBef>
          <a:spcPct val="20000"/>
        </a:spcBef>
        <a:spcAft>
          <a:spcPct val="0"/>
        </a:spcAft>
        <a:buClr>
          <a:schemeClr val="tx1"/>
        </a:buClr>
        <a:buSzPct val="65000"/>
        <a:buFont typeface="Wingdings" panose="05000000000000000000" pitchFamily="2" charset="2"/>
        <a:buChar char="Ø"/>
        <a:defRPr sz="2000" b="1" kern="1200">
          <a:solidFill>
            <a:schemeClr val="tx1"/>
          </a:solidFill>
          <a:latin typeface="+mn-lt"/>
          <a:ea typeface="+mn-ea"/>
          <a:cs typeface="+mn-cs"/>
        </a:defRPr>
      </a:lvl2pPr>
      <a:lvl3pPr marL="1293813" indent="-403225" algn="l" rtl="0" eaLnBrk="0" fontAlgn="base" hangingPunct="0">
        <a:spcBef>
          <a:spcPct val="20000"/>
        </a:spcBef>
        <a:spcAft>
          <a:spcPct val="0"/>
        </a:spcAft>
        <a:buClr>
          <a:schemeClr val="tx1"/>
        </a:buClr>
        <a:buSzPct val="70000"/>
        <a:buFont typeface="Arial" panose="020B0604020202020204" pitchFamily="34" charset="0"/>
        <a:buChar char="•"/>
        <a:defRPr sz="2000" b="1" kern="1200">
          <a:solidFill>
            <a:schemeClr val="tx1"/>
          </a:solidFill>
          <a:latin typeface="楷体" panose="02010609060101010101" pitchFamily="49" charset="-122"/>
          <a:ea typeface="楷体" panose="02010609060101010101" pitchFamily="49" charset="-122"/>
          <a:cs typeface="+mn-cs"/>
        </a:defRPr>
      </a:lvl3pPr>
      <a:lvl4pPr marL="1681163" indent="-385763" algn="l" rtl="0" eaLnBrk="0" fontAlgn="base" hangingPunct="0">
        <a:spcBef>
          <a:spcPct val="20000"/>
        </a:spcBef>
        <a:spcAft>
          <a:spcPct val="0"/>
        </a:spcAft>
        <a:buClr>
          <a:srgbClr val="0051C8"/>
        </a:buClr>
        <a:buSzPct val="75000"/>
        <a:buFont typeface="Arial" panose="020B0604020202020204" pitchFamily="34" charset="0"/>
        <a:buChar char="•"/>
        <a:defRPr sz="2000" kern="1200">
          <a:solidFill>
            <a:schemeClr val="tx1"/>
          </a:solidFill>
          <a:latin typeface="+mn-lt"/>
          <a:ea typeface="+mn-ea"/>
          <a:cs typeface="+mn-cs"/>
        </a:defRPr>
      </a:lvl4pPr>
      <a:lvl5pPr marL="2070100" indent="-387350" algn="l" rtl="0" eaLnBrk="0" fontAlgn="base" hangingPunct="0">
        <a:spcBef>
          <a:spcPct val="20000"/>
        </a:spcBef>
        <a:spcAft>
          <a:spcPct val="0"/>
        </a:spcAft>
        <a:buClr>
          <a:srgbClr val="0064F6"/>
        </a:buClr>
        <a:buSzPct val="7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8.wmf"/><Relationship Id="rId4" Type="http://schemas.openxmlformats.org/officeDocument/2006/relationships/image" Target="../media/image5.wmf"/><Relationship Id="rId9"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5.png"/><Relationship Id="rId7"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5.png"/><Relationship Id="rId4" Type="http://schemas.openxmlformats.org/officeDocument/2006/relationships/image" Target="../media/image24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5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notesSlide" Target="../notesSlides/notesSlide10.xml"/><Relationship Id="rId7" Type="http://schemas.openxmlformats.org/officeDocument/2006/relationships/image" Target="../media/image10.wmf"/><Relationship Id="rId12"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6.bin"/><Relationship Id="rId11" Type="http://schemas.openxmlformats.org/officeDocument/2006/relationships/image" Target="../media/image12.wmf"/><Relationship Id="rId5" Type="http://schemas.openxmlformats.org/officeDocument/2006/relationships/image" Target="../media/image30.png"/><Relationship Id="rId10" Type="http://schemas.openxmlformats.org/officeDocument/2006/relationships/oleObject" Target="../embeddings/oleObject8.bin"/><Relationship Id="rId9" Type="http://schemas.openxmlformats.org/officeDocument/2006/relationships/image" Target="../media/image11.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4.png"/><Relationship Id="rId7"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10.bin"/><Relationship Id="rId5" Type="http://schemas.openxmlformats.org/officeDocument/2006/relationships/image" Target="../media/image13.wmf"/><Relationship Id="rId4" Type="http://schemas.openxmlformats.org/officeDocument/2006/relationships/oleObject" Target="../embeddings/oleObject9.bin"/><Relationship Id="rId9" Type="http://schemas.openxmlformats.org/officeDocument/2006/relationships/image" Target="../media/image12.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6.wmf"/><Relationship Id="rId5" Type="http://schemas.openxmlformats.org/officeDocument/2006/relationships/oleObject" Target="../embeddings/oleObject12.bin"/><Relationship Id="rId4" Type="http://schemas.openxmlformats.org/officeDocument/2006/relationships/image" Target="../media/image15.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7.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8.wmf"/><Relationship Id="rId5" Type="http://schemas.openxmlformats.org/officeDocument/2006/relationships/oleObject" Target="../embeddings/oleObject14.bin"/><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5.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63.png"/><Relationship Id="rId5" Type="http://schemas.openxmlformats.org/officeDocument/2006/relationships/image" Target="../media/image33.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notesSlide" Target="../notesSlides/notesSlide12.xml"/><Relationship Id="rId7" Type="http://schemas.openxmlformats.org/officeDocument/2006/relationships/image" Target="../media/image20.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60.png"/><Relationship Id="rId5" Type="http://schemas.openxmlformats.org/officeDocument/2006/relationships/image" Target="../media/image19.wmf"/><Relationship Id="rId4" Type="http://schemas.openxmlformats.org/officeDocument/2006/relationships/oleObject" Target="../embeddings/oleObject15.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25.wmf"/><Relationship Id="rId18" Type="http://schemas.openxmlformats.org/officeDocument/2006/relationships/oleObject" Target="../embeddings/oleObject22.bin"/><Relationship Id="rId26" Type="http://schemas.openxmlformats.org/officeDocument/2006/relationships/oleObject" Target="../embeddings/oleObject26.bin"/><Relationship Id="rId3" Type="http://schemas.openxmlformats.org/officeDocument/2006/relationships/notesSlide" Target="../notesSlides/notesSlide13.xml"/><Relationship Id="rId21" Type="http://schemas.openxmlformats.org/officeDocument/2006/relationships/image" Target="../media/image29.wmf"/><Relationship Id="rId7" Type="http://schemas.openxmlformats.org/officeDocument/2006/relationships/image" Target="../media/image23.wmf"/><Relationship Id="rId12" Type="http://schemas.openxmlformats.org/officeDocument/2006/relationships/oleObject" Target="../embeddings/oleObject19.bin"/><Relationship Id="rId17" Type="http://schemas.openxmlformats.org/officeDocument/2006/relationships/image" Target="../media/image27.wmf"/><Relationship Id="rId25" Type="http://schemas.openxmlformats.org/officeDocument/2006/relationships/image" Target="../media/image31.wmf"/><Relationship Id="rId33" Type="http://schemas.openxmlformats.org/officeDocument/2006/relationships/image" Target="../media/image35.wmf"/><Relationship Id="rId2" Type="http://schemas.openxmlformats.org/officeDocument/2006/relationships/slideLayout" Target="../slideLayouts/slideLayout2.xml"/><Relationship Id="rId16" Type="http://schemas.openxmlformats.org/officeDocument/2006/relationships/oleObject" Target="../embeddings/oleObject21.bin"/><Relationship Id="rId20" Type="http://schemas.openxmlformats.org/officeDocument/2006/relationships/oleObject" Target="../embeddings/oleObject23.bin"/><Relationship Id="rId29" Type="http://schemas.openxmlformats.org/officeDocument/2006/relationships/image" Target="../media/image33.wmf"/><Relationship Id="rId1" Type="http://schemas.openxmlformats.org/officeDocument/2006/relationships/vmlDrawing" Target="../drawings/vmlDrawing8.vml"/><Relationship Id="rId6" Type="http://schemas.openxmlformats.org/officeDocument/2006/relationships/oleObject" Target="../embeddings/oleObject17.bin"/><Relationship Id="rId11" Type="http://schemas.openxmlformats.org/officeDocument/2006/relationships/image" Target="../media/image19.wmf"/><Relationship Id="rId24" Type="http://schemas.openxmlformats.org/officeDocument/2006/relationships/oleObject" Target="../embeddings/oleObject25.bin"/><Relationship Id="rId32" Type="http://schemas.openxmlformats.org/officeDocument/2006/relationships/oleObject" Target="../embeddings/oleObject29.bin"/><Relationship Id="rId5" Type="http://schemas.openxmlformats.org/officeDocument/2006/relationships/image" Target="../media/image22.wmf"/><Relationship Id="rId15" Type="http://schemas.openxmlformats.org/officeDocument/2006/relationships/image" Target="../media/image26.wmf"/><Relationship Id="rId23" Type="http://schemas.openxmlformats.org/officeDocument/2006/relationships/image" Target="../media/image30.wmf"/><Relationship Id="rId28" Type="http://schemas.openxmlformats.org/officeDocument/2006/relationships/oleObject" Target="../embeddings/oleObject27.bin"/><Relationship Id="rId10" Type="http://schemas.openxmlformats.org/officeDocument/2006/relationships/oleObject" Target="../embeddings/oleObject15.bin"/><Relationship Id="rId19" Type="http://schemas.openxmlformats.org/officeDocument/2006/relationships/image" Target="../media/image28.wmf"/><Relationship Id="rId31" Type="http://schemas.openxmlformats.org/officeDocument/2006/relationships/image" Target="../media/image34.wmf"/><Relationship Id="rId4" Type="http://schemas.openxmlformats.org/officeDocument/2006/relationships/oleObject" Target="../embeddings/oleObject16.bin"/><Relationship Id="rId9" Type="http://schemas.openxmlformats.org/officeDocument/2006/relationships/image" Target="../media/image24.wmf"/><Relationship Id="rId14" Type="http://schemas.openxmlformats.org/officeDocument/2006/relationships/oleObject" Target="../embeddings/oleObject20.bin"/><Relationship Id="rId22" Type="http://schemas.openxmlformats.org/officeDocument/2006/relationships/oleObject" Target="../embeddings/oleObject24.bin"/><Relationship Id="rId27" Type="http://schemas.openxmlformats.org/officeDocument/2006/relationships/image" Target="../media/image32.wmf"/><Relationship Id="rId30" Type="http://schemas.openxmlformats.org/officeDocument/2006/relationships/oleObject" Target="../embeddings/oleObject28.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36.wmf"/><Relationship Id="rId18" Type="http://schemas.openxmlformats.org/officeDocument/2006/relationships/oleObject" Target="../embeddings/oleObject33.bin"/><Relationship Id="rId26" Type="http://schemas.openxmlformats.org/officeDocument/2006/relationships/oleObject" Target="../embeddings/oleObject37.bin"/><Relationship Id="rId3" Type="http://schemas.openxmlformats.org/officeDocument/2006/relationships/notesSlide" Target="../notesSlides/notesSlide14.xml"/><Relationship Id="rId21" Type="http://schemas.openxmlformats.org/officeDocument/2006/relationships/image" Target="../media/image40.wmf"/><Relationship Id="rId7" Type="http://schemas.openxmlformats.org/officeDocument/2006/relationships/image" Target="../media/image19.wmf"/><Relationship Id="rId12" Type="http://schemas.openxmlformats.org/officeDocument/2006/relationships/oleObject" Target="../embeddings/oleObject30.bin"/><Relationship Id="rId17" Type="http://schemas.openxmlformats.org/officeDocument/2006/relationships/image" Target="../media/image38.wmf"/><Relationship Id="rId25" Type="http://schemas.openxmlformats.org/officeDocument/2006/relationships/image" Target="../media/image42.wmf"/><Relationship Id="rId2" Type="http://schemas.openxmlformats.org/officeDocument/2006/relationships/slideLayout" Target="../slideLayouts/slideLayout2.xml"/><Relationship Id="rId16" Type="http://schemas.openxmlformats.org/officeDocument/2006/relationships/oleObject" Target="../embeddings/oleObject32.bin"/><Relationship Id="rId20" Type="http://schemas.openxmlformats.org/officeDocument/2006/relationships/oleObject" Target="../embeddings/oleObject34.bin"/><Relationship Id="rId1" Type="http://schemas.openxmlformats.org/officeDocument/2006/relationships/vmlDrawing" Target="../drawings/vmlDrawing9.vml"/><Relationship Id="rId6" Type="http://schemas.openxmlformats.org/officeDocument/2006/relationships/oleObject" Target="../embeddings/oleObject15.bin"/><Relationship Id="rId11" Type="http://schemas.openxmlformats.org/officeDocument/2006/relationships/image" Target="../media/image34.wmf"/><Relationship Id="rId24" Type="http://schemas.openxmlformats.org/officeDocument/2006/relationships/oleObject" Target="../embeddings/oleObject36.bin"/><Relationship Id="rId5" Type="http://schemas.openxmlformats.org/officeDocument/2006/relationships/image" Target="../media/image23.wmf"/><Relationship Id="rId15" Type="http://schemas.openxmlformats.org/officeDocument/2006/relationships/image" Target="../media/image37.wmf"/><Relationship Id="rId23" Type="http://schemas.openxmlformats.org/officeDocument/2006/relationships/image" Target="../media/image41.wmf"/><Relationship Id="rId10" Type="http://schemas.openxmlformats.org/officeDocument/2006/relationships/oleObject" Target="../embeddings/oleObject28.bin"/><Relationship Id="rId19" Type="http://schemas.openxmlformats.org/officeDocument/2006/relationships/image" Target="../media/image39.wmf"/><Relationship Id="rId4" Type="http://schemas.openxmlformats.org/officeDocument/2006/relationships/oleObject" Target="../embeddings/oleObject17.bin"/><Relationship Id="rId9" Type="http://schemas.openxmlformats.org/officeDocument/2006/relationships/image" Target="../media/image32.wmf"/><Relationship Id="rId14" Type="http://schemas.openxmlformats.org/officeDocument/2006/relationships/oleObject" Target="../embeddings/oleObject31.bin"/><Relationship Id="rId22" Type="http://schemas.openxmlformats.org/officeDocument/2006/relationships/oleObject" Target="../embeddings/oleObject35.bin"/><Relationship Id="rId27" Type="http://schemas.openxmlformats.org/officeDocument/2006/relationships/image" Target="../media/image43.wmf"/></Relationships>
</file>

<file path=ppt/slides/_rels/slide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3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3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38.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4.png"/><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10.wmf"/><Relationship Id="rId5" Type="http://schemas.openxmlformats.org/officeDocument/2006/relationships/oleObject" Target="../embeddings/oleObject6.bin"/><Relationship Id="rId10" Type="http://schemas.openxmlformats.org/officeDocument/2006/relationships/image" Target="../media/image12.wmf"/><Relationship Id="rId4" Type="http://schemas.openxmlformats.org/officeDocument/2006/relationships/image" Target="../media/image75.png"/><Relationship Id="rId9" Type="http://schemas.openxmlformats.org/officeDocument/2006/relationships/oleObject" Target="../embeddings/oleObject8.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700.png"/><Relationship Id="rId13" Type="http://schemas.openxmlformats.org/officeDocument/2006/relationships/image" Target="../media/image750.png"/><Relationship Id="rId3" Type="http://schemas.openxmlformats.org/officeDocument/2006/relationships/image" Target="../media/image82.png"/><Relationship Id="rId7" Type="http://schemas.openxmlformats.org/officeDocument/2006/relationships/image" Target="../media/image690.png"/><Relationship Id="rId12" Type="http://schemas.openxmlformats.org/officeDocument/2006/relationships/image" Target="../media/image740.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730.png"/><Relationship Id="rId5" Type="http://schemas.openxmlformats.org/officeDocument/2006/relationships/image" Target="../media/image680.png"/><Relationship Id="rId10" Type="http://schemas.openxmlformats.org/officeDocument/2006/relationships/image" Target="../media/image720.png"/><Relationship Id="rId4" Type="http://schemas.openxmlformats.org/officeDocument/2006/relationships/image" Target="../media/image670.png"/><Relationship Id="rId9" Type="http://schemas.openxmlformats.org/officeDocument/2006/relationships/image" Target="../media/image710.png"/><Relationship Id="rId14" Type="http://schemas.openxmlformats.org/officeDocument/2006/relationships/image" Target="../media/image760.png"/></Relationships>
</file>

<file path=ppt/slides/_rels/slide41.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oleObject" Target="../embeddings/oleObject42.bin"/><Relationship Id="rId18" Type="http://schemas.openxmlformats.org/officeDocument/2006/relationships/image" Target="../media/image50.wmf"/><Relationship Id="rId26" Type="http://schemas.openxmlformats.org/officeDocument/2006/relationships/image" Target="../media/image54.wmf"/><Relationship Id="rId3" Type="http://schemas.openxmlformats.org/officeDocument/2006/relationships/oleObject" Target="../embeddings/oleObject38.bin"/><Relationship Id="rId21" Type="http://schemas.openxmlformats.org/officeDocument/2006/relationships/oleObject" Target="../embeddings/oleObject46.bin"/><Relationship Id="rId7" Type="http://schemas.openxmlformats.org/officeDocument/2006/relationships/oleObject" Target="../embeddings/oleObject15.bin"/><Relationship Id="rId12" Type="http://schemas.openxmlformats.org/officeDocument/2006/relationships/image" Target="../media/image47.wmf"/><Relationship Id="rId17" Type="http://schemas.openxmlformats.org/officeDocument/2006/relationships/oleObject" Target="../embeddings/oleObject44.bin"/><Relationship Id="rId25" Type="http://schemas.openxmlformats.org/officeDocument/2006/relationships/oleObject" Target="../embeddings/oleObject48.bin"/><Relationship Id="rId2" Type="http://schemas.openxmlformats.org/officeDocument/2006/relationships/slideLayout" Target="../slideLayouts/slideLayout2.xml"/><Relationship Id="rId16" Type="http://schemas.openxmlformats.org/officeDocument/2006/relationships/image" Target="../media/image49.wmf"/><Relationship Id="rId20" Type="http://schemas.openxmlformats.org/officeDocument/2006/relationships/image" Target="../media/image51.wmf"/><Relationship Id="rId1" Type="http://schemas.openxmlformats.org/officeDocument/2006/relationships/vmlDrawing" Target="../drawings/vmlDrawing11.vml"/><Relationship Id="rId6" Type="http://schemas.openxmlformats.org/officeDocument/2006/relationships/image" Target="../media/image45.wmf"/><Relationship Id="rId11" Type="http://schemas.openxmlformats.org/officeDocument/2006/relationships/oleObject" Target="../embeddings/oleObject41.bin"/><Relationship Id="rId24" Type="http://schemas.openxmlformats.org/officeDocument/2006/relationships/image" Target="../media/image53.wmf"/><Relationship Id="rId5" Type="http://schemas.openxmlformats.org/officeDocument/2006/relationships/oleObject" Target="../embeddings/oleObject39.bin"/><Relationship Id="rId15" Type="http://schemas.openxmlformats.org/officeDocument/2006/relationships/oleObject" Target="../embeddings/oleObject43.bin"/><Relationship Id="rId23" Type="http://schemas.openxmlformats.org/officeDocument/2006/relationships/oleObject" Target="../embeddings/oleObject47.bin"/><Relationship Id="rId10" Type="http://schemas.openxmlformats.org/officeDocument/2006/relationships/image" Target="../media/image46.wmf"/><Relationship Id="rId19" Type="http://schemas.openxmlformats.org/officeDocument/2006/relationships/oleObject" Target="../embeddings/oleObject45.bin"/><Relationship Id="rId4" Type="http://schemas.openxmlformats.org/officeDocument/2006/relationships/image" Target="../media/image44.wmf"/><Relationship Id="rId9" Type="http://schemas.openxmlformats.org/officeDocument/2006/relationships/oleObject" Target="../embeddings/oleObject40.bin"/><Relationship Id="rId14" Type="http://schemas.openxmlformats.org/officeDocument/2006/relationships/image" Target="../media/image48.wmf"/><Relationship Id="rId22" Type="http://schemas.openxmlformats.org/officeDocument/2006/relationships/image" Target="../media/image52.wmf"/></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51.bin"/><Relationship Id="rId3" Type="http://schemas.openxmlformats.org/officeDocument/2006/relationships/oleObject" Target="../embeddings/oleObject49.bin"/><Relationship Id="rId7" Type="http://schemas.openxmlformats.org/officeDocument/2006/relationships/image" Target="../media/image77.png"/><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56.wmf"/><Relationship Id="rId5" Type="http://schemas.openxmlformats.org/officeDocument/2006/relationships/oleObject" Target="../embeddings/oleObject50.bin"/><Relationship Id="rId4" Type="http://schemas.openxmlformats.org/officeDocument/2006/relationships/image" Target="../media/image55.wmf"/><Relationship Id="rId9" Type="http://schemas.openxmlformats.org/officeDocument/2006/relationships/image" Target="../media/image57.wmf"/></Relationships>
</file>

<file path=ppt/slides/_rels/slide43.xml.rels><?xml version="1.0" encoding="UTF-8" standalone="yes"?>
<Relationships xmlns="http://schemas.openxmlformats.org/package/2006/relationships"><Relationship Id="rId8" Type="http://schemas.openxmlformats.org/officeDocument/2006/relationships/image" Target="../media/image56.wmf"/><Relationship Id="rId13" Type="http://schemas.openxmlformats.org/officeDocument/2006/relationships/oleObject" Target="../embeddings/oleObject54.bin"/><Relationship Id="rId18" Type="http://schemas.openxmlformats.org/officeDocument/2006/relationships/image" Target="../media/image62.wmf"/><Relationship Id="rId26" Type="http://schemas.openxmlformats.org/officeDocument/2006/relationships/oleObject" Target="../embeddings/oleObject61.bin"/><Relationship Id="rId3" Type="http://schemas.openxmlformats.org/officeDocument/2006/relationships/oleObject" Target="../embeddings/oleObject49.bin"/><Relationship Id="rId21" Type="http://schemas.openxmlformats.org/officeDocument/2006/relationships/oleObject" Target="../embeddings/oleObject58.bin"/><Relationship Id="rId7" Type="http://schemas.openxmlformats.org/officeDocument/2006/relationships/oleObject" Target="../embeddings/oleObject50.bin"/><Relationship Id="rId12" Type="http://schemas.openxmlformats.org/officeDocument/2006/relationships/image" Target="../media/image59.wmf"/><Relationship Id="rId17" Type="http://schemas.openxmlformats.org/officeDocument/2006/relationships/oleObject" Target="../embeddings/oleObject56.bin"/><Relationship Id="rId25" Type="http://schemas.openxmlformats.org/officeDocument/2006/relationships/image" Target="../media/image65.wmf"/><Relationship Id="rId2" Type="http://schemas.openxmlformats.org/officeDocument/2006/relationships/slideLayout" Target="../slideLayouts/slideLayout2.xml"/><Relationship Id="rId16" Type="http://schemas.openxmlformats.org/officeDocument/2006/relationships/image" Target="../media/image61.wmf"/><Relationship Id="rId20" Type="http://schemas.openxmlformats.org/officeDocument/2006/relationships/image" Target="../media/image63.wmf"/><Relationship Id="rId1" Type="http://schemas.openxmlformats.org/officeDocument/2006/relationships/vmlDrawing" Target="../drawings/vmlDrawing13.vml"/><Relationship Id="rId6" Type="http://schemas.openxmlformats.org/officeDocument/2006/relationships/image" Target="../media/image57.wmf"/><Relationship Id="rId11" Type="http://schemas.openxmlformats.org/officeDocument/2006/relationships/oleObject" Target="../embeddings/oleObject53.bin"/><Relationship Id="rId24" Type="http://schemas.openxmlformats.org/officeDocument/2006/relationships/oleObject" Target="../embeddings/oleObject60.bin"/><Relationship Id="rId5" Type="http://schemas.openxmlformats.org/officeDocument/2006/relationships/oleObject" Target="../embeddings/oleObject51.bin"/><Relationship Id="rId15" Type="http://schemas.openxmlformats.org/officeDocument/2006/relationships/oleObject" Target="../embeddings/oleObject55.bin"/><Relationship Id="rId23" Type="http://schemas.openxmlformats.org/officeDocument/2006/relationships/image" Target="../media/image64.wmf"/><Relationship Id="rId10" Type="http://schemas.openxmlformats.org/officeDocument/2006/relationships/image" Target="../media/image58.wmf"/><Relationship Id="rId19" Type="http://schemas.openxmlformats.org/officeDocument/2006/relationships/oleObject" Target="../embeddings/oleObject57.bin"/><Relationship Id="rId4" Type="http://schemas.openxmlformats.org/officeDocument/2006/relationships/image" Target="../media/image55.wmf"/><Relationship Id="rId9" Type="http://schemas.openxmlformats.org/officeDocument/2006/relationships/oleObject" Target="../embeddings/oleObject52.bin"/><Relationship Id="rId14" Type="http://schemas.openxmlformats.org/officeDocument/2006/relationships/image" Target="../media/image60.wmf"/><Relationship Id="rId22" Type="http://schemas.openxmlformats.org/officeDocument/2006/relationships/oleObject" Target="../embeddings/oleObject59.bin"/><Relationship Id="rId27" Type="http://schemas.openxmlformats.org/officeDocument/2006/relationships/image" Target="../media/image66.wmf"/></Relationships>
</file>

<file path=ppt/slides/_rels/slide44.xml.rels><?xml version="1.0" encoding="UTF-8" standalone="yes"?>
<Relationships xmlns="http://schemas.openxmlformats.org/package/2006/relationships"><Relationship Id="rId8" Type="http://schemas.openxmlformats.org/officeDocument/2006/relationships/image" Target="../media/image56.wmf"/><Relationship Id="rId13" Type="http://schemas.openxmlformats.org/officeDocument/2006/relationships/oleObject" Target="../embeddings/oleObject64.bin"/><Relationship Id="rId18" Type="http://schemas.openxmlformats.org/officeDocument/2006/relationships/image" Target="../media/image71.wmf"/><Relationship Id="rId26" Type="http://schemas.openxmlformats.org/officeDocument/2006/relationships/image" Target="../media/image75.wmf"/><Relationship Id="rId3" Type="http://schemas.openxmlformats.org/officeDocument/2006/relationships/oleObject" Target="../embeddings/oleObject49.bin"/><Relationship Id="rId21" Type="http://schemas.openxmlformats.org/officeDocument/2006/relationships/oleObject" Target="../embeddings/oleObject68.bin"/><Relationship Id="rId34" Type="http://schemas.openxmlformats.org/officeDocument/2006/relationships/image" Target="../media/image79.wmf"/><Relationship Id="rId7" Type="http://schemas.openxmlformats.org/officeDocument/2006/relationships/oleObject" Target="../embeddings/oleObject50.bin"/><Relationship Id="rId12" Type="http://schemas.openxmlformats.org/officeDocument/2006/relationships/image" Target="../media/image68.wmf"/><Relationship Id="rId17" Type="http://schemas.openxmlformats.org/officeDocument/2006/relationships/oleObject" Target="../embeddings/oleObject66.bin"/><Relationship Id="rId25" Type="http://schemas.openxmlformats.org/officeDocument/2006/relationships/oleObject" Target="../embeddings/oleObject70.bin"/><Relationship Id="rId33" Type="http://schemas.openxmlformats.org/officeDocument/2006/relationships/oleObject" Target="../embeddings/oleObject74.bin"/><Relationship Id="rId2" Type="http://schemas.openxmlformats.org/officeDocument/2006/relationships/slideLayout" Target="../slideLayouts/slideLayout2.xml"/><Relationship Id="rId16" Type="http://schemas.openxmlformats.org/officeDocument/2006/relationships/image" Target="../media/image70.wmf"/><Relationship Id="rId20" Type="http://schemas.openxmlformats.org/officeDocument/2006/relationships/image" Target="../media/image72.wmf"/><Relationship Id="rId29" Type="http://schemas.openxmlformats.org/officeDocument/2006/relationships/oleObject" Target="../embeddings/oleObject72.bin"/><Relationship Id="rId1" Type="http://schemas.openxmlformats.org/officeDocument/2006/relationships/vmlDrawing" Target="../drawings/vmlDrawing14.vml"/><Relationship Id="rId6" Type="http://schemas.openxmlformats.org/officeDocument/2006/relationships/image" Target="../media/image57.wmf"/><Relationship Id="rId11" Type="http://schemas.openxmlformats.org/officeDocument/2006/relationships/oleObject" Target="../embeddings/oleObject63.bin"/><Relationship Id="rId24" Type="http://schemas.openxmlformats.org/officeDocument/2006/relationships/image" Target="../media/image74.wmf"/><Relationship Id="rId32" Type="http://schemas.openxmlformats.org/officeDocument/2006/relationships/image" Target="../media/image78.wmf"/><Relationship Id="rId5" Type="http://schemas.openxmlformats.org/officeDocument/2006/relationships/oleObject" Target="../embeddings/oleObject51.bin"/><Relationship Id="rId15" Type="http://schemas.openxmlformats.org/officeDocument/2006/relationships/oleObject" Target="../embeddings/oleObject65.bin"/><Relationship Id="rId23" Type="http://schemas.openxmlformats.org/officeDocument/2006/relationships/oleObject" Target="../embeddings/oleObject69.bin"/><Relationship Id="rId28" Type="http://schemas.openxmlformats.org/officeDocument/2006/relationships/image" Target="../media/image76.wmf"/><Relationship Id="rId10" Type="http://schemas.openxmlformats.org/officeDocument/2006/relationships/image" Target="../media/image67.wmf"/><Relationship Id="rId19" Type="http://schemas.openxmlformats.org/officeDocument/2006/relationships/oleObject" Target="../embeddings/oleObject67.bin"/><Relationship Id="rId31" Type="http://schemas.openxmlformats.org/officeDocument/2006/relationships/oleObject" Target="../embeddings/oleObject73.bin"/><Relationship Id="rId4" Type="http://schemas.openxmlformats.org/officeDocument/2006/relationships/image" Target="../media/image55.wmf"/><Relationship Id="rId9" Type="http://schemas.openxmlformats.org/officeDocument/2006/relationships/oleObject" Target="../embeddings/oleObject62.bin"/><Relationship Id="rId14" Type="http://schemas.openxmlformats.org/officeDocument/2006/relationships/image" Target="../media/image69.wmf"/><Relationship Id="rId22" Type="http://schemas.openxmlformats.org/officeDocument/2006/relationships/image" Target="../media/image73.wmf"/><Relationship Id="rId27" Type="http://schemas.openxmlformats.org/officeDocument/2006/relationships/oleObject" Target="../embeddings/oleObject71.bin"/><Relationship Id="rId30" Type="http://schemas.openxmlformats.org/officeDocument/2006/relationships/image" Target="../media/image77.wmf"/></Relationships>
</file>

<file path=ppt/slides/_rels/slide45.xml.rels><?xml version="1.0" encoding="UTF-8" standalone="yes"?>
<Relationships xmlns="http://schemas.openxmlformats.org/package/2006/relationships"><Relationship Id="rId8" Type="http://schemas.openxmlformats.org/officeDocument/2006/relationships/image" Target="../media/image56.wmf"/><Relationship Id="rId13" Type="http://schemas.openxmlformats.org/officeDocument/2006/relationships/oleObject" Target="../embeddings/oleObject70.bin"/><Relationship Id="rId18" Type="http://schemas.openxmlformats.org/officeDocument/2006/relationships/image" Target="../media/image82.wmf"/><Relationship Id="rId3" Type="http://schemas.openxmlformats.org/officeDocument/2006/relationships/oleObject" Target="../embeddings/oleObject49.bin"/><Relationship Id="rId7" Type="http://schemas.openxmlformats.org/officeDocument/2006/relationships/oleObject" Target="../embeddings/oleObject50.bin"/><Relationship Id="rId12" Type="http://schemas.openxmlformats.org/officeDocument/2006/relationships/image" Target="../media/image66.wmf"/><Relationship Id="rId17" Type="http://schemas.openxmlformats.org/officeDocument/2006/relationships/oleObject" Target="../embeddings/oleObject78.bin"/><Relationship Id="rId2" Type="http://schemas.openxmlformats.org/officeDocument/2006/relationships/slideLayout" Target="../slideLayouts/slideLayout2.xml"/><Relationship Id="rId16" Type="http://schemas.openxmlformats.org/officeDocument/2006/relationships/image" Target="../media/image81.wmf"/><Relationship Id="rId1" Type="http://schemas.openxmlformats.org/officeDocument/2006/relationships/vmlDrawing" Target="../drawings/vmlDrawing15.vml"/><Relationship Id="rId6" Type="http://schemas.openxmlformats.org/officeDocument/2006/relationships/image" Target="../media/image57.wmf"/><Relationship Id="rId11" Type="http://schemas.openxmlformats.org/officeDocument/2006/relationships/oleObject" Target="../embeddings/oleObject76.bin"/><Relationship Id="rId5" Type="http://schemas.openxmlformats.org/officeDocument/2006/relationships/oleObject" Target="../embeddings/oleObject51.bin"/><Relationship Id="rId15" Type="http://schemas.openxmlformats.org/officeDocument/2006/relationships/oleObject" Target="../embeddings/oleObject77.bin"/><Relationship Id="rId10" Type="http://schemas.openxmlformats.org/officeDocument/2006/relationships/image" Target="../media/image80.wmf"/><Relationship Id="rId4" Type="http://schemas.openxmlformats.org/officeDocument/2006/relationships/image" Target="../media/image55.wmf"/><Relationship Id="rId9" Type="http://schemas.openxmlformats.org/officeDocument/2006/relationships/oleObject" Target="../embeddings/oleObject75.bin"/><Relationship Id="rId14" Type="http://schemas.openxmlformats.org/officeDocument/2006/relationships/image" Target="../media/image75.wmf"/></Relationships>
</file>

<file path=ppt/slides/_rels/slide46.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79.bin"/><Relationship Id="rId7" Type="http://schemas.openxmlformats.org/officeDocument/2006/relationships/oleObject" Target="../embeddings/oleObject81.bin"/><Relationship Id="rId12" Type="http://schemas.openxmlformats.org/officeDocument/2006/relationships/image" Target="../media/image87.w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84.wmf"/><Relationship Id="rId11" Type="http://schemas.openxmlformats.org/officeDocument/2006/relationships/oleObject" Target="../embeddings/oleObject83.bin"/><Relationship Id="rId5" Type="http://schemas.openxmlformats.org/officeDocument/2006/relationships/oleObject" Target="../embeddings/oleObject80.bin"/><Relationship Id="rId10" Type="http://schemas.openxmlformats.org/officeDocument/2006/relationships/image" Target="../media/image86.wmf"/><Relationship Id="rId4" Type="http://schemas.openxmlformats.org/officeDocument/2006/relationships/image" Target="../media/image83.wmf"/><Relationship Id="rId9" Type="http://schemas.openxmlformats.org/officeDocument/2006/relationships/oleObject" Target="../embeddings/oleObject82.bin"/></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88.emf"/></Relationships>
</file>

<file path=ppt/slides/_rels/slide4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88.emf"/><Relationship Id="rId4" Type="http://schemas.openxmlformats.org/officeDocument/2006/relationships/oleObject" Target="../embeddings/oleObject84.bin"/></Relationships>
</file>

<file path=ppt/slides/_rels/slide4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106.png"/><Relationship Id="rId5" Type="http://schemas.openxmlformats.org/officeDocument/2006/relationships/image" Target="../media/image88.emf"/><Relationship Id="rId4" Type="http://schemas.openxmlformats.org/officeDocument/2006/relationships/oleObject" Target="../embeddings/oleObject84.bin"/></Relationships>
</file>

<file path=ppt/slides/_rels/slide5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108.png"/><Relationship Id="rId5" Type="http://schemas.openxmlformats.org/officeDocument/2006/relationships/image" Target="../media/image88.emf"/><Relationship Id="rId4" Type="http://schemas.openxmlformats.org/officeDocument/2006/relationships/oleObject" Target="../embeddings/oleObject84.bin"/></Relationships>
</file>

<file path=ppt/slides/_rels/slide51.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image" Target="../media/image89.png"/><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110.png"/><Relationship Id="rId5" Type="http://schemas.openxmlformats.org/officeDocument/2006/relationships/image" Target="../media/image88.emf"/><Relationship Id="rId4" Type="http://schemas.openxmlformats.org/officeDocument/2006/relationships/oleObject" Target="../embeddings/oleObject84.bin"/></Relationships>
</file>

<file path=ppt/slides/_rels/slide5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0.png"/><Relationship Id="rId1" Type="http://schemas.openxmlformats.org/officeDocument/2006/relationships/slideLayout" Target="../slideLayouts/slideLayout2.xml"/><Relationship Id="rId4" Type="http://schemas.openxmlformats.org/officeDocument/2006/relationships/image" Target="../media/image11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91.wmf"/><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86.bin"/><Relationship Id="rId5" Type="http://schemas.openxmlformats.org/officeDocument/2006/relationships/image" Target="../media/image90.wmf"/><Relationship Id="rId4" Type="http://schemas.openxmlformats.org/officeDocument/2006/relationships/oleObject" Target="../embeddings/oleObject85.bin"/></Relationships>
</file>

<file path=ppt/slides/_rels/slide55.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190.png"/><Relationship Id="rId5" Type="http://schemas.openxmlformats.org/officeDocument/2006/relationships/image" Target="../media/image189.png"/><Relationship Id="rId4" Type="http://schemas.openxmlformats.org/officeDocument/2006/relationships/image" Target="../media/image92.wmf"/></Relationships>
</file>

<file path=ppt/slides/_rels/slide58.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image" Target="../media/image19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9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172.png"/><Relationship Id="rId5" Type="http://schemas.openxmlformats.org/officeDocument/2006/relationships/image" Target="../media/image171.png"/><Relationship Id="rId4" Type="http://schemas.openxmlformats.org/officeDocument/2006/relationships/image" Target="../media/image93.wmf"/></Relationships>
</file>

<file path=ppt/slides/_rels/slide6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3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image" Target="../media/image97.wmf"/><Relationship Id="rId13" Type="http://schemas.openxmlformats.org/officeDocument/2006/relationships/oleObject" Target="../embeddings/oleObject94.bin"/><Relationship Id="rId3" Type="http://schemas.openxmlformats.org/officeDocument/2006/relationships/oleObject" Target="../embeddings/oleObject89.bin"/><Relationship Id="rId7" Type="http://schemas.openxmlformats.org/officeDocument/2006/relationships/oleObject" Target="../embeddings/oleObject91.bin"/><Relationship Id="rId12" Type="http://schemas.openxmlformats.org/officeDocument/2006/relationships/image" Target="../media/image99.wmf"/><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96.wmf"/><Relationship Id="rId11" Type="http://schemas.openxmlformats.org/officeDocument/2006/relationships/oleObject" Target="../embeddings/oleObject93.bin"/><Relationship Id="rId5" Type="http://schemas.openxmlformats.org/officeDocument/2006/relationships/oleObject" Target="../embeddings/oleObject90.bin"/><Relationship Id="rId10" Type="http://schemas.openxmlformats.org/officeDocument/2006/relationships/image" Target="../media/image98.wmf"/><Relationship Id="rId4" Type="http://schemas.openxmlformats.org/officeDocument/2006/relationships/image" Target="../media/image95.wmf"/><Relationship Id="rId9" Type="http://schemas.openxmlformats.org/officeDocument/2006/relationships/oleObject" Target="../embeddings/oleObject92.bin"/><Relationship Id="rId14" Type="http://schemas.openxmlformats.org/officeDocument/2006/relationships/image" Target="../media/image100.wmf"/></Relationships>
</file>

<file path=ppt/slides/_rels/slide66.xml.rels><?xml version="1.0" encoding="UTF-8" standalone="yes"?>
<Relationships xmlns="http://schemas.openxmlformats.org/package/2006/relationships"><Relationship Id="rId8" Type="http://schemas.openxmlformats.org/officeDocument/2006/relationships/image" Target="../media/image103.wmf"/><Relationship Id="rId13" Type="http://schemas.openxmlformats.org/officeDocument/2006/relationships/oleObject" Target="../embeddings/oleObject100.bin"/><Relationship Id="rId18" Type="http://schemas.openxmlformats.org/officeDocument/2006/relationships/image" Target="../media/image108.wmf"/><Relationship Id="rId3" Type="http://schemas.openxmlformats.org/officeDocument/2006/relationships/oleObject" Target="../embeddings/oleObject95.bin"/><Relationship Id="rId7" Type="http://schemas.openxmlformats.org/officeDocument/2006/relationships/oleObject" Target="../embeddings/oleObject97.bin"/><Relationship Id="rId12" Type="http://schemas.openxmlformats.org/officeDocument/2006/relationships/image" Target="../media/image105.wmf"/><Relationship Id="rId17" Type="http://schemas.openxmlformats.org/officeDocument/2006/relationships/oleObject" Target="../embeddings/oleObject102.bin"/><Relationship Id="rId2" Type="http://schemas.openxmlformats.org/officeDocument/2006/relationships/slideLayout" Target="../slideLayouts/slideLayout2.xml"/><Relationship Id="rId16" Type="http://schemas.openxmlformats.org/officeDocument/2006/relationships/image" Target="../media/image107.wmf"/><Relationship Id="rId20" Type="http://schemas.openxmlformats.org/officeDocument/2006/relationships/image" Target="../media/image109.wmf"/><Relationship Id="rId1" Type="http://schemas.openxmlformats.org/officeDocument/2006/relationships/vmlDrawing" Target="../drawings/vmlDrawing26.vml"/><Relationship Id="rId6" Type="http://schemas.openxmlformats.org/officeDocument/2006/relationships/image" Target="../media/image102.wmf"/><Relationship Id="rId11" Type="http://schemas.openxmlformats.org/officeDocument/2006/relationships/oleObject" Target="../embeddings/oleObject99.bin"/><Relationship Id="rId5" Type="http://schemas.openxmlformats.org/officeDocument/2006/relationships/oleObject" Target="../embeddings/oleObject96.bin"/><Relationship Id="rId15" Type="http://schemas.openxmlformats.org/officeDocument/2006/relationships/oleObject" Target="../embeddings/oleObject101.bin"/><Relationship Id="rId10" Type="http://schemas.openxmlformats.org/officeDocument/2006/relationships/image" Target="../media/image104.wmf"/><Relationship Id="rId19" Type="http://schemas.openxmlformats.org/officeDocument/2006/relationships/oleObject" Target="../embeddings/oleObject103.bin"/><Relationship Id="rId4" Type="http://schemas.openxmlformats.org/officeDocument/2006/relationships/image" Target="../media/image101.wmf"/><Relationship Id="rId9" Type="http://schemas.openxmlformats.org/officeDocument/2006/relationships/oleObject" Target="../embeddings/oleObject98.bin"/><Relationship Id="rId14" Type="http://schemas.openxmlformats.org/officeDocument/2006/relationships/image" Target="../media/image106.wmf"/></Relationships>
</file>

<file path=ppt/slides/_rels/slide67.xml.rels><?xml version="1.0" encoding="UTF-8" standalone="yes"?>
<Relationships xmlns="http://schemas.openxmlformats.org/package/2006/relationships"><Relationship Id="rId8" Type="http://schemas.openxmlformats.org/officeDocument/2006/relationships/image" Target="../media/image106.wmf"/><Relationship Id="rId13" Type="http://schemas.openxmlformats.org/officeDocument/2006/relationships/oleObject" Target="../embeddings/oleObject109.bin"/><Relationship Id="rId18" Type="http://schemas.openxmlformats.org/officeDocument/2006/relationships/image" Target="../media/image113.wmf"/><Relationship Id="rId3" Type="http://schemas.openxmlformats.org/officeDocument/2006/relationships/oleObject" Target="../embeddings/oleObject104.bin"/><Relationship Id="rId7" Type="http://schemas.openxmlformats.org/officeDocument/2006/relationships/oleObject" Target="../embeddings/oleObject106.bin"/><Relationship Id="rId12" Type="http://schemas.openxmlformats.org/officeDocument/2006/relationships/image" Target="../media/image110.wmf"/><Relationship Id="rId17" Type="http://schemas.openxmlformats.org/officeDocument/2006/relationships/oleObject" Target="../embeddings/oleObject111.bin"/><Relationship Id="rId2" Type="http://schemas.openxmlformats.org/officeDocument/2006/relationships/slideLayout" Target="../slideLayouts/slideLayout2.xml"/><Relationship Id="rId16" Type="http://schemas.openxmlformats.org/officeDocument/2006/relationships/image" Target="../media/image112.wmf"/><Relationship Id="rId1" Type="http://schemas.openxmlformats.org/officeDocument/2006/relationships/vmlDrawing" Target="../drawings/vmlDrawing27.vml"/><Relationship Id="rId6" Type="http://schemas.openxmlformats.org/officeDocument/2006/relationships/image" Target="../media/image104.wmf"/><Relationship Id="rId11" Type="http://schemas.openxmlformats.org/officeDocument/2006/relationships/oleObject" Target="../embeddings/oleObject108.bin"/><Relationship Id="rId5" Type="http://schemas.openxmlformats.org/officeDocument/2006/relationships/oleObject" Target="../embeddings/oleObject105.bin"/><Relationship Id="rId15" Type="http://schemas.openxmlformats.org/officeDocument/2006/relationships/oleObject" Target="../embeddings/oleObject110.bin"/><Relationship Id="rId10" Type="http://schemas.openxmlformats.org/officeDocument/2006/relationships/image" Target="../media/image109.wmf"/><Relationship Id="rId4" Type="http://schemas.openxmlformats.org/officeDocument/2006/relationships/image" Target="../media/image102.wmf"/><Relationship Id="rId9" Type="http://schemas.openxmlformats.org/officeDocument/2006/relationships/oleObject" Target="../embeddings/oleObject107.bin"/><Relationship Id="rId14" Type="http://schemas.openxmlformats.org/officeDocument/2006/relationships/image" Target="../media/image111.w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image" Target="../media/image116.wmf"/><Relationship Id="rId3" Type="http://schemas.openxmlformats.org/officeDocument/2006/relationships/oleObject" Target="../embeddings/oleObject112.bin"/><Relationship Id="rId7" Type="http://schemas.openxmlformats.org/officeDocument/2006/relationships/oleObject" Target="../embeddings/oleObject114.bin"/><Relationship Id="rId2" Type="http://schemas.openxmlformats.org/officeDocument/2006/relationships/slideLayout" Target="../slideLayouts/slideLayout4.xml"/><Relationship Id="rId1" Type="http://schemas.openxmlformats.org/officeDocument/2006/relationships/vmlDrawing" Target="../drawings/vmlDrawing28.vml"/><Relationship Id="rId6" Type="http://schemas.openxmlformats.org/officeDocument/2006/relationships/image" Target="../media/image115.wmf"/><Relationship Id="rId5" Type="http://schemas.openxmlformats.org/officeDocument/2006/relationships/oleObject" Target="../embeddings/oleObject113.bin"/><Relationship Id="rId10" Type="http://schemas.openxmlformats.org/officeDocument/2006/relationships/image" Target="../media/image117.wmf"/><Relationship Id="rId4" Type="http://schemas.openxmlformats.org/officeDocument/2006/relationships/image" Target="../media/image114.wmf"/><Relationship Id="rId9" Type="http://schemas.openxmlformats.org/officeDocument/2006/relationships/oleObject" Target="../embeddings/oleObject115.bin"/></Relationships>
</file>

<file path=ppt/slides/_rels/slide74.xml.rels><?xml version="1.0" encoding="UTF-8" standalone="yes"?>
<Relationships xmlns="http://schemas.openxmlformats.org/package/2006/relationships"><Relationship Id="rId8" Type="http://schemas.openxmlformats.org/officeDocument/2006/relationships/image" Target="../media/image120.wmf"/><Relationship Id="rId3" Type="http://schemas.openxmlformats.org/officeDocument/2006/relationships/oleObject" Target="../embeddings/oleObject116.bin"/><Relationship Id="rId7" Type="http://schemas.openxmlformats.org/officeDocument/2006/relationships/oleObject" Target="../embeddings/oleObject118.bin"/><Relationship Id="rId2" Type="http://schemas.openxmlformats.org/officeDocument/2006/relationships/slideLayout" Target="../slideLayouts/slideLayout4.xml"/><Relationship Id="rId1" Type="http://schemas.openxmlformats.org/officeDocument/2006/relationships/vmlDrawing" Target="../drawings/vmlDrawing29.vml"/><Relationship Id="rId6" Type="http://schemas.openxmlformats.org/officeDocument/2006/relationships/image" Target="../media/image119.wmf"/><Relationship Id="rId5" Type="http://schemas.openxmlformats.org/officeDocument/2006/relationships/oleObject" Target="../embeddings/oleObject117.bin"/><Relationship Id="rId4" Type="http://schemas.openxmlformats.org/officeDocument/2006/relationships/image" Target="../media/image118.wmf"/></Relationships>
</file>

<file path=ppt/slides/_rels/slide75.xml.rels><?xml version="1.0" encoding="UTF-8" standalone="yes"?>
<Relationships xmlns="http://schemas.openxmlformats.org/package/2006/relationships"><Relationship Id="rId8" Type="http://schemas.openxmlformats.org/officeDocument/2006/relationships/image" Target="../media/image123.wmf"/><Relationship Id="rId3" Type="http://schemas.openxmlformats.org/officeDocument/2006/relationships/oleObject" Target="../embeddings/oleObject119.bin"/><Relationship Id="rId7" Type="http://schemas.openxmlformats.org/officeDocument/2006/relationships/oleObject" Target="../embeddings/oleObject121.bin"/><Relationship Id="rId2" Type="http://schemas.openxmlformats.org/officeDocument/2006/relationships/slideLayout" Target="../slideLayouts/slideLayout4.xml"/><Relationship Id="rId1" Type="http://schemas.openxmlformats.org/officeDocument/2006/relationships/vmlDrawing" Target="../drawings/vmlDrawing30.vml"/><Relationship Id="rId6" Type="http://schemas.openxmlformats.org/officeDocument/2006/relationships/image" Target="../media/image122.wmf"/><Relationship Id="rId5" Type="http://schemas.openxmlformats.org/officeDocument/2006/relationships/oleObject" Target="../embeddings/oleObject120.bin"/><Relationship Id="rId4" Type="http://schemas.openxmlformats.org/officeDocument/2006/relationships/image" Target="../media/image121.wmf"/></Relationships>
</file>

<file path=ppt/slides/_rels/slide76.xml.rels><?xml version="1.0" encoding="UTF-8" standalone="yes"?>
<Relationships xmlns="http://schemas.openxmlformats.org/package/2006/relationships"><Relationship Id="rId8" Type="http://schemas.openxmlformats.org/officeDocument/2006/relationships/image" Target="../media/image126.wmf"/><Relationship Id="rId3" Type="http://schemas.openxmlformats.org/officeDocument/2006/relationships/oleObject" Target="../embeddings/oleObject122.bin"/><Relationship Id="rId7" Type="http://schemas.openxmlformats.org/officeDocument/2006/relationships/oleObject" Target="../embeddings/oleObject124.bin"/><Relationship Id="rId2" Type="http://schemas.openxmlformats.org/officeDocument/2006/relationships/slideLayout" Target="../slideLayouts/slideLayout4.xml"/><Relationship Id="rId1" Type="http://schemas.openxmlformats.org/officeDocument/2006/relationships/vmlDrawing" Target="../drawings/vmlDrawing31.vml"/><Relationship Id="rId6" Type="http://schemas.openxmlformats.org/officeDocument/2006/relationships/image" Target="../media/image125.wmf"/><Relationship Id="rId5" Type="http://schemas.openxmlformats.org/officeDocument/2006/relationships/oleObject" Target="../embeddings/oleObject123.bin"/><Relationship Id="rId4" Type="http://schemas.openxmlformats.org/officeDocument/2006/relationships/image" Target="../media/image124.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25.bin"/><Relationship Id="rId2" Type="http://schemas.openxmlformats.org/officeDocument/2006/relationships/slideLayout" Target="../slideLayouts/slideLayout4.xml"/><Relationship Id="rId1" Type="http://schemas.openxmlformats.org/officeDocument/2006/relationships/vmlDrawing" Target="../drawings/vmlDrawing32.vml"/><Relationship Id="rId6" Type="http://schemas.openxmlformats.org/officeDocument/2006/relationships/image" Target="../media/image128.wmf"/><Relationship Id="rId5" Type="http://schemas.openxmlformats.org/officeDocument/2006/relationships/oleObject" Target="../embeddings/oleObject126.bin"/><Relationship Id="rId4" Type="http://schemas.openxmlformats.org/officeDocument/2006/relationships/image" Target="../media/image127.w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image" Target="../media/image131.wmf"/><Relationship Id="rId3" Type="http://schemas.openxmlformats.org/officeDocument/2006/relationships/oleObject" Target="../embeddings/oleObject127.bin"/><Relationship Id="rId7" Type="http://schemas.openxmlformats.org/officeDocument/2006/relationships/oleObject" Target="../embeddings/oleObject129.bin"/><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image" Target="../media/image130.wmf"/><Relationship Id="rId5" Type="http://schemas.openxmlformats.org/officeDocument/2006/relationships/oleObject" Target="../embeddings/oleObject128.bin"/><Relationship Id="rId4" Type="http://schemas.openxmlformats.org/officeDocument/2006/relationships/image" Target="../media/image129.wmf"/></Relationships>
</file>

<file path=ppt/slides/_rels/slide82.xml.rels><?xml version="1.0" encoding="UTF-8" standalone="yes"?>
<Relationships xmlns="http://schemas.openxmlformats.org/package/2006/relationships"><Relationship Id="rId8" Type="http://schemas.openxmlformats.org/officeDocument/2006/relationships/image" Target="../media/image131.wmf"/><Relationship Id="rId3" Type="http://schemas.openxmlformats.org/officeDocument/2006/relationships/oleObject" Target="../embeddings/oleObject130.bin"/><Relationship Id="rId7" Type="http://schemas.openxmlformats.org/officeDocument/2006/relationships/oleObject" Target="../embeddings/oleObject129.bin"/><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133.wmf"/><Relationship Id="rId5" Type="http://schemas.openxmlformats.org/officeDocument/2006/relationships/oleObject" Target="../embeddings/oleObject131.bin"/><Relationship Id="rId4" Type="http://schemas.openxmlformats.org/officeDocument/2006/relationships/image" Target="../media/image132.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s://zhida.zhihu.com/search?content_id=193627163&amp;content_type=Article&amp;match_order=1&amp;q=%E8%A7%84%E5%88%92%E6%B1%82%E8%A7%A3&amp;zd_token=eyJhbGciOiJIUzI1NiIsInR5cCI6IkpXVCJ9.eyJpc3MiOiJ6aGlkYV9zZXJ2ZXIiLCJleHAiOjE3NDkzNTIwNDYsInEiOiLop4TliJLmsYLop6MiLCJ6aGlkYV9zb3VyY2UiOiJlbnRpdHkiLCJjb250ZW50X2lkIjoxOTM2MjcxNjMsImNvbnRlbnRfdHlwZSI6IkFydGljbGUiLCJtYXRjaF9vcmRlciI6MSwiemRfdG9rZW4iOm51bGx9.Qvx0EIUHDXNMU2hK4LbSQctONbHTE5cxb75Sk0abUFI&amp;zhida_source=entity" TargetMode="External"/><Relationship Id="rId2" Type="http://schemas.openxmlformats.org/officeDocument/2006/relationships/hyperlink" Target="https://zhida.zhihu.com/search?content_id=193627163&amp;content_type=Article&amp;match_order=1&amp;q=%E5%88%86%E9%85%8D%E9%97%AE%E9%A2%98&amp;zd_token=eyJhbGciOiJIUzI1NiIsInR5cCI6IkpXVCJ9.eyJpc3MiOiJ6aGlkYV9zZXJ2ZXIiLCJleHAiOjE3NDkzNTIwNDYsInEiOiLliIbphY3pl67popgiLCJ6aGlkYV9zb3VyY2UiOiJlbnRpdHkiLCJjb250ZW50X2lkIjoxOTM2MjcxNjMsImNvbnRlbnRfdHlwZSI6IkFydGljbGUiLCJtYXRjaF9vcmRlciI6MSwiemRfdG9rZW4iOm51bGx9.lmXGhcEtgsjozvme7tCPk7gV-KGmoh5nF35lB2bTg80&amp;zhida_source=entity" TargetMode="External"/><Relationship Id="rId1" Type="http://schemas.openxmlformats.org/officeDocument/2006/relationships/slideLayout" Target="../slideLayouts/slideLayout2.xml"/><Relationship Id="rId4" Type="http://schemas.openxmlformats.org/officeDocument/2006/relationships/hyperlink" Target="https://zhida.zhihu.com/search?content_id=193627163&amp;content_type=Article&amp;match_order=1&amp;q=%E9%9D%9E%E7%BA%BF%E6%80%A7%E8%A7%84%E5%88%92&amp;zd_token=eyJhbGciOiJIUzI1NiIsInR5cCI6IkpXVCJ9.eyJpc3MiOiJ6aGlkYV9zZXJ2ZXIiLCJleHAiOjE3NDkzNTIwNDYsInEiOiLpnZ7nur_mgKfop4TliJIiLCJ6aGlkYV9zb3VyY2UiOiJlbnRpdHkiLCJjb250ZW50X2lkIjoxOTM2MjcxNjMsImNvbnRlbnRfdHlwZSI6IkFydGljbGUiLCJtYXRjaF9vcmRlciI6MSwiemRfdG9rZW4iOm51bGx9.-UA80ElCu4-CiV2gSmap9vEceJfJuSetTKoPWgxiZc8&amp;zhida_source=ent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a:xfrm>
            <a:off x="1270422" y="478731"/>
            <a:ext cx="7622058" cy="576163"/>
          </a:xfrm>
        </p:spPr>
        <p:txBody>
          <a:bodyPr/>
          <a:lstStyle/>
          <a:p>
            <a:pPr marL="0" indent="0" eaLnBrk="1" hangingPunct="1">
              <a:lnSpc>
                <a:spcPct val="120000"/>
              </a:lnSpc>
              <a:buNone/>
            </a:pPr>
            <a:r>
              <a:rPr lang="en-US" altLang="zh-CN" dirty="0"/>
              <a:t>8.1 </a:t>
            </a:r>
            <a:r>
              <a:rPr lang="zh-CN" altLang="en-US" dirty="0"/>
              <a:t>动态规划的基本概念和基本方程</a:t>
            </a:r>
            <a:endParaRPr lang="en-US" altLang="zh-CN" dirty="0"/>
          </a:p>
        </p:txBody>
      </p:sp>
      <p:sp>
        <p:nvSpPr>
          <p:cNvPr id="5125" name="Rectangle 3"/>
          <p:cNvSpPr>
            <a:spLocks noGrp="1" noChangeArrowheads="1"/>
          </p:cNvSpPr>
          <p:nvPr>
            <p:ph idx="1"/>
          </p:nvPr>
        </p:nvSpPr>
        <p:spPr>
          <a:xfrm>
            <a:off x="539552" y="1337268"/>
            <a:ext cx="8280920" cy="3477875"/>
          </a:xfrm>
        </p:spPr>
        <p:txBody>
          <a:bodyPr/>
          <a:lstStyle/>
          <a:p>
            <a:pPr algn="just" eaLnBrk="1" hangingPunct="1"/>
            <a:r>
              <a:rPr lang="zh-CN" altLang="en-US" sz="2400" dirty="0"/>
              <a:t>多阶段决策过程</a:t>
            </a:r>
          </a:p>
          <a:p>
            <a:pPr lvl="1" algn="just" eaLnBrk="1" hangingPunct="1"/>
            <a:r>
              <a:rPr lang="zh-CN" altLang="en-US" sz="2000" dirty="0"/>
              <a:t>在生产和科学实验中，有一类</a:t>
            </a:r>
            <a:r>
              <a:rPr lang="zh-CN" altLang="en-US" sz="2000" dirty="0">
                <a:solidFill>
                  <a:srgbClr val="FF0000"/>
                </a:solidFill>
              </a:rPr>
              <a:t>活动的过程可分为若干个互相联系的阶段</a:t>
            </a:r>
            <a:r>
              <a:rPr lang="zh-CN" altLang="en-US" sz="2000" dirty="0"/>
              <a:t>，在它的</a:t>
            </a:r>
            <a:r>
              <a:rPr lang="zh-CN" altLang="en-US" sz="2000" dirty="0">
                <a:solidFill>
                  <a:srgbClr val="FF0000"/>
                </a:solidFill>
              </a:rPr>
              <a:t>每一个阶段都需要作出决策</a:t>
            </a:r>
            <a:r>
              <a:rPr lang="zh-CN" altLang="en-US" sz="2000" dirty="0"/>
              <a:t>，从而使整个过程达到最好的活动效果</a:t>
            </a:r>
            <a:r>
              <a:rPr lang="zh-CN" altLang="en-US" sz="2000" dirty="0" smtClean="0"/>
              <a:t>。</a:t>
            </a:r>
            <a:endParaRPr lang="en-US" altLang="zh-CN" sz="2000" dirty="0" smtClean="0"/>
          </a:p>
          <a:p>
            <a:pPr lvl="1" algn="just" eaLnBrk="1" hangingPunct="1"/>
            <a:r>
              <a:rPr lang="zh-CN" altLang="en-US" sz="2000" dirty="0" smtClean="0"/>
              <a:t>各个</a:t>
            </a:r>
            <a:r>
              <a:rPr lang="zh-CN" altLang="en-US" sz="2000" dirty="0"/>
              <a:t>阶段决策的选取不是任意确定的，它</a:t>
            </a:r>
            <a:r>
              <a:rPr lang="zh-CN" altLang="en-US" sz="2000" dirty="0">
                <a:solidFill>
                  <a:srgbClr val="FF0000"/>
                </a:solidFill>
              </a:rPr>
              <a:t>依赖于当前面临的状态</a:t>
            </a:r>
            <a:r>
              <a:rPr lang="zh-CN" altLang="en-US" sz="2000" dirty="0"/>
              <a:t>，</a:t>
            </a:r>
            <a:r>
              <a:rPr lang="zh-CN" altLang="en-US" sz="2000" dirty="0">
                <a:solidFill>
                  <a:srgbClr val="FF0000"/>
                </a:solidFill>
              </a:rPr>
              <a:t>又影响以后的发展</a:t>
            </a:r>
            <a:r>
              <a:rPr lang="zh-CN" altLang="en-US" sz="2000" dirty="0"/>
              <a:t>。</a:t>
            </a:r>
            <a:endParaRPr lang="en-US" altLang="zh-CN" sz="2000" dirty="0"/>
          </a:p>
          <a:p>
            <a:pPr lvl="1" algn="just" eaLnBrk="1" hangingPunct="1"/>
            <a:r>
              <a:rPr lang="zh-CN" altLang="en-US" sz="2000" dirty="0"/>
              <a:t>当各个阶段决策确定后，就组成了一个</a:t>
            </a:r>
            <a:r>
              <a:rPr lang="zh-CN" altLang="en-US" sz="2000" dirty="0">
                <a:solidFill>
                  <a:srgbClr val="FF0000"/>
                </a:solidFill>
              </a:rPr>
              <a:t>决策序列</a:t>
            </a:r>
            <a:r>
              <a:rPr lang="zh-CN" altLang="en-US" sz="2000" dirty="0"/>
              <a:t>，因而也就决定了整个过程的一条活动路线。</a:t>
            </a:r>
            <a:endParaRPr lang="en-US" altLang="zh-CN" sz="2000" dirty="0"/>
          </a:p>
          <a:p>
            <a:pPr lvl="1" algn="just" eaLnBrk="1" hangingPunct="1"/>
            <a:r>
              <a:rPr lang="zh-CN" altLang="en-US" sz="2000" dirty="0"/>
              <a:t>这种把一个问题可看作是一个前后关联具有链状结构的多阶段过程就称为</a:t>
            </a:r>
            <a:r>
              <a:rPr lang="zh-CN" altLang="en-US" sz="2000" dirty="0">
                <a:solidFill>
                  <a:srgbClr val="FF0000"/>
                </a:solidFill>
              </a:rPr>
              <a:t>多阶段决策过程</a:t>
            </a:r>
            <a:r>
              <a:rPr lang="zh-CN" altLang="en-US" sz="2000" dirty="0"/>
              <a:t>，也称</a:t>
            </a:r>
            <a:r>
              <a:rPr lang="zh-CN" altLang="en-US" sz="2000" dirty="0">
                <a:solidFill>
                  <a:srgbClr val="FF0000"/>
                </a:solidFill>
              </a:rPr>
              <a:t>序贯决策过程</a:t>
            </a:r>
            <a:r>
              <a:rPr lang="zh-CN" altLang="en-US" sz="2000" dirty="0"/>
              <a:t>。</a:t>
            </a:r>
          </a:p>
        </p:txBody>
      </p:sp>
      <p:sp>
        <p:nvSpPr>
          <p:cNvPr id="5123"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0F14B15-8515-4FB7-B11D-E94409D3DC56}" type="slidenum">
              <a:rPr lang="en-US" altLang="zh-CN" sz="1000"/>
              <a:pPr>
                <a:spcBef>
                  <a:spcPct val="0"/>
                </a:spcBef>
                <a:buClrTx/>
                <a:buSzTx/>
                <a:buFontTx/>
                <a:buNone/>
              </a:pPr>
              <a:t>1</a:t>
            </a:fld>
            <a:endParaRPr lang="en-US" altLang="zh-CN" sz="1000"/>
          </a:p>
        </p:txBody>
      </p:sp>
      <p:pic>
        <p:nvPicPr>
          <p:cNvPr id="512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5169692"/>
            <a:ext cx="6947783" cy="1001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57D4D37-247F-4430-8CB7-4F03CB34F397}" type="slidenum">
              <a:rPr lang="en-US" altLang="zh-CN" sz="1000"/>
              <a:pPr>
                <a:spcBef>
                  <a:spcPct val="0"/>
                </a:spcBef>
                <a:buClrTx/>
                <a:buSzTx/>
                <a:buFontTx/>
                <a:buNone/>
              </a:pPr>
              <a:t>2</a:t>
            </a:fld>
            <a:endParaRPr lang="en-US" altLang="zh-CN" sz="1000"/>
          </a:p>
        </p:txBody>
      </p:sp>
      <p:sp>
        <p:nvSpPr>
          <p:cNvPr id="8196" name="Rectangle 2"/>
          <p:cNvSpPr>
            <a:spLocks noGrp="1" noChangeArrowheads="1"/>
          </p:cNvSpPr>
          <p:nvPr>
            <p:ph type="title"/>
          </p:nvPr>
        </p:nvSpPr>
        <p:spPr/>
        <p:txBody>
          <a:bodyPr/>
          <a:lstStyle/>
          <a:p>
            <a:pPr eaLnBrk="1" hangingPunct="1"/>
            <a:r>
              <a:rPr lang="en-US" altLang="zh-CN" b="1" dirty="0"/>
              <a:t>8.1.1  </a:t>
            </a:r>
            <a:r>
              <a:rPr lang="zh-CN" altLang="en-US" b="1" dirty="0"/>
              <a:t>动态规划的基本概念</a:t>
            </a:r>
            <a:r>
              <a:rPr lang="zh-CN" altLang="en-US" dirty="0"/>
              <a:t> </a:t>
            </a:r>
          </a:p>
        </p:txBody>
      </p:sp>
      <p:sp>
        <p:nvSpPr>
          <p:cNvPr id="8197" name="Rectangle 3"/>
          <p:cNvSpPr>
            <a:spLocks noGrp="1" noChangeArrowheads="1"/>
          </p:cNvSpPr>
          <p:nvPr>
            <p:ph type="body" idx="1"/>
          </p:nvPr>
        </p:nvSpPr>
        <p:spPr>
          <a:xfrm>
            <a:off x="431800" y="1342231"/>
            <a:ext cx="8280400" cy="1994392"/>
          </a:xfrm>
        </p:spPr>
        <p:txBody>
          <a:bodyPr/>
          <a:lstStyle/>
          <a:p>
            <a:pPr eaLnBrk="1" hangingPunct="1">
              <a:lnSpc>
                <a:spcPct val="90000"/>
              </a:lnSpc>
            </a:pPr>
            <a:r>
              <a:rPr lang="en-US" altLang="zh-CN" sz="2400" dirty="0"/>
              <a:t>1</a:t>
            </a:r>
            <a:r>
              <a:rPr lang="zh-CN" altLang="en-US" sz="2400" dirty="0"/>
              <a:t>．阶段</a:t>
            </a:r>
          </a:p>
          <a:p>
            <a:pPr lvl="1" eaLnBrk="1" hangingPunct="1">
              <a:lnSpc>
                <a:spcPct val="90000"/>
              </a:lnSpc>
            </a:pPr>
            <a:r>
              <a:rPr lang="zh-CN" altLang="en-US" sz="2000" dirty="0"/>
              <a:t>一个动态规划模型</a:t>
            </a:r>
            <a:r>
              <a:rPr lang="zh-CN" altLang="en-US" sz="2000" dirty="0" smtClean="0"/>
              <a:t>可以将问题转化</a:t>
            </a:r>
            <a:r>
              <a:rPr lang="zh-CN" altLang="en-US" sz="2000" dirty="0"/>
              <a:t>为一系列的子问题，每个子问题对应于一个阶段的决策。</a:t>
            </a:r>
            <a:endParaRPr lang="en-US" altLang="zh-CN" sz="2000" dirty="0"/>
          </a:p>
          <a:p>
            <a:pPr lvl="1" eaLnBrk="1" hangingPunct="1">
              <a:lnSpc>
                <a:spcPct val="90000"/>
              </a:lnSpc>
            </a:pPr>
            <a:r>
              <a:rPr lang="zh-CN" altLang="en-US" sz="2000" dirty="0"/>
              <a:t>描述阶段的变量称为</a:t>
            </a:r>
            <a:r>
              <a:rPr lang="zh-CN" altLang="en-US" sz="2000" dirty="0">
                <a:solidFill>
                  <a:srgbClr val="FF0000"/>
                </a:solidFill>
              </a:rPr>
              <a:t>阶段变量</a:t>
            </a:r>
            <a:r>
              <a:rPr lang="zh-CN" altLang="en-US" sz="2000" dirty="0"/>
              <a:t>，常用</a:t>
            </a:r>
            <a:r>
              <a:rPr lang="en-US" altLang="zh-CN" sz="2000" i="1" dirty="0">
                <a:solidFill>
                  <a:srgbClr val="FF0000"/>
                </a:solidFill>
                <a:latin typeface="Times New Roman" panose="02020603050405020304" pitchFamily="18" charset="0"/>
                <a:cs typeface="Times New Roman" panose="02020603050405020304" pitchFamily="18" charset="0"/>
              </a:rPr>
              <a:t>k</a:t>
            </a:r>
            <a:r>
              <a:rPr lang="zh-CN" altLang="en-US" sz="2000" dirty="0"/>
              <a:t>表示</a:t>
            </a:r>
            <a:r>
              <a:rPr lang="zh-CN" altLang="en-US" sz="2000" dirty="0" smtClean="0"/>
              <a:t>。</a:t>
            </a:r>
            <a:endParaRPr lang="en-US" altLang="zh-CN" sz="2000" dirty="0" smtClean="0"/>
          </a:p>
          <a:p>
            <a:pPr lvl="1" eaLnBrk="1" hangingPunct="1">
              <a:lnSpc>
                <a:spcPct val="90000"/>
              </a:lnSpc>
            </a:pPr>
            <a:r>
              <a:rPr lang="zh-CN" altLang="en-US" sz="2000" dirty="0" smtClean="0"/>
              <a:t>阶段</a:t>
            </a:r>
            <a:r>
              <a:rPr lang="zh-CN" altLang="en-US" sz="2000" dirty="0"/>
              <a:t>的划分，一般是根据</a:t>
            </a:r>
            <a:r>
              <a:rPr lang="zh-CN" altLang="en-US" sz="2000" dirty="0">
                <a:solidFill>
                  <a:srgbClr val="FF0000"/>
                </a:solidFill>
              </a:rPr>
              <a:t>时间</a:t>
            </a:r>
            <a:r>
              <a:rPr lang="zh-CN" altLang="en-US" sz="2000" dirty="0"/>
              <a:t>和</a:t>
            </a:r>
            <a:r>
              <a:rPr lang="zh-CN" altLang="en-US" sz="2000" dirty="0">
                <a:solidFill>
                  <a:srgbClr val="FF0000"/>
                </a:solidFill>
              </a:rPr>
              <a:t>空间</a:t>
            </a:r>
            <a:r>
              <a:rPr lang="zh-CN" altLang="en-US" sz="2000" dirty="0"/>
              <a:t>的自然特征来划分，但要便于把问题的过程能转化为多阶段决策的过程</a:t>
            </a:r>
            <a:r>
              <a:rPr lang="zh-CN" altLang="en-US" sz="2000" dirty="0" smtClean="0"/>
              <a:t>。</a:t>
            </a:r>
            <a:endParaRPr lang="en-US" altLang="zh-CN" sz="2000" dirty="0"/>
          </a:p>
        </p:txBody>
      </p:sp>
      <p:pic>
        <p:nvPicPr>
          <p:cNvPr id="819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3573463"/>
            <a:ext cx="6465888" cy="261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9" name="Line 9"/>
          <p:cNvSpPr>
            <a:spLocks noChangeShapeType="1"/>
          </p:cNvSpPr>
          <p:nvPr/>
        </p:nvSpPr>
        <p:spPr bwMode="auto">
          <a:xfrm>
            <a:off x="1835150" y="3860800"/>
            <a:ext cx="0" cy="2592388"/>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200" name="Line 12"/>
          <p:cNvSpPr>
            <a:spLocks noChangeShapeType="1"/>
          </p:cNvSpPr>
          <p:nvPr/>
        </p:nvSpPr>
        <p:spPr bwMode="auto">
          <a:xfrm>
            <a:off x="2700338" y="3860800"/>
            <a:ext cx="0" cy="2663825"/>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201" name="Line 13"/>
          <p:cNvSpPr>
            <a:spLocks noChangeShapeType="1"/>
          </p:cNvSpPr>
          <p:nvPr/>
        </p:nvSpPr>
        <p:spPr bwMode="auto">
          <a:xfrm>
            <a:off x="3635375" y="3789363"/>
            <a:ext cx="0" cy="2735262"/>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202" name="Line 14"/>
          <p:cNvSpPr>
            <a:spLocks noChangeShapeType="1"/>
          </p:cNvSpPr>
          <p:nvPr/>
        </p:nvSpPr>
        <p:spPr bwMode="auto">
          <a:xfrm>
            <a:off x="4572000" y="3789363"/>
            <a:ext cx="0" cy="2663825"/>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203" name="Line 15"/>
          <p:cNvSpPr>
            <a:spLocks noChangeShapeType="1"/>
          </p:cNvSpPr>
          <p:nvPr/>
        </p:nvSpPr>
        <p:spPr bwMode="auto">
          <a:xfrm>
            <a:off x="5435600" y="3789363"/>
            <a:ext cx="0" cy="2663825"/>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204" name="Line 17"/>
          <p:cNvSpPr>
            <a:spLocks noChangeShapeType="1"/>
          </p:cNvSpPr>
          <p:nvPr/>
        </p:nvSpPr>
        <p:spPr bwMode="auto">
          <a:xfrm>
            <a:off x="6372225" y="3789363"/>
            <a:ext cx="0" cy="2592387"/>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205" name="Line 18"/>
          <p:cNvSpPr>
            <a:spLocks noChangeShapeType="1"/>
          </p:cNvSpPr>
          <p:nvPr/>
        </p:nvSpPr>
        <p:spPr bwMode="auto">
          <a:xfrm>
            <a:off x="7380288" y="3789363"/>
            <a:ext cx="0" cy="2663825"/>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 name="矩形 1"/>
          <p:cNvSpPr/>
          <p:nvPr/>
        </p:nvSpPr>
        <p:spPr>
          <a:xfrm>
            <a:off x="0" y="6156012"/>
            <a:ext cx="8521856" cy="369332"/>
          </a:xfrm>
          <a:prstGeom prst="rect">
            <a:avLst/>
          </a:prstGeom>
        </p:spPr>
        <p:txBody>
          <a:bodyPr wrap="square">
            <a:spAutoFit/>
          </a:bodyPr>
          <a:lstStyle/>
          <a:p>
            <a:pPr lvl="2" eaLnBrk="1" hangingPunct="1">
              <a:lnSpc>
                <a:spcPct val="90000"/>
              </a:lnSpc>
            </a:pPr>
            <a:r>
              <a:rPr lang="zh-CN" altLang="en-US" dirty="0" smtClean="0"/>
              <a:t>阶段</a:t>
            </a:r>
            <a:r>
              <a:rPr lang="en-US" altLang="zh-CN" dirty="0" smtClean="0"/>
              <a:t>k</a:t>
            </a:r>
            <a:r>
              <a:rPr lang="zh-CN" altLang="en-US" dirty="0" smtClean="0"/>
              <a:t>： </a:t>
            </a:r>
            <a:r>
              <a:rPr lang="en-US" altLang="zh-CN" i="1" dirty="0" smtClean="0"/>
              <a:t>k</a:t>
            </a:r>
            <a:r>
              <a:rPr lang="en-US" altLang="zh-CN" dirty="0" smtClean="0"/>
              <a:t>=1     </a:t>
            </a:r>
            <a:r>
              <a:rPr lang="en-US" altLang="zh-CN" i="1" dirty="0" smtClean="0"/>
              <a:t>k</a:t>
            </a:r>
            <a:r>
              <a:rPr lang="en-US" altLang="zh-CN" dirty="0" smtClean="0"/>
              <a:t>=2       </a:t>
            </a:r>
            <a:r>
              <a:rPr lang="en-US" altLang="zh-CN" i="1" dirty="0" smtClean="0"/>
              <a:t>k</a:t>
            </a:r>
            <a:r>
              <a:rPr lang="en-US" altLang="zh-CN" dirty="0" smtClean="0"/>
              <a:t>=3        </a:t>
            </a:r>
            <a:r>
              <a:rPr lang="en-US" altLang="zh-CN" i="1" dirty="0" smtClean="0"/>
              <a:t>k</a:t>
            </a:r>
            <a:r>
              <a:rPr lang="en-US" altLang="zh-CN" dirty="0" smtClean="0"/>
              <a:t>=4      </a:t>
            </a:r>
            <a:r>
              <a:rPr lang="en-US" altLang="zh-CN" i="1" dirty="0" smtClean="0"/>
              <a:t>k</a:t>
            </a:r>
            <a:r>
              <a:rPr lang="en-US" altLang="zh-CN" dirty="0" smtClean="0"/>
              <a:t>=5       </a:t>
            </a:r>
            <a:r>
              <a:rPr lang="en-US" altLang="zh-CN" i="1" dirty="0" smtClean="0"/>
              <a:t>k</a:t>
            </a:r>
            <a:r>
              <a:rPr lang="en-US" altLang="zh-CN" dirty="0" smtClean="0"/>
              <a:t>=6</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20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20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20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2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20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20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9" grpId="0" animBg="1"/>
      <p:bldP spid="8200" grpId="0" animBg="1"/>
      <p:bldP spid="8201" grpId="0" animBg="1"/>
      <p:bldP spid="8202" grpId="0" animBg="1"/>
      <p:bldP spid="8203" grpId="0" animBg="1"/>
      <p:bldP spid="8204" grpId="0" animBg="1"/>
      <p:bldP spid="8205" grpId="0" animBg="1"/>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2FC8D7D-D21A-4A07-ABE6-E70C38530ED7}" type="slidenum">
              <a:rPr lang="en-US" altLang="zh-CN" sz="1000"/>
              <a:pPr>
                <a:spcBef>
                  <a:spcPct val="0"/>
                </a:spcBef>
                <a:buClrTx/>
                <a:buSzTx/>
                <a:buFontTx/>
                <a:buNone/>
              </a:pPr>
              <a:t>3</a:t>
            </a:fld>
            <a:endParaRPr lang="en-US" altLang="zh-CN" sz="1000"/>
          </a:p>
        </p:txBody>
      </p:sp>
      <p:sp>
        <p:nvSpPr>
          <p:cNvPr id="9220" name="Rectangle 2"/>
          <p:cNvSpPr>
            <a:spLocks noGrp="1" noChangeArrowheads="1"/>
          </p:cNvSpPr>
          <p:nvPr>
            <p:ph type="title"/>
          </p:nvPr>
        </p:nvSpPr>
        <p:spPr/>
        <p:txBody>
          <a:bodyPr/>
          <a:lstStyle/>
          <a:p>
            <a:pPr eaLnBrk="1" hangingPunct="1"/>
            <a:r>
              <a:rPr lang="en-US" altLang="zh-CN" b="1" dirty="0"/>
              <a:t>8.1.1  </a:t>
            </a:r>
            <a:r>
              <a:rPr lang="zh-CN" altLang="en-US" b="1" dirty="0"/>
              <a:t>动态规划的基本概念</a:t>
            </a:r>
            <a:r>
              <a:rPr lang="zh-CN" altLang="en-US" dirty="0"/>
              <a:t> </a:t>
            </a:r>
          </a:p>
        </p:txBody>
      </p:sp>
      <p:sp>
        <p:nvSpPr>
          <p:cNvPr id="9221" name="Rectangle 3"/>
          <p:cNvSpPr>
            <a:spLocks noGrp="1" noChangeArrowheads="1"/>
          </p:cNvSpPr>
          <p:nvPr>
            <p:ph type="body" idx="1"/>
          </p:nvPr>
        </p:nvSpPr>
        <p:spPr>
          <a:xfrm>
            <a:off x="96601" y="1216145"/>
            <a:ext cx="8939895" cy="1815882"/>
          </a:xfrm>
        </p:spPr>
        <p:txBody>
          <a:bodyPr/>
          <a:lstStyle/>
          <a:p>
            <a:pPr eaLnBrk="1" hangingPunct="1"/>
            <a:r>
              <a:rPr lang="en-US" altLang="zh-CN" sz="2400" dirty="0"/>
              <a:t>2</a:t>
            </a:r>
            <a:r>
              <a:rPr lang="zh-CN" altLang="en-US" sz="2400" dirty="0"/>
              <a:t>．状态与状态变量</a:t>
            </a:r>
          </a:p>
          <a:p>
            <a:pPr lvl="1" eaLnBrk="1" hangingPunct="1"/>
            <a:r>
              <a:rPr lang="zh-CN" altLang="en-US" dirty="0"/>
              <a:t>状态：每个阶段</a:t>
            </a:r>
            <a:r>
              <a:rPr lang="zh-CN" altLang="en-US" dirty="0">
                <a:solidFill>
                  <a:srgbClr val="FF0000"/>
                </a:solidFill>
              </a:rPr>
              <a:t>开始</a:t>
            </a:r>
            <a:r>
              <a:rPr lang="zh-CN" altLang="en-US" dirty="0"/>
              <a:t>所处的自然状况或客观条件，它描述了研究问题过程的状况，又称</a:t>
            </a:r>
            <a:r>
              <a:rPr lang="zh-CN" altLang="en-US" dirty="0">
                <a:solidFill>
                  <a:srgbClr val="FF0000"/>
                </a:solidFill>
              </a:rPr>
              <a:t>不可控因素</a:t>
            </a:r>
            <a:r>
              <a:rPr lang="zh-CN" altLang="en-US" dirty="0"/>
              <a:t>。</a:t>
            </a:r>
            <a:endParaRPr lang="en-US" altLang="zh-CN" dirty="0"/>
          </a:p>
          <a:p>
            <a:pPr lvl="1" eaLnBrk="1" hangingPunct="1"/>
            <a:r>
              <a:rPr lang="zh-CN" altLang="en-US" dirty="0" smtClean="0"/>
              <a:t>状态变量</a:t>
            </a:r>
            <a:r>
              <a:rPr lang="zh-CN" altLang="en-US" dirty="0"/>
              <a:t>：</a:t>
            </a:r>
            <a:r>
              <a:rPr lang="zh-CN" altLang="en-US" dirty="0">
                <a:latin typeface="Times New Roman" panose="02020603050405020304" pitchFamily="18" charset="0"/>
                <a:cs typeface="Courier New" panose="02070309020205020404" pitchFamily="49" charset="0"/>
              </a:rPr>
              <a:t>描述过程状态的变量。它可用一个数、一组数或一向量</a:t>
            </a:r>
            <a:r>
              <a:rPr lang="en-US" altLang="zh-CN" dirty="0">
                <a:latin typeface="Times New Roman" panose="02020603050405020304" pitchFamily="18" charset="0"/>
                <a:cs typeface="Courier New" panose="02070309020205020404" pitchFamily="49" charset="0"/>
              </a:rPr>
              <a:t>(</a:t>
            </a:r>
            <a:r>
              <a:rPr lang="zh-CN" altLang="en-US" dirty="0">
                <a:latin typeface="Times New Roman" panose="02020603050405020304" pitchFamily="18" charset="0"/>
                <a:cs typeface="Courier New" panose="02070309020205020404" pitchFamily="49" charset="0"/>
              </a:rPr>
              <a:t>多维情形</a:t>
            </a:r>
            <a:r>
              <a:rPr lang="en-US" altLang="zh-CN" dirty="0">
                <a:latin typeface="Times New Roman" panose="02020603050405020304" pitchFamily="18" charset="0"/>
                <a:cs typeface="Courier New" panose="02070309020205020404" pitchFamily="49" charset="0"/>
              </a:rPr>
              <a:t>)</a:t>
            </a:r>
            <a:r>
              <a:rPr lang="zh-CN" altLang="en-US" dirty="0">
                <a:latin typeface="Times New Roman" panose="02020603050405020304" pitchFamily="18" charset="0"/>
                <a:cs typeface="Courier New" panose="02070309020205020404" pitchFamily="49" charset="0"/>
              </a:rPr>
              <a:t>来描述。</a:t>
            </a:r>
            <a:r>
              <a:rPr lang="zh-CN" altLang="en-US" dirty="0" smtClean="0">
                <a:latin typeface="Times New Roman" panose="02020603050405020304" pitchFamily="18" charset="0"/>
                <a:cs typeface="Courier New" panose="02070309020205020404" pitchFamily="49" charset="0"/>
              </a:rPr>
              <a:t>常用</a:t>
            </a:r>
            <a:r>
              <a:rPr lang="en-US" altLang="zh-CN" i="1" dirty="0" err="1" smtClean="0">
                <a:latin typeface="Times New Roman" panose="02020603050405020304" pitchFamily="18" charset="0"/>
                <a:cs typeface="Courier New" panose="02070309020205020404" pitchFamily="49" charset="0"/>
              </a:rPr>
              <a:t>s</a:t>
            </a:r>
            <a:r>
              <a:rPr lang="en-US" altLang="zh-CN" i="1" baseline="-30000" dirty="0" err="1" smtClean="0">
                <a:latin typeface="Times New Roman" panose="02020603050405020304" pitchFamily="18" charset="0"/>
                <a:cs typeface="Courier New" panose="02070309020205020404" pitchFamily="49" charset="0"/>
              </a:rPr>
              <a:t>k</a:t>
            </a:r>
            <a:r>
              <a:rPr lang="zh-CN" altLang="en-US" dirty="0">
                <a:latin typeface="Times New Roman" panose="02020603050405020304" pitchFamily="18" charset="0"/>
                <a:cs typeface="Courier New" panose="02070309020205020404" pitchFamily="49" charset="0"/>
              </a:rPr>
              <a:t>表示第</a:t>
            </a:r>
            <a:r>
              <a:rPr lang="en-US" altLang="zh-CN" i="1" dirty="0">
                <a:latin typeface="Times New Roman" panose="02020603050405020304" pitchFamily="18" charset="0"/>
                <a:cs typeface="Courier New" panose="02070309020205020404" pitchFamily="49" charset="0"/>
              </a:rPr>
              <a:t>k</a:t>
            </a:r>
            <a:r>
              <a:rPr lang="zh-CN" altLang="en-US" dirty="0">
                <a:latin typeface="Times New Roman" panose="02020603050405020304" pitchFamily="18" charset="0"/>
                <a:cs typeface="Courier New" panose="02070309020205020404" pitchFamily="49" charset="0"/>
              </a:rPr>
              <a:t>阶段的</a:t>
            </a:r>
            <a:r>
              <a:rPr lang="zh-CN" altLang="en-US" dirty="0" smtClean="0">
                <a:latin typeface="Times New Roman" panose="02020603050405020304" pitchFamily="18" charset="0"/>
                <a:cs typeface="Courier New" panose="02070309020205020404" pitchFamily="49" charset="0"/>
              </a:rPr>
              <a:t>状态变量，</a:t>
            </a:r>
            <a:r>
              <a:rPr lang="en-US" altLang="zh-CN" i="1" dirty="0">
                <a:latin typeface="Times New Roman" panose="02020603050405020304" pitchFamily="18" charset="0"/>
                <a:cs typeface="Courier New" panose="02070309020205020404" pitchFamily="49" charset="0"/>
              </a:rPr>
              <a:t> </a:t>
            </a:r>
            <a:r>
              <a:rPr lang="en-US" altLang="zh-CN" i="1" dirty="0" err="1">
                <a:latin typeface="Times New Roman" panose="02020603050405020304" pitchFamily="18" charset="0"/>
                <a:cs typeface="Courier New" panose="02070309020205020404" pitchFamily="49" charset="0"/>
              </a:rPr>
              <a:t>S</a:t>
            </a:r>
            <a:r>
              <a:rPr lang="en-US" altLang="zh-CN" baseline="-30000" dirty="0" err="1">
                <a:latin typeface="Times New Roman" panose="02020603050405020304" pitchFamily="18" charset="0"/>
                <a:cs typeface="Courier New" panose="02070309020205020404" pitchFamily="49" charset="0"/>
              </a:rPr>
              <a:t>k</a:t>
            </a:r>
            <a:r>
              <a:rPr lang="en-US" altLang="zh-CN" baseline="-30000" dirty="0">
                <a:latin typeface="Times New Roman" panose="02020603050405020304" pitchFamily="18" charset="0"/>
                <a:cs typeface="Courier New" panose="02070309020205020404" pitchFamily="49" charset="0"/>
              </a:rPr>
              <a:t> </a:t>
            </a:r>
            <a:r>
              <a:rPr lang="zh-CN" altLang="en-US" dirty="0" smtClean="0">
                <a:latin typeface="Times New Roman" panose="02020603050405020304" pitchFamily="18" charset="0"/>
                <a:cs typeface="Courier New" panose="02070309020205020404" pitchFamily="49" charset="0"/>
              </a:rPr>
              <a:t>表示状态集合。</a:t>
            </a:r>
            <a:endParaRPr lang="en-US" altLang="zh-CN" dirty="0">
              <a:latin typeface="Times New Roman" panose="02020603050405020304" pitchFamily="18" charset="0"/>
              <a:cs typeface="Courier New" panose="02070309020205020404" pitchFamily="49" charset="0"/>
            </a:endParaRPr>
          </a:p>
        </p:txBody>
      </p:sp>
      <p:pic>
        <p:nvPicPr>
          <p:cNvPr id="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3141415"/>
            <a:ext cx="6465888" cy="261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Line 9"/>
          <p:cNvSpPr>
            <a:spLocks noChangeShapeType="1"/>
          </p:cNvSpPr>
          <p:nvPr/>
        </p:nvSpPr>
        <p:spPr bwMode="auto">
          <a:xfrm>
            <a:off x="2123480" y="3428752"/>
            <a:ext cx="0" cy="2592388"/>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 name="Line 12"/>
          <p:cNvSpPr>
            <a:spLocks noChangeShapeType="1"/>
          </p:cNvSpPr>
          <p:nvPr/>
        </p:nvSpPr>
        <p:spPr bwMode="auto">
          <a:xfrm>
            <a:off x="2988668" y="3428752"/>
            <a:ext cx="0" cy="2663825"/>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 name="Line 13"/>
          <p:cNvSpPr>
            <a:spLocks noChangeShapeType="1"/>
          </p:cNvSpPr>
          <p:nvPr/>
        </p:nvSpPr>
        <p:spPr bwMode="auto">
          <a:xfrm>
            <a:off x="3923705" y="3357315"/>
            <a:ext cx="0" cy="2735262"/>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 name="Line 14"/>
          <p:cNvSpPr>
            <a:spLocks noChangeShapeType="1"/>
          </p:cNvSpPr>
          <p:nvPr/>
        </p:nvSpPr>
        <p:spPr bwMode="auto">
          <a:xfrm>
            <a:off x="4860330" y="3357315"/>
            <a:ext cx="0" cy="2663825"/>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 name="Line 15"/>
          <p:cNvSpPr>
            <a:spLocks noChangeShapeType="1"/>
          </p:cNvSpPr>
          <p:nvPr/>
        </p:nvSpPr>
        <p:spPr bwMode="auto">
          <a:xfrm>
            <a:off x="5723930" y="3357315"/>
            <a:ext cx="0" cy="2663825"/>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5" name="Line 17"/>
          <p:cNvSpPr>
            <a:spLocks noChangeShapeType="1"/>
          </p:cNvSpPr>
          <p:nvPr/>
        </p:nvSpPr>
        <p:spPr bwMode="auto">
          <a:xfrm>
            <a:off x="6660555" y="3357315"/>
            <a:ext cx="0" cy="2592387"/>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 name="Line 18"/>
          <p:cNvSpPr>
            <a:spLocks noChangeShapeType="1"/>
          </p:cNvSpPr>
          <p:nvPr/>
        </p:nvSpPr>
        <p:spPr bwMode="auto">
          <a:xfrm>
            <a:off x="7668618" y="3357315"/>
            <a:ext cx="0" cy="2663825"/>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9" name="矩形 18"/>
          <p:cNvSpPr/>
          <p:nvPr/>
        </p:nvSpPr>
        <p:spPr>
          <a:xfrm>
            <a:off x="252263" y="6084004"/>
            <a:ext cx="2807569" cy="369332"/>
          </a:xfrm>
          <a:prstGeom prst="rect">
            <a:avLst/>
          </a:prstGeom>
        </p:spPr>
        <p:txBody>
          <a:bodyPr wrap="square">
            <a:spAutoFit/>
          </a:bodyPr>
          <a:lstStyle/>
          <a:p>
            <a:pPr lvl="2" eaLnBrk="1" hangingPunct="1">
              <a:lnSpc>
                <a:spcPct val="90000"/>
              </a:lnSpc>
            </a:pPr>
            <a:r>
              <a:rPr lang="zh-CN" altLang="en-US" dirty="0" smtClean="0"/>
              <a:t>状态</a:t>
            </a:r>
            <a:r>
              <a:rPr lang="en-US" altLang="zh-CN" i="1" dirty="0" err="1">
                <a:latin typeface="Times New Roman" panose="02020603050405020304" pitchFamily="18" charset="0"/>
                <a:cs typeface="Courier New" panose="02070309020205020404" pitchFamily="49" charset="0"/>
              </a:rPr>
              <a:t>S</a:t>
            </a:r>
            <a:r>
              <a:rPr lang="en-US" altLang="zh-CN" i="1" baseline="-30000" dirty="0" err="1">
                <a:latin typeface="Times New Roman" panose="02020603050405020304" pitchFamily="18" charset="0"/>
                <a:cs typeface="Courier New" panose="02070309020205020404" pitchFamily="49" charset="0"/>
              </a:rPr>
              <a:t>k</a:t>
            </a:r>
            <a:r>
              <a:rPr lang="en-US" altLang="zh-CN" baseline="-30000" dirty="0">
                <a:latin typeface="Times New Roman" panose="02020603050405020304" pitchFamily="18" charset="0"/>
                <a:cs typeface="Courier New" panose="02070309020205020404" pitchFamily="49" charset="0"/>
              </a:rPr>
              <a:t> </a:t>
            </a:r>
            <a:r>
              <a:rPr lang="zh-CN" altLang="en-US" dirty="0" smtClean="0"/>
              <a:t>： </a:t>
            </a:r>
            <a:r>
              <a:rPr lang="en-US" altLang="zh-CN" sz="1800" dirty="0" smtClean="0"/>
              <a:t>{A}</a:t>
            </a:r>
            <a:endParaRPr lang="zh-CN" altLang="en-US" sz="1800" dirty="0"/>
          </a:p>
        </p:txBody>
      </p:sp>
      <p:sp>
        <p:nvSpPr>
          <p:cNvPr id="3" name="矩形 2"/>
          <p:cNvSpPr/>
          <p:nvPr/>
        </p:nvSpPr>
        <p:spPr>
          <a:xfrm>
            <a:off x="2987081" y="6063165"/>
            <a:ext cx="1027845" cy="400110"/>
          </a:xfrm>
          <a:prstGeom prst="rect">
            <a:avLst/>
          </a:prstGeom>
        </p:spPr>
        <p:txBody>
          <a:bodyPr wrap="none">
            <a:spAutoFit/>
          </a:bodyPr>
          <a:lstStyle/>
          <a:p>
            <a:r>
              <a:rPr lang="en-US" altLang="zh-CN" dirty="0"/>
              <a:t>{B</a:t>
            </a:r>
            <a:r>
              <a:rPr lang="en-US" altLang="zh-CN" baseline="-25000" dirty="0"/>
              <a:t>1</a:t>
            </a:r>
            <a:r>
              <a:rPr lang="en-US" altLang="zh-CN" dirty="0"/>
              <a:t>,B</a:t>
            </a:r>
            <a:r>
              <a:rPr lang="en-US" altLang="zh-CN" baseline="-25000" dirty="0"/>
              <a:t>2</a:t>
            </a:r>
            <a:r>
              <a:rPr lang="en-US" altLang="zh-CN" dirty="0"/>
              <a:t>} </a:t>
            </a:r>
            <a:endParaRPr lang="zh-CN" altLang="en-US" dirty="0"/>
          </a:p>
        </p:txBody>
      </p:sp>
      <p:sp>
        <p:nvSpPr>
          <p:cNvPr id="4" name="矩形 3"/>
          <p:cNvSpPr/>
          <p:nvPr/>
        </p:nvSpPr>
        <p:spPr>
          <a:xfrm>
            <a:off x="3972104" y="6011988"/>
            <a:ext cx="971741" cy="707886"/>
          </a:xfrm>
          <a:prstGeom prst="rect">
            <a:avLst/>
          </a:prstGeom>
        </p:spPr>
        <p:txBody>
          <a:bodyPr wrap="none">
            <a:spAutoFit/>
          </a:bodyPr>
          <a:lstStyle/>
          <a:p>
            <a:r>
              <a:rPr lang="en-US" altLang="zh-CN" dirty="0"/>
              <a:t>{</a:t>
            </a:r>
            <a:r>
              <a:rPr lang="en-US" altLang="zh-CN" dirty="0">
                <a:cs typeface="Courier New" panose="02070309020205020404" pitchFamily="49" charset="0"/>
              </a:rPr>
              <a:t>C</a:t>
            </a:r>
            <a:r>
              <a:rPr lang="en-US" altLang="zh-CN" baseline="-30000" dirty="0">
                <a:cs typeface="Courier New" panose="02070309020205020404" pitchFamily="49" charset="0"/>
              </a:rPr>
              <a:t>1</a:t>
            </a:r>
            <a:r>
              <a:rPr lang="en-US" altLang="zh-CN" dirty="0">
                <a:cs typeface="Courier New" panose="02070309020205020404" pitchFamily="49" charset="0"/>
              </a:rPr>
              <a:t>,C</a:t>
            </a:r>
            <a:r>
              <a:rPr lang="en-US" altLang="zh-CN" baseline="-30000" dirty="0">
                <a:cs typeface="Courier New" panose="02070309020205020404" pitchFamily="49" charset="0"/>
              </a:rPr>
              <a:t>2</a:t>
            </a:r>
            <a:r>
              <a:rPr lang="en-US" altLang="zh-CN" dirty="0" smtClean="0">
                <a:cs typeface="Courier New" panose="02070309020205020404" pitchFamily="49" charset="0"/>
              </a:rPr>
              <a:t>,</a:t>
            </a:r>
          </a:p>
          <a:p>
            <a:r>
              <a:rPr lang="en-US" altLang="zh-CN" dirty="0" smtClean="0">
                <a:cs typeface="Courier New" panose="02070309020205020404" pitchFamily="49" charset="0"/>
              </a:rPr>
              <a:t>C</a:t>
            </a:r>
            <a:r>
              <a:rPr lang="en-US" altLang="zh-CN" baseline="-30000" dirty="0" smtClean="0">
                <a:cs typeface="Courier New" panose="02070309020205020404" pitchFamily="49" charset="0"/>
              </a:rPr>
              <a:t>3</a:t>
            </a:r>
            <a:r>
              <a:rPr lang="en-US" altLang="zh-CN" dirty="0" smtClean="0">
                <a:cs typeface="Courier New" panose="02070309020205020404" pitchFamily="49" charset="0"/>
              </a:rPr>
              <a:t>,C</a:t>
            </a:r>
            <a:r>
              <a:rPr lang="en-US" altLang="zh-CN" baseline="-30000" dirty="0" smtClean="0">
                <a:cs typeface="Courier New" panose="02070309020205020404" pitchFamily="49" charset="0"/>
              </a:rPr>
              <a:t>4</a:t>
            </a:r>
            <a:r>
              <a:rPr lang="en-US" altLang="zh-CN" dirty="0"/>
              <a:t>} </a:t>
            </a:r>
            <a:endParaRPr lang="zh-CN" altLang="en-US" dirty="0"/>
          </a:p>
        </p:txBody>
      </p:sp>
      <p:sp>
        <p:nvSpPr>
          <p:cNvPr id="5" name="矩形 4"/>
          <p:cNvSpPr/>
          <p:nvPr/>
        </p:nvSpPr>
        <p:spPr>
          <a:xfrm>
            <a:off x="3998627" y="6063165"/>
            <a:ext cx="1816523" cy="590931"/>
          </a:xfrm>
          <a:prstGeom prst="rect">
            <a:avLst/>
          </a:prstGeom>
        </p:spPr>
        <p:txBody>
          <a:bodyPr wrap="none">
            <a:spAutoFit/>
          </a:bodyPr>
          <a:lstStyle/>
          <a:p>
            <a:pPr lvl="2" eaLnBrk="1" hangingPunct="1">
              <a:lnSpc>
                <a:spcPct val="90000"/>
              </a:lnSpc>
            </a:pPr>
            <a:r>
              <a:rPr lang="en-US" altLang="zh-CN" sz="1800" dirty="0"/>
              <a:t>{</a:t>
            </a:r>
            <a:r>
              <a:rPr lang="en-US" altLang="zh-CN" sz="1800" dirty="0">
                <a:cs typeface="Courier New" panose="02070309020205020404" pitchFamily="49" charset="0"/>
              </a:rPr>
              <a:t>D</a:t>
            </a:r>
            <a:r>
              <a:rPr lang="en-US" altLang="zh-CN" sz="1800" baseline="-30000" dirty="0">
                <a:cs typeface="Courier New" panose="02070309020205020404" pitchFamily="49" charset="0"/>
              </a:rPr>
              <a:t>1</a:t>
            </a:r>
            <a:r>
              <a:rPr lang="en-US" altLang="zh-CN" sz="1800" dirty="0">
                <a:cs typeface="Courier New" panose="02070309020205020404" pitchFamily="49" charset="0"/>
              </a:rPr>
              <a:t>,D</a:t>
            </a:r>
            <a:r>
              <a:rPr lang="en-US" altLang="zh-CN" sz="1800" baseline="-30000" dirty="0">
                <a:cs typeface="Courier New" panose="02070309020205020404" pitchFamily="49" charset="0"/>
              </a:rPr>
              <a:t>2</a:t>
            </a:r>
            <a:r>
              <a:rPr lang="en-US" altLang="zh-CN" sz="1800" dirty="0" smtClean="0">
                <a:cs typeface="Courier New" panose="02070309020205020404" pitchFamily="49" charset="0"/>
              </a:rPr>
              <a:t>,</a:t>
            </a:r>
          </a:p>
          <a:p>
            <a:pPr lvl="2" eaLnBrk="1" hangingPunct="1">
              <a:lnSpc>
                <a:spcPct val="90000"/>
              </a:lnSpc>
            </a:pPr>
            <a:r>
              <a:rPr lang="en-US" altLang="zh-CN" sz="1800" dirty="0" smtClean="0">
                <a:cs typeface="Courier New" panose="02070309020205020404" pitchFamily="49" charset="0"/>
              </a:rPr>
              <a:t>D</a:t>
            </a:r>
            <a:r>
              <a:rPr lang="en-US" altLang="zh-CN" sz="1800" baseline="-30000" dirty="0" smtClean="0">
                <a:cs typeface="Courier New" panose="02070309020205020404" pitchFamily="49" charset="0"/>
              </a:rPr>
              <a:t>3</a:t>
            </a:r>
            <a:r>
              <a:rPr lang="en-US" altLang="zh-CN" sz="1800" dirty="0"/>
              <a:t>}</a:t>
            </a:r>
            <a:endParaRPr lang="zh-CN" altLang="en-US" sz="1800" dirty="0"/>
          </a:p>
        </p:txBody>
      </p:sp>
      <p:sp>
        <p:nvSpPr>
          <p:cNvPr id="23" name="矩形 22"/>
          <p:cNvSpPr/>
          <p:nvPr/>
        </p:nvSpPr>
        <p:spPr>
          <a:xfrm>
            <a:off x="4886388" y="6057077"/>
            <a:ext cx="1803699" cy="590931"/>
          </a:xfrm>
          <a:prstGeom prst="rect">
            <a:avLst/>
          </a:prstGeom>
        </p:spPr>
        <p:txBody>
          <a:bodyPr wrap="none">
            <a:spAutoFit/>
          </a:bodyPr>
          <a:lstStyle/>
          <a:p>
            <a:pPr lvl="2" eaLnBrk="1" hangingPunct="1">
              <a:lnSpc>
                <a:spcPct val="90000"/>
              </a:lnSpc>
            </a:pPr>
            <a:r>
              <a:rPr lang="en-US" altLang="zh-CN" sz="1800" dirty="0" smtClean="0"/>
              <a:t>{</a:t>
            </a:r>
            <a:r>
              <a:rPr lang="en-US" altLang="zh-CN" sz="1800" dirty="0" smtClean="0">
                <a:cs typeface="Courier New" panose="02070309020205020404" pitchFamily="49" charset="0"/>
              </a:rPr>
              <a:t>E</a:t>
            </a:r>
            <a:r>
              <a:rPr lang="en-US" altLang="zh-CN" sz="1800" baseline="-30000" dirty="0" smtClean="0">
                <a:cs typeface="Courier New" panose="02070309020205020404" pitchFamily="49" charset="0"/>
              </a:rPr>
              <a:t>1</a:t>
            </a:r>
            <a:r>
              <a:rPr lang="en-US" altLang="zh-CN" sz="1800" dirty="0" smtClean="0">
                <a:cs typeface="Courier New" panose="02070309020205020404" pitchFamily="49" charset="0"/>
              </a:rPr>
              <a:t>,E</a:t>
            </a:r>
            <a:r>
              <a:rPr lang="en-US" altLang="zh-CN" sz="1800" baseline="-30000" dirty="0" smtClean="0">
                <a:cs typeface="Courier New" panose="02070309020205020404" pitchFamily="49" charset="0"/>
              </a:rPr>
              <a:t>2</a:t>
            </a:r>
            <a:r>
              <a:rPr lang="en-US" altLang="zh-CN" sz="1800" dirty="0" smtClean="0">
                <a:cs typeface="Courier New" panose="02070309020205020404" pitchFamily="49" charset="0"/>
              </a:rPr>
              <a:t>,</a:t>
            </a:r>
          </a:p>
          <a:p>
            <a:pPr lvl="2" eaLnBrk="1" hangingPunct="1">
              <a:lnSpc>
                <a:spcPct val="90000"/>
              </a:lnSpc>
            </a:pPr>
            <a:r>
              <a:rPr lang="en-US" altLang="zh-CN" sz="1800" dirty="0" smtClean="0">
                <a:cs typeface="Courier New" panose="02070309020205020404" pitchFamily="49" charset="0"/>
              </a:rPr>
              <a:t>E</a:t>
            </a:r>
            <a:r>
              <a:rPr lang="en-US" altLang="zh-CN" sz="1800" baseline="-30000" dirty="0" smtClean="0">
                <a:cs typeface="Courier New" panose="02070309020205020404" pitchFamily="49" charset="0"/>
              </a:rPr>
              <a:t>3</a:t>
            </a:r>
            <a:r>
              <a:rPr lang="en-US" altLang="zh-CN" sz="1800" dirty="0"/>
              <a:t>}</a:t>
            </a:r>
            <a:endParaRPr lang="zh-CN" altLang="en-US" sz="1800" dirty="0"/>
          </a:p>
        </p:txBody>
      </p:sp>
      <p:sp>
        <p:nvSpPr>
          <p:cNvPr id="24" name="矩形 23"/>
          <p:cNvSpPr/>
          <p:nvPr/>
        </p:nvSpPr>
        <p:spPr>
          <a:xfrm>
            <a:off x="5788237" y="6068821"/>
            <a:ext cx="1842171" cy="341632"/>
          </a:xfrm>
          <a:prstGeom prst="rect">
            <a:avLst/>
          </a:prstGeom>
        </p:spPr>
        <p:txBody>
          <a:bodyPr wrap="none">
            <a:spAutoFit/>
          </a:bodyPr>
          <a:lstStyle/>
          <a:p>
            <a:pPr lvl="2" eaLnBrk="1" hangingPunct="1">
              <a:lnSpc>
                <a:spcPct val="90000"/>
              </a:lnSpc>
            </a:pPr>
            <a:r>
              <a:rPr lang="en-US" altLang="zh-CN" sz="1800" dirty="0" smtClean="0"/>
              <a:t>{</a:t>
            </a:r>
            <a:r>
              <a:rPr lang="en-US" altLang="zh-CN" sz="1800" dirty="0" smtClean="0">
                <a:cs typeface="Courier New" panose="02070309020205020404" pitchFamily="49" charset="0"/>
              </a:rPr>
              <a:t>F</a:t>
            </a:r>
            <a:r>
              <a:rPr lang="en-US" altLang="zh-CN" sz="1800" baseline="-30000" dirty="0" smtClean="0">
                <a:cs typeface="Courier New" panose="02070309020205020404" pitchFamily="49" charset="0"/>
              </a:rPr>
              <a:t>1</a:t>
            </a:r>
            <a:r>
              <a:rPr lang="en-US" altLang="zh-CN" sz="1800" dirty="0" smtClean="0">
                <a:cs typeface="Courier New" panose="02070309020205020404" pitchFamily="49" charset="0"/>
              </a:rPr>
              <a:t>,F</a:t>
            </a:r>
            <a:r>
              <a:rPr lang="en-US" altLang="zh-CN" sz="1800" baseline="-30000" dirty="0" smtClean="0">
                <a:cs typeface="Courier New" panose="02070309020205020404" pitchFamily="49" charset="0"/>
              </a:rPr>
              <a:t>2</a:t>
            </a:r>
            <a:r>
              <a:rPr lang="en-US" altLang="zh-CN" sz="1800" dirty="0" smtClean="0"/>
              <a:t>}</a:t>
            </a:r>
            <a:endParaRPr lang="zh-CN" altLang="en-US" sz="1800" dirty="0"/>
          </a:p>
        </p:txBody>
      </p:sp>
      <p:sp>
        <p:nvSpPr>
          <p:cNvPr id="20" name="矩形 19"/>
          <p:cNvSpPr/>
          <p:nvPr/>
        </p:nvSpPr>
        <p:spPr>
          <a:xfrm>
            <a:off x="395536" y="5651956"/>
            <a:ext cx="8521856" cy="369332"/>
          </a:xfrm>
          <a:prstGeom prst="rect">
            <a:avLst/>
          </a:prstGeom>
        </p:spPr>
        <p:txBody>
          <a:bodyPr wrap="square">
            <a:spAutoFit/>
          </a:bodyPr>
          <a:lstStyle/>
          <a:p>
            <a:pPr lvl="2" eaLnBrk="1" hangingPunct="1">
              <a:lnSpc>
                <a:spcPct val="90000"/>
              </a:lnSpc>
            </a:pPr>
            <a:r>
              <a:rPr lang="zh-CN" altLang="en-US" dirty="0" smtClean="0"/>
              <a:t>阶段</a:t>
            </a:r>
            <a:r>
              <a:rPr lang="en-US" altLang="zh-CN" i="1" dirty="0" smtClean="0"/>
              <a:t>k</a:t>
            </a:r>
            <a:r>
              <a:rPr lang="zh-CN" altLang="en-US" dirty="0" smtClean="0"/>
              <a:t>： </a:t>
            </a:r>
            <a:r>
              <a:rPr lang="en-US" altLang="zh-CN" i="1" dirty="0" smtClean="0"/>
              <a:t>k</a:t>
            </a:r>
            <a:r>
              <a:rPr lang="en-US" altLang="zh-CN" dirty="0" smtClean="0"/>
              <a:t>=1     </a:t>
            </a:r>
            <a:r>
              <a:rPr lang="en-US" altLang="zh-CN" i="1" dirty="0" smtClean="0"/>
              <a:t>k</a:t>
            </a:r>
            <a:r>
              <a:rPr lang="en-US" altLang="zh-CN" dirty="0" smtClean="0"/>
              <a:t>=2       </a:t>
            </a:r>
            <a:r>
              <a:rPr lang="en-US" altLang="zh-CN" i="1" dirty="0" smtClean="0"/>
              <a:t>k</a:t>
            </a:r>
            <a:r>
              <a:rPr lang="en-US" altLang="zh-CN" dirty="0" smtClean="0"/>
              <a:t>=3        </a:t>
            </a:r>
            <a:r>
              <a:rPr lang="en-US" altLang="zh-CN" i="1" dirty="0" smtClean="0"/>
              <a:t>k</a:t>
            </a:r>
            <a:r>
              <a:rPr lang="en-US" altLang="zh-CN" dirty="0" smtClean="0"/>
              <a:t>=4      </a:t>
            </a:r>
            <a:r>
              <a:rPr lang="en-US" altLang="zh-CN" i="1" dirty="0" smtClean="0"/>
              <a:t>k</a:t>
            </a:r>
            <a:r>
              <a:rPr lang="en-US" altLang="zh-CN" dirty="0" smtClean="0"/>
              <a:t>=5       </a:t>
            </a:r>
            <a:r>
              <a:rPr lang="en-US" altLang="zh-CN" i="1" dirty="0" smtClean="0"/>
              <a:t>k</a:t>
            </a:r>
            <a:r>
              <a:rPr lang="en-US" altLang="zh-CN" dirty="0" smtClean="0"/>
              <a:t>=6</a:t>
            </a:r>
            <a:endParaRPr lang="zh-CN" altLang="en-US" dirty="0"/>
          </a:p>
        </p:txBody>
      </p:sp>
      <p:sp>
        <p:nvSpPr>
          <p:cNvPr id="2" name="圆角矩形标注 1"/>
          <p:cNvSpPr/>
          <p:nvPr/>
        </p:nvSpPr>
        <p:spPr bwMode="auto">
          <a:xfrm>
            <a:off x="7626868" y="5948745"/>
            <a:ext cx="1517289" cy="374571"/>
          </a:xfrm>
          <a:prstGeom prst="wedgeRoundRectCallout">
            <a:avLst>
              <a:gd name="adj1" fmla="val -60682"/>
              <a:gd name="adj2" fmla="val 94901"/>
              <a:gd name="adj3" fmla="val 16667"/>
            </a:avLst>
          </a:prstGeom>
          <a:solidFill>
            <a:schemeClr val="tx1">
              <a:lumMod val="10000"/>
              <a:lumOff val="90000"/>
            </a:schemeClr>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spAutoFit/>
          </a:bodyPr>
          <a:lstStyle/>
          <a:p>
            <a:pPr marR="0" algn="l" defTabSz="914400" rtl="0" eaLnBrk="1" fontAlgn="base" latinLnBrk="0" hangingPunct="1">
              <a:lnSpc>
                <a:spcPct val="100000"/>
              </a:lnSpc>
              <a:spcBef>
                <a:spcPct val="20000"/>
              </a:spcBef>
              <a:spcAft>
                <a:spcPct val="0"/>
              </a:spcAft>
              <a:buClr>
                <a:srgbClr val="553AF8"/>
              </a:buClr>
              <a:buSzPct val="70000"/>
              <a:tabLst/>
            </a:pPr>
            <a:r>
              <a:rPr lang="zh-CN" altLang="en-US" sz="1600" dirty="0" smtClean="0"/>
              <a:t>可达状态集合</a:t>
            </a:r>
            <a:endParaRPr kumimoji="0" lang="zh-CN" altLang="en-US" sz="16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2329918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 grpId="0"/>
      <p:bldP spid="4" grpId="0"/>
      <p:bldP spid="5" grpId="0"/>
      <p:bldP spid="23" grpId="0"/>
      <p:bldP spid="24" grpId="0"/>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2FC8D7D-D21A-4A07-ABE6-E70C38530ED7}" type="slidenum">
              <a:rPr lang="en-US" altLang="zh-CN" sz="1000"/>
              <a:pPr>
                <a:spcBef>
                  <a:spcPct val="0"/>
                </a:spcBef>
                <a:buClrTx/>
                <a:buSzTx/>
                <a:buFontTx/>
                <a:buNone/>
              </a:pPr>
              <a:t>4</a:t>
            </a:fld>
            <a:endParaRPr lang="en-US" altLang="zh-CN" sz="1000"/>
          </a:p>
        </p:txBody>
      </p:sp>
      <p:sp>
        <p:nvSpPr>
          <p:cNvPr id="9220" name="Rectangle 2"/>
          <p:cNvSpPr>
            <a:spLocks noGrp="1" noChangeArrowheads="1"/>
          </p:cNvSpPr>
          <p:nvPr>
            <p:ph type="title"/>
          </p:nvPr>
        </p:nvSpPr>
        <p:spPr/>
        <p:txBody>
          <a:bodyPr/>
          <a:lstStyle/>
          <a:p>
            <a:pPr eaLnBrk="1" hangingPunct="1"/>
            <a:r>
              <a:rPr lang="en-US" altLang="zh-CN" b="1" dirty="0"/>
              <a:t>8.1.1  </a:t>
            </a:r>
            <a:r>
              <a:rPr lang="zh-CN" altLang="en-US" b="1" dirty="0"/>
              <a:t>动态规划的基本概念</a:t>
            </a:r>
            <a:r>
              <a:rPr lang="zh-CN" altLang="en-US" dirty="0"/>
              <a:t> </a:t>
            </a:r>
          </a:p>
        </p:txBody>
      </p:sp>
      <p:sp>
        <p:nvSpPr>
          <p:cNvPr id="9221" name="Rectangle 3"/>
          <p:cNvSpPr>
            <a:spLocks noGrp="1" noChangeArrowheads="1"/>
          </p:cNvSpPr>
          <p:nvPr>
            <p:ph type="body" idx="1"/>
          </p:nvPr>
        </p:nvSpPr>
        <p:spPr>
          <a:xfrm>
            <a:off x="96601" y="1216145"/>
            <a:ext cx="8569325" cy="2862322"/>
          </a:xfrm>
        </p:spPr>
        <p:txBody>
          <a:bodyPr/>
          <a:lstStyle/>
          <a:p>
            <a:pPr eaLnBrk="1" hangingPunct="1"/>
            <a:r>
              <a:rPr lang="en-US" altLang="zh-CN" sz="2400" dirty="0"/>
              <a:t>2</a:t>
            </a:r>
            <a:r>
              <a:rPr lang="zh-CN" altLang="en-US" sz="2400" dirty="0"/>
              <a:t>．状态与状态变量</a:t>
            </a:r>
          </a:p>
          <a:p>
            <a:pPr lvl="1" eaLnBrk="1" hangingPunct="1"/>
            <a:r>
              <a:rPr lang="zh-CN" altLang="en-US" dirty="0"/>
              <a:t>动态规划状态必须满足两个条件：</a:t>
            </a:r>
          </a:p>
          <a:p>
            <a:pPr marL="449262" lvl="1" indent="0" eaLnBrk="1" hangingPunct="1">
              <a:buNone/>
            </a:pPr>
            <a:r>
              <a:rPr lang="zh-CN" altLang="en-US" dirty="0"/>
              <a:t>          ①能描述问题的过程</a:t>
            </a:r>
          </a:p>
          <a:p>
            <a:pPr marL="449262" lvl="1" indent="0" eaLnBrk="1" hangingPunct="1">
              <a:buNone/>
            </a:pPr>
            <a:r>
              <a:rPr lang="zh-CN" altLang="en-US" dirty="0"/>
              <a:t>          ②满足无后效</a:t>
            </a:r>
            <a:r>
              <a:rPr lang="zh-CN" altLang="en-US" dirty="0" smtClean="0"/>
              <a:t>性（</a:t>
            </a:r>
            <a:r>
              <a:rPr lang="zh-CN" altLang="en-US" dirty="0"/>
              <a:t>马尔科夫性</a:t>
            </a:r>
            <a:r>
              <a:rPr lang="zh-CN" altLang="en-US" dirty="0" smtClean="0"/>
              <a:t>）</a:t>
            </a:r>
            <a:endParaRPr lang="zh-CN" altLang="en-US" dirty="0"/>
          </a:p>
          <a:p>
            <a:pPr lvl="1" eaLnBrk="1" hangingPunct="1"/>
            <a:r>
              <a:rPr lang="zh-CN" altLang="en-US" dirty="0" smtClean="0"/>
              <a:t>马尔科夫性：如果某阶段状态给定后，则在这阶段</a:t>
            </a:r>
            <a:r>
              <a:rPr lang="zh-CN" altLang="en-US" dirty="0" smtClean="0">
                <a:solidFill>
                  <a:srgbClr val="FF0000"/>
                </a:solidFill>
              </a:rPr>
              <a:t>以后过程的发展不受这阶段以前各阶段状态的影响</a:t>
            </a:r>
            <a:r>
              <a:rPr lang="zh-CN" altLang="en-US" dirty="0" smtClean="0"/>
              <a:t>。换句话说，当前的状态是以往历史的一个总结，过程的</a:t>
            </a:r>
            <a:r>
              <a:rPr lang="zh-CN" altLang="en-US" dirty="0" smtClean="0">
                <a:solidFill>
                  <a:srgbClr val="FF0000"/>
                </a:solidFill>
              </a:rPr>
              <a:t>过去历史只能通过当前的状态去影响它未来的发展</a:t>
            </a:r>
            <a:r>
              <a:rPr lang="zh-CN" altLang="en-US" dirty="0" smtClean="0"/>
              <a:t>。这个性质称为</a:t>
            </a:r>
            <a:r>
              <a:rPr lang="zh-CN" altLang="en-US" dirty="0" smtClean="0">
                <a:solidFill>
                  <a:srgbClr val="FF0000"/>
                </a:solidFill>
              </a:rPr>
              <a:t>无后效性</a:t>
            </a:r>
            <a:r>
              <a:rPr lang="en-US" altLang="zh-CN" dirty="0" smtClean="0"/>
              <a:t>(</a:t>
            </a:r>
            <a:r>
              <a:rPr lang="zh-CN" altLang="en-US" dirty="0" smtClean="0"/>
              <a:t>即马尔科夫性</a:t>
            </a:r>
            <a:r>
              <a:rPr lang="en-US" altLang="zh-CN" dirty="0" smtClean="0"/>
              <a:t>)</a:t>
            </a:r>
            <a:r>
              <a:rPr lang="zh-CN" altLang="en-US" dirty="0" smtClean="0"/>
              <a:t>。</a:t>
            </a:r>
            <a:endParaRPr lang="zh-CN" altLang="en-US" dirty="0"/>
          </a:p>
        </p:txBody>
      </p:sp>
    </p:spTree>
    <p:extLst>
      <p:ext uri="{BB962C8B-B14F-4D97-AF65-F5344CB8AC3E}">
        <p14:creationId xmlns:p14="http://schemas.microsoft.com/office/powerpoint/2010/main" val="13814382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2FC8D7D-D21A-4A07-ABE6-E70C38530ED7}" type="slidenum">
              <a:rPr lang="en-US" altLang="zh-CN" sz="1000"/>
              <a:pPr>
                <a:spcBef>
                  <a:spcPct val="0"/>
                </a:spcBef>
                <a:buClrTx/>
                <a:buSzTx/>
                <a:buFontTx/>
                <a:buNone/>
              </a:pPr>
              <a:t>5</a:t>
            </a:fld>
            <a:endParaRPr lang="en-US" altLang="zh-CN" sz="1000" dirty="0"/>
          </a:p>
        </p:txBody>
      </p:sp>
      <p:sp>
        <p:nvSpPr>
          <p:cNvPr id="9220" name="Rectangle 2"/>
          <p:cNvSpPr>
            <a:spLocks noGrp="1" noChangeArrowheads="1"/>
          </p:cNvSpPr>
          <p:nvPr>
            <p:ph type="title"/>
          </p:nvPr>
        </p:nvSpPr>
        <p:spPr/>
        <p:txBody>
          <a:bodyPr/>
          <a:lstStyle/>
          <a:p>
            <a:pPr eaLnBrk="1" hangingPunct="1"/>
            <a:r>
              <a:rPr lang="en-US" altLang="zh-CN" b="1" dirty="0"/>
              <a:t>8.1.1  </a:t>
            </a:r>
            <a:r>
              <a:rPr lang="zh-CN" altLang="en-US" b="1" dirty="0"/>
              <a:t>动态规划的基本概念</a:t>
            </a:r>
            <a:r>
              <a:rPr lang="zh-CN" altLang="en-US" dirty="0"/>
              <a:t> </a:t>
            </a:r>
          </a:p>
        </p:txBody>
      </p:sp>
      <p:sp>
        <p:nvSpPr>
          <p:cNvPr id="9221" name="Rectangle 3"/>
          <p:cNvSpPr>
            <a:spLocks noGrp="1" noChangeArrowheads="1"/>
          </p:cNvSpPr>
          <p:nvPr>
            <p:ph type="body" idx="1"/>
          </p:nvPr>
        </p:nvSpPr>
        <p:spPr>
          <a:xfrm>
            <a:off x="1" y="1216145"/>
            <a:ext cx="9141296" cy="2862322"/>
          </a:xfrm>
        </p:spPr>
        <p:txBody>
          <a:bodyPr/>
          <a:lstStyle/>
          <a:p>
            <a:pPr eaLnBrk="1" hangingPunct="1"/>
            <a:r>
              <a:rPr lang="en-US" altLang="zh-CN" sz="2400" dirty="0"/>
              <a:t>3</a:t>
            </a:r>
            <a:r>
              <a:rPr lang="zh-CN" altLang="en-US" sz="2400" dirty="0"/>
              <a:t>．决策</a:t>
            </a:r>
          </a:p>
          <a:p>
            <a:pPr lvl="1" eaLnBrk="1" hangingPunct="1"/>
            <a:r>
              <a:rPr lang="zh-CN" altLang="en-US" dirty="0">
                <a:latin typeface="Times New Roman" panose="02020603050405020304" pitchFamily="18" charset="0"/>
                <a:cs typeface="Times New Roman" panose="02020603050405020304" pitchFamily="18" charset="0"/>
              </a:rPr>
              <a:t>决策：当过程处于</a:t>
            </a:r>
            <a:r>
              <a:rPr lang="zh-CN" altLang="en-US" dirty="0">
                <a:solidFill>
                  <a:srgbClr val="FF0000"/>
                </a:solidFill>
                <a:latin typeface="Times New Roman" panose="02020603050405020304" pitchFamily="18" charset="0"/>
                <a:cs typeface="Times New Roman" panose="02020603050405020304" pitchFamily="18" charset="0"/>
              </a:rPr>
              <a:t>某一阶段的某个状态</a:t>
            </a:r>
            <a:r>
              <a:rPr lang="zh-CN" altLang="en-US" dirty="0" smtClean="0">
                <a:solidFill>
                  <a:srgbClr val="FF0000"/>
                </a:solidFill>
                <a:latin typeface="Times New Roman" panose="02020603050405020304" pitchFamily="18" charset="0"/>
                <a:cs typeface="Times New Roman" panose="02020603050405020304" pitchFamily="18" charset="0"/>
              </a:rPr>
              <a:t>时作出的决定</a:t>
            </a:r>
            <a:r>
              <a:rPr lang="zh-CN" altLang="en-US" dirty="0" smtClean="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从而确定下一阶段的</a:t>
            </a:r>
            <a:r>
              <a:rPr lang="zh-CN" altLang="en-US" dirty="0" smtClean="0">
                <a:latin typeface="Times New Roman" panose="02020603050405020304" pitchFamily="18" charset="0"/>
                <a:cs typeface="Times New Roman" panose="02020603050405020304" pitchFamily="18" charset="0"/>
              </a:rPr>
              <a:t>状态。</a:t>
            </a:r>
            <a:r>
              <a:rPr lang="zh-CN" altLang="en-US" dirty="0">
                <a:latin typeface="Times New Roman" panose="02020603050405020304" pitchFamily="18" charset="0"/>
                <a:cs typeface="Times New Roman" panose="02020603050405020304" pitchFamily="18" charset="0"/>
              </a:rPr>
              <a:t>在最优控制中也称为控制。</a:t>
            </a:r>
            <a:endParaRPr lang="en-US" altLang="zh-CN" dirty="0">
              <a:latin typeface="Times New Roman" panose="02020603050405020304" pitchFamily="18" charset="0"/>
              <a:cs typeface="Times New Roman" panose="02020603050405020304" pitchFamily="18" charset="0"/>
            </a:endParaRPr>
          </a:p>
          <a:p>
            <a:pPr lvl="1" eaLnBrk="1" hangingPunct="1"/>
            <a:r>
              <a:rPr lang="zh-CN" altLang="en-US" dirty="0">
                <a:solidFill>
                  <a:srgbClr val="FF0000"/>
                </a:solidFill>
                <a:latin typeface="Times New Roman" panose="02020603050405020304" pitchFamily="18" charset="0"/>
                <a:cs typeface="Times New Roman" panose="02020603050405020304" pitchFamily="18" charset="0"/>
              </a:rPr>
              <a:t>决策变量</a:t>
            </a:r>
            <a:r>
              <a:rPr lang="zh-CN" altLang="en-US" dirty="0">
                <a:latin typeface="Times New Roman" panose="02020603050405020304" pitchFamily="18" charset="0"/>
                <a:cs typeface="Times New Roman" panose="02020603050405020304" pitchFamily="18" charset="0"/>
              </a:rPr>
              <a:t>：描述决策的变量，</a:t>
            </a:r>
            <a:r>
              <a:rPr lang="zh-CN" altLang="en-US" dirty="0">
                <a:solidFill>
                  <a:srgbClr val="FF0000"/>
                </a:solidFill>
                <a:latin typeface="Times New Roman" panose="02020603050405020304" pitchFamily="18" charset="0"/>
                <a:cs typeface="Times New Roman" panose="02020603050405020304" pitchFamily="18" charset="0"/>
              </a:rPr>
              <a:t>是状态变量的函数</a:t>
            </a:r>
            <a:r>
              <a:rPr lang="zh-CN" altLang="en-US" dirty="0">
                <a:latin typeface="Times New Roman" panose="02020603050405020304" pitchFamily="18" charset="0"/>
                <a:cs typeface="Times New Roman" panose="02020603050405020304" pitchFamily="18" charset="0"/>
              </a:rPr>
              <a:t>。可用一个数、一组数或一向量来描述。</a:t>
            </a:r>
            <a:r>
              <a:rPr lang="zh-CN" altLang="en-US" dirty="0" smtClean="0">
                <a:latin typeface="Times New Roman" panose="02020603050405020304" pitchFamily="18" charset="0"/>
                <a:cs typeface="Times New Roman" panose="02020603050405020304" pitchFamily="18" charset="0"/>
              </a:rPr>
              <a:t>常用</a:t>
            </a:r>
            <a:r>
              <a:rPr lang="en-US" altLang="zh-CN" i="1" dirty="0" err="1" smtClean="0">
                <a:solidFill>
                  <a:srgbClr val="FF0000"/>
                </a:solidFill>
                <a:latin typeface="Times New Roman" panose="02020603050405020304" pitchFamily="18" charset="0"/>
                <a:cs typeface="Times New Roman" panose="02020603050405020304" pitchFamily="18" charset="0"/>
              </a:rPr>
              <a:t>x</a:t>
            </a:r>
            <a:r>
              <a:rPr lang="en-US" altLang="zh-CN" i="1" baseline="-30000" dirty="0" err="1" smtClean="0">
                <a:solidFill>
                  <a:srgbClr val="FF0000"/>
                </a:solidFill>
                <a:latin typeface="Times New Roman" panose="02020603050405020304" pitchFamily="18" charset="0"/>
                <a:cs typeface="Times New Roman" panose="02020603050405020304" pitchFamily="18" charset="0"/>
              </a:rPr>
              <a:t>k</a:t>
            </a:r>
            <a:r>
              <a:rPr lang="en-US" altLang="zh-CN" dirty="0" smtClean="0">
                <a:solidFill>
                  <a:srgbClr val="FF0000"/>
                </a:solidFill>
                <a:latin typeface="Times New Roman" panose="02020603050405020304" pitchFamily="18" charset="0"/>
                <a:cs typeface="Times New Roman" panose="02020603050405020304" pitchFamily="18" charset="0"/>
              </a:rPr>
              <a:t>(</a:t>
            </a:r>
            <a:r>
              <a:rPr lang="en-US" altLang="zh-CN" i="1" dirty="0" err="1" smtClean="0">
                <a:solidFill>
                  <a:srgbClr val="FF0000"/>
                </a:solidFill>
                <a:latin typeface="Times New Roman" panose="02020603050405020304" pitchFamily="18" charset="0"/>
                <a:cs typeface="Times New Roman" panose="02020603050405020304" pitchFamily="18" charset="0"/>
              </a:rPr>
              <a:t>s</a:t>
            </a:r>
            <a:r>
              <a:rPr lang="en-US" altLang="zh-CN" i="1" baseline="-30000" dirty="0" err="1" smtClean="0">
                <a:solidFill>
                  <a:srgbClr val="FF0000"/>
                </a:solidFill>
                <a:latin typeface="Times New Roman" panose="02020603050405020304" pitchFamily="18" charset="0"/>
                <a:cs typeface="Times New Roman" panose="02020603050405020304" pitchFamily="18" charset="0"/>
              </a:rPr>
              <a:t>k</a:t>
            </a:r>
            <a:r>
              <a:rPr lang="en-US" altLang="zh-CN" dirty="0" smtClean="0">
                <a:solidFill>
                  <a:srgbClr val="FF0000"/>
                </a:solidFill>
                <a:latin typeface="Times New Roman" panose="02020603050405020304" pitchFamily="18" charset="0"/>
                <a:cs typeface="Times New Roman" panose="02020603050405020304" pitchFamily="18" charset="0"/>
              </a:rPr>
              <a:t>)</a:t>
            </a:r>
            <a:r>
              <a:rPr lang="zh-CN" altLang="en-US" dirty="0" smtClean="0">
                <a:latin typeface="Times New Roman" panose="02020603050405020304" pitchFamily="18" charset="0"/>
                <a:cs typeface="Times New Roman" panose="02020603050405020304" pitchFamily="18" charset="0"/>
              </a:rPr>
              <a:t>表示</a:t>
            </a:r>
            <a:r>
              <a:rPr lang="zh-CN" altLang="en-US" dirty="0">
                <a:latin typeface="Times New Roman" panose="02020603050405020304" pitchFamily="18" charset="0"/>
                <a:cs typeface="Times New Roman" panose="02020603050405020304" pitchFamily="18" charset="0"/>
              </a:rPr>
              <a:t>第</a:t>
            </a:r>
            <a:r>
              <a:rPr lang="en-US" altLang="zh-CN" i="1"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阶段当状态处于</a:t>
            </a:r>
            <a:r>
              <a:rPr lang="en-US" altLang="zh-CN" i="1" dirty="0" err="1">
                <a:latin typeface="Times New Roman" panose="02020603050405020304" pitchFamily="18" charset="0"/>
                <a:cs typeface="Times New Roman" panose="02020603050405020304" pitchFamily="18" charset="0"/>
              </a:rPr>
              <a:t>s</a:t>
            </a:r>
            <a:r>
              <a:rPr lang="en-US" altLang="zh-CN" i="1" baseline="-30000" dirty="0" err="1">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时的决策变量。</a:t>
            </a:r>
            <a:endParaRPr lang="en-US" altLang="zh-CN" dirty="0">
              <a:latin typeface="Times New Roman" panose="02020603050405020304" pitchFamily="18" charset="0"/>
              <a:cs typeface="Times New Roman" panose="02020603050405020304" pitchFamily="18" charset="0"/>
            </a:endParaRPr>
          </a:p>
          <a:p>
            <a:pPr lvl="1" eaLnBrk="1" hangingPunct="1"/>
            <a:r>
              <a:rPr lang="zh-CN" altLang="en-US" dirty="0">
                <a:solidFill>
                  <a:srgbClr val="FF0000"/>
                </a:solidFill>
                <a:latin typeface="Times New Roman" panose="02020603050405020304" pitchFamily="18" charset="0"/>
                <a:cs typeface="Times New Roman" panose="02020603050405020304" pitchFamily="18" charset="0"/>
              </a:rPr>
              <a:t>允许决策</a:t>
            </a:r>
            <a:r>
              <a:rPr lang="zh-CN" altLang="en-US" dirty="0" smtClean="0">
                <a:solidFill>
                  <a:srgbClr val="FF0000"/>
                </a:solidFill>
                <a:latin typeface="Times New Roman" panose="02020603050405020304" pitchFamily="18" charset="0"/>
                <a:cs typeface="Times New Roman" panose="02020603050405020304" pitchFamily="18" charset="0"/>
              </a:rPr>
              <a:t>集合</a:t>
            </a:r>
            <a:r>
              <a:rPr lang="en-US" altLang="zh-CN" dirty="0" smtClean="0">
                <a:latin typeface="Times New Roman" panose="02020603050405020304" pitchFamily="18" charset="0"/>
                <a:cs typeface="Times New Roman" panose="02020603050405020304" pitchFamily="18" charset="0"/>
              </a:rPr>
              <a:t>:</a:t>
            </a:r>
            <a:r>
              <a:rPr lang="zh-CN" altLang="en-US" dirty="0" smtClean="0">
                <a:latin typeface="Times New Roman" panose="02020603050405020304" pitchFamily="18" charset="0"/>
                <a:cs typeface="Times New Roman" panose="02020603050405020304" pitchFamily="18" charset="0"/>
              </a:rPr>
              <a:t>决策变量</a:t>
            </a:r>
            <a:r>
              <a:rPr lang="zh-CN" altLang="en-US" dirty="0">
                <a:latin typeface="Times New Roman" panose="02020603050405020304" pitchFamily="18" charset="0"/>
                <a:cs typeface="Times New Roman" panose="02020603050405020304" pitchFamily="18" charset="0"/>
              </a:rPr>
              <a:t>的</a:t>
            </a:r>
            <a:r>
              <a:rPr lang="zh-CN" altLang="en-US" dirty="0" smtClean="0">
                <a:latin typeface="Times New Roman" panose="02020603050405020304" pitchFamily="18" charset="0"/>
                <a:cs typeface="Times New Roman" panose="02020603050405020304" pitchFamily="18" charset="0"/>
              </a:rPr>
              <a:t>取值范围。</a:t>
            </a:r>
            <a:r>
              <a:rPr lang="zh-CN" altLang="en-US" dirty="0">
                <a:latin typeface="Times New Roman" panose="02020603050405020304" pitchFamily="18" charset="0"/>
                <a:cs typeface="Times New Roman" panose="02020603050405020304" pitchFamily="18" charset="0"/>
              </a:rPr>
              <a:t>常用</a:t>
            </a:r>
            <a:r>
              <a:rPr lang="en-US" altLang="zh-CN" i="1" dirty="0">
                <a:solidFill>
                  <a:srgbClr val="FF0000"/>
                </a:solidFill>
                <a:latin typeface="Times New Roman" panose="02020603050405020304" pitchFamily="18" charset="0"/>
                <a:cs typeface="Times New Roman" panose="02020603050405020304" pitchFamily="18" charset="0"/>
              </a:rPr>
              <a:t>D</a:t>
            </a:r>
            <a:r>
              <a:rPr lang="en-US" altLang="zh-CN" i="1" baseline="-30000" dirty="0">
                <a:solidFill>
                  <a:srgbClr val="FF0000"/>
                </a:solidFill>
                <a:latin typeface="Times New Roman" panose="02020603050405020304" pitchFamily="18" charset="0"/>
                <a:cs typeface="Times New Roman" panose="02020603050405020304" pitchFamily="18" charset="0"/>
              </a:rPr>
              <a:t>k</a:t>
            </a:r>
            <a:r>
              <a:rPr lang="en-US" altLang="zh-CN" dirty="0">
                <a:solidFill>
                  <a:srgbClr val="FF0000"/>
                </a:solidFill>
                <a:latin typeface="Times New Roman" panose="02020603050405020304" pitchFamily="18" charset="0"/>
                <a:cs typeface="Times New Roman" panose="02020603050405020304" pitchFamily="18" charset="0"/>
              </a:rPr>
              <a:t>(</a:t>
            </a:r>
            <a:r>
              <a:rPr lang="en-US" altLang="zh-CN" i="1" dirty="0" err="1">
                <a:solidFill>
                  <a:srgbClr val="FF0000"/>
                </a:solidFill>
                <a:latin typeface="Times New Roman" panose="02020603050405020304" pitchFamily="18" charset="0"/>
                <a:cs typeface="Times New Roman" panose="02020603050405020304" pitchFamily="18" charset="0"/>
              </a:rPr>
              <a:t>s</a:t>
            </a:r>
            <a:r>
              <a:rPr lang="en-US" altLang="zh-CN" i="1" baseline="-30000" dirty="0" err="1">
                <a:solidFill>
                  <a:srgbClr val="FF0000"/>
                </a:solidFill>
                <a:latin typeface="Times New Roman" panose="02020603050405020304" pitchFamily="18" charset="0"/>
                <a:cs typeface="Times New Roman" panose="02020603050405020304" pitchFamily="18" charset="0"/>
              </a:rPr>
              <a:t>k</a:t>
            </a:r>
            <a:r>
              <a:rPr lang="en-US" altLang="zh-CN" dirty="0">
                <a:solidFill>
                  <a:srgbClr val="FF0000"/>
                </a:solidFill>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表示第</a:t>
            </a:r>
            <a:r>
              <a:rPr lang="en-US" altLang="zh-CN" i="1"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阶段从状态</a:t>
            </a:r>
            <a:r>
              <a:rPr lang="en-US" altLang="zh-CN" i="1" dirty="0" err="1">
                <a:latin typeface="Times New Roman" panose="02020603050405020304" pitchFamily="18" charset="0"/>
                <a:cs typeface="Times New Roman" panose="02020603050405020304" pitchFamily="18" charset="0"/>
              </a:rPr>
              <a:t>s</a:t>
            </a:r>
            <a:r>
              <a:rPr lang="en-US" altLang="zh-CN" i="1" baseline="-30000" dirty="0" err="1">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出发的允许决策集合，显然</a:t>
            </a:r>
            <a:r>
              <a:rPr lang="zh-CN" altLang="en-US" dirty="0" smtClean="0">
                <a:latin typeface="Times New Roman" panose="02020603050405020304" pitchFamily="18" charset="0"/>
                <a:cs typeface="Times New Roman" panose="02020603050405020304" pitchFamily="18" charset="0"/>
              </a:rPr>
              <a:t>有</a:t>
            </a:r>
            <a:r>
              <a:rPr lang="en-US" altLang="zh-CN" i="1" dirty="0" err="1" smtClean="0">
                <a:latin typeface="Times New Roman" panose="02020603050405020304" pitchFamily="18" charset="0"/>
                <a:cs typeface="Times New Roman" panose="02020603050405020304" pitchFamily="18" charset="0"/>
              </a:rPr>
              <a:t>x</a:t>
            </a:r>
            <a:r>
              <a:rPr lang="en-US" altLang="zh-CN" i="1" baseline="-30000" dirty="0" err="1" smtClean="0">
                <a:latin typeface="Times New Roman" panose="02020603050405020304" pitchFamily="18" charset="0"/>
                <a:cs typeface="Times New Roman" panose="02020603050405020304" pitchFamily="18" charset="0"/>
              </a:rPr>
              <a:t>k</a:t>
            </a:r>
            <a:r>
              <a:rPr lang="en-US" altLang="zh-CN" dirty="0" smtClean="0">
                <a:latin typeface="Times New Roman" panose="02020603050405020304" pitchFamily="18" charset="0"/>
                <a:cs typeface="Times New Roman" panose="02020603050405020304" pitchFamily="18" charset="0"/>
              </a:rPr>
              <a:t>(</a:t>
            </a:r>
            <a:r>
              <a:rPr lang="en-US" altLang="zh-CN" i="1" dirty="0" err="1" smtClean="0">
                <a:latin typeface="Times New Roman" panose="02020603050405020304" pitchFamily="18" charset="0"/>
                <a:cs typeface="Times New Roman" panose="02020603050405020304" pitchFamily="18" charset="0"/>
              </a:rPr>
              <a:t>s</a:t>
            </a:r>
            <a:r>
              <a:rPr lang="en-US" altLang="zh-CN" i="1" baseline="-30000" dirty="0" err="1" smtClean="0">
                <a:latin typeface="Times New Roman" panose="02020603050405020304" pitchFamily="18" charset="0"/>
                <a:cs typeface="Times New Roman" panose="02020603050405020304" pitchFamily="18" charset="0"/>
              </a:rPr>
              <a:t>k</a:t>
            </a:r>
            <a:r>
              <a:rPr lang="en-US" altLang="zh-CN" dirty="0">
                <a:latin typeface="Times New Roman" panose="02020603050405020304" pitchFamily="18" charset="0"/>
                <a:cs typeface="Times New Roman" panose="02020603050405020304" pitchFamily="18" charset="0"/>
              </a:rPr>
              <a:t>) </a:t>
            </a:r>
            <a:r>
              <a:rPr lang="zh-CN" altLang="en-US" dirty="0" smtClean="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D</a:t>
            </a:r>
            <a:r>
              <a:rPr lang="en-US" altLang="zh-CN" i="1" baseline="-30000" dirty="0">
                <a:latin typeface="Times New Roman" panose="02020603050405020304" pitchFamily="18" charset="0"/>
                <a:cs typeface="Times New Roman" panose="02020603050405020304" pitchFamily="18" charset="0"/>
              </a:rPr>
              <a:t>k</a:t>
            </a:r>
            <a:r>
              <a:rPr lang="en-US" altLang="zh-CN" dirty="0">
                <a:latin typeface="Times New Roman" panose="02020603050405020304" pitchFamily="18" charset="0"/>
                <a:cs typeface="Times New Roman" panose="02020603050405020304" pitchFamily="18" charset="0"/>
              </a:rPr>
              <a:t>(</a:t>
            </a:r>
            <a:r>
              <a:rPr lang="en-US" altLang="zh-CN" i="1" dirty="0" err="1">
                <a:latin typeface="Times New Roman" panose="02020603050405020304" pitchFamily="18" charset="0"/>
                <a:cs typeface="Times New Roman" panose="02020603050405020304" pitchFamily="18" charset="0"/>
              </a:rPr>
              <a:t>s</a:t>
            </a:r>
            <a:r>
              <a:rPr lang="en-US" altLang="zh-CN" i="1" baseline="-30000" dirty="0" err="1">
                <a:latin typeface="Times New Roman" panose="02020603050405020304" pitchFamily="18" charset="0"/>
                <a:cs typeface="Times New Roman" panose="02020603050405020304" pitchFamily="18" charset="0"/>
              </a:rPr>
              <a:t>k</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p>
          <a:p>
            <a:pPr lvl="1" eaLnBrk="1" hangingPunct="1"/>
            <a:endParaRPr lang="zh-CN" altLang="en-US" dirty="0"/>
          </a:p>
        </p:txBody>
      </p:sp>
      <p:pic>
        <p:nvPicPr>
          <p:cNvPr id="5" name="Picture 4">
            <a:extLst>
              <a:ext uri="{FF2B5EF4-FFF2-40B4-BE49-F238E27FC236}">
                <a16:creationId xmlns:a16="http://schemas.microsoft.com/office/drawing/2014/main" id="{2892E58F-55D0-435B-875D-3A87C6D558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927" y="3973279"/>
            <a:ext cx="6144576" cy="2489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1CF7F528-93F4-40FE-9B66-00226DFB4790}"/>
              </a:ext>
            </a:extLst>
          </p:cNvPr>
          <p:cNvSpPr>
            <a:spLocks noChangeArrowheads="1"/>
          </p:cNvSpPr>
          <p:nvPr/>
        </p:nvSpPr>
        <p:spPr bwMode="auto">
          <a:xfrm>
            <a:off x="1430553" y="4314600"/>
            <a:ext cx="719138" cy="719138"/>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sp>
        <p:nvSpPr>
          <p:cNvPr id="7" name="Rectangle 6">
            <a:extLst>
              <a:ext uri="{FF2B5EF4-FFF2-40B4-BE49-F238E27FC236}">
                <a16:creationId xmlns:a16="http://schemas.microsoft.com/office/drawing/2014/main" id="{DADFE54B-1B20-4645-BA15-291AB6CE8722}"/>
              </a:ext>
            </a:extLst>
          </p:cNvPr>
          <p:cNvSpPr>
            <a:spLocks noChangeArrowheads="1"/>
          </p:cNvSpPr>
          <p:nvPr/>
        </p:nvSpPr>
        <p:spPr bwMode="auto">
          <a:xfrm>
            <a:off x="2299048" y="4038643"/>
            <a:ext cx="689247" cy="1750520"/>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dirty="0"/>
          </a:p>
        </p:txBody>
      </p:sp>
      <p:sp>
        <p:nvSpPr>
          <p:cNvPr id="9" name="圆角矩形标注 8"/>
          <p:cNvSpPr/>
          <p:nvPr/>
        </p:nvSpPr>
        <p:spPr bwMode="auto">
          <a:xfrm>
            <a:off x="7365698" y="5812122"/>
            <a:ext cx="1517289" cy="374571"/>
          </a:xfrm>
          <a:prstGeom prst="wedgeRoundRectCallout">
            <a:avLst>
              <a:gd name="adj1" fmla="val -1923"/>
              <a:gd name="adj2" fmla="val -82086"/>
              <a:gd name="adj3" fmla="val 16667"/>
            </a:avLst>
          </a:prstGeom>
          <a:solidFill>
            <a:schemeClr val="tx1">
              <a:lumMod val="10000"/>
              <a:lumOff val="90000"/>
            </a:schemeClr>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spAutoFit/>
          </a:bodyPr>
          <a:lstStyle/>
          <a:p>
            <a:pPr marR="0" algn="l" defTabSz="914400" rtl="0" eaLnBrk="1" fontAlgn="base" latinLnBrk="0" hangingPunct="1">
              <a:lnSpc>
                <a:spcPct val="100000"/>
              </a:lnSpc>
              <a:spcBef>
                <a:spcPct val="20000"/>
              </a:spcBef>
              <a:spcAft>
                <a:spcPct val="0"/>
              </a:spcAft>
              <a:buClr>
                <a:srgbClr val="553AF8"/>
              </a:buClr>
              <a:buSzPct val="70000"/>
              <a:tabLst/>
            </a:pPr>
            <a:r>
              <a:rPr lang="zh-CN" altLang="en-US" sz="1600" dirty="0" smtClean="0"/>
              <a:t>允许决策集合</a:t>
            </a:r>
            <a:endParaRPr kumimoji="0" lang="zh-CN" altLang="en-US" sz="1600" b="0" i="0" u="none" strike="noStrike" cap="none" normalizeH="0" baseline="0" dirty="0" smtClean="0">
              <a:ln>
                <a:noFill/>
              </a:ln>
              <a:solidFill>
                <a:schemeClr val="tx1"/>
              </a:solidFill>
              <a:effectLst/>
            </a:endParaRPr>
          </a:p>
        </p:txBody>
      </p:sp>
      <p:sp>
        <p:nvSpPr>
          <p:cNvPr id="2" name="矩形 1"/>
          <p:cNvSpPr/>
          <p:nvPr/>
        </p:nvSpPr>
        <p:spPr>
          <a:xfrm>
            <a:off x="6544446" y="4007895"/>
            <a:ext cx="1196161" cy="400110"/>
          </a:xfrm>
          <a:prstGeom prst="rect">
            <a:avLst/>
          </a:prstGeom>
        </p:spPr>
        <p:txBody>
          <a:bodyPr wrap="none">
            <a:spAutoFit/>
          </a:bodyPr>
          <a:lstStyle/>
          <a:p>
            <a:r>
              <a:rPr lang="en-US" altLang="zh-CN" i="1" dirty="0">
                <a:latin typeface="Times New Roman" panose="02020603050405020304" pitchFamily="18" charset="0"/>
                <a:cs typeface="Courier New" panose="02070309020205020404" pitchFamily="49" charset="0"/>
              </a:rPr>
              <a:t>x</a:t>
            </a:r>
            <a:r>
              <a:rPr lang="en-US" altLang="zh-CN" baseline="-30000" dirty="0">
                <a:latin typeface="Times New Roman" panose="02020603050405020304" pitchFamily="18" charset="0"/>
                <a:cs typeface="Courier New" panose="02070309020205020404" pitchFamily="49" charset="0"/>
              </a:rPr>
              <a:t>2</a:t>
            </a:r>
            <a:r>
              <a:rPr lang="en-US" altLang="zh-CN" dirty="0">
                <a:latin typeface="Times New Roman" panose="02020603050405020304" pitchFamily="18" charset="0"/>
                <a:cs typeface="Courier New" panose="02070309020205020404" pitchFamily="49" charset="0"/>
              </a:rPr>
              <a:t>(</a:t>
            </a:r>
            <a:r>
              <a:rPr lang="en-US" altLang="zh-CN" i="1" dirty="0">
                <a:latin typeface="Times New Roman" panose="02020603050405020304" pitchFamily="18" charset="0"/>
                <a:cs typeface="Courier New" panose="02070309020205020404" pitchFamily="49" charset="0"/>
              </a:rPr>
              <a:t>B</a:t>
            </a:r>
            <a:r>
              <a:rPr lang="en-US" altLang="zh-CN" baseline="-30000" dirty="0">
                <a:latin typeface="Times New Roman" panose="02020603050405020304" pitchFamily="18" charset="0"/>
                <a:cs typeface="Courier New" panose="02070309020205020404" pitchFamily="49" charset="0"/>
              </a:rPr>
              <a:t>1</a:t>
            </a:r>
            <a:r>
              <a:rPr lang="en-US" altLang="zh-CN" dirty="0">
                <a:latin typeface="Times New Roman" panose="02020603050405020304" pitchFamily="18" charset="0"/>
                <a:cs typeface="Courier New" panose="02070309020205020404" pitchFamily="49" charset="0"/>
              </a:rPr>
              <a:t>)=</a:t>
            </a:r>
            <a:r>
              <a:rPr lang="en-US" altLang="zh-CN" i="1" dirty="0" smtClean="0">
                <a:latin typeface="Times New Roman" panose="02020603050405020304" pitchFamily="18" charset="0"/>
                <a:cs typeface="Courier New" panose="02070309020205020404" pitchFamily="49" charset="0"/>
              </a:rPr>
              <a:t>C</a:t>
            </a:r>
            <a:r>
              <a:rPr lang="en-US" altLang="zh-CN" baseline="-30000" dirty="0" smtClean="0">
                <a:latin typeface="Times New Roman" panose="02020603050405020304" pitchFamily="18" charset="0"/>
                <a:cs typeface="Courier New" panose="02070309020205020404" pitchFamily="49" charset="0"/>
              </a:rPr>
              <a:t>1</a:t>
            </a:r>
            <a:endParaRPr lang="zh-CN" altLang="en-US" dirty="0"/>
          </a:p>
        </p:txBody>
      </p:sp>
      <p:sp>
        <p:nvSpPr>
          <p:cNvPr id="11" name="矩形 10"/>
          <p:cNvSpPr/>
          <p:nvPr/>
        </p:nvSpPr>
        <p:spPr>
          <a:xfrm>
            <a:off x="6561798" y="4391673"/>
            <a:ext cx="1196161" cy="400110"/>
          </a:xfrm>
          <a:prstGeom prst="rect">
            <a:avLst/>
          </a:prstGeom>
        </p:spPr>
        <p:txBody>
          <a:bodyPr wrap="none">
            <a:spAutoFit/>
          </a:bodyPr>
          <a:lstStyle/>
          <a:p>
            <a:r>
              <a:rPr lang="en-US" altLang="zh-CN" i="1" dirty="0">
                <a:latin typeface="Times New Roman" panose="02020603050405020304" pitchFamily="18" charset="0"/>
                <a:cs typeface="Courier New" panose="02070309020205020404" pitchFamily="49" charset="0"/>
              </a:rPr>
              <a:t>x</a:t>
            </a:r>
            <a:r>
              <a:rPr lang="en-US" altLang="zh-CN" baseline="-30000" dirty="0">
                <a:latin typeface="Times New Roman" panose="02020603050405020304" pitchFamily="18" charset="0"/>
                <a:cs typeface="Courier New" panose="02070309020205020404" pitchFamily="49" charset="0"/>
              </a:rPr>
              <a:t>2</a:t>
            </a:r>
            <a:r>
              <a:rPr lang="en-US" altLang="zh-CN" dirty="0">
                <a:latin typeface="Times New Roman" panose="02020603050405020304" pitchFamily="18" charset="0"/>
                <a:cs typeface="Courier New" panose="02070309020205020404" pitchFamily="49" charset="0"/>
              </a:rPr>
              <a:t>(</a:t>
            </a:r>
            <a:r>
              <a:rPr lang="en-US" altLang="zh-CN" i="1" dirty="0">
                <a:latin typeface="Times New Roman" panose="02020603050405020304" pitchFamily="18" charset="0"/>
                <a:cs typeface="Courier New" panose="02070309020205020404" pitchFamily="49" charset="0"/>
              </a:rPr>
              <a:t>B</a:t>
            </a:r>
            <a:r>
              <a:rPr lang="en-US" altLang="zh-CN" baseline="-30000" dirty="0">
                <a:latin typeface="Times New Roman" panose="02020603050405020304" pitchFamily="18" charset="0"/>
                <a:cs typeface="Courier New" panose="02070309020205020404" pitchFamily="49" charset="0"/>
              </a:rPr>
              <a:t>1</a:t>
            </a:r>
            <a:r>
              <a:rPr lang="en-US" altLang="zh-CN" dirty="0">
                <a:latin typeface="Times New Roman" panose="02020603050405020304" pitchFamily="18" charset="0"/>
                <a:cs typeface="Courier New" panose="02070309020205020404" pitchFamily="49" charset="0"/>
              </a:rPr>
              <a:t>)=</a:t>
            </a:r>
            <a:r>
              <a:rPr lang="en-US" altLang="zh-CN" i="1" dirty="0" smtClean="0">
                <a:latin typeface="Times New Roman" panose="02020603050405020304" pitchFamily="18" charset="0"/>
                <a:cs typeface="Courier New" panose="02070309020205020404" pitchFamily="49" charset="0"/>
              </a:rPr>
              <a:t>C</a:t>
            </a:r>
            <a:r>
              <a:rPr lang="en-US" altLang="zh-CN" baseline="-30000" dirty="0" smtClean="0">
                <a:latin typeface="Times New Roman" panose="02020603050405020304" pitchFamily="18" charset="0"/>
                <a:cs typeface="Courier New" panose="02070309020205020404" pitchFamily="49" charset="0"/>
              </a:rPr>
              <a:t>2</a:t>
            </a:r>
            <a:endParaRPr lang="zh-CN" altLang="en-US" dirty="0"/>
          </a:p>
        </p:txBody>
      </p:sp>
      <p:sp>
        <p:nvSpPr>
          <p:cNvPr id="12" name="矩形 11"/>
          <p:cNvSpPr/>
          <p:nvPr/>
        </p:nvSpPr>
        <p:spPr>
          <a:xfrm>
            <a:off x="6592182" y="4815436"/>
            <a:ext cx="1196161" cy="400110"/>
          </a:xfrm>
          <a:prstGeom prst="rect">
            <a:avLst/>
          </a:prstGeom>
        </p:spPr>
        <p:txBody>
          <a:bodyPr wrap="none">
            <a:spAutoFit/>
          </a:bodyPr>
          <a:lstStyle/>
          <a:p>
            <a:r>
              <a:rPr lang="en-US" altLang="zh-CN" i="1" dirty="0">
                <a:latin typeface="Times New Roman" panose="02020603050405020304" pitchFamily="18" charset="0"/>
                <a:cs typeface="Courier New" panose="02070309020205020404" pitchFamily="49" charset="0"/>
              </a:rPr>
              <a:t>x</a:t>
            </a:r>
            <a:r>
              <a:rPr lang="en-US" altLang="zh-CN" baseline="-30000" dirty="0">
                <a:latin typeface="Times New Roman" panose="02020603050405020304" pitchFamily="18" charset="0"/>
                <a:cs typeface="Courier New" panose="02070309020205020404" pitchFamily="49" charset="0"/>
              </a:rPr>
              <a:t>2</a:t>
            </a:r>
            <a:r>
              <a:rPr lang="en-US" altLang="zh-CN" dirty="0">
                <a:latin typeface="Times New Roman" panose="02020603050405020304" pitchFamily="18" charset="0"/>
                <a:cs typeface="Courier New" panose="02070309020205020404" pitchFamily="49" charset="0"/>
              </a:rPr>
              <a:t>(</a:t>
            </a:r>
            <a:r>
              <a:rPr lang="en-US" altLang="zh-CN" i="1" dirty="0">
                <a:latin typeface="Times New Roman" panose="02020603050405020304" pitchFamily="18" charset="0"/>
                <a:cs typeface="Courier New" panose="02070309020205020404" pitchFamily="49" charset="0"/>
              </a:rPr>
              <a:t>B</a:t>
            </a:r>
            <a:r>
              <a:rPr lang="en-US" altLang="zh-CN" baseline="-30000" dirty="0">
                <a:latin typeface="Times New Roman" panose="02020603050405020304" pitchFamily="18" charset="0"/>
                <a:cs typeface="Courier New" panose="02070309020205020404" pitchFamily="49" charset="0"/>
              </a:rPr>
              <a:t>1</a:t>
            </a:r>
            <a:r>
              <a:rPr lang="en-US" altLang="zh-CN" dirty="0">
                <a:latin typeface="Times New Roman" panose="02020603050405020304" pitchFamily="18" charset="0"/>
                <a:cs typeface="Courier New" panose="02070309020205020404" pitchFamily="49" charset="0"/>
              </a:rPr>
              <a:t>)=</a:t>
            </a:r>
            <a:r>
              <a:rPr lang="en-US" altLang="zh-CN" i="1" dirty="0" smtClean="0">
                <a:latin typeface="Times New Roman" panose="02020603050405020304" pitchFamily="18" charset="0"/>
                <a:cs typeface="Courier New" panose="02070309020205020404" pitchFamily="49" charset="0"/>
              </a:rPr>
              <a:t>C</a:t>
            </a:r>
            <a:r>
              <a:rPr lang="en-US" altLang="zh-CN" baseline="-30000" dirty="0" smtClean="0">
                <a:latin typeface="Times New Roman" panose="02020603050405020304" pitchFamily="18" charset="0"/>
                <a:cs typeface="Courier New" panose="02070309020205020404" pitchFamily="49" charset="0"/>
              </a:rPr>
              <a:t>3</a:t>
            </a:r>
            <a:endParaRPr lang="zh-CN" altLang="en-US" dirty="0"/>
          </a:p>
        </p:txBody>
      </p:sp>
      <p:sp>
        <p:nvSpPr>
          <p:cNvPr id="3" name="矩形 2"/>
          <p:cNvSpPr/>
          <p:nvPr/>
        </p:nvSpPr>
        <p:spPr>
          <a:xfrm>
            <a:off x="6609332" y="5302352"/>
            <a:ext cx="2534668" cy="400110"/>
          </a:xfrm>
          <a:prstGeom prst="rect">
            <a:avLst/>
          </a:prstGeom>
        </p:spPr>
        <p:txBody>
          <a:bodyPr wrap="none">
            <a:spAutoFit/>
          </a:bodyPr>
          <a:lstStyle/>
          <a:p>
            <a:r>
              <a:rPr lang="en-US" altLang="zh-CN" i="1" dirty="0">
                <a:latin typeface="Times New Roman" panose="02020603050405020304" pitchFamily="18" charset="0"/>
                <a:cs typeface="Courier New" panose="02070309020205020404" pitchFamily="49" charset="0"/>
              </a:rPr>
              <a:t>D</a:t>
            </a:r>
            <a:r>
              <a:rPr lang="en-US" altLang="zh-CN" baseline="-30000" dirty="0">
                <a:latin typeface="Times New Roman" panose="02020603050405020304" pitchFamily="18" charset="0"/>
                <a:cs typeface="Courier New" panose="02070309020205020404" pitchFamily="49" charset="0"/>
              </a:rPr>
              <a:t>2</a:t>
            </a:r>
            <a:r>
              <a:rPr lang="en-US" altLang="zh-CN" dirty="0">
                <a:latin typeface="Times New Roman" panose="02020603050405020304" pitchFamily="18" charset="0"/>
                <a:cs typeface="Courier New" panose="02070309020205020404" pitchFamily="49" charset="0"/>
              </a:rPr>
              <a:t>(</a:t>
            </a:r>
            <a:r>
              <a:rPr lang="en-US" altLang="zh-CN" i="1" dirty="0">
                <a:latin typeface="Times New Roman" panose="02020603050405020304" pitchFamily="18" charset="0"/>
                <a:cs typeface="Courier New" panose="02070309020205020404" pitchFamily="49" charset="0"/>
              </a:rPr>
              <a:t>B</a:t>
            </a:r>
            <a:r>
              <a:rPr lang="en-US" altLang="zh-CN" baseline="-30000" dirty="0">
                <a:latin typeface="Times New Roman" panose="02020603050405020304" pitchFamily="18" charset="0"/>
                <a:cs typeface="Courier New" panose="02070309020205020404" pitchFamily="49" charset="0"/>
              </a:rPr>
              <a:t>1</a:t>
            </a:r>
            <a:r>
              <a:rPr lang="en-US" altLang="zh-CN" dirty="0">
                <a:latin typeface="Times New Roman" panose="02020603050405020304" pitchFamily="18" charset="0"/>
                <a:cs typeface="Courier New" panose="02070309020205020404" pitchFamily="49" charset="0"/>
              </a:rPr>
              <a:t>)</a:t>
            </a:r>
            <a:r>
              <a:rPr lang="zh-CN" altLang="en-US" dirty="0">
                <a:latin typeface="Times New Roman" panose="02020603050405020304" pitchFamily="18" charset="0"/>
                <a:cs typeface="Courier New" panose="02070309020205020404" pitchFamily="49" charset="0"/>
              </a:rPr>
              <a:t>＝｛</a:t>
            </a:r>
            <a:r>
              <a:rPr lang="en-US" altLang="zh-CN" i="1" dirty="0">
                <a:latin typeface="Times New Roman" panose="02020603050405020304" pitchFamily="18" charset="0"/>
                <a:cs typeface="Courier New" panose="02070309020205020404" pitchFamily="49" charset="0"/>
              </a:rPr>
              <a:t>C</a:t>
            </a:r>
            <a:r>
              <a:rPr lang="en-US" altLang="zh-CN" baseline="-30000" dirty="0">
                <a:latin typeface="Times New Roman" panose="02020603050405020304" pitchFamily="18" charset="0"/>
                <a:cs typeface="Courier New" panose="02070309020205020404" pitchFamily="49" charset="0"/>
              </a:rPr>
              <a:t>1</a:t>
            </a:r>
            <a:r>
              <a:rPr lang="en-US" altLang="zh-CN" dirty="0">
                <a:latin typeface="Times New Roman" panose="02020603050405020304" pitchFamily="18" charset="0"/>
                <a:cs typeface="Courier New" panose="02070309020205020404" pitchFamily="49" charset="0"/>
              </a:rPr>
              <a:t>,</a:t>
            </a:r>
            <a:r>
              <a:rPr lang="en-US" altLang="zh-CN" i="1" dirty="0">
                <a:latin typeface="Times New Roman" panose="02020603050405020304" pitchFamily="18" charset="0"/>
                <a:cs typeface="Courier New" panose="02070309020205020404" pitchFamily="49" charset="0"/>
              </a:rPr>
              <a:t>C</a:t>
            </a:r>
            <a:r>
              <a:rPr lang="en-US" altLang="zh-CN" baseline="-30000" dirty="0">
                <a:latin typeface="Times New Roman" panose="02020603050405020304" pitchFamily="18" charset="0"/>
                <a:cs typeface="Courier New" panose="02070309020205020404" pitchFamily="49" charset="0"/>
              </a:rPr>
              <a:t>2</a:t>
            </a:r>
            <a:r>
              <a:rPr lang="en-US" altLang="zh-CN" dirty="0">
                <a:latin typeface="Times New Roman" panose="02020603050405020304" pitchFamily="18" charset="0"/>
                <a:cs typeface="Courier New" panose="02070309020205020404" pitchFamily="49" charset="0"/>
              </a:rPr>
              <a:t>,</a:t>
            </a:r>
            <a:r>
              <a:rPr lang="en-US" altLang="zh-CN" i="1" dirty="0">
                <a:latin typeface="Times New Roman" panose="02020603050405020304" pitchFamily="18" charset="0"/>
                <a:cs typeface="Courier New" panose="02070309020205020404" pitchFamily="49" charset="0"/>
              </a:rPr>
              <a:t>C</a:t>
            </a:r>
            <a:r>
              <a:rPr lang="en-US" altLang="zh-CN" baseline="-30000" dirty="0">
                <a:latin typeface="Times New Roman" panose="02020603050405020304" pitchFamily="18" charset="0"/>
                <a:cs typeface="Courier New" panose="02070309020205020404" pitchFamily="49" charset="0"/>
              </a:rPr>
              <a:t>3</a:t>
            </a:r>
            <a:r>
              <a:rPr lang="zh-CN" altLang="en-US" dirty="0" smtClean="0">
                <a:latin typeface="Times New Roman" panose="02020603050405020304" pitchFamily="18" charset="0"/>
                <a:cs typeface="Courier New" panose="02070309020205020404" pitchFamily="49" charset="0"/>
              </a:rPr>
              <a:t>｝</a:t>
            </a:r>
            <a:endParaRPr lang="zh-CN" altLang="en-US" dirty="0"/>
          </a:p>
        </p:txBody>
      </p:sp>
      <p:sp>
        <p:nvSpPr>
          <p:cNvPr id="14" name="圆角矩形标注 13"/>
          <p:cNvSpPr/>
          <p:nvPr/>
        </p:nvSpPr>
        <p:spPr bwMode="auto">
          <a:xfrm>
            <a:off x="7857990" y="4082466"/>
            <a:ext cx="1156897" cy="374571"/>
          </a:xfrm>
          <a:prstGeom prst="wedgeRoundRectCallout">
            <a:avLst>
              <a:gd name="adj1" fmla="val -42431"/>
              <a:gd name="adj2" fmla="val 104055"/>
              <a:gd name="adj3" fmla="val 16667"/>
            </a:avLst>
          </a:prstGeom>
          <a:solidFill>
            <a:schemeClr val="tx1">
              <a:lumMod val="10000"/>
              <a:lumOff val="90000"/>
            </a:schemeClr>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spAutoFit/>
          </a:bodyPr>
          <a:lstStyle/>
          <a:p>
            <a:pPr marR="0" algn="l" defTabSz="914400" rtl="0" eaLnBrk="1" fontAlgn="base" latinLnBrk="0" hangingPunct="1">
              <a:lnSpc>
                <a:spcPct val="100000"/>
              </a:lnSpc>
              <a:spcBef>
                <a:spcPct val="20000"/>
              </a:spcBef>
              <a:spcAft>
                <a:spcPct val="0"/>
              </a:spcAft>
              <a:buClr>
                <a:srgbClr val="553AF8"/>
              </a:buClr>
              <a:buSzPct val="70000"/>
              <a:tabLst/>
            </a:pPr>
            <a:r>
              <a:rPr lang="zh-CN" altLang="en-US" sz="1600" dirty="0" smtClean="0"/>
              <a:t>决策变量</a:t>
            </a:r>
            <a:endParaRPr kumimoji="0" lang="zh-CN" altLang="en-US" sz="16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1798256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2FC8D7D-D21A-4A07-ABE6-E70C38530ED7}" type="slidenum">
              <a:rPr lang="en-US" altLang="zh-CN" sz="1000"/>
              <a:pPr>
                <a:spcBef>
                  <a:spcPct val="0"/>
                </a:spcBef>
                <a:buClrTx/>
                <a:buSzTx/>
                <a:buFontTx/>
                <a:buNone/>
              </a:pPr>
              <a:t>6</a:t>
            </a:fld>
            <a:endParaRPr lang="en-US" altLang="zh-CN" sz="1000"/>
          </a:p>
        </p:txBody>
      </p:sp>
      <p:sp>
        <p:nvSpPr>
          <p:cNvPr id="9220" name="Rectangle 2"/>
          <p:cNvSpPr>
            <a:spLocks noGrp="1" noChangeArrowheads="1"/>
          </p:cNvSpPr>
          <p:nvPr>
            <p:ph type="title"/>
          </p:nvPr>
        </p:nvSpPr>
        <p:spPr/>
        <p:txBody>
          <a:bodyPr/>
          <a:lstStyle/>
          <a:p>
            <a:pPr eaLnBrk="1" hangingPunct="1"/>
            <a:r>
              <a:rPr lang="en-US" altLang="zh-CN" b="1" dirty="0"/>
              <a:t>8.1.1  </a:t>
            </a:r>
            <a:r>
              <a:rPr lang="zh-CN" altLang="en-US" b="1" dirty="0"/>
              <a:t>动态规划的基本概念</a:t>
            </a:r>
            <a:r>
              <a:rPr lang="zh-CN" altLang="en-US" dirty="0"/>
              <a:t> </a:t>
            </a:r>
          </a:p>
        </p:txBody>
      </p:sp>
      <p:sp>
        <p:nvSpPr>
          <p:cNvPr id="9221" name="Rectangle 3"/>
          <p:cNvSpPr>
            <a:spLocks noGrp="1" noChangeArrowheads="1"/>
          </p:cNvSpPr>
          <p:nvPr>
            <p:ph type="body" idx="1"/>
          </p:nvPr>
        </p:nvSpPr>
        <p:spPr>
          <a:xfrm>
            <a:off x="96601" y="1216145"/>
            <a:ext cx="8569325" cy="2862322"/>
          </a:xfrm>
        </p:spPr>
        <p:txBody>
          <a:bodyPr/>
          <a:lstStyle/>
          <a:p>
            <a:pPr eaLnBrk="1" hangingPunct="1"/>
            <a:r>
              <a:rPr lang="en-US" altLang="zh-CN" sz="2400" dirty="0" smtClean="0"/>
              <a:t>4</a:t>
            </a:r>
            <a:r>
              <a:rPr lang="zh-CN" altLang="en-US" sz="2400" dirty="0" smtClean="0"/>
              <a:t>．</a:t>
            </a:r>
            <a:r>
              <a:rPr lang="zh-CN" altLang="en-US" sz="2400" dirty="0"/>
              <a:t>状态转移方程</a:t>
            </a:r>
          </a:p>
          <a:p>
            <a:pPr lvl="1" eaLnBrk="1" hangingPunct="1"/>
            <a:r>
              <a:rPr lang="zh-CN" altLang="en-US" dirty="0">
                <a:latin typeface="Times New Roman" panose="02020603050405020304" pitchFamily="18" charset="0"/>
                <a:cs typeface="Times New Roman" panose="02020603050405020304" pitchFamily="18" charset="0"/>
              </a:rPr>
              <a:t>状态</a:t>
            </a:r>
            <a:r>
              <a:rPr lang="zh-CN" altLang="en-US" dirty="0" smtClean="0">
                <a:latin typeface="Times New Roman" panose="02020603050405020304" pitchFamily="18" charset="0"/>
                <a:cs typeface="Times New Roman" panose="02020603050405020304" pitchFamily="18" charset="0"/>
              </a:rPr>
              <a:t>转移方程</a:t>
            </a:r>
            <a:r>
              <a:rPr lang="en-US" altLang="zh-CN" dirty="0" smtClean="0">
                <a:latin typeface="Times New Roman" panose="02020603050405020304" pitchFamily="18" charset="0"/>
                <a:cs typeface="Times New Roman" panose="02020603050405020304" pitchFamily="18" charset="0"/>
              </a:rPr>
              <a:t>:</a:t>
            </a:r>
            <a:r>
              <a:rPr lang="zh-CN" altLang="en-US" dirty="0">
                <a:latin typeface="Arial" panose="020B0604020202020204" pitchFamily="34" charset="0"/>
                <a:ea typeface="楷体_GB2312" pitchFamily="49" charset="-122"/>
              </a:rPr>
              <a:t>描述相邻两阶段状态与决策相互关系的</a:t>
            </a:r>
            <a:r>
              <a:rPr lang="zh-CN" altLang="en-US" dirty="0" smtClean="0">
                <a:latin typeface="Arial" panose="020B0604020202020204" pitchFamily="34" charset="0"/>
                <a:ea typeface="楷体_GB2312" pitchFamily="49" charset="-122"/>
              </a:rPr>
              <a:t>方程（</a:t>
            </a:r>
            <a:r>
              <a:rPr lang="zh-CN" altLang="en-US" dirty="0">
                <a:latin typeface="Times New Roman" panose="02020603050405020304" pitchFamily="18" charset="0"/>
                <a:cs typeface="Times New Roman" panose="02020603050405020304" pitchFamily="18" charset="0"/>
              </a:rPr>
              <a:t>确定过程由一个状态到另一个状态的演变过程</a:t>
            </a:r>
            <a:r>
              <a:rPr lang="zh-CN" altLang="en-US" dirty="0" smtClean="0">
                <a:latin typeface="Arial" panose="020B0604020202020204" pitchFamily="34" charset="0"/>
                <a:ea typeface="楷体_GB2312" pitchFamily="49" charset="-122"/>
              </a:rPr>
              <a:t>）</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lvl="1" eaLnBrk="1" hangingPunct="1"/>
            <a:r>
              <a:rPr lang="zh-CN" altLang="en-US" dirty="0" smtClean="0">
                <a:latin typeface="Times New Roman" panose="02020603050405020304" pitchFamily="18" charset="0"/>
                <a:cs typeface="Times New Roman" panose="02020603050405020304" pitchFamily="18" charset="0"/>
              </a:rPr>
              <a:t>若</a:t>
            </a:r>
            <a:r>
              <a:rPr lang="zh-CN" altLang="en-US" dirty="0">
                <a:latin typeface="Times New Roman" panose="02020603050405020304" pitchFamily="18" charset="0"/>
                <a:cs typeface="Times New Roman" panose="02020603050405020304" pitchFamily="18" charset="0"/>
              </a:rPr>
              <a:t>给定第</a:t>
            </a:r>
            <a:r>
              <a:rPr lang="en-US" altLang="zh-CN" i="1"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rPr>
              <a:t>阶段</a:t>
            </a:r>
            <a:r>
              <a:rPr lang="zh-CN" altLang="en-US" dirty="0" smtClean="0">
                <a:latin typeface="Times New Roman" panose="02020603050405020304" pitchFamily="18" charset="0"/>
              </a:rPr>
              <a:t>状态变量</a:t>
            </a:r>
            <a:r>
              <a:rPr lang="en-US" altLang="zh-CN" i="1" dirty="0" err="1" smtClean="0">
                <a:latin typeface="Times New Roman" panose="02020603050405020304" pitchFamily="18" charset="0"/>
              </a:rPr>
              <a:t>s</a:t>
            </a:r>
            <a:r>
              <a:rPr lang="en-US" altLang="zh-CN" i="1" baseline="-25000" dirty="0" err="1" smtClean="0">
                <a:latin typeface="Times New Roman" panose="02020603050405020304" pitchFamily="18" charset="0"/>
              </a:rPr>
              <a:t>k</a:t>
            </a:r>
            <a:r>
              <a:rPr lang="zh-CN" altLang="en-US" dirty="0" smtClean="0">
                <a:latin typeface="Times New Roman" panose="02020603050405020304" pitchFamily="18" charset="0"/>
              </a:rPr>
              <a:t>的</a:t>
            </a:r>
            <a:r>
              <a:rPr lang="zh-CN" altLang="en-US" dirty="0">
                <a:latin typeface="Times New Roman" panose="02020603050405020304" pitchFamily="18" charset="0"/>
              </a:rPr>
              <a:t>值</a:t>
            </a:r>
            <a:r>
              <a:rPr lang="zh-CN" altLang="en-US" dirty="0" smtClean="0">
                <a:latin typeface="Times New Roman" panose="02020603050405020304" pitchFamily="18" charset="0"/>
              </a:rPr>
              <a:t>，那么该阶段的决策变量</a:t>
            </a:r>
            <a:r>
              <a:rPr lang="en-US" altLang="zh-CN" i="1" dirty="0" err="1" smtClean="0">
                <a:latin typeface="Times New Roman" panose="02020603050405020304" pitchFamily="18" charset="0"/>
              </a:rPr>
              <a:t>x</a:t>
            </a:r>
            <a:r>
              <a:rPr lang="en-US" altLang="zh-CN" i="1" baseline="-25000" dirty="0" err="1" smtClean="0">
                <a:latin typeface="Times New Roman" panose="02020603050405020304" pitchFamily="18" charset="0"/>
              </a:rPr>
              <a:t>k</a:t>
            </a:r>
            <a:r>
              <a:rPr lang="zh-CN" altLang="en-US" dirty="0">
                <a:latin typeface="Times New Roman" panose="02020603050405020304" pitchFamily="18" charset="0"/>
              </a:rPr>
              <a:t>一经确定，第</a:t>
            </a:r>
            <a:r>
              <a:rPr lang="en-US" altLang="zh-CN" i="1" dirty="0" err="1">
                <a:latin typeface="Times New Roman" panose="02020603050405020304" pitchFamily="18" charset="0"/>
              </a:rPr>
              <a:t>k</a:t>
            </a:r>
            <a:r>
              <a:rPr lang="en-US" altLang="zh-CN" dirty="0" err="1">
                <a:latin typeface="Times New Roman" panose="02020603050405020304" pitchFamily="18" charset="0"/>
              </a:rPr>
              <a:t>+1</a:t>
            </a:r>
            <a:r>
              <a:rPr lang="zh-CN" altLang="en-US" dirty="0">
                <a:latin typeface="Times New Roman" panose="02020603050405020304" pitchFamily="18" charset="0"/>
              </a:rPr>
              <a:t>阶段的状态变量</a:t>
            </a:r>
            <a:r>
              <a:rPr lang="en-US" altLang="zh-CN" i="1" dirty="0" err="1">
                <a:latin typeface="Times New Roman" panose="02020603050405020304" pitchFamily="18" charset="0"/>
              </a:rPr>
              <a:t>s</a:t>
            </a:r>
            <a:r>
              <a:rPr lang="en-US" altLang="zh-CN" i="1" baseline="-25000" dirty="0" err="1">
                <a:latin typeface="Times New Roman" panose="02020603050405020304" pitchFamily="18" charset="0"/>
              </a:rPr>
              <a:t>k</a:t>
            </a:r>
            <a:r>
              <a:rPr lang="en-US" altLang="zh-CN" baseline="-25000" dirty="0" err="1">
                <a:latin typeface="Times New Roman" panose="02020603050405020304" pitchFamily="18" charset="0"/>
              </a:rPr>
              <a:t>+1</a:t>
            </a:r>
            <a:r>
              <a:rPr lang="zh-CN" altLang="en-US" dirty="0">
                <a:latin typeface="Times New Roman" panose="02020603050405020304" pitchFamily="18" charset="0"/>
              </a:rPr>
              <a:t>的值也就完全确定。即</a:t>
            </a:r>
            <a:r>
              <a:rPr lang="en-US" altLang="zh-CN" i="1" dirty="0" err="1">
                <a:latin typeface="Times New Roman" panose="02020603050405020304" pitchFamily="18" charset="0"/>
              </a:rPr>
              <a:t>s</a:t>
            </a:r>
            <a:r>
              <a:rPr lang="en-US" altLang="zh-CN" i="1" baseline="-25000" dirty="0" err="1">
                <a:latin typeface="Times New Roman" panose="02020603050405020304" pitchFamily="18" charset="0"/>
              </a:rPr>
              <a:t>k</a:t>
            </a:r>
            <a:r>
              <a:rPr lang="en-US" altLang="zh-CN" baseline="-25000" dirty="0" err="1">
                <a:latin typeface="Times New Roman" panose="02020603050405020304" pitchFamily="18" charset="0"/>
              </a:rPr>
              <a:t>+1</a:t>
            </a:r>
            <a:r>
              <a:rPr lang="zh-CN" altLang="en-US" dirty="0">
                <a:latin typeface="Times New Roman" panose="02020603050405020304" pitchFamily="18" charset="0"/>
              </a:rPr>
              <a:t>的值随</a:t>
            </a:r>
            <a:r>
              <a:rPr lang="en-US" altLang="zh-CN" i="1" dirty="0" err="1">
                <a:latin typeface="Times New Roman" panose="02020603050405020304" pitchFamily="18" charset="0"/>
              </a:rPr>
              <a:t>s</a:t>
            </a:r>
            <a:r>
              <a:rPr lang="en-US" altLang="zh-CN" i="1" baseline="-25000" dirty="0" err="1">
                <a:latin typeface="Times New Roman" panose="02020603050405020304" pitchFamily="18" charset="0"/>
              </a:rPr>
              <a:t>k</a:t>
            </a:r>
            <a:r>
              <a:rPr lang="zh-CN" altLang="en-US" dirty="0" smtClean="0">
                <a:latin typeface="Times New Roman" panose="02020603050405020304" pitchFamily="18" charset="0"/>
              </a:rPr>
              <a:t>和</a:t>
            </a:r>
            <a:r>
              <a:rPr lang="en-US" altLang="zh-CN" i="1" dirty="0" err="1" smtClean="0">
                <a:latin typeface="Times New Roman" panose="02020603050405020304" pitchFamily="18" charset="0"/>
              </a:rPr>
              <a:t>x</a:t>
            </a:r>
            <a:r>
              <a:rPr lang="en-US" altLang="zh-CN" i="1" baseline="-25000" dirty="0" err="1" smtClean="0">
                <a:latin typeface="Times New Roman" panose="02020603050405020304" pitchFamily="18" charset="0"/>
              </a:rPr>
              <a:t>k</a:t>
            </a:r>
            <a:r>
              <a:rPr lang="zh-CN" altLang="en-US" dirty="0">
                <a:latin typeface="Times New Roman" panose="02020603050405020304" pitchFamily="18" charset="0"/>
              </a:rPr>
              <a:t>的值变化而变化。这种确定的对应关系，记为</a:t>
            </a:r>
            <a:r>
              <a:rPr lang="zh-CN" altLang="en-US" dirty="0" smtClean="0"/>
              <a:t>：</a:t>
            </a:r>
            <a:r>
              <a:rPr lang="en-US" altLang="zh-CN" i="1" dirty="0">
                <a:latin typeface="Times New Roman" panose="02020603050405020304" pitchFamily="18" charset="0"/>
              </a:rPr>
              <a:t> </a:t>
            </a:r>
            <a:endParaRPr lang="en-US" altLang="zh-CN" i="1" dirty="0" smtClean="0">
              <a:latin typeface="Times New Roman" panose="02020603050405020304" pitchFamily="18" charset="0"/>
            </a:endParaRPr>
          </a:p>
          <a:p>
            <a:pPr marL="449262" lvl="1" indent="0" eaLnBrk="1" hangingPunct="1">
              <a:buNone/>
            </a:pPr>
            <a:r>
              <a:rPr lang="en-US" altLang="zh-CN" i="1" dirty="0">
                <a:latin typeface="Times New Roman" panose="02020603050405020304" pitchFamily="18" charset="0"/>
              </a:rPr>
              <a:t> </a:t>
            </a:r>
            <a:r>
              <a:rPr lang="en-US" altLang="zh-CN" i="1" dirty="0" smtClean="0">
                <a:latin typeface="Times New Roman" panose="02020603050405020304" pitchFamily="18" charset="0"/>
              </a:rPr>
              <a:t>                                        s</a:t>
            </a:r>
            <a:r>
              <a:rPr lang="en-US" altLang="zh-CN" i="1" baseline="-25000" dirty="0" smtClean="0">
                <a:latin typeface="Times New Roman" panose="02020603050405020304" pitchFamily="18" charset="0"/>
              </a:rPr>
              <a:t>k</a:t>
            </a:r>
            <a:r>
              <a:rPr lang="en-US" altLang="zh-CN" baseline="-25000" dirty="0" smtClean="0">
                <a:latin typeface="Times New Roman" panose="02020603050405020304" pitchFamily="18" charset="0"/>
              </a:rPr>
              <a:t>+1</a:t>
            </a:r>
            <a:r>
              <a:rPr lang="en-US" altLang="zh-CN" dirty="0" smtClean="0"/>
              <a:t>=</a:t>
            </a:r>
            <a:r>
              <a:rPr lang="en-US" altLang="zh-CN" i="1" dirty="0" err="1" smtClean="0">
                <a:latin typeface="Times New Roman" panose="02020603050405020304" pitchFamily="18" charset="0"/>
              </a:rPr>
              <a:t>T</a:t>
            </a:r>
            <a:r>
              <a:rPr lang="en-US" altLang="zh-CN" i="1" baseline="-25000" dirty="0" err="1" smtClean="0">
                <a:latin typeface="Times New Roman" panose="02020603050405020304" pitchFamily="18" charset="0"/>
              </a:rPr>
              <a:t>k</a:t>
            </a:r>
            <a:r>
              <a:rPr lang="en-US" altLang="zh-CN" dirty="0" smtClean="0"/>
              <a:t>(</a:t>
            </a:r>
            <a:r>
              <a:rPr lang="en-US" altLang="zh-CN" i="1" dirty="0" err="1" smtClean="0">
                <a:latin typeface="Times New Roman" panose="02020603050405020304" pitchFamily="18" charset="0"/>
              </a:rPr>
              <a:t>s</a:t>
            </a:r>
            <a:r>
              <a:rPr lang="en-US" altLang="zh-CN" i="1" baseline="-25000" dirty="0" err="1" smtClean="0">
                <a:latin typeface="Times New Roman" panose="02020603050405020304" pitchFamily="18" charset="0"/>
              </a:rPr>
              <a:t>k</a:t>
            </a:r>
            <a:r>
              <a:rPr lang="en-US" altLang="zh-CN" baseline="-25000" dirty="0" smtClean="0">
                <a:latin typeface="Times New Roman" panose="02020603050405020304" pitchFamily="18" charset="0"/>
              </a:rPr>
              <a:t>,</a:t>
            </a:r>
            <a:r>
              <a:rPr lang="en-US" altLang="zh-CN" i="1" dirty="0" smtClean="0">
                <a:latin typeface="Times New Roman" panose="02020603050405020304" pitchFamily="18" charset="0"/>
              </a:rPr>
              <a:t> </a:t>
            </a:r>
            <a:r>
              <a:rPr lang="en-US" altLang="zh-CN" i="1" dirty="0" err="1" smtClean="0">
                <a:latin typeface="Times New Roman" panose="02020603050405020304" pitchFamily="18" charset="0"/>
              </a:rPr>
              <a:t>x</a:t>
            </a:r>
            <a:r>
              <a:rPr lang="en-US" altLang="zh-CN" i="1" baseline="-25000" dirty="0" err="1" smtClean="0">
                <a:latin typeface="Times New Roman" panose="02020603050405020304" pitchFamily="18" charset="0"/>
              </a:rPr>
              <a:t>k</a:t>
            </a:r>
            <a:r>
              <a:rPr lang="en-US" altLang="zh-CN" dirty="0" smtClean="0"/>
              <a:t>)</a:t>
            </a:r>
            <a:endParaRPr lang="en-US" altLang="zh-CN" dirty="0"/>
          </a:p>
          <a:p>
            <a:pPr lvl="1" eaLnBrk="1" hangingPunct="1"/>
            <a:endParaRPr lang="zh-CN" altLang="en-US" dirty="0"/>
          </a:p>
        </p:txBody>
      </p:sp>
      <p:sp>
        <p:nvSpPr>
          <p:cNvPr id="15" name="Rectangle 35">
            <a:extLst>
              <a:ext uri="{FF2B5EF4-FFF2-40B4-BE49-F238E27FC236}">
                <a16:creationId xmlns:a16="http://schemas.microsoft.com/office/drawing/2014/main" id="{D89E8788-0C52-452C-A56B-EFF8952155C8}"/>
              </a:ext>
            </a:extLst>
          </p:cNvPr>
          <p:cNvSpPr>
            <a:spLocks noChangeArrowheads="1"/>
          </p:cNvSpPr>
          <p:nvPr/>
        </p:nvSpPr>
        <p:spPr bwMode="auto">
          <a:xfrm>
            <a:off x="981934" y="3724524"/>
            <a:ext cx="769432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上式描述了由</a:t>
            </a:r>
            <a:r>
              <a:rPr lang="en-US" altLang="zh-CN" sz="2000" b="1" i="1" dirty="0">
                <a:latin typeface="Times New Roman" panose="02020603050405020304" pitchFamily="18" charset="0"/>
                <a:cs typeface="Times New Roman" panose="02020603050405020304" pitchFamily="18" charset="0"/>
              </a:rPr>
              <a:t>k</a:t>
            </a:r>
            <a:r>
              <a:rPr lang="zh-CN" altLang="en-US" sz="2000" b="1" dirty="0">
                <a:latin typeface="Times New Roman" panose="02020603050405020304" pitchFamily="18" charset="0"/>
                <a:cs typeface="Times New Roman" panose="02020603050405020304" pitchFamily="18" charset="0"/>
              </a:rPr>
              <a:t>阶段到</a:t>
            </a:r>
            <a:r>
              <a:rPr lang="en-US" altLang="zh-CN" sz="2000" b="1" i="1" dirty="0" err="1">
                <a:latin typeface="Times New Roman" panose="02020603050405020304" pitchFamily="18" charset="0"/>
                <a:cs typeface="Times New Roman" panose="02020603050405020304" pitchFamily="18" charset="0"/>
              </a:rPr>
              <a:t>k</a:t>
            </a:r>
            <a:r>
              <a:rPr lang="en-US" altLang="zh-CN" sz="2000" b="1" dirty="0" err="1">
                <a:latin typeface="Times New Roman" panose="02020603050405020304" pitchFamily="18" charset="0"/>
                <a:cs typeface="Times New Roman" panose="02020603050405020304" pitchFamily="18" charset="0"/>
              </a:rPr>
              <a:t>+1</a:t>
            </a:r>
            <a:r>
              <a:rPr lang="zh-CN" altLang="en-US" sz="2000" b="1" dirty="0">
                <a:latin typeface="Times New Roman" panose="02020603050405020304" pitchFamily="18" charset="0"/>
                <a:cs typeface="Times New Roman" panose="02020603050405020304" pitchFamily="18" charset="0"/>
              </a:rPr>
              <a:t>阶段</a:t>
            </a:r>
            <a:r>
              <a:rPr lang="zh-CN" altLang="en-US" sz="2000" b="1" dirty="0" smtClean="0">
                <a:latin typeface="Times New Roman" panose="02020603050405020304" pitchFamily="18" charset="0"/>
                <a:cs typeface="Times New Roman" panose="02020603050405020304" pitchFamily="18" charset="0"/>
              </a:rPr>
              <a:t>的</a:t>
            </a:r>
            <a:r>
              <a:rPr lang="zh-CN" altLang="en-US" sz="2000" b="1" dirty="0" smtClean="0">
                <a:latin typeface="Times New Roman" panose="02020603050405020304" pitchFamily="18" charset="0"/>
              </a:rPr>
              <a:t>状态</a:t>
            </a:r>
            <a:r>
              <a:rPr lang="zh-CN" altLang="en-US" sz="2000" b="1" dirty="0">
                <a:latin typeface="Times New Roman" panose="02020603050405020304" pitchFamily="18" charset="0"/>
              </a:rPr>
              <a:t>转移规律，称为</a:t>
            </a:r>
            <a:r>
              <a:rPr lang="zh-CN" altLang="en-US" sz="2000" b="1" dirty="0">
                <a:solidFill>
                  <a:srgbClr val="FF0000"/>
                </a:solidFill>
                <a:latin typeface="Times New Roman" panose="02020603050405020304" pitchFamily="18" charset="0"/>
              </a:rPr>
              <a:t>状态转移方程。</a:t>
            </a:r>
            <a:r>
              <a:rPr lang="en-US" altLang="zh-CN" sz="2000" b="1" i="1" dirty="0">
                <a:solidFill>
                  <a:srgbClr val="FF0000"/>
                </a:solidFill>
                <a:latin typeface="Times New Roman" panose="02020603050405020304" pitchFamily="18" charset="0"/>
              </a:rPr>
              <a:t>T</a:t>
            </a:r>
            <a:r>
              <a:rPr lang="en-US" altLang="zh-CN" sz="2000" b="1" i="1" baseline="-25000" dirty="0">
                <a:solidFill>
                  <a:srgbClr val="FF0000"/>
                </a:solidFill>
                <a:latin typeface="Times New Roman" panose="02020603050405020304" pitchFamily="18" charset="0"/>
              </a:rPr>
              <a:t>k</a:t>
            </a:r>
            <a:r>
              <a:rPr lang="zh-CN" altLang="en-US" sz="2000" b="1" dirty="0">
                <a:solidFill>
                  <a:srgbClr val="FF0000"/>
                </a:solidFill>
                <a:latin typeface="Times New Roman" panose="02020603050405020304" pitchFamily="18" charset="0"/>
              </a:rPr>
              <a:t>称为状态转移函数</a:t>
            </a:r>
            <a:r>
              <a:rPr lang="zh-CN" altLang="en-US" sz="2000" b="1" dirty="0" smtClean="0">
                <a:latin typeface="Times New Roman" panose="02020603050405020304" pitchFamily="18" charset="0"/>
              </a:rPr>
              <a:t>。</a:t>
            </a:r>
            <a:endParaRPr lang="en-US" altLang="zh-CN" sz="2000" b="1" dirty="0">
              <a:latin typeface="Times New Roman" panose="02020603050405020304" pitchFamily="18" charset="0"/>
            </a:endParaRPr>
          </a:p>
        </p:txBody>
      </p:sp>
    </p:spTree>
    <p:extLst>
      <p:ext uri="{BB962C8B-B14F-4D97-AF65-F5344CB8AC3E}">
        <p14:creationId xmlns:p14="http://schemas.microsoft.com/office/powerpoint/2010/main" val="16214715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2FC8D7D-D21A-4A07-ABE6-E70C38530ED7}" type="slidenum">
              <a:rPr lang="en-US" altLang="zh-CN" sz="1000"/>
              <a:pPr>
                <a:spcBef>
                  <a:spcPct val="0"/>
                </a:spcBef>
                <a:buClrTx/>
                <a:buSzTx/>
                <a:buFontTx/>
                <a:buNone/>
              </a:pPr>
              <a:t>7</a:t>
            </a:fld>
            <a:endParaRPr lang="en-US" altLang="zh-CN" sz="1000"/>
          </a:p>
        </p:txBody>
      </p:sp>
      <p:sp>
        <p:nvSpPr>
          <p:cNvPr id="9220" name="Rectangle 2"/>
          <p:cNvSpPr>
            <a:spLocks noGrp="1" noChangeArrowheads="1"/>
          </p:cNvSpPr>
          <p:nvPr>
            <p:ph type="title"/>
          </p:nvPr>
        </p:nvSpPr>
        <p:spPr/>
        <p:txBody>
          <a:bodyPr/>
          <a:lstStyle/>
          <a:p>
            <a:pPr eaLnBrk="1" hangingPunct="1"/>
            <a:r>
              <a:rPr lang="en-US" altLang="zh-CN" b="1" dirty="0"/>
              <a:t>8.1.1  </a:t>
            </a:r>
            <a:r>
              <a:rPr lang="zh-CN" altLang="en-US" b="1" dirty="0"/>
              <a:t>动态规划的基本概念</a:t>
            </a:r>
            <a:r>
              <a:rPr lang="zh-CN" altLang="en-US" dirty="0"/>
              <a:t> </a:t>
            </a:r>
          </a:p>
        </p:txBody>
      </p:sp>
      <p:sp>
        <p:nvSpPr>
          <p:cNvPr id="9221" name="Rectangle 3"/>
          <p:cNvSpPr>
            <a:spLocks noGrp="1" noChangeArrowheads="1"/>
          </p:cNvSpPr>
          <p:nvPr>
            <p:ph type="body" idx="1"/>
          </p:nvPr>
        </p:nvSpPr>
        <p:spPr>
          <a:xfrm>
            <a:off x="96601" y="1216145"/>
            <a:ext cx="8569325" cy="5324535"/>
          </a:xfrm>
        </p:spPr>
        <p:txBody>
          <a:bodyPr/>
          <a:lstStyle/>
          <a:p>
            <a:pPr eaLnBrk="1" hangingPunct="1"/>
            <a:r>
              <a:rPr lang="en-US" altLang="zh-CN" sz="2400" dirty="0" smtClean="0"/>
              <a:t>5</a:t>
            </a:r>
            <a:r>
              <a:rPr lang="zh-CN" altLang="en-US" sz="2400" dirty="0" smtClean="0"/>
              <a:t>．</a:t>
            </a:r>
            <a:r>
              <a:rPr lang="zh-CN" altLang="en-US" sz="2400" dirty="0"/>
              <a:t>策略</a:t>
            </a:r>
          </a:p>
          <a:p>
            <a:pPr lvl="1" eaLnBrk="1" hangingPunct="1"/>
            <a:r>
              <a:rPr lang="zh-CN" altLang="en-US" dirty="0" smtClean="0">
                <a:latin typeface="Times New Roman" panose="02020603050405020304" pitchFamily="18" charset="0"/>
                <a:cs typeface="Times New Roman" panose="02020603050405020304" pitchFamily="18" charset="0"/>
              </a:rPr>
              <a:t>策略</a:t>
            </a:r>
            <a:r>
              <a:rPr lang="en-US" altLang="zh-CN" dirty="0" smtClean="0">
                <a:latin typeface="Times New Roman" panose="02020603050405020304" pitchFamily="18" charset="0"/>
                <a:cs typeface="Times New Roman" panose="02020603050405020304" pitchFamily="18" charset="0"/>
              </a:rPr>
              <a:t>:</a:t>
            </a:r>
            <a:r>
              <a:rPr lang="zh-CN" altLang="en-US" dirty="0" smtClean="0">
                <a:latin typeface="Times New Roman" panose="02020603050405020304" pitchFamily="18" charset="0"/>
                <a:cs typeface="Times New Roman" panose="02020603050405020304" pitchFamily="18" charset="0"/>
              </a:rPr>
              <a:t>按</a:t>
            </a:r>
            <a:r>
              <a:rPr lang="zh-CN" altLang="en-US" dirty="0">
                <a:latin typeface="Times New Roman" panose="02020603050405020304" pitchFamily="18" charset="0"/>
                <a:cs typeface="Times New Roman" panose="02020603050405020304" pitchFamily="18" charset="0"/>
              </a:rPr>
              <a:t>顺序排列的</a:t>
            </a:r>
            <a:r>
              <a:rPr lang="zh-CN" altLang="en-US" dirty="0" smtClean="0">
                <a:latin typeface="Times New Roman" panose="02020603050405020304" pitchFamily="18" charset="0"/>
                <a:cs typeface="Times New Roman" panose="02020603050405020304" pitchFamily="18" charset="0"/>
              </a:rPr>
              <a:t>决策集合。</a:t>
            </a:r>
            <a:endParaRPr lang="en-US" altLang="zh-CN" dirty="0" smtClean="0">
              <a:latin typeface="Times New Roman" panose="02020603050405020304" pitchFamily="18" charset="0"/>
              <a:cs typeface="Times New Roman" panose="02020603050405020304" pitchFamily="18" charset="0"/>
            </a:endParaRPr>
          </a:p>
          <a:p>
            <a:pPr lvl="1" eaLnBrk="1" hangingPunct="1"/>
            <a:r>
              <a:rPr lang="zh-CN" altLang="en-US" dirty="0" smtClean="0">
                <a:solidFill>
                  <a:srgbClr val="FF0000"/>
                </a:solidFill>
                <a:latin typeface="Arial" panose="020B0604020202020204" pitchFamily="34" charset="0"/>
                <a:ea typeface="楷体_GB2312" pitchFamily="49" charset="-122"/>
              </a:rPr>
              <a:t>整体策略</a:t>
            </a:r>
            <a:r>
              <a:rPr lang="en-US" altLang="zh-CN" dirty="0" smtClean="0">
                <a:solidFill>
                  <a:srgbClr val="FF0000"/>
                </a:solidFill>
                <a:latin typeface="Arial" panose="020B0604020202020204" pitchFamily="34" charset="0"/>
                <a:ea typeface="楷体_GB2312" pitchFamily="49" charset="-122"/>
              </a:rPr>
              <a:t>:</a:t>
            </a:r>
            <a:r>
              <a:rPr lang="zh-CN" altLang="en-US" dirty="0" smtClean="0">
                <a:latin typeface="Arial" panose="020B0604020202020204" pitchFamily="34" charset="0"/>
                <a:ea typeface="楷体_GB2312" pitchFamily="49" charset="-122"/>
              </a:rPr>
              <a:t>对于</a:t>
            </a:r>
            <a:r>
              <a:rPr lang="en-US" altLang="zh-CN" i="1" dirty="0">
                <a:latin typeface="Times New Roman" panose="02020603050405020304" pitchFamily="18" charset="0"/>
                <a:ea typeface="楷体_GB2312" pitchFamily="49" charset="-122"/>
                <a:cs typeface="Times New Roman" panose="02020603050405020304" pitchFamily="18" charset="0"/>
              </a:rPr>
              <a:t>n</a:t>
            </a:r>
            <a:r>
              <a:rPr lang="zh-CN" altLang="en-US" dirty="0">
                <a:latin typeface="Arial" panose="020B0604020202020204" pitchFamily="34" charset="0"/>
                <a:ea typeface="楷体_GB2312" pitchFamily="49" charset="-122"/>
              </a:rPr>
              <a:t>阶段决策问题，从初始状态出发到终段状态的全过程中，每阶段的</a:t>
            </a:r>
            <a:r>
              <a:rPr lang="zh-CN" altLang="en-US" dirty="0" smtClean="0">
                <a:latin typeface="Arial" panose="020B0604020202020204" pitchFamily="34" charset="0"/>
                <a:ea typeface="楷体_GB2312" pitchFamily="49" charset="-122"/>
              </a:rPr>
              <a:t>决策</a:t>
            </a:r>
            <a:r>
              <a:rPr lang="en-US" altLang="zh-CN" i="1" dirty="0" err="1" smtClean="0">
                <a:latin typeface="Times New Roman" panose="02020603050405020304" pitchFamily="18" charset="0"/>
                <a:ea typeface="楷体_GB2312"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_GB2312" pitchFamily="49" charset="-122"/>
                <a:cs typeface="Times New Roman" panose="02020603050405020304" pitchFamily="18" charset="0"/>
              </a:rPr>
              <a:t>k</a:t>
            </a:r>
            <a:r>
              <a:rPr lang="en-US" altLang="zh-CN" dirty="0" smtClean="0">
                <a:latin typeface="Times New Roman" panose="02020603050405020304" pitchFamily="18" charset="0"/>
                <a:ea typeface="楷体_GB2312" pitchFamily="49" charset="-122"/>
                <a:cs typeface="Times New Roman" panose="02020603050405020304" pitchFamily="18" charset="0"/>
              </a:rPr>
              <a:t>(</a:t>
            </a:r>
            <a:r>
              <a:rPr lang="en-US" altLang="zh-CN" i="1" dirty="0" err="1" smtClean="0">
                <a:latin typeface="Times New Roman" panose="02020603050405020304" pitchFamily="18" charset="0"/>
                <a:ea typeface="楷体_GB2312" pitchFamily="49" charset="-122"/>
                <a:cs typeface="Times New Roman" panose="02020603050405020304" pitchFamily="18" charset="0"/>
              </a:rPr>
              <a:t>s</a:t>
            </a:r>
            <a:r>
              <a:rPr lang="en-US" altLang="zh-CN" i="1" baseline="-30000" dirty="0" err="1" smtClean="0">
                <a:latin typeface="Times New Roman" panose="02020603050405020304" pitchFamily="18" charset="0"/>
                <a:ea typeface="楷体_GB2312" pitchFamily="49" charset="-122"/>
                <a:cs typeface="Times New Roman" panose="02020603050405020304" pitchFamily="18" charset="0"/>
              </a:rPr>
              <a:t>k</a:t>
            </a:r>
            <a:r>
              <a:rPr lang="en-US" altLang="zh-CN" dirty="0" smtClean="0">
                <a:latin typeface="Times New Roman" panose="02020603050405020304" pitchFamily="18" charset="0"/>
                <a:ea typeface="楷体_GB2312" pitchFamily="49" charset="-122"/>
                <a:cs typeface="Times New Roman" panose="02020603050405020304" pitchFamily="18" charset="0"/>
              </a:rPr>
              <a:t>)</a:t>
            </a:r>
            <a:r>
              <a:rPr lang="zh-CN" altLang="en-US" dirty="0" smtClean="0">
                <a:latin typeface="Times New Roman" panose="02020603050405020304" pitchFamily="18" charset="0"/>
                <a:ea typeface="楷体_GB2312" pitchFamily="49" charset="-122"/>
                <a:cs typeface="Times New Roman" panose="02020603050405020304" pitchFamily="18" charset="0"/>
              </a:rPr>
              <a:t>（</a:t>
            </a:r>
            <a:r>
              <a:rPr lang="en-US" altLang="zh-CN" i="1" dirty="0">
                <a:latin typeface="Times New Roman" panose="02020603050405020304" pitchFamily="18" charset="0"/>
                <a:ea typeface="楷体_GB2312" pitchFamily="49" charset="-122"/>
                <a:cs typeface="Times New Roman" panose="02020603050405020304" pitchFamily="18" charset="0"/>
              </a:rPr>
              <a:t>k</a:t>
            </a:r>
            <a:r>
              <a:rPr lang="en-US" altLang="zh-CN" dirty="0">
                <a:latin typeface="Times New Roman" panose="02020603050405020304" pitchFamily="18" charset="0"/>
                <a:ea typeface="楷体_GB2312" pitchFamily="49" charset="-122"/>
                <a:cs typeface="Times New Roman" panose="02020603050405020304" pitchFamily="18" charset="0"/>
              </a:rPr>
              <a:t> = </a:t>
            </a:r>
            <a:r>
              <a:rPr lang="en-US" altLang="zh-CN" dirty="0" smtClean="0">
                <a:latin typeface="Times New Roman" panose="02020603050405020304" pitchFamily="18" charset="0"/>
                <a:ea typeface="楷体_GB2312" pitchFamily="49" charset="-122"/>
                <a:cs typeface="Times New Roman" panose="02020603050405020304" pitchFamily="18" charset="0"/>
              </a:rPr>
              <a:t>1,2,…,</a:t>
            </a:r>
            <a:r>
              <a:rPr lang="en-US" altLang="zh-CN" i="1" dirty="0" smtClean="0">
                <a:latin typeface="Times New Roman" panose="02020603050405020304" pitchFamily="18" charset="0"/>
                <a:ea typeface="楷体_GB2312" pitchFamily="49" charset="-122"/>
                <a:cs typeface="Times New Roman" panose="02020603050405020304" pitchFamily="18" charset="0"/>
              </a:rPr>
              <a:t>n</a:t>
            </a:r>
            <a:r>
              <a:rPr lang="zh-CN" altLang="en-US"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Arial" panose="020B0604020202020204" pitchFamily="34" charset="0"/>
                <a:ea typeface="楷体_GB2312" pitchFamily="49" charset="-122"/>
              </a:rPr>
              <a:t>所构成的决策序列就称为一个</a:t>
            </a:r>
            <a:r>
              <a:rPr lang="zh-CN" altLang="en-US" dirty="0">
                <a:solidFill>
                  <a:srgbClr val="FF0000"/>
                </a:solidFill>
                <a:latin typeface="Arial" panose="020B0604020202020204" pitchFamily="34" charset="0"/>
                <a:ea typeface="楷体_GB2312" pitchFamily="49" charset="-122"/>
              </a:rPr>
              <a:t>整体策略</a:t>
            </a:r>
            <a:r>
              <a:rPr lang="zh-CN" altLang="en-US" dirty="0">
                <a:latin typeface="Arial" panose="020B0604020202020204" pitchFamily="34" charset="0"/>
                <a:ea typeface="楷体_GB2312" pitchFamily="49" charset="-122"/>
              </a:rPr>
              <a:t>，简称</a:t>
            </a:r>
            <a:r>
              <a:rPr lang="zh-CN" altLang="en-US" dirty="0">
                <a:solidFill>
                  <a:srgbClr val="FF0000"/>
                </a:solidFill>
                <a:latin typeface="Arial" panose="020B0604020202020204" pitchFamily="34" charset="0"/>
                <a:ea typeface="楷体_GB2312" pitchFamily="49" charset="-122"/>
              </a:rPr>
              <a:t>策略</a:t>
            </a:r>
            <a:r>
              <a:rPr lang="zh-CN" altLang="en-US" dirty="0">
                <a:latin typeface="Arial" panose="020B0604020202020204" pitchFamily="34" charset="0"/>
                <a:ea typeface="楷体_GB2312" pitchFamily="49" charset="-122"/>
              </a:rPr>
              <a:t>。记为</a:t>
            </a:r>
            <a:r>
              <a:rPr lang="zh-CN" altLang="en-US" dirty="0" smtClean="0">
                <a:latin typeface="Arial" panose="020B0604020202020204" pitchFamily="34" charset="0"/>
                <a:ea typeface="楷体_GB2312" pitchFamily="49" charset="-122"/>
              </a:rPr>
              <a:t>：</a:t>
            </a:r>
            <a:r>
              <a:rPr lang="en-US" altLang="zh-CN" i="1" dirty="0">
                <a:latin typeface="Times New Roman" panose="02020603050405020304" pitchFamily="18" charset="0"/>
                <a:cs typeface="Times New Roman" panose="02020603050405020304" pitchFamily="18" charset="0"/>
              </a:rPr>
              <a:t>p</a:t>
            </a:r>
            <a:r>
              <a:rPr lang="en-US" altLang="zh-CN" i="1" baseline="-30000" dirty="0">
                <a:latin typeface="Times New Roman" panose="02020603050405020304" pitchFamily="18" charset="0"/>
                <a:cs typeface="Times New Roman" panose="02020603050405020304" pitchFamily="18" charset="0"/>
              </a:rPr>
              <a:t>1,n</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s</a:t>
            </a:r>
            <a:r>
              <a:rPr lang="en-US" altLang="zh-CN" i="1" baseline="-30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 </a:t>
            </a:r>
            <a:r>
              <a:rPr lang="zh-CN" altLang="en-US" dirty="0"/>
              <a:t>，即</a:t>
            </a:r>
            <a:r>
              <a:rPr lang="zh-CN" altLang="en-US" dirty="0" smtClean="0"/>
              <a:t>：</a:t>
            </a:r>
            <a:endParaRPr lang="en-US" altLang="zh-CN" dirty="0" smtClean="0"/>
          </a:p>
          <a:p>
            <a:pPr marL="449262" lvl="1" indent="0" eaLnBrk="1" hangingPunct="1">
              <a:buNone/>
            </a:pPr>
            <a:r>
              <a:rPr lang="en-US" altLang="zh-CN" i="1" dirty="0" smtClean="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p</a:t>
            </a:r>
            <a:r>
              <a:rPr lang="en-US" altLang="zh-CN" i="1" baseline="-30000" dirty="0">
                <a:latin typeface="Times New Roman" panose="02020603050405020304" pitchFamily="18" charset="0"/>
                <a:cs typeface="Times New Roman" panose="02020603050405020304" pitchFamily="18" charset="0"/>
              </a:rPr>
              <a:t>1,n</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s</a:t>
            </a:r>
            <a:r>
              <a:rPr lang="en-US" altLang="zh-CN" i="1" baseline="-30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a:t>
            </a:r>
            <a:r>
              <a:rPr lang="en-US" altLang="zh-CN" dirty="0"/>
              <a:t> {</a:t>
            </a:r>
            <a:r>
              <a:rPr lang="en-US" altLang="zh-CN" i="1" dirty="0">
                <a:latin typeface="Times New Roman" panose="02020603050405020304" pitchFamily="18" charset="0"/>
                <a:cs typeface="Times New Roman" panose="02020603050405020304" pitchFamily="18" charset="0"/>
              </a:rPr>
              <a:t>x</a:t>
            </a:r>
            <a:r>
              <a:rPr lang="en-US" altLang="zh-CN" i="1" baseline="-30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s</a:t>
            </a:r>
            <a:r>
              <a:rPr lang="en-US" altLang="zh-CN" i="1" baseline="-30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x</a:t>
            </a:r>
            <a:r>
              <a:rPr lang="en-US" altLang="zh-CN" i="1" baseline="-30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s</a:t>
            </a:r>
            <a:r>
              <a:rPr lang="en-US" altLang="zh-CN" i="1" baseline="-30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a:t>
            </a:r>
            <a:r>
              <a:rPr lang="en-US" altLang="zh-CN" i="1" dirty="0" err="1">
                <a:latin typeface="Times New Roman" panose="02020603050405020304" pitchFamily="18" charset="0"/>
                <a:cs typeface="Times New Roman" panose="02020603050405020304" pitchFamily="18" charset="0"/>
              </a:rPr>
              <a:t>x</a:t>
            </a:r>
            <a:r>
              <a:rPr lang="en-US" altLang="zh-CN" i="1" baseline="-30000" dirty="0" err="1">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a:t>
            </a:r>
            <a:r>
              <a:rPr lang="en-US" altLang="zh-CN" i="1" dirty="0" err="1">
                <a:latin typeface="Times New Roman" panose="02020603050405020304" pitchFamily="18" charset="0"/>
                <a:cs typeface="Times New Roman" panose="02020603050405020304" pitchFamily="18" charset="0"/>
              </a:rPr>
              <a:t>s</a:t>
            </a:r>
            <a:r>
              <a:rPr lang="en-US" altLang="zh-CN" i="1" baseline="-30000" dirty="0" err="1">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a:t>
            </a:r>
            <a:r>
              <a:rPr lang="en-US" altLang="zh-CN" dirty="0"/>
              <a:t>}</a:t>
            </a:r>
            <a:endParaRPr lang="zh-CN" altLang="en-US" dirty="0">
              <a:latin typeface="Arial" panose="020B0604020202020204" pitchFamily="34" charset="0"/>
              <a:ea typeface="楷体_GB2312" pitchFamily="49" charset="-122"/>
            </a:endParaRPr>
          </a:p>
          <a:p>
            <a:pPr lvl="1" eaLnBrk="1" hangingPunct="1"/>
            <a:r>
              <a:rPr lang="zh-CN" altLang="en-US" dirty="0" smtClean="0">
                <a:solidFill>
                  <a:srgbClr val="FF0000"/>
                </a:solidFill>
                <a:latin typeface="Times New Roman" panose="02020603050405020304" pitchFamily="18" charset="0"/>
                <a:cs typeface="Times New Roman" panose="02020603050405020304" pitchFamily="18" charset="0"/>
              </a:rPr>
              <a:t>后部</a:t>
            </a:r>
            <a:r>
              <a:rPr lang="en-US" altLang="zh-CN" dirty="0" smtClean="0">
                <a:solidFill>
                  <a:srgbClr val="FF0000"/>
                </a:solidFill>
              </a:rPr>
              <a:t> </a:t>
            </a:r>
            <a:r>
              <a:rPr lang="en-US" altLang="zh-CN" i="1" dirty="0" smtClean="0">
                <a:solidFill>
                  <a:srgbClr val="FF0000"/>
                </a:solidFill>
                <a:latin typeface="Times New Roman" panose="02020603050405020304" pitchFamily="18" charset="0"/>
                <a:cs typeface="Times New Roman" panose="02020603050405020304" pitchFamily="18" charset="0"/>
              </a:rPr>
              <a:t>k</a:t>
            </a:r>
            <a:r>
              <a:rPr lang="zh-CN" altLang="en-US" dirty="0" smtClean="0">
                <a:solidFill>
                  <a:srgbClr val="FF0000"/>
                </a:solidFill>
                <a:latin typeface="Times New Roman" panose="02020603050405020304" pitchFamily="18" charset="0"/>
                <a:cs typeface="Times New Roman" panose="02020603050405020304" pitchFamily="18" charset="0"/>
              </a:rPr>
              <a:t>段</a:t>
            </a:r>
            <a:r>
              <a:rPr lang="zh-CN" altLang="en-US" dirty="0" smtClean="0">
                <a:solidFill>
                  <a:srgbClr val="FF0000"/>
                </a:solidFill>
              </a:rPr>
              <a:t>子策略</a:t>
            </a:r>
            <a:r>
              <a:rPr lang="zh-CN" altLang="en-US" dirty="0" smtClean="0">
                <a:latin typeface="Times New Roman" panose="02020603050405020304" pitchFamily="18" charset="0"/>
                <a:cs typeface="Times New Roman" panose="02020603050405020304" pitchFamily="18" charset="0"/>
              </a:rPr>
              <a:t>：由</a:t>
            </a:r>
            <a:r>
              <a:rPr lang="zh-CN" altLang="en-US" dirty="0">
                <a:latin typeface="Times New Roman" panose="02020603050405020304" pitchFamily="18" charset="0"/>
                <a:cs typeface="Times New Roman" panose="02020603050405020304" pitchFamily="18" charset="0"/>
              </a:rPr>
              <a:t>过程的第</a:t>
            </a:r>
            <a:r>
              <a:rPr lang="en-US" altLang="zh-CN" i="1" dirty="0">
                <a:latin typeface="Times New Roman" panose="02020603050405020304" pitchFamily="18" charset="0"/>
                <a:cs typeface="Times New Roman" panose="02020603050405020304" pitchFamily="18" charset="0"/>
              </a:rPr>
              <a:t>k</a:t>
            </a:r>
            <a:r>
              <a:rPr lang="zh-CN" altLang="en-US" dirty="0"/>
              <a:t>阶段开始到终止状态</a:t>
            </a:r>
            <a:r>
              <a:rPr lang="zh-CN" altLang="en-US" dirty="0" smtClean="0"/>
              <a:t>为止，由每个阶段</a:t>
            </a:r>
            <a:r>
              <a:rPr lang="zh-CN" altLang="en-US" dirty="0"/>
              <a:t>的决策按顺序排列组成的决策函数</a:t>
            </a:r>
            <a:r>
              <a:rPr lang="zh-CN" altLang="en-US" dirty="0" smtClean="0"/>
              <a:t>序列称为</a:t>
            </a:r>
            <a:r>
              <a:rPr lang="en-US" altLang="zh-CN" i="1" dirty="0">
                <a:latin typeface="Times New Roman" panose="02020603050405020304" pitchFamily="18" charset="0"/>
              </a:rPr>
              <a:t>k</a:t>
            </a:r>
            <a:r>
              <a:rPr lang="zh-CN" altLang="en-US" dirty="0"/>
              <a:t>子过程</a:t>
            </a:r>
            <a:r>
              <a:rPr lang="zh-CN" altLang="en-US" dirty="0" smtClean="0"/>
              <a:t>策略，简称</a:t>
            </a:r>
            <a:r>
              <a:rPr lang="zh-CN" altLang="en-US" dirty="0"/>
              <a:t>子策略，记</a:t>
            </a:r>
            <a:r>
              <a:rPr lang="zh-CN" altLang="en-US" dirty="0" smtClean="0"/>
              <a:t>为</a:t>
            </a:r>
            <a:r>
              <a:rPr lang="en-US" altLang="zh-CN" i="1" dirty="0" err="1" smtClean="0">
                <a:latin typeface="Times New Roman" panose="02020603050405020304" pitchFamily="18" charset="0"/>
                <a:cs typeface="Times New Roman" panose="02020603050405020304" pitchFamily="18" charset="0"/>
              </a:rPr>
              <a:t>p</a:t>
            </a:r>
            <a:r>
              <a:rPr lang="en-US" altLang="zh-CN" i="1" baseline="-30000" dirty="0" err="1" smtClean="0">
                <a:latin typeface="Times New Roman" panose="02020603050405020304" pitchFamily="18" charset="0"/>
                <a:cs typeface="Times New Roman" panose="02020603050405020304" pitchFamily="18" charset="0"/>
              </a:rPr>
              <a:t>k,n</a:t>
            </a:r>
            <a:r>
              <a:rPr lang="en-US" altLang="zh-CN" dirty="0" smtClean="0">
                <a:latin typeface="Times New Roman" panose="02020603050405020304" pitchFamily="18" charset="0"/>
                <a:cs typeface="Times New Roman" panose="02020603050405020304" pitchFamily="18" charset="0"/>
              </a:rPr>
              <a:t>(</a:t>
            </a:r>
            <a:r>
              <a:rPr lang="en-US" altLang="zh-CN" i="1" dirty="0" err="1" smtClean="0">
                <a:latin typeface="Times New Roman" panose="02020603050405020304" pitchFamily="18" charset="0"/>
                <a:cs typeface="Times New Roman" panose="02020603050405020304" pitchFamily="18" charset="0"/>
              </a:rPr>
              <a:t>s</a:t>
            </a:r>
            <a:r>
              <a:rPr lang="en-US" altLang="zh-CN" i="1" baseline="-30000" dirty="0" err="1" smtClean="0">
                <a:latin typeface="Times New Roman" panose="02020603050405020304" pitchFamily="18" charset="0"/>
                <a:cs typeface="Times New Roman" panose="02020603050405020304" pitchFamily="18" charset="0"/>
              </a:rPr>
              <a:t>k</a:t>
            </a:r>
            <a:r>
              <a:rPr lang="en-US" altLang="zh-CN" dirty="0">
                <a:latin typeface="Times New Roman" panose="02020603050405020304" pitchFamily="18" charset="0"/>
                <a:cs typeface="Times New Roman" panose="02020603050405020304" pitchFamily="18" charset="0"/>
              </a:rPr>
              <a:t>)</a:t>
            </a:r>
            <a:r>
              <a:rPr lang="zh-CN" altLang="en-US" dirty="0" smtClean="0"/>
              <a:t>，</a:t>
            </a:r>
            <a:r>
              <a:rPr lang="zh-CN" altLang="en-US" dirty="0"/>
              <a:t>即</a:t>
            </a:r>
            <a:r>
              <a:rPr lang="zh-CN" altLang="en-US" dirty="0" smtClean="0"/>
              <a:t>：</a:t>
            </a:r>
            <a:r>
              <a:rPr lang="en-US" altLang="zh-CN" i="1" dirty="0" smtClean="0">
                <a:latin typeface="Times New Roman" panose="02020603050405020304" pitchFamily="18" charset="0"/>
                <a:cs typeface="Times New Roman" panose="02020603050405020304" pitchFamily="18" charset="0"/>
              </a:rPr>
              <a:t> </a:t>
            </a:r>
          </a:p>
          <a:p>
            <a:pPr marL="449262" lvl="1" indent="0" eaLnBrk="1" hangingPunct="1">
              <a:buNone/>
            </a:pPr>
            <a:r>
              <a:rPr lang="en-US" altLang="zh-CN" i="1" dirty="0">
                <a:latin typeface="Times New Roman" panose="02020603050405020304" pitchFamily="18" charset="0"/>
                <a:cs typeface="Times New Roman" panose="02020603050405020304" pitchFamily="18" charset="0"/>
              </a:rPr>
              <a:t> </a:t>
            </a:r>
            <a:r>
              <a:rPr lang="en-US" altLang="zh-CN" i="1" dirty="0" smtClean="0">
                <a:latin typeface="Times New Roman" panose="02020603050405020304" pitchFamily="18" charset="0"/>
                <a:cs typeface="Times New Roman" panose="02020603050405020304" pitchFamily="18" charset="0"/>
              </a:rPr>
              <a:t>                </a:t>
            </a:r>
            <a:r>
              <a:rPr lang="en-US" altLang="zh-CN" i="1" dirty="0" err="1" smtClean="0">
                <a:latin typeface="Times New Roman" panose="02020603050405020304" pitchFamily="18" charset="0"/>
                <a:cs typeface="Times New Roman" panose="02020603050405020304" pitchFamily="18" charset="0"/>
              </a:rPr>
              <a:t>p</a:t>
            </a:r>
            <a:r>
              <a:rPr lang="en-US" altLang="zh-CN" i="1" baseline="-30000" dirty="0" err="1" smtClean="0">
                <a:latin typeface="Times New Roman" panose="02020603050405020304" pitchFamily="18" charset="0"/>
                <a:cs typeface="Times New Roman" panose="02020603050405020304" pitchFamily="18" charset="0"/>
              </a:rPr>
              <a:t>k,n</a:t>
            </a:r>
            <a:r>
              <a:rPr lang="en-US" altLang="zh-CN" dirty="0" smtClean="0">
                <a:latin typeface="Times New Roman" panose="02020603050405020304" pitchFamily="18" charset="0"/>
                <a:cs typeface="Times New Roman" panose="02020603050405020304" pitchFamily="18" charset="0"/>
              </a:rPr>
              <a:t>(</a:t>
            </a:r>
            <a:r>
              <a:rPr lang="en-US" altLang="zh-CN" i="1" dirty="0" err="1" smtClean="0">
                <a:latin typeface="Times New Roman" panose="02020603050405020304" pitchFamily="18" charset="0"/>
                <a:cs typeface="Times New Roman" panose="02020603050405020304" pitchFamily="18" charset="0"/>
              </a:rPr>
              <a:t>s</a:t>
            </a:r>
            <a:r>
              <a:rPr lang="en-US" altLang="zh-CN" i="1" baseline="-30000" dirty="0" err="1" smtClean="0">
                <a:latin typeface="Times New Roman" panose="02020603050405020304" pitchFamily="18" charset="0"/>
                <a:cs typeface="Times New Roman" panose="02020603050405020304" pitchFamily="18" charset="0"/>
              </a:rPr>
              <a:t>k</a:t>
            </a:r>
            <a:r>
              <a:rPr lang="en-US" altLang="zh-CN" dirty="0" smtClean="0">
                <a:latin typeface="Times New Roman" panose="02020603050405020304" pitchFamily="18" charset="0"/>
                <a:cs typeface="Times New Roman" panose="02020603050405020304" pitchFamily="18" charset="0"/>
              </a:rPr>
              <a:t>)=</a:t>
            </a:r>
            <a:r>
              <a:rPr lang="en-US" altLang="zh-CN" dirty="0"/>
              <a:t> </a:t>
            </a:r>
            <a:r>
              <a:rPr lang="en-US" altLang="zh-CN" dirty="0" smtClean="0"/>
              <a:t>{</a:t>
            </a:r>
            <a:r>
              <a:rPr lang="en-US" altLang="zh-CN" i="1" dirty="0" err="1" smtClean="0">
                <a:latin typeface="Times New Roman" panose="02020603050405020304" pitchFamily="18" charset="0"/>
                <a:cs typeface="Times New Roman" panose="02020603050405020304" pitchFamily="18" charset="0"/>
              </a:rPr>
              <a:t>x</a:t>
            </a:r>
            <a:r>
              <a:rPr lang="en-US" altLang="zh-CN" i="1" baseline="-30000" dirty="0" err="1" smtClean="0">
                <a:latin typeface="Times New Roman" panose="02020603050405020304" pitchFamily="18" charset="0"/>
                <a:cs typeface="Times New Roman" panose="02020603050405020304" pitchFamily="18" charset="0"/>
              </a:rPr>
              <a:t>k</a:t>
            </a:r>
            <a:r>
              <a:rPr lang="en-US" altLang="zh-CN" dirty="0" smtClean="0">
                <a:latin typeface="Times New Roman" panose="02020603050405020304" pitchFamily="18" charset="0"/>
                <a:cs typeface="Times New Roman" panose="02020603050405020304" pitchFamily="18" charset="0"/>
              </a:rPr>
              <a:t>(</a:t>
            </a:r>
            <a:r>
              <a:rPr lang="en-US" altLang="zh-CN" i="1" dirty="0" err="1" smtClean="0">
                <a:latin typeface="Times New Roman" panose="02020603050405020304" pitchFamily="18" charset="0"/>
                <a:cs typeface="Times New Roman" panose="02020603050405020304" pitchFamily="18" charset="0"/>
              </a:rPr>
              <a:t>s</a:t>
            </a:r>
            <a:r>
              <a:rPr lang="en-US" altLang="zh-CN" i="1" baseline="-30000" dirty="0" err="1" smtClean="0">
                <a:latin typeface="Times New Roman" panose="02020603050405020304" pitchFamily="18" charset="0"/>
                <a:cs typeface="Times New Roman" panose="02020603050405020304" pitchFamily="18" charset="0"/>
              </a:rPr>
              <a:t>k</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a:t>
            </a:r>
            <a:r>
              <a:rPr lang="en-US" altLang="zh-CN" i="1" dirty="0" smtClean="0">
                <a:latin typeface="Times New Roman" panose="02020603050405020304" pitchFamily="18" charset="0"/>
                <a:cs typeface="Times New Roman" panose="02020603050405020304" pitchFamily="18" charset="0"/>
              </a:rPr>
              <a:t>x</a:t>
            </a:r>
            <a:r>
              <a:rPr lang="en-US" altLang="zh-CN" i="1" baseline="-30000" dirty="0" smtClean="0">
                <a:latin typeface="Times New Roman" panose="02020603050405020304" pitchFamily="18" charset="0"/>
                <a:cs typeface="Times New Roman" panose="02020603050405020304" pitchFamily="18" charset="0"/>
              </a:rPr>
              <a:t>k+1</a:t>
            </a:r>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s</a:t>
            </a:r>
            <a:r>
              <a:rPr lang="en-US" altLang="zh-CN" i="1" baseline="-30000" dirty="0" smtClean="0">
                <a:latin typeface="Times New Roman" panose="02020603050405020304" pitchFamily="18" charset="0"/>
                <a:cs typeface="Times New Roman" panose="02020603050405020304" pitchFamily="18" charset="0"/>
              </a:rPr>
              <a:t>k+1</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a:t>
            </a:r>
            <a:r>
              <a:rPr lang="en-US" altLang="zh-CN" i="1" dirty="0" err="1" smtClean="0">
                <a:latin typeface="Times New Roman" panose="02020603050405020304" pitchFamily="18" charset="0"/>
                <a:cs typeface="Times New Roman" panose="02020603050405020304" pitchFamily="18" charset="0"/>
              </a:rPr>
              <a:t>x</a:t>
            </a:r>
            <a:r>
              <a:rPr lang="en-US" altLang="zh-CN" i="1" baseline="-30000" dirty="0" err="1" smtClean="0">
                <a:latin typeface="Times New Roman" panose="02020603050405020304" pitchFamily="18" charset="0"/>
                <a:cs typeface="Times New Roman" panose="02020603050405020304" pitchFamily="18" charset="0"/>
              </a:rPr>
              <a:t>n</a:t>
            </a:r>
            <a:r>
              <a:rPr lang="en-US" altLang="zh-CN" dirty="0" smtClean="0">
                <a:latin typeface="Times New Roman" panose="02020603050405020304" pitchFamily="18" charset="0"/>
                <a:cs typeface="Times New Roman" panose="02020603050405020304" pitchFamily="18" charset="0"/>
              </a:rPr>
              <a:t>(</a:t>
            </a:r>
            <a:r>
              <a:rPr lang="en-US" altLang="zh-CN" i="1" dirty="0" err="1" smtClean="0">
                <a:latin typeface="Times New Roman" panose="02020603050405020304" pitchFamily="18" charset="0"/>
                <a:cs typeface="Times New Roman" panose="02020603050405020304" pitchFamily="18" charset="0"/>
              </a:rPr>
              <a:t>s</a:t>
            </a:r>
            <a:r>
              <a:rPr lang="en-US" altLang="zh-CN" i="1" baseline="-30000" dirty="0" err="1" smtClean="0">
                <a:latin typeface="Times New Roman" panose="02020603050405020304" pitchFamily="18" charset="0"/>
                <a:cs typeface="Times New Roman" panose="02020603050405020304" pitchFamily="18" charset="0"/>
              </a:rPr>
              <a:t>n</a:t>
            </a:r>
            <a:r>
              <a:rPr lang="en-US" altLang="zh-CN" dirty="0" smtClean="0">
                <a:latin typeface="Times New Roman" panose="02020603050405020304" pitchFamily="18" charset="0"/>
                <a:cs typeface="Times New Roman" panose="02020603050405020304" pitchFamily="18" charset="0"/>
              </a:rPr>
              <a:t>)</a:t>
            </a:r>
            <a:r>
              <a:rPr lang="en-US" altLang="zh-CN" dirty="0" smtClean="0"/>
              <a:t>}</a:t>
            </a:r>
          </a:p>
          <a:p>
            <a:pPr lvl="1" eaLnBrk="1" hangingPunct="1"/>
            <a:r>
              <a:rPr lang="zh-CN" altLang="en-US" dirty="0" smtClean="0">
                <a:solidFill>
                  <a:srgbClr val="FF0000"/>
                </a:solidFill>
                <a:cs typeface="Courier New" panose="02070309020205020404" pitchFamily="49" charset="0"/>
              </a:rPr>
              <a:t>前部</a:t>
            </a:r>
            <a:r>
              <a:rPr lang="en-US" altLang="zh-CN" i="1" dirty="0" smtClean="0">
                <a:solidFill>
                  <a:srgbClr val="FF0000"/>
                </a:solidFill>
                <a:latin typeface="Times New Roman" panose="02020603050405020304" pitchFamily="18" charset="0"/>
                <a:cs typeface="Times New Roman" panose="02020603050405020304" pitchFamily="18" charset="0"/>
              </a:rPr>
              <a:t>k</a:t>
            </a:r>
            <a:r>
              <a:rPr lang="zh-CN" altLang="en-US" dirty="0">
                <a:solidFill>
                  <a:srgbClr val="FF0000"/>
                </a:solidFill>
                <a:latin typeface="Times New Roman" panose="02020603050405020304" pitchFamily="18" charset="0"/>
                <a:cs typeface="Times New Roman" panose="02020603050405020304" pitchFamily="18" charset="0"/>
              </a:rPr>
              <a:t>段</a:t>
            </a:r>
            <a:r>
              <a:rPr lang="zh-CN" altLang="en-US" dirty="0">
                <a:solidFill>
                  <a:srgbClr val="FF0000"/>
                </a:solidFill>
              </a:rPr>
              <a:t>子</a:t>
            </a:r>
            <a:r>
              <a:rPr lang="zh-CN" altLang="en-US" dirty="0" smtClean="0">
                <a:solidFill>
                  <a:srgbClr val="FF0000"/>
                </a:solidFill>
              </a:rPr>
              <a:t>策略</a:t>
            </a:r>
            <a:r>
              <a:rPr lang="zh-CN" altLang="en-US" dirty="0" smtClean="0">
                <a:latin typeface="Times New Roman" panose="02020603050405020304" pitchFamily="18" charset="0"/>
                <a:cs typeface="Times New Roman" panose="02020603050405020304" pitchFamily="18" charset="0"/>
              </a:rPr>
              <a:t>：</a:t>
            </a:r>
            <a:r>
              <a:rPr lang="zh-CN" altLang="en-US" dirty="0"/>
              <a:t>记为</a:t>
            </a:r>
            <a:r>
              <a:rPr lang="en-US" altLang="zh-CN" i="1" dirty="0" smtClean="0">
                <a:latin typeface="Times New Roman" panose="02020603050405020304" pitchFamily="18" charset="0"/>
                <a:cs typeface="Times New Roman" panose="02020603050405020304" pitchFamily="18" charset="0"/>
              </a:rPr>
              <a:t>p</a:t>
            </a:r>
            <a:r>
              <a:rPr lang="en-US" altLang="zh-CN" i="1" baseline="-30000" dirty="0" smtClean="0">
                <a:latin typeface="Times New Roman" panose="02020603050405020304" pitchFamily="18" charset="0"/>
                <a:cs typeface="Times New Roman" panose="02020603050405020304" pitchFamily="18" charset="0"/>
              </a:rPr>
              <a:t>1,k</a:t>
            </a:r>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s</a:t>
            </a:r>
            <a:r>
              <a:rPr lang="en-US" altLang="zh-CN" i="1" baseline="-30000" dirty="0" smtClean="0">
                <a:latin typeface="Times New Roman" panose="02020603050405020304" pitchFamily="18" charset="0"/>
                <a:cs typeface="Times New Roman" panose="02020603050405020304" pitchFamily="18" charset="0"/>
              </a:rPr>
              <a:t>1</a:t>
            </a:r>
            <a:r>
              <a:rPr lang="en-US" altLang="zh-CN" dirty="0" smtClean="0">
                <a:latin typeface="Times New Roman" panose="02020603050405020304" pitchFamily="18" charset="0"/>
                <a:cs typeface="Times New Roman" panose="02020603050405020304" pitchFamily="18" charset="0"/>
              </a:rPr>
              <a:t>)</a:t>
            </a:r>
            <a:r>
              <a:rPr lang="zh-CN" altLang="en-US" dirty="0"/>
              <a:t>，即：</a:t>
            </a:r>
            <a:r>
              <a:rPr lang="en-US" altLang="zh-CN" i="1" dirty="0">
                <a:latin typeface="Times New Roman" panose="02020603050405020304" pitchFamily="18" charset="0"/>
                <a:cs typeface="Times New Roman" panose="02020603050405020304" pitchFamily="18" charset="0"/>
              </a:rPr>
              <a:t> </a:t>
            </a:r>
            <a:r>
              <a:rPr lang="en-US" altLang="zh-CN" i="1" dirty="0" smtClean="0">
                <a:latin typeface="Times New Roman" panose="02020603050405020304" pitchFamily="18" charset="0"/>
                <a:cs typeface="Times New Roman" panose="02020603050405020304" pitchFamily="18" charset="0"/>
              </a:rPr>
              <a:t>p</a:t>
            </a:r>
            <a:r>
              <a:rPr lang="en-US" altLang="zh-CN" i="1" baseline="-30000" dirty="0" smtClean="0">
                <a:latin typeface="Times New Roman" panose="02020603050405020304" pitchFamily="18" charset="0"/>
                <a:cs typeface="Times New Roman" panose="02020603050405020304" pitchFamily="18" charset="0"/>
              </a:rPr>
              <a:t>1,k</a:t>
            </a:r>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s</a:t>
            </a:r>
            <a:r>
              <a:rPr lang="en-US" altLang="zh-CN" i="1" baseline="-30000" dirty="0" smtClean="0">
                <a:latin typeface="Times New Roman" panose="02020603050405020304" pitchFamily="18" charset="0"/>
                <a:cs typeface="Times New Roman" panose="02020603050405020304" pitchFamily="18" charset="0"/>
              </a:rPr>
              <a:t>1</a:t>
            </a:r>
            <a:r>
              <a:rPr lang="en-US" altLang="zh-CN" dirty="0" smtClean="0">
                <a:latin typeface="Times New Roman" panose="02020603050405020304" pitchFamily="18" charset="0"/>
                <a:cs typeface="Times New Roman" panose="02020603050405020304" pitchFamily="18" charset="0"/>
              </a:rPr>
              <a:t>)=</a:t>
            </a:r>
            <a:r>
              <a:rPr lang="en-US" altLang="zh-CN" dirty="0" smtClean="0"/>
              <a:t> </a:t>
            </a:r>
            <a:r>
              <a:rPr lang="en-US" altLang="zh-CN" dirty="0"/>
              <a:t>{</a:t>
            </a:r>
            <a:r>
              <a:rPr lang="en-US" altLang="zh-CN" i="1" dirty="0" smtClean="0">
                <a:latin typeface="Times New Roman" panose="02020603050405020304" pitchFamily="18" charset="0"/>
                <a:cs typeface="Times New Roman" panose="02020603050405020304" pitchFamily="18" charset="0"/>
              </a:rPr>
              <a:t>x</a:t>
            </a:r>
            <a:r>
              <a:rPr lang="en-US" altLang="zh-CN" i="1" baseline="-30000" dirty="0" smtClean="0">
                <a:latin typeface="Times New Roman" panose="02020603050405020304" pitchFamily="18" charset="0"/>
                <a:cs typeface="Times New Roman" panose="02020603050405020304" pitchFamily="18" charset="0"/>
              </a:rPr>
              <a:t>1</a:t>
            </a:r>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s</a:t>
            </a:r>
            <a:r>
              <a:rPr lang="en-US" altLang="zh-CN" i="1" baseline="-30000" dirty="0" smtClean="0">
                <a:latin typeface="Times New Roman" panose="02020603050405020304" pitchFamily="18" charset="0"/>
                <a:cs typeface="Times New Roman" panose="02020603050405020304" pitchFamily="18" charset="0"/>
              </a:rPr>
              <a:t>1</a:t>
            </a:r>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 x</a:t>
            </a:r>
            <a:r>
              <a:rPr lang="en-US" altLang="zh-CN" i="1" baseline="-30000" dirty="0" smtClean="0">
                <a:latin typeface="Times New Roman" panose="02020603050405020304" pitchFamily="18" charset="0"/>
                <a:cs typeface="Times New Roman" panose="02020603050405020304" pitchFamily="18" charset="0"/>
              </a:rPr>
              <a:t>2</a:t>
            </a:r>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s</a:t>
            </a:r>
            <a:r>
              <a:rPr lang="en-US" altLang="zh-CN" i="1" baseline="-30000" dirty="0" smtClean="0">
                <a:latin typeface="Times New Roman" panose="02020603050405020304" pitchFamily="18" charset="0"/>
                <a:cs typeface="Times New Roman" panose="02020603050405020304" pitchFamily="18" charset="0"/>
              </a:rPr>
              <a:t>2</a:t>
            </a:r>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a:t>
            </a:r>
            <a:r>
              <a:rPr lang="en-US" altLang="zh-CN" i="1" dirty="0" err="1" smtClean="0">
                <a:latin typeface="Times New Roman" panose="02020603050405020304" pitchFamily="18" charset="0"/>
                <a:cs typeface="Times New Roman" panose="02020603050405020304" pitchFamily="18" charset="0"/>
              </a:rPr>
              <a:t>x</a:t>
            </a:r>
            <a:r>
              <a:rPr lang="en-US" altLang="zh-CN" i="1" baseline="-30000" dirty="0" err="1" smtClean="0">
                <a:latin typeface="Times New Roman" panose="02020603050405020304" pitchFamily="18" charset="0"/>
                <a:cs typeface="Times New Roman" panose="02020603050405020304" pitchFamily="18" charset="0"/>
              </a:rPr>
              <a:t>k</a:t>
            </a:r>
            <a:r>
              <a:rPr lang="en-US" altLang="zh-CN" dirty="0" smtClean="0">
                <a:latin typeface="Times New Roman" panose="02020603050405020304" pitchFamily="18" charset="0"/>
                <a:cs typeface="Times New Roman" panose="02020603050405020304" pitchFamily="18" charset="0"/>
              </a:rPr>
              <a:t>(</a:t>
            </a:r>
            <a:r>
              <a:rPr lang="en-US" altLang="zh-CN" i="1" dirty="0" err="1" smtClean="0">
                <a:latin typeface="Times New Roman" panose="02020603050405020304" pitchFamily="18" charset="0"/>
                <a:cs typeface="Times New Roman" panose="02020603050405020304" pitchFamily="18" charset="0"/>
              </a:rPr>
              <a:t>s</a:t>
            </a:r>
            <a:r>
              <a:rPr lang="en-US" altLang="zh-CN" i="1" baseline="-30000" dirty="0" err="1" smtClean="0">
                <a:latin typeface="Times New Roman" panose="02020603050405020304" pitchFamily="18" charset="0"/>
                <a:cs typeface="Times New Roman" panose="02020603050405020304" pitchFamily="18" charset="0"/>
              </a:rPr>
              <a:t>k</a:t>
            </a:r>
            <a:r>
              <a:rPr lang="en-US" altLang="zh-CN" dirty="0" smtClean="0">
                <a:latin typeface="Times New Roman" panose="02020603050405020304" pitchFamily="18" charset="0"/>
                <a:cs typeface="Times New Roman" panose="02020603050405020304" pitchFamily="18" charset="0"/>
              </a:rPr>
              <a:t>)</a:t>
            </a:r>
            <a:r>
              <a:rPr lang="en-US" altLang="zh-CN" dirty="0" smtClean="0"/>
              <a:t>}</a:t>
            </a:r>
            <a:endParaRPr lang="en-US" altLang="zh-CN" dirty="0"/>
          </a:p>
          <a:p>
            <a:pPr lvl="1" eaLnBrk="1" hangingPunct="1"/>
            <a:r>
              <a:rPr lang="zh-CN" altLang="en-US" dirty="0" smtClean="0">
                <a:solidFill>
                  <a:srgbClr val="FF0000"/>
                </a:solidFill>
                <a:cs typeface="Courier New" panose="02070309020205020404" pitchFamily="49" charset="0"/>
              </a:rPr>
              <a:t>允许</a:t>
            </a:r>
            <a:r>
              <a:rPr lang="zh-CN" altLang="en-US" dirty="0">
                <a:solidFill>
                  <a:srgbClr val="FF0000"/>
                </a:solidFill>
                <a:cs typeface="Courier New" panose="02070309020205020404" pitchFamily="49" charset="0"/>
              </a:rPr>
              <a:t>策略</a:t>
            </a:r>
            <a:r>
              <a:rPr lang="zh-CN" altLang="en-US" dirty="0" smtClean="0">
                <a:solidFill>
                  <a:srgbClr val="FF0000"/>
                </a:solidFill>
                <a:cs typeface="Courier New" panose="02070309020205020404" pitchFamily="49" charset="0"/>
              </a:rPr>
              <a:t>集合</a:t>
            </a:r>
            <a:r>
              <a:rPr lang="en-US" altLang="zh-CN" dirty="0" smtClean="0">
                <a:solidFill>
                  <a:srgbClr val="FF0000"/>
                </a:solidFill>
                <a:cs typeface="Courier New" panose="02070309020205020404" pitchFamily="49" charset="0"/>
              </a:rPr>
              <a:t>:</a:t>
            </a:r>
            <a:r>
              <a:rPr lang="zh-CN" altLang="en-US" dirty="0" smtClean="0">
                <a:cs typeface="Courier New" panose="02070309020205020404" pitchFamily="49" charset="0"/>
              </a:rPr>
              <a:t>在</a:t>
            </a:r>
            <a:r>
              <a:rPr lang="zh-CN" altLang="en-US" dirty="0">
                <a:cs typeface="Courier New" panose="02070309020205020404" pitchFamily="49" charset="0"/>
              </a:rPr>
              <a:t>实际问题中，可供选择的策略有一定的范围，此范围称为允许策略集合，用</a:t>
            </a:r>
            <a:r>
              <a:rPr lang="en-US" altLang="zh-CN" dirty="0">
                <a:cs typeface="Courier New" panose="02070309020205020404" pitchFamily="49" charset="0"/>
              </a:rPr>
              <a:t>P</a:t>
            </a:r>
            <a:r>
              <a:rPr lang="zh-CN" altLang="en-US" dirty="0">
                <a:cs typeface="Courier New" panose="02070309020205020404" pitchFamily="49" charset="0"/>
              </a:rPr>
              <a:t>表示</a:t>
            </a:r>
            <a:r>
              <a:rPr lang="zh-CN" altLang="en-US" dirty="0" smtClean="0">
                <a:cs typeface="Courier New" panose="02070309020205020404" pitchFamily="49" charset="0"/>
              </a:rPr>
              <a:t>。</a:t>
            </a:r>
            <a:endParaRPr lang="en-US" altLang="zh-CN" dirty="0" smtClean="0">
              <a:cs typeface="Courier New" panose="02070309020205020404" pitchFamily="49" charset="0"/>
            </a:endParaRPr>
          </a:p>
          <a:p>
            <a:pPr lvl="1" eaLnBrk="1" hangingPunct="1"/>
            <a:r>
              <a:rPr lang="zh-CN" altLang="en-US" dirty="0" smtClean="0">
                <a:solidFill>
                  <a:srgbClr val="FF0000"/>
                </a:solidFill>
                <a:cs typeface="Courier New" panose="02070309020205020404" pitchFamily="49" charset="0"/>
              </a:rPr>
              <a:t>最优策略</a:t>
            </a:r>
            <a:r>
              <a:rPr lang="en-US" altLang="zh-CN" dirty="0" smtClean="0">
                <a:solidFill>
                  <a:srgbClr val="FF0000"/>
                </a:solidFill>
                <a:cs typeface="Courier New" panose="02070309020205020404" pitchFamily="49" charset="0"/>
              </a:rPr>
              <a:t>:</a:t>
            </a:r>
            <a:r>
              <a:rPr lang="zh-CN" altLang="en-US" dirty="0" smtClean="0">
                <a:cs typeface="Courier New" panose="02070309020205020404" pitchFamily="49" charset="0"/>
              </a:rPr>
              <a:t>从</a:t>
            </a:r>
            <a:r>
              <a:rPr lang="zh-CN" altLang="en-US" dirty="0">
                <a:cs typeface="Courier New" panose="02070309020205020404" pitchFamily="49" charset="0"/>
              </a:rPr>
              <a:t>允许策略集合中找出达到最优效果的策略称为最优策略。</a:t>
            </a:r>
            <a:endParaRPr lang="zh-CN" altLang="en-US" dirty="0"/>
          </a:p>
          <a:p>
            <a:pPr lvl="1" eaLnBrk="1" hangingPunct="1"/>
            <a:endParaRPr lang="zh-CN" altLang="en-US" dirty="0"/>
          </a:p>
        </p:txBody>
      </p:sp>
    </p:spTree>
    <p:extLst>
      <p:ext uri="{BB962C8B-B14F-4D97-AF65-F5344CB8AC3E}">
        <p14:creationId xmlns:p14="http://schemas.microsoft.com/office/powerpoint/2010/main" val="16153930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2FC8D7D-D21A-4A07-ABE6-E70C38530ED7}" type="slidenum">
              <a:rPr lang="en-US" altLang="zh-CN" sz="1000"/>
              <a:pPr>
                <a:spcBef>
                  <a:spcPct val="0"/>
                </a:spcBef>
                <a:buClrTx/>
                <a:buSzTx/>
                <a:buFontTx/>
                <a:buNone/>
              </a:pPr>
              <a:t>8</a:t>
            </a:fld>
            <a:endParaRPr lang="en-US" altLang="zh-CN" sz="1000"/>
          </a:p>
        </p:txBody>
      </p:sp>
      <p:sp>
        <p:nvSpPr>
          <p:cNvPr id="9220" name="Rectangle 2"/>
          <p:cNvSpPr>
            <a:spLocks noGrp="1" noChangeArrowheads="1"/>
          </p:cNvSpPr>
          <p:nvPr>
            <p:ph type="title"/>
          </p:nvPr>
        </p:nvSpPr>
        <p:spPr/>
        <p:txBody>
          <a:bodyPr/>
          <a:lstStyle/>
          <a:p>
            <a:pPr eaLnBrk="1" hangingPunct="1"/>
            <a:r>
              <a:rPr lang="en-US" altLang="zh-CN" b="1" dirty="0"/>
              <a:t>8.1.1  </a:t>
            </a:r>
            <a:r>
              <a:rPr lang="zh-CN" altLang="en-US" b="1" dirty="0"/>
              <a:t>动态规划的基本概念</a:t>
            </a:r>
            <a:r>
              <a:rPr lang="zh-CN" altLang="en-US" dirty="0"/>
              <a:t> </a:t>
            </a:r>
          </a:p>
        </p:txBody>
      </p:sp>
      <mc:AlternateContent xmlns:mc="http://schemas.openxmlformats.org/markup-compatibility/2006" xmlns:a14="http://schemas.microsoft.com/office/drawing/2010/main">
        <mc:Choice Requires="a14">
          <p:sp>
            <p:nvSpPr>
              <p:cNvPr id="9221" name="Rectangle 3"/>
              <p:cNvSpPr>
                <a:spLocks noGrp="1" noChangeArrowheads="1"/>
              </p:cNvSpPr>
              <p:nvPr>
                <p:ph type="body" idx="1"/>
              </p:nvPr>
            </p:nvSpPr>
            <p:spPr>
              <a:xfrm>
                <a:off x="96601" y="1216145"/>
                <a:ext cx="8569325" cy="4337085"/>
              </a:xfrm>
            </p:spPr>
            <p:txBody>
              <a:bodyPr/>
              <a:lstStyle/>
              <a:p>
                <a:pPr eaLnBrk="1" hangingPunct="1"/>
                <a:r>
                  <a:rPr lang="en-US" altLang="zh-CN" dirty="0" smtClean="0"/>
                  <a:t>6</a:t>
                </a:r>
                <a:r>
                  <a:rPr lang="zh-CN" altLang="en-US" dirty="0"/>
                  <a:t>．指标函数和最优值函数</a:t>
                </a:r>
              </a:p>
              <a:p>
                <a:pPr lvl="1" eaLnBrk="1" hangingPunct="1"/>
                <a:r>
                  <a:rPr lang="zh-CN" altLang="en-US" dirty="0"/>
                  <a:t>指标</a:t>
                </a:r>
                <a:r>
                  <a:rPr lang="zh-CN" altLang="en-US" dirty="0" smtClean="0"/>
                  <a:t>函数</a:t>
                </a:r>
                <a:r>
                  <a:rPr lang="en-US" altLang="zh-CN" dirty="0" smtClean="0"/>
                  <a:t>:</a:t>
                </a:r>
                <a:r>
                  <a:rPr lang="zh-CN" altLang="en-US" dirty="0" smtClean="0">
                    <a:latin typeface="Times New Roman" panose="02020603050405020304" pitchFamily="18" charset="0"/>
                    <a:cs typeface="Times New Roman" panose="02020603050405020304" pitchFamily="18" charset="0"/>
                  </a:rPr>
                  <a:t>衡量</a:t>
                </a:r>
                <a:r>
                  <a:rPr lang="zh-CN" altLang="en-US" dirty="0">
                    <a:latin typeface="Times New Roman" panose="02020603050405020304" pitchFamily="18" charset="0"/>
                    <a:cs typeface="Times New Roman" panose="02020603050405020304" pitchFamily="18" charset="0"/>
                  </a:rPr>
                  <a:t>所</a:t>
                </a:r>
                <a:r>
                  <a:rPr lang="zh-CN" altLang="en-US" dirty="0">
                    <a:solidFill>
                      <a:srgbClr val="FF0000"/>
                    </a:solidFill>
                    <a:latin typeface="Times New Roman" panose="02020603050405020304" pitchFamily="18" charset="0"/>
                    <a:cs typeface="Times New Roman" panose="02020603050405020304" pitchFamily="18" charset="0"/>
                  </a:rPr>
                  <a:t>实现过程优劣</a:t>
                </a:r>
                <a:r>
                  <a:rPr lang="zh-CN" altLang="en-US" dirty="0" smtClean="0">
                    <a:latin typeface="Times New Roman" panose="02020603050405020304" pitchFamily="18" charset="0"/>
                    <a:cs typeface="Times New Roman" panose="02020603050405020304" pitchFamily="18" charset="0"/>
                  </a:rPr>
                  <a:t>的数</a:t>
                </a:r>
                <a:r>
                  <a:rPr lang="zh-CN" altLang="en-US" dirty="0">
                    <a:latin typeface="Times New Roman" panose="02020603050405020304" pitchFamily="18" charset="0"/>
                    <a:cs typeface="Times New Roman" panose="02020603050405020304" pitchFamily="18" charset="0"/>
                  </a:rPr>
                  <a:t>值</a:t>
                </a:r>
                <a:r>
                  <a:rPr lang="zh-CN" altLang="en-US" dirty="0" smtClean="0">
                    <a:latin typeface="Times New Roman" panose="02020603050405020304" pitchFamily="18" charset="0"/>
                    <a:cs typeface="Times New Roman" panose="02020603050405020304" pitchFamily="18" charset="0"/>
                  </a:rPr>
                  <a:t>指标。它是定义在全过程和所有后部子过程上确定的数量函数。常用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𝑽</m:t>
                        </m:r>
                      </m:e>
                      <m:sub>
                        <m:r>
                          <a:rPr lang="en-US" altLang="zh-CN" i="1">
                            <a:latin typeface="Cambria Math" panose="02040503050406030204" pitchFamily="18" charset="0"/>
                          </a:rPr>
                          <m:t>𝒌</m:t>
                        </m:r>
                        <m:r>
                          <a:rPr lang="en-US" altLang="zh-CN" i="1">
                            <a:latin typeface="Cambria Math" panose="02040503050406030204" pitchFamily="18" charset="0"/>
                          </a:rPr>
                          <m:t>,</m:t>
                        </m:r>
                        <m:r>
                          <a:rPr lang="en-US" altLang="zh-CN" i="1">
                            <a:latin typeface="Cambria Math" panose="02040503050406030204" pitchFamily="18" charset="0"/>
                          </a:rPr>
                          <m:t>𝒏</m:t>
                        </m:r>
                      </m:sub>
                    </m:sSub>
                  </m:oMath>
                </a14:m>
                <a:r>
                  <a:rPr lang="zh-CN" altLang="en-US" dirty="0" smtClean="0">
                    <a:latin typeface="Times New Roman" panose="02020603050405020304" pitchFamily="18" charset="0"/>
                    <a:cs typeface="Times New Roman" panose="02020603050405020304" pitchFamily="18" charset="0"/>
                  </a:rPr>
                  <a:t>表示。</a:t>
                </a:r>
                <a:endParaRPr lang="en-US" altLang="zh-CN" dirty="0" smtClean="0">
                  <a:latin typeface="Times New Roman" panose="02020603050405020304" pitchFamily="18" charset="0"/>
                  <a:cs typeface="Times New Roman" panose="02020603050405020304" pitchFamily="18" charset="0"/>
                </a:endParaRPr>
              </a:p>
              <a:p>
                <a:pPr lvl="2" eaLnBrk="1" hangingPunct="1"/>
                <a:r>
                  <a:rPr lang="zh-CN" altLang="en-US" dirty="0">
                    <a:latin typeface="Times New Roman" panose="02020603050405020304" pitchFamily="18" charset="0"/>
                    <a:cs typeface="Times New Roman" panose="02020603050405020304" pitchFamily="18" charset="0"/>
                  </a:rPr>
                  <a:t>阶段</a:t>
                </a:r>
                <a:r>
                  <a:rPr lang="zh-CN" altLang="en-US" dirty="0"/>
                  <a:t>指标函数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𝒗</m:t>
                        </m:r>
                      </m:e>
                      <m:sub>
                        <m:r>
                          <a:rPr lang="en-US" altLang="zh-CN" i="1">
                            <a:latin typeface="Cambria Math" panose="02040503050406030204" pitchFamily="18" charset="0"/>
                          </a:rPr>
                          <m:t>𝒌</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𝒔</m:t>
                        </m:r>
                      </m:e>
                      <m:sub>
                        <m:r>
                          <a:rPr lang="en-US" altLang="zh-CN" i="1">
                            <a:latin typeface="Cambria Math" panose="02040503050406030204" pitchFamily="18" charset="0"/>
                          </a:rPr>
                          <m:t>𝒌</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𝒌</m:t>
                        </m:r>
                      </m:sub>
                    </m:sSub>
                    <m:r>
                      <a:rPr lang="en-US" altLang="zh-CN" i="1">
                        <a:latin typeface="Cambria Math" panose="02040503050406030204" pitchFamily="18" charset="0"/>
                      </a:rPr>
                      <m:t>)</m:t>
                    </m:r>
                  </m:oMath>
                </a14:m>
                <a:r>
                  <a:rPr lang="en-US" altLang="zh-CN" dirty="0"/>
                  <a:t>:</a:t>
                </a:r>
                <a:r>
                  <a:rPr lang="zh-CN" altLang="en-US" dirty="0"/>
                  <a:t>从</a:t>
                </a:r>
                <a:r>
                  <a:rPr lang="en-US" altLang="zh-CN" dirty="0"/>
                  <a:t>k</a:t>
                </a:r>
                <a:r>
                  <a:rPr lang="zh-CN" altLang="en-US" dirty="0"/>
                  <a:t>阶段状态</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𝒔</m:t>
                        </m:r>
                      </m:e>
                      <m:sub>
                        <m:r>
                          <a:rPr lang="en-US" altLang="zh-CN" i="1">
                            <a:latin typeface="Cambria Math" panose="02040503050406030204" pitchFamily="18" charset="0"/>
                          </a:rPr>
                          <m:t>𝒌</m:t>
                        </m:r>
                      </m:sub>
                    </m:sSub>
                  </m:oMath>
                </a14:m>
                <a:r>
                  <a:rPr lang="zh-CN" altLang="en-US" dirty="0"/>
                  <a:t>出发，选择决策</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𝒌</m:t>
                        </m:r>
                      </m:sub>
                    </m:sSub>
                  </m:oMath>
                </a14:m>
                <a:r>
                  <a:rPr lang="zh-CN" altLang="en-US" dirty="0">
                    <a:latin typeface="Times New Roman" panose="02020603050405020304" pitchFamily="18" charset="0"/>
                    <a:cs typeface="Times New Roman" panose="02020603050405020304" pitchFamily="18" charset="0"/>
                  </a:rPr>
                  <a:t>所产生的第</a:t>
                </a:r>
                <a:r>
                  <a:rPr lang="en-US" altLang="zh-CN" i="1"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阶段指标。</a:t>
                </a:r>
                <a:endParaRPr lang="en-US" altLang="zh-CN" dirty="0">
                  <a:latin typeface="Times New Roman" panose="02020603050405020304" pitchFamily="18" charset="0"/>
                  <a:cs typeface="Times New Roman" panose="02020603050405020304" pitchFamily="18" charset="0"/>
                </a:endParaRPr>
              </a:p>
              <a:p>
                <a:pPr lvl="2" eaLnBrk="1" hangingPunct="1"/>
                <a:r>
                  <a:rPr lang="zh-CN" altLang="en-US" dirty="0">
                    <a:latin typeface="Times New Roman" panose="02020603050405020304" pitchFamily="18" charset="0"/>
                    <a:cs typeface="Times New Roman" panose="02020603050405020304" pitchFamily="18" charset="0"/>
                  </a:rPr>
                  <a:t>过程指标函数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𝑽</m:t>
                        </m:r>
                      </m:e>
                      <m:sub>
                        <m:r>
                          <a:rPr lang="en-US" altLang="zh-CN" i="1">
                            <a:latin typeface="Cambria Math" panose="02040503050406030204" pitchFamily="18" charset="0"/>
                          </a:rPr>
                          <m:t>𝒌</m:t>
                        </m:r>
                        <m:r>
                          <a:rPr lang="en-US" altLang="zh-CN" i="1">
                            <a:latin typeface="Cambria Math" panose="02040503050406030204" pitchFamily="18" charset="0"/>
                          </a:rPr>
                          <m:t>,</m:t>
                        </m:r>
                        <m:r>
                          <a:rPr lang="en-US" altLang="zh-CN" i="1">
                            <a:latin typeface="Cambria Math" panose="02040503050406030204" pitchFamily="18" charset="0"/>
                          </a:rPr>
                          <m:t>𝒏</m:t>
                        </m:r>
                      </m:sub>
                    </m:sSub>
                    <m:r>
                      <a:rPr lang="en-US" altLang="zh-CN" i="1">
                        <a:latin typeface="Cambria Math" panose="02040503050406030204" pitchFamily="18" charset="0"/>
                      </a:rPr>
                      <m:t>(</m:t>
                    </m:r>
                    <m:r>
                      <m:rPr>
                        <m:nor/>
                      </m:rPr>
                      <a:rPr lang="en-US" altLang="zh-CN" i="1" dirty="0">
                        <a:latin typeface="Times New Roman" panose="02020603050405020304" pitchFamily="18" charset="0"/>
                        <a:cs typeface="Times New Roman" panose="02020603050405020304" pitchFamily="18" charset="0"/>
                      </a:rPr>
                      <m:t>p</m:t>
                    </m:r>
                    <m:r>
                      <m:rPr>
                        <m:nor/>
                      </m:rPr>
                      <a:rPr lang="en-US" altLang="zh-CN" i="1" baseline="-30000" dirty="0">
                        <a:latin typeface="Times New Roman" panose="02020603050405020304" pitchFamily="18" charset="0"/>
                        <a:cs typeface="Times New Roman" panose="02020603050405020304" pitchFamily="18" charset="0"/>
                      </a:rPr>
                      <m:t>k</m:t>
                    </m:r>
                    <m:r>
                      <m:rPr>
                        <m:nor/>
                      </m:rPr>
                      <a:rPr lang="en-US" altLang="zh-CN" i="1" baseline="-30000" dirty="0">
                        <a:latin typeface="Times New Roman" panose="02020603050405020304" pitchFamily="18" charset="0"/>
                        <a:cs typeface="Times New Roman" panose="02020603050405020304" pitchFamily="18" charset="0"/>
                      </a:rPr>
                      <m:t>,</m:t>
                    </m:r>
                    <m:r>
                      <m:rPr>
                        <m:nor/>
                      </m:rPr>
                      <a:rPr lang="en-US" altLang="zh-CN" i="1" baseline="-30000" dirty="0">
                        <a:latin typeface="Times New Roman" panose="02020603050405020304" pitchFamily="18" charset="0"/>
                        <a:cs typeface="Times New Roman" panose="02020603050405020304" pitchFamily="18" charset="0"/>
                      </a:rPr>
                      <m:t>n</m:t>
                    </m:r>
                    <m:r>
                      <m:rPr>
                        <m:nor/>
                      </m:rPr>
                      <a:rPr lang="en-US" altLang="zh-CN" dirty="0">
                        <a:latin typeface="Times New Roman" panose="02020603050405020304" pitchFamily="18" charset="0"/>
                        <a:cs typeface="Times New Roman" panose="02020603050405020304" pitchFamily="18" charset="0"/>
                      </a:rPr>
                      <m:t>(</m:t>
                    </m:r>
                    <m:r>
                      <m:rPr>
                        <m:nor/>
                      </m:rPr>
                      <a:rPr lang="en-US" altLang="zh-CN" i="1" dirty="0">
                        <a:latin typeface="Times New Roman" panose="02020603050405020304" pitchFamily="18" charset="0"/>
                        <a:cs typeface="Times New Roman" panose="02020603050405020304" pitchFamily="18" charset="0"/>
                      </a:rPr>
                      <m:t>s</m:t>
                    </m:r>
                    <m:r>
                      <m:rPr>
                        <m:nor/>
                      </m:rPr>
                      <a:rPr lang="en-US" altLang="zh-CN" i="1" baseline="-30000" dirty="0">
                        <a:latin typeface="Times New Roman" panose="02020603050405020304" pitchFamily="18" charset="0"/>
                        <a:cs typeface="Times New Roman" panose="02020603050405020304" pitchFamily="18" charset="0"/>
                      </a:rPr>
                      <m:t>k</m:t>
                    </m:r>
                    <m:r>
                      <m:rPr>
                        <m:nor/>
                      </m:rPr>
                      <a:rPr lang="en-US" altLang="zh-CN" dirty="0">
                        <a:latin typeface="Times New Roman" panose="02020603050405020304" pitchFamily="18" charset="0"/>
                        <a:cs typeface="Times New Roman" panose="02020603050405020304" pitchFamily="18" charset="0"/>
                      </a:rPr>
                      <m:t>)</m:t>
                    </m:r>
                    <m:r>
                      <a:rPr lang="en-US" altLang="zh-CN" i="1">
                        <a:latin typeface="Cambria Math" panose="02040503050406030204" pitchFamily="18" charset="0"/>
                      </a:rPr>
                      <m:t>)</m:t>
                    </m:r>
                  </m:oMath>
                </a14:m>
                <a:r>
                  <a:rPr lang="zh-CN" altLang="en-US" dirty="0">
                    <a:latin typeface="Times New Roman" panose="02020603050405020304" pitchFamily="18" charset="0"/>
                    <a:cs typeface="Times New Roman" panose="02020603050405020304" pitchFamily="18" charset="0"/>
                  </a:rPr>
                  <a:t>：</a:t>
                </a:r>
                <a:r>
                  <a:rPr lang="zh-CN" altLang="en-US" dirty="0"/>
                  <a:t>从</a:t>
                </a:r>
                <a:r>
                  <a:rPr lang="en-US" altLang="zh-CN" dirty="0"/>
                  <a:t>k</a:t>
                </a:r>
                <a:r>
                  <a:rPr lang="zh-CN" altLang="en-US" dirty="0"/>
                  <a:t>阶段状态</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𝒔</m:t>
                        </m:r>
                      </m:e>
                      <m:sub>
                        <m:r>
                          <a:rPr lang="en-US" altLang="zh-CN" i="1">
                            <a:latin typeface="Cambria Math" panose="02040503050406030204" pitchFamily="18" charset="0"/>
                          </a:rPr>
                          <m:t>𝒌</m:t>
                        </m:r>
                      </m:sub>
                    </m:sSub>
                  </m:oMath>
                </a14:m>
                <a:r>
                  <a:rPr lang="zh-CN" altLang="en-US" dirty="0"/>
                  <a:t>出发，选择决策</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𝒌</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𝒌</m:t>
                        </m:r>
                        <m:r>
                          <a:rPr lang="en-US" altLang="zh-CN" i="1">
                            <a:latin typeface="Cambria Math" panose="02040503050406030204" pitchFamily="18" charset="0"/>
                          </a:rPr>
                          <m:t>+</m:t>
                        </m:r>
                        <m:r>
                          <a:rPr lang="en-US" altLang="zh-CN" i="1">
                            <a:latin typeface="Cambria Math" panose="02040503050406030204" pitchFamily="18" charset="0"/>
                          </a:rPr>
                          <m:t>𝟏</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𝒙</m:t>
                        </m:r>
                      </m:e>
                      <m:sub>
                        <m:r>
                          <a:rPr lang="en-US" altLang="zh-CN" i="1">
                            <a:latin typeface="Cambria Math" panose="02040503050406030204" pitchFamily="18" charset="0"/>
                          </a:rPr>
                          <m:t>𝒏</m:t>
                        </m:r>
                      </m:sub>
                    </m:sSub>
                  </m:oMath>
                </a14:m>
                <a:r>
                  <a:rPr lang="zh-CN" altLang="en-US" dirty="0">
                    <a:latin typeface="Times New Roman" panose="02020603050405020304" pitchFamily="18" charset="0"/>
                    <a:cs typeface="Times New Roman" panose="02020603050405020304" pitchFamily="18" charset="0"/>
                  </a:rPr>
                  <a:t>所产生的过程指标。</a:t>
                </a:r>
                <a:endParaRPr lang="en-US" altLang="zh-CN" dirty="0">
                  <a:latin typeface="Times New Roman" panose="02020603050405020304" pitchFamily="18" charset="0"/>
                  <a:cs typeface="Times New Roman" panose="02020603050405020304" pitchFamily="18" charset="0"/>
                </a:endParaRPr>
              </a:p>
              <a:p>
                <a:pPr lvl="1" eaLnBrk="1" hangingPunct="1"/>
                <a:r>
                  <a:rPr lang="zh-CN" altLang="en-US" dirty="0" smtClean="0">
                    <a:latin typeface="Times New Roman" panose="02020603050405020304" pitchFamily="18" charset="0"/>
                    <a:cs typeface="Times New Roman" panose="02020603050405020304" pitchFamily="18" charset="0"/>
                  </a:rPr>
                  <a:t>特点：</a:t>
                </a:r>
                <a:r>
                  <a:rPr lang="zh-CN" altLang="en-US" dirty="0">
                    <a:latin typeface="Times New Roman" panose="02020603050405020304" pitchFamily="18" charset="0"/>
                    <a:cs typeface="Times New Roman" panose="02020603050405020304" pitchFamily="18" charset="0"/>
                  </a:rPr>
                  <a:t>对于</a:t>
                </a:r>
                <a:r>
                  <a:rPr lang="zh-CN" altLang="en-US" dirty="0" smtClean="0">
                    <a:latin typeface="Times New Roman" panose="02020603050405020304" pitchFamily="18" charset="0"/>
                    <a:cs typeface="Times New Roman" panose="02020603050405020304" pitchFamily="18" charset="0"/>
                  </a:rPr>
                  <a:t>动态规划模型，指标函数应具有</a:t>
                </a:r>
                <a:r>
                  <a:rPr lang="zh-CN" altLang="en-US" dirty="0" smtClean="0">
                    <a:solidFill>
                      <a:srgbClr val="FF0000"/>
                    </a:solidFill>
                    <a:latin typeface="Times New Roman" panose="02020603050405020304" pitchFamily="18" charset="0"/>
                    <a:cs typeface="Times New Roman" panose="02020603050405020304" pitchFamily="18" charset="0"/>
                  </a:rPr>
                  <a:t>可分离性</a:t>
                </a:r>
                <a:r>
                  <a:rPr lang="zh-CN" altLang="en-US" dirty="0" smtClean="0">
                    <a:latin typeface="Times New Roman" panose="02020603050405020304" pitchFamily="18" charset="0"/>
                    <a:cs typeface="Times New Roman" panose="02020603050405020304" pitchFamily="18" charset="0"/>
                  </a:rPr>
                  <a:t>，并满足递推关系，即可以描述成</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𝒔</m:t>
                        </m:r>
                      </m:e>
                      <m:sub>
                        <m:r>
                          <a:rPr lang="en-US" altLang="zh-CN" i="1">
                            <a:latin typeface="Cambria Math" panose="02040503050406030204" pitchFamily="18" charset="0"/>
                          </a:rPr>
                          <m:t>𝒌</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𝒌</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𝑽</m:t>
                        </m:r>
                      </m:e>
                      <m:sub>
                        <m:r>
                          <a:rPr lang="en-US" altLang="zh-CN" i="1">
                            <a:latin typeface="Cambria Math" panose="02040503050406030204" pitchFamily="18" charset="0"/>
                          </a:rPr>
                          <m:t>𝒌</m:t>
                        </m:r>
                        <m:r>
                          <a:rPr lang="en-US" altLang="zh-CN" i="1">
                            <a:latin typeface="Cambria Math" panose="02040503050406030204" pitchFamily="18" charset="0"/>
                          </a:rPr>
                          <m:t>+</m:t>
                        </m:r>
                        <m:r>
                          <a:rPr lang="en-US" altLang="zh-CN" i="1">
                            <a:latin typeface="Cambria Math" panose="02040503050406030204" pitchFamily="18" charset="0"/>
                          </a:rPr>
                          <m:t>𝟏</m:t>
                        </m:r>
                        <m:r>
                          <a:rPr lang="en-US" altLang="zh-CN" i="1">
                            <a:latin typeface="Cambria Math" panose="02040503050406030204" pitchFamily="18" charset="0"/>
                          </a:rPr>
                          <m:t>,</m:t>
                        </m:r>
                        <m:r>
                          <a:rPr lang="en-US" altLang="zh-CN" i="1">
                            <a:latin typeface="Cambria Math" panose="02040503050406030204" pitchFamily="18" charset="0"/>
                          </a:rPr>
                          <m:t>𝒏</m:t>
                        </m:r>
                      </m:sub>
                    </m:sSub>
                  </m:oMath>
                </a14:m>
                <a:r>
                  <a:rPr lang="zh-CN" altLang="en-US" dirty="0" smtClean="0">
                    <a:latin typeface="Times New Roman" panose="02020603050405020304" pitchFamily="18" charset="0"/>
                    <a:cs typeface="Times New Roman" panose="02020603050405020304" pitchFamily="18" charset="0"/>
                  </a:rPr>
                  <a:t>的函数，记为</a:t>
                </a:r>
                <a:r>
                  <a:rPr lang="zh-CN" altLang="en-US" dirty="0" smtClean="0"/>
                  <a:t>：</a:t>
                </a:r>
                <a:endParaRPr lang="en-US" altLang="zh-CN" dirty="0" smtClean="0"/>
              </a:p>
              <a:p>
                <a:pPr marL="449262" lvl="1" indent="0" eaLnBrk="1" hangingPunct="1">
                  <a:buNone/>
                </a:pP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𝑽</m:t>
                        </m:r>
                      </m:e>
                      <m:sub>
                        <m:r>
                          <a:rPr lang="en-US" altLang="zh-CN" i="1">
                            <a:latin typeface="Cambria Math" panose="02040503050406030204" pitchFamily="18" charset="0"/>
                          </a:rPr>
                          <m:t>𝒌</m:t>
                        </m:r>
                        <m:r>
                          <a:rPr lang="en-US" altLang="zh-CN" i="1">
                            <a:latin typeface="Cambria Math" panose="02040503050406030204" pitchFamily="18" charset="0"/>
                          </a:rPr>
                          <m:t>,</m:t>
                        </m:r>
                        <m:r>
                          <a:rPr lang="en-US" altLang="zh-CN" i="1">
                            <a:latin typeface="Cambria Math" panose="02040503050406030204" pitchFamily="18" charset="0"/>
                          </a:rPr>
                          <m:t>𝒏</m:t>
                        </m:r>
                      </m:sub>
                    </m:sSub>
                    <m:r>
                      <a:rPr lang="en-US" altLang="zh-CN" i="1">
                        <a:latin typeface="Cambria Math" panose="02040503050406030204" pitchFamily="18" charset="0"/>
                      </a:rPr>
                      <m:t>(</m:t>
                    </m:r>
                    <m:r>
                      <m:rPr>
                        <m:nor/>
                      </m:rPr>
                      <a:rPr lang="en-US" altLang="zh-CN" i="1" dirty="0">
                        <a:latin typeface="Times New Roman" panose="02020603050405020304" pitchFamily="18" charset="0"/>
                        <a:cs typeface="Times New Roman" panose="02020603050405020304" pitchFamily="18" charset="0"/>
                      </a:rPr>
                      <m:t>p</m:t>
                    </m:r>
                    <m:r>
                      <m:rPr>
                        <m:nor/>
                      </m:rPr>
                      <a:rPr lang="en-US" altLang="zh-CN" i="1" baseline="-30000" dirty="0">
                        <a:latin typeface="Times New Roman" panose="02020603050405020304" pitchFamily="18" charset="0"/>
                        <a:cs typeface="Times New Roman" panose="02020603050405020304" pitchFamily="18" charset="0"/>
                      </a:rPr>
                      <m:t>k</m:t>
                    </m:r>
                    <m:r>
                      <m:rPr>
                        <m:nor/>
                      </m:rPr>
                      <a:rPr lang="en-US" altLang="zh-CN" i="1" baseline="-30000" dirty="0">
                        <a:latin typeface="Times New Roman" panose="02020603050405020304" pitchFamily="18" charset="0"/>
                        <a:cs typeface="Times New Roman" panose="02020603050405020304" pitchFamily="18" charset="0"/>
                      </a:rPr>
                      <m:t>,</m:t>
                    </m:r>
                    <m:r>
                      <m:rPr>
                        <m:nor/>
                      </m:rPr>
                      <a:rPr lang="en-US" altLang="zh-CN" i="1" baseline="-30000" dirty="0">
                        <a:latin typeface="Times New Roman" panose="02020603050405020304" pitchFamily="18" charset="0"/>
                        <a:cs typeface="Times New Roman" panose="02020603050405020304" pitchFamily="18" charset="0"/>
                      </a:rPr>
                      <m:t>n</m:t>
                    </m:r>
                    <m:r>
                      <m:rPr>
                        <m:nor/>
                      </m:rPr>
                      <a:rPr lang="en-US" altLang="zh-CN" dirty="0">
                        <a:latin typeface="Times New Roman" panose="02020603050405020304" pitchFamily="18" charset="0"/>
                        <a:cs typeface="Times New Roman" panose="02020603050405020304" pitchFamily="18" charset="0"/>
                      </a:rPr>
                      <m:t>(</m:t>
                    </m:r>
                    <m:r>
                      <m:rPr>
                        <m:nor/>
                      </m:rPr>
                      <a:rPr lang="en-US" altLang="zh-CN" i="1" dirty="0">
                        <a:latin typeface="Times New Roman" panose="02020603050405020304" pitchFamily="18" charset="0"/>
                        <a:cs typeface="Times New Roman" panose="02020603050405020304" pitchFamily="18" charset="0"/>
                      </a:rPr>
                      <m:t>s</m:t>
                    </m:r>
                    <m:r>
                      <m:rPr>
                        <m:nor/>
                      </m:rPr>
                      <a:rPr lang="en-US" altLang="zh-CN" i="1" baseline="-30000" dirty="0">
                        <a:latin typeface="Times New Roman" panose="02020603050405020304" pitchFamily="18" charset="0"/>
                        <a:cs typeface="Times New Roman" panose="02020603050405020304" pitchFamily="18" charset="0"/>
                      </a:rPr>
                      <m:t>k</m:t>
                    </m:r>
                    <m:r>
                      <m:rPr>
                        <m:nor/>
                      </m:rPr>
                      <a:rPr lang="en-US" altLang="zh-CN" dirty="0">
                        <a:latin typeface="Times New Roman" panose="02020603050405020304" pitchFamily="18" charset="0"/>
                        <a:cs typeface="Times New Roman" panose="02020603050405020304" pitchFamily="18" charset="0"/>
                      </a:rPr>
                      <m:t>)</m:t>
                    </m:r>
                    <m:r>
                      <a:rPr lang="en-US" altLang="zh-CN" i="1">
                        <a:latin typeface="Cambria Math" panose="02040503050406030204" pitchFamily="18" charset="0"/>
                      </a:rPr>
                      <m:t>)</m:t>
                    </m:r>
                  </m:oMath>
                </a14:m>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a:rPr lang="el-GR" altLang="zh-CN" i="1">
                            <a:latin typeface="Cambria Math" panose="02040503050406030204" pitchFamily="18" charset="0"/>
                          </a:rPr>
                          <m:t>𝜳</m:t>
                        </m:r>
                      </m:e>
                      <m:sub>
                        <m:r>
                          <a:rPr lang="en-US" altLang="zh-CN" i="1">
                            <a:latin typeface="Cambria Math" panose="02040503050406030204" pitchFamily="18" charset="0"/>
                          </a:rPr>
                          <m:t>𝒌</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𝒔</m:t>
                        </m:r>
                      </m:e>
                      <m:sub>
                        <m:r>
                          <a:rPr lang="en-US" altLang="zh-CN" i="1">
                            <a:latin typeface="Cambria Math" panose="02040503050406030204" pitchFamily="18" charset="0"/>
                          </a:rPr>
                          <m:t>𝒌</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i="1">
                            <a:latin typeface="Cambria Math" panose="02040503050406030204" pitchFamily="18" charset="0"/>
                          </a:rPr>
                          <m:t>𝒌</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𝑽</m:t>
                        </m:r>
                      </m:e>
                      <m:sub>
                        <m:r>
                          <a:rPr lang="en-US" altLang="zh-CN" i="1">
                            <a:latin typeface="Cambria Math" panose="02040503050406030204" pitchFamily="18" charset="0"/>
                          </a:rPr>
                          <m:t>𝒌</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r>
                          <a:rPr lang="en-US" altLang="zh-CN" i="1">
                            <a:latin typeface="Cambria Math" panose="02040503050406030204" pitchFamily="18" charset="0"/>
                          </a:rPr>
                          <m:t>,</m:t>
                        </m:r>
                        <m:r>
                          <a:rPr lang="en-US" altLang="zh-CN" i="1">
                            <a:latin typeface="Cambria Math" panose="02040503050406030204" pitchFamily="18" charset="0"/>
                          </a:rPr>
                          <m:t>𝒏</m:t>
                        </m:r>
                      </m:sub>
                    </m:sSub>
                    <m:r>
                      <a:rPr lang="en-US" altLang="zh-CN" i="1">
                        <a:latin typeface="Cambria Math" panose="02040503050406030204" pitchFamily="18" charset="0"/>
                      </a:rPr>
                      <m:t>(</m:t>
                    </m:r>
                    <m:r>
                      <m:rPr>
                        <m:nor/>
                      </m:rPr>
                      <a:rPr lang="en-US" altLang="zh-CN" i="1" dirty="0">
                        <a:latin typeface="Times New Roman" panose="02020603050405020304" pitchFamily="18" charset="0"/>
                        <a:cs typeface="Times New Roman" panose="02020603050405020304" pitchFamily="18" charset="0"/>
                      </a:rPr>
                      <m:t>p</m:t>
                    </m:r>
                    <m:r>
                      <m:rPr>
                        <m:nor/>
                      </m:rPr>
                      <a:rPr lang="en-US" altLang="zh-CN" i="1" baseline="-30000" dirty="0">
                        <a:latin typeface="Times New Roman" panose="02020603050405020304" pitchFamily="18" charset="0"/>
                        <a:cs typeface="Times New Roman" panose="02020603050405020304" pitchFamily="18" charset="0"/>
                      </a:rPr>
                      <m:t>k</m:t>
                    </m:r>
                    <m:r>
                      <m:rPr>
                        <m:nor/>
                      </m:rPr>
                      <a:rPr lang="en-US" altLang="zh-CN" b="1" i="1" baseline="-30000" dirty="0" smtClean="0">
                        <a:latin typeface="Times New Roman" panose="02020603050405020304" pitchFamily="18" charset="0"/>
                        <a:cs typeface="Times New Roman" panose="02020603050405020304" pitchFamily="18" charset="0"/>
                      </a:rPr>
                      <m:t>+1</m:t>
                    </m:r>
                    <m:r>
                      <m:rPr>
                        <m:nor/>
                      </m:rPr>
                      <a:rPr lang="en-US" altLang="zh-CN" i="1" baseline="-30000" dirty="0">
                        <a:latin typeface="Times New Roman" panose="02020603050405020304" pitchFamily="18" charset="0"/>
                        <a:cs typeface="Times New Roman" panose="02020603050405020304" pitchFamily="18" charset="0"/>
                      </a:rPr>
                      <m:t>,</m:t>
                    </m:r>
                    <m:r>
                      <m:rPr>
                        <m:nor/>
                      </m:rPr>
                      <a:rPr lang="en-US" altLang="zh-CN" i="1" baseline="-30000" dirty="0">
                        <a:latin typeface="Times New Roman" panose="02020603050405020304" pitchFamily="18" charset="0"/>
                        <a:cs typeface="Times New Roman" panose="02020603050405020304" pitchFamily="18" charset="0"/>
                      </a:rPr>
                      <m:t>n</m:t>
                    </m:r>
                    <m:r>
                      <m:rPr>
                        <m:nor/>
                      </m:rPr>
                      <a:rPr lang="en-US" altLang="zh-CN" dirty="0">
                        <a:latin typeface="Times New Roman" panose="02020603050405020304" pitchFamily="18" charset="0"/>
                        <a:cs typeface="Times New Roman" panose="02020603050405020304" pitchFamily="18" charset="0"/>
                      </a:rPr>
                      <m:t>(</m:t>
                    </m:r>
                    <m:r>
                      <m:rPr>
                        <m:nor/>
                      </m:rPr>
                      <a:rPr lang="en-US" altLang="zh-CN" i="1" dirty="0">
                        <a:latin typeface="Times New Roman" panose="02020603050405020304" pitchFamily="18" charset="0"/>
                        <a:cs typeface="Times New Roman" panose="02020603050405020304" pitchFamily="18" charset="0"/>
                      </a:rPr>
                      <m:t>s</m:t>
                    </m:r>
                    <m:r>
                      <m:rPr>
                        <m:nor/>
                      </m:rPr>
                      <a:rPr lang="en-US" altLang="zh-CN" i="1" baseline="-30000" dirty="0">
                        <a:latin typeface="Times New Roman" panose="02020603050405020304" pitchFamily="18" charset="0"/>
                        <a:cs typeface="Times New Roman" panose="02020603050405020304" pitchFamily="18" charset="0"/>
                      </a:rPr>
                      <m:t>k</m:t>
                    </m:r>
                    <m:r>
                      <m:rPr>
                        <m:nor/>
                      </m:rPr>
                      <a:rPr lang="en-US" altLang="zh-CN" b="1" i="1" baseline="-30000" dirty="0" smtClean="0">
                        <a:latin typeface="Times New Roman" panose="02020603050405020304" pitchFamily="18" charset="0"/>
                        <a:cs typeface="Times New Roman" panose="02020603050405020304" pitchFamily="18" charset="0"/>
                      </a:rPr>
                      <m:t>+1</m:t>
                    </m:r>
                    <m:r>
                      <m:rPr>
                        <m:nor/>
                      </m:rPr>
                      <a:rPr lang="en-US" altLang="zh-CN" dirty="0">
                        <a:latin typeface="Times New Roman" panose="02020603050405020304" pitchFamily="18" charset="0"/>
                        <a:cs typeface="Times New Roman" panose="02020603050405020304" pitchFamily="18" charset="0"/>
                      </a:rPr>
                      <m:t>)</m:t>
                    </m:r>
                    <m:r>
                      <a:rPr lang="en-US" altLang="zh-CN" i="1">
                        <a:latin typeface="Cambria Math" panose="02040503050406030204" pitchFamily="18" charset="0"/>
                      </a:rPr>
                      <m:t>))</m:t>
                    </m:r>
                  </m:oMath>
                </a14:m>
                <a:endParaRPr lang="en-US" altLang="zh-CN" dirty="0" smtClean="0"/>
              </a:p>
              <a:p>
                <a:pPr lvl="2" eaLnBrk="1" hangingPunct="1"/>
                <a:endParaRPr lang="en-US" altLang="zh-CN" dirty="0">
                  <a:latin typeface="Times New Roman" panose="02020603050405020304" pitchFamily="18" charset="0"/>
                  <a:cs typeface="Times New Roman" panose="02020603050405020304" pitchFamily="18" charset="0"/>
                </a:endParaRPr>
              </a:p>
              <a:p>
                <a:pPr marL="449262" lvl="1" indent="0" eaLnBrk="1" hangingPunct="1">
                  <a:buNone/>
                </a:pPr>
                <a:endParaRPr lang="zh-CN" altLang="en-US" dirty="0"/>
              </a:p>
            </p:txBody>
          </p:sp>
        </mc:Choice>
        <mc:Fallback xmlns="">
          <p:sp>
            <p:nvSpPr>
              <p:cNvPr id="9221" name="Rectangle 3"/>
              <p:cNvSpPr>
                <a:spLocks noGrp="1" noRot="1" noChangeAspect="1" noMove="1" noResize="1" noEditPoints="1" noAdjustHandles="1" noChangeArrowheads="1" noChangeShapeType="1" noTextEdit="1"/>
              </p:cNvSpPr>
              <p:nvPr>
                <p:ph type="body" idx="1"/>
              </p:nvPr>
            </p:nvSpPr>
            <p:spPr>
              <a:xfrm>
                <a:off x="96601" y="1216145"/>
                <a:ext cx="8569325" cy="4337085"/>
              </a:xfrm>
              <a:blipFill>
                <a:blip r:embed="rId3"/>
                <a:stretch>
                  <a:fillRect l="-356" t="-1545" r="-711"/>
                </a:stretch>
              </a:blipFill>
            </p:spPr>
            <p:txBody>
              <a:bodyPr/>
              <a:lstStyle/>
              <a:p>
                <a:r>
                  <a:rPr lang="zh-CN" altLang="en-US">
                    <a:noFill/>
                  </a:rPr>
                  <a:t> </a:t>
                </a:r>
              </a:p>
            </p:txBody>
          </p:sp>
        </mc:Fallback>
      </mc:AlternateContent>
      <p:sp>
        <p:nvSpPr>
          <p:cNvPr id="11" name="Rectangle 25">
            <a:extLst>
              <a:ext uri="{FF2B5EF4-FFF2-40B4-BE49-F238E27FC236}">
                <a16:creationId xmlns:a16="http://schemas.microsoft.com/office/drawing/2014/main" id="{81B6B101-AB2A-4559-9402-7430ACA41ADD}"/>
              </a:ext>
            </a:extLst>
          </p:cNvPr>
          <p:cNvSpPr>
            <a:spLocks noChangeArrowheads="1"/>
          </p:cNvSpPr>
          <p:nvPr/>
        </p:nvSpPr>
        <p:spPr bwMode="auto">
          <a:xfrm>
            <a:off x="0" y="3109883"/>
            <a:ext cx="3449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b="1"/>
          </a:p>
        </p:txBody>
      </p:sp>
    </p:spTree>
    <p:extLst>
      <p:ext uri="{BB962C8B-B14F-4D97-AF65-F5344CB8AC3E}">
        <p14:creationId xmlns:p14="http://schemas.microsoft.com/office/powerpoint/2010/main" val="16308605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2FC8D7D-D21A-4A07-ABE6-E70C38530ED7}" type="slidenum">
              <a:rPr lang="en-US" altLang="zh-CN" sz="1000"/>
              <a:pPr>
                <a:spcBef>
                  <a:spcPct val="0"/>
                </a:spcBef>
                <a:buClrTx/>
                <a:buSzTx/>
                <a:buFontTx/>
                <a:buNone/>
              </a:pPr>
              <a:t>9</a:t>
            </a:fld>
            <a:endParaRPr lang="en-US" altLang="zh-CN" sz="1000"/>
          </a:p>
        </p:txBody>
      </p:sp>
      <p:sp>
        <p:nvSpPr>
          <p:cNvPr id="9220" name="Rectangle 2"/>
          <p:cNvSpPr>
            <a:spLocks noGrp="1" noChangeArrowheads="1"/>
          </p:cNvSpPr>
          <p:nvPr>
            <p:ph type="title"/>
          </p:nvPr>
        </p:nvSpPr>
        <p:spPr/>
        <p:txBody>
          <a:bodyPr/>
          <a:lstStyle/>
          <a:p>
            <a:pPr eaLnBrk="1" hangingPunct="1"/>
            <a:r>
              <a:rPr lang="en-US" altLang="zh-CN" b="1" dirty="0"/>
              <a:t>8.1.1  </a:t>
            </a:r>
            <a:r>
              <a:rPr lang="zh-CN" altLang="en-US" b="1" dirty="0"/>
              <a:t>动态规划的基本概念</a:t>
            </a:r>
            <a:r>
              <a:rPr lang="zh-CN" altLang="en-US" dirty="0"/>
              <a:t> </a:t>
            </a:r>
          </a:p>
        </p:txBody>
      </p:sp>
      <p:sp>
        <p:nvSpPr>
          <p:cNvPr id="9221" name="Rectangle 3"/>
          <p:cNvSpPr>
            <a:spLocks noGrp="1" noChangeArrowheads="1"/>
          </p:cNvSpPr>
          <p:nvPr>
            <p:ph type="body" idx="1"/>
          </p:nvPr>
        </p:nvSpPr>
        <p:spPr>
          <a:xfrm>
            <a:off x="96601" y="1216145"/>
            <a:ext cx="8569325" cy="1938992"/>
          </a:xfrm>
        </p:spPr>
        <p:txBody>
          <a:bodyPr/>
          <a:lstStyle/>
          <a:p>
            <a:pPr eaLnBrk="1" hangingPunct="1"/>
            <a:r>
              <a:rPr lang="en-US" altLang="zh-CN" dirty="0"/>
              <a:t>6</a:t>
            </a:r>
            <a:r>
              <a:rPr lang="zh-CN" altLang="en-US" dirty="0"/>
              <a:t>．指标函数和最优值函数</a:t>
            </a:r>
          </a:p>
          <a:p>
            <a:pPr lvl="1" eaLnBrk="1" hangingPunct="1"/>
            <a:r>
              <a:rPr lang="zh-CN" altLang="en-US" dirty="0"/>
              <a:t>常见的指标函数</a:t>
            </a:r>
            <a:r>
              <a:rPr lang="zh-CN" altLang="en-US" dirty="0" smtClean="0"/>
              <a:t>形式（</a:t>
            </a:r>
            <a:r>
              <a:rPr lang="zh-CN" altLang="en-US" dirty="0">
                <a:latin typeface="Times New Roman" panose="02020603050405020304" pitchFamily="18" charset="0"/>
                <a:cs typeface="Times New Roman" panose="02020603050405020304" pitchFamily="18" charset="0"/>
              </a:rPr>
              <a:t>阶段指标函数与过程指标函数的</a:t>
            </a:r>
            <a:r>
              <a:rPr lang="zh-CN" altLang="en-US" dirty="0" smtClean="0">
                <a:latin typeface="Times New Roman" panose="02020603050405020304" pitchFamily="18" charset="0"/>
                <a:cs typeface="Times New Roman" panose="02020603050405020304" pitchFamily="18" charset="0"/>
              </a:rPr>
              <a:t>关系</a:t>
            </a:r>
            <a:r>
              <a:rPr lang="zh-CN" altLang="en-US" dirty="0" smtClean="0"/>
              <a:t>）：</a:t>
            </a:r>
            <a:endParaRPr lang="en-US" altLang="zh-CN" dirty="0"/>
          </a:p>
          <a:p>
            <a:pPr lvl="1" eaLnBrk="1" hangingPunct="1"/>
            <a:endParaRPr lang="en-US" altLang="zh-CN" dirty="0"/>
          </a:p>
          <a:p>
            <a:pPr lvl="1" eaLnBrk="1" hangingPunct="1"/>
            <a:endParaRPr lang="en-US" altLang="zh-CN" dirty="0"/>
          </a:p>
          <a:p>
            <a:pPr lvl="1" eaLnBrk="1" hangingPunct="1"/>
            <a:endParaRPr lang="zh-CN" altLang="en-US" dirty="0"/>
          </a:p>
        </p:txBody>
      </p:sp>
      <p:graphicFrame>
        <p:nvGraphicFramePr>
          <p:cNvPr id="13" name="Object 14">
            <a:extLst>
              <a:ext uri="{FF2B5EF4-FFF2-40B4-BE49-F238E27FC236}">
                <a16:creationId xmlns:a16="http://schemas.microsoft.com/office/drawing/2014/main" id="{41CEF874-6440-4102-8EB5-89F3438C415A}"/>
              </a:ext>
            </a:extLst>
          </p:cNvPr>
          <p:cNvGraphicFramePr>
            <a:graphicFrameLocks noChangeAspect="1"/>
          </p:cNvGraphicFramePr>
          <p:nvPr>
            <p:extLst>
              <p:ext uri="{D42A27DB-BD31-4B8C-83A1-F6EECF244321}">
                <p14:modId xmlns:p14="http://schemas.microsoft.com/office/powerpoint/2010/main" val="3387401371"/>
              </p:ext>
            </p:extLst>
          </p:nvPr>
        </p:nvGraphicFramePr>
        <p:xfrm>
          <a:off x="3306763" y="2420888"/>
          <a:ext cx="3044084" cy="793954"/>
        </p:xfrm>
        <a:graphic>
          <a:graphicData uri="http://schemas.openxmlformats.org/presentationml/2006/ole">
            <mc:AlternateContent xmlns:mc="http://schemas.openxmlformats.org/markup-compatibility/2006">
              <mc:Choice xmlns:v="urn:schemas-microsoft-com:vml" Requires="v">
                <p:oleObj spid="_x0000_s175401" name="Equation" r:id="rId3" imgW="1714320" imgH="444240" progId="Equation.DSMT4">
                  <p:embed/>
                </p:oleObj>
              </mc:Choice>
              <mc:Fallback>
                <p:oleObj name="Equation" r:id="rId3" imgW="1714320" imgH="444240" progId="Equation.DSMT4">
                  <p:embed/>
                  <p:pic>
                    <p:nvPicPr>
                      <p:cNvPr id="13" name="Object 14">
                        <a:extLst>
                          <a:ext uri="{FF2B5EF4-FFF2-40B4-BE49-F238E27FC236}">
                            <a16:creationId xmlns:a16="http://schemas.microsoft.com/office/drawing/2014/main" id="{41CEF874-6440-4102-8EB5-89F3438C415A}"/>
                          </a:ext>
                        </a:extLst>
                      </p:cNvPr>
                      <p:cNvPicPr>
                        <a:picLocks noChangeAspect="1" noChangeArrowheads="1"/>
                      </p:cNvPicPr>
                      <p:nvPr/>
                    </p:nvPicPr>
                    <p:blipFill>
                      <a:blip r:embed="rId4"/>
                      <a:srcRect/>
                      <a:stretch>
                        <a:fillRect/>
                      </a:stretch>
                    </p:blipFill>
                    <p:spPr bwMode="auto">
                      <a:xfrm>
                        <a:off x="3306763" y="2420888"/>
                        <a:ext cx="3044084" cy="793954"/>
                      </a:xfrm>
                      <a:prstGeom prst="rect">
                        <a:avLst/>
                      </a:prstGeom>
                      <a:noFill/>
                      <a:ln>
                        <a:noFill/>
                      </a:ln>
                      <a:extLst/>
                    </p:spPr>
                  </p:pic>
                </p:oleObj>
              </mc:Fallback>
            </mc:AlternateContent>
          </a:graphicData>
        </a:graphic>
      </p:graphicFrame>
      <p:graphicFrame>
        <p:nvGraphicFramePr>
          <p:cNvPr id="14" name="Object 13">
            <a:extLst>
              <a:ext uri="{FF2B5EF4-FFF2-40B4-BE49-F238E27FC236}">
                <a16:creationId xmlns:a16="http://schemas.microsoft.com/office/drawing/2014/main" id="{DFDD4092-1153-4271-A24D-D1BDA3B6A962}"/>
              </a:ext>
            </a:extLst>
          </p:cNvPr>
          <p:cNvGraphicFramePr>
            <a:graphicFrameLocks noChangeAspect="1"/>
          </p:cNvGraphicFramePr>
          <p:nvPr>
            <p:extLst>
              <p:ext uri="{D42A27DB-BD31-4B8C-83A1-F6EECF244321}">
                <p14:modId xmlns:p14="http://schemas.microsoft.com/office/powerpoint/2010/main" val="2962087652"/>
              </p:ext>
            </p:extLst>
          </p:nvPr>
        </p:nvGraphicFramePr>
        <p:xfrm>
          <a:off x="1259632" y="3100958"/>
          <a:ext cx="1008062" cy="400050"/>
        </p:xfrm>
        <a:graphic>
          <a:graphicData uri="http://schemas.openxmlformats.org/presentationml/2006/ole">
            <mc:AlternateContent xmlns:mc="http://schemas.openxmlformats.org/markup-compatibility/2006">
              <mc:Choice xmlns:v="urn:schemas-microsoft-com:vml" Requires="v">
                <p:oleObj spid="_x0000_s175402" name="Equation" r:id="rId5" imgW="596880" imgH="241200" progId="Equation.DSMT4">
                  <p:embed/>
                </p:oleObj>
              </mc:Choice>
              <mc:Fallback>
                <p:oleObj name="Equation" r:id="rId5" imgW="596880" imgH="241200" progId="Equation.DSMT4">
                  <p:embed/>
                  <p:pic>
                    <p:nvPicPr>
                      <p:cNvPr id="14" name="Object 13">
                        <a:extLst>
                          <a:ext uri="{FF2B5EF4-FFF2-40B4-BE49-F238E27FC236}">
                            <a16:creationId xmlns:a16="http://schemas.microsoft.com/office/drawing/2014/main" id="{DFDD4092-1153-4271-A24D-D1BDA3B6A962}"/>
                          </a:ext>
                        </a:extLst>
                      </p:cNvPr>
                      <p:cNvPicPr>
                        <a:picLocks noChangeAspect="1" noChangeArrowheads="1"/>
                      </p:cNvPicPr>
                      <p:nvPr/>
                    </p:nvPicPr>
                    <p:blipFill>
                      <a:blip r:embed="rId6"/>
                      <a:srcRect/>
                      <a:stretch>
                        <a:fillRect/>
                      </a:stretch>
                    </p:blipFill>
                    <p:spPr bwMode="auto">
                      <a:xfrm>
                        <a:off x="1259632" y="3100958"/>
                        <a:ext cx="10080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0">
            <a:extLst>
              <a:ext uri="{FF2B5EF4-FFF2-40B4-BE49-F238E27FC236}">
                <a16:creationId xmlns:a16="http://schemas.microsoft.com/office/drawing/2014/main" id="{F4011B9D-647D-43DA-97EA-F8F0D8B9406F}"/>
              </a:ext>
            </a:extLst>
          </p:cNvPr>
          <p:cNvGraphicFramePr>
            <a:graphicFrameLocks noChangeAspect="1"/>
          </p:cNvGraphicFramePr>
          <p:nvPr>
            <p:extLst>
              <p:ext uri="{D42A27DB-BD31-4B8C-83A1-F6EECF244321}">
                <p14:modId xmlns:p14="http://schemas.microsoft.com/office/powerpoint/2010/main" val="2137111120"/>
              </p:ext>
            </p:extLst>
          </p:nvPr>
        </p:nvGraphicFramePr>
        <p:xfrm>
          <a:off x="3336924" y="4679950"/>
          <a:ext cx="3107283" cy="714430"/>
        </p:xfrm>
        <a:graphic>
          <a:graphicData uri="http://schemas.openxmlformats.org/presentationml/2006/ole">
            <mc:AlternateContent xmlns:mc="http://schemas.openxmlformats.org/markup-compatibility/2006">
              <mc:Choice xmlns:v="urn:schemas-microsoft-com:vml" Requires="v">
                <p:oleObj spid="_x0000_s175403" name="Equation" r:id="rId7" imgW="1701720" imgH="393480" progId="Equation.DSMT4">
                  <p:embed/>
                </p:oleObj>
              </mc:Choice>
              <mc:Fallback>
                <p:oleObj name="Equation" r:id="rId7" imgW="1701720" imgH="393480" progId="Equation.DSMT4">
                  <p:embed/>
                  <p:pic>
                    <p:nvPicPr>
                      <p:cNvPr id="15" name="Object 10">
                        <a:extLst>
                          <a:ext uri="{FF2B5EF4-FFF2-40B4-BE49-F238E27FC236}">
                            <a16:creationId xmlns:a16="http://schemas.microsoft.com/office/drawing/2014/main" id="{F4011B9D-647D-43DA-97EA-F8F0D8B9406F}"/>
                          </a:ext>
                        </a:extLst>
                      </p:cNvPr>
                      <p:cNvPicPr>
                        <a:picLocks noChangeAspect="1" noChangeArrowheads="1"/>
                      </p:cNvPicPr>
                      <p:nvPr/>
                    </p:nvPicPr>
                    <p:blipFill>
                      <a:blip r:embed="rId8"/>
                      <a:srcRect/>
                      <a:stretch>
                        <a:fillRect/>
                      </a:stretch>
                    </p:blipFill>
                    <p:spPr bwMode="auto">
                      <a:xfrm>
                        <a:off x="3336924" y="4679950"/>
                        <a:ext cx="3107283" cy="714430"/>
                      </a:xfrm>
                      <a:prstGeom prst="rect">
                        <a:avLst/>
                      </a:prstGeom>
                      <a:noFill/>
                      <a:ln>
                        <a:noFill/>
                      </a:ln>
                      <a:extLst/>
                    </p:spPr>
                  </p:pic>
                </p:oleObj>
              </mc:Fallback>
            </mc:AlternateContent>
          </a:graphicData>
        </a:graphic>
      </p:graphicFrame>
      <p:sp>
        <p:nvSpPr>
          <p:cNvPr id="16" name="Rectangle 15">
            <a:extLst>
              <a:ext uri="{FF2B5EF4-FFF2-40B4-BE49-F238E27FC236}">
                <a16:creationId xmlns:a16="http://schemas.microsoft.com/office/drawing/2014/main" id="{3F99405A-F0BA-4263-BF48-F4BB93074FC1}"/>
              </a:ext>
            </a:extLst>
          </p:cNvPr>
          <p:cNvSpPr>
            <a:spLocks noChangeArrowheads="1"/>
          </p:cNvSpPr>
          <p:nvPr/>
        </p:nvSpPr>
        <p:spPr bwMode="auto">
          <a:xfrm>
            <a:off x="610617" y="2132856"/>
            <a:ext cx="777328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dirty="0">
                <a:latin typeface="Times New Roman" panose="02020603050405020304" pitchFamily="18" charset="0"/>
                <a:cs typeface="Times New Roman" panose="02020603050405020304" pitchFamily="18" charset="0"/>
              </a:rPr>
              <a:t>(1</a:t>
            </a:r>
            <a:r>
              <a:rPr lang="en-US" altLang="zh-CN" sz="2000" b="1" dirty="0" smtClean="0">
                <a:latin typeface="Times New Roman" panose="02020603050405020304" pitchFamily="18" charset="0"/>
                <a:cs typeface="Times New Roman" panose="02020603050405020304" pitchFamily="18" charset="0"/>
              </a:rPr>
              <a:t>)</a:t>
            </a:r>
            <a:r>
              <a:rPr lang="zh-CN" altLang="en-US" sz="2000" b="1" dirty="0" smtClean="0">
                <a:solidFill>
                  <a:srgbClr val="FF0000"/>
                </a:solidFill>
                <a:latin typeface="Times New Roman" panose="02020603050405020304" pitchFamily="18" charset="0"/>
                <a:cs typeface="Times New Roman" panose="02020603050405020304" pitchFamily="18" charset="0"/>
              </a:rPr>
              <a:t>阶段指标和的形式：</a:t>
            </a:r>
            <a:r>
              <a:rPr lang="en-US" altLang="zh-CN" sz="2000" b="1" dirty="0" smtClean="0">
                <a:solidFill>
                  <a:srgbClr val="FF0000"/>
                </a:solidFill>
                <a:latin typeface="Times New Roman" panose="02020603050405020304" pitchFamily="18" charset="0"/>
                <a:cs typeface="Times New Roman" panose="02020603050405020304" pitchFamily="18" charset="0"/>
              </a:rPr>
              <a:t> </a:t>
            </a:r>
            <a:r>
              <a:rPr lang="zh-CN" altLang="en-US" sz="2000" b="1" dirty="0" smtClean="0">
                <a:latin typeface="Times New Roman" panose="02020603050405020304" pitchFamily="18" charset="0"/>
                <a:cs typeface="Times New Roman" panose="02020603050405020304" pitchFamily="18" charset="0"/>
              </a:rPr>
              <a:t>过程或子</a:t>
            </a:r>
            <a:r>
              <a:rPr lang="zh-CN" altLang="en-US" sz="2000" b="1" dirty="0">
                <a:latin typeface="Times New Roman" panose="02020603050405020304" pitchFamily="18" charset="0"/>
                <a:cs typeface="Times New Roman" panose="02020603050405020304" pitchFamily="18" charset="0"/>
              </a:rPr>
              <a:t>过程的</a:t>
            </a:r>
            <a:r>
              <a:rPr lang="zh-CN" altLang="en-US" sz="2000" b="1" dirty="0" smtClean="0">
                <a:latin typeface="Times New Roman" panose="02020603050405020304" pitchFamily="18" charset="0"/>
                <a:cs typeface="Times New Roman" panose="02020603050405020304" pitchFamily="18" charset="0"/>
              </a:rPr>
              <a:t>指标为各阶段指标</a:t>
            </a:r>
            <a:r>
              <a:rPr lang="zh-CN" altLang="en-US" sz="2000" b="1" dirty="0">
                <a:latin typeface="Times New Roman" panose="02020603050405020304" pitchFamily="18" charset="0"/>
                <a:cs typeface="Times New Roman" panose="02020603050405020304" pitchFamily="18" charset="0"/>
              </a:rPr>
              <a:t>的和。即</a:t>
            </a:r>
            <a:endParaRPr lang="zh-CN" altLang="en-US" sz="2000" b="1" dirty="0"/>
          </a:p>
        </p:txBody>
      </p:sp>
      <p:sp>
        <p:nvSpPr>
          <p:cNvPr id="17" name="Rectangle 16">
            <a:extLst>
              <a:ext uri="{FF2B5EF4-FFF2-40B4-BE49-F238E27FC236}">
                <a16:creationId xmlns:a16="http://schemas.microsoft.com/office/drawing/2014/main" id="{EA7775C5-65AA-4151-92F3-6EF43AB7C958}"/>
              </a:ext>
            </a:extLst>
          </p:cNvPr>
          <p:cNvSpPr>
            <a:spLocks noChangeArrowheads="1"/>
          </p:cNvSpPr>
          <p:nvPr/>
        </p:nvSpPr>
        <p:spPr bwMode="auto">
          <a:xfrm>
            <a:off x="610617" y="3100898"/>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其中</a:t>
            </a:r>
            <a:endParaRPr lang="zh-CN" altLang="en-US" sz="2000" b="1" dirty="0"/>
          </a:p>
        </p:txBody>
      </p:sp>
      <p:sp>
        <p:nvSpPr>
          <p:cNvPr id="18" name="Rectangle 17">
            <a:extLst>
              <a:ext uri="{FF2B5EF4-FFF2-40B4-BE49-F238E27FC236}">
                <a16:creationId xmlns:a16="http://schemas.microsoft.com/office/drawing/2014/main" id="{42AF350A-B831-42A5-BBE7-97A1A00E7DA9}"/>
              </a:ext>
            </a:extLst>
          </p:cNvPr>
          <p:cNvSpPr>
            <a:spLocks noChangeArrowheads="1"/>
          </p:cNvSpPr>
          <p:nvPr/>
        </p:nvSpPr>
        <p:spPr bwMode="auto">
          <a:xfrm>
            <a:off x="2267744" y="3100898"/>
            <a:ext cx="49151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表示第</a:t>
            </a:r>
            <a:r>
              <a:rPr lang="en-US" altLang="zh-CN" sz="2000" b="1" i="1" dirty="0">
                <a:latin typeface="Times New Roman" panose="02020603050405020304" pitchFamily="18" charset="0"/>
                <a:cs typeface="Times New Roman" panose="02020603050405020304" pitchFamily="18" charset="0"/>
              </a:rPr>
              <a:t>j</a:t>
            </a:r>
            <a:r>
              <a:rPr lang="zh-CN" altLang="en-US" sz="2000" b="1" dirty="0">
                <a:latin typeface="Times New Roman" panose="02020603050405020304" pitchFamily="18" charset="0"/>
                <a:cs typeface="Times New Roman" panose="02020603050405020304" pitchFamily="18" charset="0"/>
              </a:rPr>
              <a:t>阶段的阶段指标，这时上式可写成</a:t>
            </a:r>
            <a:endParaRPr lang="zh-CN" altLang="en-US" sz="2000" b="1" dirty="0"/>
          </a:p>
        </p:txBody>
      </p:sp>
      <p:sp>
        <p:nvSpPr>
          <p:cNvPr id="19" name="Rectangle 19">
            <a:extLst>
              <a:ext uri="{FF2B5EF4-FFF2-40B4-BE49-F238E27FC236}">
                <a16:creationId xmlns:a16="http://schemas.microsoft.com/office/drawing/2014/main" id="{96010D7D-6613-4832-83FC-246B8DEE03C3}"/>
              </a:ext>
            </a:extLst>
          </p:cNvPr>
          <p:cNvSpPr>
            <a:spLocks noChangeArrowheads="1"/>
          </p:cNvSpPr>
          <p:nvPr/>
        </p:nvSpPr>
        <p:spPr bwMode="auto">
          <a:xfrm>
            <a:off x="610617" y="4229944"/>
            <a:ext cx="84978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dirty="0">
                <a:latin typeface="Times New Roman" panose="02020603050405020304" pitchFamily="18" charset="0"/>
                <a:cs typeface="Times New Roman" panose="02020603050405020304" pitchFamily="18" charset="0"/>
              </a:rPr>
              <a:t>(2</a:t>
            </a:r>
            <a:r>
              <a:rPr lang="en-US" altLang="zh-CN" sz="2000" b="1" dirty="0" smtClean="0">
                <a:latin typeface="Times New Roman" panose="02020603050405020304" pitchFamily="18" charset="0"/>
                <a:cs typeface="Times New Roman" panose="02020603050405020304" pitchFamily="18" charset="0"/>
              </a:rPr>
              <a:t>)</a:t>
            </a:r>
            <a:r>
              <a:rPr lang="zh-CN" altLang="en-US" sz="2000" b="1" dirty="0">
                <a:solidFill>
                  <a:srgbClr val="FF0000"/>
                </a:solidFill>
                <a:latin typeface="Times New Roman" panose="02020603050405020304" pitchFamily="18" charset="0"/>
                <a:cs typeface="Times New Roman" panose="02020603050405020304" pitchFamily="18" charset="0"/>
              </a:rPr>
              <a:t>阶段</a:t>
            </a:r>
            <a:r>
              <a:rPr lang="zh-CN" altLang="en-US" sz="2000" b="1" dirty="0" smtClean="0">
                <a:solidFill>
                  <a:srgbClr val="FF0000"/>
                </a:solidFill>
                <a:latin typeface="Times New Roman" panose="02020603050405020304" pitchFamily="18" charset="0"/>
                <a:cs typeface="Times New Roman" panose="02020603050405020304" pitchFamily="18" charset="0"/>
              </a:rPr>
              <a:t>指标积的</a:t>
            </a:r>
            <a:r>
              <a:rPr lang="zh-CN" altLang="en-US" sz="2000" b="1" dirty="0">
                <a:solidFill>
                  <a:srgbClr val="FF0000"/>
                </a:solidFill>
                <a:latin typeface="Times New Roman" panose="02020603050405020304" pitchFamily="18" charset="0"/>
                <a:cs typeface="Times New Roman" panose="02020603050405020304" pitchFamily="18" charset="0"/>
              </a:rPr>
              <a:t>形式：</a:t>
            </a:r>
            <a:r>
              <a:rPr lang="zh-CN" altLang="en-US" sz="2000" b="1" dirty="0" smtClean="0">
                <a:latin typeface="Times New Roman" panose="02020603050405020304" pitchFamily="18" charset="0"/>
                <a:cs typeface="Times New Roman" panose="02020603050405020304" pitchFamily="18" charset="0"/>
              </a:rPr>
              <a:t>过程或子</a:t>
            </a:r>
            <a:r>
              <a:rPr lang="zh-CN" altLang="en-US" sz="2000" b="1" dirty="0">
                <a:latin typeface="Times New Roman" panose="02020603050405020304" pitchFamily="18" charset="0"/>
                <a:cs typeface="Times New Roman" panose="02020603050405020304" pitchFamily="18" charset="0"/>
              </a:rPr>
              <a:t>过程的</a:t>
            </a:r>
            <a:r>
              <a:rPr lang="zh-CN" altLang="en-US" sz="2000" b="1" dirty="0" smtClean="0">
                <a:latin typeface="Times New Roman" panose="02020603050405020304" pitchFamily="18" charset="0"/>
                <a:cs typeface="Times New Roman" panose="02020603050405020304" pitchFamily="18" charset="0"/>
              </a:rPr>
              <a:t>指标为各</a:t>
            </a:r>
            <a:r>
              <a:rPr lang="zh-CN" altLang="en-US" sz="2000" b="1" dirty="0">
                <a:latin typeface="Times New Roman" panose="02020603050405020304" pitchFamily="18" charset="0"/>
                <a:cs typeface="Times New Roman" panose="02020603050405020304" pitchFamily="18" charset="0"/>
              </a:rPr>
              <a:t>阶段的指标的乘积。即</a:t>
            </a:r>
            <a:endParaRPr lang="zh-CN" altLang="en-US" sz="2000" b="1" dirty="0"/>
          </a:p>
        </p:txBody>
      </p:sp>
      <p:sp>
        <p:nvSpPr>
          <p:cNvPr id="20" name="Rectangle 20">
            <a:extLst>
              <a:ext uri="{FF2B5EF4-FFF2-40B4-BE49-F238E27FC236}">
                <a16:creationId xmlns:a16="http://schemas.microsoft.com/office/drawing/2014/main" id="{B1427E81-52C5-4D8E-A686-0FF51CA61B8A}"/>
              </a:ext>
            </a:extLst>
          </p:cNvPr>
          <p:cNvSpPr>
            <a:spLocks noChangeArrowheads="1"/>
          </p:cNvSpPr>
          <p:nvPr/>
        </p:nvSpPr>
        <p:spPr bwMode="auto">
          <a:xfrm>
            <a:off x="755079" y="5374561"/>
            <a:ext cx="2012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这时就可写成	</a:t>
            </a:r>
            <a:endParaRPr lang="zh-CN" altLang="en-US" sz="2000" b="1" dirty="0"/>
          </a:p>
        </p:txBody>
      </p:sp>
      <p:graphicFrame>
        <p:nvGraphicFramePr>
          <p:cNvPr id="23" name="Object 24">
            <a:extLst>
              <a:ext uri="{FF2B5EF4-FFF2-40B4-BE49-F238E27FC236}">
                <a16:creationId xmlns:a16="http://schemas.microsoft.com/office/drawing/2014/main" id="{912DC5B4-1066-45D9-B6A2-BC52EC546388}"/>
              </a:ext>
            </a:extLst>
          </p:cNvPr>
          <p:cNvGraphicFramePr>
            <a:graphicFrameLocks noChangeAspect="1"/>
          </p:cNvGraphicFramePr>
          <p:nvPr>
            <p:extLst>
              <p:ext uri="{D42A27DB-BD31-4B8C-83A1-F6EECF244321}">
                <p14:modId xmlns:p14="http://schemas.microsoft.com/office/powerpoint/2010/main" val="2753176985"/>
              </p:ext>
            </p:extLst>
          </p:nvPr>
        </p:nvGraphicFramePr>
        <p:xfrm>
          <a:off x="2022475" y="3586163"/>
          <a:ext cx="6089650" cy="485775"/>
        </p:xfrm>
        <a:graphic>
          <a:graphicData uri="http://schemas.openxmlformats.org/presentationml/2006/ole">
            <mc:AlternateContent xmlns:mc="http://schemas.openxmlformats.org/markup-compatibility/2006">
              <mc:Choice xmlns:v="urn:schemas-microsoft-com:vml" Requires="v">
                <p:oleObj spid="_x0000_s175404" name="Equation" r:id="rId9" imgW="2705040" imgH="241200" progId="Equation.DSMT4">
                  <p:embed/>
                </p:oleObj>
              </mc:Choice>
              <mc:Fallback>
                <p:oleObj name="Equation" r:id="rId9" imgW="2705040" imgH="241200" progId="Equation.DSMT4">
                  <p:embed/>
                  <p:pic>
                    <p:nvPicPr>
                      <p:cNvPr id="23" name="Object 24">
                        <a:extLst>
                          <a:ext uri="{FF2B5EF4-FFF2-40B4-BE49-F238E27FC236}">
                            <a16:creationId xmlns:a16="http://schemas.microsoft.com/office/drawing/2014/main" id="{912DC5B4-1066-45D9-B6A2-BC52EC546388}"/>
                          </a:ext>
                        </a:extLst>
                      </p:cNvPr>
                      <p:cNvPicPr>
                        <a:picLocks noChangeAspect="1" noChangeArrowheads="1"/>
                      </p:cNvPicPr>
                      <p:nvPr/>
                    </p:nvPicPr>
                    <p:blipFill>
                      <a:blip r:embed="rId10"/>
                      <a:srcRect/>
                      <a:stretch>
                        <a:fillRect/>
                      </a:stretch>
                    </p:blipFill>
                    <p:spPr bwMode="auto">
                      <a:xfrm>
                        <a:off x="2022475" y="3586163"/>
                        <a:ext cx="6089650" cy="485775"/>
                      </a:xfrm>
                      <a:prstGeom prst="rect">
                        <a:avLst/>
                      </a:prstGeom>
                      <a:noFill/>
                      <a:ln>
                        <a:noFill/>
                      </a:ln>
                      <a:extLst/>
                    </p:spPr>
                  </p:pic>
                </p:oleObj>
              </mc:Fallback>
            </mc:AlternateContent>
          </a:graphicData>
        </a:graphic>
      </p:graphicFrame>
      <p:graphicFrame>
        <p:nvGraphicFramePr>
          <p:cNvPr id="25" name="Object 26">
            <a:extLst>
              <a:ext uri="{FF2B5EF4-FFF2-40B4-BE49-F238E27FC236}">
                <a16:creationId xmlns:a16="http://schemas.microsoft.com/office/drawing/2014/main" id="{B1A98A0B-173F-46F6-A2EA-CF481EC39EA2}"/>
              </a:ext>
            </a:extLst>
          </p:cNvPr>
          <p:cNvGraphicFramePr>
            <a:graphicFrameLocks noChangeAspect="1"/>
          </p:cNvGraphicFramePr>
          <p:nvPr>
            <p:extLst>
              <p:ext uri="{D42A27DB-BD31-4B8C-83A1-F6EECF244321}">
                <p14:modId xmlns:p14="http://schemas.microsoft.com/office/powerpoint/2010/main" val="2671260167"/>
              </p:ext>
            </p:extLst>
          </p:nvPr>
        </p:nvGraphicFramePr>
        <p:xfrm>
          <a:off x="2022475" y="5771436"/>
          <a:ext cx="4982284" cy="465876"/>
        </p:xfrm>
        <a:graphic>
          <a:graphicData uri="http://schemas.openxmlformats.org/presentationml/2006/ole">
            <mc:AlternateContent xmlns:mc="http://schemas.openxmlformats.org/markup-compatibility/2006">
              <mc:Choice xmlns:v="urn:schemas-microsoft-com:vml" Requires="v">
                <p:oleObj spid="_x0000_s175405" name="Equation" r:id="rId11" imgW="2590560" imgH="241200" progId="Equation.DSMT4">
                  <p:embed/>
                </p:oleObj>
              </mc:Choice>
              <mc:Fallback>
                <p:oleObj name="Equation" r:id="rId11" imgW="2590560" imgH="241200" progId="Equation.DSMT4">
                  <p:embed/>
                  <p:pic>
                    <p:nvPicPr>
                      <p:cNvPr id="25" name="Object 26">
                        <a:extLst>
                          <a:ext uri="{FF2B5EF4-FFF2-40B4-BE49-F238E27FC236}">
                            <a16:creationId xmlns:a16="http://schemas.microsoft.com/office/drawing/2014/main" id="{B1A98A0B-173F-46F6-A2EA-CF481EC39EA2}"/>
                          </a:ext>
                        </a:extLst>
                      </p:cNvPr>
                      <p:cNvPicPr>
                        <a:picLocks noChangeAspect="1" noChangeArrowheads="1"/>
                      </p:cNvPicPr>
                      <p:nvPr/>
                    </p:nvPicPr>
                    <p:blipFill>
                      <a:blip r:embed="rId12"/>
                      <a:srcRect/>
                      <a:stretch>
                        <a:fillRect/>
                      </a:stretch>
                    </p:blipFill>
                    <p:spPr bwMode="auto">
                      <a:xfrm>
                        <a:off x="2022475" y="5771436"/>
                        <a:ext cx="4982284" cy="465876"/>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2961700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2FC8D7D-D21A-4A07-ABE6-E70C38530ED7}" type="slidenum">
              <a:rPr lang="en-US" altLang="zh-CN" sz="1000"/>
              <a:pPr>
                <a:spcBef>
                  <a:spcPct val="0"/>
                </a:spcBef>
                <a:buClrTx/>
                <a:buSzTx/>
                <a:buFontTx/>
                <a:buNone/>
              </a:pPr>
              <a:t>10</a:t>
            </a:fld>
            <a:endParaRPr lang="en-US" altLang="zh-CN" sz="1000"/>
          </a:p>
        </p:txBody>
      </p:sp>
      <p:sp>
        <p:nvSpPr>
          <p:cNvPr id="9220" name="Rectangle 2"/>
          <p:cNvSpPr>
            <a:spLocks noGrp="1" noChangeArrowheads="1"/>
          </p:cNvSpPr>
          <p:nvPr>
            <p:ph type="title"/>
          </p:nvPr>
        </p:nvSpPr>
        <p:spPr/>
        <p:txBody>
          <a:bodyPr/>
          <a:lstStyle/>
          <a:p>
            <a:pPr eaLnBrk="1" hangingPunct="1"/>
            <a:r>
              <a:rPr lang="en-US" altLang="zh-CN" b="1" dirty="0"/>
              <a:t>8.1.1  </a:t>
            </a:r>
            <a:r>
              <a:rPr lang="zh-CN" altLang="en-US" b="1" dirty="0"/>
              <a:t>动态规划的基本概念</a:t>
            </a:r>
            <a:r>
              <a:rPr lang="zh-CN" altLang="en-US" dirty="0"/>
              <a:t> </a:t>
            </a:r>
          </a:p>
        </p:txBody>
      </p:sp>
      <mc:AlternateContent xmlns:mc="http://schemas.openxmlformats.org/markup-compatibility/2006" xmlns:a14="http://schemas.microsoft.com/office/drawing/2010/main">
        <mc:Choice Requires="a14">
          <p:sp>
            <p:nvSpPr>
              <p:cNvPr id="9221" name="Rectangle 3"/>
              <p:cNvSpPr>
                <a:spLocks noGrp="1" noChangeArrowheads="1"/>
              </p:cNvSpPr>
              <p:nvPr>
                <p:ph type="body" idx="1"/>
              </p:nvPr>
            </p:nvSpPr>
            <p:spPr>
              <a:xfrm>
                <a:off x="96601" y="1216145"/>
                <a:ext cx="8569325" cy="3209084"/>
              </a:xfrm>
            </p:spPr>
            <p:txBody>
              <a:bodyPr/>
              <a:lstStyle/>
              <a:p>
                <a:pPr eaLnBrk="1" hangingPunct="1"/>
                <a:r>
                  <a:rPr lang="en-US" altLang="zh-CN" dirty="0" smtClean="0"/>
                  <a:t>6</a:t>
                </a:r>
                <a:r>
                  <a:rPr lang="zh-CN" altLang="en-US" dirty="0"/>
                  <a:t>．指标函数和最优值函数</a:t>
                </a:r>
              </a:p>
              <a:p>
                <a:pPr lvl="1" eaLnBrk="1" hangingPunct="1"/>
                <a:r>
                  <a:rPr lang="zh-CN" altLang="en-US" dirty="0"/>
                  <a:t>最优值函数：过程指标函数的</a:t>
                </a:r>
                <a:r>
                  <a:rPr lang="zh-CN" altLang="en-US" dirty="0" smtClean="0"/>
                  <a:t>最优值，记</a:t>
                </a:r>
                <a:r>
                  <a:rPr lang="zh-CN" altLang="en-US" dirty="0"/>
                  <a:t>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𝒇</m:t>
                        </m:r>
                      </m:e>
                      <m:sub>
                        <m:r>
                          <a:rPr lang="en-US" altLang="zh-CN" i="1">
                            <a:latin typeface="Cambria Math" panose="02040503050406030204" pitchFamily="18" charset="0"/>
                          </a:rPr>
                          <m:t>𝒌</m:t>
                        </m:r>
                        <m:r>
                          <a:rPr lang="en-US" altLang="zh-CN" i="1">
                            <a:latin typeface="Cambria Math" panose="02040503050406030204" pitchFamily="18" charset="0"/>
                          </a:rPr>
                          <m:t> </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𝒔</m:t>
                        </m:r>
                      </m:e>
                      <m:sub>
                        <m:r>
                          <a:rPr lang="en-US" altLang="zh-CN" i="1">
                            <a:latin typeface="Cambria Math" panose="02040503050406030204" pitchFamily="18" charset="0"/>
                          </a:rPr>
                          <m:t>𝒌</m:t>
                        </m:r>
                      </m:sub>
                    </m:sSub>
                    <m:r>
                      <a:rPr lang="en-US" altLang="zh-CN" i="1">
                        <a:latin typeface="Cambria Math" panose="02040503050406030204" pitchFamily="18" charset="0"/>
                      </a:rPr>
                      <m:t>)</m:t>
                    </m:r>
                  </m:oMath>
                </a14:m>
                <a:endParaRPr lang="en-US" altLang="zh-CN" dirty="0" smtClean="0"/>
              </a:p>
              <a:p>
                <a:pPr lvl="2" eaLnBrk="1" hangingPunct="1"/>
                <a:r>
                  <a:rPr lang="zh-CN" altLang="en-US" dirty="0" smtClean="0">
                    <a:latin typeface="Times New Roman" panose="02020603050405020304" pitchFamily="18" charset="0"/>
                    <a:cs typeface="Times New Roman" panose="02020603050405020304" pitchFamily="18" charset="0"/>
                  </a:rPr>
                  <a:t>它</a:t>
                </a:r>
                <a:r>
                  <a:rPr lang="zh-CN" altLang="en-US" dirty="0">
                    <a:latin typeface="Times New Roman" panose="02020603050405020304" pitchFamily="18" charset="0"/>
                    <a:cs typeface="Times New Roman" panose="02020603050405020304" pitchFamily="18" charset="0"/>
                  </a:rPr>
                  <a:t>表示从第</a:t>
                </a:r>
                <a:r>
                  <a:rPr lang="en-US" altLang="zh-CN" i="1"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阶段的状态</a:t>
                </a:r>
                <a:r>
                  <a:rPr lang="en-US" altLang="zh-CN" i="1" dirty="0" err="1">
                    <a:latin typeface="Times New Roman" panose="02020603050405020304" pitchFamily="18" charset="0"/>
                    <a:cs typeface="Times New Roman" panose="02020603050405020304" pitchFamily="18" charset="0"/>
                  </a:rPr>
                  <a:t>s</a:t>
                </a:r>
                <a:r>
                  <a:rPr lang="en-US" altLang="zh-CN" i="1" baseline="-25000" dirty="0" err="1">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开始到第</a:t>
                </a:r>
                <a:r>
                  <a:rPr lang="en-US" altLang="zh-CN" i="1"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阶段</a:t>
                </a:r>
                <a:r>
                  <a:rPr lang="zh-CN" altLang="en-US" dirty="0"/>
                  <a:t>的终止状态的过程，采取最优策略所得到的指标函数</a:t>
                </a:r>
                <a:r>
                  <a:rPr lang="zh-CN" altLang="en-US" dirty="0" smtClean="0"/>
                  <a:t>值</a:t>
                </a:r>
                <a:endParaRPr lang="en-US" altLang="zh-CN" dirty="0" smtClean="0"/>
              </a:p>
              <a:p>
                <a:pPr marL="890588" lvl="2" indent="0" eaLnBrk="1" hangingPunct="1">
                  <a:buNone/>
                </a:pP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𝒇</m:t>
                        </m:r>
                      </m:e>
                      <m:sub>
                        <m:r>
                          <a:rPr lang="en-US" altLang="zh-CN" i="1">
                            <a:latin typeface="Cambria Math" panose="02040503050406030204" pitchFamily="18" charset="0"/>
                          </a:rPr>
                          <m:t>𝒌</m:t>
                        </m:r>
                        <m:r>
                          <a:rPr lang="en-US" altLang="zh-CN" i="1">
                            <a:latin typeface="Cambria Math" panose="02040503050406030204" pitchFamily="18" charset="0"/>
                          </a:rPr>
                          <m:t> </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𝒔</m:t>
                        </m:r>
                      </m:e>
                      <m:sub>
                        <m:r>
                          <a:rPr lang="en-US" altLang="zh-CN" i="1">
                            <a:latin typeface="Cambria Math" panose="02040503050406030204" pitchFamily="18" charset="0"/>
                          </a:rPr>
                          <m:t>𝒌</m:t>
                        </m:r>
                      </m:sub>
                    </m:sSub>
                    <m:r>
                      <a:rPr lang="en-US" altLang="zh-CN" i="1">
                        <a:latin typeface="Cambria Math" panose="02040503050406030204" pitchFamily="18" charset="0"/>
                      </a:rPr>
                      <m:t>)</m:t>
                    </m:r>
                  </m:oMath>
                </a14:m>
                <a:r>
                  <a:rPr lang="en-US" altLang="zh-CN" dirty="0"/>
                  <a:t>=</a:t>
                </a:r>
                <a14:m>
                  <m:oMath xmlns:m="http://schemas.openxmlformats.org/officeDocument/2006/math">
                    <m:sSub>
                      <m:sSubPr>
                        <m:ctrlPr>
                          <a:rPr lang="en-US" altLang="zh-CN" i="1">
                            <a:latin typeface="Cambria Math" panose="02040503050406030204" pitchFamily="18" charset="0"/>
                          </a:rPr>
                        </m:ctrlPr>
                      </m:sSubPr>
                      <m:e>
                        <m:limLow>
                          <m:limLowPr>
                            <m:ctrlPr>
                              <a:rPr lang="en-US" altLang="zh-CN" i="1">
                                <a:latin typeface="Cambria Math" panose="02040503050406030204" pitchFamily="18" charset="0"/>
                              </a:rPr>
                            </m:ctrlPr>
                          </m:limLowPr>
                          <m:e>
                            <m:r>
                              <a:rPr lang="en-US" altLang="zh-CN">
                                <a:latin typeface="Cambria Math" panose="02040503050406030204" pitchFamily="18" charset="0"/>
                              </a:rPr>
                              <m:t>𝐨𝐩𝐭</m:t>
                            </m:r>
                          </m:e>
                          <m:lim>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𝒌</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𝑫</m:t>
                                </m:r>
                              </m:e>
                              <m:sub>
                                <m:r>
                                  <a:rPr lang="en-US" altLang="zh-CN" i="1">
                                    <a:latin typeface="Cambria Math" panose="02040503050406030204" pitchFamily="18" charset="0"/>
                                    <a:ea typeface="Cambria Math" panose="02040503050406030204" pitchFamily="18" charset="0"/>
                                  </a:rPr>
                                  <m:t>𝒌</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𝒔</m:t>
                                </m:r>
                              </m:e>
                              <m:sub>
                                <m:r>
                                  <a:rPr lang="en-US" altLang="zh-CN" i="1">
                                    <a:latin typeface="Cambria Math" panose="02040503050406030204" pitchFamily="18" charset="0"/>
                                    <a:ea typeface="Cambria Math" panose="02040503050406030204" pitchFamily="18" charset="0"/>
                                  </a:rPr>
                                  <m:t>𝒌</m:t>
                                </m:r>
                              </m:sub>
                            </m:sSub>
                          </m:lim>
                        </m:limLow>
                        <m:r>
                          <a:rPr lang="en-US" altLang="zh-CN" i="1">
                            <a:latin typeface="Cambria Math" panose="02040503050406030204" pitchFamily="18" charset="0"/>
                          </a:rPr>
                          <m:t>𝑽</m:t>
                        </m:r>
                      </m:e>
                      <m:sub>
                        <m:r>
                          <a:rPr lang="en-US" altLang="zh-CN" i="1">
                            <a:latin typeface="Cambria Math" panose="02040503050406030204" pitchFamily="18" charset="0"/>
                          </a:rPr>
                          <m:t>𝒌</m:t>
                        </m:r>
                        <m:r>
                          <a:rPr lang="en-US" altLang="zh-CN" i="1">
                            <a:latin typeface="Cambria Math" panose="02040503050406030204" pitchFamily="18" charset="0"/>
                          </a:rPr>
                          <m:t>,</m:t>
                        </m:r>
                        <m:r>
                          <a:rPr lang="en-US" altLang="zh-CN" i="1">
                            <a:latin typeface="Cambria Math" panose="02040503050406030204" pitchFamily="18" charset="0"/>
                          </a:rPr>
                          <m:t>𝒏</m:t>
                        </m:r>
                      </m:sub>
                    </m:sSub>
                    <m:d>
                      <m:dPr>
                        <m:ctrlPr>
                          <a:rPr lang="en-US" altLang="zh-CN" i="1">
                            <a:latin typeface="Cambria Math" panose="02040503050406030204" pitchFamily="18" charset="0"/>
                          </a:rPr>
                        </m:ctrlPr>
                      </m:dPr>
                      <m:e>
                        <m:r>
                          <m:rPr>
                            <m:nor/>
                          </m:rPr>
                          <a:rPr lang="en-US" altLang="zh-CN" i="1" dirty="0">
                            <a:latin typeface="Times New Roman" panose="02020603050405020304" pitchFamily="18" charset="0"/>
                            <a:cs typeface="Times New Roman" panose="02020603050405020304" pitchFamily="18" charset="0"/>
                          </a:rPr>
                          <m:t>p</m:t>
                        </m:r>
                        <m:r>
                          <m:rPr>
                            <m:nor/>
                          </m:rPr>
                          <a:rPr lang="en-US" altLang="zh-CN" i="1" baseline="-30000" dirty="0">
                            <a:latin typeface="Times New Roman" panose="02020603050405020304" pitchFamily="18" charset="0"/>
                            <a:cs typeface="Times New Roman" panose="02020603050405020304" pitchFamily="18" charset="0"/>
                          </a:rPr>
                          <m:t>k</m:t>
                        </m:r>
                        <m:r>
                          <m:rPr>
                            <m:nor/>
                          </m:rPr>
                          <a:rPr lang="en-US" altLang="zh-CN" i="1" baseline="-30000" dirty="0">
                            <a:latin typeface="Times New Roman" panose="02020603050405020304" pitchFamily="18" charset="0"/>
                            <a:cs typeface="Times New Roman" panose="02020603050405020304" pitchFamily="18" charset="0"/>
                          </a:rPr>
                          <m:t>,</m:t>
                        </m:r>
                        <m:r>
                          <m:rPr>
                            <m:nor/>
                          </m:rPr>
                          <a:rPr lang="en-US" altLang="zh-CN" i="1" baseline="-30000" dirty="0">
                            <a:latin typeface="Times New Roman" panose="02020603050405020304" pitchFamily="18" charset="0"/>
                            <a:cs typeface="Times New Roman" panose="02020603050405020304" pitchFamily="18" charset="0"/>
                          </a:rPr>
                          <m:t>n</m:t>
                        </m:r>
                        <m:r>
                          <m:rPr>
                            <m:nor/>
                          </m:rPr>
                          <a:rPr lang="en-US" altLang="zh-CN" dirty="0">
                            <a:latin typeface="Times New Roman" panose="02020603050405020304" pitchFamily="18" charset="0"/>
                            <a:cs typeface="Times New Roman" panose="02020603050405020304" pitchFamily="18" charset="0"/>
                          </a:rPr>
                          <m:t>(</m:t>
                        </m:r>
                        <m:r>
                          <m:rPr>
                            <m:nor/>
                          </m:rPr>
                          <a:rPr lang="en-US" altLang="zh-CN" i="1" dirty="0">
                            <a:latin typeface="Times New Roman" panose="02020603050405020304" pitchFamily="18" charset="0"/>
                            <a:cs typeface="Times New Roman" panose="02020603050405020304" pitchFamily="18" charset="0"/>
                          </a:rPr>
                          <m:t>s</m:t>
                        </m:r>
                        <m:r>
                          <m:rPr>
                            <m:nor/>
                          </m:rPr>
                          <a:rPr lang="en-US" altLang="zh-CN" i="1" baseline="-30000" dirty="0">
                            <a:latin typeface="Times New Roman" panose="02020603050405020304" pitchFamily="18" charset="0"/>
                            <a:cs typeface="Times New Roman" panose="02020603050405020304" pitchFamily="18" charset="0"/>
                          </a:rPr>
                          <m:t>k</m:t>
                        </m:r>
                        <m:r>
                          <m:rPr>
                            <m:nor/>
                          </m:rPr>
                          <a:rPr lang="en-US" altLang="zh-CN" dirty="0">
                            <a:latin typeface="Times New Roman" panose="02020603050405020304" pitchFamily="18" charset="0"/>
                            <a:cs typeface="Times New Roman" panose="02020603050405020304" pitchFamily="18" charset="0"/>
                          </a:rPr>
                          <m:t>)</m:t>
                        </m:r>
                      </m:e>
                    </m:d>
                  </m:oMath>
                </a14:m>
                <a:endParaRPr lang="zh-CN" altLang="en-US" dirty="0"/>
              </a:p>
              <a:p>
                <a:pPr lvl="1" eaLnBrk="1" hangingPunct="1"/>
                <a:endParaRPr lang="en-US" altLang="zh-CN" dirty="0"/>
              </a:p>
              <a:p>
                <a:pPr lvl="1" eaLnBrk="1" hangingPunct="1"/>
                <a:endParaRPr lang="en-US" altLang="zh-CN" dirty="0"/>
              </a:p>
              <a:p>
                <a:pPr lvl="1" eaLnBrk="1" hangingPunct="1"/>
                <a:endParaRPr lang="zh-CN" altLang="en-US" dirty="0"/>
              </a:p>
            </p:txBody>
          </p:sp>
        </mc:Choice>
        <mc:Fallback xmlns="">
          <p:sp>
            <p:nvSpPr>
              <p:cNvPr id="9221" name="Rectangle 3"/>
              <p:cNvSpPr>
                <a:spLocks noGrp="1" noRot="1" noChangeAspect="1" noMove="1" noResize="1" noEditPoints="1" noAdjustHandles="1" noChangeArrowheads="1" noChangeShapeType="1" noTextEdit="1"/>
              </p:cNvSpPr>
              <p:nvPr>
                <p:ph type="body" idx="1"/>
              </p:nvPr>
            </p:nvSpPr>
            <p:spPr>
              <a:xfrm>
                <a:off x="96601" y="1216145"/>
                <a:ext cx="8569325" cy="3209084"/>
              </a:xfrm>
              <a:blipFill>
                <a:blip r:embed="rId2"/>
                <a:stretch>
                  <a:fillRect l="-356" t="-2087"/>
                </a:stretch>
              </a:blipFill>
            </p:spPr>
            <p:txBody>
              <a:bodyPr/>
              <a:lstStyle/>
              <a:p>
                <a:r>
                  <a:rPr lang="zh-CN" altLang="en-US">
                    <a:noFill/>
                  </a:rPr>
                  <a:t> </a:t>
                </a:r>
              </a:p>
            </p:txBody>
          </p:sp>
        </mc:Fallback>
      </mc:AlternateContent>
      <p:sp>
        <p:nvSpPr>
          <p:cNvPr id="10" name="Rectangle 26">
            <a:extLst>
              <a:ext uri="{FF2B5EF4-FFF2-40B4-BE49-F238E27FC236}">
                <a16:creationId xmlns:a16="http://schemas.microsoft.com/office/drawing/2014/main" id="{8511686B-D352-4A49-A9A4-BD771B896139}"/>
              </a:ext>
            </a:extLst>
          </p:cNvPr>
          <p:cNvSpPr>
            <a:spLocks noChangeArrowheads="1"/>
          </p:cNvSpPr>
          <p:nvPr/>
        </p:nvSpPr>
        <p:spPr bwMode="auto">
          <a:xfrm>
            <a:off x="1403648" y="3501008"/>
            <a:ext cx="76346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dirty="0"/>
              <a:t>“opt”</a:t>
            </a:r>
            <a:r>
              <a:rPr lang="zh-CN" altLang="en-US" sz="2000" b="1" dirty="0"/>
              <a:t>是最优化</a:t>
            </a:r>
            <a:r>
              <a:rPr lang="en-US" altLang="zh-CN" sz="2000" b="1" dirty="0"/>
              <a:t>(optimization)</a:t>
            </a:r>
            <a:r>
              <a:rPr lang="zh-CN" altLang="en-US" sz="2000" b="1" dirty="0"/>
              <a:t>的缩写，可根据题意而取</a:t>
            </a:r>
            <a:r>
              <a:rPr lang="en-US" altLang="zh-CN" sz="2000" b="1" dirty="0"/>
              <a:t>min</a:t>
            </a:r>
            <a:r>
              <a:rPr lang="zh-CN" altLang="en-US" sz="2000" b="1" dirty="0"/>
              <a:t>或</a:t>
            </a:r>
            <a:r>
              <a:rPr lang="en-US" altLang="zh-CN" sz="2000" b="1" dirty="0" smtClean="0"/>
              <a:t>max</a:t>
            </a:r>
            <a:r>
              <a:rPr lang="zh-CN" altLang="en-US" sz="2000" b="1" dirty="0" smtClean="0"/>
              <a:t> </a:t>
            </a:r>
            <a:endParaRPr lang="zh-CN" altLang="en-US" sz="2000" b="1" dirty="0"/>
          </a:p>
        </p:txBody>
      </p:sp>
    </p:spTree>
    <p:extLst>
      <p:ext uri="{BB962C8B-B14F-4D97-AF65-F5344CB8AC3E}">
        <p14:creationId xmlns:p14="http://schemas.microsoft.com/office/powerpoint/2010/main" val="18001799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2FC8D7D-D21A-4A07-ABE6-E70C38530ED7}" type="slidenum">
              <a:rPr lang="en-US" altLang="zh-CN" sz="1000"/>
              <a:pPr>
                <a:spcBef>
                  <a:spcPct val="0"/>
                </a:spcBef>
                <a:buClrTx/>
                <a:buSzTx/>
                <a:buFontTx/>
                <a:buNone/>
              </a:pPr>
              <a:t>11</a:t>
            </a:fld>
            <a:endParaRPr lang="en-US" altLang="zh-CN" sz="1000"/>
          </a:p>
        </p:txBody>
      </p:sp>
      <p:sp>
        <p:nvSpPr>
          <p:cNvPr id="9220" name="Rectangle 2"/>
          <p:cNvSpPr>
            <a:spLocks noGrp="1" noChangeArrowheads="1"/>
          </p:cNvSpPr>
          <p:nvPr>
            <p:ph type="title"/>
          </p:nvPr>
        </p:nvSpPr>
        <p:spPr/>
        <p:txBody>
          <a:bodyPr/>
          <a:lstStyle/>
          <a:p>
            <a:pPr eaLnBrk="1" hangingPunct="1"/>
            <a:r>
              <a:rPr lang="en-US" altLang="zh-CN" b="1" dirty="0"/>
              <a:t>8.1.1  </a:t>
            </a:r>
            <a:r>
              <a:rPr lang="zh-CN" altLang="en-US" b="1" dirty="0"/>
              <a:t>动态规划的基本概念</a:t>
            </a:r>
            <a:r>
              <a:rPr lang="zh-CN" altLang="en-US" dirty="0"/>
              <a:t> </a:t>
            </a:r>
          </a:p>
        </p:txBody>
      </p:sp>
      <p:sp>
        <p:nvSpPr>
          <p:cNvPr id="9221" name="Rectangle 3"/>
          <p:cNvSpPr>
            <a:spLocks noGrp="1" noChangeArrowheads="1"/>
          </p:cNvSpPr>
          <p:nvPr>
            <p:ph type="body" idx="1"/>
          </p:nvPr>
        </p:nvSpPr>
        <p:spPr>
          <a:xfrm>
            <a:off x="96601" y="1216145"/>
            <a:ext cx="8569325" cy="1938992"/>
          </a:xfrm>
        </p:spPr>
        <p:txBody>
          <a:bodyPr/>
          <a:lstStyle/>
          <a:p>
            <a:pPr eaLnBrk="1" hangingPunct="1"/>
            <a:r>
              <a:rPr lang="en-US" altLang="zh-CN" dirty="0"/>
              <a:t>6</a:t>
            </a:r>
            <a:r>
              <a:rPr lang="zh-CN" altLang="en-US" dirty="0"/>
              <a:t>．指标函数和最优值函数</a:t>
            </a:r>
          </a:p>
          <a:p>
            <a:pPr lvl="1" eaLnBrk="1" hangingPunct="1"/>
            <a:r>
              <a:rPr lang="zh-CN" altLang="en-US" dirty="0"/>
              <a:t>常见的指标函数形式：</a:t>
            </a:r>
            <a:endParaRPr lang="en-US" altLang="zh-CN" dirty="0"/>
          </a:p>
          <a:p>
            <a:pPr lvl="1" eaLnBrk="1" hangingPunct="1"/>
            <a:endParaRPr lang="en-US" altLang="zh-CN" dirty="0"/>
          </a:p>
          <a:p>
            <a:pPr lvl="1" eaLnBrk="1" hangingPunct="1"/>
            <a:endParaRPr lang="en-US" altLang="zh-CN" dirty="0"/>
          </a:p>
          <a:p>
            <a:pPr lvl="1" eaLnBrk="1" hangingPunct="1"/>
            <a:endParaRPr lang="zh-CN" altLang="en-US" dirty="0"/>
          </a:p>
        </p:txBody>
      </p:sp>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extLst>
                  <p:ext uri="{D42A27DB-BD31-4B8C-83A1-F6EECF244321}">
                    <p14:modId xmlns:p14="http://schemas.microsoft.com/office/powerpoint/2010/main" val="3987781530"/>
                  </p:ext>
                </p:extLst>
              </p:nvPr>
            </p:nvGraphicFramePr>
            <p:xfrm>
              <a:off x="35496" y="2185641"/>
              <a:ext cx="9036495" cy="3926503"/>
            </p:xfrm>
            <a:graphic>
              <a:graphicData uri="http://schemas.openxmlformats.org/drawingml/2006/table">
                <a:tbl>
                  <a:tblPr firstRow="1" bandRow="1">
                    <a:tableStyleId>{5C22544A-7EE6-4342-B048-85BDC9FD1C3A}</a:tableStyleId>
                  </a:tblPr>
                  <a:tblGrid>
                    <a:gridCol w="764770">
                      <a:extLst>
                        <a:ext uri="{9D8B030D-6E8A-4147-A177-3AD203B41FA5}">
                          <a16:colId xmlns:a16="http://schemas.microsoft.com/office/drawing/2014/main" val="233362328"/>
                        </a:ext>
                      </a:extLst>
                    </a:gridCol>
                    <a:gridCol w="4081511">
                      <a:extLst>
                        <a:ext uri="{9D8B030D-6E8A-4147-A177-3AD203B41FA5}">
                          <a16:colId xmlns:a16="http://schemas.microsoft.com/office/drawing/2014/main" val="3419320798"/>
                        </a:ext>
                      </a:extLst>
                    </a:gridCol>
                    <a:gridCol w="4190214">
                      <a:extLst>
                        <a:ext uri="{9D8B030D-6E8A-4147-A177-3AD203B41FA5}">
                          <a16:colId xmlns:a16="http://schemas.microsoft.com/office/drawing/2014/main" val="675959247"/>
                        </a:ext>
                      </a:extLst>
                    </a:gridCol>
                  </a:tblGrid>
                  <a:tr h="375027">
                    <a:tc>
                      <a:txBody>
                        <a:bodyPr/>
                        <a:lstStyle/>
                        <a:p>
                          <a:endParaRPr lang="zh-CN" altLang="en-US" dirty="0"/>
                        </a:p>
                      </a:txBody>
                      <a:tcPr/>
                    </a:tc>
                    <a:tc>
                      <a:txBody>
                        <a:bodyPr/>
                        <a:lstStyle/>
                        <a:p>
                          <a:r>
                            <a:rPr lang="zh-CN" altLang="en-US" dirty="0" smtClean="0"/>
                            <a:t>连和形式</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连乘形式</a:t>
                          </a:r>
                          <a:endParaRPr lang="en-US" altLang="zh-CN" dirty="0" smtClean="0"/>
                        </a:p>
                      </a:txBody>
                      <a:tcPr/>
                    </a:tc>
                    <a:extLst>
                      <a:ext uri="{0D108BD9-81ED-4DB2-BD59-A6C34878D82A}">
                        <a16:rowId xmlns:a16="http://schemas.microsoft.com/office/drawing/2014/main" val="393837257"/>
                      </a:ext>
                    </a:extLst>
                  </a:tr>
                  <a:tr h="1148191">
                    <a:tc>
                      <a:txBody>
                        <a:bodyPr/>
                        <a:lstStyle/>
                        <a:p>
                          <a:r>
                            <a:rPr lang="zh-CN" altLang="en-US" dirty="0" smtClean="0"/>
                            <a:t>指标函数：</a:t>
                          </a:r>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𝑽</m:t>
                                    </m:r>
                                  </m:e>
                                  <m:sub>
                                    <m:r>
                                      <a:rPr lang="en-US" altLang="zh-CN" sz="1600" i="1">
                                        <a:latin typeface="Cambria Math" panose="02040503050406030204" pitchFamily="18" charset="0"/>
                                      </a:rPr>
                                      <m:t>𝒌</m:t>
                                    </m:r>
                                  </m:sub>
                                </m:sSub>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𝒔</m:t>
                                        </m:r>
                                      </m:e>
                                      <m:sub>
                                        <m:r>
                                          <a:rPr lang="en-US" altLang="zh-CN" sz="1600" i="1">
                                            <a:latin typeface="Cambria Math" panose="02040503050406030204" pitchFamily="18" charset="0"/>
                                          </a:rPr>
                                          <m:t>𝒌</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i="1">
                                            <a:latin typeface="Cambria Math" panose="02040503050406030204" pitchFamily="18" charset="0"/>
                                          </a:rPr>
                                          <m:t>𝒌</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i="1">
                                            <a:latin typeface="Cambria Math" panose="02040503050406030204" pitchFamily="18" charset="0"/>
                                          </a:rPr>
                                          <m:t>𝒌</m:t>
                                        </m:r>
                                        <m:r>
                                          <a:rPr lang="en-US" altLang="zh-CN" sz="1600" i="1">
                                            <a:latin typeface="Cambria Math" panose="02040503050406030204" pitchFamily="18" charset="0"/>
                                          </a:rPr>
                                          <m:t>+</m:t>
                                        </m:r>
                                        <m:r>
                                          <a:rPr lang="en-US" altLang="zh-CN" sz="1600" i="1">
                                            <a:latin typeface="Cambria Math" panose="02040503050406030204" pitchFamily="18" charset="0"/>
                                          </a:rPr>
                                          <m:t>𝟏</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m:t>
                                        </m:r>
                                        <m:r>
                                          <a:rPr lang="en-US" altLang="zh-CN" sz="1600" b="0" i="1" smtClean="0">
                                            <a:latin typeface="Cambria Math" panose="02040503050406030204" pitchFamily="18" charset="0"/>
                                          </a:rPr>
                                          <m:t>𝑥</m:t>
                                        </m:r>
                                      </m:e>
                                      <m:sub>
                                        <m:r>
                                          <a:rPr lang="en-US" altLang="zh-CN" sz="1600" i="1">
                                            <a:latin typeface="Cambria Math" panose="02040503050406030204" pitchFamily="18" charset="0"/>
                                          </a:rPr>
                                          <m:t>𝒏</m:t>
                                        </m:r>
                                      </m:sub>
                                    </m:sSub>
                                  </m:e>
                                </m:d>
                                <m:r>
                                  <a:rPr lang="en-US" altLang="zh-CN" sz="1600" b="0" i="1" smtClean="0">
                                    <a:latin typeface="Cambria Math" panose="02040503050406030204" pitchFamily="18" charset="0"/>
                                  </a:rPr>
                                  <m:t>=</m:t>
                                </m:r>
                                <m:nary>
                                  <m:naryPr>
                                    <m:chr m:val="∑"/>
                                    <m:ctrlPr>
                                      <a:rPr lang="en-US" altLang="zh-CN" sz="1600" b="1" i="1" smtClean="0">
                                        <a:latin typeface="Cambria Math" panose="02040503050406030204" pitchFamily="18" charset="0"/>
                                      </a:rPr>
                                    </m:ctrlPr>
                                  </m:naryPr>
                                  <m:sub>
                                    <m:r>
                                      <m:rPr>
                                        <m:brk m:alnAt="23"/>
                                      </m:rPr>
                                      <a:rPr lang="en-US" altLang="zh-CN" sz="1600" b="1" i="1" smtClean="0">
                                        <a:latin typeface="Cambria Math" panose="02040503050406030204" pitchFamily="18" charset="0"/>
                                      </a:rPr>
                                      <m:t>𝒋</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𝒌</m:t>
                                    </m:r>
                                  </m:sub>
                                  <m:sup>
                                    <m:r>
                                      <a:rPr lang="en-US" altLang="zh-CN" sz="1600" b="1" i="1" smtClean="0">
                                        <a:latin typeface="Cambria Math" panose="02040503050406030204" pitchFamily="18" charset="0"/>
                                      </a:rPr>
                                      <m:t>𝒏</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sup>
                                  <m:e>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𝒗</m:t>
                                        </m:r>
                                      </m:e>
                                      <m:sub>
                                        <m:r>
                                          <a:rPr lang="en-US" altLang="zh-CN" sz="1600" b="1" i="1" smtClean="0">
                                            <a:latin typeface="Cambria Math" panose="02040503050406030204" pitchFamily="18" charset="0"/>
                                          </a:rPr>
                                          <m:t>𝒋</m:t>
                                        </m:r>
                                      </m:sub>
                                    </m:sSub>
                                    <m:d>
                                      <m:dPr>
                                        <m:ctrlPr>
                                          <a:rPr lang="en-US" altLang="zh-CN" sz="1600" b="1" i="1" smtClean="0">
                                            <a:latin typeface="Cambria Math" panose="02040503050406030204" pitchFamily="18" charset="0"/>
                                          </a:rPr>
                                        </m:ctrlPr>
                                      </m:dPr>
                                      <m:e>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𝒔</m:t>
                                            </m:r>
                                          </m:e>
                                          <m:sub>
                                            <m:r>
                                              <a:rPr lang="en-US" altLang="zh-CN" sz="1600" b="1" i="1" smtClean="0">
                                                <a:latin typeface="Cambria Math" panose="02040503050406030204" pitchFamily="18" charset="0"/>
                                              </a:rPr>
                                              <m:t>𝒋</m:t>
                                            </m:r>
                                          </m:sub>
                                        </m:sSub>
                                        <m:r>
                                          <a:rPr lang="en-US" altLang="zh-CN" sz="1600" b="1" i="1"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𝒙</m:t>
                                            </m:r>
                                          </m:e>
                                          <m:sub>
                                            <m:r>
                                              <a:rPr lang="en-US" altLang="zh-CN" sz="1600" b="1" i="1" smtClean="0">
                                                <a:latin typeface="Cambria Math" panose="02040503050406030204" pitchFamily="18" charset="0"/>
                                              </a:rPr>
                                              <m:t>𝒋</m:t>
                                            </m:r>
                                          </m:sub>
                                        </m:sSub>
                                      </m:e>
                                    </m:d>
                                    <m:r>
                                      <a:rPr lang="en-US" altLang="zh-CN" sz="1600" b="1" i="1"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𝑽</m:t>
                                        </m:r>
                                      </m:e>
                                      <m:sub>
                                        <m:r>
                                          <a:rPr lang="en-US" altLang="zh-CN" sz="1600" b="1" i="1" smtClean="0">
                                            <a:latin typeface="Cambria Math" panose="02040503050406030204" pitchFamily="18" charset="0"/>
                                          </a:rPr>
                                          <m:t>𝒏</m:t>
                                        </m:r>
                                      </m:sub>
                                    </m:sSub>
                                  </m:e>
                                </m:nary>
                              </m:oMath>
                            </m:oMathPara>
                          </a14:m>
                          <a:endParaRPr lang="zh-CN" altLang="en-US" sz="1600" b="1"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𝑽</m:t>
                                    </m:r>
                                  </m:e>
                                  <m:sub>
                                    <m:r>
                                      <a:rPr lang="en-US" altLang="zh-CN" sz="1600" i="1">
                                        <a:latin typeface="Cambria Math" panose="02040503050406030204" pitchFamily="18" charset="0"/>
                                      </a:rPr>
                                      <m:t>𝒌</m:t>
                                    </m:r>
                                  </m:sub>
                                </m:sSub>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𝒔</m:t>
                                        </m:r>
                                      </m:e>
                                      <m:sub>
                                        <m:r>
                                          <a:rPr lang="en-US" altLang="zh-CN" sz="1600" i="1">
                                            <a:latin typeface="Cambria Math" panose="02040503050406030204" pitchFamily="18" charset="0"/>
                                          </a:rPr>
                                          <m:t>𝒌</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i="1">
                                            <a:latin typeface="Cambria Math" panose="02040503050406030204" pitchFamily="18" charset="0"/>
                                          </a:rPr>
                                          <m:t>𝒌</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i="1">
                                            <a:latin typeface="Cambria Math" panose="02040503050406030204" pitchFamily="18" charset="0"/>
                                          </a:rPr>
                                          <m:t>𝒌</m:t>
                                        </m:r>
                                        <m:r>
                                          <a:rPr lang="en-US" altLang="zh-CN" sz="1600" i="1">
                                            <a:latin typeface="Cambria Math" panose="02040503050406030204" pitchFamily="18" charset="0"/>
                                          </a:rPr>
                                          <m:t>+</m:t>
                                        </m:r>
                                        <m:r>
                                          <a:rPr lang="en-US" altLang="zh-CN" sz="1600" i="1">
                                            <a:latin typeface="Cambria Math" panose="02040503050406030204" pitchFamily="18" charset="0"/>
                                          </a:rPr>
                                          <m:t>𝟏</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m:t>
                                        </m:r>
                                        <m:r>
                                          <a:rPr lang="en-US" altLang="zh-CN" sz="1600" b="0" i="1" smtClean="0">
                                            <a:latin typeface="Cambria Math" panose="02040503050406030204" pitchFamily="18" charset="0"/>
                                          </a:rPr>
                                          <m:t>𝑥</m:t>
                                        </m:r>
                                      </m:e>
                                      <m:sub>
                                        <m:r>
                                          <a:rPr lang="en-US" altLang="zh-CN" sz="1600" i="1">
                                            <a:latin typeface="Cambria Math" panose="02040503050406030204" pitchFamily="18" charset="0"/>
                                          </a:rPr>
                                          <m:t>𝒏</m:t>
                                        </m:r>
                                      </m:sub>
                                    </m:sSub>
                                  </m:e>
                                </m:d>
                                <m:r>
                                  <a:rPr lang="en-US" altLang="zh-CN" sz="1600" b="0" i="1" smtClean="0">
                                    <a:latin typeface="Cambria Math" panose="02040503050406030204" pitchFamily="18" charset="0"/>
                                  </a:rPr>
                                  <m:t>=</m:t>
                                </m:r>
                                <m:nary>
                                  <m:naryPr>
                                    <m:chr m:val="∏"/>
                                    <m:ctrlPr>
                                      <a:rPr lang="en-US" altLang="zh-CN" sz="1600" b="1" i="1" smtClean="0">
                                        <a:latin typeface="Cambria Math" panose="02040503050406030204" pitchFamily="18" charset="0"/>
                                      </a:rPr>
                                    </m:ctrlPr>
                                  </m:naryPr>
                                  <m:sub>
                                    <m:r>
                                      <m:rPr>
                                        <m:brk m:alnAt="23"/>
                                      </m:rPr>
                                      <a:rPr lang="en-US" altLang="zh-CN" sz="1600" b="1" i="1" smtClean="0">
                                        <a:latin typeface="Cambria Math" panose="02040503050406030204" pitchFamily="18" charset="0"/>
                                      </a:rPr>
                                      <m:t>𝒋</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𝒌</m:t>
                                    </m:r>
                                  </m:sub>
                                  <m:sup>
                                    <m:r>
                                      <a:rPr lang="en-US" altLang="zh-CN" sz="1600" b="1" i="1" smtClean="0">
                                        <a:latin typeface="Cambria Math" panose="02040503050406030204" pitchFamily="18" charset="0"/>
                                      </a:rPr>
                                      <m:t>𝒏</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sup>
                                  <m:e>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𝒗</m:t>
                                        </m:r>
                                      </m:e>
                                      <m:sub>
                                        <m:r>
                                          <a:rPr lang="en-US" altLang="zh-CN" sz="1600" b="1" i="1" smtClean="0">
                                            <a:latin typeface="Cambria Math" panose="02040503050406030204" pitchFamily="18" charset="0"/>
                                          </a:rPr>
                                          <m:t>𝒋</m:t>
                                        </m:r>
                                      </m:sub>
                                    </m:sSub>
                                    <m:d>
                                      <m:dPr>
                                        <m:ctrlPr>
                                          <a:rPr lang="en-US" altLang="zh-CN" sz="1600" b="1" i="1" smtClean="0">
                                            <a:latin typeface="Cambria Math" panose="02040503050406030204" pitchFamily="18" charset="0"/>
                                          </a:rPr>
                                        </m:ctrlPr>
                                      </m:dPr>
                                      <m:e>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𝒔</m:t>
                                            </m:r>
                                          </m:e>
                                          <m:sub>
                                            <m:r>
                                              <a:rPr lang="en-US" altLang="zh-CN" sz="1600" b="1" i="1" smtClean="0">
                                                <a:latin typeface="Cambria Math" panose="02040503050406030204" pitchFamily="18" charset="0"/>
                                              </a:rPr>
                                              <m:t>𝒋</m:t>
                                            </m:r>
                                          </m:sub>
                                        </m:sSub>
                                        <m:r>
                                          <a:rPr lang="en-US" altLang="zh-CN" sz="1600" b="1" i="1"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𝒙</m:t>
                                            </m:r>
                                          </m:e>
                                          <m:sub>
                                            <m:r>
                                              <a:rPr lang="en-US" altLang="zh-CN" sz="1600" b="1" i="1" smtClean="0">
                                                <a:latin typeface="Cambria Math" panose="02040503050406030204" pitchFamily="18" charset="0"/>
                                              </a:rPr>
                                              <m:t>𝒋</m:t>
                                            </m:r>
                                          </m:sub>
                                        </m:sSub>
                                      </m:e>
                                    </m:d>
                                    <m:r>
                                      <a:rPr lang="en-US" altLang="zh-CN" sz="1600" b="1" i="1" smtClean="0">
                                        <a:latin typeface="Cambria Math" panose="02040503050406030204" pitchFamily="18" charset="0"/>
                                        <a:ea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𝑽</m:t>
                                        </m:r>
                                      </m:e>
                                      <m:sub>
                                        <m:r>
                                          <a:rPr lang="en-US" altLang="zh-CN" sz="1600" b="1" i="1" smtClean="0">
                                            <a:latin typeface="Cambria Math" panose="02040503050406030204" pitchFamily="18" charset="0"/>
                                          </a:rPr>
                                          <m:t>𝒏</m:t>
                                        </m:r>
                                      </m:sub>
                                    </m:sSub>
                                  </m:e>
                                </m:nary>
                              </m:oMath>
                            </m:oMathPara>
                          </a14:m>
                          <a:endParaRPr lang="zh-CN" altLang="en-US" sz="1600" b="1" dirty="0"/>
                        </a:p>
                      </a:txBody>
                      <a:tcPr/>
                    </a:tc>
                    <a:extLst>
                      <a:ext uri="{0D108BD9-81ED-4DB2-BD59-A6C34878D82A}">
                        <a16:rowId xmlns:a16="http://schemas.microsoft.com/office/drawing/2014/main" val="55766318"/>
                      </a:ext>
                    </a:extLst>
                  </a:tr>
                  <a:tr h="904186">
                    <a:tc>
                      <a:txBody>
                        <a:bodyPr/>
                        <a:lstStyle/>
                        <a:p>
                          <a:r>
                            <a:rPr lang="zh-CN" altLang="en-US" dirty="0" smtClean="0"/>
                            <a:t>最优值函数：</a:t>
                          </a:r>
                          <a:endParaRPr lang="zh-CN" altLang="en-US" dirty="0"/>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𝒇</m:t>
                                  </m:r>
                                </m:e>
                                <m:sub>
                                  <m:r>
                                    <a:rPr lang="en-US" altLang="zh-CN" sz="1600" b="1" i="1">
                                      <a:latin typeface="Cambria Math" panose="02040503050406030204" pitchFamily="18" charset="0"/>
                                    </a:rPr>
                                    <m:t>𝒌</m:t>
                                  </m:r>
                                  <m:r>
                                    <a:rPr lang="en-US" altLang="zh-CN" sz="1600" b="1" i="1" smtClean="0">
                                      <a:latin typeface="Cambria Math" panose="02040503050406030204" pitchFamily="18" charset="0"/>
                                    </a:rPr>
                                    <m:t> </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a:latin typeface="Cambria Math" panose="02040503050406030204" pitchFamily="18" charset="0"/>
                                    </a:rPr>
                                    <m:t>𝒌</m:t>
                                  </m:r>
                                </m:sub>
                              </m:sSub>
                              <m:r>
                                <a:rPr lang="en-US" altLang="zh-CN" sz="1600" b="1" i="1">
                                  <a:latin typeface="Cambria Math" panose="02040503050406030204" pitchFamily="18" charset="0"/>
                                </a:rPr>
                                <m:t>)</m:t>
                              </m:r>
                            </m:oMath>
                          </a14:m>
                          <a:r>
                            <a:rPr lang="en-US" altLang="zh-CN" sz="1600" b="1" dirty="0"/>
                            <a:t>=</a:t>
                          </a:r>
                          <a14:m>
                            <m:oMath xmlns:m="http://schemas.openxmlformats.org/officeDocument/2006/math">
                              <m:limLow>
                                <m:limLowPr>
                                  <m:ctrlPr>
                                    <a:rPr lang="en-US" altLang="zh-CN" sz="1600" b="1" i="1">
                                      <a:latin typeface="Cambria Math" panose="02040503050406030204" pitchFamily="18" charset="0"/>
                                    </a:rPr>
                                  </m:ctrlPr>
                                </m:limLowPr>
                                <m:e>
                                  <m:r>
                                    <a:rPr lang="en-US" altLang="zh-CN" sz="1600" b="1" i="1">
                                      <a:latin typeface="Cambria Math" panose="02040503050406030204" pitchFamily="18" charset="0"/>
                                    </a:rPr>
                                    <m:t>𝒐𝒑𝒕</m:t>
                                  </m:r>
                                </m:e>
                                <m:lim>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𝒙</m:t>
                                      </m:r>
                                    </m:e>
                                    <m:sub>
                                      <m:r>
                                        <a:rPr lang="en-US" altLang="zh-CN" sz="1600" b="1" i="1">
                                          <a:latin typeface="Cambria Math" panose="02040503050406030204" pitchFamily="18" charset="0"/>
                                        </a:rPr>
                                        <m:t>𝒌</m:t>
                                      </m:r>
                                    </m:sub>
                                  </m:sSub>
                                  <m:r>
                                    <a:rPr lang="en-US" altLang="zh-CN" sz="1600" b="1" i="1">
                                      <a:latin typeface="Cambria Math" panose="02040503050406030204" pitchFamily="18" charset="0"/>
                                      <a:ea typeface="Cambria Math" panose="02040503050406030204" pitchFamily="18" charset="0"/>
                                    </a:rPr>
                                    <m:t>∈</m:t>
                                  </m:r>
                                  <m:sSub>
                                    <m:sSubPr>
                                      <m:ctrlPr>
                                        <a:rPr lang="en-US" altLang="zh-CN" sz="1600" b="1" i="1">
                                          <a:latin typeface="Cambria Math" panose="02040503050406030204" pitchFamily="18" charset="0"/>
                                          <a:ea typeface="Cambria Math" panose="02040503050406030204" pitchFamily="18" charset="0"/>
                                        </a:rPr>
                                      </m:ctrlPr>
                                    </m:sSubPr>
                                    <m:e>
                                      <m:r>
                                        <a:rPr lang="en-US" altLang="zh-CN" sz="1600" b="1" i="1">
                                          <a:latin typeface="Cambria Math" panose="02040503050406030204" pitchFamily="18" charset="0"/>
                                          <a:ea typeface="Cambria Math" panose="02040503050406030204" pitchFamily="18" charset="0"/>
                                        </a:rPr>
                                        <m:t>𝑫</m:t>
                                      </m:r>
                                    </m:e>
                                    <m:sub>
                                      <m:r>
                                        <a:rPr lang="en-US" altLang="zh-CN" sz="1600" b="1" i="1">
                                          <a:latin typeface="Cambria Math" panose="02040503050406030204" pitchFamily="18" charset="0"/>
                                          <a:ea typeface="Cambria Math" panose="02040503050406030204" pitchFamily="18" charset="0"/>
                                        </a:rPr>
                                        <m:t>𝒌</m:t>
                                      </m:r>
                                    </m:sub>
                                  </m:sSub>
                                  <m:r>
                                    <a:rPr lang="en-US" altLang="zh-CN" sz="1600" b="1" i="1">
                                      <a:latin typeface="Cambria Math" panose="02040503050406030204" pitchFamily="18" charset="0"/>
                                      <a:ea typeface="Cambria Math" panose="02040503050406030204" pitchFamily="18" charset="0"/>
                                    </a:rPr>
                                    <m:t>(</m:t>
                                  </m:r>
                                  <m:sSub>
                                    <m:sSubPr>
                                      <m:ctrlPr>
                                        <a:rPr lang="en-US" altLang="zh-CN" sz="1600" b="1" i="1">
                                          <a:latin typeface="Cambria Math" panose="02040503050406030204" pitchFamily="18" charset="0"/>
                                          <a:ea typeface="Cambria Math" panose="02040503050406030204" pitchFamily="18" charset="0"/>
                                        </a:rPr>
                                      </m:ctrlPr>
                                    </m:sSubPr>
                                    <m:e>
                                      <m:r>
                                        <a:rPr lang="en-US" altLang="zh-CN" sz="1600" b="1" i="1">
                                          <a:latin typeface="Cambria Math" panose="02040503050406030204" pitchFamily="18" charset="0"/>
                                          <a:ea typeface="Cambria Math" panose="02040503050406030204" pitchFamily="18" charset="0"/>
                                        </a:rPr>
                                        <m:t>𝒔</m:t>
                                      </m:r>
                                    </m:e>
                                    <m:sub>
                                      <m:r>
                                        <a:rPr lang="en-US" altLang="zh-CN" sz="1600" b="1" i="1">
                                          <a:latin typeface="Cambria Math" panose="02040503050406030204" pitchFamily="18" charset="0"/>
                                          <a:ea typeface="Cambria Math" panose="02040503050406030204" pitchFamily="18" charset="0"/>
                                        </a:rPr>
                                        <m:t>𝒌</m:t>
                                      </m:r>
                                    </m:sub>
                                  </m:sSub>
                                  <m:r>
                                    <a:rPr lang="en-US" altLang="zh-CN" sz="1600" b="1" i="1">
                                      <a:latin typeface="Cambria Math" panose="02040503050406030204" pitchFamily="18" charset="0"/>
                                      <a:ea typeface="Cambria Math" panose="02040503050406030204" pitchFamily="18" charset="0"/>
                                    </a:rPr>
                                    <m:t>)</m:t>
                                  </m:r>
                                </m:lim>
                              </m:limLow>
                              <m:r>
                                <a:rPr lang="en-US" altLang="zh-CN" sz="1600" b="1" i="0"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𝒗</m:t>
                                  </m:r>
                                </m:e>
                                <m:sub>
                                  <m:r>
                                    <a:rPr lang="en-US" altLang="zh-CN" sz="1600" b="1" i="1" smtClean="0">
                                      <a:latin typeface="Cambria Math" panose="02040503050406030204" pitchFamily="18" charset="0"/>
                                    </a:rPr>
                                    <m:t>𝒌</m:t>
                                  </m:r>
                                </m:sub>
                              </m:sSub>
                              <m:d>
                                <m:dPr>
                                  <m:ctrlPr>
                                    <a:rPr lang="en-US" altLang="zh-CN" sz="1600" b="1" i="1" smtClean="0">
                                      <a:latin typeface="Cambria Math" panose="02040503050406030204" pitchFamily="18" charset="0"/>
                                    </a:rPr>
                                  </m:ctrlPr>
                                </m:dPr>
                                <m:e>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𝒔</m:t>
                                      </m:r>
                                    </m:e>
                                    <m:sub>
                                      <m:r>
                                        <a:rPr lang="en-US" altLang="zh-CN" sz="1600" b="1" i="1" smtClean="0">
                                          <a:latin typeface="Cambria Math" panose="02040503050406030204" pitchFamily="18" charset="0"/>
                                        </a:rPr>
                                        <m:t>𝒌</m:t>
                                      </m:r>
                                    </m:sub>
                                  </m:sSub>
                                  <m:r>
                                    <a:rPr lang="en-US" altLang="zh-CN" sz="1600" b="1" i="1"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𝒙</m:t>
                                      </m:r>
                                    </m:e>
                                    <m:sub>
                                      <m:r>
                                        <a:rPr lang="en-US" altLang="zh-CN" sz="1600" b="1" i="1" smtClean="0">
                                          <a:latin typeface="Cambria Math" panose="02040503050406030204" pitchFamily="18" charset="0"/>
                                        </a:rPr>
                                        <m:t>𝒌</m:t>
                                      </m:r>
                                    </m:sub>
                                  </m:sSub>
                                </m:e>
                              </m:d>
                              <m:r>
                                <a:rPr lang="en-US" altLang="zh-CN" sz="1600" b="1" i="1"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𝒇</m:t>
                                  </m:r>
                                </m:e>
                                <m:sub>
                                  <m:r>
                                    <a:rPr lang="en-US" altLang="zh-CN" sz="1600" b="1" i="1">
                                      <a:latin typeface="Cambria Math" panose="02040503050406030204" pitchFamily="18" charset="0"/>
                                    </a:rPr>
                                    <m:t>𝒌</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r>
                                    <a:rPr lang="en-US" altLang="zh-CN" sz="1600" b="1" i="1" smtClean="0">
                                      <a:latin typeface="Cambria Math" panose="02040503050406030204" pitchFamily="18" charset="0"/>
                                    </a:rPr>
                                    <m:t> </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a:latin typeface="Cambria Math" panose="02040503050406030204" pitchFamily="18" charset="0"/>
                                    </a:rPr>
                                    <m:t>𝒌</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sub>
                              </m:sSub>
                              <m:r>
                                <a:rPr lang="en-US" altLang="zh-CN" sz="1600" b="1" i="1">
                                  <a:latin typeface="Cambria Math" panose="02040503050406030204" pitchFamily="18" charset="0"/>
                                </a:rPr>
                                <m:t>)</m:t>
                              </m:r>
                              <m:r>
                                <a:rPr lang="en-US" altLang="zh-CN" sz="1600" b="1" i="0" smtClean="0">
                                  <a:latin typeface="Cambria Math" panose="02040503050406030204" pitchFamily="18" charset="0"/>
                                </a:rPr>
                                <m:t>}</m:t>
                              </m:r>
                            </m:oMath>
                          </a14:m>
                          <a:r>
                            <a:rPr lang="en-US" altLang="zh-CN" sz="1600" b="1" dirty="0" smtClean="0"/>
                            <a: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1600" b="1" i="1" dirty="0" smtClean="0">
                              <a:latin typeface="Times New Roman" panose="02020603050405020304" pitchFamily="18" charset="0"/>
                              <a:cs typeface="Times New Roman" panose="02020603050405020304" pitchFamily="18" charset="0"/>
                            </a:rPr>
                            <a:t>k</a:t>
                          </a:r>
                          <a:r>
                            <a:rPr lang="en-US" altLang="zh-CN" sz="1600" b="1" dirty="0" smtClean="0">
                              <a:latin typeface="Times New Roman" panose="02020603050405020304" pitchFamily="18" charset="0"/>
                              <a:cs typeface="Times New Roman" panose="02020603050405020304" pitchFamily="18" charset="0"/>
                            </a:rPr>
                            <a:t>=1,2,</a:t>
                          </a:r>
                          <a:r>
                            <a:rPr lang="en-US" altLang="zh-CN" sz="1600" b="1" dirty="0" smtClean="0"/>
                            <a:t> </a:t>
                          </a:r>
                          <a14:m>
                            <m:oMath xmlns:m="http://schemas.openxmlformats.org/officeDocument/2006/math">
                              <m:r>
                                <a:rPr lang="en-US" altLang="zh-CN" sz="1600" b="1" i="1">
                                  <a:latin typeface="Cambria Math" panose="02040503050406030204" pitchFamily="18" charset="0"/>
                                </a:rPr>
                                <m:t>…</m:t>
                              </m:r>
                            </m:oMath>
                          </a14:m>
                          <a:r>
                            <a:rPr lang="en-US" altLang="zh-CN" sz="1600" b="1" dirty="0" smtClean="0">
                              <a:latin typeface="Times New Roman" panose="02020603050405020304" pitchFamily="18" charset="0"/>
                              <a:cs typeface="Times New Roman" panose="02020603050405020304" pitchFamily="18" charset="0"/>
                            </a:rPr>
                            <a:t>,</a:t>
                          </a:r>
                          <a:r>
                            <a:rPr lang="en-US" altLang="zh-CN" sz="1600" b="1" i="1" dirty="0" smtClean="0">
                              <a:latin typeface="Times New Roman" panose="02020603050405020304" pitchFamily="18" charset="0"/>
                              <a:cs typeface="Times New Roman" panose="02020603050405020304" pitchFamily="18" charset="0"/>
                            </a:rPr>
                            <a:t>n</a:t>
                          </a:r>
                          <a:endParaRPr lang="zh-CN" altLang="en-US" sz="1600" b="1" dirty="0"/>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𝒇</m:t>
                                  </m:r>
                                </m:e>
                                <m:sub>
                                  <m:r>
                                    <a:rPr lang="en-US" altLang="zh-CN" sz="1600" b="1" i="1">
                                      <a:latin typeface="Cambria Math" panose="02040503050406030204" pitchFamily="18" charset="0"/>
                                    </a:rPr>
                                    <m:t>𝒌</m:t>
                                  </m:r>
                                  <m:r>
                                    <a:rPr lang="en-US" altLang="zh-CN" sz="1600" b="1" i="1" smtClean="0">
                                      <a:latin typeface="Cambria Math" panose="02040503050406030204" pitchFamily="18" charset="0"/>
                                    </a:rPr>
                                    <m:t> </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a:latin typeface="Cambria Math" panose="02040503050406030204" pitchFamily="18" charset="0"/>
                                    </a:rPr>
                                    <m:t>𝒌</m:t>
                                  </m:r>
                                </m:sub>
                              </m:sSub>
                              <m:r>
                                <a:rPr lang="en-US" altLang="zh-CN" sz="1600" b="1" i="1">
                                  <a:latin typeface="Cambria Math" panose="02040503050406030204" pitchFamily="18" charset="0"/>
                                </a:rPr>
                                <m:t>)</m:t>
                              </m:r>
                            </m:oMath>
                          </a14:m>
                          <a:r>
                            <a:rPr lang="en-US" altLang="zh-CN" sz="1600" b="1" dirty="0"/>
                            <a:t>=</a:t>
                          </a:r>
                          <a14:m>
                            <m:oMath xmlns:m="http://schemas.openxmlformats.org/officeDocument/2006/math">
                              <m:limLow>
                                <m:limLowPr>
                                  <m:ctrlPr>
                                    <a:rPr lang="en-US" altLang="zh-CN" sz="1600" b="1" i="1">
                                      <a:latin typeface="Cambria Math" panose="02040503050406030204" pitchFamily="18" charset="0"/>
                                    </a:rPr>
                                  </m:ctrlPr>
                                </m:limLowPr>
                                <m:e>
                                  <m:r>
                                    <a:rPr lang="en-US" altLang="zh-CN" sz="1600" b="1" i="1">
                                      <a:latin typeface="Cambria Math" panose="02040503050406030204" pitchFamily="18" charset="0"/>
                                    </a:rPr>
                                    <m:t>𝒐𝒑𝒕</m:t>
                                  </m:r>
                                </m:e>
                                <m:lim>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𝒙</m:t>
                                      </m:r>
                                    </m:e>
                                    <m:sub>
                                      <m:r>
                                        <a:rPr lang="en-US" altLang="zh-CN" sz="1600" b="1" i="1">
                                          <a:latin typeface="Cambria Math" panose="02040503050406030204" pitchFamily="18" charset="0"/>
                                        </a:rPr>
                                        <m:t>𝒌</m:t>
                                      </m:r>
                                    </m:sub>
                                  </m:sSub>
                                  <m:r>
                                    <a:rPr lang="en-US" altLang="zh-CN" sz="1600" b="1" i="1">
                                      <a:latin typeface="Cambria Math" panose="02040503050406030204" pitchFamily="18" charset="0"/>
                                      <a:ea typeface="Cambria Math" panose="02040503050406030204" pitchFamily="18" charset="0"/>
                                    </a:rPr>
                                    <m:t>∈</m:t>
                                  </m:r>
                                  <m:sSub>
                                    <m:sSubPr>
                                      <m:ctrlPr>
                                        <a:rPr lang="en-US" altLang="zh-CN" sz="1600" b="1" i="1">
                                          <a:latin typeface="Cambria Math" panose="02040503050406030204" pitchFamily="18" charset="0"/>
                                          <a:ea typeface="Cambria Math" panose="02040503050406030204" pitchFamily="18" charset="0"/>
                                        </a:rPr>
                                      </m:ctrlPr>
                                    </m:sSubPr>
                                    <m:e>
                                      <m:r>
                                        <a:rPr lang="en-US" altLang="zh-CN" sz="1600" b="1" i="1">
                                          <a:latin typeface="Cambria Math" panose="02040503050406030204" pitchFamily="18" charset="0"/>
                                          <a:ea typeface="Cambria Math" panose="02040503050406030204" pitchFamily="18" charset="0"/>
                                        </a:rPr>
                                        <m:t>𝑫</m:t>
                                      </m:r>
                                    </m:e>
                                    <m:sub>
                                      <m:r>
                                        <a:rPr lang="en-US" altLang="zh-CN" sz="1600" b="1" i="1">
                                          <a:latin typeface="Cambria Math" panose="02040503050406030204" pitchFamily="18" charset="0"/>
                                          <a:ea typeface="Cambria Math" panose="02040503050406030204" pitchFamily="18" charset="0"/>
                                        </a:rPr>
                                        <m:t>𝒌</m:t>
                                      </m:r>
                                    </m:sub>
                                  </m:sSub>
                                  <m:r>
                                    <a:rPr lang="en-US" altLang="zh-CN" sz="1600" b="1" i="1">
                                      <a:latin typeface="Cambria Math" panose="02040503050406030204" pitchFamily="18" charset="0"/>
                                      <a:ea typeface="Cambria Math" panose="02040503050406030204" pitchFamily="18" charset="0"/>
                                    </a:rPr>
                                    <m:t>(</m:t>
                                  </m:r>
                                  <m:sSub>
                                    <m:sSubPr>
                                      <m:ctrlPr>
                                        <a:rPr lang="en-US" altLang="zh-CN" sz="1600" b="1" i="1">
                                          <a:latin typeface="Cambria Math" panose="02040503050406030204" pitchFamily="18" charset="0"/>
                                          <a:ea typeface="Cambria Math" panose="02040503050406030204" pitchFamily="18" charset="0"/>
                                        </a:rPr>
                                      </m:ctrlPr>
                                    </m:sSubPr>
                                    <m:e>
                                      <m:r>
                                        <a:rPr lang="en-US" altLang="zh-CN" sz="1600" b="1" i="1">
                                          <a:latin typeface="Cambria Math" panose="02040503050406030204" pitchFamily="18" charset="0"/>
                                          <a:ea typeface="Cambria Math" panose="02040503050406030204" pitchFamily="18" charset="0"/>
                                        </a:rPr>
                                        <m:t>𝒔</m:t>
                                      </m:r>
                                    </m:e>
                                    <m:sub>
                                      <m:r>
                                        <a:rPr lang="en-US" altLang="zh-CN" sz="1600" b="1" i="1">
                                          <a:latin typeface="Cambria Math" panose="02040503050406030204" pitchFamily="18" charset="0"/>
                                          <a:ea typeface="Cambria Math" panose="02040503050406030204" pitchFamily="18" charset="0"/>
                                        </a:rPr>
                                        <m:t>𝒌</m:t>
                                      </m:r>
                                    </m:sub>
                                  </m:sSub>
                                  <m:r>
                                    <a:rPr lang="en-US" altLang="zh-CN" sz="1600" b="1" i="1">
                                      <a:latin typeface="Cambria Math" panose="02040503050406030204" pitchFamily="18" charset="0"/>
                                      <a:ea typeface="Cambria Math" panose="02040503050406030204" pitchFamily="18" charset="0"/>
                                    </a:rPr>
                                    <m:t>)</m:t>
                                  </m:r>
                                </m:lim>
                              </m:limLow>
                              <m:r>
                                <a:rPr lang="en-US" altLang="zh-CN" sz="1600" b="1" i="0"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𝒗</m:t>
                                  </m:r>
                                </m:e>
                                <m:sub>
                                  <m:r>
                                    <a:rPr lang="en-US" altLang="zh-CN" sz="1600" b="1" i="1" smtClean="0">
                                      <a:latin typeface="Cambria Math" panose="02040503050406030204" pitchFamily="18" charset="0"/>
                                    </a:rPr>
                                    <m:t>𝒌</m:t>
                                  </m:r>
                                </m:sub>
                              </m:sSub>
                              <m:d>
                                <m:dPr>
                                  <m:ctrlPr>
                                    <a:rPr lang="en-US" altLang="zh-CN" sz="1600" b="1" i="1" smtClean="0">
                                      <a:latin typeface="Cambria Math" panose="02040503050406030204" pitchFamily="18" charset="0"/>
                                    </a:rPr>
                                  </m:ctrlPr>
                                </m:dPr>
                                <m:e>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𝒔</m:t>
                                      </m:r>
                                    </m:e>
                                    <m:sub>
                                      <m:r>
                                        <a:rPr lang="en-US" altLang="zh-CN" sz="1600" b="1" i="1" smtClean="0">
                                          <a:latin typeface="Cambria Math" panose="02040503050406030204" pitchFamily="18" charset="0"/>
                                        </a:rPr>
                                        <m:t>𝒌</m:t>
                                      </m:r>
                                    </m:sub>
                                  </m:sSub>
                                  <m:r>
                                    <a:rPr lang="en-US" altLang="zh-CN" sz="1600" b="1" i="1"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𝒙</m:t>
                                      </m:r>
                                    </m:e>
                                    <m:sub>
                                      <m:r>
                                        <a:rPr lang="en-US" altLang="zh-CN" sz="1600" b="1" i="1" smtClean="0">
                                          <a:latin typeface="Cambria Math" panose="02040503050406030204" pitchFamily="18" charset="0"/>
                                        </a:rPr>
                                        <m:t>𝒌</m:t>
                                      </m:r>
                                    </m:sub>
                                  </m:sSub>
                                </m:e>
                              </m:d>
                              <m:r>
                                <a:rPr lang="en-US" altLang="zh-CN" sz="1600" b="1" i="1" smtClean="0">
                                  <a:latin typeface="Cambria Math" panose="02040503050406030204" pitchFamily="18" charset="0"/>
                                  <a:ea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𝒇</m:t>
                                  </m:r>
                                </m:e>
                                <m:sub>
                                  <m:r>
                                    <a:rPr lang="en-US" altLang="zh-CN" sz="1600" b="1" i="1">
                                      <a:latin typeface="Cambria Math" panose="02040503050406030204" pitchFamily="18" charset="0"/>
                                    </a:rPr>
                                    <m:t>𝒌</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r>
                                    <a:rPr lang="en-US" altLang="zh-CN" sz="1600" b="1" i="1" smtClean="0">
                                      <a:latin typeface="Cambria Math" panose="02040503050406030204" pitchFamily="18" charset="0"/>
                                    </a:rPr>
                                    <m:t> </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a:latin typeface="Cambria Math" panose="02040503050406030204" pitchFamily="18" charset="0"/>
                                    </a:rPr>
                                    <m:t>𝒌</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sub>
                              </m:sSub>
                              <m:r>
                                <a:rPr lang="en-US" altLang="zh-CN" sz="1600" b="1" i="1">
                                  <a:latin typeface="Cambria Math" panose="02040503050406030204" pitchFamily="18" charset="0"/>
                                </a:rPr>
                                <m:t>)</m:t>
                              </m:r>
                              <m:r>
                                <a:rPr lang="en-US" altLang="zh-CN" sz="1600" b="1" i="0" smtClean="0">
                                  <a:latin typeface="Cambria Math" panose="02040503050406030204" pitchFamily="18" charset="0"/>
                                </a:rPr>
                                <m:t>}</m:t>
                              </m:r>
                            </m:oMath>
                          </a14:m>
                          <a:r>
                            <a:rPr lang="en-US" altLang="zh-CN" sz="1600" b="1" dirty="0" smtClean="0"/>
                            <a: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1600" b="1" i="1" dirty="0" smtClean="0">
                              <a:latin typeface="Times New Roman" panose="02020603050405020304" pitchFamily="18" charset="0"/>
                              <a:cs typeface="Times New Roman" panose="02020603050405020304" pitchFamily="18" charset="0"/>
                            </a:rPr>
                            <a:t>k</a:t>
                          </a:r>
                          <a:r>
                            <a:rPr lang="en-US" altLang="zh-CN" sz="1600" b="1" dirty="0" smtClean="0">
                              <a:latin typeface="Times New Roman" panose="02020603050405020304" pitchFamily="18" charset="0"/>
                              <a:cs typeface="Times New Roman" panose="02020603050405020304" pitchFamily="18" charset="0"/>
                            </a:rPr>
                            <a:t>=1,2,</a:t>
                          </a:r>
                          <a:r>
                            <a:rPr lang="en-US" altLang="zh-CN" sz="1600" b="1" dirty="0" smtClean="0"/>
                            <a:t> </a:t>
                          </a:r>
                          <a14:m>
                            <m:oMath xmlns:m="http://schemas.openxmlformats.org/officeDocument/2006/math">
                              <m:r>
                                <a:rPr lang="en-US" altLang="zh-CN" sz="1600" b="1" i="1">
                                  <a:latin typeface="Cambria Math" panose="02040503050406030204" pitchFamily="18" charset="0"/>
                                </a:rPr>
                                <m:t>…</m:t>
                              </m:r>
                            </m:oMath>
                          </a14:m>
                          <a:r>
                            <a:rPr lang="en-US" altLang="zh-CN" sz="1600" b="1" dirty="0" smtClean="0">
                              <a:latin typeface="Times New Roman" panose="02020603050405020304" pitchFamily="18" charset="0"/>
                              <a:cs typeface="Times New Roman" panose="02020603050405020304" pitchFamily="18" charset="0"/>
                            </a:rPr>
                            <a:t>,</a:t>
                          </a:r>
                          <a:r>
                            <a:rPr lang="en-US" altLang="zh-CN" sz="1600" b="1" i="1" dirty="0" smtClean="0">
                              <a:latin typeface="Times New Roman" panose="02020603050405020304" pitchFamily="18" charset="0"/>
                              <a:cs typeface="Times New Roman" panose="02020603050405020304" pitchFamily="18" charset="0"/>
                            </a:rPr>
                            <a:t>n</a:t>
                          </a:r>
                          <a:endParaRPr lang="zh-CN" altLang="en-US" dirty="0"/>
                        </a:p>
                      </a:txBody>
                      <a:tcPr/>
                    </a:tc>
                    <a:extLst>
                      <a:ext uri="{0D108BD9-81ED-4DB2-BD59-A6C34878D82A}">
                        <a16:rowId xmlns:a16="http://schemas.microsoft.com/office/drawing/2014/main" val="3464378673"/>
                      </a:ext>
                    </a:extLst>
                  </a:tr>
                  <a:tr h="904186">
                    <a:tc>
                      <a:txBody>
                        <a:bodyPr/>
                        <a:lstStyle/>
                        <a:p>
                          <a:r>
                            <a:rPr lang="zh-CN" altLang="en-US" dirty="0" smtClean="0"/>
                            <a:t>动态规划模型：</a:t>
                          </a:r>
                          <a:endParaRPr lang="zh-CN" altLang="en-US" dirty="0"/>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𝒇</m:t>
                                  </m:r>
                                </m:e>
                                <m:sub>
                                  <m:r>
                                    <a:rPr lang="en-US" altLang="zh-CN" sz="1600" b="1" i="1">
                                      <a:latin typeface="Cambria Math" panose="02040503050406030204" pitchFamily="18" charset="0"/>
                                    </a:rPr>
                                    <m:t>𝒌</m:t>
                                  </m:r>
                                  <m:r>
                                    <a:rPr lang="en-US" altLang="zh-CN" sz="1600" b="1" i="1" smtClean="0">
                                      <a:latin typeface="Cambria Math" panose="02040503050406030204" pitchFamily="18" charset="0"/>
                                    </a:rPr>
                                    <m:t> </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a:latin typeface="Cambria Math" panose="02040503050406030204" pitchFamily="18" charset="0"/>
                                    </a:rPr>
                                    <m:t>𝒌</m:t>
                                  </m:r>
                                </m:sub>
                              </m:sSub>
                              <m:r>
                                <a:rPr lang="en-US" altLang="zh-CN" sz="1600" b="1" i="1">
                                  <a:latin typeface="Cambria Math" panose="02040503050406030204" pitchFamily="18" charset="0"/>
                                </a:rPr>
                                <m:t>)</m:t>
                              </m:r>
                            </m:oMath>
                          </a14:m>
                          <a:r>
                            <a:rPr lang="en-US" altLang="zh-CN" sz="1600" b="1" dirty="0"/>
                            <a:t>=</a:t>
                          </a:r>
                          <a14:m>
                            <m:oMath xmlns:m="http://schemas.openxmlformats.org/officeDocument/2006/math">
                              <m:limLow>
                                <m:limLowPr>
                                  <m:ctrlPr>
                                    <a:rPr lang="en-US" altLang="zh-CN" sz="1600" b="1" i="1">
                                      <a:latin typeface="Cambria Math" panose="02040503050406030204" pitchFamily="18" charset="0"/>
                                    </a:rPr>
                                  </m:ctrlPr>
                                </m:limLowPr>
                                <m:e>
                                  <m:r>
                                    <a:rPr lang="en-US" altLang="zh-CN" sz="1600" b="1" i="1">
                                      <a:latin typeface="Cambria Math" panose="02040503050406030204" pitchFamily="18" charset="0"/>
                                    </a:rPr>
                                    <m:t>𝒐𝒑𝒕</m:t>
                                  </m:r>
                                </m:e>
                                <m:lim>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𝒙</m:t>
                                      </m:r>
                                    </m:e>
                                    <m:sub>
                                      <m:r>
                                        <a:rPr lang="en-US" altLang="zh-CN" sz="1600" b="1" i="1">
                                          <a:latin typeface="Cambria Math" panose="02040503050406030204" pitchFamily="18" charset="0"/>
                                        </a:rPr>
                                        <m:t>𝒌</m:t>
                                      </m:r>
                                    </m:sub>
                                  </m:sSub>
                                  <m:r>
                                    <a:rPr lang="en-US" altLang="zh-CN" sz="1600" b="1" i="1">
                                      <a:latin typeface="Cambria Math" panose="02040503050406030204" pitchFamily="18" charset="0"/>
                                      <a:ea typeface="Cambria Math" panose="02040503050406030204" pitchFamily="18" charset="0"/>
                                    </a:rPr>
                                    <m:t>∈</m:t>
                                  </m:r>
                                  <m:sSub>
                                    <m:sSubPr>
                                      <m:ctrlPr>
                                        <a:rPr lang="en-US" altLang="zh-CN" sz="1600" b="1" i="1">
                                          <a:latin typeface="Cambria Math" panose="02040503050406030204" pitchFamily="18" charset="0"/>
                                          <a:ea typeface="Cambria Math" panose="02040503050406030204" pitchFamily="18" charset="0"/>
                                        </a:rPr>
                                      </m:ctrlPr>
                                    </m:sSubPr>
                                    <m:e>
                                      <m:r>
                                        <a:rPr lang="en-US" altLang="zh-CN" sz="1600" b="1" i="1">
                                          <a:latin typeface="Cambria Math" panose="02040503050406030204" pitchFamily="18" charset="0"/>
                                          <a:ea typeface="Cambria Math" panose="02040503050406030204" pitchFamily="18" charset="0"/>
                                        </a:rPr>
                                        <m:t>𝑫</m:t>
                                      </m:r>
                                    </m:e>
                                    <m:sub>
                                      <m:r>
                                        <a:rPr lang="en-US" altLang="zh-CN" sz="1600" b="1" i="1">
                                          <a:latin typeface="Cambria Math" panose="02040503050406030204" pitchFamily="18" charset="0"/>
                                          <a:ea typeface="Cambria Math" panose="02040503050406030204" pitchFamily="18" charset="0"/>
                                        </a:rPr>
                                        <m:t>𝒌</m:t>
                                      </m:r>
                                    </m:sub>
                                  </m:sSub>
                                  <m:r>
                                    <a:rPr lang="en-US" altLang="zh-CN" sz="1600" b="1" i="1">
                                      <a:latin typeface="Cambria Math" panose="02040503050406030204" pitchFamily="18" charset="0"/>
                                      <a:ea typeface="Cambria Math" panose="02040503050406030204" pitchFamily="18" charset="0"/>
                                    </a:rPr>
                                    <m:t>(</m:t>
                                  </m:r>
                                  <m:sSub>
                                    <m:sSubPr>
                                      <m:ctrlPr>
                                        <a:rPr lang="en-US" altLang="zh-CN" sz="1600" b="1" i="1">
                                          <a:latin typeface="Cambria Math" panose="02040503050406030204" pitchFamily="18" charset="0"/>
                                          <a:ea typeface="Cambria Math" panose="02040503050406030204" pitchFamily="18" charset="0"/>
                                        </a:rPr>
                                      </m:ctrlPr>
                                    </m:sSubPr>
                                    <m:e>
                                      <m:r>
                                        <a:rPr lang="en-US" altLang="zh-CN" sz="1600" b="1" i="1">
                                          <a:latin typeface="Cambria Math" panose="02040503050406030204" pitchFamily="18" charset="0"/>
                                          <a:ea typeface="Cambria Math" panose="02040503050406030204" pitchFamily="18" charset="0"/>
                                        </a:rPr>
                                        <m:t>𝒔</m:t>
                                      </m:r>
                                    </m:e>
                                    <m:sub>
                                      <m:r>
                                        <a:rPr lang="en-US" altLang="zh-CN" sz="1600" b="1" i="1">
                                          <a:latin typeface="Cambria Math" panose="02040503050406030204" pitchFamily="18" charset="0"/>
                                          <a:ea typeface="Cambria Math" panose="02040503050406030204" pitchFamily="18" charset="0"/>
                                        </a:rPr>
                                        <m:t>𝒌</m:t>
                                      </m:r>
                                    </m:sub>
                                  </m:sSub>
                                  <m:r>
                                    <a:rPr lang="en-US" altLang="zh-CN" sz="1600" b="1" i="1">
                                      <a:latin typeface="Cambria Math" panose="02040503050406030204" pitchFamily="18" charset="0"/>
                                      <a:ea typeface="Cambria Math" panose="02040503050406030204" pitchFamily="18" charset="0"/>
                                    </a:rPr>
                                    <m:t>)</m:t>
                                  </m:r>
                                </m:lim>
                              </m:limLow>
                              <m:r>
                                <a:rPr lang="en-US" altLang="zh-CN" sz="1600" b="1" i="0"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𝒗</m:t>
                                  </m:r>
                                </m:e>
                                <m:sub>
                                  <m:r>
                                    <a:rPr lang="en-US" altLang="zh-CN" sz="1600" b="1" i="1" smtClean="0">
                                      <a:latin typeface="Cambria Math" panose="02040503050406030204" pitchFamily="18" charset="0"/>
                                    </a:rPr>
                                    <m:t>𝒌</m:t>
                                  </m:r>
                                </m:sub>
                              </m:sSub>
                              <m:d>
                                <m:dPr>
                                  <m:ctrlPr>
                                    <a:rPr lang="en-US" altLang="zh-CN" sz="1600" b="1" i="1" smtClean="0">
                                      <a:latin typeface="Cambria Math" panose="02040503050406030204" pitchFamily="18" charset="0"/>
                                    </a:rPr>
                                  </m:ctrlPr>
                                </m:dPr>
                                <m:e>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𝒔</m:t>
                                      </m:r>
                                    </m:e>
                                    <m:sub>
                                      <m:r>
                                        <a:rPr lang="en-US" altLang="zh-CN" sz="1600" b="1" i="1" smtClean="0">
                                          <a:latin typeface="Cambria Math" panose="02040503050406030204" pitchFamily="18" charset="0"/>
                                        </a:rPr>
                                        <m:t>𝒌</m:t>
                                      </m:r>
                                    </m:sub>
                                  </m:sSub>
                                  <m:r>
                                    <a:rPr lang="en-US" altLang="zh-CN" sz="1600" b="1" i="1"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𝒙</m:t>
                                      </m:r>
                                    </m:e>
                                    <m:sub>
                                      <m:r>
                                        <a:rPr lang="en-US" altLang="zh-CN" sz="1600" b="1" i="1" smtClean="0">
                                          <a:latin typeface="Cambria Math" panose="02040503050406030204" pitchFamily="18" charset="0"/>
                                        </a:rPr>
                                        <m:t>𝒌</m:t>
                                      </m:r>
                                    </m:sub>
                                  </m:sSub>
                                </m:e>
                              </m:d>
                              <m:r>
                                <a:rPr lang="en-US" altLang="zh-CN" sz="1600" b="1" i="1"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𝒇</m:t>
                                  </m:r>
                                </m:e>
                                <m:sub>
                                  <m:r>
                                    <a:rPr lang="en-US" altLang="zh-CN" sz="1600" b="1" i="1">
                                      <a:latin typeface="Cambria Math" panose="02040503050406030204" pitchFamily="18" charset="0"/>
                                    </a:rPr>
                                    <m:t>𝒌</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r>
                                    <a:rPr lang="en-US" altLang="zh-CN" sz="1600" b="1" i="1" smtClean="0">
                                      <a:latin typeface="Cambria Math" panose="02040503050406030204" pitchFamily="18" charset="0"/>
                                    </a:rPr>
                                    <m:t> </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a:latin typeface="Cambria Math" panose="02040503050406030204" pitchFamily="18" charset="0"/>
                                    </a:rPr>
                                    <m:t>𝒌</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sub>
                              </m:sSub>
                              <m:r>
                                <a:rPr lang="en-US" altLang="zh-CN" sz="1600" b="1" i="1">
                                  <a:latin typeface="Cambria Math" panose="02040503050406030204" pitchFamily="18" charset="0"/>
                                </a:rPr>
                                <m:t>)</m:t>
                              </m:r>
                              <m:r>
                                <a:rPr lang="en-US" altLang="zh-CN" sz="1600" b="1" i="0" smtClean="0">
                                  <a:latin typeface="Cambria Math" panose="02040503050406030204" pitchFamily="18" charset="0"/>
                                </a:rPr>
                                <m:t>}</m:t>
                              </m:r>
                            </m:oMath>
                          </a14:m>
                          <a:r>
                            <a:rPr lang="en-US" altLang="zh-CN" sz="1600" b="1" dirty="0" smtClean="0"/>
                            <a: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1600" b="1" i="1" dirty="0" smtClean="0">
                              <a:latin typeface="Times New Roman" panose="02020603050405020304" pitchFamily="18" charset="0"/>
                              <a:cs typeface="Times New Roman" panose="02020603050405020304" pitchFamily="18" charset="0"/>
                            </a:rPr>
                            <a:t>k</a:t>
                          </a:r>
                          <a:r>
                            <a:rPr lang="en-US" altLang="zh-CN" sz="1600" b="1" dirty="0" smtClean="0">
                              <a:latin typeface="Times New Roman" panose="02020603050405020304" pitchFamily="18" charset="0"/>
                              <a:cs typeface="Times New Roman" panose="02020603050405020304" pitchFamily="18" charset="0"/>
                            </a:rPr>
                            <a:t>=1,2,</a:t>
                          </a:r>
                          <a:r>
                            <a:rPr lang="en-US" altLang="zh-CN" sz="1600" b="1" dirty="0" smtClean="0"/>
                            <a:t> </a:t>
                          </a:r>
                          <a14:m>
                            <m:oMath xmlns:m="http://schemas.openxmlformats.org/officeDocument/2006/math">
                              <m:r>
                                <a:rPr lang="en-US" altLang="zh-CN" sz="1600" b="1" i="1">
                                  <a:latin typeface="Cambria Math" panose="02040503050406030204" pitchFamily="18" charset="0"/>
                                </a:rPr>
                                <m:t>…</m:t>
                              </m:r>
                            </m:oMath>
                          </a14:m>
                          <a:r>
                            <a:rPr lang="en-US" altLang="zh-CN" sz="1600" b="1" dirty="0" smtClean="0">
                              <a:latin typeface="Times New Roman" panose="02020603050405020304" pitchFamily="18" charset="0"/>
                              <a:cs typeface="Times New Roman" panose="02020603050405020304" pitchFamily="18" charset="0"/>
                            </a:rPr>
                            <a:t>,</a:t>
                          </a:r>
                          <a:r>
                            <a:rPr lang="en-US" altLang="zh-CN" sz="1600" b="1" i="1" dirty="0" smtClean="0">
                              <a:latin typeface="Times New Roman" panose="02020603050405020304" pitchFamily="18" charset="0"/>
                              <a:cs typeface="Times New Roman" panose="02020603050405020304" pitchFamily="18" charset="0"/>
                            </a:rPr>
                            <a:t>n</a:t>
                          </a:r>
                        </a:p>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𝒇</m:t>
                                  </m:r>
                                </m:e>
                                <m:sub>
                                  <m:r>
                                    <a:rPr lang="en-US" altLang="zh-CN" sz="1600" b="1" i="1" smtClean="0">
                                      <a:latin typeface="Cambria Math" panose="02040503050406030204" pitchFamily="18" charset="0"/>
                                    </a:rPr>
                                    <m:t>𝒏</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r>
                                    <a:rPr lang="en-US" altLang="zh-CN" sz="1600" b="1" i="1" smtClean="0">
                                      <a:latin typeface="Cambria Math" panose="02040503050406030204" pitchFamily="18" charset="0"/>
                                    </a:rPr>
                                    <m:t> </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smtClean="0">
                                      <a:latin typeface="Cambria Math" panose="02040503050406030204" pitchFamily="18" charset="0"/>
                                    </a:rPr>
                                    <m:t>𝒏</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sub>
                              </m:sSub>
                              <m:r>
                                <a:rPr lang="en-US" altLang="zh-CN" sz="1600" b="1" i="1">
                                  <a:latin typeface="Cambria Math" panose="02040503050406030204" pitchFamily="18" charset="0"/>
                                </a:rPr>
                                <m:t>)</m:t>
                              </m:r>
                            </m:oMath>
                          </a14:m>
                          <a:r>
                            <a:rPr lang="en-US" altLang="zh-CN" sz="1600" b="1" dirty="0"/>
                            <a:t>=</a:t>
                          </a:r>
                          <a:r>
                            <a:rPr lang="en-US" altLang="zh-CN" sz="1600" b="1" dirty="0" smtClean="0"/>
                            <a:t>0</a:t>
                          </a:r>
                        </a:p>
                        <a:p>
                          <a:pPr marL="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𝒔</m:t>
                                    </m:r>
                                  </m:e>
                                  <m:sub>
                                    <m:r>
                                      <a:rPr lang="en-US" altLang="zh-CN" sz="1600" b="1" i="1">
                                        <a:latin typeface="Cambria Math" panose="02040503050406030204" pitchFamily="18" charset="0"/>
                                      </a:rPr>
                                      <m:t>𝒌</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r>
                                      <a:rPr lang="en-US" altLang="zh-CN" sz="1600" b="1" i="1" smtClean="0">
                                        <a:latin typeface="Cambria Math" panose="02040503050406030204" pitchFamily="18" charset="0"/>
                                      </a:rPr>
                                      <m:t> </m:t>
                                    </m:r>
                                  </m:sub>
                                </m:sSub>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𝑻</m:t>
                                </m:r>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a:latin typeface="Cambria Math" panose="02040503050406030204" pitchFamily="18" charset="0"/>
                                      </a:rPr>
                                      <m:t>𝒌</m:t>
                                    </m:r>
                                  </m:sub>
                                </m:sSub>
                                <m:r>
                                  <a:rPr lang="en-US" altLang="zh-CN" sz="1600" b="1" i="1"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𝒙</m:t>
                                    </m:r>
                                  </m:e>
                                  <m:sub>
                                    <m:r>
                                      <a:rPr lang="en-US" altLang="zh-CN" sz="1600" b="1" i="1">
                                        <a:latin typeface="Cambria Math" panose="02040503050406030204" pitchFamily="18" charset="0"/>
                                      </a:rPr>
                                      <m:t>𝒌</m:t>
                                    </m:r>
                                  </m:sub>
                                </m:sSub>
                                <m:r>
                                  <a:rPr lang="en-US" altLang="zh-CN" sz="1600" b="1" i="1">
                                    <a:latin typeface="Cambria Math" panose="02040503050406030204" pitchFamily="18" charset="0"/>
                                  </a:rPr>
                                  <m:t>)</m:t>
                                </m:r>
                              </m:oMath>
                            </m:oMathPara>
                          </a14:m>
                          <a:endParaRPr lang="zh-CN" altLang="en-US" sz="1600" b="1" dirty="0"/>
                        </a:p>
                        <a:p>
                          <a:endParaRPr lang="zh-CN" altLang="en-US" dirty="0"/>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𝒇</m:t>
                                  </m:r>
                                </m:e>
                                <m:sub>
                                  <m:r>
                                    <a:rPr lang="en-US" altLang="zh-CN" sz="1600" b="1" i="1">
                                      <a:latin typeface="Cambria Math" panose="02040503050406030204" pitchFamily="18" charset="0"/>
                                    </a:rPr>
                                    <m:t>𝒌</m:t>
                                  </m:r>
                                  <m:r>
                                    <a:rPr lang="en-US" altLang="zh-CN" sz="1600" b="1" i="1" smtClean="0">
                                      <a:latin typeface="Cambria Math" panose="02040503050406030204" pitchFamily="18" charset="0"/>
                                    </a:rPr>
                                    <m:t> </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a:latin typeface="Cambria Math" panose="02040503050406030204" pitchFamily="18" charset="0"/>
                                    </a:rPr>
                                    <m:t>𝒌</m:t>
                                  </m:r>
                                </m:sub>
                              </m:sSub>
                              <m:r>
                                <a:rPr lang="en-US" altLang="zh-CN" sz="1600" b="1" i="1">
                                  <a:latin typeface="Cambria Math" panose="02040503050406030204" pitchFamily="18" charset="0"/>
                                </a:rPr>
                                <m:t>)</m:t>
                              </m:r>
                            </m:oMath>
                          </a14:m>
                          <a:r>
                            <a:rPr lang="en-US" altLang="zh-CN" sz="1600" b="1" dirty="0"/>
                            <a:t>=</a:t>
                          </a:r>
                          <a14:m>
                            <m:oMath xmlns:m="http://schemas.openxmlformats.org/officeDocument/2006/math">
                              <m:limLow>
                                <m:limLowPr>
                                  <m:ctrlPr>
                                    <a:rPr lang="en-US" altLang="zh-CN" sz="1600" b="1" i="1">
                                      <a:latin typeface="Cambria Math" panose="02040503050406030204" pitchFamily="18" charset="0"/>
                                    </a:rPr>
                                  </m:ctrlPr>
                                </m:limLowPr>
                                <m:e>
                                  <m:r>
                                    <a:rPr lang="en-US" altLang="zh-CN" sz="1600" b="1" i="1">
                                      <a:latin typeface="Cambria Math" panose="02040503050406030204" pitchFamily="18" charset="0"/>
                                    </a:rPr>
                                    <m:t>𝒐𝒑𝒕</m:t>
                                  </m:r>
                                </m:e>
                                <m:lim>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𝒙</m:t>
                                      </m:r>
                                    </m:e>
                                    <m:sub>
                                      <m:r>
                                        <a:rPr lang="en-US" altLang="zh-CN" sz="1600" b="1" i="1">
                                          <a:latin typeface="Cambria Math" panose="02040503050406030204" pitchFamily="18" charset="0"/>
                                        </a:rPr>
                                        <m:t>𝒌</m:t>
                                      </m:r>
                                    </m:sub>
                                  </m:sSub>
                                  <m:r>
                                    <a:rPr lang="en-US" altLang="zh-CN" sz="1600" b="1" i="1">
                                      <a:latin typeface="Cambria Math" panose="02040503050406030204" pitchFamily="18" charset="0"/>
                                      <a:ea typeface="Cambria Math" panose="02040503050406030204" pitchFamily="18" charset="0"/>
                                    </a:rPr>
                                    <m:t>∈</m:t>
                                  </m:r>
                                  <m:sSub>
                                    <m:sSubPr>
                                      <m:ctrlPr>
                                        <a:rPr lang="en-US" altLang="zh-CN" sz="1600" b="1" i="1">
                                          <a:latin typeface="Cambria Math" panose="02040503050406030204" pitchFamily="18" charset="0"/>
                                          <a:ea typeface="Cambria Math" panose="02040503050406030204" pitchFamily="18" charset="0"/>
                                        </a:rPr>
                                      </m:ctrlPr>
                                    </m:sSubPr>
                                    <m:e>
                                      <m:r>
                                        <a:rPr lang="en-US" altLang="zh-CN" sz="1600" b="1" i="1">
                                          <a:latin typeface="Cambria Math" panose="02040503050406030204" pitchFamily="18" charset="0"/>
                                          <a:ea typeface="Cambria Math" panose="02040503050406030204" pitchFamily="18" charset="0"/>
                                        </a:rPr>
                                        <m:t>𝑫</m:t>
                                      </m:r>
                                    </m:e>
                                    <m:sub>
                                      <m:r>
                                        <a:rPr lang="en-US" altLang="zh-CN" sz="1600" b="1" i="1">
                                          <a:latin typeface="Cambria Math" panose="02040503050406030204" pitchFamily="18" charset="0"/>
                                          <a:ea typeface="Cambria Math" panose="02040503050406030204" pitchFamily="18" charset="0"/>
                                        </a:rPr>
                                        <m:t>𝒌</m:t>
                                      </m:r>
                                    </m:sub>
                                  </m:sSub>
                                  <m:r>
                                    <a:rPr lang="en-US" altLang="zh-CN" sz="1600" b="1" i="1">
                                      <a:latin typeface="Cambria Math" panose="02040503050406030204" pitchFamily="18" charset="0"/>
                                      <a:ea typeface="Cambria Math" panose="02040503050406030204" pitchFamily="18" charset="0"/>
                                    </a:rPr>
                                    <m:t>(</m:t>
                                  </m:r>
                                  <m:sSub>
                                    <m:sSubPr>
                                      <m:ctrlPr>
                                        <a:rPr lang="en-US" altLang="zh-CN" sz="1600" b="1" i="1">
                                          <a:latin typeface="Cambria Math" panose="02040503050406030204" pitchFamily="18" charset="0"/>
                                          <a:ea typeface="Cambria Math" panose="02040503050406030204" pitchFamily="18" charset="0"/>
                                        </a:rPr>
                                      </m:ctrlPr>
                                    </m:sSubPr>
                                    <m:e>
                                      <m:r>
                                        <a:rPr lang="en-US" altLang="zh-CN" sz="1600" b="1" i="1">
                                          <a:latin typeface="Cambria Math" panose="02040503050406030204" pitchFamily="18" charset="0"/>
                                          <a:ea typeface="Cambria Math" panose="02040503050406030204" pitchFamily="18" charset="0"/>
                                        </a:rPr>
                                        <m:t>𝒔</m:t>
                                      </m:r>
                                    </m:e>
                                    <m:sub>
                                      <m:r>
                                        <a:rPr lang="en-US" altLang="zh-CN" sz="1600" b="1" i="1">
                                          <a:latin typeface="Cambria Math" panose="02040503050406030204" pitchFamily="18" charset="0"/>
                                          <a:ea typeface="Cambria Math" panose="02040503050406030204" pitchFamily="18" charset="0"/>
                                        </a:rPr>
                                        <m:t>𝒌</m:t>
                                      </m:r>
                                    </m:sub>
                                  </m:sSub>
                                  <m:r>
                                    <a:rPr lang="en-US" altLang="zh-CN" sz="1600" b="1" i="1">
                                      <a:latin typeface="Cambria Math" panose="02040503050406030204" pitchFamily="18" charset="0"/>
                                      <a:ea typeface="Cambria Math" panose="02040503050406030204" pitchFamily="18" charset="0"/>
                                    </a:rPr>
                                    <m:t>)</m:t>
                                  </m:r>
                                </m:lim>
                              </m:limLow>
                              <m:r>
                                <a:rPr lang="en-US" altLang="zh-CN" sz="1600" b="1" i="0"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𝒗</m:t>
                                  </m:r>
                                </m:e>
                                <m:sub>
                                  <m:r>
                                    <a:rPr lang="en-US" altLang="zh-CN" sz="1600" b="1" i="1" smtClean="0">
                                      <a:latin typeface="Cambria Math" panose="02040503050406030204" pitchFamily="18" charset="0"/>
                                    </a:rPr>
                                    <m:t>𝒌</m:t>
                                  </m:r>
                                </m:sub>
                              </m:sSub>
                              <m:d>
                                <m:dPr>
                                  <m:ctrlPr>
                                    <a:rPr lang="en-US" altLang="zh-CN" sz="1600" b="1" i="1" smtClean="0">
                                      <a:latin typeface="Cambria Math" panose="02040503050406030204" pitchFamily="18" charset="0"/>
                                    </a:rPr>
                                  </m:ctrlPr>
                                </m:dPr>
                                <m:e>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𝒔</m:t>
                                      </m:r>
                                    </m:e>
                                    <m:sub>
                                      <m:r>
                                        <a:rPr lang="en-US" altLang="zh-CN" sz="1600" b="1" i="1" smtClean="0">
                                          <a:latin typeface="Cambria Math" panose="02040503050406030204" pitchFamily="18" charset="0"/>
                                        </a:rPr>
                                        <m:t>𝒌</m:t>
                                      </m:r>
                                    </m:sub>
                                  </m:sSub>
                                  <m:r>
                                    <a:rPr lang="en-US" altLang="zh-CN" sz="1600" b="1" i="1"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𝒙</m:t>
                                      </m:r>
                                    </m:e>
                                    <m:sub>
                                      <m:r>
                                        <a:rPr lang="en-US" altLang="zh-CN" sz="1600" b="1" i="1" smtClean="0">
                                          <a:latin typeface="Cambria Math" panose="02040503050406030204" pitchFamily="18" charset="0"/>
                                        </a:rPr>
                                        <m:t>𝒌</m:t>
                                      </m:r>
                                    </m:sub>
                                  </m:sSub>
                                </m:e>
                              </m:d>
                              <m:r>
                                <a:rPr lang="en-US" altLang="zh-CN" sz="1600" b="1" i="1" smtClean="0">
                                  <a:latin typeface="Cambria Math" panose="02040503050406030204" pitchFamily="18" charset="0"/>
                                  <a:ea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𝒇</m:t>
                                  </m:r>
                                </m:e>
                                <m:sub>
                                  <m:r>
                                    <a:rPr lang="en-US" altLang="zh-CN" sz="1600" b="1" i="1">
                                      <a:latin typeface="Cambria Math" panose="02040503050406030204" pitchFamily="18" charset="0"/>
                                    </a:rPr>
                                    <m:t>𝒌</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r>
                                    <a:rPr lang="en-US" altLang="zh-CN" sz="1600" b="1" i="1" smtClean="0">
                                      <a:latin typeface="Cambria Math" panose="02040503050406030204" pitchFamily="18" charset="0"/>
                                    </a:rPr>
                                    <m:t> </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a:latin typeface="Cambria Math" panose="02040503050406030204" pitchFamily="18" charset="0"/>
                                    </a:rPr>
                                    <m:t>𝒌</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sub>
                              </m:sSub>
                              <m:r>
                                <a:rPr lang="en-US" altLang="zh-CN" sz="1600" b="1" i="1">
                                  <a:latin typeface="Cambria Math" panose="02040503050406030204" pitchFamily="18" charset="0"/>
                                </a:rPr>
                                <m:t>)</m:t>
                              </m:r>
                              <m:r>
                                <a:rPr lang="en-US" altLang="zh-CN" sz="1600" b="1" i="0" smtClean="0">
                                  <a:latin typeface="Cambria Math" panose="02040503050406030204" pitchFamily="18" charset="0"/>
                                </a:rPr>
                                <m:t>}</m:t>
                              </m:r>
                            </m:oMath>
                          </a14:m>
                          <a:r>
                            <a:rPr lang="en-US" altLang="zh-CN" sz="1600" b="1" dirty="0" smtClean="0"/>
                            <a: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1600" b="1" i="1" dirty="0" smtClean="0">
                              <a:latin typeface="Times New Roman" panose="02020603050405020304" pitchFamily="18" charset="0"/>
                              <a:cs typeface="Times New Roman" panose="02020603050405020304" pitchFamily="18" charset="0"/>
                            </a:rPr>
                            <a:t>k</a:t>
                          </a:r>
                          <a:r>
                            <a:rPr lang="en-US" altLang="zh-CN" sz="1600" b="1" dirty="0" smtClean="0">
                              <a:latin typeface="Times New Roman" panose="02020603050405020304" pitchFamily="18" charset="0"/>
                              <a:cs typeface="Times New Roman" panose="02020603050405020304" pitchFamily="18" charset="0"/>
                            </a:rPr>
                            <a:t>=1,2,</a:t>
                          </a:r>
                          <a:r>
                            <a:rPr lang="en-US" altLang="zh-CN" sz="1600" b="1" dirty="0" smtClean="0"/>
                            <a:t> </a:t>
                          </a:r>
                          <a14:m>
                            <m:oMath xmlns:m="http://schemas.openxmlformats.org/officeDocument/2006/math">
                              <m:r>
                                <a:rPr lang="en-US" altLang="zh-CN" sz="1600" b="1" i="1">
                                  <a:latin typeface="Cambria Math" panose="02040503050406030204" pitchFamily="18" charset="0"/>
                                </a:rPr>
                                <m:t>…</m:t>
                              </m:r>
                            </m:oMath>
                          </a14:m>
                          <a:r>
                            <a:rPr lang="en-US" altLang="zh-CN" sz="1600" b="1" dirty="0" smtClean="0">
                              <a:latin typeface="Times New Roman" panose="02020603050405020304" pitchFamily="18" charset="0"/>
                              <a:cs typeface="Times New Roman" panose="02020603050405020304" pitchFamily="18" charset="0"/>
                            </a:rPr>
                            <a:t>,</a:t>
                          </a:r>
                          <a:r>
                            <a:rPr lang="en-US" altLang="zh-CN" sz="1600" b="1" i="1" dirty="0" smtClean="0">
                              <a:latin typeface="Times New Roman" panose="02020603050405020304" pitchFamily="18" charset="0"/>
                              <a:cs typeface="Times New Roman" panose="02020603050405020304" pitchFamily="18" charset="0"/>
                            </a:rPr>
                            <a:t>n</a:t>
                          </a:r>
                          <a:endParaRPr lang="zh-CN" altLang="en-US" dirty="0"/>
                        </a:p>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𝒇</m:t>
                                  </m:r>
                                </m:e>
                                <m:sub>
                                  <m:r>
                                    <a:rPr lang="en-US" altLang="zh-CN" sz="1600" b="1" i="1" smtClean="0">
                                      <a:latin typeface="Cambria Math" panose="02040503050406030204" pitchFamily="18" charset="0"/>
                                    </a:rPr>
                                    <m:t>𝒏</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r>
                                    <a:rPr lang="en-US" altLang="zh-CN" sz="1600" b="1" i="1" smtClean="0">
                                      <a:latin typeface="Cambria Math" panose="02040503050406030204" pitchFamily="18" charset="0"/>
                                    </a:rPr>
                                    <m:t> </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smtClean="0">
                                      <a:latin typeface="Cambria Math" panose="02040503050406030204" pitchFamily="18" charset="0"/>
                                    </a:rPr>
                                    <m:t>𝒏</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sub>
                              </m:sSub>
                              <m:r>
                                <a:rPr lang="en-US" altLang="zh-CN" sz="1600" b="1" i="1">
                                  <a:latin typeface="Cambria Math" panose="02040503050406030204" pitchFamily="18" charset="0"/>
                                </a:rPr>
                                <m:t>)</m:t>
                              </m:r>
                            </m:oMath>
                          </a14:m>
                          <a:r>
                            <a:rPr lang="en-US" altLang="zh-CN" sz="1600" b="1" dirty="0"/>
                            <a:t>=</a:t>
                          </a:r>
                          <a:r>
                            <a:rPr lang="en-US" altLang="zh-CN" sz="1600" b="1" dirty="0" smtClean="0"/>
                            <a:t>1</a:t>
                          </a:r>
                        </a:p>
                        <a:p>
                          <a:pPr marL="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𝒔</m:t>
                                    </m:r>
                                  </m:e>
                                  <m:sub>
                                    <m:r>
                                      <a:rPr lang="en-US" altLang="zh-CN" sz="1600" b="1" i="1">
                                        <a:latin typeface="Cambria Math" panose="02040503050406030204" pitchFamily="18" charset="0"/>
                                      </a:rPr>
                                      <m:t>𝒌</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r>
                                      <a:rPr lang="en-US" altLang="zh-CN" sz="1600" b="1" i="1" smtClean="0">
                                        <a:latin typeface="Cambria Math" panose="02040503050406030204" pitchFamily="18" charset="0"/>
                                      </a:rPr>
                                      <m:t> </m:t>
                                    </m:r>
                                  </m:sub>
                                </m:sSub>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𝑻</m:t>
                                </m:r>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a:latin typeface="Cambria Math" panose="02040503050406030204" pitchFamily="18" charset="0"/>
                                      </a:rPr>
                                      <m:t>𝒌</m:t>
                                    </m:r>
                                  </m:sub>
                                </m:sSub>
                                <m:r>
                                  <a:rPr lang="en-US" altLang="zh-CN" sz="1600" b="1" i="1"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𝒙</m:t>
                                    </m:r>
                                  </m:e>
                                  <m:sub>
                                    <m:r>
                                      <a:rPr lang="en-US" altLang="zh-CN" sz="1600" b="1" i="1">
                                        <a:latin typeface="Cambria Math" panose="02040503050406030204" pitchFamily="18" charset="0"/>
                                      </a:rPr>
                                      <m:t>𝒌</m:t>
                                    </m:r>
                                  </m:sub>
                                </m:sSub>
                                <m:r>
                                  <a:rPr lang="en-US" altLang="zh-CN" sz="1600" b="1" i="1">
                                    <a:latin typeface="Cambria Math" panose="02040503050406030204" pitchFamily="18" charset="0"/>
                                  </a:rPr>
                                  <m:t>)</m:t>
                                </m:r>
                              </m:oMath>
                            </m:oMathPara>
                          </a14:m>
                          <a:endParaRPr lang="zh-CN" altLang="en-US" dirty="0"/>
                        </a:p>
                      </a:txBody>
                      <a:tcPr/>
                    </a:tc>
                    <a:extLst>
                      <a:ext uri="{0D108BD9-81ED-4DB2-BD59-A6C34878D82A}">
                        <a16:rowId xmlns:a16="http://schemas.microsoft.com/office/drawing/2014/main" val="2628171488"/>
                      </a:ext>
                    </a:extLst>
                  </a:tr>
                </a:tbl>
              </a:graphicData>
            </a:graphic>
          </p:graphicFrame>
        </mc:Choice>
        <mc:Fallback xmlns="">
          <p:graphicFrame>
            <p:nvGraphicFramePr>
              <p:cNvPr id="2" name="表格 1"/>
              <p:cNvGraphicFramePr>
                <a:graphicFrameLocks noGrp="1"/>
              </p:cNvGraphicFramePr>
              <p:nvPr>
                <p:extLst>
                  <p:ext uri="{D42A27DB-BD31-4B8C-83A1-F6EECF244321}">
                    <p14:modId xmlns:p14="http://schemas.microsoft.com/office/powerpoint/2010/main" val="3987781530"/>
                  </p:ext>
                </p:extLst>
              </p:nvPr>
            </p:nvGraphicFramePr>
            <p:xfrm>
              <a:off x="35496" y="2185641"/>
              <a:ext cx="9036495" cy="3926503"/>
            </p:xfrm>
            <a:graphic>
              <a:graphicData uri="http://schemas.openxmlformats.org/drawingml/2006/table">
                <a:tbl>
                  <a:tblPr firstRow="1" bandRow="1">
                    <a:tableStyleId>{5C22544A-7EE6-4342-B048-85BDC9FD1C3A}</a:tableStyleId>
                  </a:tblPr>
                  <a:tblGrid>
                    <a:gridCol w="764770">
                      <a:extLst>
                        <a:ext uri="{9D8B030D-6E8A-4147-A177-3AD203B41FA5}">
                          <a16:colId xmlns:a16="http://schemas.microsoft.com/office/drawing/2014/main" val="233362328"/>
                        </a:ext>
                      </a:extLst>
                    </a:gridCol>
                    <a:gridCol w="4081511">
                      <a:extLst>
                        <a:ext uri="{9D8B030D-6E8A-4147-A177-3AD203B41FA5}">
                          <a16:colId xmlns:a16="http://schemas.microsoft.com/office/drawing/2014/main" val="3419320798"/>
                        </a:ext>
                      </a:extLst>
                    </a:gridCol>
                    <a:gridCol w="4190214">
                      <a:extLst>
                        <a:ext uri="{9D8B030D-6E8A-4147-A177-3AD203B41FA5}">
                          <a16:colId xmlns:a16="http://schemas.microsoft.com/office/drawing/2014/main" val="675959247"/>
                        </a:ext>
                      </a:extLst>
                    </a:gridCol>
                  </a:tblGrid>
                  <a:tr h="375027">
                    <a:tc>
                      <a:txBody>
                        <a:bodyPr/>
                        <a:lstStyle/>
                        <a:p>
                          <a:endParaRPr lang="zh-CN" altLang="en-US" dirty="0"/>
                        </a:p>
                      </a:txBody>
                      <a:tcPr/>
                    </a:tc>
                    <a:tc>
                      <a:txBody>
                        <a:bodyPr/>
                        <a:lstStyle/>
                        <a:p>
                          <a:r>
                            <a:rPr lang="zh-CN" altLang="en-US" dirty="0" smtClean="0"/>
                            <a:t>连和形式</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连乘形式</a:t>
                          </a:r>
                          <a:endParaRPr lang="en-US" altLang="zh-CN" dirty="0" smtClean="0"/>
                        </a:p>
                      </a:txBody>
                      <a:tcPr/>
                    </a:tc>
                    <a:extLst>
                      <a:ext uri="{0D108BD9-81ED-4DB2-BD59-A6C34878D82A}">
                        <a16:rowId xmlns:a16="http://schemas.microsoft.com/office/drawing/2014/main" val="393837257"/>
                      </a:ext>
                    </a:extLst>
                  </a:tr>
                  <a:tr h="1148191">
                    <a:tc>
                      <a:txBody>
                        <a:bodyPr/>
                        <a:lstStyle/>
                        <a:p>
                          <a:r>
                            <a:rPr lang="zh-CN" altLang="en-US" dirty="0" smtClean="0"/>
                            <a:t>指标函数：</a:t>
                          </a:r>
                          <a:endParaRPr lang="zh-CN" altLang="en-US" dirty="0"/>
                        </a:p>
                      </a:txBody>
                      <a:tcPr/>
                    </a:tc>
                    <a:tc>
                      <a:txBody>
                        <a:bodyPr/>
                        <a:lstStyle/>
                        <a:p>
                          <a:endParaRPr lang="zh-CN"/>
                        </a:p>
                      </a:txBody>
                      <a:tcPr>
                        <a:blipFill>
                          <a:blip r:embed="rId3"/>
                          <a:stretch>
                            <a:fillRect l="-18955" t="-36702" r="-103284" b="-211170"/>
                          </a:stretch>
                        </a:blipFill>
                      </a:tcPr>
                    </a:tc>
                    <a:tc>
                      <a:txBody>
                        <a:bodyPr/>
                        <a:lstStyle/>
                        <a:p>
                          <a:endParaRPr lang="zh-CN"/>
                        </a:p>
                      </a:txBody>
                      <a:tcPr>
                        <a:blipFill>
                          <a:blip r:embed="rId3"/>
                          <a:stretch>
                            <a:fillRect l="-115843" t="-36702" r="-581" b="-211170"/>
                          </a:stretch>
                        </a:blipFill>
                      </a:tcPr>
                    </a:tc>
                    <a:extLst>
                      <a:ext uri="{0D108BD9-81ED-4DB2-BD59-A6C34878D82A}">
                        <a16:rowId xmlns:a16="http://schemas.microsoft.com/office/drawing/2014/main" val="55766318"/>
                      </a:ext>
                    </a:extLst>
                  </a:tr>
                  <a:tr h="914400">
                    <a:tc>
                      <a:txBody>
                        <a:bodyPr/>
                        <a:lstStyle/>
                        <a:p>
                          <a:r>
                            <a:rPr lang="zh-CN" altLang="en-US" dirty="0" smtClean="0"/>
                            <a:t>最优值函数：</a:t>
                          </a:r>
                          <a:endParaRPr lang="zh-CN" altLang="en-US" dirty="0"/>
                        </a:p>
                      </a:txBody>
                      <a:tcPr/>
                    </a:tc>
                    <a:tc>
                      <a:txBody>
                        <a:bodyPr/>
                        <a:lstStyle/>
                        <a:p>
                          <a:endParaRPr lang="zh-CN"/>
                        </a:p>
                      </a:txBody>
                      <a:tcPr>
                        <a:blipFill>
                          <a:blip r:embed="rId3"/>
                          <a:stretch>
                            <a:fillRect l="-18955" t="-171333" r="-103284" b="-164667"/>
                          </a:stretch>
                        </a:blipFill>
                      </a:tcPr>
                    </a:tc>
                    <a:tc>
                      <a:txBody>
                        <a:bodyPr/>
                        <a:lstStyle/>
                        <a:p>
                          <a:endParaRPr lang="zh-CN"/>
                        </a:p>
                      </a:txBody>
                      <a:tcPr>
                        <a:blipFill>
                          <a:blip r:embed="rId3"/>
                          <a:stretch>
                            <a:fillRect l="-115843" t="-171333" r="-581" b="-164667"/>
                          </a:stretch>
                        </a:blipFill>
                      </a:tcPr>
                    </a:tc>
                    <a:extLst>
                      <a:ext uri="{0D108BD9-81ED-4DB2-BD59-A6C34878D82A}">
                        <a16:rowId xmlns:a16="http://schemas.microsoft.com/office/drawing/2014/main" val="3464378673"/>
                      </a:ext>
                    </a:extLst>
                  </a:tr>
                  <a:tr h="1488885">
                    <a:tc>
                      <a:txBody>
                        <a:bodyPr/>
                        <a:lstStyle/>
                        <a:p>
                          <a:r>
                            <a:rPr lang="zh-CN" altLang="en-US" dirty="0" smtClean="0"/>
                            <a:t>动态规划模型：</a:t>
                          </a:r>
                          <a:endParaRPr lang="zh-CN" altLang="en-US" dirty="0"/>
                        </a:p>
                      </a:txBody>
                      <a:tcPr/>
                    </a:tc>
                    <a:tc>
                      <a:txBody>
                        <a:bodyPr/>
                        <a:lstStyle/>
                        <a:p>
                          <a:endParaRPr lang="zh-CN"/>
                        </a:p>
                      </a:txBody>
                      <a:tcPr>
                        <a:blipFill>
                          <a:blip r:embed="rId3"/>
                          <a:stretch>
                            <a:fillRect l="-18955" t="-166122" r="-103284" b="-816"/>
                          </a:stretch>
                        </a:blipFill>
                      </a:tcPr>
                    </a:tc>
                    <a:tc>
                      <a:txBody>
                        <a:bodyPr/>
                        <a:lstStyle/>
                        <a:p>
                          <a:endParaRPr lang="zh-CN"/>
                        </a:p>
                      </a:txBody>
                      <a:tcPr>
                        <a:blipFill>
                          <a:blip r:embed="rId3"/>
                          <a:stretch>
                            <a:fillRect l="-115843" t="-166122" r="-581" b="-816"/>
                          </a:stretch>
                        </a:blipFill>
                      </a:tcPr>
                    </a:tc>
                    <a:extLst>
                      <a:ext uri="{0D108BD9-81ED-4DB2-BD59-A6C34878D82A}">
                        <a16:rowId xmlns:a16="http://schemas.microsoft.com/office/drawing/2014/main" val="2628171488"/>
                      </a:ext>
                    </a:extLst>
                  </a:tr>
                </a:tbl>
              </a:graphicData>
            </a:graphic>
          </p:graphicFrame>
        </mc:Fallback>
      </mc:AlternateContent>
    </p:spTree>
    <p:extLst>
      <p:ext uri="{BB962C8B-B14F-4D97-AF65-F5344CB8AC3E}">
        <p14:creationId xmlns:p14="http://schemas.microsoft.com/office/powerpoint/2010/main" val="26843955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270422" y="478731"/>
            <a:ext cx="6757962" cy="576163"/>
          </a:xfrm>
        </p:spPr>
        <p:txBody>
          <a:bodyPr/>
          <a:lstStyle/>
          <a:p>
            <a:pPr eaLnBrk="1" hangingPunct="1"/>
            <a:r>
              <a:rPr lang="en-US" altLang="zh-CN" b="1" dirty="0"/>
              <a:t>8.1.2  </a:t>
            </a:r>
            <a:r>
              <a:rPr lang="zh-CN" altLang="en-US" b="1" dirty="0"/>
              <a:t>动态规划的基本思想和基本方程</a:t>
            </a:r>
          </a:p>
        </p:txBody>
      </p:sp>
      <p:sp>
        <p:nvSpPr>
          <p:cNvPr id="2" name="内容占位符 1"/>
          <p:cNvSpPr>
            <a:spLocks noGrp="1"/>
          </p:cNvSpPr>
          <p:nvPr>
            <p:ph idx="1"/>
          </p:nvPr>
        </p:nvSpPr>
        <p:spPr>
          <a:xfrm>
            <a:off x="539552" y="1124744"/>
            <a:ext cx="8280920" cy="1274195"/>
          </a:xfrm>
        </p:spPr>
        <p:txBody>
          <a:bodyPr/>
          <a:lstStyle/>
          <a:p>
            <a:r>
              <a:rPr lang="zh-CN" altLang="en-US" dirty="0"/>
              <a:t>结合最短路线问题介绍动态规划方法的基本思想。</a:t>
            </a:r>
            <a:endParaRPr lang="en-US" altLang="zh-CN" dirty="0"/>
          </a:p>
          <a:p>
            <a:pPr lvl="1"/>
            <a:endParaRPr lang="zh-CN" altLang="en-US" dirty="0"/>
          </a:p>
          <a:p>
            <a:endParaRPr lang="zh-CN" altLang="en-US" dirty="0"/>
          </a:p>
        </p:txBody>
      </p:sp>
      <p:sp>
        <p:nvSpPr>
          <p:cNvPr id="18435"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9A55D17-7D63-4DC9-AC9C-E3BB3843C5DB}" type="slidenum">
              <a:rPr lang="en-US" altLang="zh-CN" sz="1000"/>
              <a:pPr>
                <a:spcBef>
                  <a:spcPct val="0"/>
                </a:spcBef>
                <a:buClrTx/>
                <a:buSzTx/>
                <a:buFontTx/>
                <a:buNone/>
              </a:pPr>
              <a:t>12</a:t>
            </a:fld>
            <a:endParaRPr lang="en-US" altLang="zh-CN" sz="1000"/>
          </a:p>
        </p:txBody>
      </p:sp>
      <p:sp>
        <p:nvSpPr>
          <p:cNvPr id="18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pic>
        <p:nvPicPr>
          <p:cNvPr id="14"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7704" y="1556792"/>
            <a:ext cx="5113942" cy="207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Line 9"/>
          <p:cNvSpPr>
            <a:spLocks noChangeShapeType="1"/>
          </p:cNvSpPr>
          <p:nvPr/>
        </p:nvSpPr>
        <p:spPr bwMode="auto">
          <a:xfrm flipH="1">
            <a:off x="2233291" y="1778592"/>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16" name="Line 12"/>
          <p:cNvSpPr>
            <a:spLocks noChangeShapeType="1"/>
          </p:cNvSpPr>
          <p:nvPr/>
        </p:nvSpPr>
        <p:spPr bwMode="auto">
          <a:xfrm>
            <a:off x="298895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17" name="Line 9"/>
          <p:cNvSpPr>
            <a:spLocks noChangeShapeType="1"/>
          </p:cNvSpPr>
          <p:nvPr/>
        </p:nvSpPr>
        <p:spPr bwMode="auto">
          <a:xfrm flipH="1">
            <a:off x="3673451" y="1779163"/>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18" name="Line 12"/>
          <p:cNvSpPr>
            <a:spLocks noChangeShapeType="1"/>
          </p:cNvSpPr>
          <p:nvPr/>
        </p:nvSpPr>
        <p:spPr bwMode="auto">
          <a:xfrm>
            <a:off x="442911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7" name="Line 9"/>
          <p:cNvSpPr>
            <a:spLocks noChangeShapeType="1"/>
          </p:cNvSpPr>
          <p:nvPr/>
        </p:nvSpPr>
        <p:spPr bwMode="auto">
          <a:xfrm flipH="1">
            <a:off x="5113611" y="1772816"/>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8" name="Line 12"/>
          <p:cNvSpPr>
            <a:spLocks noChangeShapeType="1"/>
          </p:cNvSpPr>
          <p:nvPr/>
        </p:nvSpPr>
        <p:spPr bwMode="auto">
          <a:xfrm>
            <a:off x="5869270" y="1772816"/>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9" name="矩形 28"/>
          <p:cNvSpPr/>
          <p:nvPr/>
        </p:nvSpPr>
        <p:spPr>
          <a:xfrm>
            <a:off x="326241" y="3440128"/>
            <a:ext cx="6768752" cy="341632"/>
          </a:xfrm>
          <a:prstGeom prst="rect">
            <a:avLst/>
          </a:prstGeom>
        </p:spPr>
        <p:txBody>
          <a:bodyPr wrap="square">
            <a:spAutoFit/>
          </a:bodyPr>
          <a:lstStyle/>
          <a:p>
            <a:pPr lvl="2" eaLnBrk="1" hangingPunct="1">
              <a:lnSpc>
                <a:spcPct val="90000"/>
              </a:lnSpc>
            </a:pPr>
            <a:r>
              <a:rPr lang="zh-CN" altLang="en-US" sz="1800" dirty="0" smtClean="0"/>
              <a:t>阶段</a:t>
            </a:r>
            <a:r>
              <a:rPr lang="en-US" altLang="zh-CN" sz="1800" dirty="0" smtClean="0"/>
              <a:t>k</a:t>
            </a:r>
            <a:r>
              <a:rPr lang="zh-CN" altLang="en-US" sz="1800" dirty="0" smtClean="0"/>
              <a:t>： 阶段</a:t>
            </a:r>
            <a:r>
              <a:rPr lang="en-US" altLang="zh-CN" sz="1800" dirty="0" smtClean="0"/>
              <a:t>1   </a:t>
            </a:r>
            <a:r>
              <a:rPr lang="zh-CN" altLang="en-US" sz="1800" dirty="0" smtClean="0"/>
              <a:t>阶段</a:t>
            </a:r>
            <a:r>
              <a:rPr lang="en-US" altLang="zh-CN" sz="1800" dirty="0" smtClean="0"/>
              <a:t>2   </a:t>
            </a:r>
            <a:r>
              <a:rPr lang="zh-CN" altLang="en-US" sz="1800" dirty="0" smtClean="0"/>
              <a:t>阶段</a:t>
            </a:r>
            <a:r>
              <a:rPr lang="en-US" altLang="zh-CN" sz="1800" dirty="0" smtClean="0"/>
              <a:t>3  </a:t>
            </a:r>
            <a:r>
              <a:rPr lang="zh-CN" altLang="en-US" sz="1800" dirty="0" smtClean="0"/>
              <a:t>阶段</a:t>
            </a:r>
            <a:r>
              <a:rPr lang="en-US" altLang="zh-CN" sz="1800" dirty="0" smtClean="0"/>
              <a:t>4  </a:t>
            </a:r>
            <a:r>
              <a:rPr lang="zh-CN" altLang="en-US" sz="1800" dirty="0" smtClean="0"/>
              <a:t>阶段</a:t>
            </a:r>
            <a:r>
              <a:rPr lang="en-US" altLang="zh-CN" sz="1800" dirty="0" smtClean="0"/>
              <a:t>5  </a:t>
            </a:r>
            <a:r>
              <a:rPr lang="zh-CN" altLang="en-US" sz="1800" dirty="0" smtClean="0"/>
              <a:t>阶段</a:t>
            </a:r>
            <a:r>
              <a:rPr lang="en-US" altLang="zh-CN" sz="1800" dirty="0" smtClean="0"/>
              <a:t>6</a:t>
            </a:r>
            <a:endParaRPr lang="zh-CN" altLang="en-US" sz="1800" dirty="0"/>
          </a:p>
        </p:txBody>
      </p:sp>
      <mc:AlternateContent xmlns:mc="http://schemas.openxmlformats.org/markup-compatibility/2006" xmlns:a14="http://schemas.microsoft.com/office/drawing/2010/main">
        <mc:Choice Requires="a14">
          <p:sp>
            <p:nvSpPr>
              <p:cNvPr id="30" name="矩形 29"/>
              <p:cNvSpPr/>
              <p:nvPr/>
            </p:nvSpPr>
            <p:spPr>
              <a:xfrm>
                <a:off x="331466" y="3789040"/>
                <a:ext cx="8056957" cy="590931"/>
              </a:xfrm>
              <a:prstGeom prst="rect">
                <a:avLst/>
              </a:prstGeom>
            </p:spPr>
            <p:txBody>
              <a:bodyPr wrap="square">
                <a:spAutoFit/>
              </a:bodyPr>
              <a:lstStyle/>
              <a:p>
                <a:pPr lvl="2" eaLnBrk="1" hangingPunct="1">
                  <a:lnSpc>
                    <a:spcPct val="90000"/>
                  </a:lnSpc>
                </a:pPr>
                <a:r>
                  <a:rPr lang="zh-CN" altLang="en-US" sz="1800" dirty="0" smtClean="0"/>
                  <a:t>状态</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𝑠</m:t>
                        </m:r>
                      </m:e>
                      <m:sub>
                        <m:r>
                          <a:rPr lang="en-US" altLang="zh-CN" sz="1800" b="0" i="1" smtClean="0">
                            <a:latin typeface="Cambria Math" panose="02040503050406030204" pitchFamily="18" charset="0"/>
                          </a:rPr>
                          <m:t>𝑘</m:t>
                        </m:r>
                      </m:sub>
                    </m:sSub>
                  </m:oMath>
                </a14:m>
                <a:r>
                  <a:rPr lang="zh-CN" altLang="en-US" sz="1800" dirty="0" smtClean="0"/>
                  <a:t>： </a:t>
                </a:r>
                <a14:m>
                  <m:oMath xmlns:m="http://schemas.openxmlformats.org/officeDocument/2006/math">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𝑆</m:t>
                        </m:r>
                      </m:e>
                      <m:sub>
                        <m:r>
                          <a:rPr lang="en-US" altLang="zh-CN" sz="1800" b="0" i="1" smtClean="0">
                            <a:latin typeface="Cambria Math" panose="02040503050406030204" pitchFamily="18" charset="0"/>
                          </a:rPr>
                          <m:t>1</m:t>
                        </m:r>
                      </m:sub>
                    </m:sSub>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𝐴</m:t>
                    </m:r>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𝑆</m:t>
                        </m:r>
                      </m:e>
                      <m:sub>
                        <m:r>
                          <a:rPr lang="en-US" altLang="zh-CN" sz="1800" b="0" i="1" smtClean="0">
                            <a:latin typeface="Cambria Math" panose="02040503050406030204" pitchFamily="18" charset="0"/>
                          </a:rPr>
                          <m:t>2</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1</m:t>
                        </m:r>
                      </m:sub>
                    </m:sSub>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𝑆</m:t>
                        </m:r>
                      </m:e>
                      <m:sub>
                        <m:r>
                          <a:rPr lang="en-US" altLang="zh-CN" sz="1800" b="0" i="1" smtClean="0">
                            <a:latin typeface="Cambria Math" panose="02040503050406030204" pitchFamily="18" charset="0"/>
                          </a:rPr>
                          <m:t>3</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i="1">
                            <a:latin typeface="Cambria Math" panose="02040503050406030204" pitchFamily="18" charset="0"/>
                          </a:rPr>
                          <m:t>2</m:t>
                        </m:r>
                      </m:sub>
                    </m:sSub>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3</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4</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𝑆</m:t>
                        </m:r>
                      </m:e>
                      <m:sub>
                        <m:r>
                          <a:rPr lang="en-US" altLang="zh-CN" sz="1800" b="0" i="1" smtClean="0">
                            <a:latin typeface="Cambria Math" panose="02040503050406030204" pitchFamily="18" charset="0"/>
                          </a:rPr>
                          <m:t>4</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3</m:t>
                        </m:r>
                      </m:sub>
                    </m:sSub>
                    <m:r>
                      <a:rPr lang="en-US" altLang="zh-CN" sz="1800" i="1">
                        <a:latin typeface="Cambria Math" panose="02040503050406030204" pitchFamily="18" charset="0"/>
                      </a:rPr>
                      <m:t>},</m:t>
                    </m:r>
                  </m:oMath>
                </a14:m>
                <a:r>
                  <a:rPr lang="en-US" altLang="zh-CN" sz="1800" dirty="0"/>
                  <a:t> </a:t>
                </a:r>
                <a14:m>
                  <m:oMath xmlns:m="http://schemas.openxmlformats.org/officeDocument/2006/math">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𝑆</m:t>
                        </m:r>
                      </m:e>
                      <m:sub>
                        <m:r>
                          <a:rPr lang="en-US" altLang="zh-CN" sz="1800" b="0" i="1" smtClean="0">
                            <a:latin typeface="Cambria Math" panose="02040503050406030204" pitchFamily="18" charset="0"/>
                          </a:rPr>
                          <m:t>5</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i="1">
                            <a:latin typeface="Cambria Math" panose="02040503050406030204" pitchFamily="18" charset="0"/>
                          </a:rPr>
                          <m:t>3</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𝑆</m:t>
                        </m:r>
                      </m:e>
                      <m:sub>
                        <m:r>
                          <a:rPr lang="en-US" altLang="zh-CN" sz="1800" b="0" i="1" smtClean="0">
                            <a:latin typeface="Cambria Math" panose="02040503050406030204" pitchFamily="18" charset="0"/>
                          </a:rPr>
                          <m:t>6</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oMath>
                </a14:m>
                <a:endParaRPr lang="zh-CN" altLang="en-US" sz="1800" dirty="0"/>
              </a:p>
            </p:txBody>
          </p:sp>
        </mc:Choice>
        <mc:Fallback xmlns="">
          <p:sp>
            <p:nvSpPr>
              <p:cNvPr id="30" name="矩形 29"/>
              <p:cNvSpPr>
                <a:spLocks noRot="1" noChangeAspect="1" noMove="1" noResize="1" noEditPoints="1" noAdjustHandles="1" noChangeArrowheads="1" noChangeShapeType="1" noTextEdit="1"/>
              </p:cNvSpPr>
              <p:nvPr/>
            </p:nvSpPr>
            <p:spPr>
              <a:xfrm>
                <a:off x="331466" y="3789040"/>
                <a:ext cx="8056957" cy="590931"/>
              </a:xfrm>
              <a:prstGeom prst="rect">
                <a:avLst/>
              </a:prstGeom>
              <a:blipFill>
                <a:blip r:embed="rId3"/>
                <a:stretch>
                  <a:fillRect t="-13542" b="-114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326241" y="4365104"/>
                <a:ext cx="8056957" cy="341632"/>
              </a:xfrm>
              <a:prstGeom prst="rect">
                <a:avLst/>
              </a:prstGeom>
            </p:spPr>
            <p:txBody>
              <a:bodyPr wrap="square">
                <a:spAutoFit/>
              </a:bodyPr>
              <a:lstStyle/>
              <a:p>
                <a:pPr lvl="2" eaLnBrk="1" hangingPunct="1">
                  <a:lnSpc>
                    <a:spcPct val="90000"/>
                  </a:lnSpc>
                </a:pPr>
                <a:r>
                  <a:rPr lang="zh-CN" altLang="en-US" sz="1800" dirty="0" smtClean="0"/>
                  <a:t>决策</a:t>
                </a:r>
                <a14:m>
                  <m:oMath xmlns:m="http://schemas.openxmlformats.org/officeDocument/2006/math">
                    <m:r>
                      <a:rPr lang="zh-CN" altLang="en-US" sz="1800" i="1" smtClean="0">
                        <a:latin typeface="Cambria Math" panose="02040503050406030204" pitchFamily="18" charset="0"/>
                      </a:rPr>
                      <m:t>变量</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𝑥</m:t>
                        </m:r>
                      </m:e>
                      <m:sub>
                        <m:r>
                          <a:rPr lang="en-US" altLang="zh-CN" sz="1800" b="0" i="1" smtClean="0">
                            <a:latin typeface="Cambria Math" panose="02040503050406030204" pitchFamily="18" charset="0"/>
                          </a:rPr>
                          <m:t>𝑘</m:t>
                        </m:r>
                      </m:sub>
                    </m:sSub>
                  </m:oMath>
                </a14:m>
                <a:r>
                  <a:rPr lang="zh-CN" altLang="en-US" sz="1800" dirty="0" smtClean="0"/>
                  <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0" i="1" smtClean="0">
                            <a:latin typeface="Cambria Math" panose="02040503050406030204" pitchFamily="18" charset="0"/>
                          </a:rPr>
                          <m:t>𝑘</m:t>
                        </m:r>
                      </m:sub>
                    </m:sSub>
                    <m:r>
                      <a:rPr lang="zh-CN" altLang="en-US" sz="1800" i="1">
                        <a:latin typeface="Cambria Math" panose="02040503050406030204" pitchFamily="18" charset="0"/>
                      </a:rPr>
                      <m:t>状态时选择到达下一阶段的点</m:t>
                    </m:r>
                  </m:oMath>
                </a14:m>
                <a:endParaRPr lang="zh-CN" altLang="en-US" sz="1800" dirty="0"/>
              </a:p>
            </p:txBody>
          </p:sp>
        </mc:Choice>
        <mc:Fallback xmlns="">
          <p:sp>
            <p:nvSpPr>
              <p:cNvPr id="31" name="矩形 30"/>
              <p:cNvSpPr>
                <a:spLocks noRot="1" noChangeAspect="1" noMove="1" noResize="1" noEditPoints="1" noAdjustHandles="1" noChangeArrowheads="1" noChangeShapeType="1" noTextEdit="1"/>
              </p:cNvSpPr>
              <p:nvPr/>
            </p:nvSpPr>
            <p:spPr>
              <a:xfrm>
                <a:off x="326241" y="4365104"/>
                <a:ext cx="8056957" cy="341632"/>
              </a:xfrm>
              <a:prstGeom prst="rect">
                <a:avLst/>
              </a:prstGeom>
              <a:blipFill>
                <a:blip r:embed="rId4"/>
                <a:stretch>
                  <a:fillRect t="-21429" b="-232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326240" y="4732004"/>
                <a:ext cx="8056957" cy="341632"/>
              </a:xfrm>
              <a:prstGeom prst="rect">
                <a:avLst/>
              </a:prstGeom>
            </p:spPr>
            <p:txBody>
              <a:bodyPr wrap="square">
                <a:spAutoFit/>
              </a:bodyPr>
              <a:lstStyle/>
              <a:p>
                <a:pPr lvl="2" eaLnBrk="1" hangingPunct="1">
                  <a:lnSpc>
                    <a:spcPct val="90000"/>
                  </a:lnSpc>
                </a:pPr>
                <a:r>
                  <a:rPr lang="zh-CN" altLang="en-US" sz="1800" dirty="0" smtClean="0"/>
                  <a:t>允许决策</a:t>
                </a:r>
                <a14:m>
                  <m:oMath xmlns:m="http://schemas.openxmlformats.org/officeDocument/2006/math">
                    <m:r>
                      <a:rPr lang="zh-CN" altLang="en-US" sz="1800" i="1" dirty="0">
                        <a:latin typeface="Cambria Math" panose="02040503050406030204" pitchFamily="18" charset="0"/>
                      </a:rPr>
                      <m:t>集合</m:t>
                    </m:r>
                  </m:oMath>
                </a14:m>
                <a:r>
                  <a:rPr lang="zh-CN" altLang="en-US" sz="1800" dirty="0" smtClean="0"/>
                  <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𝑘</m:t>
                        </m:r>
                      </m:sub>
                    </m:sSub>
                    <m:r>
                      <a:rPr lang="en-US" altLang="zh-CN" sz="1800" i="1" smtClean="0">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𝑘</m:t>
                        </m:r>
                      </m:sub>
                    </m:sSub>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i="1">
                            <a:latin typeface="Cambria Math" panose="02040503050406030204" pitchFamily="18" charset="0"/>
                          </a:rPr>
                          <m:t>𝑘</m:t>
                        </m:r>
                      </m:sub>
                    </m:sSub>
                    <m:r>
                      <a:rPr lang="en-US" altLang="zh-CN" sz="1800" b="0" i="1" smtClean="0">
                        <a:latin typeface="Cambria Math" panose="02040503050406030204" pitchFamily="18" charset="0"/>
                      </a:rPr>
                      <m:t>)</m:t>
                    </m:r>
                  </m:oMath>
                </a14:m>
                <a:endParaRPr lang="zh-CN" altLang="en-US" sz="1800" dirty="0"/>
              </a:p>
            </p:txBody>
          </p:sp>
        </mc:Choice>
        <mc:Fallback xmlns="">
          <p:sp>
            <p:nvSpPr>
              <p:cNvPr id="32" name="矩形 31"/>
              <p:cNvSpPr>
                <a:spLocks noRot="1" noChangeAspect="1" noMove="1" noResize="1" noEditPoints="1" noAdjustHandles="1" noChangeArrowheads="1" noChangeShapeType="1" noTextEdit="1"/>
              </p:cNvSpPr>
              <p:nvPr/>
            </p:nvSpPr>
            <p:spPr>
              <a:xfrm>
                <a:off x="326240" y="4732004"/>
                <a:ext cx="8056957" cy="341632"/>
              </a:xfrm>
              <a:prstGeom prst="rect">
                <a:avLst/>
              </a:prstGeom>
              <a:blipFill>
                <a:blip r:embed="rId5"/>
                <a:stretch>
                  <a:fillRect t="-21429" b="-232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p:cNvSpPr/>
              <p:nvPr/>
            </p:nvSpPr>
            <p:spPr>
              <a:xfrm>
                <a:off x="349893" y="5013176"/>
                <a:ext cx="8056957" cy="341632"/>
              </a:xfrm>
              <a:prstGeom prst="rect">
                <a:avLst/>
              </a:prstGeom>
            </p:spPr>
            <p:txBody>
              <a:bodyPr wrap="square">
                <a:spAutoFit/>
              </a:bodyPr>
              <a:lstStyle/>
              <a:p>
                <a:pPr lvl="2" eaLnBrk="1" hangingPunct="1">
                  <a:lnSpc>
                    <a:spcPct val="90000"/>
                  </a:lnSpc>
                </a:pPr>
                <a:r>
                  <a:rPr lang="zh-CN" altLang="en-US" sz="1800" dirty="0" smtClean="0"/>
                  <a:t>阶段指标函数： </a:t>
                </a:r>
                <a14:m>
                  <m:oMath xmlns:m="http://schemas.openxmlformats.org/officeDocument/2006/math">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𝑣</m:t>
                        </m:r>
                      </m:e>
                      <m:sub>
                        <m:r>
                          <a:rPr lang="en-US" altLang="zh-CN" sz="1800" i="1">
                            <a:latin typeface="Cambria Math" panose="02040503050406030204" pitchFamily="18" charset="0"/>
                          </a:rPr>
                          <m:t>𝑘</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i="1">
                                <a:latin typeface="Cambria Math" panose="02040503050406030204" pitchFamily="18" charset="0"/>
                              </a:rPr>
                              <m:t>𝑘</m:t>
                            </m:r>
                          </m:sub>
                        </m:sSub>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𝑘</m:t>
                            </m:r>
                          </m:sub>
                        </m:sSub>
                      </m:e>
                    </m:d>
                    <m:r>
                      <a:rPr lang="en-US" altLang="zh-CN" sz="1800" b="0" i="1" smtClean="0">
                        <a:latin typeface="Cambria Math" panose="02040503050406030204" pitchFamily="18" charset="0"/>
                      </a:rPr>
                      <m:t>,</m:t>
                    </m:r>
                    <m:r>
                      <a:rPr lang="zh-CN" altLang="en-US" sz="1800" i="1">
                        <a:latin typeface="Cambria Math" panose="02040503050406030204" pitchFamily="18" charset="0"/>
                      </a:rPr>
                      <m:t>状态</m:t>
                    </m:r>
                    <m:r>
                      <a:rPr lang="zh-CN" altLang="en-US" sz="1800" b="0" i="1" smtClean="0">
                        <a:latin typeface="Cambria Math" panose="02040503050406030204" pitchFamily="18" charset="0"/>
                      </a:rPr>
                      <m:t>点</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i="1">
                            <a:latin typeface="Cambria Math" panose="02040503050406030204" pitchFamily="18" charset="0"/>
                          </a:rPr>
                          <m:t>𝑘</m:t>
                        </m:r>
                      </m:sub>
                    </m:sSub>
                  </m:oMath>
                </a14:m>
                <a:r>
                  <a:rPr lang="zh-CN" altLang="en-US" sz="1800" dirty="0" smtClean="0"/>
                  <a:t>与决策点</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𝑘</m:t>
                        </m:r>
                      </m:sub>
                    </m:sSub>
                  </m:oMath>
                </a14:m>
                <a:r>
                  <a:rPr lang="zh-CN" altLang="en-US" sz="1800" dirty="0" smtClean="0"/>
                  <a:t>间的最短距离</a:t>
                </a:r>
                <a:endParaRPr lang="zh-CN" altLang="en-US" sz="1800" dirty="0"/>
              </a:p>
            </p:txBody>
          </p:sp>
        </mc:Choice>
        <mc:Fallback xmlns="">
          <p:sp>
            <p:nvSpPr>
              <p:cNvPr id="33" name="矩形 32"/>
              <p:cNvSpPr>
                <a:spLocks noRot="1" noChangeAspect="1" noMove="1" noResize="1" noEditPoints="1" noAdjustHandles="1" noChangeArrowheads="1" noChangeShapeType="1" noTextEdit="1"/>
              </p:cNvSpPr>
              <p:nvPr/>
            </p:nvSpPr>
            <p:spPr>
              <a:xfrm>
                <a:off x="349893" y="5013176"/>
                <a:ext cx="8056957" cy="341632"/>
              </a:xfrm>
              <a:prstGeom prst="rect">
                <a:avLst/>
              </a:prstGeom>
              <a:blipFill>
                <a:blip r:embed="rId6"/>
                <a:stretch>
                  <a:fillRect t="-21429" b="-232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349894" y="5323800"/>
                <a:ext cx="8056957" cy="341632"/>
              </a:xfrm>
              <a:prstGeom prst="rect">
                <a:avLst/>
              </a:prstGeom>
            </p:spPr>
            <p:txBody>
              <a:bodyPr wrap="square">
                <a:spAutoFit/>
              </a:bodyPr>
              <a:lstStyle/>
              <a:p>
                <a:pPr lvl="2" eaLnBrk="1" hangingPunct="1">
                  <a:lnSpc>
                    <a:spcPct val="90000"/>
                  </a:lnSpc>
                </a:pPr>
                <a:r>
                  <a:rPr lang="zh-CN" altLang="en-US" sz="1800" dirty="0" smtClean="0"/>
                  <a:t>最优指标函数： </a:t>
                </a:r>
                <a14:m>
                  <m:oMath xmlns:m="http://schemas.openxmlformats.org/officeDocument/2006/math">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i="1">
                            <a:latin typeface="Cambria Math" panose="02040503050406030204" pitchFamily="18" charset="0"/>
                          </a:rPr>
                          <m:t>𝑘</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i="1">
                                <a:latin typeface="Cambria Math" panose="02040503050406030204" pitchFamily="18" charset="0"/>
                              </a:rPr>
                              <m:t>𝑘</m:t>
                            </m:r>
                          </m:sub>
                        </m:sSub>
                      </m:e>
                    </m:d>
                    <m:r>
                      <a:rPr lang="en-US" altLang="zh-CN" sz="1800" b="0" i="1" smtClean="0">
                        <a:latin typeface="Cambria Math" panose="02040503050406030204" pitchFamily="18" charset="0"/>
                      </a:rPr>
                      <m:t>,</m:t>
                    </m:r>
                    <m:r>
                      <a:rPr lang="zh-CN" altLang="en-US" sz="1800" i="1">
                        <a:latin typeface="Cambria Math" panose="02040503050406030204" pitchFamily="18" charset="0"/>
                      </a:rPr>
                      <m:t>阶段</m:t>
                    </m:r>
                    <m:r>
                      <a:rPr lang="en-US" altLang="zh-CN" sz="1800" b="0" i="1" smtClean="0">
                        <a:latin typeface="Cambria Math" panose="02040503050406030204" pitchFamily="18" charset="0"/>
                      </a:rPr>
                      <m:t>𝑘</m:t>
                    </m:r>
                    <m:r>
                      <a:rPr lang="zh-CN" altLang="en-US" sz="1800" i="1">
                        <a:latin typeface="Cambria Math" panose="02040503050406030204" pitchFamily="18" charset="0"/>
                      </a:rPr>
                      <m:t>状态</m:t>
                    </m:r>
                    <m:r>
                      <a:rPr lang="zh-CN" altLang="en-US" sz="1800" b="0" i="1" smtClean="0">
                        <a:latin typeface="Cambria Math" panose="02040503050406030204" pitchFamily="18" charset="0"/>
                      </a:rPr>
                      <m:t>为</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i="1">
                            <a:latin typeface="Cambria Math" panose="02040503050406030204" pitchFamily="18" charset="0"/>
                          </a:rPr>
                          <m:t>𝑘</m:t>
                        </m:r>
                      </m:sub>
                    </m:sSub>
                    <m:r>
                      <a:rPr lang="zh-CN" altLang="en-US" sz="1800" b="0" i="1" smtClean="0">
                        <a:latin typeface="Cambria Math" panose="02040503050406030204" pitchFamily="18" charset="0"/>
                      </a:rPr>
                      <m:t>时</m:t>
                    </m:r>
                  </m:oMath>
                </a14:m>
                <a:r>
                  <a:rPr lang="zh-CN" altLang="en-US" sz="1800" dirty="0" smtClean="0"/>
                  <a:t>到终点</a:t>
                </a:r>
                <a:r>
                  <a:rPr lang="en-US" altLang="zh-CN" sz="1800" dirty="0" smtClean="0"/>
                  <a:t>G</a:t>
                </a:r>
                <a:r>
                  <a:rPr lang="zh-CN" altLang="en-US" sz="1800" dirty="0" smtClean="0"/>
                  <a:t>的最短距离</a:t>
                </a:r>
                <a:endParaRPr lang="zh-CN" altLang="en-US" sz="1800" dirty="0"/>
              </a:p>
            </p:txBody>
          </p:sp>
        </mc:Choice>
        <mc:Fallback xmlns="">
          <p:sp>
            <p:nvSpPr>
              <p:cNvPr id="34" name="矩形 33"/>
              <p:cNvSpPr>
                <a:spLocks noRot="1" noChangeAspect="1" noMove="1" noResize="1" noEditPoints="1" noAdjustHandles="1" noChangeArrowheads="1" noChangeShapeType="1" noTextEdit="1"/>
              </p:cNvSpPr>
              <p:nvPr/>
            </p:nvSpPr>
            <p:spPr>
              <a:xfrm>
                <a:off x="349894" y="5323800"/>
                <a:ext cx="8056957" cy="341632"/>
              </a:xfrm>
              <a:prstGeom prst="rect">
                <a:avLst/>
              </a:prstGeom>
              <a:blipFill>
                <a:blip r:embed="rId7"/>
                <a:stretch>
                  <a:fillRect t="-21429" b="-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p:cNvSpPr/>
              <p:nvPr/>
            </p:nvSpPr>
            <p:spPr>
              <a:xfrm>
                <a:off x="349892" y="5589240"/>
                <a:ext cx="8056957" cy="1137491"/>
              </a:xfrm>
              <a:prstGeom prst="rect">
                <a:avLst/>
              </a:prstGeom>
            </p:spPr>
            <p:txBody>
              <a:bodyPr wrap="square">
                <a:spAutoFit/>
              </a:bodyPr>
              <a:lstStyle/>
              <a:p>
                <a:pPr lvl="2" eaLnBrk="1" hangingPunct="1">
                  <a:lnSpc>
                    <a:spcPct val="90000"/>
                  </a:lnSpc>
                </a:pPr>
                <a:r>
                  <a:rPr lang="zh-CN" altLang="en-US" sz="1800" dirty="0" smtClean="0"/>
                  <a:t>递推方程：</a:t>
                </a:r>
                <a14:m>
                  <m:oMath xmlns:m="http://schemas.openxmlformats.org/officeDocument/2006/math">
                    <m:d>
                      <m:dPr>
                        <m:begChr m:val="{"/>
                        <m:endChr m:val=""/>
                        <m:ctrlPr>
                          <a:rPr lang="en-US" altLang="zh-CN" sz="1800" i="1" smtClean="0">
                            <a:latin typeface="Cambria Math" panose="02040503050406030204" pitchFamily="18" charset="0"/>
                          </a:rPr>
                        </m:ctrlPr>
                      </m:dPr>
                      <m:e>
                        <m:m>
                          <m:mPr>
                            <m:mcs>
                              <m:mc>
                                <m:mcPr>
                                  <m:count m:val="1"/>
                                  <m:mcJc m:val="center"/>
                                </m:mcPr>
                              </m:mc>
                            </m:mcs>
                            <m:ctrlPr>
                              <a:rPr lang="en-US" altLang="zh-CN" sz="1800" i="1">
                                <a:latin typeface="Cambria Math" panose="02040503050406030204" pitchFamily="18" charset="0"/>
                              </a:rPr>
                            </m:ctrlPr>
                          </m:mPr>
                          <m:m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𝑓</m:t>
                                  </m:r>
                                </m:e>
                                <m:sub>
                                  <m:r>
                                    <a:rPr lang="en-US" altLang="zh-CN" sz="1800" i="1">
                                      <a:latin typeface="Cambria Math" panose="02040503050406030204" pitchFamily="18" charset="0"/>
                                    </a:rPr>
                                    <m:t>𝑘</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i="1">
                                          <a:latin typeface="Cambria Math" panose="02040503050406030204" pitchFamily="18" charset="0"/>
                                        </a:rPr>
                                        <m:t>𝑘</m:t>
                                      </m:r>
                                    </m:sub>
                                  </m:sSub>
                                </m:e>
                              </m:d>
                              <m:r>
                                <a:rPr lang="en-US" altLang="zh-CN" sz="1800" b="0" i="1" smtClean="0">
                                  <a:latin typeface="Cambria Math" panose="02040503050406030204" pitchFamily="18" charset="0"/>
                                </a:rPr>
                                <m:t>=</m:t>
                              </m:r>
                              <m:func>
                                <m:funcPr>
                                  <m:ctrlPr>
                                    <a:rPr lang="en-US" altLang="zh-CN" sz="1800" b="0" i="1" smtClean="0">
                                      <a:latin typeface="Cambria Math" panose="02040503050406030204" pitchFamily="18" charset="0"/>
                                    </a:rPr>
                                  </m:ctrlPr>
                                </m:funcPr>
                                <m:fName>
                                  <m:limLow>
                                    <m:limLowPr>
                                      <m:ctrlPr>
                                        <a:rPr lang="en-US" altLang="zh-CN" sz="1800" b="0" i="1" smtClean="0">
                                          <a:latin typeface="Cambria Math" panose="02040503050406030204" pitchFamily="18" charset="0"/>
                                        </a:rPr>
                                      </m:ctrlPr>
                                    </m:limLowPr>
                                    <m:e>
                                      <m:r>
                                        <m:rPr>
                                          <m:sty m:val="p"/>
                                        </m:rPr>
                                        <a:rPr lang="en-US" altLang="zh-CN" sz="1800" b="0" i="0" smtClean="0">
                                          <a:latin typeface="Cambria Math" panose="02040503050406030204" pitchFamily="18" charset="0"/>
                                        </a:rPr>
                                        <m:t>min</m:t>
                                      </m:r>
                                    </m:e>
                                    <m:lim>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𝑘</m:t>
                                          </m:r>
                                        </m:sub>
                                      </m:sSub>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𝐷</m:t>
                                          </m:r>
                                        </m:e>
                                        <m:sub>
                                          <m:r>
                                            <a:rPr lang="en-US" altLang="zh-CN" sz="1800" i="1">
                                              <a:latin typeface="Cambria Math" panose="02040503050406030204" pitchFamily="18" charset="0"/>
                                            </a:rPr>
                                            <m:t>𝑘</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i="1">
                                              <a:latin typeface="Cambria Math" panose="02040503050406030204" pitchFamily="18" charset="0"/>
                                            </a:rPr>
                                            <m:t>𝑘</m:t>
                                          </m:r>
                                        </m:sub>
                                      </m:sSub>
                                      <m:r>
                                        <a:rPr lang="en-US" altLang="zh-CN" sz="1800" i="1">
                                          <a:latin typeface="Cambria Math" panose="02040503050406030204" pitchFamily="18" charset="0"/>
                                        </a:rPr>
                                        <m:t>)</m:t>
                                      </m:r>
                                      <m:r>
                                        <m:rPr>
                                          <m:nor/>
                                        </m:rPr>
                                        <a:rPr lang="zh-CN" altLang="en-US" sz="1800" dirty="0"/>
                                        <m:t> </m:t>
                                      </m:r>
                                    </m:lim>
                                  </m:limLow>
                                </m:fName>
                                <m:e>
                                  <m:d>
                                    <m:dPr>
                                      <m:begChr m:val="{"/>
                                      <m:endChr m:val="}"/>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i="1">
                                              <a:latin typeface="Cambria Math" panose="02040503050406030204" pitchFamily="18" charset="0"/>
                                            </a:rPr>
                                            <m:t>𝑘</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i="1">
                                                  <a:latin typeface="Cambria Math" panose="02040503050406030204" pitchFamily="18" charset="0"/>
                                                </a:rPr>
                                                <m:t>𝑘</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𝑘</m:t>
                                              </m:r>
                                            </m:sub>
                                          </m:sSub>
                                        </m:e>
                                      </m:d>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𝑓</m:t>
                                          </m:r>
                                        </m:e>
                                        <m:sub>
                                          <m:r>
                                            <a:rPr lang="en-US" altLang="zh-CN" sz="1800" i="1">
                                              <a:latin typeface="Cambria Math" panose="02040503050406030204" pitchFamily="18" charset="0"/>
                                            </a:rPr>
                                            <m:t>𝑘</m:t>
                                          </m:r>
                                          <m:r>
                                            <a:rPr lang="en-US" altLang="zh-CN" sz="1800" b="0" i="1" smtClean="0">
                                              <a:latin typeface="Cambria Math" panose="02040503050406030204" pitchFamily="18" charset="0"/>
                                            </a:rPr>
                                            <m:t>+1</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i="1">
                                                  <a:latin typeface="Cambria Math" panose="02040503050406030204" pitchFamily="18" charset="0"/>
                                                </a:rPr>
                                                <m:t>𝑘</m:t>
                                              </m:r>
                                              <m:r>
                                                <a:rPr lang="en-US" altLang="zh-CN" sz="1800" b="0" i="1" smtClean="0">
                                                  <a:latin typeface="Cambria Math" panose="02040503050406030204" pitchFamily="18" charset="0"/>
                                                </a:rPr>
                                                <m:t>+1</m:t>
                                              </m:r>
                                            </m:sub>
                                          </m:sSub>
                                        </m:e>
                                      </m:d>
                                    </m:e>
                                  </m:d>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𝑘</m:t>
                                  </m:r>
                                  <m:r>
                                    <a:rPr lang="en-US" altLang="zh-CN" sz="1800" b="0" i="1" smtClean="0">
                                      <a:latin typeface="Cambria Math" panose="02040503050406030204" pitchFamily="18" charset="0"/>
                                    </a:rPr>
                                    <m:t>=1,2,3,4,5,6</m:t>
                                  </m:r>
                                </m:e>
                              </m:func>
                            </m:e>
                          </m:mr>
                          <m:m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𝑓</m:t>
                                  </m:r>
                                </m:e>
                                <m:sub>
                                  <m:r>
                                    <a:rPr lang="en-US" altLang="zh-CN" sz="1800" b="0" i="1" smtClean="0">
                                      <a:latin typeface="Cambria Math" panose="02040503050406030204" pitchFamily="18" charset="0"/>
                                    </a:rPr>
                                    <m:t>7</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0" i="1" smtClean="0">
                                          <a:latin typeface="Cambria Math" panose="02040503050406030204" pitchFamily="18" charset="0"/>
                                        </a:rPr>
                                        <m:t>7</m:t>
                                      </m:r>
                                    </m:sub>
                                  </m:sSub>
                                </m:e>
                              </m:d>
                              <m:r>
                                <a:rPr lang="en-US" altLang="zh-CN" sz="1800" b="0" i="1" smtClean="0">
                                  <a:latin typeface="Cambria Math" panose="02040503050406030204" pitchFamily="18" charset="0"/>
                                </a:rPr>
                                <m:t>=0                                                                                                </m:t>
                              </m:r>
                            </m:e>
                          </m:mr>
                        </m:m>
                      </m:e>
                    </m:d>
                  </m:oMath>
                </a14:m>
                <a:endParaRPr lang="zh-CN" altLang="en-US" sz="1800" dirty="0"/>
              </a:p>
            </p:txBody>
          </p:sp>
        </mc:Choice>
        <mc:Fallback xmlns="">
          <p:sp>
            <p:nvSpPr>
              <p:cNvPr id="35" name="矩形 34"/>
              <p:cNvSpPr>
                <a:spLocks noRot="1" noChangeAspect="1" noMove="1" noResize="1" noEditPoints="1" noAdjustHandles="1" noChangeArrowheads="1" noChangeShapeType="1" noTextEdit="1"/>
              </p:cNvSpPr>
              <p:nvPr/>
            </p:nvSpPr>
            <p:spPr>
              <a:xfrm>
                <a:off x="349892" y="5589240"/>
                <a:ext cx="8056957" cy="1137491"/>
              </a:xfrm>
              <a:prstGeom prst="rect">
                <a:avLst/>
              </a:prstGeom>
              <a:blipFill>
                <a:blip r:embed="rId8"/>
                <a:stretch>
                  <a:fillRect t="-59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506348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270422" y="478731"/>
            <a:ext cx="6757962" cy="576163"/>
          </a:xfrm>
        </p:spPr>
        <p:txBody>
          <a:bodyPr/>
          <a:lstStyle/>
          <a:p>
            <a:pPr eaLnBrk="1" hangingPunct="1"/>
            <a:r>
              <a:rPr lang="en-US" altLang="zh-CN" b="1" dirty="0"/>
              <a:t>8.1.2  </a:t>
            </a:r>
            <a:r>
              <a:rPr lang="zh-CN" altLang="en-US" b="1" dirty="0"/>
              <a:t>动态规划的基本思想和基本方程</a:t>
            </a:r>
          </a:p>
        </p:txBody>
      </p:sp>
      <p:sp>
        <p:nvSpPr>
          <p:cNvPr id="2" name="内容占位符 1"/>
          <p:cNvSpPr>
            <a:spLocks noGrp="1"/>
          </p:cNvSpPr>
          <p:nvPr>
            <p:ph idx="1"/>
          </p:nvPr>
        </p:nvSpPr>
        <p:spPr>
          <a:xfrm>
            <a:off x="539552" y="1124744"/>
            <a:ext cx="8280920" cy="1274195"/>
          </a:xfrm>
        </p:spPr>
        <p:txBody>
          <a:bodyPr/>
          <a:lstStyle/>
          <a:p>
            <a:r>
              <a:rPr lang="zh-CN" altLang="en-US" dirty="0"/>
              <a:t>结合最短路线问题介绍动态规划方法的基本思想。</a:t>
            </a:r>
            <a:endParaRPr lang="en-US" altLang="zh-CN" dirty="0"/>
          </a:p>
          <a:p>
            <a:pPr lvl="1"/>
            <a:endParaRPr lang="zh-CN" altLang="en-US" dirty="0"/>
          </a:p>
          <a:p>
            <a:endParaRPr lang="zh-CN" altLang="en-US" dirty="0"/>
          </a:p>
        </p:txBody>
      </p:sp>
      <p:sp>
        <p:nvSpPr>
          <p:cNvPr id="18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pic>
        <p:nvPicPr>
          <p:cNvPr id="14"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7704" y="1556792"/>
            <a:ext cx="5113942" cy="207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Line 9"/>
          <p:cNvSpPr>
            <a:spLocks noChangeShapeType="1"/>
          </p:cNvSpPr>
          <p:nvPr/>
        </p:nvSpPr>
        <p:spPr bwMode="auto">
          <a:xfrm flipH="1">
            <a:off x="2233291" y="1778592"/>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16" name="Line 12"/>
          <p:cNvSpPr>
            <a:spLocks noChangeShapeType="1"/>
          </p:cNvSpPr>
          <p:nvPr/>
        </p:nvSpPr>
        <p:spPr bwMode="auto">
          <a:xfrm>
            <a:off x="298895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17" name="Line 9"/>
          <p:cNvSpPr>
            <a:spLocks noChangeShapeType="1"/>
          </p:cNvSpPr>
          <p:nvPr/>
        </p:nvSpPr>
        <p:spPr bwMode="auto">
          <a:xfrm flipH="1">
            <a:off x="3673451" y="1779163"/>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18" name="Line 12"/>
          <p:cNvSpPr>
            <a:spLocks noChangeShapeType="1"/>
          </p:cNvSpPr>
          <p:nvPr/>
        </p:nvSpPr>
        <p:spPr bwMode="auto">
          <a:xfrm>
            <a:off x="442911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7" name="Line 9"/>
          <p:cNvSpPr>
            <a:spLocks noChangeShapeType="1"/>
          </p:cNvSpPr>
          <p:nvPr/>
        </p:nvSpPr>
        <p:spPr bwMode="auto">
          <a:xfrm flipH="1">
            <a:off x="5113611" y="1772816"/>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8" name="Line 12"/>
          <p:cNvSpPr>
            <a:spLocks noChangeShapeType="1"/>
          </p:cNvSpPr>
          <p:nvPr/>
        </p:nvSpPr>
        <p:spPr bwMode="auto">
          <a:xfrm>
            <a:off x="5869270" y="1772816"/>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9" name="矩形 28"/>
          <p:cNvSpPr/>
          <p:nvPr/>
        </p:nvSpPr>
        <p:spPr>
          <a:xfrm>
            <a:off x="326241" y="3440128"/>
            <a:ext cx="6768752" cy="341632"/>
          </a:xfrm>
          <a:prstGeom prst="rect">
            <a:avLst/>
          </a:prstGeom>
        </p:spPr>
        <p:txBody>
          <a:bodyPr wrap="square">
            <a:spAutoFit/>
          </a:bodyPr>
          <a:lstStyle/>
          <a:p>
            <a:pPr lvl="2" eaLnBrk="1" hangingPunct="1">
              <a:lnSpc>
                <a:spcPct val="90000"/>
              </a:lnSpc>
            </a:pPr>
            <a:r>
              <a:rPr lang="zh-CN" altLang="en-US" sz="1800" dirty="0" smtClean="0"/>
              <a:t>阶段</a:t>
            </a:r>
            <a:r>
              <a:rPr lang="en-US" altLang="zh-CN" sz="1800" dirty="0" smtClean="0"/>
              <a:t>k</a:t>
            </a:r>
            <a:r>
              <a:rPr lang="zh-CN" altLang="en-US" sz="1800" dirty="0" smtClean="0"/>
              <a:t>： 阶段</a:t>
            </a:r>
            <a:r>
              <a:rPr lang="en-US" altLang="zh-CN" sz="1800" dirty="0" smtClean="0"/>
              <a:t>1   </a:t>
            </a:r>
            <a:r>
              <a:rPr lang="zh-CN" altLang="en-US" sz="1800" dirty="0" smtClean="0"/>
              <a:t>阶段</a:t>
            </a:r>
            <a:r>
              <a:rPr lang="en-US" altLang="zh-CN" sz="1800" dirty="0" smtClean="0"/>
              <a:t>2   </a:t>
            </a:r>
            <a:r>
              <a:rPr lang="zh-CN" altLang="en-US" sz="1800" dirty="0" smtClean="0"/>
              <a:t>阶段</a:t>
            </a:r>
            <a:r>
              <a:rPr lang="en-US" altLang="zh-CN" sz="1800" dirty="0" smtClean="0"/>
              <a:t>3  </a:t>
            </a:r>
            <a:r>
              <a:rPr lang="zh-CN" altLang="en-US" sz="1800" dirty="0" smtClean="0"/>
              <a:t>阶段</a:t>
            </a:r>
            <a:r>
              <a:rPr lang="en-US" altLang="zh-CN" sz="1800" dirty="0" smtClean="0"/>
              <a:t>4  </a:t>
            </a:r>
            <a:r>
              <a:rPr lang="zh-CN" altLang="en-US" sz="1800" dirty="0" smtClean="0"/>
              <a:t>阶段</a:t>
            </a:r>
            <a:r>
              <a:rPr lang="en-US" altLang="zh-CN" sz="1800" dirty="0" smtClean="0"/>
              <a:t>5  </a:t>
            </a:r>
            <a:r>
              <a:rPr lang="zh-CN" altLang="en-US" sz="1800" dirty="0" smtClean="0"/>
              <a:t>阶段</a:t>
            </a:r>
            <a:r>
              <a:rPr lang="en-US" altLang="zh-CN" sz="1800" dirty="0" smtClean="0"/>
              <a:t>6</a:t>
            </a:r>
            <a:endParaRPr lang="zh-CN" altLang="en-US" sz="1800" dirty="0"/>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3207363628"/>
                  </p:ext>
                </p:extLst>
              </p:nvPr>
            </p:nvGraphicFramePr>
            <p:xfrm>
              <a:off x="1029878" y="4250893"/>
              <a:ext cx="7609947" cy="1270432"/>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538912">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1" i="1" smtClean="0">
                                        <a:latin typeface="Cambria Math" panose="02040503050406030204" pitchFamily="18" charset="0"/>
                                      </a:rPr>
                                      <m:t>𝑺</m:t>
                                    </m:r>
                                  </m:e>
                                  <m:sub>
                                    <m:r>
                                      <a:rPr lang="en-US" altLang="zh-CN" sz="1800" b="0" i="1" smtClean="0">
                                        <a:latin typeface="Cambria Math" panose="02040503050406030204" pitchFamily="18" charset="0"/>
                                      </a:rPr>
                                      <m:t>6</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𝐷</m:t>
                                    </m:r>
                                  </m:e>
                                  <m:sub>
                                    <m:r>
                                      <a:rPr lang="en-US" altLang="zh-CN" sz="1800" b="1" i="1" smtClean="0">
                                        <a:latin typeface="Cambria Math" panose="02040503050406030204" pitchFamily="18" charset="0"/>
                                      </a:rPr>
                                      <m:t>𝟔</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1" i="1" smtClean="0">
                                        <a:latin typeface="Cambria Math" panose="02040503050406030204" pitchFamily="18" charset="0"/>
                                      </a:rPr>
                                      <m:t>𝒔</m:t>
                                    </m:r>
                                  </m:e>
                                  <m:sub>
                                    <m:r>
                                      <a:rPr lang="en-US" altLang="zh-CN" sz="1800" b="1" i="1" smtClean="0">
                                        <a:latin typeface="Cambria Math" panose="02040503050406030204" pitchFamily="18" charset="0"/>
                                      </a:rPr>
                                      <m:t>𝟔</m:t>
                                    </m:r>
                                  </m:sub>
                                </m:sSub>
                                <m:r>
                                  <a:rPr lang="en-US" altLang="zh-CN" sz="1800" i="1">
                                    <a:latin typeface="Cambria Math" panose="02040503050406030204" pitchFamily="18" charset="0"/>
                                  </a:rPr>
                                  <m:t>)</m:t>
                                </m:r>
                                <m:r>
                                  <m:rPr>
                                    <m:nor/>
                                  </m:rPr>
                                  <a:rPr lang="zh-CN" altLang="en-US" sz="1800" dirty="0"/>
                                  <m:t> </m:t>
                                </m:r>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𝟔</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𝟔</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𝟔</m:t>
                                        </m:r>
                                      </m:sub>
                                    </m:sSub>
                                  </m:e>
                                </m:d>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𝟕</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𝟕</m:t>
                                        </m:r>
                                      </m:sub>
                                    </m:sSub>
                                  </m:e>
                                </m:d>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𝟔</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𝟔</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𝟔</m:t>
                                      </m:r>
                                    </m:sub>
                                  </m:sSub>
                                </m:e>
                              </m:d>
                            </m:oMath>
                          </a14:m>
                          <a:r>
                            <a:rPr lang="en-US" altLang="zh-CN" dirty="0" smtClean="0"/>
                            <a: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𝟕</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𝟕</m:t>
                                      </m:r>
                                    </m:sub>
                                  </m:sSub>
                                </m:e>
                              </m:d>
                            </m:oMath>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𝟔</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𝟔</m:t>
                                        </m:r>
                                      </m:sub>
                                    </m:sSub>
                                  </m:e>
                                </m:d>
                              </m:oMath>
                            </m:oMathPara>
                          </a14:m>
                          <a:endParaRPr lang="zh-CN" altLang="en-US" dirty="0"/>
                        </a:p>
                      </a:txBody>
                      <a:tcPr/>
                    </a:tc>
                    <a:tc>
                      <a:txBody>
                        <a:bodyPr/>
                        <a:lstStyle/>
                        <a:p>
                          <a:r>
                            <a:rPr lang="zh-CN" altLang="en-US" dirty="0" smtClean="0"/>
                            <a:t>最优决策</a:t>
                          </a:r>
                          <a14:m>
                            <m:oMath xmlns:m="http://schemas.openxmlformats.org/officeDocument/2006/math">
                              <m:sSubSup>
                                <m:sSubSupPr>
                                  <m:ctrlPr>
                                    <a:rPr lang="en-US" altLang="zh-CN"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𝟔</m:t>
                                  </m:r>
                                </m:sub>
                                <m:sup>
                                  <m:r>
                                    <a:rPr lang="en-US" altLang="zh-CN" b="1" i="1" smtClean="0">
                                      <a:latin typeface="Cambria Math" panose="02040503050406030204" pitchFamily="18" charset="0"/>
                                    </a:rPr>
                                    <m:t>∗</m:t>
                                  </m:r>
                                </m:sup>
                              </m:sSubSup>
                            </m:oMath>
                          </a14:m>
                          <a:endParaRPr lang="zh-CN" altLang="en-US" dirty="0"/>
                        </a:p>
                      </a:txBody>
                      <a:tcPr/>
                    </a:tc>
                    <a:extLst>
                      <a:ext uri="{0D108BD9-81ED-4DB2-BD59-A6C34878D82A}">
                        <a16:rowId xmlns:a16="http://schemas.microsoft.com/office/drawing/2014/main" val="37799757"/>
                      </a:ext>
                    </a:extLst>
                  </a:tr>
                  <a:tr h="307950">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i="1">
                                        <a:latin typeface="Cambria Math" panose="02040503050406030204" pitchFamily="18" charset="0"/>
                                      </a:rPr>
                                      <m:t>1</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i="1">
                                      <a:latin typeface="Cambria Math" panose="02040503050406030204" pitchFamily="18" charset="0"/>
                                    </a:rPr>
                                    <m:t>1</m:t>
                                  </m:r>
                                </m:sub>
                              </m:sSub>
                            </m:oMath>
                          </a14:m>
                          <a:r>
                            <a:rPr lang="en-US" altLang="zh-CN" dirty="0" smtClean="0"/>
                            <a:t>-&gt;G</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4</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i="1">
                                        <a:latin typeface="Cambria Math" panose="02040503050406030204" pitchFamily="18" charset="0"/>
                                      </a:rPr>
                                      <m:t>1</m:t>
                                    </m:r>
                                  </m:sub>
                                </m:sSub>
                                <m:r>
                                  <m:rPr>
                                    <m:nor/>
                                  </m:rPr>
                                  <a:rPr lang="en-US" altLang="zh-CN" dirty="0" smtClean="0"/>
                                  <m:t>−&gt;</m:t>
                                </m:r>
                                <m:r>
                                  <m:rPr>
                                    <m:nor/>
                                  </m:rPr>
                                  <a:rPr lang="en-US" altLang="zh-CN" dirty="0" smtClean="0"/>
                                  <m:t>G</m:t>
                                </m:r>
                              </m:oMath>
                            </m:oMathPara>
                          </a14:m>
                          <a:endParaRPr lang="zh-CN" altLang="en-US" dirty="0"/>
                        </a:p>
                      </a:txBody>
                      <a:tcPr/>
                    </a:tc>
                    <a:extLst>
                      <a:ext uri="{0D108BD9-81ED-4DB2-BD59-A6C34878D82A}">
                        <a16:rowId xmlns:a16="http://schemas.microsoft.com/office/drawing/2014/main" val="3736361684"/>
                      </a:ext>
                    </a:extLst>
                  </a:tr>
                  <a:tr h="307950">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i="1">
                                        <a:latin typeface="Cambria Math" panose="02040503050406030204" pitchFamily="18" charset="0"/>
                                      </a:rPr>
                                      <m:t>2</m:t>
                                    </m:r>
                                  </m:sub>
                                </m:sSub>
                              </m:oMath>
                            </m:oMathPara>
                          </a14:m>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2</m:t>
                                  </m:r>
                                </m:sub>
                              </m:sSub>
                            </m:oMath>
                          </a14:m>
                          <a:r>
                            <a:rPr lang="en-US" altLang="zh-CN" dirty="0" smtClean="0"/>
                            <a:t>-&gt;G</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3</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2</m:t>
                                    </m:r>
                                  </m:sub>
                                </m:sSub>
                                <m:r>
                                  <m:rPr>
                                    <m:nor/>
                                  </m:rPr>
                                  <a:rPr lang="en-US" altLang="zh-CN" dirty="0" smtClean="0"/>
                                  <m:t>−&gt;</m:t>
                                </m:r>
                                <m:r>
                                  <m:rPr>
                                    <m:nor/>
                                  </m:rPr>
                                  <a:rPr lang="en-US" altLang="zh-CN" dirty="0" smtClean="0"/>
                                  <m:t>G</m:t>
                                </m:r>
                              </m:oMath>
                            </m:oMathPara>
                          </a14:m>
                          <a:endParaRPr lang="zh-CN" altLang="en-US" dirty="0"/>
                        </a:p>
                      </a:txBody>
                      <a:tcPr/>
                    </a:tc>
                    <a:extLst>
                      <a:ext uri="{0D108BD9-81ED-4DB2-BD59-A6C34878D82A}">
                        <a16:rowId xmlns:a16="http://schemas.microsoft.com/office/drawing/2014/main" val="3274687360"/>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3207363628"/>
                  </p:ext>
                </p:extLst>
              </p:nvPr>
            </p:nvGraphicFramePr>
            <p:xfrm>
              <a:off x="1029878" y="4250893"/>
              <a:ext cx="7609947" cy="1270432"/>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538912">
                    <a:tc>
                      <a:txBody>
                        <a:bodyPr/>
                        <a:lstStyle/>
                        <a:p>
                          <a:endParaRPr lang="zh-CN"/>
                        </a:p>
                      </a:txBody>
                      <a:tcPr>
                        <a:blipFill>
                          <a:blip r:embed="rId3"/>
                          <a:stretch>
                            <a:fillRect l="-1299" t="-8989" r="-1528571" b="-152809"/>
                          </a:stretch>
                        </a:blipFill>
                      </a:tcPr>
                    </a:tc>
                    <a:tc>
                      <a:txBody>
                        <a:bodyPr/>
                        <a:lstStyle/>
                        <a:p>
                          <a:endParaRPr lang="zh-CN"/>
                        </a:p>
                      </a:txBody>
                      <a:tcPr>
                        <a:blipFill>
                          <a:blip r:embed="rId3"/>
                          <a:stretch>
                            <a:fillRect l="-49367" t="-8989" r="-644937" b="-152809"/>
                          </a:stretch>
                        </a:blipFill>
                      </a:tcPr>
                    </a:tc>
                    <a:tc>
                      <a:txBody>
                        <a:bodyPr/>
                        <a:lstStyle/>
                        <a:p>
                          <a:endParaRPr lang="zh-CN"/>
                        </a:p>
                      </a:txBody>
                      <a:tcPr>
                        <a:blipFill>
                          <a:blip r:embed="rId3"/>
                          <a:stretch>
                            <a:fillRect l="-120408" t="-8989" r="-419898" b="-152809"/>
                          </a:stretch>
                        </a:blipFill>
                      </a:tcPr>
                    </a:tc>
                    <a:tc>
                      <a:txBody>
                        <a:bodyPr/>
                        <a:lstStyle/>
                        <a:p>
                          <a:endParaRPr lang="zh-CN"/>
                        </a:p>
                      </a:txBody>
                      <a:tcPr>
                        <a:blipFill>
                          <a:blip r:embed="rId3"/>
                          <a:stretch>
                            <a:fillRect l="-310791" t="-8989" r="-492086" b="-152809"/>
                          </a:stretch>
                        </a:blipFill>
                      </a:tcPr>
                    </a:tc>
                    <a:tc>
                      <a:txBody>
                        <a:bodyPr/>
                        <a:lstStyle/>
                        <a:p>
                          <a:endParaRPr lang="zh-CN"/>
                        </a:p>
                      </a:txBody>
                      <a:tcPr>
                        <a:blipFill>
                          <a:blip r:embed="rId3"/>
                          <a:stretch>
                            <a:fillRect l="-180696" t="-8989" r="-116456" b="-152809"/>
                          </a:stretch>
                        </a:blipFill>
                      </a:tcPr>
                    </a:tc>
                    <a:tc>
                      <a:txBody>
                        <a:bodyPr/>
                        <a:lstStyle/>
                        <a:p>
                          <a:endParaRPr lang="zh-CN"/>
                        </a:p>
                      </a:txBody>
                      <a:tcPr>
                        <a:blipFill>
                          <a:blip r:embed="rId3"/>
                          <a:stretch>
                            <a:fillRect l="-638129" t="-8989" r="-164748" b="-152809"/>
                          </a:stretch>
                        </a:blipFill>
                      </a:tcPr>
                    </a:tc>
                    <a:tc>
                      <a:txBody>
                        <a:bodyPr/>
                        <a:lstStyle/>
                        <a:p>
                          <a:endParaRPr lang="zh-CN"/>
                        </a:p>
                      </a:txBody>
                      <a:tcPr>
                        <a:blipFill>
                          <a:blip r:embed="rId3"/>
                          <a:stretch>
                            <a:fillRect l="-456000" t="-8989" r="-1778" b="-152809"/>
                          </a:stretch>
                        </a:blipFill>
                      </a:tcPr>
                    </a:tc>
                    <a:extLst>
                      <a:ext uri="{0D108BD9-81ED-4DB2-BD59-A6C34878D82A}">
                        <a16:rowId xmlns:a16="http://schemas.microsoft.com/office/drawing/2014/main" val="37799757"/>
                      </a:ext>
                    </a:extLst>
                  </a:tr>
                  <a:tr h="365760">
                    <a:tc>
                      <a:txBody>
                        <a:bodyPr/>
                        <a:lstStyle/>
                        <a:p>
                          <a:endParaRPr lang="zh-CN"/>
                        </a:p>
                      </a:txBody>
                      <a:tcPr>
                        <a:blipFill>
                          <a:blip r:embed="rId3"/>
                          <a:stretch>
                            <a:fillRect l="-1299" t="-161667" r="-1528571" b="-126667"/>
                          </a:stretch>
                        </a:blipFill>
                      </a:tcPr>
                    </a:tc>
                    <a:tc>
                      <a:txBody>
                        <a:bodyPr/>
                        <a:lstStyle/>
                        <a:p>
                          <a:endParaRPr lang="zh-CN"/>
                        </a:p>
                      </a:txBody>
                      <a:tcPr>
                        <a:blipFill>
                          <a:blip r:embed="rId3"/>
                          <a:stretch>
                            <a:fillRect l="-49367" t="-161667" r="-644937" b="-126667"/>
                          </a:stretch>
                        </a:blipFill>
                      </a:tcPr>
                    </a:tc>
                    <a:tc>
                      <a:txBody>
                        <a:bodyPr/>
                        <a:lstStyle/>
                        <a:p>
                          <a:r>
                            <a:rPr lang="en-US" altLang="zh-CN" dirty="0" smtClean="0"/>
                            <a:t>4</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4</a:t>
                          </a:r>
                          <a:endParaRPr lang="zh-CN" altLang="en-US" dirty="0"/>
                        </a:p>
                      </a:txBody>
                      <a:tcPr/>
                    </a:tc>
                    <a:tc>
                      <a:txBody>
                        <a:bodyPr/>
                        <a:lstStyle/>
                        <a:p>
                          <a:endParaRPr lang="zh-CN"/>
                        </a:p>
                      </a:txBody>
                      <a:tcPr>
                        <a:blipFill>
                          <a:blip r:embed="rId3"/>
                          <a:stretch>
                            <a:fillRect l="-456000" t="-161667" r="-1778" b="-126667"/>
                          </a:stretch>
                        </a:blipFill>
                      </a:tcPr>
                    </a:tc>
                    <a:extLst>
                      <a:ext uri="{0D108BD9-81ED-4DB2-BD59-A6C34878D82A}">
                        <a16:rowId xmlns:a16="http://schemas.microsoft.com/office/drawing/2014/main" val="3736361684"/>
                      </a:ext>
                    </a:extLst>
                  </a:tr>
                  <a:tr h="365760">
                    <a:tc>
                      <a:txBody>
                        <a:bodyPr/>
                        <a:lstStyle/>
                        <a:p>
                          <a:endParaRPr lang="zh-CN"/>
                        </a:p>
                      </a:txBody>
                      <a:tcPr>
                        <a:blipFill>
                          <a:blip r:embed="rId3"/>
                          <a:stretch>
                            <a:fillRect l="-1299" t="-261667" r="-1528571" b="-26667"/>
                          </a:stretch>
                        </a:blipFill>
                      </a:tcPr>
                    </a:tc>
                    <a:tc>
                      <a:txBody>
                        <a:bodyPr/>
                        <a:lstStyle/>
                        <a:p>
                          <a:endParaRPr lang="zh-CN"/>
                        </a:p>
                      </a:txBody>
                      <a:tcPr>
                        <a:blipFill>
                          <a:blip r:embed="rId3"/>
                          <a:stretch>
                            <a:fillRect l="-49367" t="-261667" r="-644937" b="-26667"/>
                          </a:stretch>
                        </a:blipFill>
                      </a:tcPr>
                    </a:tc>
                    <a:tc>
                      <a:txBody>
                        <a:bodyPr/>
                        <a:lstStyle/>
                        <a:p>
                          <a:r>
                            <a:rPr lang="en-US" altLang="zh-CN" dirty="0" smtClean="0"/>
                            <a:t>3</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3</a:t>
                          </a:r>
                          <a:endParaRPr lang="zh-CN" altLang="en-US" dirty="0"/>
                        </a:p>
                      </a:txBody>
                      <a:tcPr/>
                    </a:tc>
                    <a:tc>
                      <a:txBody>
                        <a:bodyPr/>
                        <a:lstStyle/>
                        <a:p>
                          <a:endParaRPr lang="zh-CN"/>
                        </a:p>
                      </a:txBody>
                      <a:tcPr>
                        <a:blipFill>
                          <a:blip r:embed="rId3"/>
                          <a:stretch>
                            <a:fillRect l="-456000" t="-261667" r="-1778" b="-26667"/>
                          </a:stretch>
                        </a:blipFill>
                      </a:tcPr>
                    </a:tc>
                    <a:extLst>
                      <a:ext uri="{0D108BD9-81ED-4DB2-BD59-A6C34878D82A}">
                        <a16:rowId xmlns:a16="http://schemas.microsoft.com/office/drawing/2014/main" val="3274687360"/>
                      </a:ext>
                    </a:extLst>
                  </a:tr>
                </a:tbl>
              </a:graphicData>
            </a:graphic>
          </p:graphicFrame>
        </mc:Fallback>
      </mc:AlternateContent>
      <p:sp>
        <p:nvSpPr>
          <p:cNvPr id="19" name="矩形 18"/>
          <p:cNvSpPr/>
          <p:nvPr/>
        </p:nvSpPr>
        <p:spPr>
          <a:xfrm>
            <a:off x="-26526" y="4556784"/>
            <a:ext cx="1056404" cy="341632"/>
          </a:xfrm>
          <a:prstGeom prst="rect">
            <a:avLst/>
          </a:prstGeom>
        </p:spPr>
        <p:txBody>
          <a:bodyPr wrap="square">
            <a:spAutoFit/>
          </a:bodyPr>
          <a:lstStyle/>
          <a:p>
            <a:pPr marL="0" lvl="2" defTabSz="179388" eaLnBrk="1" hangingPunct="1">
              <a:lnSpc>
                <a:spcPct val="90000"/>
              </a:lnSpc>
            </a:pPr>
            <a:r>
              <a:rPr lang="zh-CN" altLang="en-US" sz="1800" dirty="0" smtClean="0"/>
              <a:t>阶段</a:t>
            </a:r>
            <a:r>
              <a:rPr lang="en-US" altLang="zh-CN" sz="1800" dirty="0" smtClean="0"/>
              <a:t>k=6</a:t>
            </a:r>
            <a:endParaRPr lang="zh-CN" altLang="en-US" sz="1800" dirty="0"/>
          </a:p>
        </p:txBody>
      </p:sp>
      <mc:AlternateContent xmlns:mc="http://schemas.openxmlformats.org/markup-compatibility/2006" xmlns:a14="http://schemas.microsoft.com/office/drawing/2010/main">
        <mc:Choice Requires="a14">
          <p:sp>
            <p:nvSpPr>
              <p:cNvPr id="4" name="矩形 3"/>
              <p:cNvSpPr/>
              <p:nvPr/>
            </p:nvSpPr>
            <p:spPr>
              <a:xfrm>
                <a:off x="1475656" y="3693809"/>
                <a:ext cx="6858000" cy="53264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𝑓</m:t>
                          </m:r>
                        </m:e>
                        <m:sub>
                          <m:r>
                            <a:rPr lang="en-US" altLang="zh-CN" b="0" i="1" smtClean="0">
                              <a:latin typeface="Cambria Math" panose="02040503050406030204" pitchFamily="18" charset="0"/>
                            </a:rPr>
                            <m:t>6</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6</m:t>
                              </m:r>
                            </m:sub>
                          </m:sSub>
                        </m:e>
                      </m:d>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min</m:t>
                              </m:r>
                            </m:e>
                            <m:lim>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6</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b="0" i="1" smtClean="0">
                                      <a:latin typeface="Cambria Math" panose="02040503050406030204" pitchFamily="18" charset="0"/>
                                    </a:rPr>
                                    <m:t>6</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6</m:t>
                                  </m:r>
                                </m:sub>
                              </m:sSub>
                              <m:r>
                                <a:rPr lang="en-US" altLang="zh-CN" i="1">
                                  <a:latin typeface="Cambria Math" panose="02040503050406030204" pitchFamily="18" charset="0"/>
                                </a:rPr>
                                <m:t>)</m:t>
                              </m:r>
                              <m:r>
                                <m:rPr>
                                  <m:nor/>
                                </m:rPr>
                                <a:rPr lang="zh-CN" altLang="en-US" dirty="0"/>
                                <m:t> </m:t>
                              </m:r>
                            </m:lim>
                          </m:limLow>
                        </m:fName>
                        <m:e>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6</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6</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6</m:t>
                                      </m:r>
                                    </m:sub>
                                  </m:sSub>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b="0" i="1" smtClean="0">
                                      <a:latin typeface="Cambria Math" panose="02040503050406030204" pitchFamily="18" charset="0"/>
                                    </a:rPr>
                                    <m:t>7</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7</m:t>
                                      </m:r>
                                    </m:sub>
                                  </m:sSub>
                                </m:e>
                              </m:d>
                            </m:e>
                          </m:d>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i="1">
                              <a:latin typeface="Cambria Math" panose="02040503050406030204" pitchFamily="18" charset="0"/>
                            </a:rPr>
                            <m:t>=1,2,3,4,5,6</m:t>
                          </m:r>
                        </m:e>
                      </m:func>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1475656" y="3693809"/>
                <a:ext cx="6858000" cy="532646"/>
              </a:xfrm>
              <a:prstGeom prst="rect">
                <a:avLst/>
              </a:prstGeom>
              <a:blipFill>
                <a:blip r:embed="rId4"/>
                <a:stretch>
                  <a:fillRect b="-80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029878" y="5678299"/>
                <a:ext cx="1723549" cy="400110"/>
              </a:xfrm>
              <a:prstGeom prst="rect">
                <a:avLst/>
              </a:prstGeom>
            </p:spPr>
            <p:txBody>
              <a:bodyPr wrap="none">
                <a:spAutoFit/>
              </a:bodyPr>
              <a:lstStyle/>
              <a:p>
                <a:r>
                  <a:rPr lang="zh-CN" altLang="en-US" dirty="0"/>
                  <a:t>允许决策</a:t>
                </a:r>
                <a14:m>
                  <m:oMath xmlns:m="http://schemas.openxmlformats.org/officeDocument/2006/math">
                    <m:r>
                      <a:rPr lang="zh-CN" altLang="en-US" i="1" dirty="0">
                        <a:latin typeface="Cambria Math" panose="02040503050406030204" pitchFamily="18" charset="0"/>
                      </a:rPr>
                      <m:t>集合</m:t>
                    </m:r>
                  </m:oMath>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1029878" y="5678299"/>
                <a:ext cx="1723549" cy="400110"/>
              </a:xfrm>
              <a:prstGeom prst="rect">
                <a:avLst/>
              </a:prstGeom>
              <a:blipFill>
                <a:blip r:embed="rId5"/>
                <a:stretch>
                  <a:fillRect l="-3887" t="-10606" r="-1413" b="-22727"/>
                </a:stretch>
              </a:blipFill>
            </p:spPr>
            <p:txBody>
              <a:bodyPr/>
              <a:lstStyle/>
              <a:p>
                <a:r>
                  <a:rPr lang="zh-CN" altLang="en-US">
                    <a:noFill/>
                  </a:rPr>
                  <a:t> </a:t>
                </a:r>
              </a:p>
            </p:txBody>
          </p:sp>
        </mc:Fallback>
      </mc:AlternateContent>
      <p:sp>
        <p:nvSpPr>
          <p:cNvPr id="6" name="矩形 5"/>
          <p:cNvSpPr/>
          <p:nvPr/>
        </p:nvSpPr>
        <p:spPr>
          <a:xfrm>
            <a:off x="2691601" y="5678299"/>
            <a:ext cx="1723549" cy="400110"/>
          </a:xfrm>
          <a:prstGeom prst="rect">
            <a:avLst/>
          </a:prstGeom>
        </p:spPr>
        <p:txBody>
          <a:bodyPr wrap="none">
            <a:spAutoFit/>
          </a:bodyPr>
          <a:lstStyle/>
          <a:p>
            <a:r>
              <a:rPr lang="zh-CN" altLang="en-US" dirty="0"/>
              <a:t>阶段指标函数</a:t>
            </a:r>
          </a:p>
        </p:txBody>
      </p:sp>
      <p:sp>
        <p:nvSpPr>
          <p:cNvPr id="7" name="矩形 6"/>
          <p:cNvSpPr/>
          <p:nvPr/>
        </p:nvSpPr>
        <p:spPr>
          <a:xfrm>
            <a:off x="6304835" y="5678299"/>
            <a:ext cx="1723549" cy="400110"/>
          </a:xfrm>
          <a:prstGeom prst="rect">
            <a:avLst/>
          </a:prstGeom>
        </p:spPr>
        <p:txBody>
          <a:bodyPr wrap="none">
            <a:spAutoFit/>
          </a:bodyPr>
          <a:lstStyle/>
          <a:p>
            <a:r>
              <a:rPr lang="zh-CN" altLang="en-US" dirty="0"/>
              <a:t>最优指标函数</a:t>
            </a:r>
          </a:p>
        </p:txBody>
      </p:sp>
      <p:sp>
        <p:nvSpPr>
          <p:cNvPr id="20" name="矩形 19"/>
          <p:cNvSpPr/>
          <p:nvPr/>
        </p:nvSpPr>
        <p:spPr>
          <a:xfrm>
            <a:off x="4587388" y="5678299"/>
            <a:ext cx="1723549" cy="400110"/>
          </a:xfrm>
          <a:prstGeom prst="rect">
            <a:avLst/>
          </a:prstGeom>
        </p:spPr>
        <p:txBody>
          <a:bodyPr wrap="none">
            <a:spAutoFit/>
          </a:bodyPr>
          <a:lstStyle/>
          <a:p>
            <a:r>
              <a:rPr lang="zh-CN" altLang="en-US" dirty="0"/>
              <a:t>过程</a:t>
            </a:r>
            <a:r>
              <a:rPr lang="zh-CN" altLang="en-US" dirty="0" smtClean="0"/>
              <a:t>指标</a:t>
            </a:r>
            <a:r>
              <a:rPr lang="zh-CN" altLang="en-US" dirty="0"/>
              <a:t>函数</a:t>
            </a:r>
          </a:p>
        </p:txBody>
      </p:sp>
      <p:sp>
        <p:nvSpPr>
          <p:cNvPr id="21" name="文本框 20"/>
          <p:cNvSpPr txBox="1"/>
          <p:nvPr/>
        </p:nvSpPr>
        <p:spPr bwMode="auto">
          <a:xfrm>
            <a:off x="6553771" y="1988840"/>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0</a:t>
            </a:r>
            <a:endParaRPr lang="zh-CN" altLang="en-US" sz="1800" dirty="0">
              <a:latin typeface="Times New Roman" panose="02020603050405020304" pitchFamily="18" charset="0"/>
              <a:cs typeface="Courier New" panose="02070309020205020404" pitchFamily="49" charset="0"/>
            </a:endParaRPr>
          </a:p>
        </p:txBody>
      </p:sp>
      <p:cxnSp>
        <p:nvCxnSpPr>
          <p:cNvPr id="22" name="直接箭头连接符 21"/>
          <p:cNvCxnSpPr/>
          <p:nvPr/>
        </p:nvCxnSpPr>
        <p:spPr bwMode="auto">
          <a:xfrm>
            <a:off x="6020287" y="2091663"/>
            <a:ext cx="533484" cy="25554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箭头连接符 22"/>
          <p:cNvCxnSpPr/>
          <p:nvPr/>
        </p:nvCxnSpPr>
        <p:spPr bwMode="auto">
          <a:xfrm flipV="1">
            <a:off x="6084168" y="2555913"/>
            <a:ext cx="469603" cy="23584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文本框 25"/>
          <p:cNvSpPr txBox="1"/>
          <p:nvPr/>
        </p:nvSpPr>
        <p:spPr bwMode="auto">
          <a:xfrm>
            <a:off x="5712078" y="1556792"/>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4</a:t>
            </a:r>
            <a:endParaRPr lang="zh-CN" altLang="en-US" sz="1800" dirty="0">
              <a:latin typeface="Times New Roman" panose="02020603050405020304" pitchFamily="18" charset="0"/>
              <a:cs typeface="Courier New" panose="02070309020205020404" pitchFamily="49" charset="0"/>
            </a:endParaRPr>
          </a:p>
        </p:txBody>
      </p:sp>
      <p:sp>
        <p:nvSpPr>
          <p:cNvPr id="30" name="文本框 29"/>
          <p:cNvSpPr txBox="1"/>
          <p:nvPr/>
        </p:nvSpPr>
        <p:spPr bwMode="auto">
          <a:xfrm>
            <a:off x="5784086" y="242088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3</a:t>
            </a:r>
            <a:endParaRPr lang="zh-CN" altLang="en-US" sz="1800" dirty="0">
              <a:latin typeface="Times New Roman" panose="02020603050405020304" pitchFamily="18" charset="0"/>
              <a:cs typeface="Courier New" panose="02070309020205020404" pitchFamily="49" charset="0"/>
            </a:endParaRPr>
          </a:p>
        </p:txBody>
      </p:sp>
    </p:spTree>
    <p:extLst>
      <p:ext uri="{BB962C8B-B14F-4D97-AF65-F5344CB8AC3E}">
        <p14:creationId xmlns:p14="http://schemas.microsoft.com/office/powerpoint/2010/main" val="299993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 grpId="0"/>
      <p:bldP spid="5" grpId="0"/>
      <p:bldP spid="6" grpId="0"/>
      <p:bldP spid="7" grpId="0"/>
      <p:bldP spid="20" grpId="0"/>
      <p:bldP spid="21" grpId="0" animBg="1"/>
      <p:bldP spid="26" grpId="0" animBg="1"/>
      <p:bldP spid="3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270422" y="478731"/>
            <a:ext cx="6757962" cy="576163"/>
          </a:xfrm>
        </p:spPr>
        <p:txBody>
          <a:bodyPr/>
          <a:lstStyle/>
          <a:p>
            <a:pPr eaLnBrk="1" hangingPunct="1"/>
            <a:r>
              <a:rPr lang="en-US" altLang="zh-CN" b="1" dirty="0"/>
              <a:t>8.1.2  </a:t>
            </a:r>
            <a:r>
              <a:rPr lang="zh-CN" altLang="en-US" b="1" dirty="0"/>
              <a:t>动态规划的基本思想和基本方程</a:t>
            </a:r>
          </a:p>
        </p:txBody>
      </p:sp>
      <p:sp>
        <p:nvSpPr>
          <p:cNvPr id="2" name="内容占位符 1"/>
          <p:cNvSpPr>
            <a:spLocks noGrp="1"/>
          </p:cNvSpPr>
          <p:nvPr>
            <p:ph idx="1"/>
          </p:nvPr>
        </p:nvSpPr>
        <p:spPr>
          <a:xfrm>
            <a:off x="539552" y="1124744"/>
            <a:ext cx="8280920" cy="1274195"/>
          </a:xfrm>
        </p:spPr>
        <p:txBody>
          <a:bodyPr/>
          <a:lstStyle/>
          <a:p>
            <a:r>
              <a:rPr lang="zh-CN" altLang="en-US" dirty="0"/>
              <a:t>结合最短路线问题介绍动态规划方法的基本思想。</a:t>
            </a:r>
            <a:endParaRPr lang="en-US" altLang="zh-CN" dirty="0"/>
          </a:p>
          <a:p>
            <a:pPr lvl="1"/>
            <a:endParaRPr lang="zh-CN" altLang="en-US" dirty="0"/>
          </a:p>
          <a:p>
            <a:endParaRPr lang="zh-CN" altLang="en-US" dirty="0"/>
          </a:p>
        </p:txBody>
      </p:sp>
      <p:sp>
        <p:nvSpPr>
          <p:cNvPr id="18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sp>
        <p:nvSpPr>
          <p:cNvPr id="29" name="矩形 28"/>
          <p:cNvSpPr/>
          <p:nvPr/>
        </p:nvSpPr>
        <p:spPr>
          <a:xfrm>
            <a:off x="326241" y="3440128"/>
            <a:ext cx="6768752" cy="341632"/>
          </a:xfrm>
          <a:prstGeom prst="rect">
            <a:avLst/>
          </a:prstGeom>
        </p:spPr>
        <p:txBody>
          <a:bodyPr wrap="square">
            <a:spAutoFit/>
          </a:bodyPr>
          <a:lstStyle/>
          <a:p>
            <a:pPr lvl="2" eaLnBrk="1" hangingPunct="1">
              <a:lnSpc>
                <a:spcPct val="90000"/>
              </a:lnSpc>
            </a:pPr>
            <a:r>
              <a:rPr lang="zh-CN" altLang="en-US" sz="1800" dirty="0" smtClean="0"/>
              <a:t>阶段</a:t>
            </a:r>
            <a:r>
              <a:rPr lang="en-US" altLang="zh-CN" sz="1800" dirty="0" smtClean="0"/>
              <a:t>k</a:t>
            </a:r>
            <a:r>
              <a:rPr lang="zh-CN" altLang="en-US" sz="1800" dirty="0" smtClean="0"/>
              <a:t>： 阶段</a:t>
            </a:r>
            <a:r>
              <a:rPr lang="en-US" altLang="zh-CN" sz="1800" dirty="0" smtClean="0"/>
              <a:t>1   </a:t>
            </a:r>
            <a:r>
              <a:rPr lang="zh-CN" altLang="en-US" sz="1800" dirty="0" smtClean="0"/>
              <a:t>阶段</a:t>
            </a:r>
            <a:r>
              <a:rPr lang="en-US" altLang="zh-CN" sz="1800" dirty="0" smtClean="0"/>
              <a:t>2   </a:t>
            </a:r>
            <a:r>
              <a:rPr lang="zh-CN" altLang="en-US" sz="1800" dirty="0" smtClean="0"/>
              <a:t>阶段</a:t>
            </a:r>
            <a:r>
              <a:rPr lang="en-US" altLang="zh-CN" sz="1800" dirty="0" smtClean="0"/>
              <a:t>3  </a:t>
            </a:r>
            <a:r>
              <a:rPr lang="zh-CN" altLang="en-US" sz="1800" dirty="0" smtClean="0"/>
              <a:t>阶段</a:t>
            </a:r>
            <a:r>
              <a:rPr lang="en-US" altLang="zh-CN" sz="1800" dirty="0" smtClean="0"/>
              <a:t>4  </a:t>
            </a:r>
            <a:r>
              <a:rPr lang="zh-CN" altLang="en-US" sz="1800" dirty="0" smtClean="0"/>
              <a:t>阶段</a:t>
            </a:r>
            <a:r>
              <a:rPr lang="en-US" altLang="zh-CN" sz="1800" dirty="0" smtClean="0"/>
              <a:t>5  </a:t>
            </a:r>
            <a:r>
              <a:rPr lang="zh-CN" altLang="en-US" sz="1800" dirty="0" smtClean="0"/>
              <a:t>阶段</a:t>
            </a:r>
            <a:r>
              <a:rPr lang="en-US" altLang="zh-CN" sz="1800" dirty="0" smtClean="0"/>
              <a:t>6</a:t>
            </a:r>
            <a:endParaRPr lang="zh-CN" altLang="en-US" sz="1800" dirty="0"/>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3080072627"/>
                  </p:ext>
                </p:extLst>
              </p:nvPr>
            </p:nvGraphicFramePr>
            <p:xfrm>
              <a:off x="1029878" y="3867395"/>
              <a:ext cx="7609947" cy="2645023"/>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450463">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1" i="1" smtClean="0">
                                        <a:latin typeface="Cambria Math" panose="02040503050406030204" pitchFamily="18" charset="0"/>
                                      </a:rPr>
                                      <m:t>𝑺</m:t>
                                    </m:r>
                                  </m:e>
                                  <m:sub>
                                    <m:r>
                                      <a:rPr lang="en-US" altLang="zh-CN" sz="1800" b="0" i="1" smtClean="0">
                                        <a:latin typeface="Cambria Math" panose="02040503050406030204" pitchFamily="18" charset="0"/>
                                      </a:rPr>
                                      <m:t>5</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𝐷</m:t>
                                    </m:r>
                                  </m:e>
                                  <m:sub>
                                    <m:r>
                                      <a:rPr lang="en-US" altLang="zh-CN" sz="1800" b="1" i="1" smtClean="0">
                                        <a:latin typeface="Cambria Math" panose="02040503050406030204" pitchFamily="18" charset="0"/>
                                      </a:rPr>
                                      <m:t>𝟓</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𝟓</m:t>
                                    </m:r>
                                  </m:sub>
                                </m:sSub>
                                <m:r>
                                  <a:rPr lang="en-US" altLang="zh-CN" sz="1800" i="1">
                                    <a:latin typeface="Cambria Math" panose="02040503050406030204" pitchFamily="18" charset="0"/>
                                  </a:rPr>
                                  <m:t>)</m:t>
                                </m:r>
                                <m:r>
                                  <m:rPr>
                                    <m:nor/>
                                  </m:rPr>
                                  <a:rPr lang="zh-CN" altLang="en-US" sz="1800" dirty="0"/>
                                  <m:t> </m:t>
                                </m:r>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𝟓</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𝟓</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𝟓</m:t>
                                        </m:r>
                                      </m:sub>
                                    </m:sSub>
                                  </m:e>
                                </m:d>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𝟔</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𝟔</m:t>
                                        </m:r>
                                      </m:sub>
                                    </m:sSub>
                                  </m:e>
                                </m:d>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𝟓</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𝟓</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𝟓</m:t>
                                      </m:r>
                                    </m:sub>
                                  </m:sSub>
                                </m:e>
                              </m:d>
                            </m:oMath>
                          </a14:m>
                          <a:r>
                            <a:rPr lang="en-US" altLang="zh-CN" dirty="0" smtClean="0"/>
                            <a: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𝟔</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𝟔</m:t>
                                      </m:r>
                                    </m:sub>
                                  </m:sSub>
                                </m:e>
                              </m:d>
                            </m:oMath>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𝟓</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𝟓</m:t>
                                        </m:r>
                                      </m:sub>
                                    </m:sSub>
                                  </m:e>
                                </m:d>
                              </m:oMath>
                            </m:oMathPara>
                          </a14:m>
                          <a:endParaRPr lang="zh-CN" altLang="en-US" dirty="0"/>
                        </a:p>
                      </a:txBody>
                      <a:tcPr/>
                    </a:tc>
                    <a:tc>
                      <a:txBody>
                        <a:bodyPr/>
                        <a:lstStyle/>
                        <a:p>
                          <a:r>
                            <a:rPr lang="zh-CN" altLang="en-US" dirty="0" smtClean="0"/>
                            <a:t>最优决策</a:t>
                          </a:r>
                          <a14:m>
                            <m:oMath xmlns:m="http://schemas.openxmlformats.org/officeDocument/2006/math">
                              <m:sSubSup>
                                <m:sSubSupPr>
                                  <m:ctrlPr>
                                    <a:rPr lang="en-US" altLang="zh-CN"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𝟓</m:t>
                                  </m:r>
                                </m:sub>
                                <m:sup>
                                  <m:r>
                                    <a:rPr lang="en-US" altLang="zh-CN" b="1" i="1" smtClean="0">
                                      <a:latin typeface="Cambria Math" panose="02040503050406030204" pitchFamily="18" charset="0"/>
                                    </a:rPr>
                                    <m:t>∗</m:t>
                                  </m:r>
                                </m:sup>
                              </m:sSubSup>
                            </m:oMath>
                          </a14:m>
                          <a:endParaRPr lang="zh-CN" altLang="en-US" dirty="0"/>
                        </a:p>
                      </a:txBody>
                      <a:tcPr/>
                    </a:tc>
                    <a:extLst>
                      <a:ext uri="{0D108BD9-81ED-4DB2-BD59-A6C34878D82A}">
                        <a16:rowId xmlns:a16="http://schemas.microsoft.com/office/drawing/2014/main" val="37799757"/>
                      </a:ext>
                    </a:extLst>
                  </a:tr>
                  <a:tr h="338922">
                    <a:tc rowSpan="2">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i="1">
                                        <a:latin typeface="Cambria Math" panose="02040503050406030204" pitchFamily="18" charset="0"/>
                                      </a:rPr>
                                      <m:t>1</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i="1">
                                      <a:latin typeface="Cambria Math" panose="02040503050406030204" pitchFamily="18" charset="0"/>
                                    </a:rPr>
                                    <m:t>1</m:t>
                                  </m:r>
                                </m:sub>
                              </m:sSub>
                            </m:oMath>
                          </a14:m>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7</a:t>
                          </a:r>
                          <a:endParaRPr lang="zh-CN" altLang="en-US" dirty="0"/>
                        </a:p>
                      </a:txBody>
                      <a:tcPr/>
                    </a:tc>
                    <a:tc rowSpan="2">
                      <a:txBody>
                        <a:bodyPr/>
                        <a:lstStyle/>
                        <a:p>
                          <a:r>
                            <a:rPr lang="en-US" altLang="zh-CN" dirty="0" smtClean="0"/>
                            <a:t>7</a:t>
                          </a:r>
                          <a:endParaRPr lang="zh-CN" altLang="en-US" dirty="0"/>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i="1">
                                        <a:latin typeface="Cambria Math" panose="02040503050406030204" pitchFamily="18" charset="0"/>
                                      </a:rPr>
                                      <m:t>1</m:t>
                                    </m:r>
                                  </m:sub>
                                </m:sSub>
                                <m:r>
                                  <m:rPr>
                                    <m:nor/>
                                  </m:rPr>
                                  <a:rPr lang="en-US" altLang="zh-CN" dirty="0" smtClean="0"/>
                                  <m:t>−&gt;</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i="1">
                                        <a:latin typeface="Cambria Math" panose="02040503050406030204" pitchFamily="18" charset="0"/>
                                      </a:rPr>
                                      <m:t>1</m:t>
                                    </m:r>
                                  </m:sub>
                                </m:sSub>
                              </m:oMath>
                            </m:oMathPara>
                          </a14:m>
                          <a:endParaRPr lang="zh-CN" altLang="en-US" dirty="0"/>
                        </a:p>
                      </a:txBody>
                      <a:tcPr/>
                    </a:tc>
                    <a:extLst>
                      <a:ext uri="{0D108BD9-81ED-4DB2-BD59-A6C34878D82A}">
                        <a16:rowId xmlns:a16="http://schemas.microsoft.com/office/drawing/2014/main" val="3736361684"/>
                      </a:ext>
                    </a:extLst>
                  </a:tr>
                  <a:tr h="338922">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8</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91311635"/>
                      </a:ext>
                    </a:extLst>
                  </a:tr>
                  <a:tr h="338922">
                    <a:tc rowSpan="2">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i="1">
                                        <a:latin typeface="Cambria Math" panose="02040503050406030204" pitchFamily="18" charset="0"/>
                                      </a:rPr>
                                      <m:t>2</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i="1">
                                      <a:latin typeface="Cambria Math" panose="02040503050406030204" pitchFamily="18" charset="0"/>
                                    </a:rPr>
                                    <m:t>1</m:t>
                                  </m:r>
                                </m:sub>
                              </m:sSub>
                            </m:oMath>
                          </a14:m>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9</a:t>
                          </a:r>
                          <a:endParaRPr lang="zh-CN" altLang="en-US" dirty="0"/>
                        </a:p>
                      </a:txBody>
                      <a:tcPr/>
                    </a:tc>
                    <a:tc rowSpan="2">
                      <a:txBody>
                        <a:bodyPr/>
                        <a:lstStyle/>
                        <a:p>
                          <a:r>
                            <a:rPr lang="en-US" altLang="zh-CN" dirty="0" smtClean="0"/>
                            <a:t>5</a:t>
                          </a:r>
                          <a:endParaRPr lang="zh-CN" altLang="en-US" dirty="0"/>
                        </a:p>
                      </a:txBody>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2</m:t>
                                  </m:r>
                                </m:sub>
                              </m:sSub>
                            </m:oMath>
                          </a14:m>
                          <a:endParaRPr lang="zh-CN" altLang="en-US" dirty="0"/>
                        </a:p>
                      </a:txBody>
                      <a:tcPr/>
                    </a:tc>
                    <a:extLst>
                      <a:ext uri="{0D108BD9-81ED-4DB2-BD59-A6C34878D82A}">
                        <a16:rowId xmlns:a16="http://schemas.microsoft.com/office/drawing/2014/main" val="752238598"/>
                      </a:ext>
                    </a:extLst>
                  </a:tr>
                  <a:tr h="338922">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5</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944060997"/>
                      </a:ext>
                    </a:extLst>
                  </a:tr>
                  <a:tr h="338922">
                    <a:tc rowSpan="2">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3</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3</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i="1">
                                      <a:latin typeface="Cambria Math" panose="02040503050406030204" pitchFamily="18" charset="0"/>
                                    </a:rPr>
                                    <m:t>1</m:t>
                                  </m:r>
                                </m:sub>
                              </m:sSub>
                            </m:oMath>
                          </a14:m>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10</a:t>
                          </a:r>
                          <a:endParaRPr lang="zh-CN" altLang="en-US" dirty="0"/>
                        </a:p>
                      </a:txBody>
                      <a:tcPr/>
                    </a:tc>
                    <a:tc rowSpan="2">
                      <a:txBody>
                        <a:bodyPr/>
                        <a:lstStyle/>
                        <a:p>
                          <a:r>
                            <a:rPr lang="en-US" altLang="zh-CN" dirty="0" smtClean="0"/>
                            <a:t>9</a:t>
                          </a:r>
                          <a:endParaRPr lang="zh-CN" altLang="en-US" dirty="0"/>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3</m:t>
                                    </m:r>
                                  </m:sub>
                                </m:sSub>
                                <m:r>
                                  <m:rPr>
                                    <m:nor/>
                                  </m:rPr>
                                  <a:rPr lang="en-US" altLang="zh-CN" dirty="0" smtClean="0"/>
                                  <m:t>−&gt;</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2</m:t>
                                    </m:r>
                                  </m:sub>
                                </m:sSub>
                              </m:oMath>
                            </m:oMathPara>
                          </a14:m>
                          <a:endParaRPr lang="zh-CN" altLang="en-US" dirty="0"/>
                        </a:p>
                      </a:txBody>
                      <a:tcPr/>
                    </a:tc>
                    <a:extLst>
                      <a:ext uri="{0D108BD9-81ED-4DB2-BD59-A6C34878D82A}">
                        <a16:rowId xmlns:a16="http://schemas.microsoft.com/office/drawing/2014/main" val="3280564706"/>
                      </a:ext>
                    </a:extLst>
                  </a:tr>
                  <a:tr h="338922">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3</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9</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74687360"/>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3080072627"/>
                  </p:ext>
                </p:extLst>
              </p:nvPr>
            </p:nvGraphicFramePr>
            <p:xfrm>
              <a:off x="1029878" y="3867395"/>
              <a:ext cx="7609947" cy="2645023"/>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450463">
                    <a:tc>
                      <a:txBody>
                        <a:bodyPr/>
                        <a:lstStyle/>
                        <a:p>
                          <a:endParaRPr lang="zh-CN"/>
                        </a:p>
                      </a:txBody>
                      <a:tcPr>
                        <a:blipFill>
                          <a:blip r:embed="rId4"/>
                          <a:stretch>
                            <a:fillRect l="-1299" t="-10811" r="-1528571" b="-508108"/>
                          </a:stretch>
                        </a:blipFill>
                      </a:tcPr>
                    </a:tc>
                    <a:tc>
                      <a:txBody>
                        <a:bodyPr/>
                        <a:lstStyle/>
                        <a:p>
                          <a:endParaRPr lang="zh-CN"/>
                        </a:p>
                      </a:txBody>
                      <a:tcPr>
                        <a:blipFill>
                          <a:blip r:embed="rId4"/>
                          <a:stretch>
                            <a:fillRect l="-49367" t="-10811" r="-644937" b="-508108"/>
                          </a:stretch>
                        </a:blipFill>
                      </a:tcPr>
                    </a:tc>
                    <a:tc>
                      <a:txBody>
                        <a:bodyPr/>
                        <a:lstStyle/>
                        <a:p>
                          <a:endParaRPr lang="zh-CN"/>
                        </a:p>
                      </a:txBody>
                      <a:tcPr>
                        <a:blipFill>
                          <a:blip r:embed="rId4"/>
                          <a:stretch>
                            <a:fillRect l="-120408" t="-10811" r="-419898" b="-508108"/>
                          </a:stretch>
                        </a:blipFill>
                      </a:tcPr>
                    </a:tc>
                    <a:tc>
                      <a:txBody>
                        <a:bodyPr/>
                        <a:lstStyle/>
                        <a:p>
                          <a:endParaRPr lang="zh-CN"/>
                        </a:p>
                      </a:txBody>
                      <a:tcPr>
                        <a:blipFill>
                          <a:blip r:embed="rId4"/>
                          <a:stretch>
                            <a:fillRect l="-310791" t="-10811" r="-492086" b="-508108"/>
                          </a:stretch>
                        </a:blipFill>
                      </a:tcPr>
                    </a:tc>
                    <a:tc>
                      <a:txBody>
                        <a:bodyPr/>
                        <a:lstStyle/>
                        <a:p>
                          <a:endParaRPr lang="zh-CN"/>
                        </a:p>
                      </a:txBody>
                      <a:tcPr>
                        <a:blipFill>
                          <a:blip r:embed="rId4"/>
                          <a:stretch>
                            <a:fillRect l="-180696" t="-10811" r="-116456" b="-508108"/>
                          </a:stretch>
                        </a:blipFill>
                      </a:tcPr>
                    </a:tc>
                    <a:tc>
                      <a:txBody>
                        <a:bodyPr/>
                        <a:lstStyle/>
                        <a:p>
                          <a:endParaRPr lang="zh-CN"/>
                        </a:p>
                      </a:txBody>
                      <a:tcPr>
                        <a:blipFill>
                          <a:blip r:embed="rId4"/>
                          <a:stretch>
                            <a:fillRect l="-638129" t="-10811" r="-164748" b="-508108"/>
                          </a:stretch>
                        </a:blipFill>
                      </a:tcPr>
                    </a:tc>
                    <a:tc>
                      <a:txBody>
                        <a:bodyPr/>
                        <a:lstStyle/>
                        <a:p>
                          <a:endParaRPr lang="zh-CN"/>
                        </a:p>
                      </a:txBody>
                      <a:tcPr>
                        <a:blipFill>
                          <a:blip r:embed="rId4"/>
                          <a:stretch>
                            <a:fillRect l="-456000" t="-10811" r="-1778" b="-508108"/>
                          </a:stretch>
                        </a:blipFill>
                      </a:tcPr>
                    </a:tc>
                    <a:extLst>
                      <a:ext uri="{0D108BD9-81ED-4DB2-BD59-A6C34878D82A}">
                        <a16:rowId xmlns:a16="http://schemas.microsoft.com/office/drawing/2014/main" val="37799757"/>
                      </a:ext>
                    </a:extLst>
                  </a:tr>
                  <a:tr h="365760">
                    <a:tc rowSpan="2">
                      <a:txBody>
                        <a:bodyPr/>
                        <a:lstStyle/>
                        <a:p>
                          <a:endParaRPr lang="zh-CN"/>
                        </a:p>
                      </a:txBody>
                      <a:tcPr>
                        <a:blipFill>
                          <a:blip r:embed="rId4"/>
                          <a:stretch>
                            <a:fillRect l="-1299" t="-68333" r="-1528571" b="-213333"/>
                          </a:stretch>
                        </a:blipFill>
                      </a:tcPr>
                    </a:tc>
                    <a:tc>
                      <a:txBody>
                        <a:bodyPr/>
                        <a:lstStyle/>
                        <a:p>
                          <a:endParaRPr lang="zh-CN"/>
                        </a:p>
                      </a:txBody>
                      <a:tcPr>
                        <a:blipFill>
                          <a:blip r:embed="rId4"/>
                          <a:stretch>
                            <a:fillRect l="-49367" t="-136667" r="-644937" b="-526667"/>
                          </a:stretch>
                        </a:blipFill>
                      </a:tcPr>
                    </a:tc>
                    <a:tc>
                      <a:txBody>
                        <a:bodyPr/>
                        <a:lstStyle/>
                        <a:p>
                          <a:r>
                            <a:rPr lang="en-US" altLang="zh-CN" dirty="0" smtClean="0"/>
                            <a:t>3</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7</a:t>
                          </a:r>
                          <a:endParaRPr lang="zh-CN" altLang="en-US" dirty="0"/>
                        </a:p>
                      </a:txBody>
                      <a:tcPr/>
                    </a:tc>
                    <a:tc rowSpan="2">
                      <a:txBody>
                        <a:bodyPr/>
                        <a:lstStyle/>
                        <a:p>
                          <a:r>
                            <a:rPr lang="en-US" altLang="zh-CN" dirty="0" smtClean="0"/>
                            <a:t>7</a:t>
                          </a:r>
                          <a:endParaRPr lang="zh-CN" altLang="en-US" dirty="0"/>
                        </a:p>
                      </a:txBody>
                      <a:tcPr/>
                    </a:tc>
                    <a:tc rowSpan="2">
                      <a:txBody>
                        <a:bodyPr/>
                        <a:lstStyle/>
                        <a:p>
                          <a:endParaRPr lang="zh-CN"/>
                        </a:p>
                      </a:txBody>
                      <a:tcPr>
                        <a:blipFill>
                          <a:blip r:embed="rId4"/>
                          <a:stretch>
                            <a:fillRect l="-456000" t="-68333" r="-1778" b="-213333"/>
                          </a:stretch>
                        </a:blipFill>
                      </a:tcPr>
                    </a:tc>
                    <a:extLst>
                      <a:ext uri="{0D108BD9-81ED-4DB2-BD59-A6C34878D82A}">
                        <a16:rowId xmlns:a16="http://schemas.microsoft.com/office/drawing/2014/main" val="3736361684"/>
                      </a:ext>
                    </a:extLst>
                  </a:tr>
                  <a:tr h="365760">
                    <a:tc vMerge="1">
                      <a:txBody>
                        <a:bodyPr/>
                        <a:lstStyle/>
                        <a:p>
                          <a:endParaRPr lang="zh-CN" altLang="en-US" dirty="0"/>
                        </a:p>
                      </a:txBody>
                      <a:tcPr/>
                    </a:tc>
                    <a:tc>
                      <a:txBody>
                        <a:bodyPr/>
                        <a:lstStyle/>
                        <a:p>
                          <a:endParaRPr lang="zh-CN"/>
                        </a:p>
                      </a:txBody>
                      <a:tcPr>
                        <a:blipFill>
                          <a:blip r:embed="rId4"/>
                          <a:stretch>
                            <a:fillRect l="-49367" t="-236667" r="-644937" b="-426667"/>
                          </a:stretch>
                        </a:blipFill>
                      </a:tcPr>
                    </a:tc>
                    <a:tc>
                      <a:txBody>
                        <a:bodyPr/>
                        <a:lstStyle/>
                        <a:p>
                          <a:r>
                            <a:rPr lang="en-US" altLang="zh-CN" dirty="0" smtClean="0"/>
                            <a:t>5</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8</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91311635"/>
                      </a:ext>
                    </a:extLst>
                  </a:tr>
                  <a:tr h="365760">
                    <a:tc rowSpan="2">
                      <a:txBody>
                        <a:bodyPr/>
                        <a:lstStyle/>
                        <a:p>
                          <a:endParaRPr lang="zh-CN"/>
                        </a:p>
                      </a:txBody>
                      <a:tcPr>
                        <a:blipFill>
                          <a:blip r:embed="rId4"/>
                          <a:stretch>
                            <a:fillRect l="-1299" t="-166942" r="-1528571" b="-111570"/>
                          </a:stretch>
                        </a:blipFill>
                      </a:tcPr>
                    </a:tc>
                    <a:tc>
                      <a:txBody>
                        <a:bodyPr/>
                        <a:lstStyle/>
                        <a:p>
                          <a:endParaRPr lang="zh-CN"/>
                        </a:p>
                      </a:txBody>
                      <a:tcPr>
                        <a:blipFill>
                          <a:blip r:embed="rId4"/>
                          <a:stretch>
                            <a:fillRect l="-49367" t="-331148" r="-644937" b="-319672"/>
                          </a:stretch>
                        </a:blipFill>
                      </a:tcPr>
                    </a:tc>
                    <a:tc>
                      <a:txBody>
                        <a:bodyPr/>
                        <a:lstStyle/>
                        <a:p>
                          <a:r>
                            <a:rPr lang="en-US" altLang="zh-CN" dirty="0" smtClean="0"/>
                            <a:t>5</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9</a:t>
                          </a:r>
                          <a:endParaRPr lang="zh-CN" altLang="en-US" dirty="0"/>
                        </a:p>
                      </a:txBody>
                      <a:tcPr/>
                    </a:tc>
                    <a:tc rowSpan="2">
                      <a:txBody>
                        <a:bodyPr/>
                        <a:lstStyle/>
                        <a:p>
                          <a:r>
                            <a:rPr lang="en-US" altLang="zh-CN" dirty="0" smtClean="0"/>
                            <a:t>5</a:t>
                          </a:r>
                          <a:endParaRPr lang="zh-CN" altLang="en-US" dirty="0"/>
                        </a:p>
                      </a:txBody>
                      <a:tcPr/>
                    </a:tc>
                    <a:tc rowSpan="2">
                      <a:txBody>
                        <a:bodyPr/>
                        <a:lstStyle/>
                        <a:p>
                          <a:endParaRPr lang="zh-CN"/>
                        </a:p>
                      </a:txBody>
                      <a:tcPr>
                        <a:blipFill>
                          <a:blip r:embed="rId4"/>
                          <a:stretch>
                            <a:fillRect l="-456000" t="-166942" r="-1778" b="-111570"/>
                          </a:stretch>
                        </a:blipFill>
                      </a:tcPr>
                    </a:tc>
                    <a:extLst>
                      <a:ext uri="{0D108BD9-81ED-4DB2-BD59-A6C34878D82A}">
                        <a16:rowId xmlns:a16="http://schemas.microsoft.com/office/drawing/2014/main" val="752238598"/>
                      </a:ext>
                    </a:extLst>
                  </a:tr>
                  <a:tr h="365760">
                    <a:tc vMerge="1">
                      <a:txBody>
                        <a:bodyPr/>
                        <a:lstStyle/>
                        <a:p>
                          <a:endParaRPr lang="zh-CN" altLang="en-US" dirty="0"/>
                        </a:p>
                      </a:txBody>
                      <a:tcPr/>
                    </a:tc>
                    <a:tc>
                      <a:txBody>
                        <a:bodyPr/>
                        <a:lstStyle/>
                        <a:p>
                          <a:endParaRPr lang="zh-CN"/>
                        </a:p>
                      </a:txBody>
                      <a:tcPr>
                        <a:blipFill>
                          <a:blip r:embed="rId4"/>
                          <a:stretch>
                            <a:fillRect l="-49367" t="-438333" r="-644937" b="-225000"/>
                          </a:stretch>
                        </a:blipFill>
                      </a:tcPr>
                    </a:tc>
                    <a:tc>
                      <a:txBody>
                        <a:bodyPr/>
                        <a:lstStyle/>
                        <a:p>
                          <a:r>
                            <a:rPr lang="en-US" altLang="zh-CN" dirty="0" smtClean="0"/>
                            <a:t>2</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5</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944060997"/>
                      </a:ext>
                    </a:extLst>
                  </a:tr>
                  <a:tr h="365760">
                    <a:tc rowSpan="2">
                      <a:txBody>
                        <a:bodyPr/>
                        <a:lstStyle/>
                        <a:p>
                          <a:endParaRPr lang="zh-CN"/>
                        </a:p>
                      </a:txBody>
                      <a:tcPr>
                        <a:blipFill>
                          <a:blip r:embed="rId4"/>
                          <a:stretch>
                            <a:fillRect l="-1299" t="-269167" r="-1528571" b="-12500"/>
                          </a:stretch>
                        </a:blipFill>
                      </a:tcPr>
                    </a:tc>
                    <a:tc>
                      <a:txBody>
                        <a:bodyPr/>
                        <a:lstStyle/>
                        <a:p>
                          <a:endParaRPr lang="zh-CN"/>
                        </a:p>
                      </a:txBody>
                      <a:tcPr>
                        <a:blipFill>
                          <a:blip r:embed="rId4"/>
                          <a:stretch>
                            <a:fillRect l="-49367" t="-538333" r="-644937" b="-125000"/>
                          </a:stretch>
                        </a:blipFill>
                      </a:tcPr>
                    </a:tc>
                    <a:tc>
                      <a:txBody>
                        <a:bodyPr/>
                        <a:lstStyle/>
                        <a:p>
                          <a:r>
                            <a:rPr lang="en-US" altLang="zh-CN" dirty="0" smtClean="0"/>
                            <a:t>6</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10</a:t>
                          </a:r>
                          <a:endParaRPr lang="zh-CN" altLang="en-US" dirty="0"/>
                        </a:p>
                      </a:txBody>
                      <a:tcPr/>
                    </a:tc>
                    <a:tc rowSpan="2">
                      <a:txBody>
                        <a:bodyPr/>
                        <a:lstStyle/>
                        <a:p>
                          <a:r>
                            <a:rPr lang="en-US" altLang="zh-CN" dirty="0" smtClean="0"/>
                            <a:t>9</a:t>
                          </a:r>
                          <a:endParaRPr lang="zh-CN" altLang="en-US" dirty="0"/>
                        </a:p>
                      </a:txBody>
                      <a:tcPr/>
                    </a:tc>
                    <a:tc rowSpan="2">
                      <a:txBody>
                        <a:bodyPr/>
                        <a:lstStyle/>
                        <a:p>
                          <a:endParaRPr lang="zh-CN"/>
                        </a:p>
                      </a:txBody>
                      <a:tcPr>
                        <a:blipFill>
                          <a:blip r:embed="rId4"/>
                          <a:stretch>
                            <a:fillRect l="-456000" t="-269167" r="-1778" b="-12500"/>
                          </a:stretch>
                        </a:blipFill>
                      </a:tcPr>
                    </a:tc>
                    <a:extLst>
                      <a:ext uri="{0D108BD9-81ED-4DB2-BD59-A6C34878D82A}">
                        <a16:rowId xmlns:a16="http://schemas.microsoft.com/office/drawing/2014/main" val="3280564706"/>
                      </a:ext>
                    </a:extLst>
                  </a:tr>
                  <a:tr h="365760">
                    <a:tc vMerge="1">
                      <a:txBody>
                        <a:bodyPr/>
                        <a:lstStyle/>
                        <a:p>
                          <a:endParaRPr lang="zh-CN" altLang="en-US" dirty="0"/>
                        </a:p>
                      </a:txBody>
                      <a:tcPr/>
                    </a:tc>
                    <a:tc>
                      <a:txBody>
                        <a:bodyPr/>
                        <a:lstStyle/>
                        <a:p>
                          <a:endParaRPr lang="zh-CN"/>
                        </a:p>
                      </a:txBody>
                      <a:tcPr>
                        <a:blipFill>
                          <a:blip r:embed="rId4"/>
                          <a:stretch>
                            <a:fillRect l="-49367" t="-638333" r="-644937" b="-25000"/>
                          </a:stretch>
                        </a:blipFill>
                      </a:tcPr>
                    </a:tc>
                    <a:tc>
                      <a:txBody>
                        <a:bodyPr/>
                        <a:lstStyle/>
                        <a:p>
                          <a:r>
                            <a:rPr lang="en-US" altLang="zh-CN" dirty="0" smtClean="0"/>
                            <a:t>6</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9</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74687360"/>
                      </a:ext>
                    </a:extLst>
                  </a:tr>
                </a:tbl>
              </a:graphicData>
            </a:graphic>
          </p:graphicFrame>
        </mc:Fallback>
      </mc:AlternateContent>
      <p:sp>
        <p:nvSpPr>
          <p:cNvPr id="19" name="矩形 18"/>
          <p:cNvSpPr/>
          <p:nvPr/>
        </p:nvSpPr>
        <p:spPr>
          <a:xfrm>
            <a:off x="-26526" y="4556784"/>
            <a:ext cx="1056404" cy="341632"/>
          </a:xfrm>
          <a:prstGeom prst="rect">
            <a:avLst/>
          </a:prstGeom>
        </p:spPr>
        <p:txBody>
          <a:bodyPr wrap="square">
            <a:spAutoFit/>
          </a:bodyPr>
          <a:lstStyle/>
          <a:p>
            <a:pPr marL="0" lvl="2" defTabSz="179388" eaLnBrk="1" hangingPunct="1">
              <a:lnSpc>
                <a:spcPct val="90000"/>
              </a:lnSpc>
            </a:pPr>
            <a:r>
              <a:rPr lang="zh-CN" altLang="en-US" sz="1800" dirty="0" smtClean="0"/>
              <a:t>阶段</a:t>
            </a:r>
            <a:r>
              <a:rPr lang="en-US" altLang="zh-CN" sz="1800" dirty="0" smtClean="0"/>
              <a:t>k=5</a:t>
            </a:r>
            <a:endParaRPr lang="zh-CN" altLang="en-US" sz="1800" dirty="0"/>
          </a:p>
        </p:txBody>
      </p:sp>
      <mc:AlternateContent xmlns:mc="http://schemas.openxmlformats.org/markup-compatibility/2006" xmlns:a14="http://schemas.microsoft.com/office/drawing/2010/main">
        <mc:Choice Requires="a14">
          <p:sp>
            <p:nvSpPr>
              <p:cNvPr id="20" name="矩形 19"/>
              <p:cNvSpPr/>
              <p:nvPr/>
            </p:nvSpPr>
            <p:spPr>
              <a:xfrm>
                <a:off x="1350777" y="6533875"/>
                <a:ext cx="1415772" cy="338554"/>
              </a:xfrm>
              <a:prstGeom prst="rect">
                <a:avLst/>
              </a:prstGeom>
            </p:spPr>
            <p:txBody>
              <a:bodyPr wrap="none">
                <a:spAutoFit/>
              </a:bodyPr>
              <a:lstStyle/>
              <a:p>
                <a:r>
                  <a:rPr lang="zh-CN" altLang="en-US" sz="1600" dirty="0"/>
                  <a:t>允许决策</a:t>
                </a:r>
                <a14:m>
                  <m:oMath xmlns:m="http://schemas.openxmlformats.org/officeDocument/2006/math">
                    <m:r>
                      <a:rPr lang="zh-CN" altLang="en-US" sz="1600" i="1" dirty="0">
                        <a:latin typeface="Cambria Math" panose="02040503050406030204" pitchFamily="18" charset="0"/>
                      </a:rPr>
                      <m:t>集合</m:t>
                    </m:r>
                  </m:oMath>
                </a14:m>
                <a:endParaRPr lang="zh-CN" altLang="en-US" sz="1600" dirty="0"/>
              </a:p>
            </p:txBody>
          </p:sp>
        </mc:Choice>
        <mc:Fallback xmlns="">
          <p:sp>
            <p:nvSpPr>
              <p:cNvPr id="20" name="矩形 19"/>
              <p:cNvSpPr>
                <a:spLocks noRot="1" noChangeAspect="1" noMove="1" noResize="1" noEditPoints="1" noAdjustHandles="1" noChangeArrowheads="1" noChangeShapeType="1" noTextEdit="1"/>
              </p:cNvSpPr>
              <p:nvPr/>
            </p:nvSpPr>
            <p:spPr>
              <a:xfrm>
                <a:off x="1350777" y="6533875"/>
                <a:ext cx="1415772" cy="338554"/>
              </a:xfrm>
              <a:prstGeom prst="rect">
                <a:avLst/>
              </a:prstGeom>
              <a:blipFill>
                <a:blip r:embed="rId5"/>
                <a:stretch>
                  <a:fillRect l="-2586" t="-7273" b="-21818"/>
                </a:stretch>
              </a:blipFill>
            </p:spPr>
            <p:txBody>
              <a:bodyPr/>
              <a:lstStyle/>
              <a:p>
                <a:r>
                  <a:rPr lang="zh-CN" altLang="en-US">
                    <a:noFill/>
                  </a:rPr>
                  <a:t> </a:t>
                </a:r>
              </a:p>
            </p:txBody>
          </p:sp>
        </mc:Fallback>
      </mc:AlternateContent>
      <p:sp>
        <p:nvSpPr>
          <p:cNvPr id="21" name="矩形 20"/>
          <p:cNvSpPr/>
          <p:nvPr/>
        </p:nvSpPr>
        <p:spPr>
          <a:xfrm>
            <a:off x="2699792" y="6533875"/>
            <a:ext cx="1415772" cy="338554"/>
          </a:xfrm>
          <a:prstGeom prst="rect">
            <a:avLst/>
          </a:prstGeom>
        </p:spPr>
        <p:txBody>
          <a:bodyPr wrap="none">
            <a:spAutoFit/>
          </a:bodyPr>
          <a:lstStyle/>
          <a:p>
            <a:r>
              <a:rPr lang="zh-CN" altLang="en-US" sz="1600" dirty="0"/>
              <a:t>阶段指标函数</a:t>
            </a:r>
          </a:p>
        </p:txBody>
      </p:sp>
      <p:sp>
        <p:nvSpPr>
          <p:cNvPr id="22" name="矩形 21"/>
          <p:cNvSpPr/>
          <p:nvPr/>
        </p:nvSpPr>
        <p:spPr>
          <a:xfrm>
            <a:off x="6444208" y="6533875"/>
            <a:ext cx="1415772" cy="338554"/>
          </a:xfrm>
          <a:prstGeom prst="rect">
            <a:avLst/>
          </a:prstGeom>
        </p:spPr>
        <p:txBody>
          <a:bodyPr wrap="none">
            <a:spAutoFit/>
          </a:bodyPr>
          <a:lstStyle/>
          <a:p>
            <a:r>
              <a:rPr lang="zh-CN" altLang="en-US" sz="1600" dirty="0"/>
              <a:t>最优指标函数</a:t>
            </a:r>
          </a:p>
        </p:txBody>
      </p:sp>
      <p:sp>
        <p:nvSpPr>
          <p:cNvPr id="23" name="矩形 22"/>
          <p:cNvSpPr/>
          <p:nvPr/>
        </p:nvSpPr>
        <p:spPr>
          <a:xfrm>
            <a:off x="4644008" y="6533875"/>
            <a:ext cx="1415772" cy="338554"/>
          </a:xfrm>
          <a:prstGeom prst="rect">
            <a:avLst/>
          </a:prstGeom>
        </p:spPr>
        <p:txBody>
          <a:bodyPr wrap="none">
            <a:spAutoFit/>
          </a:bodyPr>
          <a:lstStyle/>
          <a:p>
            <a:r>
              <a:rPr lang="zh-CN" altLang="en-US" sz="1600" dirty="0"/>
              <a:t>过程</a:t>
            </a:r>
            <a:r>
              <a:rPr lang="zh-CN" altLang="en-US" sz="1600" dirty="0" smtClean="0"/>
              <a:t>指标</a:t>
            </a:r>
            <a:r>
              <a:rPr lang="zh-CN" altLang="en-US" sz="1600" dirty="0"/>
              <a:t>函数</a:t>
            </a:r>
          </a:p>
        </p:txBody>
      </p:sp>
      <p:pic>
        <p:nvPicPr>
          <p:cNvPr id="24"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07704" y="1556792"/>
            <a:ext cx="5113942" cy="207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Line 9"/>
          <p:cNvSpPr>
            <a:spLocks noChangeShapeType="1"/>
          </p:cNvSpPr>
          <p:nvPr/>
        </p:nvSpPr>
        <p:spPr bwMode="auto">
          <a:xfrm flipH="1">
            <a:off x="2233291" y="1778592"/>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6" name="Line 12"/>
          <p:cNvSpPr>
            <a:spLocks noChangeShapeType="1"/>
          </p:cNvSpPr>
          <p:nvPr/>
        </p:nvSpPr>
        <p:spPr bwMode="auto">
          <a:xfrm>
            <a:off x="298895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0" name="Line 9"/>
          <p:cNvSpPr>
            <a:spLocks noChangeShapeType="1"/>
          </p:cNvSpPr>
          <p:nvPr/>
        </p:nvSpPr>
        <p:spPr bwMode="auto">
          <a:xfrm flipH="1">
            <a:off x="3673451" y="1779163"/>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1" name="Line 12"/>
          <p:cNvSpPr>
            <a:spLocks noChangeShapeType="1"/>
          </p:cNvSpPr>
          <p:nvPr/>
        </p:nvSpPr>
        <p:spPr bwMode="auto">
          <a:xfrm>
            <a:off x="442911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2" name="Line 9"/>
          <p:cNvSpPr>
            <a:spLocks noChangeShapeType="1"/>
          </p:cNvSpPr>
          <p:nvPr/>
        </p:nvSpPr>
        <p:spPr bwMode="auto">
          <a:xfrm flipH="1">
            <a:off x="5113611" y="1772816"/>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3" name="Line 12"/>
          <p:cNvSpPr>
            <a:spLocks noChangeShapeType="1"/>
          </p:cNvSpPr>
          <p:nvPr/>
        </p:nvSpPr>
        <p:spPr bwMode="auto">
          <a:xfrm>
            <a:off x="5869270" y="1772816"/>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4" name="矩形 33"/>
          <p:cNvSpPr/>
          <p:nvPr/>
        </p:nvSpPr>
        <p:spPr>
          <a:xfrm>
            <a:off x="326241" y="3440128"/>
            <a:ext cx="6768752" cy="341632"/>
          </a:xfrm>
          <a:prstGeom prst="rect">
            <a:avLst/>
          </a:prstGeom>
        </p:spPr>
        <p:txBody>
          <a:bodyPr wrap="square">
            <a:spAutoFit/>
          </a:bodyPr>
          <a:lstStyle/>
          <a:p>
            <a:pPr lvl="2" eaLnBrk="1" hangingPunct="1">
              <a:lnSpc>
                <a:spcPct val="90000"/>
              </a:lnSpc>
            </a:pPr>
            <a:r>
              <a:rPr lang="zh-CN" altLang="en-US" sz="1800" dirty="0" smtClean="0"/>
              <a:t>阶段</a:t>
            </a:r>
            <a:r>
              <a:rPr lang="en-US" altLang="zh-CN" sz="1800" dirty="0" smtClean="0"/>
              <a:t>k</a:t>
            </a:r>
            <a:r>
              <a:rPr lang="zh-CN" altLang="en-US" sz="1800" dirty="0" smtClean="0"/>
              <a:t>： 阶段</a:t>
            </a:r>
            <a:r>
              <a:rPr lang="en-US" altLang="zh-CN" sz="1800" dirty="0" smtClean="0"/>
              <a:t>1   </a:t>
            </a:r>
            <a:r>
              <a:rPr lang="zh-CN" altLang="en-US" sz="1800" dirty="0" smtClean="0"/>
              <a:t>阶段</a:t>
            </a:r>
            <a:r>
              <a:rPr lang="en-US" altLang="zh-CN" sz="1800" dirty="0" smtClean="0"/>
              <a:t>2   </a:t>
            </a:r>
            <a:r>
              <a:rPr lang="zh-CN" altLang="en-US" sz="1800" dirty="0" smtClean="0"/>
              <a:t>阶段</a:t>
            </a:r>
            <a:r>
              <a:rPr lang="en-US" altLang="zh-CN" sz="1800" dirty="0" smtClean="0"/>
              <a:t>3  </a:t>
            </a:r>
            <a:r>
              <a:rPr lang="zh-CN" altLang="en-US" sz="1800" dirty="0" smtClean="0"/>
              <a:t>阶段</a:t>
            </a:r>
            <a:r>
              <a:rPr lang="en-US" altLang="zh-CN" sz="1800" dirty="0" smtClean="0"/>
              <a:t>4  </a:t>
            </a:r>
            <a:r>
              <a:rPr lang="zh-CN" altLang="en-US" sz="1800" dirty="0" smtClean="0"/>
              <a:t>阶段</a:t>
            </a:r>
            <a:r>
              <a:rPr lang="en-US" altLang="zh-CN" sz="1800" dirty="0" smtClean="0"/>
              <a:t>5  </a:t>
            </a:r>
            <a:r>
              <a:rPr lang="zh-CN" altLang="en-US" sz="1800" dirty="0" smtClean="0"/>
              <a:t>阶段</a:t>
            </a:r>
            <a:r>
              <a:rPr lang="en-US" altLang="zh-CN" sz="1800" dirty="0" smtClean="0"/>
              <a:t>6</a:t>
            </a:r>
            <a:endParaRPr lang="zh-CN" altLang="en-US" sz="1800" dirty="0"/>
          </a:p>
        </p:txBody>
      </p:sp>
      <p:sp>
        <p:nvSpPr>
          <p:cNvPr id="35" name="文本框 34"/>
          <p:cNvSpPr txBox="1"/>
          <p:nvPr/>
        </p:nvSpPr>
        <p:spPr bwMode="auto">
          <a:xfrm>
            <a:off x="6553771" y="1988840"/>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0</a:t>
            </a:r>
            <a:endParaRPr lang="zh-CN" altLang="en-US" sz="1800" dirty="0">
              <a:latin typeface="Times New Roman" panose="02020603050405020304" pitchFamily="18" charset="0"/>
              <a:cs typeface="Courier New" panose="02070309020205020404" pitchFamily="49" charset="0"/>
            </a:endParaRPr>
          </a:p>
        </p:txBody>
      </p:sp>
      <p:cxnSp>
        <p:nvCxnSpPr>
          <p:cNvPr id="36" name="直接箭头连接符 35"/>
          <p:cNvCxnSpPr/>
          <p:nvPr/>
        </p:nvCxnSpPr>
        <p:spPr bwMode="auto">
          <a:xfrm>
            <a:off x="6020287" y="2091663"/>
            <a:ext cx="533484" cy="25554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箭头连接符 36"/>
          <p:cNvCxnSpPr/>
          <p:nvPr/>
        </p:nvCxnSpPr>
        <p:spPr bwMode="auto">
          <a:xfrm flipV="1">
            <a:off x="6084168" y="2555913"/>
            <a:ext cx="469603" cy="23584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文本框 37"/>
          <p:cNvSpPr txBox="1"/>
          <p:nvPr/>
        </p:nvSpPr>
        <p:spPr bwMode="auto">
          <a:xfrm>
            <a:off x="5712078" y="154813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4</a:t>
            </a:r>
            <a:endParaRPr lang="zh-CN" altLang="en-US" sz="1800" dirty="0">
              <a:latin typeface="Times New Roman" panose="02020603050405020304" pitchFamily="18" charset="0"/>
              <a:cs typeface="Courier New" panose="02070309020205020404" pitchFamily="49" charset="0"/>
            </a:endParaRPr>
          </a:p>
        </p:txBody>
      </p:sp>
      <p:sp>
        <p:nvSpPr>
          <p:cNvPr id="39" name="文本框 38"/>
          <p:cNvSpPr txBox="1"/>
          <p:nvPr/>
        </p:nvSpPr>
        <p:spPr bwMode="auto">
          <a:xfrm>
            <a:off x="5750108" y="242088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3</a:t>
            </a:r>
            <a:endParaRPr lang="zh-CN" altLang="en-US" sz="1800" dirty="0">
              <a:latin typeface="Times New Roman" panose="02020603050405020304" pitchFamily="18" charset="0"/>
              <a:cs typeface="Courier New" panose="02070309020205020404" pitchFamily="49" charset="0"/>
            </a:endParaRPr>
          </a:p>
        </p:txBody>
      </p:sp>
      <p:cxnSp>
        <p:nvCxnSpPr>
          <p:cNvPr id="40" name="直接箭头连接符 39"/>
          <p:cNvCxnSpPr/>
          <p:nvPr/>
        </p:nvCxnSpPr>
        <p:spPr bwMode="auto">
          <a:xfrm>
            <a:off x="5307969" y="1929562"/>
            <a:ext cx="404109" cy="8563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文本框 40"/>
          <p:cNvSpPr txBox="1"/>
          <p:nvPr/>
        </p:nvSpPr>
        <p:spPr bwMode="auto">
          <a:xfrm>
            <a:off x="4956990" y="1477317"/>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7</a:t>
            </a:r>
            <a:endParaRPr lang="zh-CN" altLang="en-US" sz="1800" dirty="0">
              <a:latin typeface="Times New Roman" panose="02020603050405020304" pitchFamily="18" charset="0"/>
              <a:cs typeface="Courier New" panose="02070309020205020404" pitchFamily="49" charset="0"/>
            </a:endParaRPr>
          </a:p>
        </p:txBody>
      </p:sp>
      <p:cxnSp>
        <p:nvCxnSpPr>
          <p:cNvPr id="42" name="直接箭头连接符 41"/>
          <p:cNvCxnSpPr/>
          <p:nvPr/>
        </p:nvCxnSpPr>
        <p:spPr bwMode="auto">
          <a:xfrm>
            <a:off x="5269929" y="2555913"/>
            <a:ext cx="480179" cy="23584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文本框 42"/>
          <p:cNvSpPr txBox="1"/>
          <p:nvPr/>
        </p:nvSpPr>
        <p:spPr bwMode="auto">
          <a:xfrm>
            <a:off x="4969847" y="2075495"/>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5</a:t>
            </a:r>
            <a:endParaRPr lang="zh-CN" altLang="en-US" sz="1800" dirty="0">
              <a:latin typeface="Times New Roman" panose="02020603050405020304" pitchFamily="18" charset="0"/>
              <a:cs typeface="Courier New" panose="02070309020205020404" pitchFamily="49" charset="0"/>
            </a:endParaRPr>
          </a:p>
        </p:txBody>
      </p:sp>
      <p:cxnSp>
        <p:nvCxnSpPr>
          <p:cNvPr id="44" name="直接箭头连接符 43"/>
          <p:cNvCxnSpPr/>
          <p:nvPr/>
        </p:nvCxnSpPr>
        <p:spPr bwMode="auto">
          <a:xfrm flipV="1">
            <a:off x="5351894" y="2912771"/>
            <a:ext cx="398214" cy="158473"/>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文本框 44"/>
          <p:cNvSpPr txBox="1"/>
          <p:nvPr/>
        </p:nvSpPr>
        <p:spPr bwMode="auto">
          <a:xfrm>
            <a:off x="4987107" y="2661643"/>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9</a:t>
            </a:r>
            <a:endParaRPr lang="zh-CN" altLang="en-US" sz="1800" dirty="0">
              <a:latin typeface="Times New Roman" panose="02020603050405020304" pitchFamily="18" charset="0"/>
              <a:cs typeface="Courier New" panose="02070309020205020404" pitchFamily="49" charset="0"/>
            </a:endParaRPr>
          </a:p>
        </p:txBody>
      </p:sp>
    </p:spTree>
    <p:extLst>
      <p:ext uri="{BB962C8B-B14F-4D97-AF65-F5344CB8AC3E}">
        <p14:creationId xmlns:p14="http://schemas.microsoft.com/office/powerpoint/2010/main" val="619827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P spid="41" grpId="0" animBg="1"/>
      <p:bldP spid="43" grpId="0" animBg="1"/>
      <p:bldP spid="4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270422" y="478731"/>
            <a:ext cx="6757962" cy="576163"/>
          </a:xfrm>
        </p:spPr>
        <p:txBody>
          <a:bodyPr/>
          <a:lstStyle/>
          <a:p>
            <a:pPr eaLnBrk="1" hangingPunct="1"/>
            <a:r>
              <a:rPr lang="en-US" altLang="zh-CN" b="1" dirty="0"/>
              <a:t>8.1.2  </a:t>
            </a:r>
            <a:r>
              <a:rPr lang="zh-CN" altLang="en-US" b="1" dirty="0"/>
              <a:t>动态规划的基本思想和基本方程</a:t>
            </a:r>
          </a:p>
        </p:txBody>
      </p:sp>
      <p:sp>
        <p:nvSpPr>
          <p:cNvPr id="2" name="内容占位符 1"/>
          <p:cNvSpPr>
            <a:spLocks noGrp="1"/>
          </p:cNvSpPr>
          <p:nvPr>
            <p:ph idx="1"/>
          </p:nvPr>
        </p:nvSpPr>
        <p:spPr>
          <a:xfrm>
            <a:off x="539552" y="1124744"/>
            <a:ext cx="8280920" cy="1274195"/>
          </a:xfrm>
        </p:spPr>
        <p:txBody>
          <a:bodyPr/>
          <a:lstStyle/>
          <a:p>
            <a:r>
              <a:rPr lang="zh-CN" altLang="en-US" dirty="0"/>
              <a:t>结合最短路线问题介绍动态规划方法的基本思想。</a:t>
            </a:r>
            <a:endParaRPr lang="en-US" altLang="zh-CN" dirty="0"/>
          </a:p>
          <a:p>
            <a:pPr lvl="1"/>
            <a:endParaRPr lang="zh-CN" altLang="en-US" dirty="0"/>
          </a:p>
          <a:p>
            <a:endParaRPr lang="zh-CN" altLang="en-US" dirty="0"/>
          </a:p>
        </p:txBody>
      </p:sp>
      <p:sp>
        <p:nvSpPr>
          <p:cNvPr id="18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667807833"/>
                  </p:ext>
                </p:extLst>
              </p:nvPr>
            </p:nvGraphicFramePr>
            <p:xfrm>
              <a:off x="1006473" y="3854701"/>
              <a:ext cx="7609947" cy="2680694"/>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486134">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0" i="1" smtClean="0">
                                        <a:latin typeface="Cambria Math" panose="02040503050406030204" pitchFamily="18" charset="0"/>
                                      </a:rPr>
                                      <m:t>4</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𝐷</m:t>
                                    </m:r>
                                  </m:e>
                                  <m:sub>
                                    <m:r>
                                      <a:rPr lang="en-US" altLang="zh-CN" sz="1800" b="1" i="1" smtClean="0">
                                        <a:latin typeface="Cambria Math" panose="02040503050406030204" pitchFamily="18" charset="0"/>
                                      </a:rPr>
                                      <m:t>𝟒</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𝟒</m:t>
                                    </m:r>
                                  </m:sub>
                                </m:sSub>
                                <m:r>
                                  <a:rPr lang="en-US" altLang="zh-CN" sz="1800" i="1">
                                    <a:latin typeface="Cambria Math" panose="02040503050406030204" pitchFamily="18" charset="0"/>
                                  </a:rPr>
                                  <m:t>)</m:t>
                                </m:r>
                                <m:r>
                                  <m:rPr>
                                    <m:nor/>
                                  </m:rPr>
                                  <a:rPr lang="zh-CN" altLang="en-US" sz="1800" dirty="0"/>
                                  <m:t> </m:t>
                                </m:r>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𝟒</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𝟒</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𝟒</m:t>
                                        </m:r>
                                      </m:sub>
                                    </m:sSub>
                                  </m:e>
                                </m:d>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𝟓</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𝟓</m:t>
                                        </m:r>
                                      </m:sub>
                                    </m:sSub>
                                  </m:e>
                                </m:d>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𝟒</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𝟒</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𝟒</m:t>
                                      </m:r>
                                    </m:sub>
                                  </m:sSub>
                                </m:e>
                              </m:d>
                            </m:oMath>
                          </a14:m>
                          <a:r>
                            <a:rPr lang="en-US" altLang="zh-CN" dirty="0" smtClean="0"/>
                            <a: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𝟓</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𝟓</m:t>
                                      </m:r>
                                    </m:sub>
                                  </m:sSub>
                                </m:e>
                              </m:d>
                            </m:oMath>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𝟒</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𝟒</m:t>
                                        </m:r>
                                      </m:sub>
                                    </m:sSub>
                                  </m:e>
                                </m:d>
                              </m:oMath>
                            </m:oMathPara>
                          </a14:m>
                          <a:endParaRPr lang="zh-CN" altLang="en-US" dirty="0"/>
                        </a:p>
                      </a:txBody>
                      <a:tcPr/>
                    </a:tc>
                    <a:tc>
                      <a:txBody>
                        <a:bodyPr/>
                        <a:lstStyle/>
                        <a:p>
                          <a:r>
                            <a:rPr lang="zh-CN" altLang="en-US" dirty="0" smtClean="0"/>
                            <a:t>最优决策</a:t>
                          </a:r>
                          <a14:m>
                            <m:oMath xmlns:m="http://schemas.openxmlformats.org/officeDocument/2006/math">
                              <m:sSubSup>
                                <m:sSubSupPr>
                                  <m:ctrlPr>
                                    <a:rPr lang="en-US" altLang="zh-CN"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𝟒</m:t>
                                  </m:r>
                                </m:sub>
                                <m:sup>
                                  <m:r>
                                    <a:rPr lang="en-US" altLang="zh-CN" b="1" i="1" smtClean="0">
                                      <a:latin typeface="Cambria Math" panose="02040503050406030204" pitchFamily="18" charset="0"/>
                                    </a:rPr>
                                    <m:t>∗</m:t>
                                  </m:r>
                                </m:sup>
                              </m:sSubSup>
                            </m:oMath>
                          </a14:m>
                          <a:endParaRPr lang="zh-CN" altLang="en-US" dirty="0"/>
                        </a:p>
                      </a:txBody>
                      <a:tcPr/>
                    </a:tc>
                    <a:extLst>
                      <a:ext uri="{0D108BD9-81ED-4DB2-BD59-A6C34878D82A}">
                        <a16:rowId xmlns:a16="http://schemas.microsoft.com/office/drawing/2014/main" val="37799757"/>
                      </a:ext>
                    </a:extLst>
                  </a:tr>
                  <a:tr h="329940">
                    <a:tc rowSpan="2">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1</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i="1">
                                      <a:latin typeface="Cambria Math" panose="02040503050406030204" pitchFamily="18" charset="0"/>
                                    </a:rPr>
                                    <m:t>1</m:t>
                                  </m:r>
                                </m:sub>
                              </m:sSub>
                            </m:oMath>
                          </a14:m>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7</a:t>
                          </a:r>
                          <a:endParaRPr lang="zh-CN" altLang="en-US" dirty="0"/>
                        </a:p>
                      </a:txBody>
                      <a:tcPr/>
                    </a:tc>
                    <a:tc>
                      <a:txBody>
                        <a:bodyPr/>
                        <a:lstStyle/>
                        <a:p>
                          <a:r>
                            <a:rPr lang="en-US" altLang="zh-CN" dirty="0" smtClean="0"/>
                            <a:t>9</a:t>
                          </a:r>
                          <a:endParaRPr lang="zh-CN" altLang="en-US" dirty="0"/>
                        </a:p>
                      </a:txBody>
                      <a:tcPr/>
                    </a:tc>
                    <a:tc rowSpan="2">
                      <a:txBody>
                        <a:bodyPr/>
                        <a:lstStyle/>
                        <a:p>
                          <a:r>
                            <a:rPr lang="en-US" altLang="zh-CN" dirty="0" smtClean="0"/>
                            <a:t>7</a:t>
                          </a:r>
                          <a:endParaRPr lang="zh-CN" altLang="en-US" dirty="0"/>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1</m:t>
                                    </m:r>
                                  </m:sub>
                                </m:sSub>
                                <m:r>
                                  <m:rPr>
                                    <m:nor/>
                                  </m:rPr>
                                  <a:rPr lang="en-US" altLang="zh-CN" dirty="0" smtClean="0"/>
                                  <m:t>−&gt;</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2</m:t>
                                    </m:r>
                                  </m:sub>
                                </m:sSub>
                              </m:oMath>
                            </m:oMathPara>
                          </a14:m>
                          <a:endParaRPr lang="zh-CN" altLang="en-US" dirty="0"/>
                        </a:p>
                      </a:txBody>
                      <a:tcPr/>
                    </a:tc>
                    <a:extLst>
                      <a:ext uri="{0D108BD9-81ED-4DB2-BD59-A6C34878D82A}">
                        <a16:rowId xmlns:a16="http://schemas.microsoft.com/office/drawing/2014/main" val="3736361684"/>
                      </a:ext>
                    </a:extLst>
                  </a:tr>
                  <a:tr h="329940">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7</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91311635"/>
                      </a:ext>
                    </a:extLst>
                  </a:tr>
                  <a:tr h="329940">
                    <a:tc rowSpan="2">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2</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6</a:t>
                          </a:r>
                          <a:endParaRPr lang="zh-CN" altLang="en-US" dirty="0"/>
                        </a:p>
                      </a:txBody>
                      <a:tcPr/>
                    </a:tc>
                    <a:tc rowSpan="2">
                      <a:txBody>
                        <a:bodyPr/>
                        <a:lstStyle/>
                        <a:p>
                          <a:r>
                            <a:rPr lang="en-US" altLang="zh-CN" dirty="0" smtClean="0"/>
                            <a:t>6</a:t>
                          </a:r>
                          <a:endParaRPr lang="zh-CN" altLang="en-US" dirty="0"/>
                        </a:p>
                      </a:txBody>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2</m:t>
                                  </m:r>
                                </m:sub>
                              </m:sSub>
                            </m:oMath>
                          </a14:m>
                          <a:endParaRPr lang="zh-CN" altLang="en-US" dirty="0"/>
                        </a:p>
                      </a:txBody>
                      <a:tcPr/>
                    </a:tc>
                    <a:extLst>
                      <a:ext uri="{0D108BD9-81ED-4DB2-BD59-A6C34878D82A}">
                        <a16:rowId xmlns:a16="http://schemas.microsoft.com/office/drawing/2014/main" val="752238598"/>
                      </a:ext>
                    </a:extLst>
                  </a:tr>
                  <a:tr h="329940">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3</m:t>
                                  </m:r>
                                </m:sub>
                              </m:sSub>
                            </m:oMath>
                          </a14:m>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9</a:t>
                          </a:r>
                          <a:endParaRPr lang="zh-CN" altLang="en-US" dirty="0"/>
                        </a:p>
                      </a:txBody>
                      <a:tcPr/>
                    </a:tc>
                    <a:tc>
                      <a:txBody>
                        <a:bodyPr/>
                        <a:lstStyle/>
                        <a:p>
                          <a:r>
                            <a:rPr lang="en-US" altLang="zh-CN" dirty="0" smtClean="0"/>
                            <a:t>11</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944060997"/>
                      </a:ext>
                    </a:extLst>
                  </a:tr>
                  <a:tr h="329940">
                    <a:tc rowSpan="2">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3</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3</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8</a:t>
                          </a:r>
                          <a:endParaRPr lang="zh-CN" altLang="en-US" dirty="0"/>
                        </a:p>
                      </a:txBody>
                      <a:tcPr/>
                    </a:tc>
                    <a:tc rowSpan="2">
                      <a:txBody>
                        <a:bodyPr/>
                        <a:lstStyle/>
                        <a:p>
                          <a:r>
                            <a:rPr lang="en-US" altLang="zh-CN" dirty="0" smtClean="0"/>
                            <a:t>8</a:t>
                          </a:r>
                          <a:endParaRPr lang="zh-CN" altLang="en-US" dirty="0"/>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3</m:t>
                                    </m:r>
                                  </m:sub>
                                </m:sSub>
                                <m:r>
                                  <m:rPr>
                                    <m:nor/>
                                  </m:rPr>
                                  <a:rPr lang="en-US" altLang="zh-CN" dirty="0" smtClean="0"/>
                                  <m:t>−&gt;</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2</m:t>
                                    </m:r>
                                  </m:sub>
                                </m:sSub>
                              </m:oMath>
                            </m:oMathPara>
                          </a14:m>
                          <a:endParaRPr lang="zh-CN" altLang="en-US" dirty="0"/>
                        </a:p>
                      </a:txBody>
                      <a:tcPr/>
                    </a:tc>
                    <a:extLst>
                      <a:ext uri="{0D108BD9-81ED-4DB2-BD59-A6C34878D82A}">
                        <a16:rowId xmlns:a16="http://schemas.microsoft.com/office/drawing/2014/main" val="3280564706"/>
                      </a:ext>
                    </a:extLst>
                  </a:tr>
                  <a:tr h="329940">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3</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3</m:t>
                                  </m:r>
                                </m:sub>
                              </m:sSub>
                            </m:oMath>
                          </a14:m>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9</a:t>
                          </a:r>
                          <a:endParaRPr lang="zh-CN" altLang="en-US" dirty="0"/>
                        </a:p>
                      </a:txBody>
                      <a:tcPr/>
                    </a:tc>
                    <a:tc>
                      <a:txBody>
                        <a:bodyPr/>
                        <a:lstStyle/>
                        <a:p>
                          <a:r>
                            <a:rPr lang="en-US" altLang="zh-CN" dirty="0" smtClean="0"/>
                            <a:t>12</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74687360"/>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667807833"/>
                  </p:ext>
                </p:extLst>
              </p:nvPr>
            </p:nvGraphicFramePr>
            <p:xfrm>
              <a:off x="1006473" y="3854701"/>
              <a:ext cx="7609947" cy="2680694"/>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486134">
                    <a:tc>
                      <a:txBody>
                        <a:bodyPr/>
                        <a:lstStyle/>
                        <a:p>
                          <a:endParaRPr lang="zh-CN"/>
                        </a:p>
                      </a:txBody>
                      <a:tcPr>
                        <a:blipFill>
                          <a:blip r:embed="rId4"/>
                          <a:stretch>
                            <a:fillRect l="-1299" t="-8750" r="-1527273" b="-470000"/>
                          </a:stretch>
                        </a:blipFill>
                      </a:tcPr>
                    </a:tc>
                    <a:tc>
                      <a:txBody>
                        <a:bodyPr/>
                        <a:lstStyle/>
                        <a:p>
                          <a:endParaRPr lang="zh-CN"/>
                        </a:p>
                      </a:txBody>
                      <a:tcPr>
                        <a:blipFill>
                          <a:blip r:embed="rId4"/>
                          <a:stretch>
                            <a:fillRect l="-49367" t="-8750" r="-644304" b="-470000"/>
                          </a:stretch>
                        </a:blipFill>
                      </a:tcPr>
                    </a:tc>
                    <a:tc>
                      <a:txBody>
                        <a:bodyPr/>
                        <a:lstStyle/>
                        <a:p>
                          <a:endParaRPr lang="zh-CN"/>
                        </a:p>
                      </a:txBody>
                      <a:tcPr>
                        <a:blipFill>
                          <a:blip r:embed="rId4"/>
                          <a:stretch>
                            <a:fillRect l="-120408" t="-8750" r="-419388" b="-470000"/>
                          </a:stretch>
                        </a:blipFill>
                      </a:tcPr>
                    </a:tc>
                    <a:tc>
                      <a:txBody>
                        <a:bodyPr/>
                        <a:lstStyle/>
                        <a:p>
                          <a:endParaRPr lang="zh-CN"/>
                        </a:p>
                      </a:txBody>
                      <a:tcPr>
                        <a:blipFill>
                          <a:blip r:embed="rId4"/>
                          <a:stretch>
                            <a:fillRect l="-310791" t="-8750" r="-491367" b="-470000"/>
                          </a:stretch>
                        </a:blipFill>
                      </a:tcPr>
                    </a:tc>
                    <a:tc>
                      <a:txBody>
                        <a:bodyPr/>
                        <a:lstStyle/>
                        <a:p>
                          <a:endParaRPr lang="zh-CN"/>
                        </a:p>
                      </a:txBody>
                      <a:tcPr>
                        <a:blipFill>
                          <a:blip r:embed="rId4"/>
                          <a:stretch>
                            <a:fillRect l="-180696" t="-8750" r="-116139" b="-470000"/>
                          </a:stretch>
                        </a:blipFill>
                      </a:tcPr>
                    </a:tc>
                    <a:tc>
                      <a:txBody>
                        <a:bodyPr/>
                        <a:lstStyle/>
                        <a:p>
                          <a:endParaRPr lang="zh-CN"/>
                        </a:p>
                      </a:txBody>
                      <a:tcPr>
                        <a:blipFill>
                          <a:blip r:embed="rId4"/>
                          <a:stretch>
                            <a:fillRect l="-642754" t="-8750" r="-165942" b="-470000"/>
                          </a:stretch>
                        </a:blipFill>
                      </a:tcPr>
                    </a:tc>
                    <a:tc>
                      <a:txBody>
                        <a:bodyPr/>
                        <a:lstStyle/>
                        <a:p>
                          <a:endParaRPr lang="zh-CN"/>
                        </a:p>
                      </a:txBody>
                      <a:tcPr>
                        <a:blipFill>
                          <a:blip r:embed="rId4"/>
                          <a:stretch>
                            <a:fillRect l="-455556" t="-8750" r="-1778" b="-470000"/>
                          </a:stretch>
                        </a:blipFill>
                      </a:tcPr>
                    </a:tc>
                    <a:extLst>
                      <a:ext uri="{0D108BD9-81ED-4DB2-BD59-A6C34878D82A}">
                        <a16:rowId xmlns:a16="http://schemas.microsoft.com/office/drawing/2014/main" val="37799757"/>
                      </a:ext>
                    </a:extLst>
                  </a:tr>
                  <a:tr h="365760">
                    <a:tc rowSpan="2">
                      <a:txBody>
                        <a:bodyPr/>
                        <a:lstStyle/>
                        <a:p>
                          <a:endParaRPr lang="zh-CN"/>
                        </a:p>
                      </a:txBody>
                      <a:tcPr>
                        <a:blipFill>
                          <a:blip r:embed="rId4"/>
                          <a:stretch>
                            <a:fillRect l="-1299" t="-72500" r="-1527273" b="-213333"/>
                          </a:stretch>
                        </a:blipFill>
                      </a:tcPr>
                    </a:tc>
                    <a:tc>
                      <a:txBody>
                        <a:bodyPr/>
                        <a:lstStyle/>
                        <a:p>
                          <a:endParaRPr lang="zh-CN"/>
                        </a:p>
                      </a:txBody>
                      <a:tcPr>
                        <a:blipFill>
                          <a:blip r:embed="rId4"/>
                          <a:stretch>
                            <a:fillRect l="-49367" t="-145000" r="-644304" b="-526667"/>
                          </a:stretch>
                        </a:blipFill>
                      </a:tcPr>
                    </a:tc>
                    <a:tc>
                      <a:txBody>
                        <a:bodyPr/>
                        <a:lstStyle/>
                        <a:p>
                          <a:r>
                            <a:rPr lang="en-US" altLang="zh-CN" dirty="0" smtClean="0"/>
                            <a:t>2</a:t>
                          </a:r>
                          <a:endParaRPr lang="zh-CN" altLang="en-US" dirty="0"/>
                        </a:p>
                      </a:txBody>
                      <a:tcPr/>
                    </a:tc>
                    <a:tc>
                      <a:txBody>
                        <a:bodyPr/>
                        <a:lstStyle/>
                        <a:p>
                          <a:r>
                            <a:rPr lang="en-US" altLang="zh-CN" dirty="0" smtClean="0"/>
                            <a:t>7</a:t>
                          </a:r>
                          <a:endParaRPr lang="zh-CN" altLang="en-US" dirty="0"/>
                        </a:p>
                      </a:txBody>
                      <a:tcPr/>
                    </a:tc>
                    <a:tc>
                      <a:txBody>
                        <a:bodyPr/>
                        <a:lstStyle/>
                        <a:p>
                          <a:r>
                            <a:rPr lang="en-US" altLang="zh-CN" dirty="0" smtClean="0"/>
                            <a:t>9</a:t>
                          </a:r>
                          <a:endParaRPr lang="zh-CN" altLang="en-US" dirty="0"/>
                        </a:p>
                      </a:txBody>
                      <a:tcPr/>
                    </a:tc>
                    <a:tc rowSpan="2">
                      <a:txBody>
                        <a:bodyPr/>
                        <a:lstStyle/>
                        <a:p>
                          <a:r>
                            <a:rPr lang="en-US" altLang="zh-CN" dirty="0" smtClean="0"/>
                            <a:t>7</a:t>
                          </a:r>
                          <a:endParaRPr lang="zh-CN" altLang="en-US" dirty="0"/>
                        </a:p>
                      </a:txBody>
                      <a:tcPr/>
                    </a:tc>
                    <a:tc rowSpan="2">
                      <a:txBody>
                        <a:bodyPr/>
                        <a:lstStyle/>
                        <a:p>
                          <a:endParaRPr lang="zh-CN"/>
                        </a:p>
                      </a:txBody>
                      <a:tcPr>
                        <a:blipFill>
                          <a:blip r:embed="rId4"/>
                          <a:stretch>
                            <a:fillRect l="-455556" t="-72500" r="-1778" b="-213333"/>
                          </a:stretch>
                        </a:blipFill>
                      </a:tcPr>
                    </a:tc>
                    <a:extLst>
                      <a:ext uri="{0D108BD9-81ED-4DB2-BD59-A6C34878D82A}">
                        <a16:rowId xmlns:a16="http://schemas.microsoft.com/office/drawing/2014/main" val="3736361684"/>
                      </a:ext>
                    </a:extLst>
                  </a:tr>
                  <a:tr h="365760">
                    <a:tc vMerge="1">
                      <a:txBody>
                        <a:bodyPr/>
                        <a:lstStyle/>
                        <a:p>
                          <a:endParaRPr lang="zh-CN" altLang="en-US" dirty="0"/>
                        </a:p>
                      </a:txBody>
                      <a:tcPr/>
                    </a:tc>
                    <a:tc>
                      <a:txBody>
                        <a:bodyPr/>
                        <a:lstStyle/>
                        <a:p>
                          <a:endParaRPr lang="zh-CN"/>
                        </a:p>
                      </a:txBody>
                      <a:tcPr>
                        <a:blipFill>
                          <a:blip r:embed="rId4"/>
                          <a:stretch>
                            <a:fillRect l="-49367" t="-245000" r="-644304" b="-426667"/>
                          </a:stretch>
                        </a:blipFill>
                      </a:tcPr>
                    </a:tc>
                    <a:tc>
                      <a:txBody>
                        <a:bodyPr/>
                        <a:lstStyle/>
                        <a:p>
                          <a:r>
                            <a:rPr lang="en-US" altLang="zh-CN" dirty="0" smtClean="0"/>
                            <a:t>2</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7</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91311635"/>
                      </a:ext>
                    </a:extLst>
                  </a:tr>
                  <a:tr h="365760">
                    <a:tc rowSpan="2">
                      <a:txBody>
                        <a:bodyPr/>
                        <a:lstStyle/>
                        <a:p>
                          <a:endParaRPr lang="zh-CN"/>
                        </a:p>
                      </a:txBody>
                      <a:tcPr>
                        <a:blipFill>
                          <a:blip r:embed="rId4"/>
                          <a:stretch>
                            <a:fillRect l="-1299" t="-171074" r="-1527273" b="-111570"/>
                          </a:stretch>
                        </a:blipFill>
                      </a:tcPr>
                    </a:tc>
                    <a:tc>
                      <a:txBody>
                        <a:bodyPr/>
                        <a:lstStyle/>
                        <a:p>
                          <a:endParaRPr lang="zh-CN"/>
                        </a:p>
                      </a:txBody>
                      <a:tcPr>
                        <a:blipFill>
                          <a:blip r:embed="rId4"/>
                          <a:stretch>
                            <a:fillRect l="-49367" t="-345000" r="-644304" b="-326667"/>
                          </a:stretch>
                        </a:blipFill>
                      </a:tcPr>
                    </a:tc>
                    <a:tc>
                      <a:txBody>
                        <a:bodyPr/>
                        <a:lstStyle/>
                        <a:p>
                          <a:r>
                            <a:rPr lang="en-US" altLang="zh-CN" dirty="0" smtClean="0"/>
                            <a:t>1</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6</a:t>
                          </a:r>
                          <a:endParaRPr lang="zh-CN" altLang="en-US" dirty="0"/>
                        </a:p>
                      </a:txBody>
                      <a:tcPr/>
                    </a:tc>
                    <a:tc rowSpan="2">
                      <a:txBody>
                        <a:bodyPr/>
                        <a:lstStyle/>
                        <a:p>
                          <a:r>
                            <a:rPr lang="en-US" altLang="zh-CN" dirty="0" smtClean="0"/>
                            <a:t>6</a:t>
                          </a:r>
                          <a:endParaRPr lang="zh-CN" altLang="en-US" dirty="0"/>
                        </a:p>
                      </a:txBody>
                      <a:tcPr/>
                    </a:tc>
                    <a:tc rowSpan="2">
                      <a:txBody>
                        <a:bodyPr/>
                        <a:lstStyle/>
                        <a:p>
                          <a:endParaRPr lang="zh-CN"/>
                        </a:p>
                      </a:txBody>
                      <a:tcPr>
                        <a:blipFill>
                          <a:blip r:embed="rId4"/>
                          <a:stretch>
                            <a:fillRect l="-455556" t="-171074" r="-1778" b="-111570"/>
                          </a:stretch>
                        </a:blipFill>
                      </a:tcPr>
                    </a:tc>
                    <a:extLst>
                      <a:ext uri="{0D108BD9-81ED-4DB2-BD59-A6C34878D82A}">
                        <a16:rowId xmlns:a16="http://schemas.microsoft.com/office/drawing/2014/main" val="752238598"/>
                      </a:ext>
                    </a:extLst>
                  </a:tr>
                  <a:tr h="365760">
                    <a:tc vMerge="1">
                      <a:txBody>
                        <a:bodyPr/>
                        <a:lstStyle/>
                        <a:p>
                          <a:endParaRPr lang="zh-CN" altLang="en-US" dirty="0"/>
                        </a:p>
                      </a:txBody>
                      <a:tcPr/>
                    </a:tc>
                    <a:tc>
                      <a:txBody>
                        <a:bodyPr/>
                        <a:lstStyle/>
                        <a:p>
                          <a:endParaRPr lang="zh-CN"/>
                        </a:p>
                      </a:txBody>
                      <a:tcPr>
                        <a:blipFill>
                          <a:blip r:embed="rId4"/>
                          <a:stretch>
                            <a:fillRect l="-49367" t="-437705" r="-644304" b="-221311"/>
                          </a:stretch>
                        </a:blipFill>
                      </a:tcPr>
                    </a:tc>
                    <a:tc>
                      <a:txBody>
                        <a:bodyPr/>
                        <a:lstStyle/>
                        <a:p>
                          <a:r>
                            <a:rPr lang="en-US" altLang="zh-CN" dirty="0" smtClean="0"/>
                            <a:t>2</a:t>
                          </a:r>
                          <a:endParaRPr lang="zh-CN" altLang="en-US" dirty="0"/>
                        </a:p>
                      </a:txBody>
                      <a:tcPr/>
                    </a:tc>
                    <a:tc>
                      <a:txBody>
                        <a:bodyPr/>
                        <a:lstStyle/>
                        <a:p>
                          <a:r>
                            <a:rPr lang="en-US" altLang="zh-CN" dirty="0" smtClean="0"/>
                            <a:t>9</a:t>
                          </a:r>
                          <a:endParaRPr lang="zh-CN" altLang="en-US" dirty="0"/>
                        </a:p>
                      </a:txBody>
                      <a:tcPr/>
                    </a:tc>
                    <a:tc>
                      <a:txBody>
                        <a:bodyPr/>
                        <a:lstStyle/>
                        <a:p>
                          <a:r>
                            <a:rPr lang="en-US" altLang="zh-CN" dirty="0" smtClean="0"/>
                            <a:t>11</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944060997"/>
                      </a:ext>
                    </a:extLst>
                  </a:tr>
                  <a:tr h="365760">
                    <a:tc rowSpan="2">
                      <a:txBody>
                        <a:bodyPr/>
                        <a:lstStyle/>
                        <a:p>
                          <a:endParaRPr lang="zh-CN"/>
                        </a:p>
                      </a:txBody>
                      <a:tcPr>
                        <a:blipFill>
                          <a:blip r:embed="rId4"/>
                          <a:stretch>
                            <a:fillRect l="-1299" t="-273333" r="-1527273" b="-12500"/>
                          </a:stretch>
                        </a:blipFill>
                      </a:tcPr>
                    </a:tc>
                    <a:tc>
                      <a:txBody>
                        <a:bodyPr/>
                        <a:lstStyle/>
                        <a:p>
                          <a:endParaRPr lang="zh-CN"/>
                        </a:p>
                      </a:txBody>
                      <a:tcPr>
                        <a:blipFill>
                          <a:blip r:embed="rId4"/>
                          <a:stretch>
                            <a:fillRect l="-49367" t="-546667" r="-644304" b="-125000"/>
                          </a:stretch>
                        </a:blipFill>
                      </a:tcPr>
                    </a:tc>
                    <a:tc>
                      <a:txBody>
                        <a:bodyPr/>
                        <a:lstStyle/>
                        <a:p>
                          <a:r>
                            <a:rPr lang="en-US" altLang="zh-CN" dirty="0" smtClean="0"/>
                            <a:t>3</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8</a:t>
                          </a:r>
                          <a:endParaRPr lang="zh-CN" altLang="en-US" dirty="0"/>
                        </a:p>
                      </a:txBody>
                      <a:tcPr/>
                    </a:tc>
                    <a:tc rowSpan="2">
                      <a:txBody>
                        <a:bodyPr/>
                        <a:lstStyle/>
                        <a:p>
                          <a:r>
                            <a:rPr lang="en-US" altLang="zh-CN" dirty="0" smtClean="0"/>
                            <a:t>8</a:t>
                          </a:r>
                          <a:endParaRPr lang="zh-CN" altLang="en-US" dirty="0"/>
                        </a:p>
                      </a:txBody>
                      <a:tcPr/>
                    </a:tc>
                    <a:tc rowSpan="2">
                      <a:txBody>
                        <a:bodyPr/>
                        <a:lstStyle/>
                        <a:p>
                          <a:endParaRPr lang="zh-CN"/>
                        </a:p>
                      </a:txBody>
                      <a:tcPr>
                        <a:blipFill>
                          <a:blip r:embed="rId4"/>
                          <a:stretch>
                            <a:fillRect l="-455556" t="-273333" r="-1778" b="-12500"/>
                          </a:stretch>
                        </a:blipFill>
                      </a:tcPr>
                    </a:tc>
                    <a:extLst>
                      <a:ext uri="{0D108BD9-81ED-4DB2-BD59-A6C34878D82A}">
                        <a16:rowId xmlns:a16="http://schemas.microsoft.com/office/drawing/2014/main" val="3280564706"/>
                      </a:ext>
                    </a:extLst>
                  </a:tr>
                  <a:tr h="365760">
                    <a:tc vMerge="1">
                      <a:txBody>
                        <a:bodyPr/>
                        <a:lstStyle/>
                        <a:p>
                          <a:endParaRPr lang="zh-CN" altLang="en-US" dirty="0"/>
                        </a:p>
                      </a:txBody>
                      <a:tcPr/>
                    </a:tc>
                    <a:tc>
                      <a:txBody>
                        <a:bodyPr/>
                        <a:lstStyle/>
                        <a:p>
                          <a:endParaRPr lang="zh-CN"/>
                        </a:p>
                      </a:txBody>
                      <a:tcPr>
                        <a:blipFill>
                          <a:blip r:embed="rId4"/>
                          <a:stretch>
                            <a:fillRect l="-49367" t="-646667" r="-644304" b="-25000"/>
                          </a:stretch>
                        </a:blipFill>
                      </a:tcPr>
                    </a:tc>
                    <a:tc>
                      <a:txBody>
                        <a:bodyPr/>
                        <a:lstStyle/>
                        <a:p>
                          <a:r>
                            <a:rPr lang="en-US" altLang="zh-CN" dirty="0" smtClean="0"/>
                            <a:t>3</a:t>
                          </a:r>
                          <a:endParaRPr lang="zh-CN" altLang="en-US" dirty="0"/>
                        </a:p>
                      </a:txBody>
                      <a:tcPr/>
                    </a:tc>
                    <a:tc>
                      <a:txBody>
                        <a:bodyPr/>
                        <a:lstStyle/>
                        <a:p>
                          <a:r>
                            <a:rPr lang="en-US" altLang="zh-CN" dirty="0" smtClean="0"/>
                            <a:t>9</a:t>
                          </a:r>
                          <a:endParaRPr lang="zh-CN" altLang="en-US" dirty="0"/>
                        </a:p>
                      </a:txBody>
                      <a:tcPr/>
                    </a:tc>
                    <a:tc>
                      <a:txBody>
                        <a:bodyPr/>
                        <a:lstStyle/>
                        <a:p>
                          <a:r>
                            <a:rPr lang="en-US" altLang="zh-CN" dirty="0" smtClean="0"/>
                            <a:t>12</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74687360"/>
                      </a:ext>
                    </a:extLst>
                  </a:tr>
                </a:tbl>
              </a:graphicData>
            </a:graphic>
          </p:graphicFrame>
        </mc:Fallback>
      </mc:AlternateContent>
      <p:sp>
        <p:nvSpPr>
          <p:cNvPr id="19" name="矩形 18"/>
          <p:cNvSpPr/>
          <p:nvPr/>
        </p:nvSpPr>
        <p:spPr>
          <a:xfrm>
            <a:off x="-26526" y="4556784"/>
            <a:ext cx="1056404" cy="341632"/>
          </a:xfrm>
          <a:prstGeom prst="rect">
            <a:avLst/>
          </a:prstGeom>
        </p:spPr>
        <p:txBody>
          <a:bodyPr wrap="square">
            <a:spAutoFit/>
          </a:bodyPr>
          <a:lstStyle/>
          <a:p>
            <a:pPr marL="0" lvl="2" defTabSz="179388" eaLnBrk="1" hangingPunct="1">
              <a:lnSpc>
                <a:spcPct val="90000"/>
              </a:lnSpc>
            </a:pPr>
            <a:r>
              <a:rPr lang="zh-CN" altLang="en-US" sz="1800" dirty="0" smtClean="0"/>
              <a:t>阶段</a:t>
            </a:r>
            <a:r>
              <a:rPr lang="en-US" altLang="zh-CN" sz="1800" dirty="0" smtClean="0"/>
              <a:t>k=4</a:t>
            </a:r>
            <a:endParaRPr lang="zh-CN" altLang="en-US" sz="1800" dirty="0"/>
          </a:p>
        </p:txBody>
      </p:sp>
      <mc:AlternateContent xmlns:mc="http://schemas.openxmlformats.org/markup-compatibility/2006" xmlns:a14="http://schemas.microsoft.com/office/drawing/2010/main">
        <mc:Choice Requires="a14">
          <p:sp>
            <p:nvSpPr>
              <p:cNvPr id="20" name="矩形 19"/>
              <p:cNvSpPr/>
              <p:nvPr/>
            </p:nvSpPr>
            <p:spPr>
              <a:xfrm>
                <a:off x="1350777" y="6533875"/>
                <a:ext cx="1415772" cy="338554"/>
              </a:xfrm>
              <a:prstGeom prst="rect">
                <a:avLst/>
              </a:prstGeom>
            </p:spPr>
            <p:txBody>
              <a:bodyPr wrap="none">
                <a:spAutoFit/>
              </a:bodyPr>
              <a:lstStyle/>
              <a:p>
                <a:r>
                  <a:rPr lang="zh-CN" altLang="en-US" sz="1600" dirty="0"/>
                  <a:t>允许决策</a:t>
                </a:r>
                <a14:m>
                  <m:oMath xmlns:m="http://schemas.openxmlformats.org/officeDocument/2006/math">
                    <m:r>
                      <a:rPr lang="zh-CN" altLang="en-US" sz="1600" i="1" dirty="0">
                        <a:latin typeface="Cambria Math" panose="02040503050406030204" pitchFamily="18" charset="0"/>
                      </a:rPr>
                      <m:t>集合</m:t>
                    </m:r>
                  </m:oMath>
                </a14:m>
                <a:endParaRPr lang="zh-CN" altLang="en-US" sz="1600" dirty="0"/>
              </a:p>
            </p:txBody>
          </p:sp>
        </mc:Choice>
        <mc:Fallback xmlns="">
          <p:sp>
            <p:nvSpPr>
              <p:cNvPr id="20" name="矩形 19"/>
              <p:cNvSpPr>
                <a:spLocks noRot="1" noChangeAspect="1" noMove="1" noResize="1" noEditPoints="1" noAdjustHandles="1" noChangeArrowheads="1" noChangeShapeType="1" noTextEdit="1"/>
              </p:cNvSpPr>
              <p:nvPr/>
            </p:nvSpPr>
            <p:spPr>
              <a:xfrm>
                <a:off x="1350777" y="6533875"/>
                <a:ext cx="1415772" cy="338554"/>
              </a:xfrm>
              <a:prstGeom prst="rect">
                <a:avLst/>
              </a:prstGeom>
              <a:blipFill>
                <a:blip r:embed="rId5"/>
                <a:stretch>
                  <a:fillRect l="-2586" t="-7273" b="-21818"/>
                </a:stretch>
              </a:blipFill>
            </p:spPr>
            <p:txBody>
              <a:bodyPr/>
              <a:lstStyle/>
              <a:p>
                <a:r>
                  <a:rPr lang="zh-CN" altLang="en-US">
                    <a:noFill/>
                  </a:rPr>
                  <a:t> </a:t>
                </a:r>
              </a:p>
            </p:txBody>
          </p:sp>
        </mc:Fallback>
      </mc:AlternateContent>
      <p:sp>
        <p:nvSpPr>
          <p:cNvPr id="21" name="矩形 20"/>
          <p:cNvSpPr/>
          <p:nvPr/>
        </p:nvSpPr>
        <p:spPr>
          <a:xfrm>
            <a:off x="2699792" y="6533875"/>
            <a:ext cx="1415772" cy="338554"/>
          </a:xfrm>
          <a:prstGeom prst="rect">
            <a:avLst/>
          </a:prstGeom>
        </p:spPr>
        <p:txBody>
          <a:bodyPr wrap="none">
            <a:spAutoFit/>
          </a:bodyPr>
          <a:lstStyle/>
          <a:p>
            <a:r>
              <a:rPr lang="zh-CN" altLang="en-US" sz="1600" dirty="0"/>
              <a:t>阶段指标函数</a:t>
            </a:r>
          </a:p>
        </p:txBody>
      </p:sp>
      <p:sp>
        <p:nvSpPr>
          <p:cNvPr id="22" name="矩形 21"/>
          <p:cNvSpPr/>
          <p:nvPr/>
        </p:nvSpPr>
        <p:spPr>
          <a:xfrm>
            <a:off x="6444208" y="6533875"/>
            <a:ext cx="1415772" cy="338554"/>
          </a:xfrm>
          <a:prstGeom prst="rect">
            <a:avLst/>
          </a:prstGeom>
        </p:spPr>
        <p:txBody>
          <a:bodyPr wrap="none">
            <a:spAutoFit/>
          </a:bodyPr>
          <a:lstStyle/>
          <a:p>
            <a:r>
              <a:rPr lang="zh-CN" altLang="en-US" sz="1600" dirty="0"/>
              <a:t>最优指标函数</a:t>
            </a:r>
          </a:p>
        </p:txBody>
      </p:sp>
      <p:sp>
        <p:nvSpPr>
          <p:cNvPr id="23" name="矩形 22"/>
          <p:cNvSpPr/>
          <p:nvPr/>
        </p:nvSpPr>
        <p:spPr>
          <a:xfrm>
            <a:off x="4644008" y="6533875"/>
            <a:ext cx="1415772" cy="338554"/>
          </a:xfrm>
          <a:prstGeom prst="rect">
            <a:avLst/>
          </a:prstGeom>
        </p:spPr>
        <p:txBody>
          <a:bodyPr wrap="none">
            <a:spAutoFit/>
          </a:bodyPr>
          <a:lstStyle/>
          <a:p>
            <a:r>
              <a:rPr lang="zh-CN" altLang="en-US" sz="1600" dirty="0"/>
              <a:t>过程</a:t>
            </a:r>
            <a:r>
              <a:rPr lang="zh-CN" altLang="en-US" sz="1600" dirty="0" smtClean="0"/>
              <a:t>指标</a:t>
            </a:r>
            <a:r>
              <a:rPr lang="zh-CN" altLang="en-US" sz="1600" dirty="0"/>
              <a:t>函数</a:t>
            </a:r>
          </a:p>
        </p:txBody>
      </p:sp>
      <p:pic>
        <p:nvPicPr>
          <p:cNvPr id="24"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07704" y="1556792"/>
            <a:ext cx="5113942" cy="207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Line 9"/>
          <p:cNvSpPr>
            <a:spLocks noChangeShapeType="1"/>
          </p:cNvSpPr>
          <p:nvPr/>
        </p:nvSpPr>
        <p:spPr bwMode="auto">
          <a:xfrm flipH="1">
            <a:off x="2233291" y="1778592"/>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6" name="Line 12"/>
          <p:cNvSpPr>
            <a:spLocks noChangeShapeType="1"/>
          </p:cNvSpPr>
          <p:nvPr/>
        </p:nvSpPr>
        <p:spPr bwMode="auto">
          <a:xfrm>
            <a:off x="298895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0" name="Line 9"/>
          <p:cNvSpPr>
            <a:spLocks noChangeShapeType="1"/>
          </p:cNvSpPr>
          <p:nvPr/>
        </p:nvSpPr>
        <p:spPr bwMode="auto">
          <a:xfrm flipH="1">
            <a:off x="3673451" y="1779163"/>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1" name="Line 12"/>
          <p:cNvSpPr>
            <a:spLocks noChangeShapeType="1"/>
          </p:cNvSpPr>
          <p:nvPr/>
        </p:nvSpPr>
        <p:spPr bwMode="auto">
          <a:xfrm>
            <a:off x="442911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2" name="Line 9"/>
          <p:cNvSpPr>
            <a:spLocks noChangeShapeType="1"/>
          </p:cNvSpPr>
          <p:nvPr/>
        </p:nvSpPr>
        <p:spPr bwMode="auto">
          <a:xfrm flipH="1">
            <a:off x="5113611" y="1772816"/>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3" name="Line 12"/>
          <p:cNvSpPr>
            <a:spLocks noChangeShapeType="1"/>
          </p:cNvSpPr>
          <p:nvPr/>
        </p:nvSpPr>
        <p:spPr bwMode="auto">
          <a:xfrm>
            <a:off x="5869270" y="1772816"/>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4" name="矩形 33"/>
          <p:cNvSpPr/>
          <p:nvPr/>
        </p:nvSpPr>
        <p:spPr>
          <a:xfrm>
            <a:off x="326241" y="3440128"/>
            <a:ext cx="6768752" cy="341632"/>
          </a:xfrm>
          <a:prstGeom prst="rect">
            <a:avLst/>
          </a:prstGeom>
        </p:spPr>
        <p:txBody>
          <a:bodyPr wrap="square">
            <a:spAutoFit/>
          </a:bodyPr>
          <a:lstStyle/>
          <a:p>
            <a:pPr lvl="2" eaLnBrk="1" hangingPunct="1">
              <a:lnSpc>
                <a:spcPct val="90000"/>
              </a:lnSpc>
            </a:pPr>
            <a:r>
              <a:rPr lang="zh-CN" altLang="en-US" sz="1800" dirty="0" smtClean="0"/>
              <a:t>阶段</a:t>
            </a:r>
            <a:r>
              <a:rPr lang="en-US" altLang="zh-CN" sz="1800" dirty="0" smtClean="0"/>
              <a:t>k</a:t>
            </a:r>
            <a:r>
              <a:rPr lang="zh-CN" altLang="en-US" sz="1800" dirty="0" smtClean="0"/>
              <a:t>： 阶段</a:t>
            </a:r>
            <a:r>
              <a:rPr lang="en-US" altLang="zh-CN" sz="1800" dirty="0" smtClean="0"/>
              <a:t>1   </a:t>
            </a:r>
            <a:r>
              <a:rPr lang="zh-CN" altLang="en-US" sz="1800" dirty="0" smtClean="0"/>
              <a:t>阶段</a:t>
            </a:r>
            <a:r>
              <a:rPr lang="en-US" altLang="zh-CN" sz="1800" dirty="0" smtClean="0"/>
              <a:t>2   </a:t>
            </a:r>
            <a:r>
              <a:rPr lang="zh-CN" altLang="en-US" sz="1800" dirty="0" smtClean="0"/>
              <a:t>阶段</a:t>
            </a:r>
            <a:r>
              <a:rPr lang="en-US" altLang="zh-CN" sz="1800" dirty="0" smtClean="0"/>
              <a:t>3  </a:t>
            </a:r>
            <a:r>
              <a:rPr lang="zh-CN" altLang="en-US" sz="1800" dirty="0" smtClean="0"/>
              <a:t>阶段</a:t>
            </a:r>
            <a:r>
              <a:rPr lang="en-US" altLang="zh-CN" sz="1800" dirty="0" smtClean="0"/>
              <a:t>4  </a:t>
            </a:r>
            <a:r>
              <a:rPr lang="zh-CN" altLang="en-US" sz="1800" dirty="0" smtClean="0"/>
              <a:t>阶段</a:t>
            </a:r>
            <a:r>
              <a:rPr lang="en-US" altLang="zh-CN" sz="1800" dirty="0" smtClean="0"/>
              <a:t>5  </a:t>
            </a:r>
            <a:r>
              <a:rPr lang="zh-CN" altLang="en-US" sz="1800" dirty="0" smtClean="0"/>
              <a:t>阶段</a:t>
            </a:r>
            <a:r>
              <a:rPr lang="en-US" altLang="zh-CN" sz="1800" dirty="0" smtClean="0"/>
              <a:t>6</a:t>
            </a:r>
            <a:endParaRPr lang="zh-CN" altLang="en-US" sz="1800" dirty="0"/>
          </a:p>
        </p:txBody>
      </p:sp>
      <p:sp>
        <p:nvSpPr>
          <p:cNvPr id="35" name="文本框 34"/>
          <p:cNvSpPr txBox="1"/>
          <p:nvPr/>
        </p:nvSpPr>
        <p:spPr bwMode="auto">
          <a:xfrm>
            <a:off x="6553771" y="1988840"/>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0</a:t>
            </a:r>
            <a:endParaRPr lang="zh-CN" altLang="en-US" sz="1800" dirty="0">
              <a:latin typeface="Times New Roman" panose="02020603050405020304" pitchFamily="18" charset="0"/>
              <a:cs typeface="Courier New" panose="02070309020205020404" pitchFamily="49" charset="0"/>
            </a:endParaRPr>
          </a:p>
        </p:txBody>
      </p:sp>
      <p:cxnSp>
        <p:nvCxnSpPr>
          <p:cNvPr id="36" name="直接箭头连接符 35"/>
          <p:cNvCxnSpPr/>
          <p:nvPr/>
        </p:nvCxnSpPr>
        <p:spPr bwMode="auto">
          <a:xfrm>
            <a:off x="6020287" y="2091663"/>
            <a:ext cx="533484" cy="25554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箭头连接符 36"/>
          <p:cNvCxnSpPr/>
          <p:nvPr/>
        </p:nvCxnSpPr>
        <p:spPr bwMode="auto">
          <a:xfrm flipV="1">
            <a:off x="6084168" y="2555913"/>
            <a:ext cx="469603" cy="23584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文本框 37"/>
          <p:cNvSpPr txBox="1"/>
          <p:nvPr/>
        </p:nvSpPr>
        <p:spPr bwMode="auto">
          <a:xfrm>
            <a:off x="5712078" y="154813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4</a:t>
            </a:r>
            <a:endParaRPr lang="zh-CN" altLang="en-US" sz="1800" dirty="0">
              <a:latin typeface="Times New Roman" panose="02020603050405020304" pitchFamily="18" charset="0"/>
              <a:cs typeface="Courier New" panose="02070309020205020404" pitchFamily="49" charset="0"/>
            </a:endParaRPr>
          </a:p>
        </p:txBody>
      </p:sp>
      <p:sp>
        <p:nvSpPr>
          <p:cNvPr id="39" name="文本框 38"/>
          <p:cNvSpPr txBox="1"/>
          <p:nvPr/>
        </p:nvSpPr>
        <p:spPr bwMode="auto">
          <a:xfrm>
            <a:off x="5750108" y="242088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3</a:t>
            </a:r>
            <a:endParaRPr lang="zh-CN" altLang="en-US" sz="1800" dirty="0">
              <a:latin typeface="Times New Roman" panose="02020603050405020304" pitchFamily="18" charset="0"/>
              <a:cs typeface="Courier New" panose="02070309020205020404" pitchFamily="49" charset="0"/>
            </a:endParaRPr>
          </a:p>
        </p:txBody>
      </p:sp>
      <p:cxnSp>
        <p:nvCxnSpPr>
          <p:cNvPr id="40" name="直接箭头连接符 39"/>
          <p:cNvCxnSpPr/>
          <p:nvPr/>
        </p:nvCxnSpPr>
        <p:spPr bwMode="auto">
          <a:xfrm>
            <a:off x="5307969" y="1929562"/>
            <a:ext cx="404109" cy="8563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文本框 40"/>
          <p:cNvSpPr txBox="1"/>
          <p:nvPr/>
        </p:nvSpPr>
        <p:spPr bwMode="auto">
          <a:xfrm>
            <a:off x="4956990" y="1477317"/>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7</a:t>
            </a:r>
            <a:endParaRPr lang="zh-CN" altLang="en-US" sz="1800" dirty="0">
              <a:latin typeface="Times New Roman" panose="02020603050405020304" pitchFamily="18" charset="0"/>
              <a:cs typeface="Courier New" panose="02070309020205020404" pitchFamily="49" charset="0"/>
            </a:endParaRPr>
          </a:p>
        </p:txBody>
      </p:sp>
      <p:cxnSp>
        <p:nvCxnSpPr>
          <p:cNvPr id="42" name="直接箭头连接符 41"/>
          <p:cNvCxnSpPr/>
          <p:nvPr/>
        </p:nvCxnSpPr>
        <p:spPr bwMode="auto">
          <a:xfrm>
            <a:off x="5269929" y="2555913"/>
            <a:ext cx="480179" cy="23584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文本框 42"/>
          <p:cNvSpPr txBox="1"/>
          <p:nvPr/>
        </p:nvSpPr>
        <p:spPr bwMode="auto">
          <a:xfrm>
            <a:off x="4969847" y="2075495"/>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5</a:t>
            </a:r>
            <a:endParaRPr lang="zh-CN" altLang="en-US" sz="1800" dirty="0">
              <a:latin typeface="Times New Roman" panose="02020603050405020304" pitchFamily="18" charset="0"/>
              <a:cs typeface="Courier New" panose="02070309020205020404" pitchFamily="49" charset="0"/>
            </a:endParaRPr>
          </a:p>
        </p:txBody>
      </p:sp>
      <p:cxnSp>
        <p:nvCxnSpPr>
          <p:cNvPr id="44" name="直接箭头连接符 43"/>
          <p:cNvCxnSpPr/>
          <p:nvPr/>
        </p:nvCxnSpPr>
        <p:spPr bwMode="auto">
          <a:xfrm flipV="1">
            <a:off x="5351894" y="2912771"/>
            <a:ext cx="398214" cy="158473"/>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文本框 44"/>
          <p:cNvSpPr txBox="1"/>
          <p:nvPr/>
        </p:nvSpPr>
        <p:spPr bwMode="auto">
          <a:xfrm>
            <a:off x="4987107" y="2661643"/>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9</a:t>
            </a:r>
            <a:endParaRPr lang="zh-CN" altLang="en-US" sz="1800" dirty="0">
              <a:latin typeface="Times New Roman" panose="02020603050405020304" pitchFamily="18" charset="0"/>
              <a:cs typeface="Courier New" panose="02070309020205020404" pitchFamily="49" charset="0"/>
            </a:endParaRPr>
          </a:p>
        </p:txBody>
      </p:sp>
      <p:cxnSp>
        <p:nvCxnSpPr>
          <p:cNvPr id="46" name="直接箭头连接符 45"/>
          <p:cNvCxnSpPr/>
          <p:nvPr/>
        </p:nvCxnSpPr>
        <p:spPr bwMode="auto">
          <a:xfrm>
            <a:off x="4587318" y="2091663"/>
            <a:ext cx="399789" cy="31372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文本框 46"/>
          <p:cNvSpPr txBox="1"/>
          <p:nvPr/>
        </p:nvSpPr>
        <p:spPr bwMode="auto">
          <a:xfrm>
            <a:off x="4261207" y="149846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7</a:t>
            </a:r>
            <a:endParaRPr lang="zh-CN" altLang="en-US" sz="1800" dirty="0">
              <a:latin typeface="Times New Roman" panose="02020603050405020304" pitchFamily="18" charset="0"/>
              <a:cs typeface="Courier New" panose="02070309020205020404" pitchFamily="49" charset="0"/>
            </a:endParaRPr>
          </a:p>
        </p:txBody>
      </p:sp>
      <p:cxnSp>
        <p:nvCxnSpPr>
          <p:cNvPr id="48" name="直接箭头连接符 47"/>
          <p:cNvCxnSpPr/>
          <p:nvPr/>
        </p:nvCxnSpPr>
        <p:spPr bwMode="auto">
          <a:xfrm>
            <a:off x="4616488" y="2529272"/>
            <a:ext cx="340502" cy="464"/>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文本框 48"/>
          <p:cNvSpPr txBox="1"/>
          <p:nvPr/>
        </p:nvSpPr>
        <p:spPr bwMode="auto">
          <a:xfrm>
            <a:off x="4283968" y="2090027"/>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6</a:t>
            </a:r>
            <a:endParaRPr lang="zh-CN" altLang="en-US" sz="1800" dirty="0">
              <a:latin typeface="Times New Roman" panose="02020603050405020304" pitchFamily="18" charset="0"/>
              <a:cs typeface="Courier New" panose="02070309020205020404" pitchFamily="49" charset="0"/>
            </a:endParaRPr>
          </a:p>
        </p:txBody>
      </p:sp>
      <p:cxnSp>
        <p:nvCxnSpPr>
          <p:cNvPr id="50" name="直接箭头连接符 49"/>
          <p:cNvCxnSpPr/>
          <p:nvPr/>
        </p:nvCxnSpPr>
        <p:spPr bwMode="auto">
          <a:xfrm flipV="1">
            <a:off x="4561289" y="2661643"/>
            <a:ext cx="425818" cy="37497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文本框 50"/>
          <p:cNvSpPr txBox="1"/>
          <p:nvPr/>
        </p:nvSpPr>
        <p:spPr bwMode="auto">
          <a:xfrm>
            <a:off x="4283968" y="2701259"/>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8</a:t>
            </a:r>
            <a:endParaRPr lang="zh-CN" altLang="en-US" sz="1800" dirty="0">
              <a:latin typeface="Times New Roman" panose="02020603050405020304" pitchFamily="18" charset="0"/>
              <a:cs typeface="Courier New" panose="02070309020205020404" pitchFamily="49" charset="0"/>
            </a:endParaRPr>
          </a:p>
        </p:txBody>
      </p:sp>
    </p:spTree>
    <p:extLst>
      <p:ext uri="{BB962C8B-B14F-4D97-AF65-F5344CB8AC3E}">
        <p14:creationId xmlns:p14="http://schemas.microsoft.com/office/powerpoint/2010/main" val="1564172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P spid="47" grpId="0" animBg="1"/>
      <p:bldP spid="49" grpId="0" animBg="1"/>
      <p:bldP spid="5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270422" y="478731"/>
            <a:ext cx="6757962" cy="576163"/>
          </a:xfrm>
        </p:spPr>
        <p:txBody>
          <a:bodyPr/>
          <a:lstStyle/>
          <a:p>
            <a:pPr eaLnBrk="1" hangingPunct="1"/>
            <a:r>
              <a:rPr lang="en-US" altLang="zh-CN" b="1" dirty="0"/>
              <a:t>8.1.2  </a:t>
            </a:r>
            <a:r>
              <a:rPr lang="zh-CN" altLang="en-US" b="1" dirty="0"/>
              <a:t>动态规划的基本思想和基本方程</a:t>
            </a:r>
          </a:p>
        </p:txBody>
      </p:sp>
      <p:sp>
        <p:nvSpPr>
          <p:cNvPr id="2" name="内容占位符 1"/>
          <p:cNvSpPr>
            <a:spLocks noGrp="1"/>
          </p:cNvSpPr>
          <p:nvPr>
            <p:ph idx="1"/>
          </p:nvPr>
        </p:nvSpPr>
        <p:spPr>
          <a:xfrm>
            <a:off x="539552" y="1074685"/>
            <a:ext cx="8280920" cy="1274195"/>
          </a:xfrm>
        </p:spPr>
        <p:txBody>
          <a:bodyPr/>
          <a:lstStyle/>
          <a:p>
            <a:r>
              <a:rPr lang="zh-CN" altLang="en-US" dirty="0"/>
              <a:t>结合最短路线问题介绍动态规划方法的基本思想。</a:t>
            </a:r>
            <a:endParaRPr lang="en-US" altLang="zh-CN" dirty="0"/>
          </a:p>
          <a:p>
            <a:pPr lvl="1"/>
            <a:endParaRPr lang="zh-CN" altLang="en-US" dirty="0"/>
          </a:p>
          <a:p>
            <a:endParaRPr lang="zh-CN" altLang="en-US" dirty="0"/>
          </a:p>
        </p:txBody>
      </p:sp>
      <p:sp>
        <p:nvSpPr>
          <p:cNvPr id="18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1440977175"/>
                  </p:ext>
                </p:extLst>
              </p:nvPr>
            </p:nvGraphicFramePr>
            <p:xfrm>
              <a:off x="1115616" y="3665653"/>
              <a:ext cx="7574570" cy="3291840"/>
            </p:xfrm>
            <a:graphic>
              <a:graphicData uri="http://schemas.openxmlformats.org/drawingml/2006/table">
                <a:tbl>
                  <a:tblPr firstRow="1" bandRow="1">
                    <a:tableStyleId>{5C22544A-7EE6-4342-B048-85BDC9FD1C3A}</a:tableStyleId>
                  </a:tblPr>
                  <a:tblGrid>
                    <a:gridCol w="465187">
                      <a:extLst>
                        <a:ext uri="{9D8B030D-6E8A-4147-A177-3AD203B41FA5}">
                          <a16:colId xmlns:a16="http://schemas.microsoft.com/office/drawing/2014/main" val="1816936163"/>
                        </a:ext>
                      </a:extLst>
                    </a:gridCol>
                    <a:gridCol w="960966">
                      <a:extLst>
                        <a:ext uri="{9D8B030D-6E8A-4147-A177-3AD203B41FA5}">
                          <a16:colId xmlns:a16="http://schemas.microsoft.com/office/drawing/2014/main" val="1250546864"/>
                        </a:ext>
                      </a:extLst>
                    </a:gridCol>
                    <a:gridCol w="1187112">
                      <a:extLst>
                        <a:ext uri="{9D8B030D-6E8A-4147-A177-3AD203B41FA5}">
                          <a16:colId xmlns:a16="http://schemas.microsoft.com/office/drawing/2014/main" val="3148481169"/>
                        </a:ext>
                      </a:extLst>
                    </a:gridCol>
                    <a:gridCol w="841635">
                      <a:extLst>
                        <a:ext uri="{9D8B030D-6E8A-4147-A177-3AD203B41FA5}">
                          <a16:colId xmlns:a16="http://schemas.microsoft.com/office/drawing/2014/main" val="644265878"/>
                        </a:ext>
                      </a:extLst>
                    </a:gridCol>
                    <a:gridCol w="1916244">
                      <a:extLst>
                        <a:ext uri="{9D8B030D-6E8A-4147-A177-3AD203B41FA5}">
                          <a16:colId xmlns:a16="http://schemas.microsoft.com/office/drawing/2014/main" val="938889560"/>
                        </a:ext>
                      </a:extLst>
                    </a:gridCol>
                    <a:gridCol w="841635">
                      <a:extLst>
                        <a:ext uri="{9D8B030D-6E8A-4147-A177-3AD203B41FA5}">
                          <a16:colId xmlns:a16="http://schemas.microsoft.com/office/drawing/2014/main" val="1613744912"/>
                        </a:ext>
                      </a:extLst>
                    </a:gridCol>
                    <a:gridCol w="1361791">
                      <a:extLst>
                        <a:ext uri="{9D8B030D-6E8A-4147-A177-3AD203B41FA5}">
                          <a16:colId xmlns:a16="http://schemas.microsoft.com/office/drawing/2014/main" val="2765978471"/>
                        </a:ext>
                      </a:extLst>
                    </a:gridCol>
                  </a:tblGrid>
                  <a:tr h="333745">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0" i="1" smtClean="0">
                                        <a:latin typeface="Cambria Math" panose="02040503050406030204" pitchFamily="18" charset="0"/>
                                      </a:rPr>
                                      <m:t>3</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𝐷</m:t>
                                    </m:r>
                                  </m:e>
                                  <m:sub>
                                    <m:r>
                                      <a:rPr lang="en-US" altLang="zh-CN" sz="1800" b="1" i="1" smtClean="0">
                                        <a:latin typeface="Cambria Math" panose="02040503050406030204" pitchFamily="18" charset="0"/>
                                      </a:rPr>
                                      <m:t>𝟑</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r>
                                  <a:rPr lang="en-US" altLang="zh-CN" sz="1800" i="1">
                                    <a:latin typeface="Cambria Math" panose="02040503050406030204" pitchFamily="18" charset="0"/>
                                  </a:rPr>
                                  <m:t>)</m:t>
                                </m:r>
                                <m:r>
                                  <m:rPr>
                                    <m:nor/>
                                  </m:rPr>
                                  <a:rPr lang="zh-CN" altLang="en-US" sz="1800" dirty="0"/>
                                  <m:t> </m:t>
                                </m:r>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𝟑</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𝟑</m:t>
                                        </m:r>
                                      </m:sub>
                                    </m:sSub>
                                  </m:e>
                                </m:d>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𝟒</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𝟒</m:t>
                                        </m:r>
                                      </m:sub>
                                    </m:sSub>
                                  </m:e>
                                </m:d>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𝟑</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𝟑</m:t>
                                      </m:r>
                                    </m:sub>
                                  </m:sSub>
                                </m:e>
                              </m:d>
                            </m:oMath>
                          </a14:m>
                          <a:r>
                            <a:rPr lang="en-US" altLang="zh-CN" dirty="0" smtClean="0"/>
                            <a: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𝟒</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𝟒</m:t>
                                      </m:r>
                                    </m:sub>
                                  </m:sSub>
                                </m:e>
                              </m:d>
                            </m:oMath>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𝟑</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e>
                                </m:d>
                              </m:oMath>
                            </m:oMathPara>
                          </a14:m>
                          <a:endParaRPr lang="zh-CN" altLang="en-US" dirty="0"/>
                        </a:p>
                      </a:txBody>
                      <a:tcPr/>
                    </a:tc>
                    <a:tc>
                      <a:txBody>
                        <a:bodyPr/>
                        <a:lstStyle/>
                        <a:p>
                          <a:r>
                            <a:rPr lang="zh-CN" altLang="en-US" dirty="0" smtClean="0"/>
                            <a:t>最优决策</a:t>
                          </a:r>
                          <a14:m>
                            <m:oMath xmlns:m="http://schemas.openxmlformats.org/officeDocument/2006/math">
                              <m:sSubSup>
                                <m:sSubSupPr>
                                  <m:ctrlPr>
                                    <a:rPr lang="en-US" altLang="zh-CN"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sub>
                                <m:sup>
                                  <m:r>
                                    <a:rPr lang="en-US" altLang="zh-CN" b="1" i="1" smtClean="0">
                                      <a:latin typeface="Cambria Math" panose="02040503050406030204" pitchFamily="18" charset="0"/>
                                    </a:rPr>
                                    <m:t>∗</m:t>
                                  </m:r>
                                </m:sup>
                              </m:sSubSup>
                            </m:oMath>
                          </a14:m>
                          <a:endParaRPr lang="zh-CN" altLang="en-US" dirty="0"/>
                        </a:p>
                      </a:txBody>
                      <a:tcPr/>
                    </a:tc>
                    <a:extLst>
                      <a:ext uri="{0D108BD9-81ED-4DB2-BD59-A6C34878D82A}">
                        <a16:rowId xmlns:a16="http://schemas.microsoft.com/office/drawing/2014/main" val="37799757"/>
                      </a:ext>
                    </a:extLst>
                  </a:tr>
                  <a:tr h="333745">
                    <a:tc rowSpan="2">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i="1">
                                        <a:latin typeface="Cambria Math" panose="02040503050406030204" pitchFamily="18" charset="0"/>
                                      </a:rPr>
                                      <m:t>1</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1</m:t>
                                  </m:r>
                                </m:sub>
                              </m:sSub>
                            </m:oMath>
                          </a14:m>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7</a:t>
                          </a:r>
                          <a:endParaRPr lang="zh-CN" altLang="en-US" dirty="0"/>
                        </a:p>
                      </a:txBody>
                      <a:tcPr/>
                    </a:tc>
                    <a:tc>
                      <a:txBody>
                        <a:bodyPr/>
                        <a:lstStyle/>
                        <a:p>
                          <a:r>
                            <a:rPr lang="en-US" altLang="zh-CN" dirty="0" smtClean="0"/>
                            <a:t>13</a:t>
                          </a:r>
                          <a:endParaRPr lang="zh-CN" altLang="en-US" dirty="0"/>
                        </a:p>
                      </a:txBody>
                      <a:tcPr/>
                    </a:tc>
                    <a:tc rowSpan="2">
                      <a:txBody>
                        <a:bodyPr/>
                        <a:lstStyle/>
                        <a:p>
                          <a:pPr algn="l"/>
                          <a:r>
                            <a:rPr lang="en-US" altLang="zh-CN" dirty="0" smtClean="0"/>
                            <a:t>13</a:t>
                          </a:r>
                          <a:endParaRPr lang="zh-CN" altLang="en-US" dirty="0"/>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i="1">
                                        <a:latin typeface="Cambria Math" panose="02040503050406030204" pitchFamily="18" charset="0"/>
                                      </a:rPr>
                                      <m:t>1</m:t>
                                    </m:r>
                                  </m:sub>
                                </m:sSub>
                                <m:r>
                                  <m:rPr>
                                    <m:nor/>
                                  </m:rPr>
                                  <a:rPr lang="en-US" altLang="zh-CN" dirty="0" smtClean="0"/>
                                  <m:t>−&gt;</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1</m:t>
                                    </m:r>
                                  </m:sub>
                                </m:sSub>
                              </m:oMath>
                            </m:oMathPara>
                          </a14:m>
                          <a:endParaRPr lang="zh-CN" altLang="en-US" dirty="0"/>
                        </a:p>
                      </a:txBody>
                      <a:tcPr/>
                    </a:tc>
                    <a:extLst>
                      <a:ext uri="{0D108BD9-81ED-4DB2-BD59-A6C34878D82A}">
                        <a16:rowId xmlns:a16="http://schemas.microsoft.com/office/drawing/2014/main" val="3736361684"/>
                      </a:ext>
                    </a:extLst>
                  </a:tr>
                  <a:tr h="333745">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14</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91311635"/>
                      </a:ext>
                    </a:extLst>
                  </a:tr>
                  <a:tr h="333745">
                    <a:tc rowSpan="2">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i="1">
                                        <a:latin typeface="Cambria Math" panose="02040503050406030204" pitchFamily="18" charset="0"/>
                                      </a:rPr>
                                      <m:t>2</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1</m:t>
                                  </m:r>
                                </m:sub>
                              </m:sSub>
                            </m:oMath>
                          </a14:m>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7</a:t>
                          </a:r>
                          <a:endParaRPr lang="zh-CN" altLang="en-US" dirty="0"/>
                        </a:p>
                      </a:txBody>
                      <a:tcPr/>
                    </a:tc>
                    <a:tc>
                      <a:txBody>
                        <a:bodyPr/>
                        <a:lstStyle/>
                        <a:p>
                          <a:r>
                            <a:rPr lang="en-US" altLang="zh-CN" dirty="0" smtClean="0"/>
                            <a:t>10</a:t>
                          </a:r>
                          <a:endParaRPr lang="zh-CN" altLang="en-US" dirty="0"/>
                        </a:p>
                      </a:txBody>
                      <a:tcPr/>
                    </a:tc>
                    <a:tc rowSpan="2">
                      <a:txBody>
                        <a:bodyPr/>
                        <a:lstStyle/>
                        <a:p>
                          <a:pPr algn="l"/>
                          <a:r>
                            <a:rPr lang="en-US" altLang="zh-CN" dirty="0" smtClean="0"/>
                            <a:t>10</a:t>
                          </a:r>
                          <a:endParaRPr lang="zh-CN" altLang="en-US" dirty="0"/>
                        </a:p>
                      </a:txBody>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1</m:t>
                                  </m:r>
                                </m:sub>
                              </m:sSub>
                            </m:oMath>
                          </a14:m>
                          <a:endParaRPr lang="zh-CN" altLang="en-US" dirty="0"/>
                        </a:p>
                      </a:txBody>
                      <a:tcPr/>
                    </a:tc>
                    <a:extLst>
                      <a:ext uri="{0D108BD9-81ED-4DB2-BD59-A6C34878D82A}">
                        <a16:rowId xmlns:a16="http://schemas.microsoft.com/office/drawing/2014/main" val="752238598"/>
                      </a:ext>
                    </a:extLst>
                  </a:tr>
                  <a:tr h="333745">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11</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944060997"/>
                      </a:ext>
                    </a:extLst>
                  </a:tr>
                  <a:tr h="333745">
                    <a:tc rowSpan="2">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3</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3</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9</a:t>
                          </a:r>
                          <a:endParaRPr lang="zh-CN" altLang="en-US" dirty="0"/>
                        </a:p>
                      </a:txBody>
                      <a:tcPr/>
                    </a:tc>
                    <a:tc rowSpan="2">
                      <a:txBody>
                        <a:bodyPr/>
                        <a:lstStyle/>
                        <a:p>
                          <a:pPr algn="l"/>
                          <a:r>
                            <a:rPr lang="en-US" altLang="zh-CN" dirty="0" smtClean="0"/>
                            <a:t>9</a:t>
                          </a:r>
                          <a:endParaRPr lang="zh-CN" altLang="en-US" dirty="0"/>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3</m:t>
                                    </m:r>
                                  </m:sub>
                                </m:sSub>
                                <m:r>
                                  <m:rPr>
                                    <m:nor/>
                                  </m:rPr>
                                  <a:rPr lang="en-US" altLang="zh-CN" dirty="0" smtClean="0"/>
                                  <m:t>−&gt;</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m:oMathPara>
                          </a14:m>
                          <a:endParaRPr lang="zh-CN" altLang="en-US" dirty="0"/>
                        </a:p>
                      </a:txBody>
                      <a:tcPr/>
                    </a:tc>
                    <a:extLst>
                      <a:ext uri="{0D108BD9-81ED-4DB2-BD59-A6C34878D82A}">
                        <a16:rowId xmlns:a16="http://schemas.microsoft.com/office/drawing/2014/main" val="3280564706"/>
                      </a:ext>
                    </a:extLst>
                  </a:tr>
                  <a:tr h="333745">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3</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3</m:t>
                                  </m:r>
                                </m:sub>
                              </m:sSub>
                            </m:oMath>
                          </a14:m>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11</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74687360"/>
                      </a:ext>
                    </a:extLst>
                  </a:tr>
                  <a:tr h="333745">
                    <a:tc rowSpan="2">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4</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4</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14</a:t>
                          </a:r>
                          <a:endParaRPr lang="zh-CN" altLang="en-US" dirty="0"/>
                        </a:p>
                      </a:txBody>
                      <a:tcPr/>
                    </a:tc>
                    <a:tc rowSpan="2">
                      <a:txBody>
                        <a:bodyPr/>
                        <a:lstStyle/>
                        <a:p>
                          <a:pPr algn="l"/>
                          <a:r>
                            <a:rPr lang="en-US" altLang="zh-CN" dirty="0" smtClean="0"/>
                            <a:t>12</a:t>
                          </a:r>
                          <a:endParaRPr lang="zh-CN" altLang="en-US" dirty="0"/>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4</m:t>
                                    </m:r>
                                  </m:sub>
                                </m:sSub>
                                <m:r>
                                  <m:rPr>
                                    <m:nor/>
                                  </m:rPr>
                                  <a:rPr lang="en-US" altLang="zh-CN" dirty="0" smtClean="0"/>
                                  <m:t>−&gt;</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3</m:t>
                                    </m:r>
                                  </m:sub>
                                </m:sSub>
                              </m:oMath>
                            </m:oMathPara>
                          </a14:m>
                          <a:endParaRPr lang="zh-CN" altLang="en-US" dirty="0"/>
                        </a:p>
                      </a:txBody>
                      <a:tcPr/>
                    </a:tc>
                    <a:extLst>
                      <a:ext uri="{0D108BD9-81ED-4DB2-BD59-A6C34878D82A}">
                        <a16:rowId xmlns:a16="http://schemas.microsoft.com/office/drawing/2014/main" val="2213408945"/>
                      </a:ext>
                    </a:extLst>
                  </a:tr>
                  <a:tr h="333745">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4</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3</m:t>
                                  </m:r>
                                </m:sub>
                              </m:sSub>
                            </m:oMath>
                          </a14:m>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12</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205811890"/>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1440977175"/>
                  </p:ext>
                </p:extLst>
              </p:nvPr>
            </p:nvGraphicFramePr>
            <p:xfrm>
              <a:off x="1115616" y="3665653"/>
              <a:ext cx="7574570" cy="3291840"/>
            </p:xfrm>
            <a:graphic>
              <a:graphicData uri="http://schemas.openxmlformats.org/drawingml/2006/table">
                <a:tbl>
                  <a:tblPr firstRow="1" bandRow="1">
                    <a:tableStyleId>{5C22544A-7EE6-4342-B048-85BDC9FD1C3A}</a:tableStyleId>
                  </a:tblPr>
                  <a:tblGrid>
                    <a:gridCol w="465187">
                      <a:extLst>
                        <a:ext uri="{9D8B030D-6E8A-4147-A177-3AD203B41FA5}">
                          <a16:colId xmlns:a16="http://schemas.microsoft.com/office/drawing/2014/main" val="1816936163"/>
                        </a:ext>
                      </a:extLst>
                    </a:gridCol>
                    <a:gridCol w="960966">
                      <a:extLst>
                        <a:ext uri="{9D8B030D-6E8A-4147-A177-3AD203B41FA5}">
                          <a16:colId xmlns:a16="http://schemas.microsoft.com/office/drawing/2014/main" val="1250546864"/>
                        </a:ext>
                      </a:extLst>
                    </a:gridCol>
                    <a:gridCol w="1187112">
                      <a:extLst>
                        <a:ext uri="{9D8B030D-6E8A-4147-A177-3AD203B41FA5}">
                          <a16:colId xmlns:a16="http://schemas.microsoft.com/office/drawing/2014/main" val="3148481169"/>
                        </a:ext>
                      </a:extLst>
                    </a:gridCol>
                    <a:gridCol w="841635">
                      <a:extLst>
                        <a:ext uri="{9D8B030D-6E8A-4147-A177-3AD203B41FA5}">
                          <a16:colId xmlns:a16="http://schemas.microsoft.com/office/drawing/2014/main" val="644265878"/>
                        </a:ext>
                      </a:extLst>
                    </a:gridCol>
                    <a:gridCol w="1916244">
                      <a:extLst>
                        <a:ext uri="{9D8B030D-6E8A-4147-A177-3AD203B41FA5}">
                          <a16:colId xmlns:a16="http://schemas.microsoft.com/office/drawing/2014/main" val="938889560"/>
                        </a:ext>
                      </a:extLst>
                    </a:gridCol>
                    <a:gridCol w="841635">
                      <a:extLst>
                        <a:ext uri="{9D8B030D-6E8A-4147-A177-3AD203B41FA5}">
                          <a16:colId xmlns:a16="http://schemas.microsoft.com/office/drawing/2014/main" val="1613744912"/>
                        </a:ext>
                      </a:extLst>
                    </a:gridCol>
                    <a:gridCol w="1361791">
                      <a:extLst>
                        <a:ext uri="{9D8B030D-6E8A-4147-A177-3AD203B41FA5}">
                          <a16:colId xmlns:a16="http://schemas.microsoft.com/office/drawing/2014/main" val="2765978471"/>
                        </a:ext>
                      </a:extLst>
                    </a:gridCol>
                  </a:tblGrid>
                  <a:tr h="365760">
                    <a:tc>
                      <a:txBody>
                        <a:bodyPr/>
                        <a:lstStyle/>
                        <a:p>
                          <a:endParaRPr lang="zh-CN"/>
                        </a:p>
                      </a:txBody>
                      <a:tcPr>
                        <a:blipFill>
                          <a:blip r:embed="rId4"/>
                          <a:stretch>
                            <a:fillRect l="-2632" t="-13333" r="-1540789" b="-826667"/>
                          </a:stretch>
                        </a:blipFill>
                      </a:tcPr>
                    </a:tc>
                    <a:tc>
                      <a:txBody>
                        <a:bodyPr/>
                        <a:lstStyle/>
                        <a:p>
                          <a:endParaRPr lang="zh-CN"/>
                        </a:p>
                      </a:txBody>
                      <a:tcPr>
                        <a:blipFill>
                          <a:blip r:embed="rId4"/>
                          <a:stretch>
                            <a:fillRect l="-49367" t="-13333" r="-641139" b="-826667"/>
                          </a:stretch>
                        </a:blipFill>
                      </a:tcPr>
                    </a:tc>
                    <a:tc>
                      <a:txBody>
                        <a:bodyPr/>
                        <a:lstStyle/>
                        <a:p>
                          <a:endParaRPr lang="zh-CN"/>
                        </a:p>
                      </a:txBody>
                      <a:tcPr>
                        <a:blipFill>
                          <a:blip r:embed="rId4"/>
                          <a:stretch>
                            <a:fillRect l="-121026" t="-13333" r="-419487" b="-826667"/>
                          </a:stretch>
                        </a:blipFill>
                      </a:tcPr>
                    </a:tc>
                    <a:tc>
                      <a:txBody>
                        <a:bodyPr/>
                        <a:lstStyle/>
                        <a:p>
                          <a:endParaRPr lang="zh-CN"/>
                        </a:p>
                      </a:txBody>
                      <a:tcPr>
                        <a:blipFill>
                          <a:blip r:embed="rId4"/>
                          <a:stretch>
                            <a:fillRect l="-312319" t="-13333" r="-492754" b="-826667"/>
                          </a:stretch>
                        </a:blipFill>
                      </a:tcPr>
                    </a:tc>
                    <a:tc>
                      <a:txBody>
                        <a:bodyPr/>
                        <a:lstStyle/>
                        <a:p>
                          <a:endParaRPr lang="zh-CN"/>
                        </a:p>
                      </a:txBody>
                      <a:tcPr>
                        <a:blipFill>
                          <a:blip r:embed="rId4"/>
                          <a:stretch>
                            <a:fillRect l="-181210" t="-13333" r="-116561" b="-826667"/>
                          </a:stretch>
                        </a:blipFill>
                      </a:tcPr>
                    </a:tc>
                    <a:tc>
                      <a:txBody>
                        <a:bodyPr/>
                        <a:lstStyle/>
                        <a:p>
                          <a:endParaRPr lang="zh-CN"/>
                        </a:p>
                      </a:txBody>
                      <a:tcPr>
                        <a:blipFill>
                          <a:blip r:embed="rId4"/>
                          <a:stretch>
                            <a:fillRect l="-635252" t="-13333" r="-163309" b="-826667"/>
                          </a:stretch>
                        </a:blipFill>
                      </a:tcPr>
                    </a:tc>
                    <a:tc>
                      <a:txBody>
                        <a:bodyPr/>
                        <a:lstStyle/>
                        <a:p>
                          <a:endParaRPr lang="zh-CN"/>
                        </a:p>
                      </a:txBody>
                      <a:tcPr>
                        <a:blipFill>
                          <a:blip r:embed="rId4"/>
                          <a:stretch>
                            <a:fillRect l="-458296" t="-13333" r="-1794" b="-826667"/>
                          </a:stretch>
                        </a:blipFill>
                      </a:tcPr>
                    </a:tc>
                    <a:extLst>
                      <a:ext uri="{0D108BD9-81ED-4DB2-BD59-A6C34878D82A}">
                        <a16:rowId xmlns:a16="http://schemas.microsoft.com/office/drawing/2014/main" val="37799757"/>
                      </a:ext>
                    </a:extLst>
                  </a:tr>
                  <a:tr h="365760">
                    <a:tc rowSpan="2">
                      <a:txBody>
                        <a:bodyPr/>
                        <a:lstStyle/>
                        <a:p>
                          <a:endParaRPr lang="zh-CN"/>
                        </a:p>
                      </a:txBody>
                      <a:tcPr>
                        <a:blipFill>
                          <a:blip r:embed="rId4"/>
                          <a:stretch>
                            <a:fillRect l="-2632" t="-56667" r="-1540789" b="-313333"/>
                          </a:stretch>
                        </a:blipFill>
                      </a:tcPr>
                    </a:tc>
                    <a:tc>
                      <a:txBody>
                        <a:bodyPr/>
                        <a:lstStyle/>
                        <a:p>
                          <a:endParaRPr lang="zh-CN"/>
                        </a:p>
                      </a:txBody>
                      <a:tcPr>
                        <a:blipFill>
                          <a:blip r:embed="rId4"/>
                          <a:stretch>
                            <a:fillRect l="-49367" t="-113333" r="-641139" b="-726667"/>
                          </a:stretch>
                        </a:blipFill>
                      </a:tcPr>
                    </a:tc>
                    <a:tc>
                      <a:txBody>
                        <a:bodyPr/>
                        <a:lstStyle/>
                        <a:p>
                          <a:r>
                            <a:rPr lang="en-US" altLang="zh-CN" dirty="0" smtClean="0"/>
                            <a:t>6</a:t>
                          </a:r>
                          <a:endParaRPr lang="zh-CN" altLang="en-US" dirty="0"/>
                        </a:p>
                      </a:txBody>
                      <a:tcPr/>
                    </a:tc>
                    <a:tc>
                      <a:txBody>
                        <a:bodyPr/>
                        <a:lstStyle/>
                        <a:p>
                          <a:r>
                            <a:rPr lang="en-US" altLang="zh-CN" dirty="0" smtClean="0"/>
                            <a:t>7</a:t>
                          </a:r>
                          <a:endParaRPr lang="zh-CN" altLang="en-US" dirty="0"/>
                        </a:p>
                      </a:txBody>
                      <a:tcPr/>
                    </a:tc>
                    <a:tc>
                      <a:txBody>
                        <a:bodyPr/>
                        <a:lstStyle/>
                        <a:p>
                          <a:r>
                            <a:rPr lang="en-US" altLang="zh-CN" dirty="0" smtClean="0"/>
                            <a:t>13</a:t>
                          </a:r>
                          <a:endParaRPr lang="zh-CN" altLang="en-US" dirty="0"/>
                        </a:p>
                      </a:txBody>
                      <a:tcPr/>
                    </a:tc>
                    <a:tc rowSpan="2">
                      <a:txBody>
                        <a:bodyPr/>
                        <a:lstStyle/>
                        <a:p>
                          <a:pPr algn="l"/>
                          <a:r>
                            <a:rPr lang="en-US" altLang="zh-CN" dirty="0" smtClean="0"/>
                            <a:t>13</a:t>
                          </a:r>
                          <a:endParaRPr lang="zh-CN" altLang="en-US" dirty="0"/>
                        </a:p>
                      </a:txBody>
                      <a:tcPr/>
                    </a:tc>
                    <a:tc rowSpan="2">
                      <a:txBody>
                        <a:bodyPr/>
                        <a:lstStyle/>
                        <a:p>
                          <a:endParaRPr lang="zh-CN"/>
                        </a:p>
                      </a:txBody>
                      <a:tcPr>
                        <a:blipFill>
                          <a:blip r:embed="rId4"/>
                          <a:stretch>
                            <a:fillRect l="-458296" t="-56667" r="-1794" b="-313333"/>
                          </a:stretch>
                        </a:blipFill>
                      </a:tcPr>
                    </a:tc>
                    <a:extLst>
                      <a:ext uri="{0D108BD9-81ED-4DB2-BD59-A6C34878D82A}">
                        <a16:rowId xmlns:a16="http://schemas.microsoft.com/office/drawing/2014/main" val="3736361684"/>
                      </a:ext>
                    </a:extLst>
                  </a:tr>
                  <a:tr h="365760">
                    <a:tc vMerge="1">
                      <a:txBody>
                        <a:bodyPr/>
                        <a:lstStyle/>
                        <a:p>
                          <a:endParaRPr lang="zh-CN" altLang="en-US" dirty="0"/>
                        </a:p>
                      </a:txBody>
                      <a:tcPr/>
                    </a:tc>
                    <a:tc>
                      <a:txBody>
                        <a:bodyPr/>
                        <a:lstStyle/>
                        <a:p>
                          <a:endParaRPr lang="zh-CN"/>
                        </a:p>
                      </a:txBody>
                      <a:tcPr>
                        <a:blipFill>
                          <a:blip r:embed="rId4"/>
                          <a:stretch>
                            <a:fillRect l="-49367" t="-213333" r="-641139" b="-626667"/>
                          </a:stretch>
                        </a:blipFill>
                      </a:tcPr>
                    </a:tc>
                    <a:tc>
                      <a:txBody>
                        <a:bodyPr/>
                        <a:lstStyle/>
                        <a:p>
                          <a:r>
                            <a:rPr lang="en-US" altLang="zh-CN" dirty="0" smtClean="0"/>
                            <a:t>8</a:t>
                          </a:r>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14</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91311635"/>
                      </a:ext>
                    </a:extLst>
                  </a:tr>
                  <a:tr h="365760">
                    <a:tc rowSpan="2">
                      <a:txBody>
                        <a:bodyPr/>
                        <a:lstStyle/>
                        <a:p>
                          <a:endParaRPr lang="zh-CN"/>
                        </a:p>
                      </a:txBody>
                      <a:tcPr>
                        <a:blipFill>
                          <a:blip r:embed="rId4"/>
                          <a:stretch>
                            <a:fillRect l="-2632" t="-155372" r="-1540789" b="-210744"/>
                          </a:stretch>
                        </a:blipFill>
                      </a:tcPr>
                    </a:tc>
                    <a:tc>
                      <a:txBody>
                        <a:bodyPr/>
                        <a:lstStyle/>
                        <a:p>
                          <a:endParaRPr lang="zh-CN"/>
                        </a:p>
                      </a:txBody>
                      <a:tcPr>
                        <a:blipFill>
                          <a:blip r:embed="rId4"/>
                          <a:stretch>
                            <a:fillRect l="-49367" t="-313333" r="-641139" b="-526667"/>
                          </a:stretch>
                        </a:blipFill>
                      </a:tcPr>
                    </a:tc>
                    <a:tc>
                      <a:txBody>
                        <a:bodyPr/>
                        <a:lstStyle/>
                        <a:p>
                          <a:r>
                            <a:rPr lang="en-US" altLang="zh-CN" dirty="0" smtClean="0"/>
                            <a:t>3</a:t>
                          </a:r>
                          <a:endParaRPr lang="zh-CN" altLang="en-US" dirty="0"/>
                        </a:p>
                      </a:txBody>
                      <a:tcPr/>
                    </a:tc>
                    <a:tc>
                      <a:txBody>
                        <a:bodyPr/>
                        <a:lstStyle/>
                        <a:p>
                          <a:r>
                            <a:rPr lang="en-US" altLang="zh-CN" dirty="0" smtClean="0"/>
                            <a:t>7</a:t>
                          </a:r>
                          <a:endParaRPr lang="zh-CN" altLang="en-US" dirty="0"/>
                        </a:p>
                      </a:txBody>
                      <a:tcPr/>
                    </a:tc>
                    <a:tc>
                      <a:txBody>
                        <a:bodyPr/>
                        <a:lstStyle/>
                        <a:p>
                          <a:r>
                            <a:rPr lang="en-US" altLang="zh-CN" dirty="0" smtClean="0"/>
                            <a:t>10</a:t>
                          </a:r>
                          <a:endParaRPr lang="zh-CN" altLang="en-US" dirty="0"/>
                        </a:p>
                      </a:txBody>
                      <a:tcPr/>
                    </a:tc>
                    <a:tc rowSpan="2">
                      <a:txBody>
                        <a:bodyPr/>
                        <a:lstStyle/>
                        <a:p>
                          <a:pPr algn="l"/>
                          <a:r>
                            <a:rPr lang="en-US" altLang="zh-CN" dirty="0" smtClean="0"/>
                            <a:t>10</a:t>
                          </a:r>
                          <a:endParaRPr lang="zh-CN" altLang="en-US" dirty="0"/>
                        </a:p>
                      </a:txBody>
                      <a:tcPr/>
                    </a:tc>
                    <a:tc rowSpan="2">
                      <a:txBody>
                        <a:bodyPr/>
                        <a:lstStyle/>
                        <a:p>
                          <a:endParaRPr lang="zh-CN"/>
                        </a:p>
                      </a:txBody>
                      <a:tcPr>
                        <a:blipFill>
                          <a:blip r:embed="rId4"/>
                          <a:stretch>
                            <a:fillRect l="-458296" t="-155372" r="-1794" b="-210744"/>
                          </a:stretch>
                        </a:blipFill>
                      </a:tcPr>
                    </a:tc>
                    <a:extLst>
                      <a:ext uri="{0D108BD9-81ED-4DB2-BD59-A6C34878D82A}">
                        <a16:rowId xmlns:a16="http://schemas.microsoft.com/office/drawing/2014/main" val="752238598"/>
                      </a:ext>
                    </a:extLst>
                  </a:tr>
                  <a:tr h="365760">
                    <a:tc vMerge="1">
                      <a:txBody>
                        <a:bodyPr/>
                        <a:lstStyle/>
                        <a:p>
                          <a:endParaRPr lang="zh-CN" altLang="en-US" dirty="0"/>
                        </a:p>
                      </a:txBody>
                      <a:tcPr/>
                    </a:tc>
                    <a:tc>
                      <a:txBody>
                        <a:bodyPr/>
                        <a:lstStyle/>
                        <a:p>
                          <a:endParaRPr lang="zh-CN"/>
                        </a:p>
                      </a:txBody>
                      <a:tcPr>
                        <a:blipFill>
                          <a:blip r:embed="rId4"/>
                          <a:stretch>
                            <a:fillRect l="-49367" t="-406557" r="-641139" b="-418033"/>
                          </a:stretch>
                        </a:blipFill>
                      </a:tcPr>
                    </a:tc>
                    <a:tc>
                      <a:txBody>
                        <a:bodyPr/>
                        <a:lstStyle/>
                        <a:p>
                          <a:r>
                            <a:rPr lang="en-US" altLang="zh-CN" dirty="0" smtClean="0"/>
                            <a:t>5</a:t>
                          </a:r>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11</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944060997"/>
                      </a:ext>
                    </a:extLst>
                  </a:tr>
                  <a:tr h="365760">
                    <a:tc rowSpan="2">
                      <a:txBody>
                        <a:bodyPr/>
                        <a:lstStyle/>
                        <a:p>
                          <a:endParaRPr lang="zh-CN"/>
                        </a:p>
                      </a:txBody>
                      <a:tcPr>
                        <a:blipFill>
                          <a:blip r:embed="rId4"/>
                          <a:stretch>
                            <a:fillRect l="-2632" t="-257500" r="-1540789" b="-112500"/>
                          </a:stretch>
                        </a:blipFill>
                      </a:tcPr>
                    </a:tc>
                    <a:tc>
                      <a:txBody>
                        <a:bodyPr/>
                        <a:lstStyle/>
                        <a:p>
                          <a:endParaRPr lang="zh-CN"/>
                        </a:p>
                      </a:txBody>
                      <a:tcPr>
                        <a:blipFill>
                          <a:blip r:embed="rId4"/>
                          <a:stretch>
                            <a:fillRect l="-49367" t="-515000" r="-641139" b="-325000"/>
                          </a:stretch>
                        </a:blipFill>
                      </a:tcPr>
                    </a:tc>
                    <a:tc>
                      <a:txBody>
                        <a:bodyPr/>
                        <a:lstStyle/>
                        <a:p>
                          <a:r>
                            <a:rPr lang="en-US" altLang="zh-CN" dirty="0" smtClean="0"/>
                            <a:t>3</a:t>
                          </a:r>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9</a:t>
                          </a:r>
                          <a:endParaRPr lang="zh-CN" altLang="en-US" dirty="0"/>
                        </a:p>
                      </a:txBody>
                      <a:tcPr/>
                    </a:tc>
                    <a:tc rowSpan="2">
                      <a:txBody>
                        <a:bodyPr/>
                        <a:lstStyle/>
                        <a:p>
                          <a:pPr algn="l"/>
                          <a:r>
                            <a:rPr lang="en-US" altLang="zh-CN" dirty="0" smtClean="0"/>
                            <a:t>9</a:t>
                          </a:r>
                          <a:endParaRPr lang="zh-CN" altLang="en-US" dirty="0"/>
                        </a:p>
                      </a:txBody>
                      <a:tcPr/>
                    </a:tc>
                    <a:tc rowSpan="2">
                      <a:txBody>
                        <a:bodyPr/>
                        <a:lstStyle/>
                        <a:p>
                          <a:endParaRPr lang="zh-CN"/>
                        </a:p>
                      </a:txBody>
                      <a:tcPr>
                        <a:blipFill>
                          <a:blip r:embed="rId4"/>
                          <a:stretch>
                            <a:fillRect l="-458296" t="-257500" r="-1794" b="-112500"/>
                          </a:stretch>
                        </a:blipFill>
                      </a:tcPr>
                    </a:tc>
                    <a:extLst>
                      <a:ext uri="{0D108BD9-81ED-4DB2-BD59-A6C34878D82A}">
                        <a16:rowId xmlns:a16="http://schemas.microsoft.com/office/drawing/2014/main" val="3280564706"/>
                      </a:ext>
                    </a:extLst>
                  </a:tr>
                  <a:tr h="365760">
                    <a:tc vMerge="1">
                      <a:txBody>
                        <a:bodyPr/>
                        <a:lstStyle/>
                        <a:p>
                          <a:endParaRPr lang="zh-CN" altLang="en-US" dirty="0"/>
                        </a:p>
                      </a:txBody>
                      <a:tcPr/>
                    </a:tc>
                    <a:tc>
                      <a:txBody>
                        <a:bodyPr/>
                        <a:lstStyle/>
                        <a:p>
                          <a:endParaRPr lang="zh-CN"/>
                        </a:p>
                      </a:txBody>
                      <a:tcPr>
                        <a:blipFill>
                          <a:blip r:embed="rId4"/>
                          <a:stretch>
                            <a:fillRect l="-49367" t="-615000" r="-641139" b="-225000"/>
                          </a:stretch>
                        </a:blipFill>
                      </a:tcPr>
                    </a:tc>
                    <a:tc>
                      <a:txBody>
                        <a:bodyPr/>
                        <a:lstStyle/>
                        <a:p>
                          <a:r>
                            <a:rPr lang="en-US" altLang="zh-CN" dirty="0" smtClean="0"/>
                            <a:t>3</a:t>
                          </a:r>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11</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74687360"/>
                      </a:ext>
                    </a:extLst>
                  </a:tr>
                  <a:tr h="365760">
                    <a:tc rowSpan="2">
                      <a:txBody>
                        <a:bodyPr/>
                        <a:lstStyle/>
                        <a:p>
                          <a:endParaRPr lang="zh-CN"/>
                        </a:p>
                      </a:txBody>
                      <a:tcPr>
                        <a:blipFill>
                          <a:blip r:embed="rId4"/>
                          <a:stretch>
                            <a:fillRect l="-2632" t="-357500" r="-1540789" b="-12500"/>
                          </a:stretch>
                        </a:blipFill>
                      </a:tcPr>
                    </a:tc>
                    <a:tc>
                      <a:txBody>
                        <a:bodyPr/>
                        <a:lstStyle/>
                        <a:p>
                          <a:endParaRPr lang="zh-CN"/>
                        </a:p>
                      </a:txBody>
                      <a:tcPr>
                        <a:blipFill>
                          <a:blip r:embed="rId4"/>
                          <a:stretch>
                            <a:fillRect l="-49367" t="-715000" r="-641139" b="-125000"/>
                          </a:stretch>
                        </a:blipFill>
                      </a:tcPr>
                    </a:tc>
                    <a:tc>
                      <a:txBody>
                        <a:bodyPr/>
                        <a:lstStyle/>
                        <a:p>
                          <a:r>
                            <a:rPr lang="en-US" altLang="zh-CN" dirty="0" smtClean="0"/>
                            <a:t>8</a:t>
                          </a:r>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14</a:t>
                          </a:r>
                          <a:endParaRPr lang="zh-CN" altLang="en-US" dirty="0"/>
                        </a:p>
                      </a:txBody>
                      <a:tcPr/>
                    </a:tc>
                    <a:tc rowSpan="2">
                      <a:txBody>
                        <a:bodyPr/>
                        <a:lstStyle/>
                        <a:p>
                          <a:pPr algn="l"/>
                          <a:r>
                            <a:rPr lang="en-US" altLang="zh-CN" dirty="0" smtClean="0"/>
                            <a:t>12</a:t>
                          </a:r>
                          <a:endParaRPr lang="zh-CN" altLang="en-US" dirty="0"/>
                        </a:p>
                      </a:txBody>
                      <a:tcPr/>
                    </a:tc>
                    <a:tc rowSpan="2">
                      <a:txBody>
                        <a:bodyPr/>
                        <a:lstStyle/>
                        <a:p>
                          <a:endParaRPr lang="zh-CN"/>
                        </a:p>
                      </a:txBody>
                      <a:tcPr>
                        <a:blipFill>
                          <a:blip r:embed="rId4"/>
                          <a:stretch>
                            <a:fillRect l="-458296" t="-357500" r="-1794" b="-12500"/>
                          </a:stretch>
                        </a:blipFill>
                      </a:tcPr>
                    </a:tc>
                    <a:extLst>
                      <a:ext uri="{0D108BD9-81ED-4DB2-BD59-A6C34878D82A}">
                        <a16:rowId xmlns:a16="http://schemas.microsoft.com/office/drawing/2014/main" val="2213408945"/>
                      </a:ext>
                    </a:extLst>
                  </a:tr>
                  <a:tr h="365760">
                    <a:tc vMerge="1">
                      <a:txBody>
                        <a:bodyPr/>
                        <a:lstStyle/>
                        <a:p>
                          <a:endParaRPr lang="zh-CN" altLang="en-US" dirty="0"/>
                        </a:p>
                      </a:txBody>
                      <a:tcPr/>
                    </a:tc>
                    <a:tc>
                      <a:txBody>
                        <a:bodyPr/>
                        <a:lstStyle/>
                        <a:p>
                          <a:endParaRPr lang="zh-CN"/>
                        </a:p>
                      </a:txBody>
                      <a:tcPr>
                        <a:blipFill>
                          <a:blip r:embed="rId4"/>
                          <a:stretch>
                            <a:fillRect l="-49367" t="-815000" r="-641139" b="-25000"/>
                          </a:stretch>
                        </a:blipFill>
                      </a:tcPr>
                    </a:tc>
                    <a:tc>
                      <a:txBody>
                        <a:bodyPr/>
                        <a:lstStyle/>
                        <a:p>
                          <a:r>
                            <a:rPr lang="en-US" altLang="zh-CN" dirty="0" smtClean="0"/>
                            <a:t>4</a:t>
                          </a:r>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12</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205811890"/>
                      </a:ext>
                    </a:extLst>
                  </a:tr>
                </a:tbl>
              </a:graphicData>
            </a:graphic>
          </p:graphicFrame>
        </mc:Fallback>
      </mc:AlternateContent>
      <p:sp>
        <p:nvSpPr>
          <p:cNvPr id="19" name="矩形 18"/>
          <p:cNvSpPr/>
          <p:nvPr/>
        </p:nvSpPr>
        <p:spPr>
          <a:xfrm>
            <a:off x="-26526" y="4556784"/>
            <a:ext cx="1056404" cy="341632"/>
          </a:xfrm>
          <a:prstGeom prst="rect">
            <a:avLst/>
          </a:prstGeom>
        </p:spPr>
        <p:txBody>
          <a:bodyPr wrap="square">
            <a:spAutoFit/>
          </a:bodyPr>
          <a:lstStyle/>
          <a:p>
            <a:pPr marL="0" lvl="2" defTabSz="179388" eaLnBrk="1" hangingPunct="1">
              <a:lnSpc>
                <a:spcPct val="90000"/>
              </a:lnSpc>
            </a:pPr>
            <a:r>
              <a:rPr lang="zh-CN" altLang="en-US" sz="1800" dirty="0" smtClean="0"/>
              <a:t>阶段</a:t>
            </a:r>
            <a:r>
              <a:rPr lang="en-US" altLang="zh-CN" sz="1800" dirty="0" smtClean="0"/>
              <a:t>k=3</a:t>
            </a:r>
            <a:endParaRPr lang="zh-CN" altLang="en-US" sz="1800" dirty="0"/>
          </a:p>
        </p:txBody>
      </p:sp>
      <p:pic>
        <p:nvPicPr>
          <p:cNvPr id="20"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07704" y="1556792"/>
            <a:ext cx="5113942" cy="207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Line 9"/>
          <p:cNvSpPr>
            <a:spLocks noChangeShapeType="1"/>
          </p:cNvSpPr>
          <p:nvPr/>
        </p:nvSpPr>
        <p:spPr bwMode="auto">
          <a:xfrm flipH="1">
            <a:off x="2233291" y="1778592"/>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2" name="Line 12"/>
          <p:cNvSpPr>
            <a:spLocks noChangeShapeType="1"/>
          </p:cNvSpPr>
          <p:nvPr/>
        </p:nvSpPr>
        <p:spPr bwMode="auto">
          <a:xfrm>
            <a:off x="298895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3" name="Line 9"/>
          <p:cNvSpPr>
            <a:spLocks noChangeShapeType="1"/>
          </p:cNvSpPr>
          <p:nvPr/>
        </p:nvSpPr>
        <p:spPr bwMode="auto">
          <a:xfrm flipH="1">
            <a:off x="3673451" y="1779163"/>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4" name="Line 12"/>
          <p:cNvSpPr>
            <a:spLocks noChangeShapeType="1"/>
          </p:cNvSpPr>
          <p:nvPr/>
        </p:nvSpPr>
        <p:spPr bwMode="auto">
          <a:xfrm>
            <a:off x="442911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5" name="Line 9"/>
          <p:cNvSpPr>
            <a:spLocks noChangeShapeType="1"/>
          </p:cNvSpPr>
          <p:nvPr/>
        </p:nvSpPr>
        <p:spPr bwMode="auto">
          <a:xfrm flipH="1">
            <a:off x="5113611" y="1772816"/>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6" name="Line 12"/>
          <p:cNvSpPr>
            <a:spLocks noChangeShapeType="1"/>
          </p:cNvSpPr>
          <p:nvPr/>
        </p:nvSpPr>
        <p:spPr bwMode="auto">
          <a:xfrm>
            <a:off x="5869270" y="1772816"/>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0" name="矩形 29"/>
          <p:cNvSpPr/>
          <p:nvPr/>
        </p:nvSpPr>
        <p:spPr>
          <a:xfrm>
            <a:off x="326241" y="3440128"/>
            <a:ext cx="6768752" cy="341632"/>
          </a:xfrm>
          <a:prstGeom prst="rect">
            <a:avLst/>
          </a:prstGeom>
        </p:spPr>
        <p:txBody>
          <a:bodyPr wrap="square">
            <a:spAutoFit/>
          </a:bodyPr>
          <a:lstStyle/>
          <a:p>
            <a:pPr lvl="2" eaLnBrk="1" hangingPunct="1">
              <a:lnSpc>
                <a:spcPct val="90000"/>
              </a:lnSpc>
            </a:pPr>
            <a:r>
              <a:rPr lang="zh-CN" altLang="en-US" sz="1800" dirty="0" smtClean="0"/>
              <a:t>阶段</a:t>
            </a:r>
            <a:r>
              <a:rPr lang="en-US" altLang="zh-CN" sz="1800" dirty="0" smtClean="0"/>
              <a:t>k</a:t>
            </a:r>
            <a:r>
              <a:rPr lang="zh-CN" altLang="en-US" sz="1800" dirty="0" smtClean="0"/>
              <a:t>： 阶段</a:t>
            </a:r>
            <a:r>
              <a:rPr lang="en-US" altLang="zh-CN" sz="1800" dirty="0" smtClean="0"/>
              <a:t>1   </a:t>
            </a:r>
            <a:r>
              <a:rPr lang="zh-CN" altLang="en-US" sz="1800" dirty="0" smtClean="0"/>
              <a:t>阶段</a:t>
            </a:r>
            <a:r>
              <a:rPr lang="en-US" altLang="zh-CN" sz="1800" dirty="0" smtClean="0"/>
              <a:t>2   </a:t>
            </a:r>
            <a:r>
              <a:rPr lang="zh-CN" altLang="en-US" sz="1800" dirty="0" smtClean="0"/>
              <a:t>阶段</a:t>
            </a:r>
            <a:r>
              <a:rPr lang="en-US" altLang="zh-CN" sz="1800" dirty="0" smtClean="0"/>
              <a:t>3  </a:t>
            </a:r>
            <a:r>
              <a:rPr lang="zh-CN" altLang="en-US" sz="1800" dirty="0" smtClean="0"/>
              <a:t>阶段</a:t>
            </a:r>
            <a:r>
              <a:rPr lang="en-US" altLang="zh-CN" sz="1800" dirty="0" smtClean="0"/>
              <a:t>4  </a:t>
            </a:r>
            <a:r>
              <a:rPr lang="zh-CN" altLang="en-US" sz="1800" dirty="0" smtClean="0"/>
              <a:t>阶段</a:t>
            </a:r>
            <a:r>
              <a:rPr lang="en-US" altLang="zh-CN" sz="1800" dirty="0" smtClean="0"/>
              <a:t>5  </a:t>
            </a:r>
            <a:r>
              <a:rPr lang="zh-CN" altLang="en-US" sz="1800" dirty="0" smtClean="0"/>
              <a:t>阶段</a:t>
            </a:r>
            <a:r>
              <a:rPr lang="en-US" altLang="zh-CN" sz="1800" dirty="0" smtClean="0"/>
              <a:t>6</a:t>
            </a:r>
            <a:endParaRPr lang="zh-CN" altLang="en-US" sz="1800" dirty="0"/>
          </a:p>
        </p:txBody>
      </p:sp>
      <p:sp>
        <p:nvSpPr>
          <p:cNvPr id="31" name="文本框 30"/>
          <p:cNvSpPr txBox="1"/>
          <p:nvPr/>
        </p:nvSpPr>
        <p:spPr bwMode="auto">
          <a:xfrm>
            <a:off x="6553771" y="1988840"/>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0</a:t>
            </a:r>
            <a:endParaRPr lang="zh-CN" altLang="en-US" sz="1800" dirty="0">
              <a:latin typeface="Times New Roman" panose="02020603050405020304" pitchFamily="18" charset="0"/>
              <a:cs typeface="Courier New" panose="02070309020205020404" pitchFamily="49" charset="0"/>
            </a:endParaRPr>
          </a:p>
        </p:txBody>
      </p:sp>
      <p:cxnSp>
        <p:nvCxnSpPr>
          <p:cNvPr id="32" name="直接箭头连接符 31"/>
          <p:cNvCxnSpPr/>
          <p:nvPr/>
        </p:nvCxnSpPr>
        <p:spPr bwMode="auto">
          <a:xfrm>
            <a:off x="6020287" y="2091663"/>
            <a:ext cx="533484" cy="25554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箭头连接符 32"/>
          <p:cNvCxnSpPr/>
          <p:nvPr/>
        </p:nvCxnSpPr>
        <p:spPr bwMode="auto">
          <a:xfrm flipV="1">
            <a:off x="6084168" y="2555913"/>
            <a:ext cx="469603" cy="23584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文本框 33"/>
          <p:cNvSpPr txBox="1"/>
          <p:nvPr/>
        </p:nvSpPr>
        <p:spPr bwMode="auto">
          <a:xfrm>
            <a:off x="5712078" y="154813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4</a:t>
            </a:r>
            <a:endParaRPr lang="zh-CN" altLang="en-US" sz="1800" dirty="0">
              <a:latin typeface="Times New Roman" panose="02020603050405020304" pitchFamily="18" charset="0"/>
              <a:cs typeface="Courier New" panose="02070309020205020404" pitchFamily="49" charset="0"/>
            </a:endParaRPr>
          </a:p>
        </p:txBody>
      </p:sp>
      <p:sp>
        <p:nvSpPr>
          <p:cNvPr id="35" name="文本框 34"/>
          <p:cNvSpPr txBox="1"/>
          <p:nvPr/>
        </p:nvSpPr>
        <p:spPr bwMode="auto">
          <a:xfrm>
            <a:off x="5750108" y="242088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3</a:t>
            </a:r>
            <a:endParaRPr lang="zh-CN" altLang="en-US" sz="1800" dirty="0">
              <a:latin typeface="Times New Roman" panose="02020603050405020304" pitchFamily="18" charset="0"/>
              <a:cs typeface="Courier New" panose="02070309020205020404" pitchFamily="49" charset="0"/>
            </a:endParaRPr>
          </a:p>
        </p:txBody>
      </p:sp>
      <p:cxnSp>
        <p:nvCxnSpPr>
          <p:cNvPr id="36" name="直接箭头连接符 35"/>
          <p:cNvCxnSpPr/>
          <p:nvPr/>
        </p:nvCxnSpPr>
        <p:spPr bwMode="auto">
          <a:xfrm>
            <a:off x="5307969" y="1929562"/>
            <a:ext cx="404109" cy="8563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文本框 36"/>
          <p:cNvSpPr txBox="1"/>
          <p:nvPr/>
        </p:nvSpPr>
        <p:spPr bwMode="auto">
          <a:xfrm>
            <a:off x="4956990" y="1477317"/>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7</a:t>
            </a:r>
            <a:endParaRPr lang="zh-CN" altLang="en-US" sz="1800" dirty="0">
              <a:latin typeface="Times New Roman" panose="02020603050405020304" pitchFamily="18" charset="0"/>
              <a:cs typeface="Courier New" panose="02070309020205020404" pitchFamily="49" charset="0"/>
            </a:endParaRPr>
          </a:p>
        </p:txBody>
      </p:sp>
      <p:cxnSp>
        <p:nvCxnSpPr>
          <p:cNvPr id="38" name="直接箭头连接符 37"/>
          <p:cNvCxnSpPr/>
          <p:nvPr/>
        </p:nvCxnSpPr>
        <p:spPr bwMode="auto">
          <a:xfrm>
            <a:off x="5269929" y="2555913"/>
            <a:ext cx="480179" cy="23584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文本框 38"/>
          <p:cNvSpPr txBox="1"/>
          <p:nvPr/>
        </p:nvSpPr>
        <p:spPr bwMode="auto">
          <a:xfrm>
            <a:off x="4969847" y="2075495"/>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5</a:t>
            </a:r>
            <a:endParaRPr lang="zh-CN" altLang="en-US" sz="1800" dirty="0">
              <a:latin typeface="Times New Roman" panose="02020603050405020304" pitchFamily="18" charset="0"/>
              <a:cs typeface="Courier New" panose="02070309020205020404" pitchFamily="49" charset="0"/>
            </a:endParaRPr>
          </a:p>
        </p:txBody>
      </p:sp>
      <p:cxnSp>
        <p:nvCxnSpPr>
          <p:cNvPr id="40" name="直接箭头连接符 39"/>
          <p:cNvCxnSpPr/>
          <p:nvPr/>
        </p:nvCxnSpPr>
        <p:spPr bwMode="auto">
          <a:xfrm flipV="1">
            <a:off x="5351894" y="2912771"/>
            <a:ext cx="398214" cy="158473"/>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文本框 40"/>
          <p:cNvSpPr txBox="1"/>
          <p:nvPr/>
        </p:nvSpPr>
        <p:spPr bwMode="auto">
          <a:xfrm>
            <a:off x="4987107" y="2661643"/>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9</a:t>
            </a:r>
            <a:endParaRPr lang="zh-CN" altLang="en-US" sz="1800" dirty="0">
              <a:latin typeface="Times New Roman" panose="02020603050405020304" pitchFamily="18" charset="0"/>
              <a:cs typeface="Courier New" panose="02070309020205020404" pitchFamily="49" charset="0"/>
            </a:endParaRPr>
          </a:p>
        </p:txBody>
      </p:sp>
      <p:cxnSp>
        <p:nvCxnSpPr>
          <p:cNvPr id="42" name="直接箭头连接符 41"/>
          <p:cNvCxnSpPr/>
          <p:nvPr/>
        </p:nvCxnSpPr>
        <p:spPr bwMode="auto">
          <a:xfrm>
            <a:off x="4587318" y="2091663"/>
            <a:ext cx="399789" cy="31372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文本框 42"/>
          <p:cNvSpPr txBox="1"/>
          <p:nvPr/>
        </p:nvSpPr>
        <p:spPr bwMode="auto">
          <a:xfrm>
            <a:off x="4261207" y="149846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7</a:t>
            </a:r>
            <a:endParaRPr lang="zh-CN" altLang="en-US" sz="1800" dirty="0">
              <a:latin typeface="Times New Roman" panose="02020603050405020304" pitchFamily="18" charset="0"/>
              <a:cs typeface="Courier New" panose="02070309020205020404" pitchFamily="49" charset="0"/>
            </a:endParaRPr>
          </a:p>
        </p:txBody>
      </p:sp>
      <p:cxnSp>
        <p:nvCxnSpPr>
          <p:cNvPr id="44" name="直接箭头连接符 43"/>
          <p:cNvCxnSpPr/>
          <p:nvPr/>
        </p:nvCxnSpPr>
        <p:spPr bwMode="auto">
          <a:xfrm>
            <a:off x="4616488" y="2529272"/>
            <a:ext cx="340502" cy="464"/>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文本框 44"/>
          <p:cNvSpPr txBox="1"/>
          <p:nvPr/>
        </p:nvSpPr>
        <p:spPr bwMode="auto">
          <a:xfrm>
            <a:off x="4283968" y="2090027"/>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6</a:t>
            </a:r>
            <a:endParaRPr lang="zh-CN" altLang="en-US" sz="1800" dirty="0">
              <a:latin typeface="Times New Roman" panose="02020603050405020304" pitchFamily="18" charset="0"/>
              <a:cs typeface="Courier New" panose="02070309020205020404" pitchFamily="49" charset="0"/>
            </a:endParaRPr>
          </a:p>
        </p:txBody>
      </p:sp>
      <p:cxnSp>
        <p:nvCxnSpPr>
          <p:cNvPr id="46" name="直接箭头连接符 45"/>
          <p:cNvCxnSpPr/>
          <p:nvPr/>
        </p:nvCxnSpPr>
        <p:spPr bwMode="auto">
          <a:xfrm flipV="1">
            <a:off x="4584050" y="2661643"/>
            <a:ext cx="403057" cy="37497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文本框 46"/>
          <p:cNvSpPr txBox="1"/>
          <p:nvPr/>
        </p:nvSpPr>
        <p:spPr bwMode="auto">
          <a:xfrm>
            <a:off x="4283968" y="2701259"/>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8</a:t>
            </a:r>
            <a:endParaRPr lang="zh-CN" altLang="en-US" sz="1800" dirty="0">
              <a:latin typeface="Times New Roman" panose="02020603050405020304" pitchFamily="18" charset="0"/>
              <a:cs typeface="Courier New" panose="02070309020205020404" pitchFamily="49" charset="0"/>
            </a:endParaRPr>
          </a:p>
        </p:txBody>
      </p:sp>
      <p:cxnSp>
        <p:nvCxnSpPr>
          <p:cNvPr id="48" name="直接箭头连接符 47"/>
          <p:cNvCxnSpPr/>
          <p:nvPr/>
        </p:nvCxnSpPr>
        <p:spPr bwMode="auto">
          <a:xfrm>
            <a:off x="3817659" y="1792527"/>
            <a:ext cx="428023" cy="13923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文本框 48"/>
          <p:cNvSpPr txBox="1"/>
          <p:nvPr/>
        </p:nvSpPr>
        <p:spPr bwMode="auto">
          <a:xfrm>
            <a:off x="3433514" y="1324186"/>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13</a:t>
            </a:r>
            <a:endParaRPr lang="zh-CN" altLang="en-US" sz="1800" dirty="0">
              <a:latin typeface="Times New Roman" panose="02020603050405020304" pitchFamily="18" charset="0"/>
              <a:cs typeface="Courier New" panose="02070309020205020404" pitchFamily="49" charset="0"/>
            </a:endParaRPr>
          </a:p>
        </p:txBody>
      </p:sp>
      <p:cxnSp>
        <p:nvCxnSpPr>
          <p:cNvPr id="50" name="直接箭头连接符 49"/>
          <p:cNvCxnSpPr/>
          <p:nvPr/>
        </p:nvCxnSpPr>
        <p:spPr bwMode="auto">
          <a:xfrm flipV="1">
            <a:off x="3806201" y="2035283"/>
            <a:ext cx="428608" cy="184152"/>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文本框 50"/>
          <p:cNvSpPr txBox="1"/>
          <p:nvPr/>
        </p:nvSpPr>
        <p:spPr bwMode="auto">
          <a:xfrm>
            <a:off x="3432407" y="1847796"/>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10</a:t>
            </a:r>
            <a:endParaRPr lang="zh-CN" altLang="en-US" sz="1800" dirty="0">
              <a:latin typeface="Times New Roman" panose="02020603050405020304" pitchFamily="18" charset="0"/>
              <a:cs typeface="Courier New" panose="02070309020205020404" pitchFamily="49" charset="0"/>
            </a:endParaRPr>
          </a:p>
        </p:txBody>
      </p:sp>
      <p:cxnSp>
        <p:nvCxnSpPr>
          <p:cNvPr id="52" name="直接箭头连接符 51"/>
          <p:cNvCxnSpPr/>
          <p:nvPr/>
        </p:nvCxnSpPr>
        <p:spPr bwMode="auto">
          <a:xfrm flipV="1">
            <a:off x="3854381" y="2626280"/>
            <a:ext cx="404763" cy="190653"/>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文本框 52"/>
          <p:cNvSpPr txBox="1"/>
          <p:nvPr/>
        </p:nvSpPr>
        <p:spPr bwMode="auto">
          <a:xfrm>
            <a:off x="3536236" y="244195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9</a:t>
            </a:r>
            <a:endParaRPr lang="zh-CN" altLang="en-US" sz="1800" dirty="0">
              <a:latin typeface="Times New Roman" panose="02020603050405020304" pitchFamily="18" charset="0"/>
              <a:cs typeface="Courier New" panose="02070309020205020404" pitchFamily="49" charset="0"/>
            </a:endParaRPr>
          </a:p>
        </p:txBody>
      </p:sp>
      <p:cxnSp>
        <p:nvCxnSpPr>
          <p:cNvPr id="54" name="直接箭头连接符 53"/>
          <p:cNvCxnSpPr/>
          <p:nvPr/>
        </p:nvCxnSpPr>
        <p:spPr bwMode="auto">
          <a:xfrm flipV="1">
            <a:off x="3863971" y="3220442"/>
            <a:ext cx="458844" cy="144961"/>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文本框 54"/>
          <p:cNvSpPr txBox="1"/>
          <p:nvPr/>
        </p:nvSpPr>
        <p:spPr bwMode="auto">
          <a:xfrm>
            <a:off x="3488804" y="2974179"/>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10</a:t>
            </a:r>
            <a:endParaRPr lang="zh-CN" altLang="en-US" sz="1800" dirty="0">
              <a:latin typeface="Times New Roman" panose="02020603050405020304" pitchFamily="18" charset="0"/>
              <a:cs typeface="Courier New" panose="02070309020205020404" pitchFamily="49" charset="0"/>
            </a:endParaRPr>
          </a:p>
        </p:txBody>
      </p:sp>
    </p:spTree>
    <p:extLst>
      <p:ext uri="{BB962C8B-B14F-4D97-AF65-F5344CB8AC3E}">
        <p14:creationId xmlns:p14="http://schemas.microsoft.com/office/powerpoint/2010/main" val="4044346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9" grpId="0" animBg="1"/>
      <p:bldP spid="51" grpId="0" animBg="1"/>
      <p:bldP spid="53" grpId="0" animBg="1"/>
      <p:bldP spid="5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270422" y="478731"/>
            <a:ext cx="6757962" cy="576163"/>
          </a:xfrm>
        </p:spPr>
        <p:txBody>
          <a:bodyPr/>
          <a:lstStyle/>
          <a:p>
            <a:pPr eaLnBrk="1" hangingPunct="1"/>
            <a:r>
              <a:rPr lang="en-US" altLang="zh-CN" b="1" dirty="0"/>
              <a:t>8.1.2  </a:t>
            </a:r>
            <a:r>
              <a:rPr lang="zh-CN" altLang="en-US" b="1" dirty="0"/>
              <a:t>动态规划的基本思想和基本方程</a:t>
            </a:r>
          </a:p>
        </p:txBody>
      </p:sp>
      <p:sp>
        <p:nvSpPr>
          <p:cNvPr id="2" name="内容占位符 1"/>
          <p:cNvSpPr>
            <a:spLocks noGrp="1"/>
          </p:cNvSpPr>
          <p:nvPr>
            <p:ph idx="1"/>
          </p:nvPr>
        </p:nvSpPr>
        <p:spPr>
          <a:xfrm>
            <a:off x="539552" y="1124744"/>
            <a:ext cx="8280920" cy="1274195"/>
          </a:xfrm>
        </p:spPr>
        <p:txBody>
          <a:bodyPr/>
          <a:lstStyle/>
          <a:p>
            <a:r>
              <a:rPr lang="zh-CN" altLang="en-US" dirty="0"/>
              <a:t>结合最短路线问题介绍动态规划方法的基本思想。</a:t>
            </a:r>
            <a:endParaRPr lang="en-US" altLang="zh-CN" dirty="0"/>
          </a:p>
          <a:p>
            <a:pPr lvl="1"/>
            <a:endParaRPr lang="zh-CN" altLang="en-US" dirty="0"/>
          </a:p>
          <a:p>
            <a:endParaRPr lang="zh-CN" altLang="en-US" dirty="0"/>
          </a:p>
        </p:txBody>
      </p:sp>
      <p:sp>
        <p:nvSpPr>
          <p:cNvPr id="18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4157629941"/>
                  </p:ext>
                </p:extLst>
              </p:nvPr>
            </p:nvGraphicFramePr>
            <p:xfrm>
              <a:off x="1115616" y="3867395"/>
              <a:ext cx="7609947" cy="2560320"/>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253239">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0" i="1" smtClean="0">
                                        <a:latin typeface="Cambria Math" panose="02040503050406030204" pitchFamily="18" charset="0"/>
                                      </a:rPr>
                                      <m:t>2</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𝐷</m:t>
                                    </m:r>
                                  </m:e>
                                  <m:sub>
                                    <m:r>
                                      <a:rPr lang="en-US" altLang="zh-CN" sz="1800" b="1" i="1" smtClean="0">
                                        <a:latin typeface="Cambria Math" panose="02040503050406030204" pitchFamily="18" charset="0"/>
                                      </a:rPr>
                                      <m:t>𝟐</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𝟐</m:t>
                                    </m:r>
                                  </m:sub>
                                </m:sSub>
                                <m:r>
                                  <a:rPr lang="en-US" altLang="zh-CN" sz="1800" i="1">
                                    <a:latin typeface="Cambria Math" panose="02040503050406030204" pitchFamily="18" charset="0"/>
                                  </a:rPr>
                                  <m:t>)</m:t>
                                </m:r>
                                <m:r>
                                  <m:rPr>
                                    <m:nor/>
                                  </m:rPr>
                                  <a:rPr lang="zh-CN" altLang="en-US" sz="1800" dirty="0"/>
                                  <m:t> </m:t>
                                </m:r>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𝟐</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𝟐</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𝟐</m:t>
                                        </m:r>
                                      </m:sub>
                                    </m:sSub>
                                  </m:e>
                                </m:d>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𝟑</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e>
                                </m:d>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𝟐</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𝟐</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𝟐</m:t>
                                      </m:r>
                                    </m:sub>
                                  </m:sSub>
                                </m:e>
                              </m:d>
                            </m:oMath>
                          </a14:m>
                          <a:r>
                            <a:rPr lang="en-US" altLang="zh-CN" dirty="0" smtClean="0"/>
                            <a: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𝟑</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e>
                              </m:d>
                            </m:oMath>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𝟐</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𝟐</m:t>
                                        </m:r>
                                      </m:sub>
                                    </m:sSub>
                                  </m:e>
                                </m:d>
                              </m:oMath>
                            </m:oMathPara>
                          </a14:m>
                          <a:endParaRPr lang="zh-CN" altLang="en-US" dirty="0"/>
                        </a:p>
                      </a:txBody>
                      <a:tcPr/>
                    </a:tc>
                    <a:tc>
                      <a:txBody>
                        <a:bodyPr/>
                        <a:lstStyle/>
                        <a:p>
                          <a:r>
                            <a:rPr lang="zh-CN" altLang="en-US" dirty="0" smtClean="0"/>
                            <a:t>最优决策</a:t>
                          </a:r>
                          <a14:m>
                            <m:oMath xmlns:m="http://schemas.openxmlformats.org/officeDocument/2006/math">
                              <m:sSubSup>
                                <m:sSubSupPr>
                                  <m:ctrlPr>
                                    <a:rPr lang="en-US" altLang="zh-CN"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up>
                                  <m:r>
                                    <a:rPr lang="en-US" altLang="zh-CN" b="1" i="1" smtClean="0">
                                      <a:latin typeface="Cambria Math" panose="02040503050406030204" pitchFamily="18" charset="0"/>
                                    </a:rPr>
                                    <m:t>∗</m:t>
                                  </m:r>
                                </m:sup>
                              </m:sSubSup>
                            </m:oMath>
                          </a14:m>
                          <a:endParaRPr lang="zh-CN" altLang="en-US" dirty="0"/>
                        </a:p>
                      </a:txBody>
                      <a:tcPr/>
                    </a:tc>
                    <a:extLst>
                      <a:ext uri="{0D108BD9-81ED-4DB2-BD59-A6C34878D82A}">
                        <a16:rowId xmlns:a16="http://schemas.microsoft.com/office/drawing/2014/main" val="37799757"/>
                      </a:ext>
                    </a:extLst>
                  </a:tr>
                  <a:tr h="362666">
                    <a:tc rowSpan="3">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i="1">
                                        <a:latin typeface="Cambria Math" panose="02040503050406030204" pitchFamily="18" charset="0"/>
                                      </a:rPr>
                                      <m:t>1</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i="1">
                                      <a:latin typeface="Cambria Math" panose="02040503050406030204" pitchFamily="18" charset="0"/>
                                    </a:rPr>
                                    <m:t>1</m:t>
                                  </m:r>
                                </m:sub>
                              </m:sSub>
                            </m:oMath>
                          </a14:m>
                          <a:endParaRPr lang="zh-CN" altLang="en-US" dirty="0"/>
                        </a:p>
                      </a:txBody>
                      <a:tcPr/>
                    </a:tc>
                    <a:tc>
                      <a:txBody>
                        <a:bodyPr/>
                        <a:lstStyle/>
                        <a:p>
                          <a:r>
                            <a:rPr lang="en-US" altLang="zh-CN" dirty="0" smtClean="0"/>
                            <a:t>1</a:t>
                          </a:r>
                          <a:endParaRPr lang="zh-CN" altLang="en-US" dirty="0"/>
                        </a:p>
                      </a:txBody>
                      <a:tcPr/>
                    </a:tc>
                    <a:tc>
                      <a:txBody>
                        <a:bodyPr/>
                        <a:lstStyle/>
                        <a:p>
                          <a:pPr algn="l"/>
                          <a:r>
                            <a:rPr lang="en-US" altLang="zh-CN" dirty="0" smtClean="0"/>
                            <a:t>13</a:t>
                          </a:r>
                          <a:endParaRPr lang="zh-CN" altLang="en-US" dirty="0"/>
                        </a:p>
                      </a:txBody>
                      <a:tcPr/>
                    </a:tc>
                    <a:tc>
                      <a:txBody>
                        <a:bodyPr/>
                        <a:lstStyle/>
                        <a:p>
                          <a:r>
                            <a:rPr lang="en-US" altLang="zh-CN" dirty="0" smtClean="0"/>
                            <a:t>14</a:t>
                          </a:r>
                          <a:endParaRPr lang="zh-CN" altLang="en-US" dirty="0"/>
                        </a:p>
                      </a:txBody>
                      <a:tcPr/>
                    </a:tc>
                    <a:tc rowSpan="3">
                      <a:txBody>
                        <a:bodyPr/>
                        <a:lstStyle/>
                        <a:p>
                          <a:r>
                            <a:rPr lang="en-US" altLang="zh-CN" dirty="0" smtClean="0"/>
                            <a:t>13</a:t>
                          </a:r>
                          <a:endParaRPr lang="zh-CN" altLang="en-US" dirty="0"/>
                        </a:p>
                      </a:txBody>
                      <a:tcPr/>
                    </a:tc>
                    <a:tc row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i="1">
                                        <a:latin typeface="Cambria Math" panose="02040503050406030204" pitchFamily="18" charset="0"/>
                                      </a:rPr>
                                      <m:t>1</m:t>
                                    </m:r>
                                  </m:sub>
                                </m:sSub>
                                <m:r>
                                  <m:rPr>
                                    <m:nor/>
                                  </m:rPr>
                                  <a:rPr lang="en-US" altLang="zh-CN" dirty="0" smtClean="0"/>
                                  <m:t>−&gt;</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2</m:t>
                                    </m:r>
                                  </m:sub>
                                </m:sSub>
                              </m:oMath>
                            </m:oMathPara>
                          </a14:m>
                          <a:endParaRPr lang="zh-CN" altLang="en-US" dirty="0"/>
                        </a:p>
                      </a:txBody>
                      <a:tcPr/>
                    </a:tc>
                    <a:extLst>
                      <a:ext uri="{0D108BD9-81ED-4DB2-BD59-A6C34878D82A}">
                        <a16:rowId xmlns:a16="http://schemas.microsoft.com/office/drawing/2014/main" val="3736361684"/>
                      </a:ext>
                    </a:extLst>
                  </a:tr>
                  <a:tr h="362666">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3</a:t>
                          </a:r>
                          <a:endParaRPr lang="zh-CN" altLang="en-US" dirty="0"/>
                        </a:p>
                      </a:txBody>
                      <a:tcPr/>
                    </a:tc>
                    <a:tc>
                      <a:txBody>
                        <a:bodyPr/>
                        <a:lstStyle/>
                        <a:p>
                          <a:pPr algn="l"/>
                          <a:r>
                            <a:rPr lang="en-US" altLang="zh-CN" dirty="0" smtClean="0"/>
                            <a:t>10</a:t>
                          </a:r>
                          <a:endParaRPr lang="zh-CN" altLang="en-US" dirty="0"/>
                        </a:p>
                      </a:txBody>
                      <a:tcPr/>
                    </a:tc>
                    <a:tc>
                      <a:txBody>
                        <a:bodyPr/>
                        <a:lstStyle/>
                        <a:p>
                          <a:r>
                            <a:rPr lang="en-US" altLang="zh-CN" dirty="0" smtClean="0"/>
                            <a:t>13</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91311635"/>
                      </a:ext>
                    </a:extLst>
                  </a:tr>
                  <a:tr h="362666">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3</m:t>
                                  </m:r>
                                </m:sub>
                              </m:sSub>
                            </m:oMath>
                          </a14:m>
                          <a:endParaRPr lang="zh-CN" altLang="en-US" dirty="0"/>
                        </a:p>
                      </a:txBody>
                      <a:tcPr/>
                    </a:tc>
                    <a:tc>
                      <a:txBody>
                        <a:bodyPr/>
                        <a:lstStyle/>
                        <a:p>
                          <a:r>
                            <a:rPr lang="en-US" altLang="zh-CN" dirty="0" smtClean="0"/>
                            <a:t>6</a:t>
                          </a:r>
                          <a:endParaRPr lang="zh-CN" altLang="en-US" dirty="0"/>
                        </a:p>
                      </a:txBody>
                      <a:tcPr/>
                    </a:tc>
                    <a:tc>
                      <a:txBody>
                        <a:bodyPr/>
                        <a:lstStyle/>
                        <a:p>
                          <a:pPr algn="l"/>
                          <a:r>
                            <a:rPr lang="en-US" altLang="zh-CN" dirty="0" smtClean="0"/>
                            <a:t>9</a:t>
                          </a:r>
                          <a:endParaRPr lang="zh-CN" altLang="en-US" dirty="0"/>
                        </a:p>
                      </a:txBody>
                      <a:tcPr/>
                    </a:tc>
                    <a:tc>
                      <a:txBody>
                        <a:bodyPr/>
                        <a:lstStyle/>
                        <a:p>
                          <a:r>
                            <a:rPr lang="en-US" altLang="zh-CN" dirty="0" smtClean="0"/>
                            <a:t>15</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744109341"/>
                      </a:ext>
                    </a:extLst>
                  </a:tr>
                  <a:tr h="362666">
                    <a:tc rowSpan="3">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i="1">
                                        <a:latin typeface="Cambria Math" panose="02040503050406030204" pitchFamily="18" charset="0"/>
                                      </a:rPr>
                                      <m:t>2</m:t>
                                    </m:r>
                                  </m:sub>
                                </m:sSub>
                              </m:oMath>
                            </m:oMathPara>
                          </a14:m>
                          <a:endParaRPr lang="zh-CN" altLang="en-US" dirty="0"/>
                        </a:p>
                        <a:p>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8</a:t>
                          </a:r>
                          <a:endParaRPr lang="zh-CN" altLang="en-US" dirty="0"/>
                        </a:p>
                      </a:txBody>
                      <a:tcPr/>
                    </a:tc>
                    <a:tc>
                      <a:txBody>
                        <a:bodyPr/>
                        <a:lstStyle/>
                        <a:p>
                          <a:pPr algn="l"/>
                          <a:r>
                            <a:rPr lang="en-US" altLang="zh-CN" dirty="0" smtClean="0"/>
                            <a:t>10</a:t>
                          </a:r>
                          <a:endParaRPr lang="zh-CN" altLang="en-US" dirty="0"/>
                        </a:p>
                      </a:txBody>
                      <a:tcPr/>
                    </a:tc>
                    <a:tc>
                      <a:txBody>
                        <a:bodyPr/>
                        <a:lstStyle/>
                        <a:p>
                          <a:r>
                            <a:rPr lang="en-US" altLang="zh-CN" dirty="0" smtClean="0"/>
                            <a:t>18</a:t>
                          </a:r>
                          <a:endParaRPr lang="zh-CN" altLang="en-US" dirty="0"/>
                        </a:p>
                      </a:txBody>
                      <a:tcPr/>
                    </a:tc>
                    <a:tc rowSpan="3">
                      <a:txBody>
                        <a:bodyPr/>
                        <a:lstStyle/>
                        <a:p>
                          <a:r>
                            <a:rPr lang="en-US" altLang="zh-CN" dirty="0" smtClean="0"/>
                            <a:t>16</a:t>
                          </a:r>
                          <a:endParaRPr lang="zh-CN" altLang="en-US" dirty="0"/>
                        </a:p>
                      </a:txBody>
                      <a:tcPr/>
                    </a:tc>
                    <a:tc row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3</m:t>
                                  </m:r>
                                </m:sub>
                              </m:sSub>
                            </m:oMath>
                          </a14:m>
                          <a:endParaRPr lang="zh-CN" altLang="en-US" dirty="0"/>
                        </a:p>
                      </a:txBody>
                      <a:tcPr/>
                    </a:tc>
                    <a:extLst>
                      <a:ext uri="{0D108BD9-81ED-4DB2-BD59-A6C34878D82A}">
                        <a16:rowId xmlns:a16="http://schemas.microsoft.com/office/drawing/2014/main" val="752238598"/>
                      </a:ext>
                    </a:extLst>
                  </a:tr>
                  <a:tr h="362666">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3</m:t>
                                  </m:r>
                                </m:sub>
                              </m:sSub>
                            </m:oMath>
                          </a14:m>
                          <a:endParaRPr lang="zh-CN" altLang="en-US" dirty="0"/>
                        </a:p>
                      </a:txBody>
                      <a:tcPr/>
                    </a:tc>
                    <a:tc>
                      <a:txBody>
                        <a:bodyPr/>
                        <a:lstStyle/>
                        <a:p>
                          <a:r>
                            <a:rPr lang="en-US" altLang="zh-CN" dirty="0" smtClean="0"/>
                            <a:t>7</a:t>
                          </a:r>
                          <a:endParaRPr lang="zh-CN" altLang="en-US" dirty="0"/>
                        </a:p>
                      </a:txBody>
                      <a:tcPr/>
                    </a:tc>
                    <a:tc>
                      <a:txBody>
                        <a:bodyPr/>
                        <a:lstStyle/>
                        <a:p>
                          <a:pPr algn="l"/>
                          <a:r>
                            <a:rPr lang="en-US" altLang="zh-CN" dirty="0" smtClean="0"/>
                            <a:t>9</a:t>
                          </a:r>
                          <a:endParaRPr lang="zh-CN" altLang="en-US" dirty="0"/>
                        </a:p>
                      </a:txBody>
                      <a:tcPr/>
                    </a:tc>
                    <a:tc>
                      <a:txBody>
                        <a:bodyPr/>
                        <a:lstStyle/>
                        <a:p>
                          <a:r>
                            <a:rPr lang="en-US" altLang="zh-CN" dirty="0" smtClean="0"/>
                            <a:t>16</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944060997"/>
                      </a:ext>
                    </a:extLst>
                  </a:tr>
                  <a:tr h="362666">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4</m:t>
                                  </m:r>
                                </m:sub>
                              </m:sSub>
                            </m:oMath>
                          </a14:m>
                          <a:endParaRPr lang="zh-CN" altLang="en-US" dirty="0"/>
                        </a:p>
                      </a:txBody>
                      <a:tcPr/>
                    </a:tc>
                    <a:tc>
                      <a:txBody>
                        <a:bodyPr/>
                        <a:lstStyle/>
                        <a:p>
                          <a:r>
                            <a:rPr lang="en-US" altLang="zh-CN" dirty="0" smtClean="0"/>
                            <a:t>6</a:t>
                          </a:r>
                          <a:endParaRPr lang="zh-CN" altLang="en-US" dirty="0"/>
                        </a:p>
                      </a:txBody>
                      <a:tcPr/>
                    </a:tc>
                    <a:tc>
                      <a:txBody>
                        <a:bodyPr/>
                        <a:lstStyle/>
                        <a:p>
                          <a:pPr algn="l"/>
                          <a:r>
                            <a:rPr lang="en-US" altLang="zh-CN" dirty="0" smtClean="0"/>
                            <a:t>12</a:t>
                          </a:r>
                          <a:endParaRPr lang="zh-CN" altLang="en-US" dirty="0"/>
                        </a:p>
                      </a:txBody>
                      <a:tcPr/>
                    </a:tc>
                    <a:tc>
                      <a:txBody>
                        <a:bodyPr/>
                        <a:lstStyle/>
                        <a:p>
                          <a:r>
                            <a:rPr lang="en-US" altLang="zh-CN" dirty="0" smtClean="0"/>
                            <a:t>18</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74687360"/>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4157629941"/>
                  </p:ext>
                </p:extLst>
              </p:nvPr>
            </p:nvGraphicFramePr>
            <p:xfrm>
              <a:off x="1115616" y="3867395"/>
              <a:ext cx="7609947" cy="2560320"/>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365760">
                    <a:tc>
                      <a:txBody>
                        <a:bodyPr/>
                        <a:lstStyle/>
                        <a:p>
                          <a:endParaRPr lang="zh-CN"/>
                        </a:p>
                      </a:txBody>
                      <a:tcPr>
                        <a:blipFill>
                          <a:blip r:embed="rId4"/>
                          <a:stretch>
                            <a:fillRect l="-2597" t="-11667" r="-1527273" b="-626667"/>
                          </a:stretch>
                        </a:blipFill>
                      </a:tcPr>
                    </a:tc>
                    <a:tc>
                      <a:txBody>
                        <a:bodyPr/>
                        <a:lstStyle/>
                        <a:p>
                          <a:endParaRPr lang="zh-CN"/>
                        </a:p>
                      </a:txBody>
                      <a:tcPr>
                        <a:blipFill>
                          <a:blip r:embed="rId4"/>
                          <a:stretch>
                            <a:fillRect l="-50000" t="-11667" r="-644304" b="-626667"/>
                          </a:stretch>
                        </a:blipFill>
                      </a:tcPr>
                    </a:tc>
                    <a:tc>
                      <a:txBody>
                        <a:bodyPr/>
                        <a:lstStyle/>
                        <a:p>
                          <a:endParaRPr lang="zh-CN"/>
                        </a:p>
                      </a:txBody>
                      <a:tcPr>
                        <a:blipFill>
                          <a:blip r:embed="rId4"/>
                          <a:stretch>
                            <a:fillRect l="-120918" t="-11667" r="-419388" b="-626667"/>
                          </a:stretch>
                        </a:blipFill>
                      </a:tcPr>
                    </a:tc>
                    <a:tc>
                      <a:txBody>
                        <a:bodyPr/>
                        <a:lstStyle/>
                        <a:p>
                          <a:endParaRPr lang="zh-CN"/>
                        </a:p>
                      </a:txBody>
                      <a:tcPr>
                        <a:blipFill>
                          <a:blip r:embed="rId4"/>
                          <a:stretch>
                            <a:fillRect l="-311511" t="-11667" r="-491367" b="-626667"/>
                          </a:stretch>
                        </a:blipFill>
                      </a:tcPr>
                    </a:tc>
                    <a:tc>
                      <a:txBody>
                        <a:bodyPr/>
                        <a:lstStyle/>
                        <a:p>
                          <a:endParaRPr lang="zh-CN"/>
                        </a:p>
                      </a:txBody>
                      <a:tcPr>
                        <a:blipFill>
                          <a:blip r:embed="rId4"/>
                          <a:stretch>
                            <a:fillRect l="-181013" t="-11667" r="-116139" b="-626667"/>
                          </a:stretch>
                        </a:blipFill>
                      </a:tcPr>
                    </a:tc>
                    <a:tc>
                      <a:txBody>
                        <a:bodyPr/>
                        <a:lstStyle/>
                        <a:p>
                          <a:endParaRPr lang="zh-CN"/>
                        </a:p>
                      </a:txBody>
                      <a:tcPr>
                        <a:blipFill>
                          <a:blip r:embed="rId4"/>
                          <a:stretch>
                            <a:fillRect l="-643478" t="-11667" r="-165942" b="-626667"/>
                          </a:stretch>
                        </a:blipFill>
                      </a:tcPr>
                    </a:tc>
                    <a:tc>
                      <a:txBody>
                        <a:bodyPr/>
                        <a:lstStyle/>
                        <a:p>
                          <a:endParaRPr lang="zh-CN"/>
                        </a:p>
                      </a:txBody>
                      <a:tcPr>
                        <a:blipFill>
                          <a:blip r:embed="rId4"/>
                          <a:stretch>
                            <a:fillRect l="-456000" t="-11667" r="-1778" b="-626667"/>
                          </a:stretch>
                        </a:blipFill>
                      </a:tcPr>
                    </a:tc>
                    <a:extLst>
                      <a:ext uri="{0D108BD9-81ED-4DB2-BD59-A6C34878D82A}">
                        <a16:rowId xmlns:a16="http://schemas.microsoft.com/office/drawing/2014/main" val="37799757"/>
                      </a:ext>
                    </a:extLst>
                  </a:tr>
                  <a:tr h="365760">
                    <a:tc rowSpan="3">
                      <a:txBody>
                        <a:bodyPr/>
                        <a:lstStyle/>
                        <a:p>
                          <a:endParaRPr lang="zh-CN"/>
                        </a:p>
                      </a:txBody>
                      <a:tcPr>
                        <a:blipFill>
                          <a:blip r:embed="rId4"/>
                          <a:stretch>
                            <a:fillRect l="-2597" t="-37017" r="-1527273" b="-107735"/>
                          </a:stretch>
                        </a:blipFill>
                      </a:tcPr>
                    </a:tc>
                    <a:tc>
                      <a:txBody>
                        <a:bodyPr/>
                        <a:lstStyle/>
                        <a:p>
                          <a:endParaRPr lang="zh-CN"/>
                        </a:p>
                      </a:txBody>
                      <a:tcPr>
                        <a:blipFill>
                          <a:blip r:embed="rId4"/>
                          <a:stretch>
                            <a:fillRect l="-50000" t="-111667" r="-644304" b="-526667"/>
                          </a:stretch>
                        </a:blipFill>
                      </a:tcPr>
                    </a:tc>
                    <a:tc>
                      <a:txBody>
                        <a:bodyPr/>
                        <a:lstStyle/>
                        <a:p>
                          <a:r>
                            <a:rPr lang="en-US" altLang="zh-CN" dirty="0" smtClean="0"/>
                            <a:t>1</a:t>
                          </a:r>
                          <a:endParaRPr lang="zh-CN" altLang="en-US" dirty="0"/>
                        </a:p>
                      </a:txBody>
                      <a:tcPr/>
                    </a:tc>
                    <a:tc>
                      <a:txBody>
                        <a:bodyPr/>
                        <a:lstStyle/>
                        <a:p>
                          <a:pPr algn="l"/>
                          <a:r>
                            <a:rPr lang="en-US" altLang="zh-CN" dirty="0" smtClean="0"/>
                            <a:t>13</a:t>
                          </a:r>
                          <a:endParaRPr lang="zh-CN" altLang="en-US" dirty="0"/>
                        </a:p>
                      </a:txBody>
                      <a:tcPr/>
                    </a:tc>
                    <a:tc>
                      <a:txBody>
                        <a:bodyPr/>
                        <a:lstStyle/>
                        <a:p>
                          <a:r>
                            <a:rPr lang="en-US" altLang="zh-CN" dirty="0" smtClean="0"/>
                            <a:t>14</a:t>
                          </a:r>
                          <a:endParaRPr lang="zh-CN" altLang="en-US" dirty="0"/>
                        </a:p>
                      </a:txBody>
                      <a:tcPr/>
                    </a:tc>
                    <a:tc rowSpan="3">
                      <a:txBody>
                        <a:bodyPr/>
                        <a:lstStyle/>
                        <a:p>
                          <a:r>
                            <a:rPr lang="en-US" altLang="zh-CN" dirty="0" smtClean="0"/>
                            <a:t>13</a:t>
                          </a:r>
                          <a:endParaRPr lang="zh-CN" altLang="en-US" dirty="0"/>
                        </a:p>
                      </a:txBody>
                      <a:tcPr/>
                    </a:tc>
                    <a:tc rowSpan="3">
                      <a:txBody>
                        <a:bodyPr/>
                        <a:lstStyle/>
                        <a:p>
                          <a:endParaRPr lang="zh-CN"/>
                        </a:p>
                      </a:txBody>
                      <a:tcPr>
                        <a:blipFill>
                          <a:blip r:embed="rId4"/>
                          <a:stretch>
                            <a:fillRect l="-456000" t="-37017" r="-1778" b="-107735"/>
                          </a:stretch>
                        </a:blipFill>
                      </a:tcPr>
                    </a:tc>
                    <a:extLst>
                      <a:ext uri="{0D108BD9-81ED-4DB2-BD59-A6C34878D82A}">
                        <a16:rowId xmlns:a16="http://schemas.microsoft.com/office/drawing/2014/main" val="3736361684"/>
                      </a:ext>
                    </a:extLst>
                  </a:tr>
                  <a:tr h="365760">
                    <a:tc vMerge="1">
                      <a:txBody>
                        <a:bodyPr/>
                        <a:lstStyle/>
                        <a:p>
                          <a:endParaRPr lang="zh-CN" altLang="en-US" dirty="0"/>
                        </a:p>
                      </a:txBody>
                      <a:tcPr/>
                    </a:tc>
                    <a:tc>
                      <a:txBody>
                        <a:bodyPr/>
                        <a:lstStyle/>
                        <a:p>
                          <a:endParaRPr lang="zh-CN"/>
                        </a:p>
                      </a:txBody>
                      <a:tcPr>
                        <a:blipFill>
                          <a:blip r:embed="rId4"/>
                          <a:stretch>
                            <a:fillRect l="-50000" t="-211667" r="-644304" b="-426667"/>
                          </a:stretch>
                        </a:blipFill>
                      </a:tcPr>
                    </a:tc>
                    <a:tc>
                      <a:txBody>
                        <a:bodyPr/>
                        <a:lstStyle/>
                        <a:p>
                          <a:r>
                            <a:rPr lang="en-US" altLang="zh-CN" dirty="0" smtClean="0"/>
                            <a:t>3</a:t>
                          </a:r>
                          <a:endParaRPr lang="zh-CN" altLang="en-US" dirty="0"/>
                        </a:p>
                      </a:txBody>
                      <a:tcPr/>
                    </a:tc>
                    <a:tc>
                      <a:txBody>
                        <a:bodyPr/>
                        <a:lstStyle/>
                        <a:p>
                          <a:pPr algn="l"/>
                          <a:r>
                            <a:rPr lang="en-US" altLang="zh-CN" dirty="0" smtClean="0"/>
                            <a:t>10</a:t>
                          </a:r>
                          <a:endParaRPr lang="zh-CN" altLang="en-US" dirty="0"/>
                        </a:p>
                      </a:txBody>
                      <a:tcPr/>
                    </a:tc>
                    <a:tc>
                      <a:txBody>
                        <a:bodyPr/>
                        <a:lstStyle/>
                        <a:p>
                          <a:r>
                            <a:rPr lang="en-US" altLang="zh-CN" dirty="0" smtClean="0"/>
                            <a:t>13</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91311635"/>
                      </a:ext>
                    </a:extLst>
                  </a:tr>
                  <a:tr h="365760">
                    <a:tc vMerge="1">
                      <a:txBody>
                        <a:bodyPr/>
                        <a:lstStyle/>
                        <a:p>
                          <a:endParaRPr lang="zh-CN" altLang="en-US" dirty="0"/>
                        </a:p>
                      </a:txBody>
                      <a:tcPr/>
                    </a:tc>
                    <a:tc>
                      <a:txBody>
                        <a:bodyPr/>
                        <a:lstStyle/>
                        <a:p>
                          <a:endParaRPr lang="zh-CN"/>
                        </a:p>
                      </a:txBody>
                      <a:tcPr>
                        <a:blipFill>
                          <a:blip r:embed="rId4"/>
                          <a:stretch>
                            <a:fillRect l="-50000" t="-306557" r="-644304" b="-319672"/>
                          </a:stretch>
                        </a:blipFill>
                      </a:tcPr>
                    </a:tc>
                    <a:tc>
                      <a:txBody>
                        <a:bodyPr/>
                        <a:lstStyle/>
                        <a:p>
                          <a:r>
                            <a:rPr lang="en-US" altLang="zh-CN" dirty="0" smtClean="0"/>
                            <a:t>6</a:t>
                          </a:r>
                          <a:endParaRPr lang="zh-CN" altLang="en-US" dirty="0"/>
                        </a:p>
                      </a:txBody>
                      <a:tcPr/>
                    </a:tc>
                    <a:tc>
                      <a:txBody>
                        <a:bodyPr/>
                        <a:lstStyle/>
                        <a:p>
                          <a:pPr algn="l"/>
                          <a:r>
                            <a:rPr lang="en-US" altLang="zh-CN" dirty="0" smtClean="0"/>
                            <a:t>9</a:t>
                          </a:r>
                          <a:endParaRPr lang="zh-CN" altLang="en-US" dirty="0"/>
                        </a:p>
                      </a:txBody>
                      <a:tcPr/>
                    </a:tc>
                    <a:tc>
                      <a:txBody>
                        <a:bodyPr/>
                        <a:lstStyle/>
                        <a:p>
                          <a:r>
                            <a:rPr lang="en-US" altLang="zh-CN" dirty="0" smtClean="0"/>
                            <a:t>15</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744109341"/>
                      </a:ext>
                    </a:extLst>
                  </a:tr>
                  <a:tr h="365760">
                    <a:tc rowSpan="3">
                      <a:txBody>
                        <a:bodyPr/>
                        <a:lstStyle/>
                        <a:p>
                          <a:endParaRPr lang="zh-CN"/>
                        </a:p>
                      </a:txBody>
                      <a:tcPr>
                        <a:blipFill>
                          <a:blip r:embed="rId4"/>
                          <a:stretch>
                            <a:fillRect l="-2597" t="-137778" r="-1527273" b="-8333"/>
                          </a:stretch>
                        </a:blipFill>
                      </a:tcPr>
                    </a:tc>
                    <a:tc>
                      <a:txBody>
                        <a:bodyPr/>
                        <a:lstStyle/>
                        <a:p>
                          <a:endParaRPr lang="zh-CN"/>
                        </a:p>
                      </a:txBody>
                      <a:tcPr>
                        <a:blipFill>
                          <a:blip r:embed="rId4"/>
                          <a:stretch>
                            <a:fillRect l="-50000" t="-413333" r="-644304" b="-225000"/>
                          </a:stretch>
                        </a:blipFill>
                      </a:tcPr>
                    </a:tc>
                    <a:tc>
                      <a:txBody>
                        <a:bodyPr/>
                        <a:lstStyle/>
                        <a:p>
                          <a:r>
                            <a:rPr lang="en-US" altLang="zh-CN" dirty="0" smtClean="0"/>
                            <a:t>8</a:t>
                          </a:r>
                          <a:endParaRPr lang="zh-CN" altLang="en-US" dirty="0"/>
                        </a:p>
                      </a:txBody>
                      <a:tcPr/>
                    </a:tc>
                    <a:tc>
                      <a:txBody>
                        <a:bodyPr/>
                        <a:lstStyle/>
                        <a:p>
                          <a:pPr algn="l"/>
                          <a:r>
                            <a:rPr lang="en-US" altLang="zh-CN" dirty="0" smtClean="0"/>
                            <a:t>10</a:t>
                          </a:r>
                          <a:endParaRPr lang="zh-CN" altLang="en-US" dirty="0"/>
                        </a:p>
                      </a:txBody>
                      <a:tcPr/>
                    </a:tc>
                    <a:tc>
                      <a:txBody>
                        <a:bodyPr/>
                        <a:lstStyle/>
                        <a:p>
                          <a:r>
                            <a:rPr lang="en-US" altLang="zh-CN" dirty="0" smtClean="0"/>
                            <a:t>18</a:t>
                          </a:r>
                          <a:endParaRPr lang="zh-CN" altLang="en-US" dirty="0"/>
                        </a:p>
                      </a:txBody>
                      <a:tcPr/>
                    </a:tc>
                    <a:tc rowSpan="3">
                      <a:txBody>
                        <a:bodyPr/>
                        <a:lstStyle/>
                        <a:p>
                          <a:r>
                            <a:rPr lang="en-US" altLang="zh-CN" dirty="0" smtClean="0"/>
                            <a:t>16</a:t>
                          </a:r>
                          <a:endParaRPr lang="zh-CN" altLang="en-US" dirty="0"/>
                        </a:p>
                      </a:txBody>
                      <a:tcPr/>
                    </a:tc>
                    <a:tc rowSpan="3">
                      <a:txBody>
                        <a:bodyPr/>
                        <a:lstStyle/>
                        <a:p>
                          <a:endParaRPr lang="zh-CN"/>
                        </a:p>
                      </a:txBody>
                      <a:tcPr>
                        <a:blipFill>
                          <a:blip r:embed="rId4"/>
                          <a:stretch>
                            <a:fillRect l="-456000" t="-137778" r="-1778" b="-8333"/>
                          </a:stretch>
                        </a:blipFill>
                      </a:tcPr>
                    </a:tc>
                    <a:extLst>
                      <a:ext uri="{0D108BD9-81ED-4DB2-BD59-A6C34878D82A}">
                        <a16:rowId xmlns:a16="http://schemas.microsoft.com/office/drawing/2014/main" val="752238598"/>
                      </a:ext>
                    </a:extLst>
                  </a:tr>
                  <a:tr h="365760">
                    <a:tc vMerge="1">
                      <a:txBody>
                        <a:bodyPr/>
                        <a:lstStyle/>
                        <a:p>
                          <a:endParaRPr lang="zh-CN" altLang="en-US" dirty="0"/>
                        </a:p>
                      </a:txBody>
                      <a:tcPr/>
                    </a:tc>
                    <a:tc>
                      <a:txBody>
                        <a:bodyPr/>
                        <a:lstStyle/>
                        <a:p>
                          <a:endParaRPr lang="zh-CN"/>
                        </a:p>
                      </a:txBody>
                      <a:tcPr>
                        <a:blipFill>
                          <a:blip r:embed="rId4"/>
                          <a:stretch>
                            <a:fillRect l="-50000" t="-513333" r="-644304" b="-125000"/>
                          </a:stretch>
                        </a:blipFill>
                      </a:tcPr>
                    </a:tc>
                    <a:tc>
                      <a:txBody>
                        <a:bodyPr/>
                        <a:lstStyle/>
                        <a:p>
                          <a:r>
                            <a:rPr lang="en-US" altLang="zh-CN" dirty="0" smtClean="0"/>
                            <a:t>7</a:t>
                          </a:r>
                          <a:endParaRPr lang="zh-CN" altLang="en-US" dirty="0"/>
                        </a:p>
                      </a:txBody>
                      <a:tcPr/>
                    </a:tc>
                    <a:tc>
                      <a:txBody>
                        <a:bodyPr/>
                        <a:lstStyle/>
                        <a:p>
                          <a:pPr algn="l"/>
                          <a:r>
                            <a:rPr lang="en-US" altLang="zh-CN" dirty="0" smtClean="0"/>
                            <a:t>9</a:t>
                          </a:r>
                          <a:endParaRPr lang="zh-CN" altLang="en-US" dirty="0"/>
                        </a:p>
                      </a:txBody>
                      <a:tcPr/>
                    </a:tc>
                    <a:tc>
                      <a:txBody>
                        <a:bodyPr/>
                        <a:lstStyle/>
                        <a:p>
                          <a:r>
                            <a:rPr lang="en-US" altLang="zh-CN" dirty="0" smtClean="0"/>
                            <a:t>16</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944060997"/>
                      </a:ext>
                    </a:extLst>
                  </a:tr>
                  <a:tr h="365760">
                    <a:tc vMerge="1">
                      <a:txBody>
                        <a:bodyPr/>
                        <a:lstStyle/>
                        <a:p>
                          <a:endParaRPr lang="zh-CN" altLang="en-US" dirty="0"/>
                        </a:p>
                      </a:txBody>
                      <a:tcPr/>
                    </a:tc>
                    <a:tc>
                      <a:txBody>
                        <a:bodyPr/>
                        <a:lstStyle/>
                        <a:p>
                          <a:endParaRPr lang="zh-CN"/>
                        </a:p>
                      </a:txBody>
                      <a:tcPr>
                        <a:blipFill>
                          <a:blip r:embed="rId4"/>
                          <a:stretch>
                            <a:fillRect l="-50000" t="-613333" r="-644304" b="-25000"/>
                          </a:stretch>
                        </a:blipFill>
                      </a:tcPr>
                    </a:tc>
                    <a:tc>
                      <a:txBody>
                        <a:bodyPr/>
                        <a:lstStyle/>
                        <a:p>
                          <a:r>
                            <a:rPr lang="en-US" altLang="zh-CN" dirty="0" smtClean="0"/>
                            <a:t>6</a:t>
                          </a:r>
                          <a:endParaRPr lang="zh-CN" altLang="en-US" dirty="0"/>
                        </a:p>
                      </a:txBody>
                      <a:tcPr/>
                    </a:tc>
                    <a:tc>
                      <a:txBody>
                        <a:bodyPr/>
                        <a:lstStyle/>
                        <a:p>
                          <a:pPr algn="l"/>
                          <a:r>
                            <a:rPr lang="en-US" altLang="zh-CN" dirty="0" smtClean="0"/>
                            <a:t>12</a:t>
                          </a:r>
                          <a:endParaRPr lang="zh-CN" altLang="en-US" dirty="0"/>
                        </a:p>
                      </a:txBody>
                      <a:tcPr/>
                    </a:tc>
                    <a:tc>
                      <a:txBody>
                        <a:bodyPr/>
                        <a:lstStyle/>
                        <a:p>
                          <a:r>
                            <a:rPr lang="en-US" altLang="zh-CN" dirty="0" smtClean="0"/>
                            <a:t>18</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74687360"/>
                      </a:ext>
                    </a:extLst>
                  </a:tr>
                </a:tbl>
              </a:graphicData>
            </a:graphic>
          </p:graphicFrame>
        </mc:Fallback>
      </mc:AlternateContent>
      <p:sp>
        <p:nvSpPr>
          <p:cNvPr id="19" name="矩形 18"/>
          <p:cNvSpPr/>
          <p:nvPr/>
        </p:nvSpPr>
        <p:spPr>
          <a:xfrm>
            <a:off x="-26526" y="4556784"/>
            <a:ext cx="1056404" cy="341632"/>
          </a:xfrm>
          <a:prstGeom prst="rect">
            <a:avLst/>
          </a:prstGeom>
        </p:spPr>
        <p:txBody>
          <a:bodyPr wrap="square">
            <a:spAutoFit/>
          </a:bodyPr>
          <a:lstStyle/>
          <a:p>
            <a:pPr marL="0" lvl="2" defTabSz="179388" eaLnBrk="1" hangingPunct="1">
              <a:lnSpc>
                <a:spcPct val="90000"/>
              </a:lnSpc>
            </a:pPr>
            <a:r>
              <a:rPr lang="zh-CN" altLang="en-US" sz="1800" dirty="0" smtClean="0"/>
              <a:t>阶段</a:t>
            </a:r>
            <a:r>
              <a:rPr lang="en-US" altLang="zh-CN" sz="1800" dirty="0" smtClean="0"/>
              <a:t>k=2</a:t>
            </a:r>
            <a:endParaRPr lang="zh-CN" altLang="en-US" sz="1800" dirty="0"/>
          </a:p>
        </p:txBody>
      </p:sp>
      <p:pic>
        <p:nvPicPr>
          <p:cNvPr id="20"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07704" y="1556792"/>
            <a:ext cx="5113942" cy="207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Line 9"/>
          <p:cNvSpPr>
            <a:spLocks noChangeShapeType="1"/>
          </p:cNvSpPr>
          <p:nvPr/>
        </p:nvSpPr>
        <p:spPr bwMode="auto">
          <a:xfrm flipH="1">
            <a:off x="2233291" y="1778592"/>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2" name="Line 12"/>
          <p:cNvSpPr>
            <a:spLocks noChangeShapeType="1"/>
          </p:cNvSpPr>
          <p:nvPr/>
        </p:nvSpPr>
        <p:spPr bwMode="auto">
          <a:xfrm>
            <a:off x="298895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3" name="Line 9"/>
          <p:cNvSpPr>
            <a:spLocks noChangeShapeType="1"/>
          </p:cNvSpPr>
          <p:nvPr/>
        </p:nvSpPr>
        <p:spPr bwMode="auto">
          <a:xfrm flipH="1">
            <a:off x="3673451" y="1779163"/>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4" name="Line 12"/>
          <p:cNvSpPr>
            <a:spLocks noChangeShapeType="1"/>
          </p:cNvSpPr>
          <p:nvPr/>
        </p:nvSpPr>
        <p:spPr bwMode="auto">
          <a:xfrm>
            <a:off x="442911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5" name="Line 9"/>
          <p:cNvSpPr>
            <a:spLocks noChangeShapeType="1"/>
          </p:cNvSpPr>
          <p:nvPr/>
        </p:nvSpPr>
        <p:spPr bwMode="auto">
          <a:xfrm flipH="1">
            <a:off x="5113611" y="1772816"/>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6" name="Line 12"/>
          <p:cNvSpPr>
            <a:spLocks noChangeShapeType="1"/>
          </p:cNvSpPr>
          <p:nvPr/>
        </p:nvSpPr>
        <p:spPr bwMode="auto">
          <a:xfrm>
            <a:off x="5869270" y="1772816"/>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0" name="矩形 29"/>
          <p:cNvSpPr/>
          <p:nvPr/>
        </p:nvSpPr>
        <p:spPr>
          <a:xfrm>
            <a:off x="326241" y="3440128"/>
            <a:ext cx="6768752" cy="341632"/>
          </a:xfrm>
          <a:prstGeom prst="rect">
            <a:avLst/>
          </a:prstGeom>
        </p:spPr>
        <p:txBody>
          <a:bodyPr wrap="square">
            <a:spAutoFit/>
          </a:bodyPr>
          <a:lstStyle/>
          <a:p>
            <a:pPr lvl="2" eaLnBrk="1" hangingPunct="1">
              <a:lnSpc>
                <a:spcPct val="90000"/>
              </a:lnSpc>
            </a:pPr>
            <a:r>
              <a:rPr lang="zh-CN" altLang="en-US" sz="1800" dirty="0" smtClean="0"/>
              <a:t>阶段</a:t>
            </a:r>
            <a:r>
              <a:rPr lang="en-US" altLang="zh-CN" sz="1800" dirty="0" smtClean="0"/>
              <a:t>k</a:t>
            </a:r>
            <a:r>
              <a:rPr lang="zh-CN" altLang="en-US" sz="1800" dirty="0" smtClean="0"/>
              <a:t>： 阶段</a:t>
            </a:r>
            <a:r>
              <a:rPr lang="en-US" altLang="zh-CN" sz="1800" dirty="0" smtClean="0"/>
              <a:t>1   </a:t>
            </a:r>
            <a:r>
              <a:rPr lang="zh-CN" altLang="en-US" sz="1800" dirty="0" smtClean="0"/>
              <a:t>阶段</a:t>
            </a:r>
            <a:r>
              <a:rPr lang="en-US" altLang="zh-CN" sz="1800" dirty="0" smtClean="0"/>
              <a:t>2   </a:t>
            </a:r>
            <a:r>
              <a:rPr lang="zh-CN" altLang="en-US" sz="1800" dirty="0" smtClean="0"/>
              <a:t>阶段</a:t>
            </a:r>
            <a:r>
              <a:rPr lang="en-US" altLang="zh-CN" sz="1800" dirty="0" smtClean="0"/>
              <a:t>3  </a:t>
            </a:r>
            <a:r>
              <a:rPr lang="zh-CN" altLang="en-US" sz="1800" dirty="0" smtClean="0"/>
              <a:t>阶段</a:t>
            </a:r>
            <a:r>
              <a:rPr lang="en-US" altLang="zh-CN" sz="1800" dirty="0" smtClean="0"/>
              <a:t>4  </a:t>
            </a:r>
            <a:r>
              <a:rPr lang="zh-CN" altLang="en-US" sz="1800" dirty="0" smtClean="0"/>
              <a:t>阶段</a:t>
            </a:r>
            <a:r>
              <a:rPr lang="en-US" altLang="zh-CN" sz="1800" dirty="0" smtClean="0"/>
              <a:t>5  </a:t>
            </a:r>
            <a:r>
              <a:rPr lang="zh-CN" altLang="en-US" sz="1800" dirty="0" smtClean="0"/>
              <a:t>阶段</a:t>
            </a:r>
            <a:r>
              <a:rPr lang="en-US" altLang="zh-CN" sz="1800" dirty="0" smtClean="0"/>
              <a:t>6</a:t>
            </a:r>
            <a:endParaRPr lang="zh-CN" altLang="en-US" sz="1800" dirty="0"/>
          </a:p>
        </p:txBody>
      </p:sp>
      <p:sp>
        <p:nvSpPr>
          <p:cNvPr id="31" name="文本框 30"/>
          <p:cNvSpPr txBox="1"/>
          <p:nvPr/>
        </p:nvSpPr>
        <p:spPr bwMode="auto">
          <a:xfrm>
            <a:off x="6553771" y="1988840"/>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0</a:t>
            </a:r>
            <a:endParaRPr lang="zh-CN" altLang="en-US" sz="1800" dirty="0">
              <a:latin typeface="Times New Roman" panose="02020603050405020304" pitchFamily="18" charset="0"/>
              <a:cs typeface="Courier New" panose="02070309020205020404" pitchFamily="49" charset="0"/>
            </a:endParaRPr>
          </a:p>
        </p:txBody>
      </p:sp>
      <p:cxnSp>
        <p:nvCxnSpPr>
          <p:cNvPr id="32" name="直接箭头连接符 31"/>
          <p:cNvCxnSpPr/>
          <p:nvPr/>
        </p:nvCxnSpPr>
        <p:spPr bwMode="auto">
          <a:xfrm>
            <a:off x="6020287" y="2091663"/>
            <a:ext cx="533484" cy="25554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箭头连接符 32"/>
          <p:cNvCxnSpPr/>
          <p:nvPr/>
        </p:nvCxnSpPr>
        <p:spPr bwMode="auto">
          <a:xfrm flipV="1">
            <a:off x="6084168" y="2555913"/>
            <a:ext cx="469603" cy="23584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文本框 33"/>
          <p:cNvSpPr txBox="1"/>
          <p:nvPr/>
        </p:nvSpPr>
        <p:spPr bwMode="auto">
          <a:xfrm>
            <a:off x="5712078" y="154813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4</a:t>
            </a:r>
            <a:endParaRPr lang="zh-CN" altLang="en-US" sz="1800" dirty="0">
              <a:latin typeface="Times New Roman" panose="02020603050405020304" pitchFamily="18" charset="0"/>
              <a:cs typeface="Courier New" panose="02070309020205020404" pitchFamily="49" charset="0"/>
            </a:endParaRPr>
          </a:p>
        </p:txBody>
      </p:sp>
      <p:sp>
        <p:nvSpPr>
          <p:cNvPr id="35" name="文本框 34"/>
          <p:cNvSpPr txBox="1"/>
          <p:nvPr/>
        </p:nvSpPr>
        <p:spPr bwMode="auto">
          <a:xfrm>
            <a:off x="5750108" y="242088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3</a:t>
            </a:r>
            <a:endParaRPr lang="zh-CN" altLang="en-US" sz="1800" dirty="0">
              <a:latin typeface="Times New Roman" panose="02020603050405020304" pitchFamily="18" charset="0"/>
              <a:cs typeface="Courier New" panose="02070309020205020404" pitchFamily="49" charset="0"/>
            </a:endParaRPr>
          </a:p>
        </p:txBody>
      </p:sp>
      <p:cxnSp>
        <p:nvCxnSpPr>
          <p:cNvPr id="36" name="直接箭头连接符 35"/>
          <p:cNvCxnSpPr/>
          <p:nvPr/>
        </p:nvCxnSpPr>
        <p:spPr bwMode="auto">
          <a:xfrm>
            <a:off x="5307969" y="1929562"/>
            <a:ext cx="404109" cy="8563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文本框 36"/>
          <p:cNvSpPr txBox="1"/>
          <p:nvPr/>
        </p:nvSpPr>
        <p:spPr bwMode="auto">
          <a:xfrm>
            <a:off x="4956990" y="1477317"/>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7</a:t>
            </a:r>
            <a:endParaRPr lang="zh-CN" altLang="en-US" sz="1800" dirty="0">
              <a:latin typeface="Times New Roman" panose="02020603050405020304" pitchFamily="18" charset="0"/>
              <a:cs typeface="Courier New" panose="02070309020205020404" pitchFamily="49" charset="0"/>
            </a:endParaRPr>
          </a:p>
        </p:txBody>
      </p:sp>
      <p:cxnSp>
        <p:nvCxnSpPr>
          <p:cNvPr id="38" name="直接箭头连接符 37"/>
          <p:cNvCxnSpPr/>
          <p:nvPr/>
        </p:nvCxnSpPr>
        <p:spPr bwMode="auto">
          <a:xfrm>
            <a:off x="5269929" y="2555913"/>
            <a:ext cx="480179" cy="23584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文本框 38"/>
          <p:cNvSpPr txBox="1"/>
          <p:nvPr/>
        </p:nvSpPr>
        <p:spPr bwMode="auto">
          <a:xfrm>
            <a:off x="4969847" y="2075495"/>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5</a:t>
            </a:r>
            <a:endParaRPr lang="zh-CN" altLang="en-US" sz="1800" dirty="0">
              <a:latin typeface="Times New Roman" panose="02020603050405020304" pitchFamily="18" charset="0"/>
              <a:cs typeface="Courier New" panose="02070309020205020404" pitchFamily="49" charset="0"/>
            </a:endParaRPr>
          </a:p>
        </p:txBody>
      </p:sp>
      <p:cxnSp>
        <p:nvCxnSpPr>
          <p:cNvPr id="40" name="直接箭头连接符 39"/>
          <p:cNvCxnSpPr/>
          <p:nvPr/>
        </p:nvCxnSpPr>
        <p:spPr bwMode="auto">
          <a:xfrm flipV="1">
            <a:off x="5351894" y="2912771"/>
            <a:ext cx="398214" cy="158473"/>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文本框 40"/>
          <p:cNvSpPr txBox="1"/>
          <p:nvPr/>
        </p:nvSpPr>
        <p:spPr bwMode="auto">
          <a:xfrm>
            <a:off x="4987107" y="2661643"/>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9</a:t>
            </a:r>
            <a:endParaRPr lang="zh-CN" altLang="en-US" sz="1800" dirty="0">
              <a:latin typeface="Times New Roman" panose="02020603050405020304" pitchFamily="18" charset="0"/>
              <a:cs typeface="Courier New" panose="02070309020205020404" pitchFamily="49" charset="0"/>
            </a:endParaRPr>
          </a:p>
        </p:txBody>
      </p:sp>
      <p:cxnSp>
        <p:nvCxnSpPr>
          <p:cNvPr id="42" name="直接箭头连接符 41"/>
          <p:cNvCxnSpPr/>
          <p:nvPr/>
        </p:nvCxnSpPr>
        <p:spPr bwMode="auto">
          <a:xfrm>
            <a:off x="4587318" y="2091663"/>
            <a:ext cx="399789" cy="31372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文本框 42"/>
          <p:cNvSpPr txBox="1"/>
          <p:nvPr/>
        </p:nvSpPr>
        <p:spPr bwMode="auto">
          <a:xfrm>
            <a:off x="4261207" y="149846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7</a:t>
            </a:r>
            <a:endParaRPr lang="zh-CN" altLang="en-US" sz="1800" dirty="0">
              <a:latin typeface="Times New Roman" panose="02020603050405020304" pitchFamily="18" charset="0"/>
              <a:cs typeface="Courier New" panose="02070309020205020404" pitchFamily="49" charset="0"/>
            </a:endParaRPr>
          </a:p>
        </p:txBody>
      </p:sp>
      <p:cxnSp>
        <p:nvCxnSpPr>
          <p:cNvPr id="44" name="直接箭头连接符 43"/>
          <p:cNvCxnSpPr/>
          <p:nvPr/>
        </p:nvCxnSpPr>
        <p:spPr bwMode="auto">
          <a:xfrm>
            <a:off x="4616488" y="2529272"/>
            <a:ext cx="340502" cy="464"/>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文本框 44"/>
          <p:cNvSpPr txBox="1"/>
          <p:nvPr/>
        </p:nvSpPr>
        <p:spPr bwMode="auto">
          <a:xfrm>
            <a:off x="4283968" y="2090027"/>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6</a:t>
            </a:r>
            <a:endParaRPr lang="zh-CN" altLang="en-US" sz="1800" dirty="0">
              <a:latin typeface="Times New Roman" panose="02020603050405020304" pitchFamily="18" charset="0"/>
              <a:cs typeface="Courier New" panose="02070309020205020404" pitchFamily="49" charset="0"/>
            </a:endParaRPr>
          </a:p>
        </p:txBody>
      </p:sp>
      <p:cxnSp>
        <p:nvCxnSpPr>
          <p:cNvPr id="46" name="直接箭头连接符 45"/>
          <p:cNvCxnSpPr/>
          <p:nvPr/>
        </p:nvCxnSpPr>
        <p:spPr bwMode="auto">
          <a:xfrm flipV="1">
            <a:off x="4584050" y="2661643"/>
            <a:ext cx="403057" cy="37497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文本框 46"/>
          <p:cNvSpPr txBox="1"/>
          <p:nvPr/>
        </p:nvSpPr>
        <p:spPr bwMode="auto">
          <a:xfrm>
            <a:off x="4283968" y="2701259"/>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8</a:t>
            </a:r>
            <a:endParaRPr lang="zh-CN" altLang="en-US" sz="1800" dirty="0">
              <a:latin typeface="Times New Roman" panose="02020603050405020304" pitchFamily="18" charset="0"/>
              <a:cs typeface="Courier New" panose="02070309020205020404" pitchFamily="49" charset="0"/>
            </a:endParaRPr>
          </a:p>
        </p:txBody>
      </p:sp>
      <p:cxnSp>
        <p:nvCxnSpPr>
          <p:cNvPr id="48" name="直接箭头连接符 47"/>
          <p:cNvCxnSpPr/>
          <p:nvPr/>
        </p:nvCxnSpPr>
        <p:spPr bwMode="auto">
          <a:xfrm>
            <a:off x="3817659" y="1792527"/>
            <a:ext cx="428023" cy="13923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文本框 48"/>
          <p:cNvSpPr txBox="1"/>
          <p:nvPr/>
        </p:nvSpPr>
        <p:spPr bwMode="auto">
          <a:xfrm>
            <a:off x="3433514" y="1324186"/>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13</a:t>
            </a:r>
            <a:endParaRPr lang="zh-CN" altLang="en-US" sz="1800" dirty="0">
              <a:latin typeface="Times New Roman" panose="02020603050405020304" pitchFamily="18" charset="0"/>
              <a:cs typeface="Courier New" panose="02070309020205020404" pitchFamily="49" charset="0"/>
            </a:endParaRPr>
          </a:p>
        </p:txBody>
      </p:sp>
      <p:cxnSp>
        <p:nvCxnSpPr>
          <p:cNvPr id="50" name="直接箭头连接符 49"/>
          <p:cNvCxnSpPr/>
          <p:nvPr/>
        </p:nvCxnSpPr>
        <p:spPr bwMode="auto">
          <a:xfrm flipV="1">
            <a:off x="3806201" y="2035283"/>
            <a:ext cx="428608" cy="184152"/>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文本框 50"/>
          <p:cNvSpPr txBox="1"/>
          <p:nvPr/>
        </p:nvSpPr>
        <p:spPr bwMode="auto">
          <a:xfrm>
            <a:off x="3432407" y="1847796"/>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10</a:t>
            </a:r>
            <a:endParaRPr lang="zh-CN" altLang="en-US" sz="1800" dirty="0">
              <a:latin typeface="Times New Roman" panose="02020603050405020304" pitchFamily="18" charset="0"/>
              <a:cs typeface="Courier New" panose="02070309020205020404" pitchFamily="49" charset="0"/>
            </a:endParaRPr>
          </a:p>
        </p:txBody>
      </p:sp>
      <p:cxnSp>
        <p:nvCxnSpPr>
          <p:cNvPr id="52" name="直接箭头连接符 51"/>
          <p:cNvCxnSpPr/>
          <p:nvPr/>
        </p:nvCxnSpPr>
        <p:spPr bwMode="auto">
          <a:xfrm flipV="1">
            <a:off x="3854381" y="2626280"/>
            <a:ext cx="404763" cy="190653"/>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文本框 52"/>
          <p:cNvSpPr txBox="1"/>
          <p:nvPr/>
        </p:nvSpPr>
        <p:spPr bwMode="auto">
          <a:xfrm>
            <a:off x="3536236" y="244195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9</a:t>
            </a:r>
            <a:endParaRPr lang="zh-CN" altLang="en-US" sz="1800" dirty="0">
              <a:latin typeface="Times New Roman" panose="02020603050405020304" pitchFamily="18" charset="0"/>
              <a:cs typeface="Courier New" panose="02070309020205020404" pitchFamily="49" charset="0"/>
            </a:endParaRPr>
          </a:p>
        </p:txBody>
      </p:sp>
      <p:cxnSp>
        <p:nvCxnSpPr>
          <p:cNvPr id="54" name="直接箭头连接符 53"/>
          <p:cNvCxnSpPr/>
          <p:nvPr/>
        </p:nvCxnSpPr>
        <p:spPr bwMode="auto">
          <a:xfrm flipV="1">
            <a:off x="3863971" y="3220442"/>
            <a:ext cx="458844" cy="144961"/>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文本框 54"/>
          <p:cNvSpPr txBox="1"/>
          <p:nvPr/>
        </p:nvSpPr>
        <p:spPr bwMode="auto">
          <a:xfrm>
            <a:off x="3488804" y="2974179"/>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10</a:t>
            </a:r>
            <a:endParaRPr lang="zh-CN" altLang="en-US" sz="1800" dirty="0">
              <a:latin typeface="Times New Roman" panose="02020603050405020304" pitchFamily="18" charset="0"/>
              <a:cs typeface="Courier New" panose="02070309020205020404" pitchFamily="49" charset="0"/>
            </a:endParaRPr>
          </a:p>
        </p:txBody>
      </p:sp>
      <p:cxnSp>
        <p:nvCxnSpPr>
          <p:cNvPr id="56" name="直接箭头连接符 55"/>
          <p:cNvCxnSpPr/>
          <p:nvPr/>
        </p:nvCxnSpPr>
        <p:spPr bwMode="auto">
          <a:xfrm>
            <a:off x="3096832" y="2169161"/>
            <a:ext cx="399393" cy="108353"/>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文本框 56"/>
          <p:cNvSpPr txBox="1"/>
          <p:nvPr/>
        </p:nvSpPr>
        <p:spPr bwMode="auto">
          <a:xfrm>
            <a:off x="2694739" y="1648658"/>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13</a:t>
            </a:r>
            <a:endParaRPr lang="zh-CN" altLang="en-US" sz="1800" dirty="0">
              <a:latin typeface="Times New Roman" panose="02020603050405020304" pitchFamily="18" charset="0"/>
              <a:cs typeface="Courier New" panose="02070309020205020404" pitchFamily="49" charset="0"/>
            </a:endParaRPr>
          </a:p>
        </p:txBody>
      </p:sp>
      <p:cxnSp>
        <p:nvCxnSpPr>
          <p:cNvPr id="58" name="直接箭头连接符 57"/>
          <p:cNvCxnSpPr/>
          <p:nvPr/>
        </p:nvCxnSpPr>
        <p:spPr bwMode="auto">
          <a:xfrm>
            <a:off x="3109689" y="3165892"/>
            <a:ext cx="425949" cy="164568"/>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文本框 58"/>
          <p:cNvSpPr txBox="1"/>
          <p:nvPr/>
        </p:nvSpPr>
        <p:spPr bwMode="auto">
          <a:xfrm>
            <a:off x="2741905" y="2643134"/>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16</a:t>
            </a:r>
            <a:endParaRPr lang="zh-CN" altLang="en-US" sz="1800" dirty="0">
              <a:latin typeface="Times New Roman" panose="02020603050405020304" pitchFamily="18" charset="0"/>
              <a:cs typeface="Courier New" panose="02070309020205020404" pitchFamily="49" charset="0"/>
            </a:endParaRPr>
          </a:p>
        </p:txBody>
      </p:sp>
    </p:spTree>
    <p:extLst>
      <p:ext uri="{BB962C8B-B14F-4D97-AF65-F5344CB8AC3E}">
        <p14:creationId xmlns:p14="http://schemas.microsoft.com/office/powerpoint/2010/main" val="2076494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57" grpId="0" animBg="1"/>
      <p:bldP spid="5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270422" y="478731"/>
            <a:ext cx="6757962" cy="576163"/>
          </a:xfrm>
        </p:spPr>
        <p:txBody>
          <a:bodyPr/>
          <a:lstStyle/>
          <a:p>
            <a:pPr eaLnBrk="1" hangingPunct="1"/>
            <a:r>
              <a:rPr lang="en-US" altLang="zh-CN" b="1" dirty="0"/>
              <a:t>8.1.2  </a:t>
            </a:r>
            <a:r>
              <a:rPr lang="zh-CN" altLang="en-US" b="1" dirty="0"/>
              <a:t>动态规划的基本思想和基本方程</a:t>
            </a:r>
          </a:p>
        </p:txBody>
      </p:sp>
      <p:sp>
        <p:nvSpPr>
          <p:cNvPr id="2" name="内容占位符 1"/>
          <p:cNvSpPr>
            <a:spLocks noGrp="1"/>
          </p:cNvSpPr>
          <p:nvPr>
            <p:ph idx="1"/>
          </p:nvPr>
        </p:nvSpPr>
        <p:spPr>
          <a:xfrm>
            <a:off x="539552" y="1124744"/>
            <a:ext cx="8280920" cy="1274195"/>
          </a:xfrm>
        </p:spPr>
        <p:txBody>
          <a:bodyPr/>
          <a:lstStyle/>
          <a:p>
            <a:r>
              <a:rPr lang="zh-CN" altLang="en-US" dirty="0"/>
              <a:t>结合最短路线问题介绍动态规划方法的基本思想。</a:t>
            </a:r>
            <a:endParaRPr lang="en-US" altLang="zh-CN" dirty="0"/>
          </a:p>
          <a:p>
            <a:pPr lvl="1"/>
            <a:endParaRPr lang="zh-CN" altLang="en-US" dirty="0"/>
          </a:p>
          <a:p>
            <a:endParaRPr lang="zh-CN" altLang="en-US" dirty="0"/>
          </a:p>
        </p:txBody>
      </p:sp>
      <p:sp>
        <p:nvSpPr>
          <p:cNvPr id="18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4010695040"/>
                  </p:ext>
                </p:extLst>
              </p:nvPr>
            </p:nvGraphicFramePr>
            <p:xfrm>
              <a:off x="969052" y="3820233"/>
              <a:ext cx="7609947" cy="1270432"/>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538912">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0" i="1" smtClean="0">
                                        <a:latin typeface="Cambria Math" panose="02040503050406030204" pitchFamily="18" charset="0"/>
                                      </a:rPr>
                                      <m:t>1</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𝐷</m:t>
                                    </m:r>
                                  </m:e>
                                  <m:sub>
                                    <m:r>
                                      <a:rPr lang="en-US" altLang="zh-CN" sz="1800" b="1" i="1" smtClean="0">
                                        <a:latin typeface="Cambria Math" panose="02040503050406030204" pitchFamily="18" charset="0"/>
                                      </a:rPr>
                                      <m:t>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𝟏</m:t>
                                    </m:r>
                                  </m:sub>
                                </m:sSub>
                                <m:r>
                                  <a:rPr lang="en-US" altLang="zh-CN" sz="1800" i="1">
                                    <a:latin typeface="Cambria Math" panose="02040503050406030204" pitchFamily="18" charset="0"/>
                                  </a:rPr>
                                  <m:t>)</m:t>
                                </m:r>
                                <m:r>
                                  <m:rPr>
                                    <m:nor/>
                                  </m:rPr>
                                  <a:rPr lang="zh-CN" altLang="en-US" sz="1800" dirty="0"/>
                                  <m:t> </m:t>
                                </m:r>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𝟏</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𝟏</m:t>
                                        </m:r>
                                      </m:sub>
                                    </m:sSub>
                                  </m:e>
                                </m:d>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𝟐</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𝟐</m:t>
                                        </m:r>
                                      </m:sub>
                                    </m:sSub>
                                  </m:e>
                                </m:d>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𝟏</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𝟏</m:t>
                                      </m:r>
                                    </m:sub>
                                  </m:sSub>
                                </m:e>
                              </m:d>
                            </m:oMath>
                          </a14:m>
                          <a:r>
                            <a:rPr lang="en-US" altLang="zh-CN" dirty="0" smtClean="0"/>
                            <a: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𝟐</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𝟐</m:t>
                                      </m:r>
                                    </m:sub>
                                  </m:sSub>
                                </m:e>
                              </m:d>
                            </m:oMath>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𝟏</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𝟏</m:t>
                                        </m:r>
                                      </m:sub>
                                    </m:sSub>
                                  </m:e>
                                </m:d>
                              </m:oMath>
                            </m:oMathPara>
                          </a14:m>
                          <a:endParaRPr lang="zh-CN" altLang="en-US" dirty="0"/>
                        </a:p>
                      </a:txBody>
                      <a:tcPr/>
                    </a:tc>
                    <a:tc>
                      <a:txBody>
                        <a:bodyPr/>
                        <a:lstStyle/>
                        <a:p>
                          <a:r>
                            <a:rPr lang="zh-CN" altLang="en-US" dirty="0" smtClean="0"/>
                            <a:t>最优决策</a:t>
                          </a:r>
                          <a14:m>
                            <m:oMath xmlns:m="http://schemas.openxmlformats.org/officeDocument/2006/math">
                              <m:sSubSup>
                                <m:sSubSupPr>
                                  <m:ctrlPr>
                                    <a:rPr lang="en-US" altLang="zh-CN"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up>
                                  <m:r>
                                    <a:rPr lang="en-US" altLang="zh-CN" b="1" i="1" smtClean="0">
                                      <a:latin typeface="Cambria Math" panose="02040503050406030204" pitchFamily="18" charset="0"/>
                                    </a:rPr>
                                    <m:t>∗</m:t>
                                  </m:r>
                                </m:sup>
                              </m:sSubSup>
                            </m:oMath>
                          </a14:m>
                          <a:endParaRPr lang="zh-CN" altLang="en-US" dirty="0"/>
                        </a:p>
                      </a:txBody>
                      <a:tcPr/>
                    </a:tc>
                    <a:extLst>
                      <a:ext uri="{0D108BD9-81ED-4DB2-BD59-A6C34878D82A}">
                        <a16:rowId xmlns:a16="http://schemas.microsoft.com/office/drawing/2014/main" val="37799757"/>
                      </a:ext>
                    </a:extLst>
                  </a:tr>
                  <a:tr h="307950">
                    <a:tc rowSpan="2">
                      <a:txBody>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𝐴</m:t>
                                </m:r>
                              </m:oMath>
                            </m:oMathPara>
                          </a14:m>
                          <a:endParaRPr lang="zh-CN" altLang="en-US" dirty="0"/>
                        </a:p>
                      </a:txBody>
                      <a:tcPr/>
                    </a:tc>
                    <a:tc>
                      <a:txBody>
                        <a:bodyPr/>
                        <a:lstStyle/>
                        <a:p>
                          <a14:m>
                            <m:oMath xmlns:m="http://schemas.openxmlformats.org/officeDocument/2006/math">
                              <m:r>
                                <a:rPr lang="en-US" altLang="zh-CN" sz="1800" i="1" smtClean="0">
                                  <a:latin typeface="Cambria Math" panose="02040503050406030204" pitchFamily="18" charset="0"/>
                                </a:rPr>
                                <m:t>𝐴</m:t>
                              </m:r>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i="1">
                                      <a:latin typeface="Cambria Math" panose="02040503050406030204" pitchFamily="18" charset="0"/>
                                    </a:rPr>
                                    <m:t>1</m:t>
                                  </m:r>
                                </m:sub>
                              </m:sSub>
                            </m:oMath>
                          </a14:m>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18</a:t>
                          </a:r>
                          <a:endParaRPr lang="zh-CN" altLang="en-US" dirty="0"/>
                        </a:p>
                      </a:txBody>
                      <a:tcPr/>
                    </a:tc>
                    <a:tc rowSpan="2">
                      <a:txBody>
                        <a:bodyPr/>
                        <a:lstStyle/>
                        <a:p>
                          <a:r>
                            <a:rPr lang="en-US" altLang="zh-CN" dirty="0" smtClean="0"/>
                            <a:t>18</a:t>
                          </a:r>
                          <a:endParaRPr lang="zh-CN" altLang="en-US" dirty="0"/>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800" i="1" smtClean="0">
                                    <a:latin typeface="Cambria Math" panose="02040503050406030204" pitchFamily="18" charset="0"/>
                                  </a:rPr>
                                  <m:t>𝐴</m:t>
                                </m:r>
                                <m:r>
                                  <m:rPr>
                                    <m:nor/>
                                  </m:rPr>
                                  <a:rPr lang="en-US" altLang="zh-CN" dirty="0" smtClean="0"/>
                                  <m:t>−&gt;</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i="1">
                                        <a:latin typeface="Cambria Math" panose="02040503050406030204" pitchFamily="18" charset="0"/>
                                      </a:rPr>
                                      <m:t>1</m:t>
                                    </m:r>
                                  </m:sub>
                                </m:sSub>
                              </m:oMath>
                            </m:oMathPara>
                          </a14:m>
                          <a:endParaRPr lang="zh-CN" altLang="en-US" dirty="0"/>
                        </a:p>
                      </a:txBody>
                      <a:tcPr/>
                    </a:tc>
                    <a:extLst>
                      <a:ext uri="{0D108BD9-81ED-4DB2-BD59-A6C34878D82A}">
                        <a16:rowId xmlns:a16="http://schemas.microsoft.com/office/drawing/2014/main" val="3736361684"/>
                      </a:ext>
                    </a:extLst>
                  </a:tr>
                  <a:tr h="307950">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800" i="1" smtClean="0">
                                  <a:latin typeface="Cambria Math" panose="02040503050406030204" pitchFamily="18" charset="0"/>
                                </a:rPr>
                                <m:t>𝐴</m:t>
                              </m:r>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16</a:t>
                          </a:r>
                          <a:endParaRPr lang="zh-CN" altLang="en-US" dirty="0"/>
                        </a:p>
                      </a:txBody>
                      <a:tcPr/>
                    </a:tc>
                    <a:tc>
                      <a:txBody>
                        <a:bodyPr/>
                        <a:lstStyle/>
                        <a:p>
                          <a:r>
                            <a:rPr lang="en-US" altLang="zh-CN" dirty="0" smtClean="0"/>
                            <a:t>19</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91311635"/>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4010695040"/>
                  </p:ext>
                </p:extLst>
              </p:nvPr>
            </p:nvGraphicFramePr>
            <p:xfrm>
              <a:off x="969052" y="3820233"/>
              <a:ext cx="7609947" cy="1270432"/>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538912">
                    <a:tc>
                      <a:txBody>
                        <a:bodyPr/>
                        <a:lstStyle/>
                        <a:p>
                          <a:endParaRPr lang="zh-CN"/>
                        </a:p>
                      </a:txBody>
                      <a:tcPr>
                        <a:blipFill>
                          <a:blip r:embed="rId5"/>
                          <a:stretch>
                            <a:fillRect l="-1299" t="-7865" r="-1528571" b="-152809"/>
                          </a:stretch>
                        </a:blipFill>
                      </a:tcPr>
                    </a:tc>
                    <a:tc>
                      <a:txBody>
                        <a:bodyPr/>
                        <a:lstStyle/>
                        <a:p>
                          <a:endParaRPr lang="zh-CN"/>
                        </a:p>
                      </a:txBody>
                      <a:tcPr>
                        <a:blipFill>
                          <a:blip r:embed="rId5"/>
                          <a:stretch>
                            <a:fillRect l="-49367" t="-7865" r="-644937" b="-152809"/>
                          </a:stretch>
                        </a:blipFill>
                      </a:tcPr>
                    </a:tc>
                    <a:tc>
                      <a:txBody>
                        <a:bodyPr/>
                        <a:lstStyle/>
                        <a:p>
                          <a:endParaRPr lang="zh-CN"/>
                        </a:p>
                      </a:txBody>
                      <a:tcPr>
                        <a:blipFill>
                          <a:blip r:embed="rId5"/>
                          <a:stretch>
                            <a:fillRect l="-120408" t="-7865" r="-419898" b="-152809"/>
                          </a:stretch>
                        </a:blipFill>
                      </a:tcPr>
                    </a:tc>
                    <a:tc>
                      <a:txBody>
                        <a:bodyPr/>
                        <a:lstStyle/>
                        <a:p>
                          <a:endParaRPr lang="zh-CN"/>
                        </a:p>
                      </a:txBody>
                      <a:tcPr>
                        <a:blipFill>
                          <a:blip r:embed="rId5"/>
                          <a:stretch>
                            <a:fillRect l="-310791" t="-7865" r="-492086" b="-152809"/>
                          </a:stretch>
                        </a:blipFill>
                      </a:tcPr>
                    </a:tc>
                    <a:tc>
                      <a:txBody>
                        <a:bodyPr/>
                        <a:lstStyle/>
                        <a:p>
                          <a:endParaRPr lang="zh-CN"/>
                        </a:p>
                      </a:txBody>
                      <a:tcPr>
                        <a:blipFill>
                          <a:blip r:embed="rId5"/>
                          <a:stretch>
                            <a:fillRect l="-180696" t="-7865" r="-116456" b="-152809"/>
                          </a:stretch>
                        </a:blipFill>
                      </a:tcPr>
                    </a:tc>
                    <a:tc>
                      <a:txBody>
                        <a:bodyPr/>
                        <a:lstStyle/>
                        <a:p>
                          <a:endParaRPr lang="zh-CN"/>
                        </a:p>
                      </a:txBody>
                      <a:tcPr>
                        <a:blipFill>
                          <a:blip r:embed="rId5"/>
                          <a:stretch>
                            <a:fillRect l="-638129" t="-7865" r="-164748" b="-152809"/>
                          </a:stretch>
                        </a:blipFill>
                      </a:tcPr>
                    </a:tc>
                    <a:tc>
                      <a:txBody>
                        <a:bodyPr/>
                        <a:lstStyle/>
                        <a:p>
                          <a:endParaRPr lang="zh-CN"/>
                        </a:p>
                      </a:txBody>
                      <a:tcPr>
                        <a:blipFill>
                          <a:blip r:embed="rId5"/>
                          <a:stretch>
                            <a:fillRect l="-456000" t="-7865" r="-1778" b="-152809"/>
                          </a:stretch>
                        </a:blipFill>
                      </a:tcPr>
                    </a:tc>
                    <a:extLst>
                      <a:ext uri="{0D108BD9-81ED-4DB2-BD59-A6C34878D82A}">
                        <a16:rowId xmlns:a16="http://schemas.microsoft.com/office/drawing/2014/main" val="37799757"/>
                      </a:ext>
                    </a:extLst>
                  </a:tr>
                  <a:tr h="365760">
                    <a:tc rowSpan="2">
                      <a:txBody>
                        <a:bodyPr/>
                        <a:lstStyle/>
                        <a:p>
                          <a:endParaRPr lang="zh-CN"/>
                        </a:p>
                      </a:txBody>
                      <a:tcPr>
                        <a:blipFill>
                          <a:blip r:embed="rId5"/>
                          <a:stretch>
                            <a:fillRect l="-1299" t="-79339" r="-1528571" b="-12397"/>
                          </a:stretch>
                        </a:blipFill>
                      </a:tcPr>
                    </a:tc>
                    <a:tc>
                      <a:txBody>
                        <a:bodyPr/>
                        <a:lstStyle/>
                        <a:p>
                          <a:endParaRPr lang="zh-CN"/>
                        </a:p>
                      </a:txBody>
                      <a:tcPr>
                        <a:blipFill>
                          <a:blip r:embed="rId5"/>
                          <a:stretch>
                            <a:fillRect l="-49367" t="-157377" r="-644937" b="-122951"/>
                          </a:stretch>
                        </a:blipFill>
                      </a:tcPr>
                    </a:tc>
                    <a:tc>
                      <a:txBody>
                        <a:bodyPr/>
                        <a:lstStyle/>
                        <a:p>
                          <a:r>
                            <a:rPr lang="en-US" altLang="zh-CN" dirty="0" smtClean="0"/>
                            <a:t>5</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18</a:t>
                          </a:r>
                          <a:endParaRPr lang="zh-CN" altLang="en-US" dirty="0"/>
                        </a:p>
                      </a:txBody>
                      <a:tcPr/>
                    </a:tc>
                    <a:tc rowSpan="2">
                      <a:txBody>
                        <a:bodyPr/>
                        <a:lstStyle/>
                        <a:p>
                          <a:r>
                            <a:rPr lang="en-US" altLang="zh-CN" dirty="0" smtClean="0"/>
                            <a:t>18</a:t>
                          </a:r>
                          <a:endParaRPr lang="zh-CN" altLang="en-US" dirty="0"/>
                        </a:p>
                      </a:txBody>
                      <a:tcPr/>
                    </a:tc>
                    <a:tc rowSpan="2">
                      <a:txBody>
                        <a:bodyPr/>
                        <a:lstStyle/>
                        <a:p>
                          <a:endParaRPr lang="zh-CN"/>
                        </a:p>
                      </a:txBody>
                      <a:tcPr>
                        <a:blipFill>
                          <a:blip r:embed="rId5"/>
                          <a:stretch>
                            <a:fillRect l="-456000" t="-79339" r="-1778" b="-12397"/>
                          </a:stretch>
                        </a:blipFill>
                      </a:tcPr>
                    </a:tc>
                    <a:extLst>
                      <a:ext uri="{0D108BD9-81ED-4DB2-BD59-A6C34878D82A}">
                        <a16:rowId xmlns:a16="http://schemas.microsoft.com/office/drawing/2014/main" val="3736361684"/>
                      </a:ext>
                    </a:extLst>
                  </a:tr>
                  <a:tr h="365760">
                    <a:tc vMerge="1">
                      <a:txBody>
                        <a:bodyPr/>
                        <a:lstStyle/>
                        <a:p>
                          <a:endParaRPr lang="zh-CN" altLang="en-US" dirty="0"/>
                        </a:p>
                      </a:txBody>
                      <a:tcPr/>
                    </a:tc>
                    <a:tc>
                      <a:txBody>
                        <a:bodyPr/>
                        <a:lstStyle/>
                        <a:p>
                          <a:endParaRPr lang="zh-CN"/>
                        </a:p>
                      </a:txBody>
                      <a:tcPr>
                        <a:blipFill>
                          <a:blip r:embed="rId5"/>
                          <a:stretch>
                            <a:fillRect l="-49367" t="-261667" r="-644937" b="-25000"/>
                          </a:stretch>
                        </a:blipFill>
                      </a:tcPr>
                    </a:tc>
                    <a:tc>
                      <a:txBody>
                        <a:bodyPr/>
                        <a:lstStyle/>
                        <a:p>
                          <a:r>
                            <a:rPr lang="en-US" altLang="zh-CN" dirty="0" smtClean="0"/>
                            <a:t>3</a:t>
                          </a:r>
                          <a:endParaRPr lang="zh-CN" altLang="en-US" dirty="0"/>
                        </a:p>
                      </a:txBody>
                      <a:tcPr/>
                    </a:tc>
                    <a:tc>
                      <a:txBody>
                        <a:bodyPr/>
                        <a:lstStyle/>
                        <a:p>
                          <a:r>
                            <a:rPr lang="en-US" altLang="zh-CN" dirty="0" smtClean="0"/>
                            <a:t>16</a:t>
                          </a:r>
                          <a:endParaRPr lang="zh-CN" altLang="en-US" dirty="0"/>
                        </a:p>
                      </a:txBody>
                      <a:tcPr/>
                    </a:tc>
                    <a:tc>
                      <a:txBody>
                        <a:bodyPr/>
                        <a:lstStyle/>
                        <a:p>
                          <a:r>
                            <a:rPr lang="en-US" altLang="zh-CN" dirty="0" smtClean="0"/>
                            <a:t>19</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91311635"/>
                      </a:ext>
                    </a:extLst>
                  </a:tr>
                </a:tbl>
              </a:graphicData>
            </a:graphic>
          </p:graphicFrame>
        </mc:Fallback>
      </mc:AlternateContent>
      <p:sp>
        <p:nvSpPr>
          <p:cNvPr id="19" name="矩形 18"/>
          <p:cNvSpPr/>
          <p:nvPr/>
        </p:nvSpPr>
        <p:spPr>
          <a:xfrm>
            <a:off x="-26526" y="4556784"/>
            <a:ext cx="1056404" cy="341632"/>
          </a:xfrm>
          <a:prstGeom prst="rect">
            <a:avLst/>
          </a:prstGeom>
        </p:spPr>
        <p:txBody>
          <a:bodyPr wrap="square">
            <a:spAutoFit/>
          </a:bodyPr>
          <a:lstStyle/>
          <a:p>
            <a:pPr marL="0" lvl="2" defTabSz="179388" eaLnBrk="1" hangingPunct="1">
              <a:lnSpc>
                <a:spcPct val="90000"/>
              </a:lnSpc>
            </a:pPr>
            <a:r>
              <a:rPr lang="zh-CN" altLang="en-US" sz="1800" dirty="0" smtClean="0"/>
              <a:t>阶段</a:t>
            </a:r>
            <a:r>
              <a:rPr lang="en-US" altLang="zh-CN" sz="1800" dirty="0" smtClean="0"/>
              <a:t>k=1</a:t>
            </a:r>
            <a:endParaRPr lang="zh-CN" altLang="en-US" sz="1800" dirty="0"/>
          </a:p>
        </p:txBody>
      </p:sp>
      <p:graphicFrame>
        <p:nvGraphicFramePr>
          <p:cNvPr id="20" name="Object 17"/>
          <p:cNvGraphicFramePr>
            <a:graphicFrameLocks noChangeAspect="1"/>
          </p:cNvGraphicFramePr>
          <p:nvPr>
            <p:extLst>
              <p:ext uri="{D42A27DB-BD31-4B8C-83A1-F6EECF244321}">
                <p14:modId xmlns:p14="http://schemas.microsoft.com/office/powerpoint/2010/main" val="1040404800"/>
              </p:ext>
            </p:extLst>
          </p:nvPr>
        </p:nvGraphicFramePr>
        <p:xfrm>
          <a:off x="8171785" y="5238033"/>
          <a:ext cx="504825" cy="425450"/>
        </p:xfrm>
        <a:graphic>
          <a:graphicData uri="http://schemas.openxmlformats.org/presentationml/2006/ole">
            <mc:AlternateContent xmlns:mc="http://schemas.openxmlformats.org/markup-compatibility/2006">
              <mc:Choice xmlns:v="urn:schemas-microsoft-com:vml" Requires="v">
                <p:oleObj spid="_x0000_s180376" name="Equation" r:id="rId6" imgW="304560" imgH="253800" progId="Equation.DSMT4">
                  <p:embed/>
                </p:oleObj>
              </mc:Choice>
              <mc:Fallback>
                <p:oleObj name="Equation" r:id="rId6" imgW="304560" imgH="253800" progId="Equation.DSMT4">
                  <p:embed/>
                  <p:pic>
                    <p:nvPicPr>
                      <p:cNvPr id="19" name="Object 17"/>
                      <p:cNvPicPr>
                        <a:picLocks noChangeAspect="1" noChangeArrowheads="1"/>
                      </p:cNvPicPr>
                      <p:nvPr/>
                    </p:nvPicPr>
                    <p:blipFill>
                      <a:blip r:embed="rId7"/>
                      <a:srcRect/>
                      <a:stretch>
                        <a:fillRect/>
                      </a:stretch>
                    </p:blipFill>
                    <p:spPr bwMode="auto">
                      <a:xfrm>
                        <a:off x="8171785" y="5238033"/>
                        <a:ext cx="50482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16"/>
          <p:cNvGraphicFramePr>
            <a:graphicFrameLocks noChangeAspect="1"/>
          </p:cNvGraphicFramePr>
          <p:nvPr>
            <p:extLst>
              <p:ext uri="{D42A27DB-BD31-4B8C-83A1-F6EECF244321}">
                <p14:modId xmlns:p14="http://schemas.microsoft.com/office/powerpoint/2010/main" val="1706000181"/>
              </p:ext>
            </p:extLst>
          </p:nvPr>
        </p:nvGraphicFramePr>
        <p:xfrm>
          <a:off x="1568450" y="5664200"/>
          <a:ext cx="7304088" cy="379413"/>
        </p:xfrm>
        <a:graphic>
          <a:graphicData uri="http://schemas.openxmlformats.org/presentationml/2006/ole">
            <mc:AlternateContent xmlns:mc="http://schemas.openxmlformats.org/markup-compatibility/2006">
              <mc:Choice xmlns:v="urn:schemas-microsoft-com:vml" Requires="v">
                <p:oleObj spid="_x0000_s180377" name="Equation" r:id="rId8" imgW="4444920" imgH="241200" progId="Equation.DSMT4">
                  <p:embed/>
                </p:oleObj>
              </mc:Choice>
              <mc:Fallback>
                <p:oleObj name="Equation" r:id="rId8" imgW="4444920" imgH="241200" progId="Equation.DSMT4">
                  <p:embed/>
                  <p:pic>
                    <p:nvPicPr>
                      <p:cNvPr id="20" name="Object 16"/>
                      <p:cNvPicPr>
                        <a:picLocks noChangeAspect="1" noChangeArrowheads="1"/>
                      </p:cNvPicPr>
                      <p:nvPr/>
                    </p:nvPicPr>
                    <p:blipFill>
                      <a:blip r:embed="rId9"/>
                      <a:srcRect/>
                      <a:stretch>
                        <a:fillRect/>
                      </a:stretch>
                    </p:blipFill>
                    <p:spPr bwMode="auto">
                      <a:xfrm>
                        <a:off x="1568450" y="5664200"/>
                        <a:ext cx="7304088"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15"/>
          <p:cNvGraphicFramePr>
            <a:graphicFrameLocks noChangeAspect="1"/>
          </p:cNvGraphicFramePr>
          <p:nvPr>
            <p:extLst>
              <p:ext uri="{D42A27DB-BD31-4B8C-83A1-F6EECF244321}">
                <p14:modId xmlns:p14="http://schemas.microsoft.com/office/powerpoint/2010/main" val="1653708704"/>
              </p:ext>
            </p:extLst>
          </p:nvPr>
        </p:nvGraphicFramePr>
        <p:xfrm>
          <a:off x="5059810" y="6073123"/>
          <a:ext cx="3600450" cy="358775"/>
        </p:xfrm>
        <a:graphic>
          <a:graphicData uri="http://schemas.openxmlformats.org/presentationml/2006/ole">
            <mc:AlternateContent xmlns:mc="http://schemas.openxmlformats.org/markup-compatibility/2006">
              <mc:Choice xmlns:v="urn:schemas-microsoft-com:vml" Requires="v">
                <p:oleObj spid="_x0000_s180378" r:id="rId10" imgW="2298700" imgH="228600" progId="Equation.DSMT4">
                  <p:embed/>
                </p:oleObj>
              </mc:Choice>
              <mc:Fallback>
                <p:oleObj r:id="rId10" imgW="2298700" imgH="228600" progId="Equation.DSMT4">
                  <p:embed/>
                  <p:pic>
                    <p:nvPicPr>
                      <p:cNvPr id="21"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59810" y="6073123"/>
                        <a:ext cx="36004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Rectangle 18"/>
          <p:cNvSpPr>
            <a:spLocks noChangeArrowheads="1"/>
          </p:cNvSpPr>
          <p:nvPr/>
        </p:nvSpPr>
        <p:spPr bwMode="auto">
          <a:xfrm>
            <a:off x="899746" y="5266092"/>
            <a:ext cx="83534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dirty="0">
                <a:latin typeface="Times New Roman" panose="02020603050405020304" pitchFamily="18" charset="0"/>
                <a:cs typeface="Times New Roman" panose="02020603050405020304" pitchFamily="18" charset="0"/>
              </a:rPr>
              <a:t>为了找出最短路线，再按计算的顺序反推之，可求出最优决策函数序列</a:t>
            </a:r>
            <a:endParaRPr lang="zh-CN" altLang="en-US" sz="1800" b="1" dirty="0"/>
          </a:p>
        </p:txBody>
      </p:sp>
      <p:sp>
        <p:nvSpPr>
          <p:cNvPr id="24" name="Rectangle 19"/>
          <p:cNvSpPr>
            <a:spLocks noChangeArrowheads="1"/>
          </p:cNvSpPr>
          <p:nvPr/>
        </p:nvSpPr>
        <p:spPr bwMode="auto">
          <a:xfrm>
            <a:off x="931080" y="5654377"/>
            <a:ext cx="8819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dirty="0" smtClean="0">
                <a:latin typeface="Times New Roman" panose="02020603050405020304" pitchFamily="18" charset="0"/>
                <a:cs typeface="Times New Roman" panose="02020603050405020304" pitchFamily="18" charset="0"/>
              </a:rPr>
              <a:t>即由：</a:t>
            </a:r>
            <a:endParaRPr lang="zh-CN" altLang="en-US" sz="1800" b="1" dirty="0"/>
          </a:p>
        </p:txBody>
      </p:sp>
      <p:sp>
        <p:nvSpPr>
          <p:cNvPr id="25" name="Rectangle 20"/>
          <p:cNvSpPr>
            <a:spLocks noChangeArrowheads="1"/>
          </p:cNvSpPr>
          <p:nvPr/>
        </p:nvSpPr>
        <p:spPr bwMode="auto">
          <a:xfrm>
            <a:off x="927772" y="6023709"/>
            <a:ext cx="77324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dirty="0">
                <a:latin typeface="Times New Roman" panose="02020603050405020304" pitchFamily="18" charset="0"/>
                <a:cs typeface="Times New Roman" panose="02020603050405020304" pitchFamily="18" charset="0"/>
              </a:rPr>
              <a:t>组成一个最优策略</a:t>
            </a:r>
            <a:r>
              <a:rPr lang="zh-CN" altLang="en-US" sz="1800" b="1" dirty="0" smtClean="0">
                <a:latin typeface="Times New Roman" panose="02020603050405020304" pitchFamily="18" charset="0"/>
                <a:cs typeface="Times New Roman" panose="02020603050405020304" pitchFamily="18" charset="0"/>
              </a:rPr>
              <a:t>。相应</a:t>
            </a:r>
            <a:r>
              <a:rPr lang="zh-CN" altLang="en-US" sz="1800" b="1" dirty="0">
                <a:latin typeface="Times New Roman" panose="02020603050405020304" pitchFamily="18" charset="0"/>
                <a:cs typeface="Times New Roman" panose="02020603050405020304" pitchFamily="18" charset="0"/>
              </a:rPr>
              <a:t>的最短路线</a:t>
            </a:r>
            <a:r>
              <a:rPr lang="zh-CN" altLang="en-US" sz="1800" b="1" dirty="0" smtClean="0">
                <a:latin typeface="Times New Roman" panose="02020603050405020304" pitchFamily="18" charset="0"/>
                <a:cs typeface="Times New Roman" panose="02020603050405020304" pitchFamily="18" charset="0"/>
              </a:rPr>
              <a:t>为</a:t>
            </a:r>
            <a:r>
              <a:rPr lang="en-US" altLang="zh-CN" sz="1800" b="1" dirty="0" smtClean="0">
                <a:latin typeface="Times New Roman" panose="02020603050405020304" pitchFamily="18" charset="0"/>
                <a:cs typeface="Times New Roman" panose="02020603050405020304" pitchFamily="18" charset="0"/>
              </a:rPr>
              <a:t>:</a:t>
            </a:r>
            <a:endParaRPr lang="zh-CN" altLang="en-US" sz="1800" b="1" dirty="0"/>
          </a:p>
          <a:p>
            <a:pPr>
              <a:spcBef>
                <a:spcPct val="0"/>
              </a:spcBef>
              <a:buClrTx/>
              <a:buSzTx/>
              <a:buFontTx/>
              <a:buNone/>
            </a:pPr>
            <a:r>
              <a:rPr lang="zh-CN" altLang="en-US" sz="1800" b="1" dirty="0">
                <a:cs typeface="Courier New" panose="02070309020205020404" pitchFamily="49" charset="0"/>
              </a:rPr>
              <a:t>	</a:t>
            </a:r>
            <a:endParaRPr lang="zh-CN" altLang="en-US" sz="1800" b="1" dirty="0"/>
          </a:p>
        </p:txBody>
      </p:sp>
      <p:pic>
        <p:nvPicPr>
          <p:cNvPr id="26" name="Picture 7"/>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907704" y="1556792"/>
            <a:ext cx="5113942" cy="207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Line 9"/>
          <p:cNvSpPr>
            <a:spLocks noChangeShapeType="1"/>
          </p:cNvSpPr>
          <p:nvPr/>
        </p:nvSpPr>
        <p:spPr bwMode="auto">
          <a:xfrm flipH="1">
            <a:off x="2233291" y="1778592"/>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1" name="Line 12"/>
          <p:cNvSpPr>
            <a:spLocks noChangeShapeType="1"/>
          </p:cNvSpPr>
          <p:nvPr/>
        </p:nvSpPr>
        <p:spPr bwMode="auto">
          <a:xfrm>
            <a:off x="298895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2" name="Line 9"/>
          <p:cNvSpPr>
            <a:spLocks noChangeShapeType="1"/>
          </p:cNvSpPr>
          <p:nvPr/>
        </p:nvSpPr>
        <p:spPr bwMode="auto">
          <a:xfrm flipH="1">
            <a:off x="3673451" y="1779163"/>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3" name="Line 12"/>
          <p:cNvSpPr>
            <a:spLocks noChangeShapeType="1"/>
          </p:cNvSpPr>
          <p:nvPr/>
        </p:nvSpPr>
        <p:spPr bwMode="auto">
          <a:xfrm>
            <a:off x="442911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4" name="Line 9"/>
          <p:cNvSpPr>
            <a:spLocks noChangeShapeType="1"/>
          </p:cNvSpPr>
          <p:nvPr/>
        </p:nvSpPr>
        <p:spPr bwMode="auto">
          <a:xfrm flipH="1">
            <a:off x="5113611" y="1772816"/>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5" name="Line 12"/>
          <p:cNvSpPr>
            <a:spLocks noChangeShapeType="1"/>
          </p:cNvSpPr>
          <p:nvPr/>
        </p:nvSpPr>
        <p:spPr bwMode="auto">
          <a:xfrm>
            <a:off x="5869270" y="1772816"/>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6" name="矩形 35"/>
          <p:cNvSpPr/>
          <p:nvPr/>
        </p:nvSpPr>
        <p:spPr>
          <a:xfrm>
            <a:off x="326241" y="3440128"/>
            <a:ext cx="6768752" cy="341632"/>
          </a:xfrm>
          <a:prstGeom prst="rect">
            <a:avLst/>
          </a:prstGeom>
        </p:spPr>
        <p:txBody>
          <a:bodyPr wrap="square">
            <a:spAutoFit/>
          </a:bodyPr>
          <a:lstStyle/>
          <a:p>
            <a:pPr lvl="2" eaLnBrk="1" hangingPunct="1">
              <a:lnSpc>
                <a:spcPct val="90000"/>
              </a:lnSpc>
            </a:pPr>
            <a:r>
              <a:rPr lang="zh-CN" altLang="en-US" sz="1800" dirty="0" smtClean="0"/>
              <a:t>阶段</a:t>
            </a:r>
            <a:r>
              <a:rPr lang="en-US" altLang="zh-CN" sz="1800" dirty="0" smtClean="0"/>
              <a:t>k</a:t>
            </a:r>
            <a:r>
              <a:rPr lang="zh-CN" altLang="en-US" sz="1800" dirty="0" smtClean="0"/>
              <a:t>： 阶段</a:t>
            </a:r>
            <a:r>
              <a:rPr lang="en-US" altLang="zh-CN" sz="1800" dirty="0" smtClean="0"/>
              <a:t>1   </a:t>
            </a:r>
            <a:r>
              <a:rPr lang="zh-CN" altLang="en-US" sz="1800" dirty="0" smtClean="0"/>
              <a:t>阶段</a:t>
            </a:r>
            <a:r>
              <a:rPr lang="en-US" altLang="zh-CN" sz="1800" dirty="0" smtClean="0"/>
              <a:t>2   </a:t>
            </a:r>
            <a:r>
              <a:rPr lang="zh-CN" altLang="en-US" sz="1800" dirty="0" smtClean="0"/>
              <a:t>阶段</a:t>
            </a:r>
            <a:r>
              <a:rPr lang="en-US" altLang="zh-CN" sz="1800" dirty="0" smtClean="0"/>
              <a:t>3  </a:t>
            </a:r>
            <a:r>
              <a:rPr lang="zh-CN" altLang="en-US" sz="1800" dirty="0" smtClean="0"/>
              <a:t>阶段</a:t>
            </a:r>
            <a:r>
              <a:rPr lang="en-US" altLang="zh-CN" sz="1800" dirty="0" smtClean="0"/>
              <a:t>4  </a:t>
            </a:r>
            <a:r>
              <a:rPr lang="zh-CN" altLang="en-US" sz="1800" dirty="0" smtClean="0"/>
              <a:t>阶段</a:t>
            </a:r>
            <a:r>
              <a:rPr lang="en-US" altLang="zh-CN" sz="1800" dirty="0" smtClean="0"/>
              <a:t>5  </a:t>
            </a:r>
            <a:r>
              <a:rPr lang="zh-CN" altLang="en-US" sz="1800" dirty="0" smtClean="0"/>
              <a:t>阶段</a:t>
            </a:r>
            <a:r>
              <a:rPr lang="en-US" altLang="zh-CN" sz="1800" dirty="0" smtClean="0"/>
              <a:t>6</a:t>
            </a:r>
            <a:endParaRPr lang="zh-CN" altLang="en-US" sz="1800" dirty="0"/>
          </a:p>
        </p:txBody>
      </p:sp>
      <p:sp>
        <p:nvSpPr>
          <p:cNvPr id="37" name="文本框 36"/>
          <p:cNvSpPr txBox="1"/>
          <p:nvPr/>
        </p:nvSpPr>
        <p:spPr bwMode="auto">
          <a:xfrm>
            <a:off x="6553771" y="1988840"/>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0</a:t>
            </a:r>
            <a:endParaRPr lang="zh-CN" altLang="en-US" sz="1800" dirty="0">
              <a:latin typeface="Times New Roman" panose="02020603050405020304" pitchFamily="18" charset="0"/>
              <a:cs typeface="Courier New" panose="02070309020205020404" pitchFamily="49" charset="0"/>
            </a:endParaRPr>
          </a:p>
        </p:txBody>
      </p:sp>
      <p:cxnSp>
        <p:nvCxnSpPr>
          <p:cNvPr id="38" name="直接箭头连接符 37"/>
          <p:cNvCxnSpPr/>
          <p:nvPr/>
        </p:nvCxnSpPr>
        <p:spPr bwMode="auto">
          <a:xfrm>
            <a:off x="6020287" y="2091663"/>
            <a:ext cx="533484" cy="25554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接箭头连接符 38"/>
          <p:cNvCxnSpPr/>
          <p:nvPr/>
        </p:nvCxnSpPr>
        <p:spPr bwMode="auto">
          <a:xfrm flipV="1">
            <a:off x="6084168" y="2555913"/>
            <a:ext cx="469603" cy="23584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文本框 39"/>
          <p:cNvSpPr txBox="1"/>
          <p:nvPr/>
        </p:nvSpPr>
        <p:spPr bwMode="auto">
          <a:xfrm>
            <a:off x="5712078" y="154813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4</a:t>
            </a:r>
            <a:endParaRPr lang="zh-CN" altLang="en-US" sz="1800" dirty="0">
              <a:latin typeface="Times New Roman" panose="02020603050405020304" pitchFamily="18" charset="0"/>
              <a:cs typeface="Courier New" panose="02070309020205020404" pitchFamily="49" charset="0"/>
            </a:endParaRPr>
          </a:p>
        </p:txBody>
      </p:sp>
      <p:sp>
        <p:nvSpPr>
          <p:cNvPr id="41" name="文本框 40"/>
          <p:cNvSpPr txBox="1"/>
          <p:nvPr/>
        </p:nvSpPr>
        <p:spPr bwMode="auto">
          <a:xfrm>
            <a:off x="5750108" y="242088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3</a:t>
            </a:r>
            <a:endParaRPr lang="zh-CN" altLang="en-US" sz="1800" dirty="0">
              <a:latin typeface="Times New Roman" panose="02020603050405020304" pitchFamily="18" charset="0"/>
              <a:cs typeface="Courier New" panose="02070309020205020404" pitchFamily="49" charset="0"/>
            </a:endParaRPr>
          </a:p>
        </p:txBody>
      </p:sp>
      <p:cxnSp>
        <p:nvCxnSpPr>
          <p:cNvPr id="42" name="直接箭头连接符 41"/>
          <p:cNvCxnSpPr/>
          <p:nvPr/>
        </p:nvCxnSpPr>
        <p:spPr bwMode="auto">
          <a:xfrm>
            <a:off x="5307969" y="1929562"/>
            <a:ext cx="404109" cy="8563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文本框 42"/>
          <p:cNvSpPr txBox="1"/>
          <p:nvPr/>
        </p:nvSpPr>
        <p:spPr bwMode="auto">
          <a:xfrm>
            <a:off x="4956990" y="1477317"/>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7</a:t>
            </a:r>
            <a:endParaRPr lang="zh-CN" altLang="en-US" sz="1800" dirty="0">
              <a:latin typeface="Times New Roman" panose="02020603050405020304" pitchFamily="18" charset="0"/>
              <a:cs typeface="Courier New" panose="02070309020205020404" pitchFamily="49" charset="0"/>
            </a:endParaRPr>
          </a:p>
        </p:txBody>
      </p:sp>
      <p:cxnSp>
        <p:nvCxnSpPr>
          <p:cNvPr id="44" name="直接箭头连接符 43"/>
          <p:cNvCxnSpPr/>
          <p:nvPr/>
        </p:nvCxnSpPr>
        <p:spPr bwMode="auto">
          <a:xfrm>
            <a:off x="5269929" y="2555913"/>
            <a:ext cx="480179" cy="23584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文本框 44"/>
          <p:cNvSpPr txBox="1"/>
          <p:nvPr/>
        </p:nvSpPr>
        <p:spPr bwMode="auto">
          <a:xfrm>
            <a:off x="4969847" y="2075495"/>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5</a:t>
            </a:r>
            <a:endParaRPr lang="zh-CN" altLang="en-US" sz="1800" dirty="0">
              <a:latin typeface="Times New Roman" panose="02020603050405020304" pitchFamily="18" charset="0"/>
              <a:cs typeface="Courier New" panose="02070309020205020404" pitchFamily="49" charset="0"/>
            </a:endParaRPr>
          </a:p>
        </p:txBody>
      </p:sp>
      <p:cxnSp>
        <p:nvCxnSpPr>
          <p:cNvPr id="46" name="直接箭头连接符 45"/>
          <p:cNvCxnSpPr/>
          <p:nvPr/>
        </p:nvCxnSpPr>
        <p:spPr bwMode="auto">
          <a:xfrm flipV="1">
            <a:off x="5351894" y="2912771"/>
            <a:ext cx="398214" cy="158473"/>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文本框 46"/>
          <p:cNvSpPr txBox="1"/>
          <p:nvPr/>
        </p:nvSpPr>
        <p:spPr bwMode="auto">
          <a:xfrm>
            <a:off x="4987107" y="2661643"/>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9</a:t>
            </a:r>
            <a:endParaRPr lang="zh-CN" altLang="en-US" sz="1800" dirty="0">
              <a:latin typeface="Times New Roman" panose="02020603050405020304" pitchFamily="18" charset="0"/>
              <a:cs typeface="Courier New" panose="02070309020205020404" pitchFamily="49" charset="0"/>
            </a:endParaRPr>
          </a:p>
        </p:txBody>
      </p:sp>
      <p:cxnSp>
        <p:nvCxnSpPr>
          <p:cNvPr id="48" name="直接箭头连接符 47"/>
          <p:cNvCxnSpPr/>
          <p:nvPr/>
        </p:nvCxnSpPr>
        <p:spPr bwMode="auto">
          <a:xfrm>
            <a:off x="4587318" y="2091663"/>
            <a:ext cx="399789" cy="31372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文本框 48"/>
          <p:cNvSpPr txBox="1"/>
          <p:nvPr/>
        </p:nvSpPr>
        <p:spPr bwMode="auto">
          <a:xfrm>
            <a:off x="4261207" y="149846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7</a:t>
            </a:r>
            <a:endParaRPr lang="zh-CN" altLang="en-US" sz="1800" dirty="0">
              <a:latin typeface="Times New Roman" panose="02020603050405020304" pitchFamily="18" charset="0"/>
              <a:cs typeface="Courier New" panose="02070309020205020404" pitchFamily="49" charset="0"/>
            </a:endParaRPr>
          </a:p>
        </p:txBody>
      </p:sp>
      <p:cxnSp>
        <p:nvCxnSpPr>
          <p:cNvPr id="50" name="直接箭头连接符 49"/>
          <p:cNvCxnSpPr/>
          <p:nvPr/>
        </p:nvCxnSpPr>
        <p:spPr bwMode="auto">
          <a:xfrm>
            <a:off x="4616488" y="2529272"/>
            <a:ext cx="340502" cy="464"/>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文本框 50"/>
          <p:cNvSpPr txBox="1"/>
          <p:nvPr/>
        </p:nvSpPr>
        <p:spPr bwMode="auto">
          <a:xfrm>
            <a:off x="4283968" y="2090027"/>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6</a:t>
            </a:r>
            <a:endParaRPr lang="zh-CN" altLang="en-US" sz="1800" dirty="0">
              <a:latin typeface="Times New Roman" panose="02020603050405020304" pitchFamily="18" charset="0"/>
              <a:cs typeface="Courier New" panose="02070309020205020404" pitchFamily="49" charset="0"/>
            </a:endParaRPr>
          </a:p>
        </p:txBody>
      </p:sp>
      <p:cxnSp>
        <p:nvCxnSpPr>
          <p:cNvPr id="52" name="直接箭头连接符 51"/>
          <p:cNvCxnSpPr/>
          <p:nvPr/>
        </p:nvCxnSpPr>
        <p:spPr bwMode="auto">
          <a:xfrm flipV="1">
            <a:off x="4584050" y="2661643"/>
            <a:ext cx="403057" cy="37497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文本框 52"/>
          <p:cNvSpPr txBox="1"/>
          <p:nvPr/>
        </p:nvSpPr>
        <p:spPr bwMode="auto">
          <a:xfrm>
            <a:off x="4283968" y="2701259"/>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8</a:t>
            </a:r>
            <a:endParaRPr lang="zh-CN" altLang="en-US" sz="1800" dirty="0">
              <a:latin typeface="Times New Roman" panose="02020603050405020304" pitchFamily="18" charset="0"/>
              <a:cs typeface="Courier New" panose="02070309020205020404" pitchFamily="49" charset="0"/>
            </a:endParaRPr>
          </a:p>
        </p:txBody>
      </p:sp>
      <p:cxnSp>
        <p:nvCxnSpPr>
          <p:cNvPr id="54" name="直接箭头连接符 53"/>
          <p:cNvCxnSpPr/>
          <p:nvPr/>
        </p:nvCxnSpPr>
        <p:spPr bwMode="auto">
          <a:xfrm>
            <a:off x="3817659" y="1792527"/>
            <a:ext cx="428023" cy="13923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文本框 54"/>
          <p:cNvSpPr txBox="1"/>
          <p:nvPr/>
        </p:nvSpPr>
        <p:spPr bwMode="auto">
          <a:xfrm>
            <a:off x="3433514" y="1324186"/>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13</a:t>
            </a:r>
            <a:endParaRPr lang="zh-CN" altLang="en-US" sz="1800" dirty="0">
              <a:latin typeface="Times New Roman" panose="02020603050405020304" pitchFamily="18" charset="0"/>
              <a:cs typeface="Courier New" panose="02070309020205020404" pitchFamily="49" charset="0"/>
            </a:endParaRPr>
          </a:p>
        </p:txBody>
      </p:sp>
      <p:cxnSp>
        <p:nvCxnSpPr>
          <p:cNvPr id="56" name="直接箭头连接符 55"/>
          <p:cNvCxnSpPr/>
          <p:nvPr/>
        </p:nvCxnSpPr>
        <p:spPr bwMode="auto">
          <a:xfrm flipV="1">
            <a:off x="3806201" y="2035283"/>
            <a:ext cx="428608" cy="184152"/>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文本框 56"/>
          <p:cNvSpPr txBox="1"/>
          <p:nvPr/>
        </p:nvSpPr>
        <p:spPr bwMode="auto">
          <a:xfrm>
            <a:off x="3432407" y="1847796"/>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10</a:t>
            </a:r>
            <a:endParaRPr lang="zh-CN" altLang="en-US" sz="1800" dirty="0">
              <a:latin typeface="Times New Roman" panose="02020603050405020304" pitchFamily="18" charset="0"/>
              <a:cs typeface="Courier New" panose="02070309020205020404" pitchFamily="49" charset="0"/>
            </a:endParaRPr>
          </a:p>
        </p:txBody>
      </p:sp>
      <p:cxnSp>
        <p:nvCxnSpPr>
          <p:cNvPr id="58" name="直接箭头连接符 57"/>
          <p:cNvCxnSpPr/>
          <p:nvPr/>
        </p:nvCxnSpPr>
        <p:spPr bwMode="auto">
          <a:xfrm flipV="1">
            <a:off x="3854381" y="2626280"/>
            <a:ext cx="404763" cy="190653"/>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文本框 58"/>
          <p:cNvSpPr txBox="1"/>
          <p:nvPr/>
        </p:nvSpPr>
        <p:spPr bwMode="auto">
          <a:xfrm>
            <a:off x="3536236" y="244195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9</a:t>
            </a:r>
            <a:endParaRPr lang="zh-CN" altLang="en-US" sz="1800" dirty="0">
              <a:latin typeface="Times New Roman" panose="02020603050405020304" pitchFamily="18" charset="0"/>
              <a:cs typeface="Courier New" panose="02070309020205020404" pitchFamily="49" charset="0"/>
            </a:endParaRPr>
          </a:p>
        </p:txBody>
      </p:sp>
      <p:cxnSp>
        <p:nvCxnSpPr>
          <p:cNvPr id="60" name="直接箭头连接符 59"/>
          <p:cNvCxnSpPr/>
          <p:nvPr/>
        </p:nvCxnSpPr>
        <p:spPr bwMode="auto">
          <a:xfrm flipV="1">
            <a:off x="3863971" y="3220442"/>
            <a:ext cx="458844" cy="144961"/>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文本框 60"/>
          <p:cNvSpPr txBox="1"/>
          <p:nvPr/>
        </p:nvSpPr>
        <p:spPr bwMode="auto">
          <a:xfrm>
            <a:off x="3488804" y="2974179"/>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10</a:t>
            </a:r>
            <a:endParaRPr lang="zh-CN" altLang="en-US" sz="1800" dirty="0">
              <a:latin typeface="Times New Roman" panose="02020603050405020304" pitchFamily="18" charset="0"/>
              <a:cs typeface="Courier New" panose="02070309020205020404" pitchFamily="49" charset="0"/>
            </a:endParaRPr>
          </a:p>
        </p:txBody>
      </p:sp>
      <p:cxnSp>
        <p:nvCxnSpPr>
          <p:cNvPr id="62" name="直接箭头连接符 61"/>
          <p:cNvCxnSpPr/>
          <p:nvPr/>
        </p:nvCxnSpPr>
        <p:spPr bwMode="auto">
          <a:xfrm>
            <a:off x="3096832" y="2169161"/>
            <a:ext cx="399393" cy="108353"/>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文本框 62"/>
          <p:cNvSpPr txBox="1"/>
          <p:nvPr/>
        </p:nvSpPr>
        <p:spPr bwMode="auto">
          <a:xfrm>
            <a:off x="2694739" y="1648658"/>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13</a:t>
            </a:r>
            <a:endParaRPr lang="zh-CN" altLang="en-US" sz="1800" dirty="0">
              <a:latin typeface="Times New Roman" panose="02020603050405020304" pitchFamily="18" charset="0"/>
              <a:cs typeface="Courier New" panose="02070309020205020404" pitchFamily="49" charset="0"/>
            </a:endParaRPr>
          </a:p>
        </p:txBody>
      </p:sp>
      <p:cxnSp>
        <p:nvCxnSpPr>
          <p:cNvPr id="64" name="直接箭头连接符 63"/>
          <p:cNvCxnSpPr/>
          <p:nvPr/>
        </p:nvCxnSpPr>
        <p:spPr bwMode="auto">
          <a:xfrm>
            <a:off x="3109689" y="3165892"/>
            <a:ext cx="425949" cy="164568"/>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文本框 64"/>
          <p:cNvSpPr txBox="1"/>
          <p:nvPr/>
        </p:nvSpPr>
        <p:spPr bwMode="auto">
          <a:xfrm>
            <a:off x="2741905" y="2643134"/>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16</a:t>
            </a:r>
            <a:endParaRPr lang="zh-CN" altLang="en-US" sz="1800" dirty="0">
              <a:latin typeface="Times New Roman" panose="02020603050405020304" pitchFamily="18" charset="0"/>
              <a:cs typeface="Courier New" panose="02070309020205020404" pitchFamily="49" charset="0"/>
            </a:endParaRPr>
          </a:p>
        </p:txBody>
      </p:sp>
      <p:cxnSp>
        <p:nvCxnSpPr>
          <p:cNvPr id="66" name="直接箭头连接符 65"/>
          <p:cNvCxnSpPr/>
          <p:nvPr/>
        </p:nvCxnSpPr>
        <p:spPr bwMode="auto">
          <a:xfrm flipV="1">
            <a:off x="2357149" y="2242419"/>
            <a:ext cx="422464" cy="32424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文本框 66"/>
          <p:cNvSpPr txBox="1"/>
          <p:nvPr/>
        </p:nvSpPr>
        <p:spPr bwMode="auto">
          <a:xfrm>
            <a:off x="1974587" y="2191694"/>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18</a:t>
            </a:r>
            <a:endParaRPr lang="zh-CN" altLang="en-US" sz="1800" dirty="0">
              <a:latin typeface="Times New Roman" panose="02020603050405020304" pitchFamily="18" charset="0"/>
              <a:cs typeface="Courier New" panose="02070309020205020404" pitchFamily="49" charset="0"/>
            </a:endParaRPr>
          </a:p>
        </p:txBody>
      </p:sp>
    </p:spTree>
    <p:extLst>
      <p:ext uri="{BB962C8B-B14F-4D97-AF65-F5344CB8AC3E}">
        <p14:creationId xmlns:p14="http://schemas.microsoft.com/office/powerpoint/2010/main" val="3886290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3" grpId="0"/>
      <p:bldP spid="24" grpId="0"/>
      <p:bldP spid="25" grpId="0"/>
      <p:bldP spid="67"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18854" y="1628800"/>
            <a:ext cx="5113942" cy="207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Rectangle 2"/>
          <p:cNvSpPr>
            <a:spLocks noGrp="1" noChangeArrowheads="1"/>
          </p:cNvSpPr>
          <p:nvPr>
            <p:ph type="title"/>
          </p:nvPr>
        </p:nvSpPr>
        <p:spPr>
          <a:xfrm>
            <a:off x="1270422" y="478731"/>
            <a:ext cx="6757962" cy="576163"/>
          </a:xfrm>
        </p:spPr>
        <p:txBody>
          <a:bodyPr/>
          <a:lstStyle/>
          <a:p>
            <a:pPr eaLnBrk="1" hangingPunct="1"/>
            <a:r>
              <a:rPr lang="en-US" altLang="zh-CN" b="1" dirty="0"/>
              <a:t>8.1.2  </a:t>
            </a:r>
            <a:r>
              <a:rPr lang="zh-CN" altLang="en-US" b="1" dirty="0"/>
              <a:t>动态规划的基本思想和基本方程</a:t>
            </a:r>
          </a:p>
        </p:txBody>
      </p:sp>
      <p:sp>
        <p:nvSpPr>
          <p:cNvPr id="2" name="内容占位符 1"/>
          <p:cNvSpPr>
            <a:spLocks noGrp="1"/>
          </p:cNvSpPr>
          <p:nvPr>
            <p:ph idx="1"/>
          </p:nvPr>
        </p:nvSpPr>
        <p:spPr>
          <a:xfrm>
            <a:off x="539552" y="1337268"/>
            <a:ext cx="8280920" cy="1274195"/>
          </a:xfrm>
        </p:spPr>
        <p:txBody>
          <a:bodyPr/>
          <a:lstStyle/>
          <a:p>
            <a:r>
              <a:rPr lang="zh-CN" altLang="en-US" dirty="0"/>
              <a:t>结合最短路线问题介绍动态规划方法的基本思想。</a:t>
            </a:r>
            <a:endParaRPr lang="en-US" altLang="zh-CN" dirty="0"/>
          </a:p>
          <a:p>
            <a:pPr lvl="1"/>
            <a:endParaRPr lang="zh-CN" altLang="en-US" dirty="0"/>
          </a:p>
          <a:p>
            <a:endParaRPr lang="zh-CN" altLang="en-US" dirty="0"/>
          </a:p>
        </p:txBody>
      </p:sp>
      <p:sp>
        <p:nvSpPr>
          <p:cNvPr id="18435"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9A55D17-7D63-4DC9-AC9C-E3BB3843C5DB}" type="slidenum">
              <a:rPr lang="en-US" altLang="zh-CN" sz="1000"/>
              <a:pPr>
                <a:spcBef>
                  <a:spcPct val="0"/>
                </a:spcBef>
                <a:buClrTx/>
                <a:buSzTx/>
                <a:buFontTx/>
                <a:buNone/>
              </a:pPr>
              <a:t>19</a:t>
            </a:fld>
            <a:endParaRPr lang="en-US" altLang="zh-CN" sz="1000"/>
          </a:p>
        </p:txBody>
      </p:sp>
      <p:sp>
        <p:nvSpPr>
          <p:cNvPr id="18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graphicFrame>
        <p:nvGraphicFramePr>
          <p:cNvPr id="19" name="Object 17"/>
          <p:cNvGraphicFramePr>
            <a:graphicFrameLocks noChangeAspect="1"/>
          </p:cNvGraphicFramePr>
          <p:nvPr>
            <p:extLst>
              <p:ext uri="{D42A27DB-BD31-4B8C-83A1-F6EECF244321}">
                <p14:modId xmlns:p14="http://schemas.microsoft.com/office/powerpoint/2010/main" val="3437842066"/>
              </p:ext>
            </p:extLst>
          </p:nvPr>
        </p:nvGraphicFramePr>
        <p:xfrm>
          <a:off x="8315647" y="4008914"/>
          <a:ext cx="504825" cy="425450"/>
        </p:xfrm>
        <a:graphic>
          <a:graphicData uri="http://schemas.openxmlformats.org/presentationml/2006/ole">
            <mc:AlternateContent xmlns:mc="http://schemas.openxmlformats.org/markup-compatibility/2006">
              <mc:Choice xmlns:v="urn:schemas-microsoft-com:vml" Requires="v">
                <p:oleObj spid="_x0000_s169148" r:id="rId4" imgW="304536" imgH="253780" progId="Equation.DSMT4">
                  <p:embed/>
                </p:oleObj>
              </mc:Choice>
              <mc:Fallback>
                <p:oleObj r:id="rId4" imgW="304536" imgH="253780" progId="Equation.DSMT4">
                  <p:embed/>
                  <p:pic>
                    <p:nvPicPr>
                      <p:cNvPr id="23558"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15647" y="4008914"/>
                        <a:ext cx="50482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16"/>
          <p:cNvGraphicFramePr>
            <a:graphicFrameLocks noChangeAspect="1"/>
          </p:cNvGraphicFramePr>
          <p:nvPr>
            <p:extLst>
              <p:ext uri="{D42A27DB-BD31-4B8C-83A1-F6EECF244321}">
                <p14:modId xmlns:p14="http://schemas.microsoft.com/office/powerpoint/2010/main" val="3916846700"/>
              </p:ext>
            </p:extLst>
          </p:nvPr>
        </p:nvGraphicFramePr>
        <p:xfrm>
          <a:off x="1763688" y="4542741"/>
          <a:ext cx="7200900" cy="360362"/>
        </p:xfrm>
        <a:graphic>
          <a:graphicData uri="http://schemas.openxmlformats.org/presentationml/2006/ole">
            <mc:AlternateContent xmlns:mc="http://schemas.openxmlformats.org/markup-compatibility/2006">
              <mc:Choice xmlns:v="urn:schemas-microsoft-com:vml" Requires="v">
                <p:oleObj spid="_x0000_s169149" r:id="rId6" imgW="4381500" imgH="228600" progId="Equation.DSMT4">
                  <p:embed/>
                </p:oleObj>
              </mc:Choice>
              <mc:Fallback>
                <p:oleObj r:id="rId6" imgW="4381500" imgH="228600" progId="Equation.DSMT4">
                  <p:embed/>
                  <p:pic>
                    <p:nvPicPr>
                      <p:cNvPr id="23559"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688" y="4542741"/>
                        <a:ext cx="72009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15"/>
          <p:cNvGraphicFramePr>
            <a:graphicFrameLocks noChangeAspect="1"/>
          </p:cNvGraphicFramePr>
          <p:nvPr>
            <p:extLst>
              <p:ext uri="{D42A27DB-BD31-4B8C-83A1-F6EECF244321}">
                <p14:modId xmlns:p14="http://schemas.microsoft.com/office/powerpoint/2010/main" val="1956197093"/>
              </p:ext>
            </p:extLst>
          </p:nvPr>
        </p:nvGraphicFramePr>
        <p:xfrm>
          <a:off x="2339752" y="5446489"/>
          <a:ext cx="3600450" cy="358775"/>
        </p:xfrm>
        <a:graphic>
          <a:graphicData uri="http://schemas.openxmlformats.org/presentationml/2006/ole">
            <mc:AlternateContent xmlns:mc="http://schemas.openxmlformats.org/markup-compatibility/2006">
              <mc:Choice xmlns:v="urn:schemas-microsoft-com:vml" Requires="v">
                <p:oleObj spid="_x0000_s169150" r:id="rId8" imgW="2298700" imgH="228600" progId="Equation.DSMT4">
                  <p:embed/>
                </p:oleObj>
              </mc:Choice>
              <mc:Fallback>
                <p:oleObj r:id="rId8" imgW="2298700" imgH="228600" progId="Equation.DSMT4">
                  <p:embed/>
                  <p:pic>
                    <p:nvPicPr>
                      <p:cNvPr id="2356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39752" y="5446489"/>
                        <a:ext cx="36004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Rectangle 18"/>
          <p:cNvSpPr>
            <a:spLocks noChangeArrowheads="1"/>
          </p:cNvSpPr>
          <p:nvPr/>
        </p:nvSpPr>
        <p:spPr bwMode="auto">
          <a:xfrm>
            <a:off x="1043608" y="4036973"/>
            <a:ext cx="83534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dirty="0">
                <a:latin typeface="Times New Roman" panose="02020603050405020304" pitchFamily="18" charset="0"/>
                <a:cs typeface="Times New Roman" panose="02020603050405020304" pitchFamily="18" charset="0"/>
              </a:rPr>
              <a:t>为了找出最短路线，再按计算的顺序反推之，可求出最优决策函数序列</a:t>
            </a:r>
            <a:endParaRPr lang="zh-CN" altLang="en-US" sz="1800" b="1" dirty="0"/>
          </a:p>
        </p:txBody>
      </p:sp>
      <p:sp>
        <p:nvSpPr>
          <p:cNvPr id="23" name="Rectangle 19"/>
          <p:cNvSpPr>
            <a:spLocks noChangeArrowheads="1"/>
          </p:cNvSpPr>
          <p:nvPr/>
        </p:nvSpPr>
        <p:spPr bwMode="auto">
          <a:xfrm>
            <a:off x="1074942" y="4523300"/>
            <a:ext cx="8819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dirty="0" smtClean="0">
                <a:latin typeface="Times New Roman" panose="02020603050405020304" pitchFamily="18" charset="0"/>
                <a:cs typeface="Times New Roman" panose="02020603050405020304" pitchFamily="18" charset="0"/>
              </a:rPr>
              <a:t>即由：</a:t>
            </a:r>
            <a:endParaRPr lang="zh-CN" altLang="en-US" sz="1800" b="1" dirty="0"/>
          </a:p>
        </p:txBody>
      </p:sp>
      <p:sp>
        <p:nvSpPr>
          <p:cNvPr id="24" name="Rectangle 20"/>
          <p:cNvSpPr>
            <a:spLocks noChangeArrowheads="1"/>
          </p:cNvSpPr>
          <p:nvPr/>
        </p:nvSpPr>
        <p:spPr bwMode="auto">
          <a:xfrm>
            <a:off x="1087984" y="4985681"/>
            <a:ext cx="526297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dirty="0">
                <a:latin typeface="Times New Roman" panose="02020603050405020304" pitchFamily="18" charset="0"/>
                <a:cs typeface="Times New Roman" panose="02020603050405020304" pitchFamily="18" charset="0"/>
              </a:rPr>
              <a:t>组成一个最优策略。因而，找出相应的最短路线为</a:t>
            </a:r>
            <a:endParaRPr lang="zh-CN" altLang="en-US" sz="1800" b="1" dirty="0"/>
          </a:p>
          <a:p>
            <a:pPr>
              <a:spcBef>
                <a:spcPct val="0"/>
              </a:spcBef>
              <a:buClrTx/>
              <a:buSzTx/>
              <a:buFontTx/>
              <a:buNone/>
            </a:pPr>
            <a:r>
              <a:rPr lang="zh-CN" altLang="en-US" sz="1800" b="1" dirty="0">
                <a:cs typeface="Courier New" panose="02070309020205020404" pitchFamily="49" charset="0"/>
              </a:rPr>
              <a:t>	</a:t>
            </a:r>
            <a:endParaRPr lang="zh-CN" altLang="en-US" sz="1800" b="1" dirty="0"/>
          </a:p>
        </p:txBody>
      </p:sp>
      <p:sp>
        <p:nvSpPr>
          <p:cNvPr id="17" name="Line 9"/>
          <p:cNvSpPr>
            <a:spLocks noChangeShapeType="1"/>
          </p:cNvSpPr>
          <p:nvPr/>
        </p:nvSpPr>
        <p:spPr bwMode="auto">
          <a:xfrm flipH="1">
            <a:off x="1944441" y="1856105"/>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18" name="Line 12"/>
          <p:cNvSpPr>
            <a:spLocks noChangeShapeType="1"/>
          </p:cNvSpPr>
          <p:nvPr/>
        </p:nvSpPr>
        <p:spPr bwMode="auto">
          <a:xfrm>
            <a:off x="2700100" y="1856676"/>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5" name="Line 9"/>
          <p:cNvSpPr>
            <a:spLocks noChangeShapeType="1"/>
          </p:cNvSpPr>
          <p:nvPr/>
        </p:nvSpPr>
        <p:spPr bwMode="auto">
          <a:xfrm flipH="1">
            <a:off x="3384601" y="1856676"/>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7" name="Line 12"/>
          <p:cNvSpPr>
            <a:spLocks noChangeShapeType="1"/>
          </p:cNvSpPr>
          <p:nvPr/>
        </p:nvSpPr>
        <p:spPr bwMode="auto">
          <a:xfrm>
            <a:off x="4140260" y="1856676"/>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8" name="Line 9"/>
          <p:cNvSpPr>
            <a:spLocks noChangeShapeType="1"/>
          </p:cNvSpPr>
          <p:nvPr/>
        </p:nvSpPr>
        <p:spPr bwMode="auto">
          <a:xfrm flipH="1">
            <a:off x="4824761" y="1850329"/>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29" name="Line 12"/>
          <p:cNvSpPr>
            <a:spLocks noChangeShapeType="1"/>
          </p:cNvSpPr>
          <p:nvPr/>
        </p:nvSpPr>
        <p:spPr bwMode="auto">
          <a:xfrm>
            <a:off x="5580420" y="1850329"/>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0" name="矩形 29"/>
          <p:cNvSpPr/>
          <p:nvPr/>
        </p:nvSpPr>
        <p:spPr>
          <a:xfrm>
            <a:off x="107504" y="3519416"/>
            <a:ext cx="6768752" cy="341632"/>
          </a:xfrm>
          <a:prstGeom prst="rect">
            <a:avLst/>
          </a:prstGeom>
        </p:spPr>
        <p:txBody>
          <a:bodyPr wrap="square">
            <a:spAutoFit/>
          </a:bodyPr>
          <a:lstStyle/>
          <a:p>
            <a:pPr lvl="2" eaLnBrk="1" hangingPunct="1">
              <a:lnSpc>
                <a:spcPct val="90000"/>
              </a:lnSpc>
            </a:pPr>
            <a:r>
              <a:rPr lang="zh-CN" altLang="en-US" sz="1800" dirty="0" smtClean="0"/>
              <a:t>阶段</a:t>
            </a:r>
            <a:r>
              <a:rPr lang="en-US" altLang="zh-CN" sz="1800" dirty="0" smtClean="0"/>
              <a:t>k</a:t>
            </a:r>
            <a:r>
              <a:rPr lang="zh-CN" altLang="en-US" sz="1800" dirty="0" smtClean="0"/>
              <a:t>： 阶段</a:t>
            </a:r>
            <a:r>
              <a:rPr lang="en-US" altLang="zh-CN" sz="1800" dirty="0" smtClean="0"/>
              <a:t>1   </a:t>
            </a:r>
            <a:r>
              <a:rPr lang="zh-CN" altLang="en-US" sz="1800" dirty="0" smtClean="0"/>
              <a:t>阶段</a:t>
            </a:r>
            <a:r>
              <a:rPr lang="en-US" altLang="zh-CN" sz="1800" dirty="0" smtClean="0"/>
              <a:t>2  </a:t>
            </a:r>
            <a:r>
              <a:rPr lang="zh-CN" altLang="en-US" sz="1800" dirty="0" smtClean="0"/>
              <a:t>阶段</a:t>
            </a:r>
            <a:r>
              <a:rPr lang="en-US" altLang="zh-CN" sz="1800" dirty="0" smtClean="0"/>
              <a:t>3  </a:t>
            </a:r>
            <a:r>
              <a:rPr lang="zh-CN" altLang="en-US" sz="1800" dirty="0" smtClean="0"/>
              <a:t>阶段</a:t>
            </a:r>
            <a:r>
              <a:rPr lang="en-US" altLang="zh-CN" sz="1800" dirty="0" smtClean="0"/>
              <a:t>4  </a:t>
            </a:r>
            <a:r>
              <a:rPr lang="zh-CN" altLang="en-US" sz="1800" dirty="0" smtClean="0"/>
              <a:t>阶段</a:t>
            </a:r>
            <a:r>
              <a:rPr lang="en-US" altLang="zh-CN" sz="1800" dirty="0" smtClean="0"/>
              <a:t>5  </a:t>
            </a:r>
            <a:r>
              <a:rPr lang="zh-CN" altLang="en-US" sz="1800" dirty="0" smtClean="0"/>
              <a:t>阶段</a:t>
            </a:r>
            <a:r>
              <a:rPr lang="en-US" altLang="zh-CN" sz="1800" dirty="0" smtClean="0"/>
              <a:t>6</a:t>
            </a:r>
            <a:endParaRPr lang="zh-CN" altLang="en-US" sz="1800" dirty="0"/>
          </a:p>
        </p:txBody>
      </p:sp>
    </p:spTree>
    <p:extLst>
      <p:ext uri="{BB962C8B-B14F-4D97-AF65-F5344CB8AC3E}">
        <p14:creationId xmlns:p14="http://schemas.microsoft.com/office/powerpoint/2010/main" val="793056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270422" y="478731"/>
            <a:ext cx="6757962" cy="576163"/>
          </a:xfrm>
        </p:spPr>
        <p:txBody>
          <a:bodyPr/>
          <a:lstStyle/>
          <a:p>
            <a:pPr eaLnBrk="1" hangingPunct="1"/>
            <a:r>
              <a:rPr lang="en-US" altLang="zh-CN" b="1" dirty="0"/>
              <a:t>8.1.2  </a:t>
            </a:r>
            <a:r>
              <a:rPr lang="zh-CN" altLang="en-US" b="1" dirty="0"/>
              <a:t>动态规划的基本思想和基本方程</a:t>
            </a:r>
          </a:p>
        </p:txBody>
      </p:sp>
      <p:sp>
        <p:nvSpPr>
          <p:cNvPr id="2" name="内容占位符 1"/>
          <p:cNvSpPr>
            <a:spLocks noGrp="1"/>
          </p:cNvSpPr>
          <p:nvPr>
            <p:ph idx="1"/>
          </p:nvPr>
        </p:nvSpPr>
        <p:spPr>
          <a:xfrm>
            <a:off x="539552" y="1337268"/>
            <a:ext cx="8280920" cy="4339650"/>
          </a:xfrm>
        </p:spPr>
        <p:txBody>
          <a:bodyPr/>
          <a:lstStyle/>
          <a:p>
            <a:r>
              <a:rPr lang="zh-CN" altLang="en-US" dirty="0" smtClean="0"/>
              <a:t>动态规划</a:t>
            </a:r>
            <a:r>
              <a:rPr lang="zh-CN" altLang="en-US" dirty="0"/>
              <a:t>方法的基本</a:t>
            </a:r>
            <a:r>
              <a:rPr lang="zh-CN" altLang="en-US" dirty="0" smtClean="0"/>
              <a:t>思想归纳</a:t>
            </a:r>
            <a:endParaRPr lang="en-US" altLang="zh-CN" dirty="0" smtClean="0"/>
          </a:p>
          <a:p>
            <a:pPr lvl="1"/>
            <a:r>
              <a:rPr lang="zh-CN" altLang="en-US" dirty="0" smtClean="0"/>
              <a:t>（</a:t>
            </a:r>
            <a:r>
              <a:rPr lang="en-US" altLang="zh-CN" dirty="0" smtClean="0"/>
              <a:t>1</a:t>
            </a:r>
            <a:r>
              <a:rPr lang="zh-CN" altLang="en-US" dirty="0" smtClean="0"/>
              <a:t>）动态规划</a:t>
            </a:r>
            <a:r>
              <a:rPr lang="zh-CN" altLang="en-US" dirty="0"/>
              <a:t>方法的关键在于正确地写出基本的递推关系式和恰当的边界条件</a:t>
            </a:r>
            <a:r>
              <a:rPr lang="en-US" altLang="zh-CN" dirty="0"/>
              <a:t>(</a:t>
            </a:r>
            <a:r>
              <a:rPr lang="zh-CN" altLang="en-US" dirty="0"/>
              <a:t>简言之为基本方程</a:t>
            </a:r>
            <a:r>
              <a:rPr lang="en-US" altLang="zh-CN" dirty="0"/>
              <a:t>)</a:t>
            </a:r>
            <a:r>
              <a:rPr lang="zh-CN" altLang="en-US" dirty="0" smtClean="0"/>
              <a:t>。</a:t>
            </a:r>
            <a:endParaRPr lang="en-US" altLang="zh-CN" dirty="0" smtClean="0"/>
          </a:p>
          <a:p>
            <a:pPr lvl="2"/>
            <a:r>
              <a:rPr lang="zh-CN" altLang="en-US" dirty="0" smtClean="0"/>
              <a:t>要</a:t>
            </a:r>
            <a:r>
              <a:rPr lang="zh-CN" altLang="en-US" dirty="0"/>
              <a:t>做到这一点，必须先将问题的过程</a:t>
            </a:r>
            <a:r>
              <a:rPr lang="zh-CN" altLang="en-US" dirty="0">
                <a:solidFill>
                  <a:srgbClr val="FF0000"/>
                </a:solidFill>
              </a:rPr>
              <a:t>分成几个相互联系的阶段</a:t>
            </a:r>
            <a:r>
              <a:rPr lang="zh-CN" altLang="en-US" dirty="0"/>
              <a:t>，恰当地</a:t>
            </a:r>
            <a:r>
              <a:rPr lang="zh-CN" altLang="en-US" dirty="0">
                <a:solidFill>
                  <a:srgbClr val="FF0000"/>
                </a:solidFill>
              </a:rPr>
              <a:t>选取状态变量和决策变量及定义最优值函数</a:t>
            </a:r>
            <a:r>
              <a:rPr lang="zh-CN" altLang="en-US" dirty="0"/>
              <a:t>，从而把一个大问题化成一族同类型的子问题，然后逐个求解。即</a:t>
            </a:r>
            <a:r>
              <a:rPr lang="zh-CN" altLang="en-US" dirty="0">
                <a:solidFill>
                  <a:srgbClr val="FF0000"/>
                </a:solidFill>
              </a:rPr>
              <a:t>从边界条件开始</a:t>
            </a:r>
            <a:r>
              <a:rPr lang="zh-CN" altLang="en-US" dirty="0"/>
              <a:t>，</a:t>
            </a:r>
            <a:r>
              <a:rPr lang="zh-CN" altLang="en-US" dirty="0">
                <a:solidFill>
                  <a:srgbClr val="FF0000"/>
                </a:solidFill>
              </a:rPr>
              <a:t>逐段递推寻优</a:t>
            </a:r>
            <a:r>
              <a:rPr lang="zh-CN" altLang="en-US" dirty="0"/>
              <a:t>，在每一个子问题的求解中，均利用了它前面的子问题的最优化结果，依次进行，最后一个子问题所得的最优解，就是整个问题的最优解。</a:t>
            </a:r>
          </a:p>
          <a:p>
            <a:pPr lvl="1"/>
            <a:r>
              <a:rPr lang="zh-CN" altLang="en-US" dirty="0" smtClean="0"/>
              <a:t>（</a:t>
            </a:r>
            <a:r>
              <a:rPr lang="en-US" altLang="zh-CN" dirty="0" smtClean="0"/>
              <a:t>2</a:t>
            </a:r>
            <a:r>
              <a:rPr lang="zh-CN" altLang="en-US" dirty="0" smtClean="0"/>
              <a:t>）在</a:t>
            </a:r>
            <a:r>
              <a:rPr lang="zh-CN" altLang="en-US" dirty="0"/>
              <a:t>多阶段决策过程中，动态规划方法是既</a:t>
            </a:r>
            <a:r>
              <a:rPr lang="zh-CN" altLang="en-US" dirty="0">
                <a:solidFill>
                  <a:srgbClr val="FF0000"/>
                </a:solidFill>
              </a:rPr>
              <a:t>把当前一段和未来各段分开</a:t>
            </a:r>
            <a:r>
              <a:rPr lang="zh-CN" altLang="en-US" dirty="0"/>
              <a:t>，又</a:t>
            </a:r>
            <a:r>
              <a:rPr lang="zh-CN" altLang="en-US" dirty="0">
                <a:solidFill>
                  <a:srgbClr val="FF0000"/>
                </a:solidFill>
              </a:rPr>
              <a:t>把当前效益和未来效益结合</a:t>
            </a:r>
            <a:r>
              <a:rPr lang="zh-CN" altLang="en-US" dirty="0"/>
              <a:t>起来考虑的一种最优化方法。因此，每段决策的选取是从全局来考虑的，与该段的最优选择答案一般是不同的</a:t>
            </a:r>
            <a:r>
              <a:rPr lang="zh-CN" altLang="en-US" dirty="0" smtClean="0"/>
              <a:t>。</a:t>
            </a:r>
            <a:endParaRPr lang="zh-CN" altLang="en-US" dirty="0"/>
          </a:p>
        </p:txBody>
      </p:sp>
      <p:sp>
        <p:nvSpPr>
          <p:cNvPr id="18435"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9A55D17-7D63-4DC9-AC9C-E3BB3843C5DB}" type="slidenum">
              <a:rPr lang="en-US" altLang="zh-CN" sz="1000"/>
              <a:pPr>
                <a:spcBef>
                  <a:spcPct val="0"/>
                </a:spcBef>
                <a:buClrTx/>
                <a:buSzTx/>
                <a:buFontTx/>
                <a:buNone/>
              </a:pPr>
              <a:t>20</a:t>
            </a:fld>
            <a:endParaRPr lang="en-US" altLang="zh-CN" sz="1000"/>
          </a:p>
        </p:txBody>
      </p:sp>
      <p:sp>
        <p:nvSpPr>
          <p:cNvPr id="18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spTree>
    <p:extLst>
      <p:ext uri="{BB962C8B-B14F-4D97-AF65-F5344CB8AC3E}">
        <p14:creationId xmlns:p14="http://schemas.microsoft.com/office/powerpoint/2010/main" val="8560038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270422" y="478731"/>
            <a:ext cx="6757962" cy="576163"/>
          </a:xfrm>
        </p:spPr>
        <p:txBody>
          <a:bodyPr/>
          <a:lstStyle/>
          <a:p>
            <a:pPr eaLnBrk="1" hangingPunct="1"/>
            <a:r>
              <a:rPr lang="en-US" altLang="zh-CN" b="1" dirty="0"/>
              <a:t>8.1.2  </a:t>
            </a:r>
            <a:r>
              <a:rPr lang="zh-CN" altLang="en-US" b="1" dirty="0"/>
              <a:t>动态规划的基本思想和基本方程</a:t>
            </a:r>
          </a:p>
        </p:txBody>
      </p:sp>
      <p:sp>
        <p:nvSpPr>
          <p:cNvPr id="2" name="内容占位符 1"/>
          <p:cNvSpPr>
            <a:spLocks noGrp="1"/>
          </p:cNvSpPr>
          <p:nvPr>
            <p:ph idx="1"/>
          </p:nvPr>
        </p:nvSpPr>
        <p:spPr>
          <a:xfrm>
            <a:off x="539552" y="1337268"/>
            <a:ext cx="8280920" cy="2123658"/>
          </a:xfrm>
        </p:spPr>
        <p:txBody>
          <a:bodyPr/>
          <a:lstStyle/>
          <a:p>
            <a:r>
              <a:rPr lang="zh-CN" altLang="en-US" dirty="0" smtClean="0"/>
              <a:t>动态规划</a:t>
            </a:r>
            <a:r>
              <a:rPr lang="zh-CN" altLang="en-US" dirty="0"/>
              <a:t>方法的基本</a:t>
            </a:r>
            <a:r>
              <a:rPr lang="zh-CN" altLang="en-US" dirty="0" smtClean="0"/>
              <a:t>思想归纳</a:t>
            </a:r>
            <a:endParaRPr lang="en-US" altLang="zh-CN" dirty="0" smtClean="0"/>
          </a:p>
          <a:p>
            <a:pPr lvl="1"/>
            <a:r>
              <a:rPr lang="zh-CN" altLang="en-US" dirty="0" smtClean="0"/>
              <a:t>（</a:t>
            </a:r>
            <a:r>
              <a:rPr lang="en-US" altLang="zh-CN" dirty="0" smtClean="0"/>
              <a:t>3</a:t>
            </a:r>
            <a:r>
              <a:rPr lang="zh-CN" altLang="en-US" dirty="0" smtClean="0"/>
              <a:t>）在</a:t>
            </a:r>
            <a:r>
              <a:rPr lang="zh-CN" altLang="en-US" dirty="0"/>
              <a:t>求整个问题的最优策略时，</a:t>
            </a:r>
            <a:r>
              <a:rPr lang="zh-CN" altLang="en-US" dirty="0">
                <a:solidFill>
                  <a:srgbClr val="FF0000"/>
                </a:solidFill>
              </a:rPr>
              <a:t>由于初始状态是已知的</a:t>
            </a:r>
            <a:r>
              <a:rPr lang="zh-CN" altLang="en-US" dirty="0"/>
              <a:t>，而每段的决策都是该段状态的函数，故最优策略所经过的各段状态便可逐次变换得到，从而确定了最优路线。</a:t>
            </a:r>
          </a:p>
          <a:p>
            <a:pPr lvl="2"/>
            <a:r>
              <a:rPr lang="zh-CN" altLang="en-US" dirty="0"/>
              <a:t>如例</a:t>
            </a:r>
            <a:r>
              <a:rPr lang="en-US" altLang="zh-CN" dirty="0"/>
              <a:t>1</a:t>
            </a:r>
            <a:r>
              <a:rPr lang="zh-CN" altLang="en-US" dirty="0"/>
              <a:t>最短路线问题，初始状态</a:t>
            </a:r>
            <a:r>
              <a:rPr lang="en-US" altLang="zh-CN" dirty="0"/>
              <a:t>A</a:t>
            </a:r>
            <a:r>
              <a:rPr lang="zh-CN" altLang="en-US" dirty="0"/>
              <a:t>已知，则按下面箭头所指的方向逐次变换</a:t>
            </a:r>
            <a:r>
              <a:rPr lang="zh-CN" altLang="en-US" dirty="0" smtClean="0"/>
              <a:t>有</a:t>
            </a:r>
            <a:endParaRPr lang="zh-CN" altLang="en-US" dirty="0"/>
          </a:p>
        </p:txBody>
      </p:sp>
      <p:sp>
        <p:nvSpPr>
          <p:cNvPr id="18435"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9A55D17-7D63-4DC9-AC9C-E3BB3843C5DB}" type="slidenum">
              <a:rPr lang="en-US" altLang="zh-CN" sz="1000"/>
              <a:pPr>
                <a:spcBef>
                  <a:spcPct val="0"/>
                </a:spcBef>
                <a:buClrTx/>
                <a:buSzTx/>
                <a:buFontTx/>
                <a:buNone/>
              </a:pPr>
              <a:t>21</a:t>
            </a:fld>
            <a:endParaRPr lang="en-US" altLang="zh-CN" sz="1000"/>
          </a:p>
        </p:txBody>
      </p:sp>
      <p:sp>
        <p:nvSpPr>
          <p:cNvPr id="18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graphicFrame>
        <p:nvGraphicFramePr>
          <p:cNvPr id="6" name="Object 5"/>
          <p:cNvGraphicFramePr>
            <a:graphicFrameLocks noChangeAspect="1"/>
          </p:cNvGraphicFramePr>
          <p:nvPr>
            <p:extLst>
              <p:ext uri="{D42A27DB-BD31-4B8C-83A1-F6EECF244321}">
                <p14:modId xmlns:p14="http://schemas.microsoft.com/office/powerpoint/2010/main" val="1187617301"/>
              </p:ext>
            </p:extLst>
          </p:nvPr>
        </p:nvGraphicFramePr>
        <p:xfrm>
          <a:off x="2339752" y="6021288"/>
          <a:ext cx="3775187" cy="340129"/>
        </p:xfrm>
        <a:graphic>
          <a:graphicData uri="http://schemas.openxmlformats.org/presentationml/2006/ole">
            <mc:AlternateContent xmlns:mc="http://schemas.openxmlformats.org/markup-compatibility/2006">
              <mc:Choice xmlns:v="urn:schemas-microsoft-com:vml" Requires="v">
                <p:oleObj spid="_x0000_s171124" name="Microsoft 公式 3.0" r:id="rId3" imgW="2425700" imgH="215900" progId="Equation.3">
                  <p:embed/>
                </p:oleObj>
              </mc:Choice>
              <mc:Fallback>
                <p:oleObj name="Microsoft 公式 3.0" r:id="rId3" imgW="2425700" imgH="215900" progId="Equation.3">
                  <p:embed/>
                  <p:pic>
                    <p:nvPicPr>
                      <p:cNvPr id="2663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752" y="6021288"/>
                        <a:ext cx="3775187" cy="340129"/>
                      </a:xfrm>
                      <a:prstGeom prst="rect">
                        <a:avLst/>
                      </a:prstGeom>
                      <a:noFill/>
                      <a:ln>
                        <a:noFill/>
                      </a:ln>
                      <a:extLst/>
                    </p:spPr>
                  </p:pic>
                </p:oleObj>
              </mc:Fallback>
            </mc:AlternateContent>
          </a:graphicData>
        </a:graphic>
      </p:graphicFrame>
      <p:sp>
        <p:nvSpPr>
          <p:cNvPr id="7" name="Rectangle 8"/>
          <p:cNvSpPr>
            <a:spLocks noChangeArrowheads="1"/>
          </p:cNvSpPr>
          <p:nvPr/>
        </p:nvSpPr>
        <p:spPr bwMode="auto">
          <a:xfrm>
            <a:off x="1979712" y="5155332"/>
            <a:ext cx="569258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楷体" panose="02010609060101010101" pitchFamily="49" charset="-122"/>
                <a:ea typeface="楷体" panose="02010609060101010101" pitchFamily="49" charset="-122"/>
              </a:rPr>
              <a:t>从而可得最优策略为</a:t>
            </a:r>
            <a:r>
              <a:rPr lang="zh-CN" altLang="en-US" sz="2000" b="1" dirty="0" smtClean="0">
                <a:latin typeface="Times New Roman" panose="02020603050405020304" pitchFamily="18" charset="0"/>
                <a:cs typeface="Times New Roman" panose="02020603050405020304" pitchFamily="18" charset="0"/>
              </a:rPr>
              <a:t>｛</a:t>
            </a:r>
            <a:r>
              <a:rPr lang="en-US" altLang="zh-CN" sz="2000" b="1" i="1" dirty="0" smtClean="0">
                <a:latin typeface="Times New Roman" panose="02020603050405020304" pitchFamily="18" charset="0"/>
                <a:cs typeface="Times New Roman" panose="02020603050405020304" pitchFamily="18" charset="0"/>
              </a:rPr>
              <a:t>x</a:t>
            </a:r>
            <a:r>
              <a:rPr lang="en-US" altLang="zh-CN" sz="2000" b="1" baseline="-30000" dirty="0" smtClean="0">
                <a:latin typeface="Times New Roman" panose="02020603050405020304" pitchFamily="18" charset="0"/>
                <a:cs typeface="Times New Roman" panose="02020603050405020304" pitchFamily="18" charset="0"/>
              </a:rPr>
              <a:t>1</a:t>
            </a:r>
            <a:r>
              <a:rPr lang="en-US" altLang="zh-CN" sz="2000" b="1" dirty="0" smtClean="0">
                <a:latin typeface="Times New Roman" panose="02020603050405020304" pitchFamily="18" charset="0"/>
                <a:cs typeface="Times New Roman" panose="02020603050405020304" pitchFamily="18" charset="0"/>
              </a:rPr>
              <a:t>(</a:t>
            </a:r>
            <a:r>
              <a:rPr lang="en-US" altLang="zh-CN" sz="2000" b="1" i="1" dirty="0" smtClean="0">
                <a:latin typeface="Times New Roman" panose="02020603050405020304" pitchFamily="18" charset="0"/>
                <a:cs typeface="Times New Roman" panose="02020603050405020304" pitchFamily="18" charset="0"/>
              </a:rPr>
              <a:t>A</a:t>
            </a:r>
            <a:r>
              <a:rPr lang="en-US" altLang="zh-CN" sz="2000" b="1" dirty="0" smtClean="0">
                <a:latin typeface="Times New Roman" panose="02020603050405020304" pitchFamily="18" charset="0"/>
                <a:cs typeface="Times New Roman" panose="02020603050405020304" pitchFamily="18" charset="0"/>
              </a:rPr>
              <a:t>),</a:t>
            </a:r>
            <a:r>
              <a:rPr lang="en-US" altLang="zh-CN" sz="2000" b="1" i="1" dirty="0" smtClean="0">
                <a:latin typeface="Times New Roman" panose="02020603050405020304" pitchFamily="18" charset="0"/>
                <a:cs typeface="Times New Roman" panose="02020603050405020304" pitchFamily="18" charset="0"/>
              </a:rPr>
              <a:t>x</a:t>
            </a:r>
            <a:r>
              <a:rPr lang="en-US" altLang="zh-CN" sz="2000" b="1" i="1" baseline="-30000" dirty="0" smtClean="0">
                <a:latin typeface="Times New Roman" panose="02020603050405020304" pitchFamily="18" charset="0"/>
                <a:cs typeface="Times New Roman" panose="02020603050405020304" pitchFamily="18" charset="0"/>
              </a:rPr>
              <a:t>2</a:t>
            </a:r>
            <a:r>
              <a:rPr lang="en-US" altLang="zh-CN" sz="2000" b="1" i="1" dirty="0" smtClean="0">
                <a:latin typeface="Times New Roman" panose="02020603050405020304" pitchFamily="18" charset="0"/>
                <a:cs typeface="Times New Roman" panose="02020603050405020304" pitchFamily="18" charset="0"/>
              </a:rPr>
              <a:t>(B</a:t>
            </a:r>
            <a:r>
              <a:rPr lang="en-US" altLang="zh-CN" sz="2000" b="1" i="1" baseline="-30000" dirty="0" smtClean="0">
                <a:latin typeface="Times New Roman" panose="02020603050405020304" pitchFamily="18" charset="0"/>
                <a:cs typeface="Times New Roman" panose="02020603050405020304" pitchFamily="18" charset="0"/>
              </a:rPr>
              <a:t>1</a:t>
            </a:r>
            <a:r>
              <a:rPr lang="en-US" altLang="zh-CN" sz="2000" b="1" dirty="0" smtClean="0">
                <a:latin typeface="Times New Roman" panose="02020603050405020304" pitchFamily="18" charset="0"/>
                <a:cs typeface="Times New Roman" panose="02020603050405020304" pitchFamily="18" charset="0"/>
              </a:rPr>
              <a:t>),…,</a:t>
            </a:r>
            <a:r>
              <a:rPr lang="en-US" altLang="zh-CN" sz="2000" b="1" i="1" dirty="0" smtClean="0">
                <a:latin typeface="Times New Roman" panose="02020603050405020304" pitchFamily="18" charset="0"/>
                <a:cs typeface="Times New Roman" panose="02020603050405020304" pitchFamily="18" charset="0"/>
              </a:rPr>
              <a:t>x</a:t>
            </a:r>
            <a:r>
              <a:rPr lang="en-US" altLang="zh-CN" sz="2000" b="1" baseline="-30000" dirty="0" smtClean="0">
                <a:latin typeface="Times New Roman" panose="02020603050405020304" pitchFamily="18" charset="0"/>
                <a:cs typeface="Times New Roman" panose="02020603050405020304" pitchFamily="18" charset="0"/>
              </a:rPr>
              <a:t>0</a:t>
            </a:r>
            <a:r>
              <a:rPr lang="en-US" altLang="zh-CN" sz="2000" b="1" dirty="0">
                <a:latin typeface="Times New Roman" panose="02020603050405020304" pitchFamily="18" charset="0"/>
                <a:cs typeface="Times New Roman" panose="02020603050405020304" pitchFamily="18" charset="0"/>
              </a:rPr>
              <a:t>’(</a:t>
            </a:r>
            <a:r>
              <a:rPr lang="en-US" altLang="zh-CN" sz="2000" b="1" i="1" dirty="0">
                <a:latin typeface="Times New Roman" panose="02020603050405020304" pitchFamily="18" charset="0"/>
                <a:cs typeface="Times New Roman" panose="02020603050405020304" pitchFamily="18" charset="0"/>
              </a:rPr>
              <a:t>F</a:t>
            </a:r>
            <a:r>
              <a:rPr lang="en-US" altLang="zh-CN" sz="2000" b="1" baseline="-30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a:t>
            </a:r>
            <a:endParaRPr lang="en-US" altLang="zh-CN" sz="2000" b="1" dirty="0" smtClean="0">
              <a:latin typeface="Times New Roman" panose="02020603050405020304" pitchFamily="18" charset="0"/>
              <a:cs typeface="Times New Roman" panose="02020603050405020304" pitchFamily="18" charset="0"/>
            </a:endParaRPr>
          </a:p>
          <a:p>
            <a:pPr eaLnBrk="1" hangingPunct="1">
              <a:spcBef>
                <a:spcPct val="0"/>
              </a:spcBef>
              <a:buClrTx/>
              <a:buSzTx/>
              <a:buFontTx/>
              <a:buNone/>
            </a:pPr>
            <a:r>
              <a:rPr lang="zh-CN" altLang="en-US" sz="2000" b="1" dirty="0" smtClean="0">
                <a:latin typeface="楷体" panose="02010609060101010101" pitchFamily="49" charset="-122"/>
                <a:ea typeface="楷体" panose="02010609060101010101" pitchFamily="49" charset="-122"/>
              </a:rPr>
              <a:t>相应</a:t>
            </a:r>
            <a:r>
              <a:rPr lang="zh-CN" altLang="en-US" sz="2000" b="1" dirty="0">
                <a:latin typeface="楷体" panose="02010609060101010101" pitchFamily="49" charset="-122"/>
                <a:ea typeface="楷体" panose="02010609060101010101" pitchFamily="49" charset="-122"/>
              </a:rPr>
              <a:t>的最短路线为</a:t>
            </a:r>
          </a:p>
        </p:txBody>
      </p:sp>
      <p:graphicFrame>
        <p:nvGraphicFramePr>
          <p:cNvPr id="8" name="Object 14"/>
          <p:cNvGraphicFramePr>
            <a:graphicFrameLocks noChangeAspect="1"/>
          </p:cNvGraphicFramePr>
          <p:nvPr>
            <p:extLst>
              <p:ext uri="{D42A27DB-BD31-4B8C-83A1-F6EECF244321}">
                <p14:modId xmlns:p14="http://schemas.microsoft.com/office/powerpoint/2010/main" val="3334348732"/>
              </p:ext>
            </p:extLst>
          </p:nvPr>
        </p:nvGraphicFramePr>
        <p:xfrm>
          <a:off x="3411538" y="3371850"/>
          <a:ext cx="4125912" cy="1785938"/>
        </p:xfrm>
        <a:graphic>
          <a:graphicData uri="http://schemas.openxmlformats.org/presentationml/2006/ole">
            <mc:AlternateContent xmlns:mc="http://schemas.openxmlformats.org/markup-compatibility/2006">
              <mc:Choice xmlns:v="urn:schemas-microsoft-com:vml" Requires="v">
                <p:oleObj spid="_x0000_s171125" name="Equation" r:id="rId5" imgW="2171520" imgH="939600" progId="Equation.DSMT4">
                  <p:embed/>
                </p:oleObj>
              </mc:Choice>
              <mc:Fallback>
                <p:oleObj name="Equation" r:id="rId5" imgW="2171520" imgH="939600" progId="Equation.DSMT4">
                  <p:embed/>
                  <p:pic>
                    <p:nvPicPr>
                      <p:cNvPr id="26633" name="Object 14"/>
                      <p:cNvPicPr>
                        <a:picLocks noChangeAspect="1" noChangeArrowheads="1"/>
                      </p:cNvPicPr>
                      <p:nvPr/>
                    </p:nvPicPr>
                    <p:blipFill>
                      <a:blip r:embed="rId6"/>
                      <a:srcRect/>
                      <a:stretch>
                        <a:fillRect/>
                      </a:stretch>
                    </p:blipFill>
                    <p:spPr bwMode="auto">
                      <a:xfrm>
                        <a:off x="3411538" y="3371850"/>
                        <a:ext cx="4125912" cy="178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Line 18"/>
          <p:cNvSpPr>
            <a:spLocks noChangeShapeType="1"/>
          </p:cNvSpPr>
          <p:nvPr/>
        </p:nvSpPr>
        <p:spPr bwMode="auto">
          <a:xfrm flipV="1">
            <a:off x="3925466" y="3874492"/>
            <a:ext cx="360362" cy="360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b="1"/>
          </a:p>
        </p:txBody>
      </p:sp>
      <p:sp>
        <p:nvSpPr>
          <p:cNvPr id="10" name="Line 19"/>
          <p:cNvSpPr>
            <a:spLocks noChangeShapeType="1"/>
          </p:cNvSpPr>
          <p:nvPr/>
        </p:nvSpPr>
        <p:spPr bwMode="auto">
          <a:xfrm flipV="1">
            <a:off x="4789066" y="3874492"/>
            <a:ext cx="360362" cy="360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b="1"/>
          </a:p>
        </p:txBody>
      </p:sp>
      <p:sp>
        <p:nvSpPr>
          <p:cNvPr id="11" name="Line 20"/>
          <p:cNvSpPr>
            <a:spLocks noChangeShapeType="1"/>
          </p:cNvSpPr>
          <p:nvPr/>
        </p:nvSpPr>
        <p:spPr bwMode="auto">
          <a:xfrm flipV="1">
            <a:off x="5870153" y="3803055"/>
            <a:ext cx="360363"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b="1"/>
          </a:p>
        </p:txBody>
      </p:sp>
      <p:sp>
        <p:nvSpPr>
          <p:cNvPr id="12" name="Line 21"/>
          <p:cNvSpPr>
            <a:spLocks noChangeShapeType="1"/>
          </p:cNvSpPr>
          <p:nvPr/>
        </p:nvSpPr>
        <p:spPr bwMode="auto">
          <a:xfrm flipV="1">
            <a:off x="6517853" y="3874492"/>
            <a:ext cx="287338" cy="360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b="1"/>
          </a:p>
        </p:txBody>
      </p:sp>
    </p:spTree>
    <p:extLst>
      <p:ext uri="{BB962C8B-B14F-4D97-AF65-F5344CB8AC3E}">
        <p14:creationId xmlns:p14="http://schemas.microsoft.com/office/powerpoint/2010/main" val="8423552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a:xfrm>
            <a:off x="1270422" y="478731"/>
            <a:ext cx="6901978" cy="576163"/>
          </a:xfrm>
        </p:spPr>
        <p:txBody>
          <a:bodyPr/>
          <a:lstStyle/>
          <a:p>
            <a:pPr eaLnBrk="1" hangingPunct="1"/>
            <a:r>
              <a:rPr lang="en-US" altLang="zh-CN" dirty="0"/>
              <a:t>8.1.2  </a:t>
            </a:r>
            <a:r>
              <a:rPr lang="zh-CN" altLang="en-US" dirty="0"/>
              <a:t>动态规划的基本思想和基本方程</a:t>
            </a:r>
          </a:p>
        </p:txBody>
      </p:sp>
      <p:sp>
        <p:nvSpPr>
          <p:cNvPr id="2" name="内容占位符 1"/>
          <p:cNvSpPr>
            <a:spLocks noGrp="1"/>
          </p:cNvSpPr>
          <p:nvPr>
            <p:ph idx="1"/>
          </p:nvPr>
        </p:nvSpPr>
        <p:spPr>
          <a:xfrm>
            <a:off x="539552" y="1337268"/>
            <a:ext cx="8280920" cy="5324535"/>
          </a:xfrm>
        </p:spPr>
        <p:txBody>
          <a:bodyPr/>
          <a:lstStyle/>
          <a:p>
            <a:r>
              <a:rPr lang="zh-CN" altLang="en-US" dirty="0"/>
              <a:t>动态规划的方法比穷举法有以下优点</a:t>
            </a:r>
            <a:r>
              <a:rPr lang="zh-CN" altLang="en-US" dirty="0" smtClean="0"/>
              <a:t>：</a:t>
            </a:r>
            <a:endParaRPr lang="en-US" altLang="zh-CN" dirty="0" smtClean="0"/>
          </a:p>
          <a:p>
            <a:pPr lvl="1"/>
            <a:r>
              <a:rPr lang="en-US" altLang="zh-CN" dirty="0" smtClean="0">
                <a:latin typeface="+mn-ea"/>
                <a:cs typeface="Times New Roman" panose="02020603050405020304" pitchFamily="18" charset="0"/>
              </a:rPr>
              <a:t>(</a:t>
            </a:r>
            <a:r>
              <a:rPr lang="en-US" altLang="zh-CN" dirty="0">
                <a:latin typeface="+mn-ea"/>
                <a:cs typeface="Times New Roman" panose="02020603050405020304" pitchFamily="18" charset="0"/>
              </a:rPr>
              <a:t>1) </a:t>
            </a:r>
            <a:r>
              <a:rPr lang="zh-CN" altLang="en-US" dirty="0">
                <a:latin typeface="+mn-ea"/>
                <a:cs typeface="Times New Roman" panose="02020603050405020304" pitchFamily="18" charset="0"/>
              </a:rPr>
              <a:t>减少了计算量</a:t>
            </a:r>
            <a:r>
              <a:rPr lang="zh-CN" altLang="en-US" dirty="0" smtClean="0">
                <a:latin typeface="+mn-ea"/>
                <a:cs typeface="Times New Roman" panose="02020603050405020304" pitchFamily="18" charset="0"/>
              </a:rPr>
              <a:t>。</a:t>
            </a:r>
            <a:endParaRPr lang="en-US" altLang="zh-CN" dirty="0" smtClean="0">
              <a:latin typeface="+mn-ea"/>
              <a:cs typeface="Times New Roman" panose="02020603050405020304" pitchFamily="18" charset="0"/>
            </a:endParaRPr>
          </a:p>
          <a:p>
            <a:pPr lvl="2"/>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计算</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若用穷举法，就要对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48</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条路线进行比较，运算在计算机上进行时，比较运算要进行</a:t>
            </a:r>
            <a:r>
              <a:rPr lang="en-US" altLang="zh-CN" dirty="0">
                <a:latin typeface="Times New Roman" panose="02020603050405020304" pitchFamily="18" charset="0"/>
                <a:ea typeface="楷体" panose="02010609060101010101" pitchFamily="49" charset="-122"/>
                <a:cs typeface="Times New Roman" panose="02020603050405020304" pitchFamily="18" charset="0"/>
              </a:rPr>
              <a:t>47</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次；求各条路线的距离，即使用逐段累加方法，也要进行</a:t>
            </a:r>
            <a:r>
              <a:rPr lang="en-US" altLang="zh-CN" dirty="0">
                <a:latin typeface="Times New Roman" panose="02020603050405020304" pitchFamily="18" charset="0"/>
                <a:ea typeface="楷体" panose="02010609060101010101" pitchFamily="49" charset="-122"/>
                <a:cs typeface="Times New Roman" panose="02020603050405020304" pitchFamily="18" charset="0"/>
              </a:rPr>
              <a:t>6+12+24+48+48</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138</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次加法运算。用动态规划方法来计算，比较运算</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从</a:t>
            </a:r>
            <a:r>
              <a:rPr lang="en-US" altLang="zh-CN" dirty="0">
                <a:latin typeface="Times New Roman" panose="02020603050405020304" pitchFamily="18" charset="0"/>
                <a:ea typeface="楷体" panose="02010609060101010101" pitchFamily="49" charset="-122"/>
                <a:cs typeface="Times New Roman" panose="02020603050405020304" pitchFamily="18" charset="0"/>
              </a:rPr>
              <a:t>k=5</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段开始向前算</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共进行</a:t>
            </a:r>
            <a:r>
              <a:rPr lang="en-US" altLang="zh-CN" dirty="0">
                <a:latin typeface="Times New Roman" panose="02020603050405020304" pitchFamily="18" charset="0"/>
                <a:ea typeface="楷体" panose="02010609060101010101" pitchFamily="49" charset="-122"/>
                <a:cs typeface="Times New Roman" panose="02020603050405020304" pitchFamily="18" charset="0"/>
              </a:rPr>
              <a:t>3+3+4+4+1</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15</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次。每次比较运算相应有两次加法运算，再去掉中间重复两次</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即</a:t>
            </a:r>
            <a:r>
              <a:rPr lang="en-US" altLang="zh-CN"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→C</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→C</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4</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各多算了一次</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，实际只有</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28</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次加法运算。可见，动态规划方法比穷举法减少了计算量。而且随着段数的增加，计算量将大大地减少</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lvl="1"/>
            <a:r>
              <a:rPr lang="en-US" altLang="zh-CN" dirty="0" smtClean="0">
                <a:latin typeface="+mn-ea"/>
                <a:cs typeface="Times New Roman" panose="02020603050405020304" pitchFamily="18" charset="0"/>
              </a:rPr>
              <a:t>(</a:t>
            </a:r>
            <a:r>
              <a:rPr lang="en-US" altLang="zh-CN" dirty="0">
                <a:latin typeface="+mn-ea"/>
                <a:cs typeface="Times New Roman" panose="02020603050405020304" pitchFamily="18" charset="0"/>
              </a:rPr>
              <a:t>2) </a:t>
            </a:r>
            <a:r>
              <a:rPr lang="zh-CN" altLang="en-US" dirty="0">
                <a:latin typeface="+mn-ea"/>
                <a:cs typeface="Times New Roman" panose="02020603050405020304" pitchFamily="18" charset="0"/>
              </a:rPr>
              <a:t>丰富了计算结果</a:t>
            </a:r>
            <a:r>
              <a:rPr lang="zh-CN" altLang="en-US" dirty="0" smtClean="0">
                <a:latin typeface="+mn-ea"/>
                <a:cs typeface="Times New Roman" panose="02020603050405020304" pitchFamily="18" charset="0"/>
              </a:rPr>
              <a:t>。</a:t>
            </a:r>
            <a:endParaRPr lang="en-US" altLang="zh-CN" dirty="0" smtClean="0">
              <a:latin typeface="+mn-ea"/>
              <a:cs typeface="Times New Roman" panose="02020603050405020304" pitchFamily="18" charset="0"/>
            </a:endParaRPr>
          </a:p>
          <a:p>
            <a:pPr lvl="2"/>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在</a:t>
            </a:r>
            <a:r>
              <a:rPr lang="zh-CN" altLang="en-US" dirty="0">
                <a:latin typeface="Times New Roman" panose="02020603050405020304" pitchFamily="18" charset="0"/>
                <a:ea typeface="楷体" panose="02010609060101010101" pitchFamily="49" charset="-122"/>
                <a:cs typeface="Times New Roman" panose="02020603050405020304" pitchFamily="18" charset="0"/>
              </a:rPr>
              <a:t>逆序</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或顺序</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解法中，我们得到的不仅仅是由</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或</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出发到</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或</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的最短路线及相应的最短距离，而且得到了从所有各中间点出发到</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或</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的最短路线及相应的距离。这就是说，求出的不是一个最优策略，而是一族的最优策略</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p>
        </p:txBody>
      </p:sp>
      <p:sp>
        <p:nvSpPr>
          <p:cNvPr id="29699"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F5801AD-AD00-45F1-8F7F-20B33DD622C3}" type="slidenum">
              <a:rPr lang="en-US" altLang="zh-CN" sz="1000"/>
              <a:pPr>
                <a:spcBef>
                  <a:spcPct val="0"/>
                </a:spcBef>
                <a:buClrTx/>
                <a:buSzTx/>
                <a:buFontTx/>
                <a:buNone/>
              </a:pPr>
              <a:t>22</a:t>
            </a:fld>
            <a:endParaRPr lang="en-US" altLang="zh-CN" sz="1000"/>
          </a:p>
        </p:txBody>
      </p:sp>
      <p:sp>
        <p:nvSpPr>
          <p:cNvPr id="29701"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a:xfrm>
            <a:off x="1270422" y="478731"/>
            <a:ext cx="6829970" cy="576163"/>
          </a:xfrm>
        </p:spPr>
        <p:txBody>
          <a:bodyPr/>
          <a:lstStyle/>
          <a:p>
            <a:pPr eaLnBrk="1" hangingPunct="1"/>
            <a:r>
              <a:rPr lang="en-US" altLang="zh-CN" dirty="0"/>
              <a:t>8.1.2  </a:t>
            </a:r>
            <a:r>
              <a:rPr lang="zh-CN" altLang="en-US" dirty="0"/>
              <a:t>动态规划的基本思想和基本方程</a:t>
            </a:r>
          </a:p>
        </p:txBody>
      </p:sp>
      <p:sp>
        <p:nvSpPr>
          <p:cNvPr id="2" name="内容占位符 1"/>
          <p:cNvSpPr>
            <a:spLocks noGrp="1"/>
          </p:cNvSpPr>
          <p:nvPr>
            <p:ph idx="1"/>
          </p:nvPr>
        </p:nvSpPr>
        <p:spPr>
          <a:xfrm>
            <a:off x="539552" y="1337268"/>
            <a:ext cx="8280920" cy="4093428"/>
          </a:xfrm>
        </p:spPr>
        <p:txBody>
          <a:bodyPr/>
          <a:lstStyle/>
          <a:p>
            <a:r>
              <a:rPr lang="zh-CN" altLang="en-US" dirty="0"/>
              <a:t>建立动态规划模型的五个要点</a:t>
            </a:r>
            <a:r>
              <a:rPr lang="zh-CN" altLang="en-US" dirty="0" smtClean="0"/>
              <a:t>：</a:t>
            </a:r>
            <a:endParaRPr lang="en-US" altLang="zh-CN" dirty="0" smtClean="0"/>
          </a:p>
          <a:p>
            <a:pPr lvl="1"/>
            <a:r>
              <a:rPr lang="en-US" altLang="zh-CN" dirty="0" smtClean="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将问题的过程</a:t>
            </a:r>
            <a:r>
              <a:rPr lang="zh-CN" altLang="en-US" dirty="0">
                <a:solidFill>
                  <a:srgbClr val="FF0000"/>
                </a:solidFill>
                <a:latin typeface="Times New Roman" panose="02020603050405020304" pitchFamily="18" charset="0"/>
                <a:cs typeface="Times New Roman" panose="02020603050405020304" pitchFamily="18" charset="0"/>
              </a:rPr>
              <a:t>划分成恰当的阶段</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lvl="1"/>
            <a:r>
              <a:rPr lang="en-US" altLang="zh-CN" sz="2000" dirty="0" smtClean="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2) </a:t>
            </a:r>
            <a:r>
              <a:rPr lang="zh-CN" altLang="en-US" sz="2000" dirty="0">
                <a:latin typeface="Times New Roman" panose="02020603050405020304" pitchFamily="18" charset="0"/>
                <a:cs typeface="Times New Roman" panose="02020603050405020304" pitchFamily="18" charset="0"/>
              </a:rPr>
              <a:t>正确</a:t>
            </a:r>
            <a:r>
              <a:rPr lang="zh-CN" altLang="en-US" sz="2000" dirty="0">
                <a:solidFill>
                  <a:srgbClr val="FF0000"/>
                </a:solidFill>
                <a:latin typeface="Times New Roman" panose="02020603050405020304" pitchFamily="18" charset="0"/>
                <a:cs typeface="Times New Roman" panose="02020603050405020304" pitchFamily="18" charset="0"/>
              </a:rPr>
              <a:t>选择状态变量</a:t>
            </a:r>
            <a:r>
              <a:rPr lang="en-US" altLang="zh-CN" sz="2000" i="1" dirty="0" err="1">
                <a:solidFill>
                  <a:srgbClr val="FF0000"/>
                </a:solidFill>
                <a:latin typeface="Times New Roman" panose="02020603050405020304" pitchFamily="18" charset="0"/>
                <a:cs typeface="Times New Roman" panose="02020603050405020304" pitchFamily="18" charset="0"/>
              </a:rPr>
              <a:t>s</a:t>
            </a:r>
            <a:r>
              <a:rPr lang="en-US" altLang="zh-CN" sz="2000" i="1" baseline="-25000" dirty="0" err="1">
                <a:solidFill>
                  <a:srgbClr val="FF0000"/>
                </a:solidFill>
                <a:latin typeface="Times New Roman" panose="02020603050405020304" pitchFamily="18" charset="0"/>
                <a:cs typeface="Times New Roman" panose="02020603050405020304" pitchFamily="18" charset="0"/>
              </a:rPr>
              <a:t>k</a:t>
            </a:r>
            <a:r>
              <a:rPr lang="zh-CN" altLang="en-US" sz="2000" dirty="0">
                <a:latin typeface="Times New Roman" panose="02020603050405020304" pitchFamily="18" charset="0"/>
                <a:cs typeface="Times New Roman" panose="02020603050405020304" pitchFamily="18" charset="0"/>
              </a:rPr>
              <a:t>，使它既能描述过程的演变，又要满足无后效性</a:t>
            </a:r>
            <a:r>
              <a:rPr lang="zh-CN" altLang="en-US"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pPr lvl="1"/>
            <a:r>
              <a:rPr lang="en-US" altLang="zh-CN" sz="2000" dirty="0" smtClean="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3) </a:t>
            </a:r>
            <a:r>
              <a:rPr lang="zh-CN" altLang="en-US" sz="2000" dirty="0">
                <a:latin typeface="Times New Roman" panose="02020603050405020304" pitchFamily="18" charset="0"/>
                <a:cs typeface="Times New Roman" panose="02020603050405020304" pitchFamily="18" charset="0"/>
              </a:rPr>
              <a:t>确定</a:t>
            </a:r>
            <a:r>
              <a:rPr lang="zh-CN" altLang="en-US" sz="2000" dirty="0" smtClean="0">
                <a:latin typeface="Times New Roman" panose="02020603050405020304" pitchFamily="18" charset="0"/>
                <a:cs typeface="Times New Roman" panose="02020603050405020304" pitchFamily="18" charset="0"/>
              </a:rPr>
              <a:t>决策变量</a:t>
            </a:r>
            <a:r>
              <a:rPr lang="en-US" altLang="zh-CN" sz="2000" i="1" dirty="0" err="1" smtClean="0">
                <a:latin typeface="Times New Roman" panose="02020603050405020304" pitchFamily="18" charset="0"/>
                <a:cs typeface="Times New Roman" panose="02020603050405020304" pitchFamily="18" charset="0"/>
              </a:rPr>
              <a:t>x</a:t>
            </a:r>
            <a:r>
              <a:rPr lang="en-US" altLang="zh-CN" sz="2000" i="1" baseline="-25000" dirty="0" err="1" smtClean="0">
                <a:latin typeface="Times New Roman" panose="02020603050405020304" pitchFamily="18" charset="0"/>
                <a:cs typeface="Times New Roman" panose="02020603050405020304" pitchFamily="18" charset="0"/>
              </a:rPr>
              <a:t>k</a:t>
            </a:r>
            <a:r>
              <a:rPr lang="zh-CN" altLang="en-US" sz="2000" dirty="0">
                <a:latin typeface="Times New Roman" panose="02020603050405020304" pitchFamily="18" charset="0"/>
                <a:cs typeface="Times New Roman" panose="02020603050405020304" pitchFamily="18" charset="0"/>
              </a:rPr>
              <a:t>及每阶段的允许决策集合</a:t>
            </a:r>
            <a:r>
              <a:rPr lang="en-US" altLang="zh-CN" sz="2000" i="1" dirty="0" err="1">
                <a:latin typeface="Times New Roman" panose="02020603050405020304" pitchFamily="18" charset="0"/>
                <a:cs typeface="Times New Roman" panose="02020603050405020304" pitchFamily="18" charset="0"/>
              </a:rPr>
              <a:t>D</a:t>
            </a:r>
            <a:r>
              <a:rPr lang="en-US" altLang="zh-CN" sz="2000" i="1" baseline="-25000" dirty="0" err="1">
                <a:latin typeface="Times New Roman" panose="02020603050405020304" pitchFamily="18" charset="0"/>
                <a:cs typeface="Times New Roman" panose="02020603050405020304" pitchFamily="18" charset="0"/>
              </a:rPr>
              <a:t>k</a:t>
            </a:r>
            <a:r>
              <a:rPr lang="en-US" altLang="zh-CN" sz="2000"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a:t>
            </a:r>
            <a:r>
              <a:rPr lang="en-US" altLang="zh-CN" sz="2000" i="1" baseline="-25000" dirty="0" err="1">
                <a:latin typeface="Times New Roman" panose="02020603050405020304" pitchFamily="18" charset="0"/>
                <a:cs typeface="Times New Roman" panose="02020603050405020304" pitchFamily="18" charset="0"/>
              </a:rPr>
              <a:t>k</a:t>
            </a:r>
            <a:r>
              <a:rPr lang="en-US" altLang="zh-CN" sz="2000" dirty="0">
                <a:latin typeface="Times New Roman" panose="02020603050405020304" pitchFamily="18" charset="0"/>
                <a:cs typeface="Times New Roman" panose="02020603050405020304" pitchFamily="18" charset="0"/>
              </a:rPr>
              <a:t>)</a:t>
            </a:r>
            <a:r>
              <a:rPr lang="zh-CN" altLang="en-US"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pPr lvl="1"/>
            <a:r>
              <a:rPr lang="en-US" altLang="zh-CN" sz="2000" dirty="0" smtClean="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4) </a:t>
            </a:r>
            <a:r>
              <a:rPr lang="zh-CN" altLang="en-US" sz="2000" dirty="0">
                <a:latin typeface="Times New Roman" panose="02020603050405020304" pitchFamily="18" charset="0"/>
                <a:cs typeface="Times New Roman" panose="02020603050405020304" pitchFamily="18" charset="0"/>
              </a:rPr>
              <a:t>正确写出状态转移方程</a:t>
            </a:r>
            <a:r>
              <a:rPr lang="zh-CN" altLang="en-US"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pPr lvl="1"/>
            <a:r>
              <a:rPr lang="en-US" altLang="zh-CN" sz="2000" dirty="0" smtClean="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5) </a:t>
            </a:r>
            <a:r>
              <a:rPr lang="zh-CN" altLang="en-US" sz="2000" dirty="0">
                <a:latin typeface="Times New Roman" panose="02020603050405020304" pitchFamily="18" charset="0"/>
                <a:cs typeface="Times New Roman" panose="02020603050405020304" pitchFamily="18" charset="0"/>
              </a:rPr>
              <a:t>正确写出指标函数</a:t>
            </a:r>
            <a:r>
              <a:rPr lang="en-US" altLang="zh-CN" sz="2000" i="1" dirty="0" err="1">
                <a:latin typeface="Times New Roman" panose="02020603050405020304" pitchFamily="18" charset="0"/>
                <a:cs typeface="Times New Roman" panose="02020603050405020304" pitchFamily="18" charset="0"/>
              </a:rPr>
              <a:t>V</a:t>
            </a:r>
            <a:r>
              <a:rPr lang="en-US" altLang="zh-CN" sz="2000" i="1" baseline="-25000" dirty="0" err="1">
                <a:latin typeface="Times New Roman" panose="02020603050405020304" pitchFamily="18" charset="0"/>
                <a:cs typeface="Times New Roman" panose="02020603050405020304" pitchFamily="18" charset="0"/>
              </a:rPr>
              <a:t>k,n</a:t>
            </a:r>
            <a:r>
              <a:rPr lang="zh-CN" altLang="en-US" sz="2000" dirty="0">
                <a:latin typeface="Times New Roman" panose="02020603050405020304" pitchFamily="18" charset="0"/>
                <a:cs typeface="Times New Roman" panose="02020603050405020304" pitchFamily="18" charset="0"/>
              </a:rPr>
              <a:t>的关系，它应满足下面三个性质</a:t>
            </a:r>
            <a:r>
              <a:rPr lang="zh-CN" altLang="en-US"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pPr lvl="2"/>
            <a:r>
              <a:rPr lang="zh-CN" altLang="en-US" dirty="0" smtClean="0">
                <a:latin typeface="Times New Roman" panose="02020603050405020304" pitchFamily="18" charset="0"/>
                <a:cs typeface="Times New Roman" panose="02020603050405020304" pitchFamily="18" charset="0"/>
              </a:rPr>
              <a:t>① </a:t>
            </a:r>
            <a:r>
              <a:rPr lang="zh-CN" altLang="en-US" dirty="0">
                <a:latin typeface="Times New Roman" panose="02020603050405020304" pitchFamily="18" charset="0"/>
                <a:cs typeface="Times New Roman" panose="02020603050405020304" pitchFamily="18" charset="0"/>
              </a:rPr>
              <a:t>是定义在全过程和所有后部子过程上的数量函数</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lvl="2"/>
            <a:r>
              <a:rPr lang="zh-CN" altLang="en-US" sz="2000" dirty="0" smtClean="0">
                <a:latin typeface="Times New Roman" panose="02020603050405020304" pitchFamily="18" charset="0"/>
                <a:cs typeface="Times New Roman" panose="02020603050405020304" pitchFamily="18" charset="0"/>
              </a:rPr>
              <a:t>② </a:t>
            </a:r>
            <a:r>
              <a:rPr lang="zh-CN" altLang="en-US" sz="2000" dirty="0">
                <a:latin typeface="Times New Roman" panose="02020603050405020304" pitchFamily="18" charset="0"/>
                <a:cs typeface="Times New Roman" panose="02020603050405020304" pitchFamily="18" charset="0"/>
              </a:rPr>
              <a:t>要具有可分离性，并满足递推关系。</a:t>
            </a:r>
            <a:r>
              <a:rPr lang="zh-CN" altLang="en-US" sz="2000" dirty="0" smtClean="0">
                <a:latin typeface="Times New Roman" panose="02020603050405020304" pitchFamily="18" charset="0"/>
                <a:cs typeface="Times New Roman" panose="02020603050405020304" pitchFamily="18" charset="0"/>
              </a:rPr>
              <a:t>即</a:t>
            </a:r>
            <a:endParaRPr lang="en-US" altLang="zh-CN" sz="2000" dirty="0" smtClean="0">
              <a:latin typeface="Times New Roman" panose="02020603050405020304" pitchFamily="18" charset="0"/>
              <a:cs typeface="Times New Roman" panose="02020603050405020304" pitchFamily="18" charset="0"/>
            </a:endParaRPr>
          </a:p>
          <a:p>
            <a:pPr lvl="2"/>
            <a:r>
              <a:rPr lang="zh-CN" altLang="en-US" dirty="0" smtClean="0">
                <a:latin typeface="Times New Roman" panose="02020603050405020304" pitchFamily="18" charset="0"/>
                <a:cs typeface="Times New Roman" panose="02020603050405020304" pitchFamily="18" charset="0"/>
              </a:rPr>
              <a:t>③ </a:t>
            </a:r>
            <a:r>
              <a:rPr lang="zh-CN" altLang="en-US" dirty="0">
                <a:latin typeface="Times New Roman" panose="02020603050405020304" pitchFamily="18" charset="0"/>
                <a:cs typeface="Times New Roman" panose="02020603050405020304" pitchFamily="18" charset="0"/>
              </a:rPr>
              <a:t>函数                             对于变量</a:t>
            </a:r>
            <a:r>
              <a:rPr lang="en-US" altLang="zh-CN" i="1" dirty="0">
                <a:latin typeface="Times New Roman" panose="02020603050405020304" pitchFamily="18" charset="0"/>
                <a:cs typeface="Times New Roman" panose="02020603050405020304" pitchFamily="18" charset="0"/>
              </a:rPr>
              <a:t>V</a:t>
            </a:r>
            <a:r>
              <a:rPr lang="en-US" altLang="zh-CN" i="1" baseline="-25000" dirty="0">
                <a:latin typeface="Times New Roman" panose="02020603050405020304" pitchFamily="18" charset="0"/>
                <a:cs typeface="Times New Roman" panose="02020603050405020304" pitchFamily="18" charset="0"/>
              </a:rPr>
              <a:t>k</a:t>
            </a:r>
            <a:r>
              <a:rPr lang="en-US" altLang="zh-CN" baseline="-25000" dirty="0">
                <a:latin typeface="Times New Roman" panose="02020603050405020304" pitchFamily="18" charset="0"/>
                <a:cs typeface="Times New Roman" panose="02020603050405020304" pitchFamily="18" charset="0"/>
              </a:rPr>
              <a:t>+1,</a:t>
            </a:r>
            <a:r>
              <a:rPr lang="en-US" altLang="zh-CN" i="1" baseline="-25000"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要严格单调。</a:t>
            </a:r>
          </a:p>
          <a:p>
            <a:pPr lvl="2"/>
            <a:endParaRPr lang="zh-CN" altLang="en-US" sz="2000" dirty="0">
              <a:latin typeface="Times New Roman" panose="02020603050405020304" pitchFamily="18" charset="0"/>
              <a:cs typeface="Times New Roman" panose="02020603050405020304" pitchFamily="18" charset="0"/>
            </a:endParaRPr>
          </a:p>
        </p:txBody>
      </p:sp>
      <p:sp>
        <p:nvSpPr>
          <p:cNvPr id="29699"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F5801AD-AD00-45F1-8F7F-20B33DD622C3}" type="slidenum">
              <a:rPr lang="en-US" altLang="zh-CN" sz="1000"/>
              <a:pPr>
                <a:spcBef>
                  <a:spcPct val="0"/>
                </a:spcBef>
                <a:buClrTx/>
                <a:buSzTx/>
                <a:buFontTx/>
                <a:buNone/>
              </a:pPr>
              <a:t>23</a:t>
            </a:fld>
            <a:endParaRPr lang="en-US" altLang="zh-CN" sz="1000"/>
          </a:p>
        </p:txBody>
      </p:sp>
      <p:sp>
        <p:nvSpPr>
          <p:cNvPr id="29701"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graphicFrame>
        <p:nvGraphicFramePr>
          <p:cNvPr id="7" name="Object 6"/>
          <p:cNvGraphicFramePr>
            <a:graphicFrameLocks noChangeAspect="1"/>
          </p:cNvGraphicFramePr>
          <p:nvPr>
            <p:extLst>
              <p:ext uri="{D42A27DB-BD31-4B8C-83A1-F6EECF244321}">
                <p14:modId xmlns:p14="http://schemas.microsoft.com/office/powerpoint/2010/main" val="3348772787"/>
              </p:ext>
            </p:extLst>
          </p:nvPr>
        </p:nvGraphicFramePr>
        <p:xfrm>
          <a:off x="2794000" y="4653136"/>
          <a:ext cx="1778000" cy="433387"/>
        </p:xfrm>
        <a:graphic>
          <a:graphicData uri="http://schemas.openxmlformats.org/presentationml/2006/ole">
            <mc:AlternateContent xmlns:mc="http://schemas.openxmlformats.org/markup-compatibility/2006">
              <mc:Choice xmlns:v="urn:schemas-microsoft-com:vml" Requires="v">
                <p:oleObj spid="_x0000_s172104" name="Equation" r:id="rId3" imgW="1002960" imgH="279360" progId="Equation.DSMT4">
                  <p:embed/>
                </p:oleObj>
              </mc:Choice>
              <mc:Fallback>
                <p:oleObj name="Equation" r:id="rId3" imgW="1002960" imgH="279360" progId="Equation.DSMT4">
                  <p:embed/>
                  <p:pic>
                    <p:nvPicPr>
                      <p:cNvPr id="31751" name="Object 6"/>
                      <p:cNvPicPr>
                        <a:picLocks noChangeAspect="1" noChangeArrowheads="1"/>
                      </p:cNvPicPr>
                      <p:nvPr/>
                    </p:nvPicPr>
                    <p:blipFill>
                      <a:blip r:embed="rId4"/>
                      <a:srcRect/>
                      <a:stretch>
                        <a:fillRect/>
                      </a:stretch>
                    </p:blipFill>
                    <p:spPr bwMode="auto">
                      <a:xfrm>
                        <a:off x="2794000" y="4653136"/>
                        <a:ext cx="17780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3016245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a:xfrm>
            <a:off x="1270422" y="478731"/>
            <a:ext cx="6829970" cy="576163"/>
          </a:xfrm>
        </p:spPr>
        <p:txBody>
          <a:bodyPr/>
          <a:lstStyle/>
          <a:p>
            <a:pPr eaLnBrk="1" hangingPunct="1"/>
            <a:r>
              <a:rPr lang="en-US" altLang="zh-CN" dirty="0"/>
              <a:t>8.1.2  </a:t>
            </a:r>
            <a:r>
              <a:rPr lang="zh-CN" altLang="en-US" dirty="0"/>
              <a:t>动态规划的基本思想和基本方程</a:t>
            </a:r>
          </a:p>
        </p:txBody>
      </p:sp>
      <p:sp>
        <p:nvSpPr>
          <p:cNvPr id="2" name="内容占位符 1"/>
          <p:cNvSpPr>
            <a:spLocks noGrp="1"/>
          </p:cNvSpPr>
          <p:nvPr>
            <p:ph idx="1"/>
          </p:nvPr>
        </p:nvSpPr>
        <p:spPr>
          <a:xfrm>
            <a:off x="539552" y="1337268"/>
            <a:ext cx="8280920" cy="3600986"/>
          </a:xfrm>
        </p:spPr>
        <p:txBody>
          <a:bodyPr/>
          <a:lstStyle/>
          <a:p>
            <a:r>
              <a:rPr lang="zh-CN" altLang="en-US" dirty="0"/>
              <a:t>动态规划方法解题步骤：</a:t>
            </a:r>
            <a:endParaRPr lang="en-US" altLang="zh-CN" dirty="0" smtClean="0"/>
          </a:p>
          <a:p>
            <a:pPr lvl="1"/>
            <a:r>
              <a:rPr lang="en-US" altLang="zh-CN" dirty="0">
                <a:latin typeface="Times New Roman" panose="02020603050405020304" pitchFamily="18" charset="0"/>
                <a:cs typeface="Times New Roman" panose="02020603050405020304" pitchFamily="18" charset="0"/>
              </a:rPr>
              <a:t>(1) </a:t>
            </a:r>
            <a:r>
              <a:rPr lang="zh-CN" altLang="en-US" dirty="0" smtClean="0">
                <a:latin typeface="Times New Roman" panose="02020603050405020304" pitchFamily="18" charset="0"/>
                <a:cs typeface="Times New Roman" panose="02020603050405020304" pitchFamily="18" charset="0"/>
              </a:rPr>
              <a:t>建立</a:t>
            </a:r>
            <a:r>
              <a:rPr lang="zh-CN" altLang="en-US" dirty="0">
                <a:latin typeface="Times New Roman" panose="02020603050405020304" pitchFamily="18" charset="0"/>
                <a:cs typeface="Times New Roman" panose="02020603050405020304" pitchFamily="18" charset="0"/>
              </a:rPr>
              <a:t>问题的动态规划模型</a:t>
            </a:r>
          </a:p>
          <a:p>
            <a:pPr marL="449262" lvl="1" indent="0">
              <a:buNone/>
            </a:pPr>
            <a:r>
              <a:rPr lang="zh-CN" altLang="en-US" dirty="0" smtClean="0">
                <a:latin typeface="Times New Roman" panose="02020603050405020304" pitchFamily="18" charset="0"/>
                <a:cs typeface="Times New Roman" panose="02020603050405020304" pitchFamily="18" charset="0"/>
              </a:rPr>
              <a:t>       包括</a:t>
            </a:r>
            <a:r>
              <a:rPr lang="zh-CN" altLang="en-US" dirty="0">
                <a:latin typeface="Times New Roman" panose="02020603050405020304" pitchFamily="18" charset="0"/>
                <a:cs typeface="Times New Roman" panose="02020603050405020304" pitchFamily="18" charset="0"/>
              </a:rPr>
              <a:t>划分阶段、选择问题的状态变量与决策变量、写出状态转移方程、描述问题的指标函数、列出问题的动态规划方程。</a:t>
            </a:r>
          </a:p>
          <a:p>
            <a:pPr lvl="1"/>
            <a:r>
              <a:rPr lang="en-US" altLang="zh-CN" dirty="0" smtClean="0">
                <a:latin typeface="Times New Roman" panose="02020603050405020304" pitchFamily="18" charset="0"/>
                <a:cs typeface="Times New Roman" panose="02020603050405020304" pitchFamily="18" charset="0"/>
              </a:rPr>
              <a:t>(2)</a:t>
            </a:r>
            <a:r>
              <a:rPr lang="zh-CN" altLang="en-US" dirty="0" smtClean="0">
                <a:latin typeface="Times New Roman" panose="02020603050405020304" pitchFamily="18" charset="0"/>
                <a:cs typeface="Times New Roman" panose="02020603050405020304" pitchFamily="18" charset="0"/>
              </a:rPr>
              <a:t>递</a:t>
            </a:r>
            <a:r>
              <a:rPr lang="zh-CN" altLang="en-US" dirty="0">
                <a:latin typeface="Times New Roman" panose="02020603050405020304" pitchFamily="18" charset="0"/>
                <a:cs typeface="Times New Roman" panose="02020603050405020304" pitchFamily="18" charset="0"/>
              </a:rPr>
              <a:t>推计算</a:t>
            </a:r>
          </a:p>
          <a:p>
            <a:pPr marL="449262" lvl="1" indent="0">
              <a:buNone/>
            </a:pPr>
            <a:r>
              <a:rPr lang="zh-CN" altLang="en-US" dirty="0" smtClean="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即按第一步所描述的动态规划方程分阶段逐一计算，若问题是离散的，</a:t>
            </a:r>
            <a:r>
              <a:rPr lang="zh-CN" altLang="en-US" dirty="0" smtClean="0">
                <a:latin typeface="Times New Roman" panose="02020603050405020304" pitchFamily="18" charset="0"/>
                <a:cs typeface="Times New Roman" panose="02020603050405020304" pitchFamily="18" charset="0"/>
              </a:rPr>
              <a:t>则每</a:t>
            </a:r>
            <a:r>
              <a:rPr lang="zh-CN" altLang="en-US" dirty="0">
                <a:latin typeface="Times New Roman" panose="02020603050405020304" pitchFamily="18" charset="0"/>
                <a:cs typeface="Times New Roman" panose="02020603050405020304" pitchFamily="18" charset="0"/>
              </a:rPr>
              <a:t>阶段的每一个状态都要计算。</a:t>
            </a:r>
          </a:p>
          <a:p>
            <a:pPr lvl="1"/>
            <a:r>
              <a:rPr lang="en-US" altLang="zh-CN" dirty="0" smtClean="0">
                <a:latin typeface="Times New Roman" panose="02020603050405020304" pitchFamily="18" charset="0"/>
                <a:cs typeface="Times New Roman" panose="02020603050405020304" pitchFamily="18" charset="0"/>
              </a:rPr>
              <a:t>(3)</a:t>
            </a:r>
            <a:r>
              <a:rPr lang="zh-CN" altLang="en-US" dirty="0" smtClean="0">
                <a:latin typeface="Times New Roman" panose="02020603050405020304" pitchFamily="18" charset="0"/>
                <a:cs typeface="Times New Roman" panose="02020603050405020304" pitchFamily="18" charset="0"/>
              </a:rPr>
              <a:t>寻找</a:t>
            </a:r>
            <a:r>
              <a:rPr lang="zh-CN" altLang="en-US" dirty="0">
                <a:latin typeface="Times New Roman" panose="02020603050405020304" pitchFamily="18" charset="0"/>
                <a:cs typeface="Times New Roman" panose="02020603050405020304" pitchFamily="18" charset="0"/>
              </a:rPr>
              <a:t>最优策略</a:t>
            </a:r>
          </a:p>
          <a:p>
            <a:pPr marL="449262" lvl="1" indent="0">
              <a:buNone/>
            </a:pPr>
            <a:r>
              <a:rPr lang="zh-CN" altLang="en-US" dirty="0" smtClean="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以第二步递推计算的结果为基础，以状态转移方程为纽带，按与递推计算相反的方向寻找最优策略</a:t>
            </a:r>
            <a:r>
              <a:rPr lang="zh-CN" altLang="en-US" dirty="0" smtClean="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29699"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F5801AD-AD00-45F1-8F7F-20B33DD622C3}" type="slidenum">
              <a:rPr lang="en-US" altLang="zh-CN" sz="1000"/>
              <a:pPr>
                <a:spcBef>
                  <a:spcPct val="0"/>
                </a:spcBef>
                <a:buClrTx/>
                <a:buSzTx/>
                <a:buFontTx/>
                <a:buNone/>
              </a:pPr>
              <a:t>24</a:t>
            </a:fld>
            <a:endParaRPr lang="en-US" altLang="zh-CN" sz="1000"/>
          </a:p>
        </p:txBody>
      </p:sp>
      <p:sp>
        <p:nvSpPr>
          <p:cNvPr id="29701"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spTree>
    <p:extLst>
      <p:ext uri="{BB962C8B-B14F-4D97-AF65-F5344CB8AC3E}">
        <p14:creationId xmlns:p14="http://schemas.microsoft.com/office/powerpoint/2010/main" val="6980771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p:txBody>
          <a:bodyPr/>
          <a:lstStyle/>
          <a:p>
            <a:pPr eaLnBrk="1" hangingPunct="1"/>
            <a:r>
              <a:rPr lang="en-US" altLang="zh-CN" dirty="0"/>
              <a:t>8.2</a:t>
            </a:r>
            <a:r>
              <a:rPr lang="zh-CN" altLang="en-US" dirty="0"/>
              <a:t>  动态规划的最优性原理</a:t>
            </a:r>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539552" y="1337268"/>
                <a:ext cx="8280920" cy="3205686"/>
              </a:xfrm>
            </p:spPr>
            <p:txBody>
              <a:bodyPr/>
              <a:lstStyle/>
              <a:p>
                <a:pPr marL="457200" lvl="1" indent="-457200">
                  <a:buSzPct val="70000"/>
                  <a:buFont typeface="Wingdings" panose="05000000000000000000" pitchFamily="2" charset="2"/>
                  <a:buChar char="l"/>
                </a:pPr>
                <a:r>
                  <a:rPr lang="zh-CN" altLang="en-US" dirty="0" smtClean="0">
                    <a:solidFill>
                      <a:srgbClr val="FF0000"/>
                    </a:solidFill>
                  </a:rPr>
                  <a:t>一</a:t>
                </a:r>
                <a:r>
                  <a:rPr lang="zh-CN" altLang="en-US" dirty="0">
                    <a:solidFill>
                      <a:srgbClr val="FF0000"/>
                    </a:solidFill>
                  </a:rPr>
                  <a:t>个最优策略的子策略总是最优的 </a:t>
                </a:r>
                <a:endParaRPr lang="zh-CN" altLang="en-US" dirty="0">
                  <a:solidFill>
                    <a:srgbClr val="FF0000"/>
                  </a:solidFill>
                  <a:latin typeface="Arial" panose="020B0604020202020204" pitchFamily="34" charset="0"/>
                  <a:ea typeface="楷体_GB2312" pitchFamily="49" charset="-122"/>
                </a:endParaRPr>
              </a:p>
              <a:p>
                <a:pPr marL="457200" lvl="1" indent="-457200">
                  <a:buSzPct val="70000"/>
                  <a:buFont typeface="Wingdings" panose="05000000000000000000" pitchFamily="2" charset="2"/>
                  <a:buChar char="l"/>
                </a:pPr>
                <a:r>
                  <a:rPr lang="zh-CN" altLang="en-US" dirty="0" smtClean="0"/>
                  <a:t>定理</a:t>
                </a:r>
                <a:r>
                  <a:rPr lang="en-US" altLang="zh-CN" dirty="0" smtClean="0"/>
                  <a:t>8-1</a:t>
                </a:r>
                <a:r>
                  <a:rPr lang="zh-CN" altLang="en-US" dirty="0" smtClean="0"/>
                  <a:t>：动态规划的最优性原理</a:t>
                </a:r>
                <a:r>
                  <a:rPr lang="en-US" altLang="zh-CN" dirty="0" smtClean="0"/>
                  <a:t>(</a:t>
                </a:r>
                <a:r>
                  <a:rPr lang="zh-CN" altLang="en-US" dirty="0" smtClean="0"/>
                  <a:t>动态规划的理论基础</a:t>
                </a:r>
                <a:r>
                  <a:rPr lang="en-US" altLang="zh-CN" dirty="0" smtClean="0"/>
                  <a:t>)</a:t>
                </a:r>
              </a:p>
              <a:p>
                <a:pPr marL="862013" lvl="2">
                  <a:buFont typeface="Wingdings" panose="05000000000000000000" pitchFamily="2" charset="2"/>
                  <a:buChar char="Ø"/>
                </a:pPr>
                <a:r>
                  <a:rPr lang="zh-CN" altLang="en-US" sz="2000" dirty="0" smtClean="0">
                    <a:latin typeface="+mn-ea"/>
                    <a:ea typeface="+mn-ea"/>
                  </a:rPr>
                  <a:t>设</a:t>
                </a:r>
                <a:r>
                  <a:rPr lang="zh-CN" altLang="en-US" sz="2000" dirty="0">
                    <a:latin typeface="+mn-ea"/>
                    <a:ea typeface="+mn-ea"/>
                  </a:rPr>
                  <a:t>阶段数为</a:t>
                </a:r>
                <a:r>
                  <a:rPr lang="en-US" altLang="zh-CN" sz="2000" i="1" dirty="0">
                    <a:latin typeface="+mn-ea"/>
                    <a:ea typeface="+mn-ea"/>
                  </a:rPr>
                  <a:t>n</a:t>
                </a:r>
                <a:r>
                  <a:rPr lang="zh-CN" altLang="en-US" sz="2000" dirty="0">
                    <a:latin typeface="+mn-ea"/>
                    <a:ea typeface="+mn-ea"/>
                  </a:rPr>
                  <a:t>的多阶段决策过程，其阶段编号为</a:t>
                </a:r>
                <a:r>
                  <a:rPr lang="en-US" altLang="zh-CN" i="1" dirty="0">
                    <a:latin typeface="Times New Roman" panose="02020603050405020304" pitchFamily="18" charset="0"/>
                    <a:ea typeface="+mn-ea"/>
                    <a:cs typeface="Times New Roman" panose="02020603050405020304" pitchFamily="18" charset="0"/>
                  </a:rPr>
                  <a:t>k</a:t>
                </a:r>
                <a:r>
                  <a:rPr lang="en-US" altLang="zh-CN" sz="2000" dirty="0">
                    <a:latin typeface="+mn-ea"/>
                    <a:ea typeface="+mn-ea"/>
                  </a:rPr>
                  <a:t>=0</a:t>
                </a:r>
                <a:r>
                  <a:rPr lang="zh-CN" altLang="en-US" sz="2000" dirty="0">
                    <a:latin typeface="+mn-ea"/>
                    <a:ea typeface="+mn-ea"/>
                  </a:rPr>
                  <a:t>，</a:t>
                </a:r>
                <a:r>
                  <a:rPr lang="en-US" altLang="zh-CN" sz="2000" dirty="0">
                    <a:latin typeface="+mn-ea"/>
                    <a:ea typeface="+mn-ea"/>
                  </a:rPr>
                  <a:t>1</a:t>
                </a:r>
                <a:r>
                  <a:rPr lang="zh-CN" altLang="en-US" sz="2000" dirty="0">
                    <a:latin typeface="+mn-ea"/>
                    <a:ea typeface="+mn-ea"/>
                  </a:rPr>
                  <a:t>，</a:t>
                </a:r>
                <a:r>
                  <a:rPr lang="en-US" altLang="zh-CN" sz="2000" dirty="0">
                    <a:latin typeface="+mn-ea"/>
                    <a:ea typeface="+mn-ea"/>
                  </a:rPr>
                  <a:t>…</a:t>
                </a:r>
                <a:r>
                  <a:rPr lang="zh-CN" altLang="en-US" sz="2000" dirty="0">
                    <a:latin typeface="+mn-ea"/>
                    <a:ea typeface="+mn-ea"/>
                  </a:rPr>
                  <a:t>，</a:t>
                </a:r>
                <a:r>
                  <a:rPr lang="en-US" altLang="zh-CN" i="1" dirty="0">
                    <a:latin typeface="Times New Roman" panose="02020603050405020304" pitchFamily="18" charset="0"/>
                    <a:ea typeface="+mn-ea"/>
                    <a:cs typeface="Times New Roman" panose="02020603050405020304" pitchFamily="18" charset="0"/>
                  </a:rPr>
                  <a:t>n-1</a:t>
                </a:r>
                <a:r>
                  <a:rPr lang="zh-CN" altLang="en-US" sz="2000" dirty="0">
                    <a:latin typeface="+mn-ea"/>
                    <a:ea typeface="+mn-ea"/>
                  </a:rPr>
                  <a:t>。允许</a:t>
                </a:r>
                <a:r>
                  <a:rPr lang="zh-CN" altLang="en-US" sz="2000" dirty="0" smtClean="0">
                    <a:latin typeface="+mn-ea"/>
                    <a:ea typeface="+mn-ea"/>
                  </a:rPr>
                  <a:t>策略</a:t>
                </a:r>
                <a14:m>
                  <m:oMath xmlns:m="http://schemas.openxmlformats.org/officeDocument/2006/math">
                    <m:sSubSup>
                      <m:sSubSupPr>
                        <m:ctrlPr>
                          <a:rPr lang="en-US" altLang="zh-CN" sz="2000" i="1" smtClean="0">
                            <a:latin typeface="Cambria Math" panose="02040503050406030204" pitchFamily="18" charset="0"/>
                            <a:ea typeface="+mn-ea"/>
                          </a:rPr>
                        </m:ctrlPr>
                      </m:sSubSupPr>
                      <m:e>
                        <m:r>
                          <a:rPr lang="en-US" altLang="zh-CN" sz="2000" b="1" i="1" smtClean="0">
                            <a:latin typeface="Cambria Math" panose="02040503050406030204" pitchFamily="18" charset="0"/>
                            <a:ea typeface="+mn-ea"/>
                          </a:rPr>
                          <m:t>𝒑</m:t>
                        </m:r>
                      </m:e>
                      <m:sub>
                        <m:r>
                          <a:rPr lang="en-US" altLang="zh-CN" sz="2000" b="1" i="1" smtClean="0">
                            <a:latin typeface="Cambria Math" panose="02040503050406030204" pitchFamily="18" charset="0"/>
                            <a:ea typeface="+mn-ea"/>
                          </a:rPr>
                          <m:t>𝟎</m:t>
                        </m:r>
                        <m:r>
                          <a:rPr lang="en-US" altLang="zh-CN" sz="2000" b="1" i="1" smtClean="0">
                            <a:latin typeface="Cambria Math" panose="02040503050406030204" pitchFamily="18" charset="0"/>
                            <a:ea typeface="+mn-ea"/>
                          </a:rPr>
                          <m:t>,</m:t>
                        </m:r>
                        <m:r>
                          <a:rPr lang="en-US" altLang="zh-CN" sz="2000" b="1" i="1" smtClean="0">
                            <a:latin typeface="Cambria Math" panose="02040503050406030204" pitchFamily="18" charset="0"/>
                            <a:ea typeface="+mn-ea"/>
                          </a:rPr>
                          <m:t>𝒏</m:t>
                        </m:r>
                        <m:r>
                          <a:rPr lang="en-US" altLang="zh-CN" sz="2000" b="1" i="1" smtClean="0">
                            <a:latin typeface="Cambria Math" panose="02040503050406030204" pitchFamily="18" charset="0"/>
                            <a:ea typeface="+mn-ea"/>
                          </a:rPr>
                          <m:t>−</m:t>
                        </m:r>
                        <m:r>
                          <a:rPr lang="en-US" altLang="zh-CN" sz="2000" b="1" i="1" smtClean="0">
                            <a:latin typeface="Cambria Math" panose="02040503050406030204" pitchFamily="18" charset="0"/>
                            <a:ea typeface="+mn-ea"/>
                          </a:rPr>
                          <m:t>𝟏</m:t>
                        </m:r>
                      </m:sub>
                      <m:sup>
                        <m:r>
                          <a:rPr lang="en-US" altLang="zh-CN" sz="2000" i="1" smtClean="0">
                            <a:latin typeface="Cambria Math" panose="02040503050406030204" pitchFamily="18" charset="0"/>
                            <a:ea typeface="Cambria Math" panose="02040503050406030204" pitchFamily="18" charset="0"/>
                          </a:rPr>
                          <m:t>∗</m:t>
                        </m:r>
                      </m:sup>
                    </m:sSubSup>
                    <m:r>
                      <a:rPr lang="en-US" altLang="zh-CN" sz="2000" b="1" i="1" smtClean="0">
                        <a:latin typeface="Cambria Math" panose="02040503050406030204" pitchFamily="18" charset="0"/>
                        <a:ea typeface="+mn-ea"/>
                      </a:rPr>
                      <m:t>=(</m:t>
                    </m:r>
                    <m:sSubSup>
                      <m:sSubSupPr>
                        <m:ctrlPr>
                          <a:rPr lang="en-US" altLang="zh-CN" i="1">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i="1">
                            <a:latin typeface="Cambria Math" panose="02040503050406030204" pitchFamily="18" charset="0"/>
                          </a:rPr>
                          <m:t>𝟎</m:t>
                        </m:r>
                      </m:sub>
                      <m:sup>
                        <m:r>
                          <a:rPr lang="en-US" altLang="zh-CN" i="1">
                            <a:latin typeface="Cambria Math" panose="02040503050406030204" pitchFamily="18" charset="0"/>
                            <a:ea typeface="Cambria Math" panose="02040503050406030204" pitchFamily="18" charset="0"/>
                          </a:rPr>
                          <m:t>∗</m:t>
                        </m:r>
                      </m:sup>
                    </m:sSubSup>
                    <m:r>
                      <a:rPr lang="en-US" altLang="zh-CN" b="1" i="1" smtClean="0">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up>
                        <m:r>
                          <a:rPr lang="en-US" altLang="zh-CN" i="1">
                            <a:latin typeface="Cambria Math" panose="02040503050406030204" pitchFamily="18" charset="0"/>
                            <a:ea typeface="Cambria Math" panose="02040503050406030204" pitchFamily="18" charset="0"/>
                          </a:rPr>
                          <m:t>∗</m:t>
                        </m:r>
                      </m:sup>
                    </m:sSubSup>
                    <m:r>
                      <a:rPr lang="en-US" altLang="zh-CN" b="1" i="1" smtClean="0">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𝒏</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sub>
                      <m:sup>
                        <m:r>
                          <a:rPr lang="en-US" altLang="zh-CN" i="1">
                            <a:latin typeface="Cambria Math" panose="02040503050406030204" pitchFamily="18" charset="0"/>
                            <a:ea typeface="Cambria Math" panose="02040503050406030204" pitchFamily="18" charset="0"/>
                          </a:rPr>
                          <m:t>∗</m:t>
                        </m:r>
                      </m:sup>
                    </m:sSubSup>
                    <m:r>
                      <a:rPr lang="en-US" altLang="zh-CN" sz="2000" b="1" i="1" smtClean="0">
                        <a:latin typeface="Cambria Math" panose="02040503050406030204" pitchFamily="18" charset="0"/>
                        <a:ea typeface="+mn-ea"/>
                      </a:rPr>
                      <m:t>)</m:t>
                    </m:r>
                  </m:oMath>
                </a14:m>
                <a:r>
                  <a:rPr lang="zh-CN" altLang="en-US" dirty="0" smtClean="0">
                    <a:latin typeface="+mn-ea"/>
                    <a:ea typeface="+mn-ea"/>
                  </a:rPr>
                  <a:t> </a:t>
                </a:r>
                <a:r>
                  <a:rPr lang="zh-CN" altLang="en-US" dirty="0">
                    <a:latin typeface="+mn-ea"/>
                    <a:ea typeface="+mn-ea"/>
                  </a:rPr>
                  <a:t>为最优策略的充要条件是对任意一个</a:t>
                </a:r>
                <a:r>
                  <a:rPr lang="en-US" altLang="zh-CN" i="1" dirty="0">
                    <a:latin typeface="Times New Roman" panose="02020603050405020304" pitchFamily="18" charset="0"/>
                    <a:ea typeface="+mn-ea"/>
                    <a:cs typeface="Times New Roman" panose="02020603050405020304" pitchFamily="18" charset="0"/>
                  </a:rPr>
                  <a:t>k</a:t>
                </a:r>
                <a:r>
                  <a:rPr lang="en-US" altLang="zh-CN" dirty="0" smtClean="0">
                    <a:latin typeface="+mn-ea"/>
                    <a:ea typeface="+mn-ea"/>
                  </a:rPr>
                  <a:t>(0&lt;</a:t>
                </a:r>
                <a:r>
                  <a:rPr lang="en-US" altLang="zh-CN" i="1" dirty="0">
                    <a:latin typeface="Times New Roman" panose="02020603050405020304" pitchFamily="18" charset="0"/>
                    <a:ea typeface="+mn-ea"/>
                    <a:cs typeface="Times New Roman" panose="02020603050405020304" pitchFamily="18" charset="0"/>
                  </a:rPr>
                  <a:t>k</a:t>
                </a:r>
                <a:r>
                  <a:rPr lang="en-US" altLang="zh-CN" dirty="0" smtClean="0">
                    <a:latin typeface="+mn-ea"/>
                    <a:ea typeface="+mn-ea"/>
                  </a:rPr>
                  <a:t>&lt;</a:t>
                </a:r>
                <a:r>
                  <a:rPr lang="en-US" altLang="zh-CN" i="1" dirty="0" smtClean="0">
                    <a:latin typeface="Times New Roman" panose="02020603050405020304" pitchFamily="18" charset="0"/>
                    <a:ea typeface="+mn-ea"/>
                    <a:cs typeface="Times New Roman" panose="02020603050405020304" pitchFamily="18" charset="0"/>
                  </a:rPr>
                  <a:t>n-1</a:t>
                </a:r>
                <a:r>
                  <a:rPr lang="en-US" altLang="zh-CN" dirty="0" smtClean="0">
                    <a:latin typeface="+mn-ea"/>
                    <a:ea typeface="+mn-ea"/>
                  </a:rPr>
                  <a:t>)</a:t>
                </a:r>
                <a:r>
                  <a:rPr lang="zh-CN" altLang="en-US" dirty="0" smtClean="0">
                    <a:latin typeface="+mn-ea"/>
                    <a:ea typeface="+mn-ea"/>
                  </a:rPr>
                  <a:t>和初始状态</a:t>
                </a:r>
                <a14:m>
                  <m:oMath xmlns:m="http://schemas.openxmlformats.org/officeDocument/2006/math">
                    <m:sSub>
                      <m:sSubPr>
                        <m:ctrlPr>
                          <a:rPr lang="en-US" altLang="zh-CN" i="1" smtClean="0">
                            <a:latin typeface="Cambria Math" panose="02040503050406030204" pitchFamily="18" charset="0"/>
                            <a:ea typeface="+mn-ea"/>
                          </a:rPr>
                        </m:ctrlPr>
                      </m:sSubPr>
                      <m:e>
                        <m:r>
                          <a:rPr lang="en-US" altLang="zh-CN" b="1" i="1" smtClean="0">
                            <a:latin typeface="Cambria Math" panose="02040503050406030204" pitchFamily="18" charset="0"/>
                            <a:ea typeface="+mn-ea"/>
                          </a:rPr>
                          <m:t>𝒔</m:t>
                        </m:r>
                      </m:e>
                      <m:sub>
                        <m:r>
                          <a:rPr lang="en-US" altLang="zh-CN" b="1" i="1" smtClean="0">
                            <a:latin typeface="Cambria Math" panose="02040503050406030204" pitchFamily="18" charset="0"/>
                            <a:ea typeface="+mn-ea"/>
                          </a:rPr>
                          <m:t>𝟎</m:t>
                        </m:r>
                      </m:sub>
                    </m:sSub>
                    <m:r>
                      <a:rPr lang="en-US" altLang="zh-CN" i="1" smtClean="0">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1" i="1" smtClean="0">
                            <a:latin typeface="Cambria Math" panose="02040503050406030204" pitchFamily="18" charset="0"/>
                          </a:rPr>
                          <m:t>𝑺</m:t>
                        </m:r>
                      </m:e>
                      <m:sub>
                        <m:r>
                          <a:rPr lang="en-US" altLang="zh-CN" sz="1800" i="1">
                            <a:latin typeface="Cambria Math" panose="02040503050406030204" pitchFamily="18" charset="0"/>
                          </a:rPr>
                          <m:t>𝟎</m:t>
                        </m:r>
                      </m:sub>
                    </m:sSub>
                  </m:oMath>
                </a14:m>
                <a:r>
                  <a:rPr lang="zh-CN" altLang="en-US" dirty="0" smtClean="0">
                    <a:latin typeface="+mn-ea"/>
                    <a:ea typeface="+mn-ea"/>
                  </a:rPr>
                  <a:t>有：</a:t>
                </a:r>
                <a:endParaRPr lang="en-US" altLang="zh-CN" dirty="0" smtClean="0">
                  <a:latin typeface="+mn-ea"/>
                  <a:ea typeface="+mn-ea"/>
                </a:endParaRPr>
              </a:p>
              <a:p>
                <a:pPr marL="862013" lvl="2">
                  <a:buFont typeface="Wingdings" panose="05000000000000000000" pitchFamily="2" charset="2"/>
                  <a:buChar char="Ø"/>
                </a:pPr>
                <a:endParaRPr lang="en-US" altLang="zh-CN" dirty="0">
                  <a:latin typeface="+mn-ea"/>
                  <a:ea typeface="+mn-ea"/>
                </a:endParaRPr>
              </a:p>
              <a:p>
                <a:pPr marL="862013" lvl="2">
                  <a:buFont typeface="Wingdings" panose="05000000000000000000" pitchFamily="2" charset="2"/>
                  <a:buChar char="Ø"/>
                </a:pPr>
                <a:endParaRPr lang="en-US" altLang="zh-CN" dirty="0" smtClean="0">
                  <a:latin typeface="+mn-ea"/>
                  <a:ea typeface="+mn-ea"/>
                </a:endParaRPr>
              </a:p>
              <a:p>
                <a:pPr marL="458788" lvl="2" indent="0">
                  <a:buNone/>
                </a:pPr>
                <a:r>
                  <a:rPr lang="zh-CN" altLang="en-US" dirty="0" smtClean="0">
                    <a:latin typeface="+mn-ea"/>
                    <a:ea typeface="+mn-ea"/>
                  </a:rPr>
                  <a:t>其中</a:t>
                </a:r>
                <a14:m>
                  <m:oMath xmlns:m="http://schemas.openxmlformats.org/officeDocument/2006/math">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𝒑</m:t>
                        </m:r>
                      </m:e>
                      <m:sub>
                        <m:r>
                          <a:rPr lang="en-US" altLang="zh-CN" sz="1800" i="1">
                            <a:latin typeface="Cambria Math" panose="02040503050406030204" pitchFamily="18" charset="0"/>
                          </a:rPr>
                          <m:t>𝟎</m:t>
                        </m:r>
                        <m:r>
                          <a:rPr lang="en-US" altLang="zh-CN" sz="1800" i="1">
                            <a:latin typeface="Cambria Math" panose="02040503050406030204" pitchFamily="18" charset="0"/>
                          </a:rPr>
                          <m:t>,</m:t>
                        </m:r>
                        <m:r>
                          <a:rPr lang="en-US" altLang="zh-CN" sz="1800" i="1">
                            <a:latin typeface="Cambria Math" panose="02040503050406030204" pitchFamily="18" charset="0"/>
                          </a:rPr>
                          <m:t>𝒏</m:t>
                        </m:r>
                        <m:r>
                          <a:rPr lang="en-US" altLang="zh-CN" sz="1800" i="1">
                            <a:latin typeface="Cambria Math" panose="02040503050406030204" pitchFamily="18" charset="0"/>
                          </a:rPr>
                          <m:t>−</m:t>
                        </m:r>
                        <m:r>
                          <a:rPr lang="en-US" altLang="zh-CN" sz="1800" i="1">
                            <a:latin typeface="Cambria Math" panose="02040503050406030204" pitchFamily="18" charset="0"/>
                          </a:rPr>
                          <m:t>𝟏</m:t>
                        </m:r>
                      </m:sub>
                      <m:sup>
                        <m:r>
                          <a:rPr lang="en-US" altLang="zh-CN" sz="1800" i="1">
                            <a:latin typeface="Cambria Math" panose="02040503050406030204" pitchFamily="18" charset="0"/>
                            <a:ea typeface="Cambria Math" panose="02040503050406030204" pitchFamily="18" charset="0"/>
                          </a:rPr>
                          <m:t>∗</m:t>
                        </m:r>
                      </m:sup>
                    </m:sSubSup>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1" i="1" smtClean="0">
                            <a:latin typeface="Cambria Math" panose="02040503050406030204" pitchFamily="18" charset="0"/>
                          </a:rPr>
                          <m:t>𝒑</m:t>
                        </m:r>
                      </m:e>
                      <m:sub>
                        <m:r>
                          <a:rPr lang="en-US" altLang="zh-CN" sz="1800" i="1">
                            <a:latin typeface="Cambria Math" panose="02040503050406030204" pitchFamily="18" charset="0"/>
                          </a:rPr>
                          <m:t>𝟎</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𝒌</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𝟏</m:t>
                        </m:r>
                      </m:sub>
                    </m:sSub>
                    <m:r>
                      <a:rPr lang="en-US" altLang="zh-CN"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1" i="1" smtClean="0">
                            <a:latin typeface="Cambria Math" panose="02040503050406030204" pitchFamily="18" charset="0"/>
                          </a:rPr>
                          <m:t>𝒑</m:t>
                        </m:r>
                      </m:e>
                      <m:sub>
                        <m:r>
                          <a:rPr lang="en-US" altLang="zh-CN" sz="1800" b="1" i="1" smtClean="0">
                            <a:latin typeface="Cambria Math" panose="02040503050406030204" pitchFamily="18" charset="0"/>
                          </a:rPr>
                          <m:t>𝒌</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𝒏</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𝟏</m:t>
                        </m:r>
                      </m:sub>
                    </m:sSub>
                    <m:r>
                      <a:rPr lang="en-US" altLang="zh-CN" sz="1800" i="1">
                        <a:latin typeface="Cambria Math" panose="02040503050406030204" pitchFamily="18" charset="0"/>
                      </a:rPr>
                      <m:t>)</m:t>
                    </m:r>
                  </m:oMath>
                </a14:m>
                <a:r>
                  <a:rPr lang="zh-CN" altLang="en-US" sz="1800" dirty="0">
                    <a:latin typeface="+mn-ea"/>
                  </a:rPr>
                  <a:t> </a:t>
                </a:r>
                <a:r>
                  <a:rPr lang="zh-CN" altLang="en-US" sz="1800" dirty="0" smtClean="0">
                    <a:latin typeface="+mn-ea"/>
                    <a:ea typeface="+mn-ea"/>
                  </a:rPr>
                  <a:t>且</a:t>
                </a:r>
                <a14:m>
                  <m:oMath xmlns:m="http://schemas.openxmlformats.org/officeDocument/2006/math">
                    <m:sSub>
                      <m:sSubPr>
                        <m:ctrlPr>
                          <a:rPr lang="en-US" altLang="zh-CN" sz="1800" i="1" dirty="0" smtClean="0">
                            <a:latin typeface="Cambria Math" panose="02040503050406030204" pitchFamily="18" charset="0"/>
                            <a:ea typeface="+mn-ea"/>
                          </a:rPr>
                        </m:ctrlPr>
                      </m:sSubPr>
                      <m:e>
                        <m:acc>
                          <m:accPr>
                            <m:chr m:val="̃"/>
                            <m:ctrlPr>
                              <a:rPr lang="en-US" altLang="zh-CN" sz="1800" i="1" dirty="0" smtClean="0">
                                <a:latin typeface="Cambria Math" panose="02040503050406030204" pitchFamily="18" charset="0"/>
                                <a:ea typeface="+mn-ea"/>
                              </a:rPr>
                            </m:ctrlPr>
                          </m:accPr>
                          <m:e>
                            <m:r>
                              <a:rPr lang="en-US" altLang="zh-CN" sz="1800" b="1" i="1" dirty="0" smtClean="0">
                                <a:latin typeface="Cambria Math" panose="02040503050406030204" pitchFamily="18" charset="0"/>
                                <a:ea typeface="+mn-ea"/>
                              </a:rPr>
                              <m:t>𝒔</m:t>
                            </m:r>
                          </m:e>
                        </m:acc>
                      </m:e>
                      <m:sub>
                        <m:r>
                          <a:rPr lang="en-US" altLang="zh-CN" sz="1800" b="1" i="1" dirty="0" smtClean="0">
                            <a:latin typeface="Cambria Math" panose="02040503050406030204" pitchFamily="18" charset="0"/>
                            <a:ea typeface="+mn-ea"/>
                          </a:rPr>
                          <m:t>𝒌</m:t>
                        </m:r>
                      </m:sub>
                    </m:sSub>
                    <m:r>
                      <a:rPr lang="en-US" altLang="zh-CN" sz="1800" b="1" i="1" dirty="0" smtClean="0">
                        <a:latin typeface="Cambria Math" panose="02040503050406030204" pitchFamily="18" charset="0"/>
                        <a:ea typeface="+mn-ea"/>
                      </a:rPr>
                      <m:t>=</m:t>
                    </m:r>
                    <m:sSub>
                      <m:sSubPr>
                        <m:ctrlPr>
                          <a:rPr lang="en-US" altLang="zh-CN" sz="1800" b="1" i="1" dirty="0" smtClean="0">
                            <a:latin typeface="Cambria Math" panose="02040503050406030204" pitchFamily="18" charset="0"/>
                            <a:ea typeface="+mn-ea"/>
                          </a:rPr>
                        </m:ctrlPr>
                      </m:sSubPr>
                      <m:e>
                        <m:r>
                          <a:rPr lang="en-US" altLang="zh-CN" sz="1800" b="1" i="1" dirty="0" smtClean="0">
                            <a:latin typeface="Cambria Math" panose="02040503050406030204" pitchFamily="18" charset="0"/>
                            <a:ea typeface="+mn-ea"/>
                          </a:rPr>
                          <m:t>𝑻</m:t>
                        </m:r>
                      </m:e>
                      <m:sub>
                        <m:r>
                          <a:rPr lang="en-US" altLang="zh-CN" sz="1800" b="1" i="1" dirty="0" smtClean="0">
                            <a:latin typeface="Cambria Math" panose="02040503050406030204" pitchFamily="18" charset="0"/>
                            <a:ea typeface="+mn-ea"/>
                          </a:rPr>
                          <m:t>𝒌</m:t>
                        </m:r>
                        <m:r>
                          <a:rPr lang="en-US" altLang="zh-CN" sz="1800" b="1" i="1" dirty="0" smtClean="0">
                            <a:latin typeface="Cambria Math" panose="02040503050406030204" pitchFamily="18" charset="0"/>
                            <a:ea typeface="+mn-ea"/>
                          </a:rPr>
                          <m:t>−</m:t>
                        </m:r>
                        <m:r>
                          <a:rPr lang="en-US" altLang="zh-CN" sz="1800" b="1" i="1" dirty="0" smtClean="0">
                            <a:latin typeface="Cambria Math" panose="02040503050406030204" pitchFamily="18" charset="0"/>
                            <a:ea typeface="+mn-ea"/>
                          </a:rPr>
                          <m:t>𝟏</m:t>
                        </m:r>
                      </m:sub>
                    </m:sSub>
                    <m:r>
                      <a:rPr lang="en-US" altLang="zh-CN" sz="1800" b="1" i="1" dirty="0" smtClean="0">
                        <a:latin typeface="Cambria Math" panose="02040503050406030204" pitchFamily="18" charset="0"/>
                        <a:ea typeface="+mn-ea"/>
                      </a:rPr>
                      <m:t>(</m:t>
                    </m:r>
                    <m:sSub>
                      <m:sSubPr>
                        <m:ctrlPr>
                          <a:rPr lang="en-US" altLang="zh-CN" sz="1800" i="1" dirty="0">
                            <a:latin typeface="Cambria Math" panose="02040503050406030204" pitchFamily="18" charset="0"/>
                          </a:rPr>
                        </m:ctrlPr>
                      </m:sSubPr>
                      <m:e>
                        <m:r>
                          <a:rPr lang="en-US" altLang="zh-CN" sz="1800" b="1" i="1" dirty="0" smtClean="0">
                            <a:latin typeface="Cambria Math" panose="02040503050406030204" pitchFamily="18" charset="0"/>
                          </a:rPr>
                          <m:t>𝒔</m:t>
                        </m:r>
                      </m:e>
                      <m:sub>
                        <m:r>
                          <a:rPr lang="en-US" altLang="zh-CN" sz="1800" i="1" dirty="0">
                            <a:latin typeface="Cambria Math" panose="02040503050406030204" pitchFamily="18" charset="0"/>
                          </a:rPr>
                          <m:t>𝒌</m:t>
                        </m:r>
                        <m:r>
                          <a:rPr lang="en-US" altLang="zh-CN" sz="1800" i="1" dirty="0">
                            <a:latin typeface="Cambria Math" panose="02040503050406030204" pitchFamily="18" charset="0"/>
                          </a:rPr>
                          <m:t>−</m:t>
                        </m:r>
                        <m:r>
                          <a:rPr lang="en-US" altLang="zh-CN" sz="1800" i="1" dirty="0">
                            <a:latin typeface="Cambria Math" panose="02040503050406030204" pitchFamily="18" charset="0"/>
                          </a:rPr>
                          <m:t>𝟏</m:t>
                        </m:r>
                      </m:sub>
                    </m:sSub>
                    <m:r>
                      <a:rPr lang="en-US" altLang="zh-CN" sz="1800" b="1" i="1" dirty="0" smtClean="0">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b="1" i="1" dirty="0" smtClean="0">
                            <a:latin typeface="Cambria Math" panose="02040503050406030204" pitchFamily="18" charset="0"/>
                          </a:rPr>
                          <m:t>𝒙</m:t>
                        </m:r>
                      </m:e>
                      <m:sub>
                        <m:r>
                          <a:rPr lang="en-US" altLang="zh-CN" sz="1800" i="1" dirty="0">
                            <a:latin typeface="Cambria Math" panose="02040503050406030204" pitchFamily="18" charset="0"/>
                          </a:rPr>
                          <m:t>𝒌</m:t>
                        </m:r>
                        <m:r>
                          <a:rPr lang="en-US" altLang="zh-CN" sz="1800" i="1" dirty="0">
                            <a:latin typeface="Cambria Math" panose="02040503050406030204" pitchFamily="18" charset="0"/>
                          </a:rPr>
                          <m:t>−</m:t>
                        </m:r>
                        <m:r>
                          <a:rPr lang="en-US" altLang="zh-CN" sz="1800" i="1" dirty="0">
                            <a:latin typeface="Cambria Math" panose="02040503050406030204" pitchFamily="18" charset="0"/>
                          </a:rPr>
                          <m:t>𝟏</m:t>
                        </m:r>
                      </m:sub>
                    </m:sSub>
                    <m:r>
                      <a:rPr lang="en-US" altLang="zh-CN" sz="1800" b="1" i="1" dirty="0" smtClean="0">
                        <a:latin typeface="Cambria Math" panose="02040503050406030204" pitchFamily="18" charset="0"/>
                        <a:ea typeface="+mn-ea"/>
                      </a:rPr>
                      <m:t>)</m:t>
                    </m:r>
                  </m:oMath>
                </a14:m>
                <a:r>
                  <a:rPr lang="zh-CN" altLang="en-US" dirty="0" smtClean="0">
                    <a:latin typeface="+mn-ea"/>
                    <a:ea typeface="+mn-ea"/>
                  </a:rPr>
                  <a:t>，它是由给定的初始状态</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𝒔</m:t>
                        </m:r>
                      </m:e>
                      <m:sub>
                        <m:r>
                          <a:rPr lang="en-US" altLang="zh-CN" sz="1800" i="1">
                            <a:latin typeface="Cambria Math" panose="02040503050406030204" pitchFamily="18" charset="0"/>
                          </a:rPr>
                          <m:t>𝟎</m:t>
                        </m:r>
                      </m:sub>
                    </m:sSub>
                  </m:oMath>
                </a14:m>
                <a:r>
                  <a:rPr lang="zh-CN" altLang="en-US" dirty="0" smtClean="0">
                    <a:latin typeface="+mn-ea"/>
                    <a:ea typeface="+mn-ea"/>
                  </a:rPr>
                  <a:t>和子策略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𝒑</m:t>
                        </m:r>
                      </m:e>
                      <m:sub>
                        <m:r>
                          <a:rPr lang="en-US" altLang="zh-CN" i="1">
                            <a:latin typeface="Cambria Math" panose="02040503050406030204" pitchFamily="18" charset="0"/>
                          </a:rPr>
                          <m:t>𝟎</m:t>
                        </m:r>
                        <m:r>
                          <a:rPr lang="en-US" altLang="zh-CN" i="1">
                            <a:latin typeface="Cambria Math" panose="02040503050406030204" pitchFamily="18" charset="0"/>
                          </a:rPr>
                          <m:t>,</m:t>
                        </m:r>
                        <m:r>
                          <a:rPr lang="en-US" altLang="zh-CN" i="1">
                            <a:latin typeface="Cambria Math" panose="02040503050406030204" pitchFamily="18" charset="0"/>
                          </a:rPr>
                          <m:t>𝒌</m:t>
                        </m:r>
                        <m:r>
                          <a:rPr lang="en-US" altLang="zh-CN" i="1">
                            <a:latin typeface="Cambria Math" panose="02040503050406030204" pitchFamily="18" charset="0"/>
                          </a:rPr>
                          <m:t>−</m:t>
                        </m:r>
                        <m:r>
                          <a:rPr lang="en-US" altLang="zh-CN" i="1">
                            <a:latin typeface="Cambria Math" panose="02040503050406030204" pitchFamily="18" charset="0"/>
                          </a:rPr>
                          <m:t>𝟏</m:t>
                        </m:r>
                      </m:sub>
                    </m:sSub>
                  </m:oMath>
                </a14:m>
                <a:r>
                  <a:rPr lang="zh-CN" altLang="en-US" dirty="0" smtClean="0">
                    <a:latin typeface="+mn-ea"/>
                    <a:ea typeface="+mn-ea"/>
                  </a:rPr>
                  <a:t>所确定的</a:t>
                </a:r>
                <a:r>
                  <a:rPr lang="en-US" altLang="zh-CN" sz="1800" i="1" dirty="0">
                    <a:latin typeface="Times New Roman" panose="02020603050405020304" pitchFamily="18" charset="0"/>
                    <a:cs typeface="Times New Roman" panose="02020603050405020304" pitchFamily="18" charset="0"/>
                  </a:rPr>
                  <a:t>k</a:t>
                </a:r>
                <a:r>
                  <a:rPr lang="zh-CN" altLang="en-US" dirty="0" smtClean="0">
                    <a:latin typeface="+mn-ea"/>
                    <a:ea typeface="+mn-ea"/>
                  </a:rPr>
                  <a:t>阶段状态。</a:t>
                </a:r>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539552" y="1337268"/>
                <a:ext cx="8280920" cy="3205686"/>
              </a:xfrm>
              <a:blipFill>
                <a:blip r:embed="rId4"/>
                <a:stretch>
                  <a:fillRect l="-147" t="-1331" b="-1521"/>
                </a:stretch>
              </a:blipFill>
            </p:spPr>
            <p:txBody>
              <a:bodyPr/>
              <a:lstStyle/>
              <a:p>
                <a:r>
                  <a:rPr lang="zh-CN" altLang="en-US">
                    <a:noFill/>
                  </a:rPr>
                  <a:t> </a:t>
                </a:r>
              </a:p>
            </p:txBody>
          </p:sp>
        </mc:Fallback>
      </mc:AlternateContent>
      <p:sp>
        <p:nvSpPr>
          <p:cNvPr id="32771"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ADA9A51-637F-4CC3-97DC-ADF1AFD298C3}" type="slidenum">
              <a:rPr lang="en-US" altLang="zh-CN" sz="1000"/>
              <a:pPr>
                <a:spcBef>
                  <a:spcPct val="0"/>
                </a:spcBef>
                <a:buClrTx/>
                <a:buSzTx/>
                <a:buFontTx/>
                <a:buNone/>
              </a:pPr>
              <a:t>25</a:t>
            </a:fld>
            <a:endParaRPr lang="en-US" altLang="zh-CN" sz="1000"/>
          </a:p>
        </p:txBody>
      </p:sp>
      <p:sp>
        <p:nvSpPr>
          <p:cNvPr id="32773"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graphicFrame>
        <p:nvGraphicFramePr>
          <p:cNvPr id="7" name="Object 26"/>
          <p:cNvGraphicFramePr>
            <a:graphicFrameLocks noChangeAspect="1"/>
          </p:cNvGraphicFramePr>
          <p:nvPr>
            <p:extLst>
              <p:ext uri="{D42A27DB-BD31-4B8C-83A1-F6EECF244321}">
                <p14:modId xmlns:p14="http://schemas.microsoft.com/office/powerpoint/2010/main" val="503360286"/>
              </p:ext>
            </p:extLst>
          </p:nvPr>
        </p:nvGraphicFramePr>
        <p:xfrm>
          <a:off x="467544" y="3140968"/>
          <a:ext cx="8599487" cy="600075"/>
        </p:xfrm>
        <a:graphic>
          <a:graphicData uri="http://schemas.openxmlformats.org/presentationml/2006/ole">
            <mc:AlternateContent xmlns:mc="http://schemas.openxmlformats.org/markup-compatibility/2006">
              <mc:Choice xmlns:v="urn:schemas-microsoft-com:vml" Requires="v">
                <p:oleObj spid="_x0000_s176192" name="Equation" r:id="rId5" imgW="5117760" imgH="355320" progId="Equation.DSMT4">
                  <p:embed/>
                </p:oleObj>
              </mc:Choice>
              <mc:Fallback>
                <p:oleObj name="Equation" r:id="rId5" imgW="5117760" imgH="355320" progId="Equation.DSMT4">
                  <p:embed/>
                  <p:pic>
                    <p:nvPicPr>
                      <p:cNvPr id="15" name="Object 26"/>
                      <p:cNvPicPr>
                        <a:picLocks noChangeAspect="1" noChangeArrowheads="1"/>
                      </p:cNvPicPr>
                      <p:nvPr/>
                    </p:nvPicPr>
                    <p:blipFill>
                      <a:blip r:embed="rId6"/>
                      <a:srcRect/>
                      <a:stretch>
                        <a:fillRect/>
                      </a:stretch>
                    </p:blipFill>
                    <p:spPr bwMode="auto">
                      <a:xfrm>
                        <a:off x="467544" y="3140968"/>
                        <a:ext cx="8599487" cy="600075"/>
                      </a:xfrm>
                      <a:prstGeom prst="rect">
                        <a:avLst/>
                      </a:prstGeom>
                      <a:noFill/>
                      <a:ln>
                        <a:noFill/>
                      </a:ln>
                      <a:extLst/>
                    </p:spPr>
                  </p:pic>
                </p:oleObj>
              </mc:Fallback>
            </mc:AlternateContent>
          </a:graphicData>
        </a:graphic>
      </p:graphicFrame>
      <mc:AlternateContent xmlns:mc="http://schemas.openxmlformats.org/markup-compatibility/2006" xmlns:a14="http://schemas.microsoft.com/office/drawing/2010/main">
        <mc:Choice Requires="a14">
          <p:sp>
            <p:nvSpPr>
              <p:cNvPr id="8" name="内容占位符 1"/>
              <p:cNvSpPr txBox="1">
                <a:spLocks/>
              </p:cNvSpPr>
              <p:nvPr/>
            </p:nvSpPr>
            <p:spPr bwMode="auto">
              <a:xfrm>
                <a:off x="566707" y="4725144"/>
                <a:ext cx="8280920" cy="145834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marL="457200" indent="-457200" algn="l" rtl="0" eaLnBrk="0" fontAlgn="base" hangingPunct="0">
                  <a:spcBef>
                    <a:spcPct val="20000"/>
                  </a:spcBef>
                  <a:spcAft>
                    <a:spcPct val="0"/>
                  </a:spcAft>
                  <a:buClr>
                    <a:schemeClr val="tx1"/>
                  </a:buClr>
                  <a:buSzPct val="70000"/>
                  <a:buFont typeface="Wingdings" panose="05000000000000000000" pitchFamily="2" charset="2"/>
                  <a:buChar char="l"/>
                  <a:defRPr sz="2400" b="1" kern="1200">
                    <a:solidFill>
                      <a:schemeClr val="tx1"/>
                    </a:solidFill>
                    <a:latin typeface="+mn-lt"/>
                    <a:ea typeface="+mn-ea"/>
                    <a:cs typeface="+mn-cs"/>
                  </a:defRPr>
                </a:lvl1pPr>
                <a:lvl2pPr marL="889000" indent="-439738" algn="l" rtl="0" eaLnBrk="0" fontAlgn="base" hangingPunct="0">
                  <a:spcBef>
                    <a:spcPct val="20000"/>
                  </a:spcBef>
                  <a:spcAft>
                    <a:spcPct val="0"/>
                  </a:spcAft>
                  <a:buClr>
                    <a:schemeClr val="tx1"/>
                  </a:buClr>
                  <a:buSzPct val="65000"/>
                  <a:buFont typeface="Wingdings" panose="05000000000000000000" pitchFamily="2" charset="2"/>
                  <a:buChar char="Ø"/>
                  <a:defRPr sz="2000" b="1" kern="1200">
                    <a:solidFill>
                      <a:schemeClr val="tx1"/>
                    </a:solidFill>
                    <a:latin typeface="+mn-lt"/>
                    <a:ea typeface="+mn-ea"/>
                    <a:cs typeface="+mn-cs"/>
                  </a:defRPr>
                </a:lvl2pPr>
                <a:lvl3pPr marL="1293813" indent="-403225" algn="l" rtl="0" eaLnBrk="0" fontAlgn="base" hangingPunct="0">
                  <a:spcBef>
                    <a:spcPct val="20000"/>
                  </a:spcBef>
                  <a:spcAft>
                    <a:spcPct val="0"/>
                  </a:spcAft>
                  <a:buClr>
                    <a:schemeClr val="tx1"/>
                  </a:buClr>
                  <a:buSzPct val="70000"/>
                  <a:buFont typeface="Arial" panose="020B0604020202020204" pitchFamily="34" charset="0"/>
                  <a:buChar char="•"/>
                  <a:defRPr sz="2000" b="1" kern="1200">
                    <a:solidFill>
                      <a:schemeClr val="tx1"/>
                    </a:solidFill>
                    <a:latin typeface="楷体" panose="02010609060101010101" pitchFamily="49" charset="-122"/>
                    <a:ea typeface="楷体" panose="02010609060101010101" pitchFamily="49" charset="-122"/>
                    <a:cs typeface="+mn-cs"/>
                  </a:defRPr>
                </a:lvl3pPr>
                <a:lvl4pPr marL="1681163" indent="-385763" algn="l" rtl="0" eaLnBrk="0" fontAlgn="base" hangingPunct="0">
                  <a:spcBef>
                    <a:spcPct val="20000"/>
                  </a:spcBef>
                  <a:spcAft>
                    <a:spcPct val="0"/>
                  </a:spcAft>
                  <a:buClr>
                    <a:srgbClr val="0051C8"/>
                  </a:buClr>
                  <a:buSzPct val="75000"/>
                  <a:buFont typeface="Arial" panose="020B0604020202020204" pitchFamily="34" charset="0"/>
                  <a:buChar char="•"/>
                  <a:defRPr sz="2000" kern="1200">
                    <a:solidFill>
                      <a:schemeClr val="tx1"/>
                    </a:solidFill>
                    <a:latin typeface="+mn-lt"/>
                    <a:ea typeface="+mn-ea"/>
                    <a:cs typeface="+mn-cs"/>
                  </a:defRPr>
                </a:lvl4pPr>
                <a:lvl5pPr marL="2070100" indent="-387350" algn="l" rtl="0" eaLnBrk="0" fontAlgn="base" hangingPunct="0">
                  <a:spcBef>
                    <a:spcPct val="20000"/>
                  </a:spcBef>
                  <a:spcAft>
                    <a:spcPct val="0"/>
                  </a:spcAft>
                  <a:buClr>
                    <a:srgbClr val="0064F6"/>
                  </a:buClr>
                  <a:buSzPct val="7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457200">
                  <a:buSzPct val="70000"/>
                  <a:buFont typeface="Wingdings" panose="05000000000000000000" pitchFamily="2" charset="2"/>
                  <a:buChar char="l"/>
                </a:pPr>
                <a:r>
                  <a:rPr lang="zh-CN" altLang="en-US" dirty="0" smtClean="0"/>
                  <a:t>推论</a:t>
                </a:r>
                <a:r>
                  <a:rPr lang="en-US" altLang="zh-CN" dirty="0" smtClean="0"/>
                  <a:t>8-1</a:t>
                </a:r>
                <a:r>
                  <a:rPr lang="zh-CN" altLang="en-US" dirty="0" smtClean="0"/>
                  <a:t>：</a:t>
                </a:r>
                <a:endParaRPr lang="en-US" altLang="zh-CN" dirty="0" smtClean="0"/>
              </a:p>
              <a:p>
                <a:pPr marL="862013" lvl="2">
                  <a:buFont typeface="Wingdings" panose="05000000000000000000" pitchFamily="2" charset="2"/>
                  <a:buChar char="Ø"/>
                </a:pPr>
                <a:r>
                  <a:rPr lang="zh-CN" altLang="en-US" dirty="0" smtClean="0">
                    <a:latin typeface="+mn-ea"/>
                    <a:ea typeface="+mn-ea"/>
                  </a:rPr>
                  <a:t>若</a:t>
                </a:r>
                <a:r>
                  <a:rPr lang="zh-CN" altLang="en-US" dirty="0">
                    <a:latin typeface="+mn-ea"/>
                    <a:ea typeface="+mn-ea"/>
                  </a:rPr>
                  <a:t>策略</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𝒑</m:t>
                        </m:r>
                      </m:e>
                      <m:sub>
                        <m:r>
                          <a:rPr lang="en-US" altLang="zh-CN" i="1">
                            <a:latin typeface="Cambria Math" panose="02040503050406030204" pitchFamily="18" charset="0"/>
                          </a:rPr>
                          <m:t>𝟎</m:t>
                        </m:r>
                        <m:r>
                          <a:rPr lang="en-US" altLang="zh-CN" i="1">
                            <a:latin typeface="Cambria Math" panose="02040503050406030204" pitchFamily="18" charset="0"/>
                          </a:rPr>
                          <m:t>,</m:t>
                        </m:r>
                        <m:r>
                          <a:rPr lang="en-US" altLang="zh-CN" i="1">
                            <a:latin typeface="Cambria Math" panose="02040503050406030204" pitchFamily="18" charset="0"/>
                          </a:rPr>
                          <m:t>𝒏</m:t>
                        </m:r>
                        <m:r>
                          <a:rPr lang="en-US" altLang="zh-CN" i="1">
                            <a:latin typeface="Cambria Math" panose="02040503050406030204" pitchFamily="18" charset="0"/>
                          </a:rPr>
                          <m:t>−</m:t>
                        </m:r>
                        <m:r>
                          <a:rPr lang="en-US" altLang="zh-CN" i="1">
                            <a:latin typeface="Cambria Math" panose="02040503050406030204" pitchFamily="18" charset="0"/>
                          </a:rPr>
                          <m:t>𝟏</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latin typeface="+mn-ea"/>
                    <a:ea typeface="+mn-ea"/>
                  </a:rPr>
                  <a:t>为最优策略，则对任意的</a:t>
                </a:r>
                <a:r>
                  <a:rPr lang="en-US" altLang="zh-CN" sz="1800" i="1" dirty="0">
                    <a:latin typeface="Times New Roman" panose="02020603050405020304" pitchFamily="18" charset="0"/>
                    <a:cs typeface="Times New Roman" panose="02020603050405020304" pitchFamily="18" charset="0"/>
                  </a:rPr>
                  <a:t>k</a:t>
                </a:r>
                <a:r>
                  <a:rPr lang="en-US" altLang="zh-CN" sz="1800" dirty="0">
                    <a:latin typeface="+mn-ea"/>
                  </a:rPr>
                  <a:t>(0&lt;</a:t>
                </a:r>
                <a:r>
                  <a:rPr lang="en-US" altLang="zh-CN" sz="1800" i="1" dirty="0">
                    <a:latin typeface="Times New Roman" panose="02020603050405020304" pitchFamily="18" charset="0"/>
                    <a:cs typeface="Times New Roman" panose="02020603050405020304" pitchFamily="18" charset="0"/>
                  </a:rPr>
                  <a:t>k</a:t>
                </a:r>
                <a:r>
                  <a:rPr lang="en-US" altLang="zh-CN" sz="1800" dirty="0">
                    <a:latin typeface="+mn-ea"/>
                  </a:rPr>
                  <a:t>&lt;</a:t>
                </a:r>
                <a:r>
                  <a:rPr lang="en-US" altLang="zh-CN" sz="1800" i="1" dirty="0">
                    <a:latin typeface="Times New Roman" panose="02020603050405020304" pitchFamily="18" charset="0"/>
                    <a:cs typeface="Times New Roman" panose="02020603050405020304" pitchFamily="18" charset="0"/>
                  </a:rPr>
                  <a:t>n-1</a:t>
                </a:r>
                <a:r>
                  <a:rPr lang="en-US" altLang="zh-CN" sz="1800" dirty="0" smtClean="0">
                    <a:latin typeface="+mn-ea"/>
                  </a:rPr>
                  <a:t>)</a:t>
                </a:r>
                <a:r>
                  <a:rPr lang="zh-CN" altLang="en-US" sz="1800" dirty="0" smtClean="0">
                    <a:latin typeface="+mn-ea"/>
                  </a:rPr>
                  <a:t>，</a:t>
                </a:r>
                <a:r>
                  <a:rPr lang="zh-CN" altLang="en-US" dirty="0" smtClean="0">
                    <a:latin typeface="+mn-ea"/>
                    <a:ea typeface="+mn-ea"/>
                  </a:rPr>
                  <a:t>它</a:t>
                </a:r>
                <a:r>
                  <a:rPr lang="zh-CN" altLang="en-US" dirty="0">
                    <a:latin typeface="+mn-ea"/>
                    <a:ea typeface="+mn-ea"/>
                  </a:rPr>
                  <a:t>的子策略</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𝒑</m:t>
                        </m:r>
                      </m:e>
                      <m:sub>
                        <m:r>
                          <a:rPr lang="en-US" altLang="zh-CN" i="1" smtClean="0">
                            <a:latin typeface="Cambria Math" panose="02040503050406030204" pitchFamily="18" charset="0"/>
                          </a:rPr>
                          <m:t>𝒌</m:t>
                        </m:r>
                        <m:r>
                          <a:rPr lang="en-US" altLang="zh-CN" i="1">
                            <a:latin typeface="Cambria Math" panose="02040503050406030204" pitchFamily="18" charset="0"/>
                          </a:rPr>
                          <m:t>,</m:t>
                        </m:r>
                        <m:r>
                          <a:rPr lang="en-US" altLang="zh-CN" i="1">
                            <a:latin typeface="Cambria Math" panose="02040503050406030204" pitchFamily="18" charset="0"/>
                          </a:rPr>
                          <m:t>𝒏</m:t>
                        </m:r>
                        <m:r>
                          <a:rPr lang="en-US" altLang="zh-CN" i="1">
                            <a:latin typeface="Cambria Math" panose="02040503050406030204" pitchFamily="18" charset="0"/>
                          </a:rPr>
                          <m:t>−</m:t>
                        </m:r>
                        <m:r>
                          <a:rPr lang="en-US" altLang="zh-CN" i="1">
                            <a:latin typeface="Cambria Math" panose="02040503050406030204" pitchFamily="18" charset="0"/>
                          </a:rPr>
                          <m:t>𝟏</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latin typeface="+mn-ea"/>
                    <a:ea typeface="+mn-ea"/>
                  </a:rPr>
                  <a:t>对于以</a:t>
                </a:r>
                <a14:m>
                  <m:oMath xmlns:m="http://schemas.openxmlformats.org/officeDocument/2006/math">
                    <m:sSubSup>
                      <m:sSubSupPr>
                        <m:ctrlPr>
                          <a:rPr lang="en-US" altLang="zh-CN" sz="1800" i="1">
                            <a:latin typeface="Cambria Math" panose="02040503050406030204" pitchFamily="18" charset="0"/>
                          </a:rPr>
                        </m:ctrlPr>
                      </m:sSubSupPr>
                      <m:e>
                        <m:r>
                          <a:rPr lang="en-US" altLang="zh-CN" sz="1800" i="1" smtClean="0">
                            <a:latin typeface="Cambria Math" panose="02040503050406030204" pitchFamily="18" charset="0"/>
                          </a:rPr>
                          <m:t>𝒔</m:t>
                        </m:r>
                      </m:e>
                      <m:sub>
                        <m:r>
                          <a:rPr lang="en-US" altLang="zh-CN" sz="1800" i="1" smtClean="0">
                            <a:latin typeface="Cambria Math" panose="02040503050406030204" pitchFamily="18" charset="0"/>
                          </a:rPr>
                          <m:t>𝒌</m:t>
                        </m:r>
                      </m:sub>
                      <m:sup>
                        <m:r>
                          <a:rPr lang="en-US" altLang="zh-CN" sz="1800" i="1">
                            <a:latin typeface="Cambria Math" panose="02040503050406030204" pitchFamily="18" charset="0"/>
                            <a:ea typeface="Cambria Math" panose="02040503050406030204" pitchFamily="18" charset="0"/>
                          </a:rPr>
                          <m:t>∗</m:t>
                        </m:r>
                      </m:sup>
                    </m:sSubSup>
                    <m:r>
                      <a:rPr lang="en-US" altLang="zh-CN" sz="1800" i="1">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𝑻</m:t>
                        </m:r>
                      </m:e>
                      <m:sub>
                        <m:r>
                          <a:rPr lang="en-US" altLang="zh-CN" sz="1800" i="1" dirty="0">
                            <a:latin typeface="Cambria Math" panose="02040503050406030204" pitchFamily="18" charset="0"/>
                          </a:rPr>
                          <m:t>𝒌</m:t>
                        </m:r>
                        <m:r>
                          <a:rPr lang="en-US" altLang="zh-CN" sz="1800" i="1" dirty="0">
                            <a:latin typeface="Cambria Math" panose="02040503050406030204" pitchFamily="18" charset="0"/>
                          </a:rPr>
                          <m:t>−</m:t>
                        </m:r>
                        <m:r>
                          <a:rPr lang="en-US" altLang="zh-CN" sz="1800" i="1" dirty="0">
                            <a:latin typeface="Cambria Math" panose="02040503050406030204" pitchFamily="18" charset="0"/>
                          </a:rPr>
                          <m:t>𝟏</m:t>
                        </m:r>
                      </m:sub>
                    </m:sSub>
                    <m:r>
                      <a:rPr lang="en-US" altLang="zh-CN" sz="1800"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smtClean="0">
                            <a:latin typeface="Cambria Math" panose="02040503050406030204" pitchFamily="18" charset="0"/>
                          </a:rPr>
                          <m:t>𝒔</m:t>
                        </m:r>
                      </m:e>
                      <m:sub>
                        <m:r>
                          <a:rPr lang="en-US" altLang="zh-CN" i="1" smtClean="0">
                            <a:latin typeface="Cambria Math" panose="02040503050406030204" pitchFamily="18" charset="0"/>
                          </a:rPr>
                          <m:t>𝒌</m:t>
                        </m:r>
                        <m:r>
                          <a:rPr lang="en-US" altLang="zh-CN" i="1" smtClean="0">
                            <a:latin typeface="Cambria Math" panose="02040503050406030204" pitchFamily="18" charset="0"/>
                          </a:rPr>
                          <m:t>−</m:t>
                        </m:r>
                        <m:r>
                          <a:rPr lang="en-US" altLang="zh-CN" i="1" smtClean="0">
                            <a:latin typeface="Cambria Math" panose="02040503050406030204" pitchFamily="18" charset="0"/>
                          </a:rPr>
                          <m:t>𝟏</m:t>
                        </m:r>
                      </m:sub>
                      <m:sup>
                        <m:r>
                          <a:rPr lang="en-US" altLang="zh-CN" i="1">
                            <a:latin typeface="Cambria Math" panose="02040503050406030204" pitchFamily="18" charset="0"/>
                            <a:ea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𝒖</m:t>
                        </m:r>
                      </m:e>
                      <m:sub>
                        <m:r>
                          <a:rPr lang="en-US" altLang="zh-CN" i="1" smtClean="0">
                            <a:latin typeface="Cambria Math" panose="02040503050406030204" pitchFamily="18" charset="0"/>
                          </a:rPr>
                          <m:t>𝒌</m:t>
                        </m:r>
                        <m:r>
                          <a:rPr lang="en-US" altLang="zh-CN" i="1" smtClean="0">
                            <a:latin typeface="Cambria Math" panose="02040503050406030204" pitchFamily="18" charset="0"/>
                          </a:rPr>
                          <m:t>−</m:t>
                        </m:r>
                        <m:r>
                          <a:rPr lang="en-US" altLang="zh-CN" i="1">
                            <a:latin typeface="Cambria Math" panose="02040503050406030204" pitchFamily="18" charset="0"/>
                          </a:rPr>
                          <m:t>𝟏</m:t>
                        </m:r>
                      </m:sub>
                      <m:sup>
                        <m:r>
                          <a:rPr lang="en-US" altLang="zh-CN" i="1">
                            <a:latin typeface="Cambria Math" panose="02040503050406030204" pitchFamily="18" charset="0"/>
                            <a:ea typeface="Cambria Math" panose="02040503050406030204" pitchFamily="18" charset="0"/>
                          </a:rPr>
                          <m:t>∗</m:t>
                        </m:r>
                      </m:sup>
                    </m:sSubSup>
                    <m:r>
                      <a:rPr lang="en-US" altLang="zh-CN" sz="1800" i="1">
                        <a:latin typeface="Cambria Math" panose="02040503050406030204" pitchFamily="18" charset="0"/>
                      </a:rPr>
                      <m:t>)</m:t>
                    </m:r>
                  </m:oMath>
                </a14:m>
                <a:r>
                  <a:rPr lang="zh-CN" altLang="en-US" dirty="0" smtClean="0">
                    <a:latin typeface="+mn-ea"/>
                    <a:ea typeface="+mn-ea"/>
                  </a:rPr>
                  <a:t>为起点的</a:t>
                </a:r>
                <a:r>
                  <a:rPr lang="en-US" altLang="zh-CN" i="1" dirty="0">
                    <a:latin typeface="Times New Roman" panose="02020603050405020304" pitchFamily="18" charset="0"/>
                    <a:cs typeface="Times New Roman" panose="02020603050405020304" pitchFamily="18" charset="0"/>
                  </a:rPr>
                  <a:t>k</a:t>
                </a:r>
                <a:r>
                  <a:rPr lang="zh-CN" altLang="en-US" dirty="0" smtClean="0">
                    <a:latin typeface="+mn-ea"/>
                    <a:ea typeface="+mn-ea"/>
                  </a:rPr>
                  <a:t>到</a:t>
                </a:r>
                <a:r>
                  <a:rPr lang="en-US" altLang="zh-CN" i="1" dirty="0">
                    <a:latin typeface="Times New Roman" panose="02020603050405020304" pitchFamily="18" charset="0"/>
                    <a:cs typeface="Times New Roman" panose="02020603050405020304" pitchFamily="18" charset="0"/>
                  </a:rPr>
                  <a:t>n-1</a:t>
                </a:r>
                <a:r>
                  <a:rPr lang="zh-CN" altLang="en-US" dirty="0" smtClean="0">
                    <a:latin typeface="+mn-ea"/>
                    <a:ea typeface="+mn-ea"/>
                  </a:rPr>
                  <a:t>子过程来说，必是最优策略（注意：</a:t>
                </a:r>
                <a:r>
                  <a:rPr lang="en-US" altLang="zh-CN" i="1" dirty="0">
                    <a:latin typeface="Times New Roman" panose="02020603050405020304" pitchFamily="18" charset="0"/>
                    <a:cs typeface="Times New Roman" panose="02020603050405020304" pitchFamily="18" charset="0"/>
                  </a:rPr>
                  <a:t>k</a:t>
                </a:r>
                <a:r>
                  <a:rPr lang="zh-CN" altLang="en-US" dirty="0" smtClean="0">
                    <a:latin typeface="+mn-ea"/>
                    <a:ea typeface="+mn-ea"/>
                  </a:rPr>
                  <a:t>阶段状态</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𝒔</m:t>
                        </m:r>
                      </m:e>
                      <m:sub>
                        <m:r>
                          <a:rPr lang="en-US" altLang="zh-CN" i="1">
                            <a:latin typeface="Cambria Math" panose="02040503050406030204" pitchFamily="18" charset="0"/>
                          </a:rPr>
                          <m:t>𝒌</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latin typeface="+mn-ea"/>
                    <a:ea typeface="+mn-ea"/>
                  </a:rPr>
                  <a:t>是由</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𝒔</m:t>
                        </m:r>
                      </m:e>
                      <m:sub>
                        <m:r>
                          <a:rPr lang="en-US" altLang="zh-CN" sz="1800" i="1">
                            <a:latin typeface="Cambria Math" panose="02040503050406030204" pitchFamily="18" charset="0"/>
                          </a:rPr>
                          <m:t>𝟎</m:t>
                        </m:r>
                      </m:sub>
                    </m:sSub>
                  </m:oMath>
                </a14:m>
                <a:r>
                  <a:rPr lang="zh-CN" altLang="en-US" dirty="0" smtClean="0">
                    <a:latin typeface="+mn-ea"/>
                    <a:ea typeface="+mn-ea"/>
                  </a:rPr>
                  <a:t>和</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𝒑</m:t>
                        </m:r>
                      </m:e>
                      <m:sub>
                        <m:r>
                          <a:rPr lang="en-US" altLang="zh-CN" i="1">
                            <a:latin typeface="Cambria Math" panose="02040503050406030204" pitchFamily="18" charset="0"/>
                          </a:rPr>
                          <m:t>𝟎</m:t>
                        </m:r>
                        <m:r>
                          <a:rPr lang="en-US" altLang="zh-CN" i="1">
                            <a:latin typeface="Cambria Math" panose="02040503050406030204" pitchFamily="18" charset="0"/>
                          </a:rPr>
                          <m:t>,</m:t>
                        </m:r>
                        <m:r>
                          <a:rPr lang="en-US" altLang="zh-CN" i="1" smtClean="0">
                            <a:latin typeface="Cambria Math" panose="02040503050406030204" pitchFamily="18" charset="0"/>
                          </a:rPr>
                          <m:t>𝒌</m:t>
                        </m:r>
                        <m:r>
                          <a:rPr lang="en-US" altLang="zh-CN" i="1">
                            <a:latin typeface="Cambria Math" panose="02040503050406030204" pitchFamily="18" charset="0"/>
                          </a:rPr>
                          <m:t>−</m:t>
                        </m:r>
                        <m:r>
                          <a:rPr lang="en-US" altLang="zh-CN" i="1">
                            <a:latin typeface="Cambria Math" panose="02040503050406030204" pitchFamily="18" charset="0"/>
                          </a:rPr>
                          <m:t>𝟏</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latin typeface="+mn-ea"/>
                    <a:ea typeface="+mn-ea"/>
                  </a:rPr>
                  <a:t>所确定的）。</a:t>
                </a:r>
                <a:endParaRPr lang="en-US" altLang="zh-CN" dirty="0">
                  <a:latin typeface="+mn-ea"/>
                  <a:ea typeface="+mn-ea"/>
                </a:endParaRPr>
              </a:p>
            </p:txBody>
          </p:sp>
        </mc:Choice>
        <mc:Fallback xmlns="">
          <p:sp>
            <p:nvSpPr>
              <p:cNvPr id="8" name="内容占位符 1"/>
              <p:cNvSpPr txBox="1">
                <a:spLocks noRot="1" noChangeAspect="1" noMove="1" noResize="1" noEditPoints="1" noAdjustHandles="1" noChangeArrowheads="1" noChangeShapeType="1" noTextEdit="1"/>
              </p:cNvSpPr>
              <p:nvPr/>
            </p:nvSpPr>
            <p:spPr bwMode="auto">
              <a:xfrm>
                <a:off x="566707" y="4725144"/>
                <a:ext cx="8280920" cy="1458348"/>
              </a:xfrm>
              <a:prstGeom prst="rect">
                <a:avLst/>
              </a:prstGeom>
              <a:blipFill>
                <a:blip r:embed="rId7"/>
                <a:stretch>
                  <a:fillRect l="-147" t="-2929" b="-543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a:xfrm>
            <a:off x="1270422" y="478731"/>
            <a:ext cx="6830652" cy="576163"/>
          </a:xfrm>
        </p:spPr>
        <p:txBody>
          <a:bodyPr/>
          <a:lstStyle/>
          <a:p>
            <a:pPr eaLnBrk="1" hangingPunct="1"/>
            <a:r>
              <a:rPr lang="en-US" altLang="zh-CN" dirty="0"/>
              <a:t>8.3.1 </a:t>
            </a:r>
            <a:r>
              <a:rPr lang="zh-CN" altLang="en-US" dirty="0"/>
              <a:t>逆推解法</a:t>
            </a:r>
          </a:p>
        </p:txBody>
      </p:sp>
      <p:sp>
        <p:nvSpPr>
          <p:cNvPr id="2" name="内容占位符 1"/>
          <p:cNvSpPr>
            <a:spLocks noGrp="1"/>
          </p:cNvSpPr>
          <p:nvPr>
            <p:ph idx="1"/>
          </p:nvPr>
        </p:nvSpPr>
        <p:spPr>
          <a:xfrm>
            <a:off x="539552" y="1337268"/>
            <a:ext cx="8280920" cy="4093428"/>
          </a:xfrm>
        </p:spPr>
        <p:txBody>
          <a:bodyPr/>
          <a:lstStyle/>
          <a:p>
            <a:r>
              <a:rPr lang="zh-CN" altLang="en-US" dirty="0"/>
              <a:t>逆推</a:t>
            </a:r>
            <a:r>
              <a:rPr lang="zh-CN" altLang="en-US" dirty="0" smtClean="0"/>
              <a:t>法</a:t>
            </a:r>
            <a:endParaRPr lang="en-US" altLang="zh-CN" dirty="0" smtClean="0"/>
          </a:p>
          <a:p>
            <a:pPr lvl="1"/>
            <a:r>
              <a:rPr lang="zh-CN" altLang="en-US" dirty="0" smtClean="0"/>
              <a:t>定义：从实际决策的</a:t>
            </a:r>
            <a:r>
              <a:rPr lang="zh-CN" altLang="en-US" dirty="0" smtClean="0">
                <a:solidFill>
                  <a:srgbClr val="FF0000"/>
                </a:solidFill>
              </a:rPr>
              <a:t>最后</a:t>
            </a:r>
            <a:r>
              <a:rPr lang="zh-CN" altLang="en-US" dirty="0" smtClean="0"/>
              <a:t>阶段向</a:t>
            </a:r>
            <a:r>
              <a:rPr lang="zh-CN" altLang="en-US" dirty="0" smtClean="0">
                <a:solidFill>
                  <a:srgbClr val="FF0000"/>
                </a:solidFill>
              </a:rPr>
              <a:t>最初</a:t>
            </a:r>
            <a:r>
              <a:rPr lang="zh-CN" altLang="en-US" dirty="0" smtClean="0"/>
              <a:t>阶段进行递推来寻找最优解（适用于</a:t>
            </a:r>
            <a:r>
              <a:rPr lang="zh-CN" altLang="en-US" dirty="0" smtClean="0">
                <a:solidFill>
                  <a:srgbClr val="FF0000"/>
                </a:solidFill>
              </a:rPr>
              <a:t>初始状态给定</a:t>
            </a:r>
            <a:r>
              <a:rPr lang="zh-CN" altLang="en-US" dirty="0" smtClean="0"/>
              <a:t>）</a:t>
            </a:r>
            <a:endParaRPr lang="en-US" altLang="zh-CN" dirty="0" smtClean="0"/>
          </a:p>
          <a:p>
            <a:pPr lvl="1"/>
            <a:r>
              <a:rPr lang="zh-CN" altLang="en-US" dirty="0" smtClean="0"/>
              <a:t>模型</a:t>
            </a:r>
            <a:r>
              <a:rPr lang="en-US" altLang="zh-CN" dirty="0" smtClean="0"/>
              <a:t>:</a:t>
            </a:r>
          </a:p>
          <a:p>
            <a:pPr lvl="1"/>
            <a:endParaRPr lang="en-US" altLang="zh-CN" dirty="0"/>
          </a:p>
          <a:p>
            <a:pPr lvl="1"/>
            <a:endParaRPr lang="en-US" altLang="zh-CN" dirty="0" smtClean="0"/>
          </a:p>
          <a:p>
            <a:pPr lvl="1"/>
            <a:endParaRPr lang="en-US" altLang="zh-CN" dirty="0"/>
          </a:p>
          <a:p>
            <a:pPr lvl="1"/>
            <a:endParaRPr lang="en-US" altLang="zh-CN" dirty="0" smtClean="0"/>
          </a:p>
          <a:p>
            <a:pPr lvl="1"/>
            <a:r>
              <a:rPr lang="zh-CN" altLang="en-US" dirty="0"/>
              <a:t>过程</a:t>
            </a:r>
            <a:r>
              <a:rPr lang="zh-CN" altLang="en-US" dirty="0" smtClean="0"/>
              <a:t>：</a:t>
            </a:r>
            <a:endParaRPr lang="en-US" altLang="zh-CN" dirty="0" smtClean="0"/>
          </a:p>
          <a:p>
            <a:pPr lvl="1"/>
            <a:r>
              <a:rPr lang="zh-CN" altLang="en-US" dirty="0"/>
              <a:t>示例：</a:t>
            </a:r>
          </a:p>
          <a:p>
            <a:pPr lvl="1"/>
            <a:endParaRPr lang="zh-CN" altLang="en-US" dirty="0"/>
          </a:p>
        </p:txBody>
      </p:sp>
      <p:sp>
        <p:nvSpPr>
          <p:cNvPr id="27651"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109096D-B28C-4571-8A1C-D11AB4B73E64}" type="slidenum">
              <a:rPr lang="en-US" altLang="zh-CN" sz="1000"/>
              <a:pPr>
                <a:spcBef>
                  <a:spcPct val="0"/>
                </a:spcBef>
                <a:buClrTx/>
                <a:buSzTx/>
                <a:buFontTx/>
                <a:buNone/>
              </a:pPr>
              <a:t>26</a:t>
            </a:fld>
            <a:endParaRPr lang="en-US" altLang="zh-CN" sz="1000"/>
          </a:p>
        </p:txBody>
      </p:sp>
      <p:sp>
        <p:nvSpPr>
          <p:cNvPr id="27653"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2117041538"/>
                  </p:ext>
                </p:extLst>
              </p:nvPr>
            </p:nvGraphicFramePr>
            <p:xfrm>
              <a:off x="755576" y="2845373"/>
              <a:ext cx="8271725" cy="1214565"/>
            </p:xfrm>
            <a:graphic>
              <a:graphicData uri="http://schemas.openxmlformats.org/drawingml/2006/table">
                <a:tbl>
                  <a:tblPr firstRow="1" bandRow="1">
                    <a:tableStyleId>{5C22544A-7EE6-4342-B048-85BDC9FD1C3A}</a:tableStyleId>
                  </a:tblPr>
                  <a:tblGrid>
                    <a:gridCol w="4081511">
                      <a:extLst>
                        <a:ext uri="{9D8B030D-6E8A-4147-A177-3AD203B41FA5}">
                          <a16:colId xmlns:a16="http://schemas.microsoft.com/office/drawing/2014/main" val="1705552234"/>
                        </a:ext>
                      </a:extLst>
                    </a:gridCol>
                    <a:gridCol w="4190214">
                      <a:extLst>
                        <a:ext uri="{9D8B030D-6E8A-4147-A177-3AD203B41FA5}">
                          <a16:colId xmlns:a16="http://schemas.microsoft.com/office/drawing/2014/main" val="889695860"/>
                        </a:ext>
                      </a:extLst>
                    </a:gridCol>
                  </a:tblGrid>
                  <a:tr h="9041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 </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rPr>
                                <m:t>)</m:t>
                              </m:r>
                            </m:oMath>
                          </a14:m>
                          <a:r>
                            <a:rPr lang="en-US" altLang="zh-CN" sz="1600" b="1" dirty="0">
                              <a:solidFill>
                                <a:schemeClr val="tx1"/>
                              </a:solidFill>
                            </a:rPr>
                            <a:t>=</a:t>
                          </a:r>
                          <a14:m>
                            <m:oMath xmlns:m="http://schemas.openxmlformats.org/officeDocument/2006/math">
                              <m:limLow>
                                <m:limLowPr>
                                  <m:ctrlPr>
                                    <a:rPr lang="en-US" altLang="zh-CN" sz="1600" b="1" i="1">
                                      <a:solidFill>
                                        <a:schemeClr val="tx1"/>
                                      </a:solidFill>
                                      <a:latin typeface="Cambria Math" panose="02040503050406030204" pitchFamily="18" charset="0"/>
                                    </a:rPr>
                                  </m:ctrlPr>
                                </m:limLowPr>
                                <m:e>
                                  <m:r>
                                    <a:rPr lang="en-US" altLang="zh-CN" sz="1600" b="1" i="1">
                                      <a:solidFill>
                                        <a:schemeClr val="tx1"/>
                                      </a:solidFill>
                                      <a:latin typeface="Cambria Math" panose="02040503050406030204" pitchFamily="18" charset="0"/>
                                    </a:rPr>
                                    <m:t>𝒐𝒑𝒕</m:t>
                                  </m:r>
                                </m:e>
                                <m:lim>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𝒙</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ea typeface="Cambria Math" panose="02040503050406030204" pitchFamily="18" charset="0"/>
                                    </a:rPr>
                                    <m:t>∈</m:t>
                                  </m:r>
                                  <m:sSub>
                                    <m:sSubPr>
                                      <m:ctrlPr>
                                        <a:rPr lang="en-US" altLang="zh-CN" sz="1600" b="1" i="1">
                                          <a:solidFill>
                                            <a:schemeClr val="tx1"/>
                                          </a:solidFill>
                                          <a:latin typeface="Cambria Math" panose="02040503050406030204" pitchFamily="18" charset="0"/>
                                          <a:ea typeface="Cambria Math" panose="02040503050406030204" pitchFamily="18" charset="0"/>
                                        </a:rPr>
                                      </m:ctrlPr>
                                    </m:sSubPr>
                                    <m:e>
                                      <m:r>
                                        <a:rPr lang="en-US" altLang="zh-CN" sz="1600" b="1" i="1">
                                          <a:solidFill>
                                            <a:schemeClr val="tx1"/>
                                          </a:solidFill>
                                          <a:latin typeface="Cambria Math" panose="02040503050406030204" pitchFamily="18" charset="0"/>
                                          <a:ea typeface="Cambria Math" panose="02040503050406030204" pitchFamily="18" charset="0"/>
                                        </a:rPr>
                                        <m:t>𝑫</m:t>
                                      </m:r>
                                    </m:e>
                                    <m:sub>
                                      <m:r>
                                        <a:rPr lang="en-US" altLang="zh-CN" sz="1600" b="1" i="1">
                                          <a:solidFill>
                                            <a:schemeClr val="tx1"/>
                                          </a:solidFill>
                                          <a:latin typeface="Cambria Math" panose="02040503050406030204" pitchFamily="18" charset="0"/>
                                          <a:ea typeface="Cambria Math" panose="02040503050406030204" pitchFamily="18" charset="0"/>
                                        </a:rPr>
                                        <m:t>𝒌</m:t>
                                      </m:r>
                                    </m:sub>
                                  </m:sSub>
                                  <m:r>
                                    <a:rPr lang="en-US" altLang="zh-CN" sz="1600" b="1" i="1">
                                      <a:solidFill>
                                        <a:schemeClr val="tx1"/>
                                      </a:solidFill>
                                      <a:latin typeface="Cambria Math" panose="02040503050406030204" pitchFamily="18" charset="0"/>
                                      <a:ea typeface="Cambria Math" panose="02040503050406030204" pitchFamily="18" charset="0"/>
                                    </a:rPr>
                                    <m:t>(</m:t>
                                  </m:r>
                                  <m:sSub>
                                    <m:sSubPr>
                                      <m:ctrlPr>
                                        <a:rPr lang="en-US" altLang="zh-CN" sz="1600" b="1" i="1">
                                          <a:solidFill>
                                            <a:schemeClr val="tx1"/>
                                          </a:solidFill>
                                          <a:latin typeface="Cambria Math" panose="02040503050406030204" pitchFamily="18" charset="0"/>
                                          <a:ea typeface="Cambria Math" panose="02040503050406030204" pitchFamily="18" charset="0"/>
                                        </a:rPr>
                                      </m:ctrlPr>
                                    </m:sSubPr>
                                    <m:e>
                                      <m:r>
                                        <a:rPr lang="en-US" altLang="zh-CN" sz="1600" b="1" i="1">
                                          <a:solidFill>
                                            <a:schemeClr val="tx1"/>
                                          </a:solidFill>
                                          <a:latin typeface="Cambria Math" panose="02040503050406030204" pitchFamily="18" charset="0"/>
                                          <a:ea typeface="Cambria Math" panose="02040503050406030204" pitchFamily="18" charset="0"/>
                                        </a:rPr>
                                        <m:t>𝒔</m:t>
                                      </m:r>
                                    </m:e>
                                    <m:sub>
                                      <m:r>
                                        <a:rPr lang="en-US" altLang="zh-CN" sz="1600" b="1" i="1">
                                          <a:solidFill>
                                            <a:schemeClr val="tx1"/>
                                          </a:solidFill>
                                          <a:latin typeface="Cambria Math" panose="02040503050406030204" pitchFamily="18" charset="0"/>
                                          <a:ea typeface="Cambria Math" panose="02040503050406030204" pitchFamily="18" charset="0"/>
                                        </a:rPr>
                                        <m:t>𝒌</m:t>
                                      </m:r>
                                    </m:sub>
                                  </m:sSub>
                                  <m:r>
                                    <a:rPr lang="en-US" altLang="zh-CN" sz="1600" b="1" i="1">
                                      <a:solidFill>
                                        <a:schemeClr val="tx1"/>
                                      </a:solidFill>
                                      <a:latin typeface="Cambria Math" panose="02040503050406030204" pitchFamily="18" charset="0"/>
                                      <a:ea typeface="Cambria Math" panose="02040503050406030204" pitchFamily="18" charset="0"/>
                                    </a:rPr>
                                    <m:t>)</m:t>
                                  </m:r>
                                </m:lim>
                              </m:limLow>
                              <m:r>
                                <a:rPr lang="en-US" altLang="zh-CN" sz="1600" b="1" i="0"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𝒗</m:t>
                                  </m:r>
                                </m:e>
                                <m:sub>
                                  <m:r>
                                    <a:rPr lang="en-US" altLang="zh-CN" sz="1600" b="1" i="1" smtClean="0">
                                      <a:solidFill>
                                        <a:schemeClr val="tx1"/>
                                      </a:solidFill>
                                      <a:latin typeface="Cambria Math" panose="02040503050406030204" pitchFamily="18" charset="0"/>
                                    </a:rPr>
                                    <m:t>𝒌</m:t>
                                  </m:r>
                                </m:sub>
                              </m:sSub>
                              <m:d>
                                <m:dPr>
                                  <m:ctrlPr>
                                    <a:rPr lang="en-US" altLang="zh-CN" sz="1600" b="1" i="1" smtClean="0">
                                      <a:solidFill>
                                        <a:schemeClr val="tx1"/>
                                      </a:solidFill>
                                      <a:latin typeface="Cambria Math" panose="02040503050406030204" pitchFamily="18" charset="0"/>
                                    </a:rPr>
                                  </m:ctrlPr>
                                </m:dPr>
                                <m:e>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𝒔</m:t>
                                      </m:r>
                                    </m:e>
                                    <m:sub>
                                      <m:r>
                                        <a:rPr lang="en-US" altLang="zh-CN" sz="1600" b="1" i="1" smtClean="0">
                                          <a:solidFill>
                                            <a:schemeClr val="tx1"/>
                                          </a:solidFill>
                                          <a:latin typeface="Cambria Math" panose="02040503050406030204" pitchFamily="18" charset="0"/>
                                        </a:rPr>
                                        <m:t>𝒌</m:t>
                                      </m:r>
                                    </m:sub>
                                  </m:sSub>
                                  <m:r>
                                    <a:rPr lang="en-US" altLang="zh-CN" sz="1600" b="1" i="1"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𝒙</m:t>
                                      </m:r>
                                    </m:e>
                                    <m:sub>
                                      <m:r>
                                        <a:rPr lang="en-US" altLang="zh-CN" sz="1600" b="1" i="1" smtClean="0">
                                          <a:solidFill>
                                            <a:schemeClr val="tx1"/>
                                          </a:solidFill>
                                          <a:latin typeface="Cambria Math" panose="02040503050406030204" pitchFamily="18" charset="0"/>
                                        </a:rPr>
                                        <m:t>𝒌</m:t>
                                      </m:r>
                                    </m:sub>
                                  </m:sSub>
                                </m:e>
                              </m:d>
                              <m:r>
                                <a:rPr lang="en-US" altLang="zh-CN" sz="1600" b="1" i="1"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r>
                                    <a:rPr lang="en-US" altLang="zh-CN" sz="1600" b="1" i="1" smtClean="0">
                                      <a:solidFill>
                                        <a:schemeClr val="tx1"/>
                                      </a:solidFill>
                                      <a:latin typeface="Cambria Math" panose="02040503050406030204" pitchFamily="18" charset="0"/>
                                    </a:rPr>
                                    <m:t> </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sub>
                              </m:sSub>
                              <m:r>
                                <a:rPr lang="en-US" altLang="zh-CN" sz="1600" b="1" i="1">
                                  <a:solidFill>
                                    <a:schemeClr val="tx1"/>
                                  </a:solidFill>
                                  <a:latin typeface="Cambria Math" panose="02040503050406030204" pitchFamily="18" charset="0"/>
                                </a:rPr>
                                <m:t>)</m:t>
                              </m:r>
                              <m:r>
                                <a:rPr lang="en-US" altLang="zh-CN" sz="1600" b="1" i="0" smtClean="0">
                                  <a:solidFill>
                                    <a:schemeClr val="tx1"/>
                                  </a:solidFill>
                                  <a:latin typeface="Cambria Math" panose="02040503050406030204" pitchFamily="18" charset="0"/>
                                </a:rPr>
                                <m:t>}</m:t>
                              </m:r>
                            </m:oMath>
                          </a14:m>
                          <a:r>
                            <a:rPr lang="en-US" altLang="zh-CN" sz="1600" b="1" dirty="0" smtClean="0">
                              <a:solidFill>
                                <a:schemeClr val="tx1"/>
                              </a:solidFill>
                            </a:rPr>
                            <a: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1600" b="1" i="1" dirty="0" smtClean="0">
                              <a:solidFill>
                                <a:schemeClr val="tx1"/>
                              </a:solidFill>
                              <a:latin typeface="Times New Roman" panose="02020603050405020304" pitchFamily="18" charset="0"/>
                              <a:cs typeface="Times New Roman" panose="02020603050405020304" pitchFamily="18" charset="0"/>
                            </a:rPr>
                            <a:t>k</a:t>
                          </a:r>
                          <a:r>
                            <a:rPr lang="en-US" altLang="zh-CN" sz="1600" b="1" dirty="0" smtClean="0">
                              <a:solidFill>
                                <a:schemeClr val="tx1"/>
                              </a:solidFill>
                              <a:latin typeface="Times New Roman" panose="02020603050405020304" pitchFamily="18" charset="0"/>
                              <a:cs typeface="Times New Roman" panose="02020603050405020304" pitchFamily="18" charset="0"/>
                            </a:rPr>
                            <a:t>=</a:t>
                          </a:r>
                          <a:r>
                            <a:rPr lang="en-US" altLang="zh-CN" sz="1600" b="1" i="1" dirty="0" smtClean="0">
                              <a:solidFill>
                                <a:schemeClr val="tx1"/>
                              </a:solidFill>
                              <a:latin typeface="Times New Roman" panose="02020603050405020304" pitchFamily="18" charset="0"/>
                              <a:cs typeface="Times New Roman" panose="02020603050405020304" pitchFamily="18" charset="0"/>
                            </a:rPr>
                            <a:t>n,n-1,</a:t>
                          </a:r>
                          <a:r>
                            <a:rPr lang="en-US" altLang="zh-CN" sz="1600" b="1" dirty="0" smtClean="0">
                              <a:solidFill>
                                <a:schemeClr val="tx1"/>
                              </a:solidFill>
                            </a:rPr>
                            <a:t> </a:t>
                          </a:r>
                          <a14:m>
                            <m:oMath xmlns:m="http://schemas.openxmlformats.org/officeDocument/2006/math">
                              <m:r>
                                <a:rPr lang="en-US" altLang="zh-CN" sz="1600" b="1" i="1">
                                  <a:solidFill>
                                    <a:schemeClr val="tx1"/>
                                  </a:solidFill>
                                  <a:latin typeface="Cambria Math" panose="02040503050406030204" pitchFamily="18" charset="0"/>
                                </a:rPr>
                                <m:t>…</m:t>
                              </m:r>
                            </m:oMath>
                          </a14:m>
                          <a:r>
                            <a:rPr lang="en-US" altLang="zh-CN" sz="1600" b="1" dirty="0" smtClean="0">
                              <a:solidFill>
                                <a:schemeClr val="tx1"/>
                              </a:solidFill>
                              <a:latin typeface="Times New Roman" panose="02020603050405020304" pitchFamily="18" charset="0"/>
                              <a:cs typeface="Times New Roman" panose="02020603050405020304" pitchFamily="18" charset="0"/>
                            </a:rPr>
                            <a:t>,1</a:t>
                          </a:r>
                          <a:endParaRPr lang="en-US" altLang="zh-CN" sz="1600" b="1" i="1" dirty="0" smtClean="0">
                            <a:solidFill>
                              <a:schemeClr val="tx1"/>
                            </a:solidFill>
                            <a:latin typeface="Times New Roman" panose="02020603050405020304" pitchFamily="18" charset="0"/>
                            <a:cs typeface="Times New Roman" panose="02020603050405020304" pitchFamily="18" charset="0"/>
                          </a:endParaRPr>
                        </a:p>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smtClean="0">
                                      <a:solidFill>
                                        <a:schemeClr val="tx1"/>
                                      </a:solidFill>
                                      <a:latin typeface="Cambria Math" panose="02040503050406030204" pitchFamily="18" charset="0"/>
                                    </a:rPr>
                                    <m:t>𝒏</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r>
                                    <a:rPr lang="en-US" altLang="zh-CN" sz="1600" b="1" i="1" smtClean="0">
                                      <a:solidFill>
                                        <a:schemeClr val="tx1"/>
                                      </a:solidFill>
                                      <a:latin typeface="Cambria Math" panose="02040503050406030204" pitchFamily="18" charset="0"/>
                                    </a:rPr>
                                    <m:t> </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smtClean="0">
                                      <a:solidFill>
                                        <a:schemeClr val="tx1"/>
                                      </a:solidFill>
                                      <a:latin typeface="Cambria Math" panose="02040503050406030204" pitchFamily="18" charset="0"/>
                                    </a:rPr>
                                    <m:t>𝒏</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sub>
                              </m:sSub>
                              <m:r>
                                <a:rPr lang="en-US" altLang="zh-CN" sz="1600" b="1" i="1">
                                  <a:solidFill>
                                    <a:schemeClr val="tx1"/>
                                  </a:solidFill>
                                  <a:latin typeface="Cambria Math" panose="02040503050406030204" pitchFamily="18" charset="0"/>
                                </a:rPr>
                                <m:t>)</m:t>
                              </m:r>
                            </m:oMath>
                          </a14:m>
                          <a:r>
                            <a:rPr lang="en-US" altLang="zh-CN" sz="1600" b="1" dirty="0">
                              <a:solidFill>
                                <a:schemeClr val="tx1"/>
                              </a:solidFill>
                            </a:rPr>
                            <a:t>=</a:t>
                          </a:r>
                          <a:r>
                            <a:rPr lang="en-US" altLang="zh-CN" sz="1600" b="1" dirty="0" smtClean="0">
                              <a:solidFill>
                                <a:schemeClr val="tx1"/>
                              </a:solidFill>
                            </a:rPr>
                            <a:t>0</a:t>
                          </a:r>
                        </a:p>
                        <a:p>
                          <a:pPr marL="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r>
                                      <a:rPr lang="en-US" altLang="zh-CN" sz="1600" b="1" i="1" smtClean="0">
                                        <a:solidFill>
                                          <a:schemeClr val="tx1"/>
                                        </a:solidFill>
                                        <a:latin typeface="Cambria Math" panose="02040503050406030204" pitchFamily="18" charset="0"/>
                                      </a:rPr>
                                      <m:t> </m:t>
                                    </m:r>
                                  </m:sub>
                                </m:sSub>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𝑻</m:t>
                                </m:r>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sub>
                                </m:sSub>
                                <m:r>
                                  <a:rPr lang="en-US" altLang="zh-CN" sz="1600" b="1" i="1"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𝒙</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rPr>
                                  <m:t>)</m:t>
                                </m:r>
                              </m:oMath>
                            </m:oMathPara>
                          </a14:m>
                          <a:endParaRPr lang="zh-CN" altLang="en-US" dirty="0">
                            <a:solidFill>
                              <a:schemeClr val="tx1"/>
                            </a:solidFill>
                          </a:endParaRPr>
                        </a:p>
                      </a:txBody>
                      <a:tcPr>
                        <a:solidFill>
                          <a:schemeClr val="tx1">
                            <a:lumMod val="10000"/>
                            <a:lumOff val="9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 </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rPr>
                                <m:t>)</m:t>
                              </m:r>
                            </m:oMath>
                          </a14:m>
                          <a:r>
                            <a:rPr lang="en-US" altLang="zh-CN" sz="1600" b="1" dirty="0">
                              <a:solidFill>
                                <a:schemeClr val="tx1"/>
                              </a:solidFill>
                            </a:rPr>
                            <a:t>=</a:t>
                          </a:r>
                          <a14:m>
                            <m:oMath xmlns:m="http://schemas.openxmlformats.org/officeDocument/2006/math">
                              <m:limLow>
                                <m:limLowPr>
                                  <m:ctrlPr>
                                    <a:rPr lang="en-US" altLang="zh-CN" sz="1600" b="1" i="1">
                                      <a:solidFill>
                                        <a:schemeClr val="tx1"/>
                                      </a:solidFill>
                                      <a:latin typeface="Cambria Math" panose="02040503050406030204" pitchFamily="18" charset="0"/>
                                    </a:rPr>
                                  </m:ctrlPr>
                                </m:limLowPr>
                                <m:e>
                                  <m:r>
                                    <a:rPr lang="en-US" altLang="zh-CN" sz="1600" b="1" i="1">
                                      <a:solidFill>
                                        <a:schemeClr val="tx1"/>
                                      </a:solidFill>
                                      <a:latin typeface="Cambria Math" panose="02040503050406030204" pitchFamily="18" charset="0"/>
                                    </a:rPr>
                                    <m:t>𝒐𝒑𝒕</m:t>
                                  </m:r>
                                </m:e>
                                <m:lim>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𝒙</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ea typeface="Cambria Math" panose="02040503050406030204" pitchFamily="18" charset="0"/>
                                    </a:rPr>
                                    <m:t>∈</m:t>
                                  </m:r>
                                  <m:sSub>
                                    <m:sSubPr>
                                      <m:ctrlPr>
                                        <a:rPr lang="en-US" altLang="zh-CN" sz="1600" b="1" i="1">
                                          <a:solidFill>
                                            <a:schemeClr val="tx1"/>
                                          </a:solidFill>
                                          <a:latin typeface="Cambria Math" panose="02040503050406030204" pitchFamily="18" charset="0"/>
                                          <a:ea typeface="Cambria Math" panose="02040503050406030204" pitchFamily="18" charset="0"/>
                                        </a:rPr>
                                      </m:ctrlPr>
                                    </m:sSubPr>
                                    <m:e>
                                      <m:r>
                                        <a:rPr lang="en-US" altLang="zh-CN" sz="1600" b="1" i="1">
                                          <a:solidFill>
                                            <a:schemeClr val="tx1"/>
                                          </a:solidFill>
                                          <a:latin typeface="Cambria Math" panose="02040503050406030204" pitchFamily="18" charset="0"/>
                                          <a:ea typeface="Cambria Math" panose="02040503050406030204" pitchFamily="18" charset="0"/>
                                        </a:rPr>
                                        <m:t>𝑫</m:t>
                                      </m:r>
                                    </m:e>
                                    <m:sub>
                                      <m:r>
                                        <a:rPr lang="en-US" altLang="zh-CN" sz="1600" b="1" i="1">
                                          <a:solidFill>
                                            <a:schemeClr val="tx1"/>
                                          </a:solidFill>
                                          <a:latin typeface="Cambria Math" panose="02040503050406030204" pitchFamily="18" charset="0"/>
                                          <a:ea typeface="Cambria Math" panose="02040503050406030204" pitchFamily="18" charset="0"/>
                                        </a:rPr>
                                        <m:t>𝒌</m:t>
                                      </m:r>
                                    </m:sub>
                                  </m:sSub>
                                  <m:r>
                                    <a:rPr lang="en-US" altLang="zh-CN" sz="1600" b="1" i="1">
                                      <a:solidFill>
                                        <a:schemeClr val="tx1"/>
                                      </a:solidFill>
                                      <a:latin typeface="Cambria Math" panose="02040503050406030204" pitchFamily="18" charset="0"/>
                                      <a:ea typeface="Cambria Math" panose="02040503050406030204" pitchFamily="18" charset="0"/>
                                    </a:rPr>
                                    <m:t>(</m:t>
                                  </m:r>
                                  <m:sSub>
                                    <m:sSubPr>
                                      <m:ctrlPr>
                                        <a:rPr lang="en-US" altLang="zh-CN" sz="1600" b="1" i="1">
                                          <a:solidFill>
                                            <a:schemeClr val="tx1"/>
                                          </a:solidFill>
                                          <a:latin typeface="Cambria Math" panose="02040503050406030204" pitchFamily="18" charset="0"/>
                                          <a:ea typeface="Cambria Math" panose="02040503050406030204" pitchFamily="18" charset="0"/>
                                        </a:rPr>
                                      </m:ctrlPr>
                                    </m:sSubPr>
                                    <m:e>
                                      <m:r>
                                        <a:rPr lang="en-US" altLang="zh-CN" sz="1600" b="1" i="1">
                                          <a:solidFill>
                                            <a:schemeClr val="tx1"/>
                                          </a:solidFill>
                                          <a:latin typeface="Cambria Math" panose="02040503050406030204" pitchFamily="18" charset="0"/>
                                          <a:ea typeface="Cambria Math" panose="02040503050406030204" pitchFamily="18" charset="0"/>
                                        </a:rPr>
                                        <m:t>𝒔</m:t>
                                      </m:r>
                                    </m:e>
                                    <m:sub>
                                      <m:r>
                                        <a:rPr lang="en-US" altLang="zh-CN" sz="1600" b="1" i="1">
                                          <a:solidFill>
                                            <a:schemeClr val="tx1"/>
                                          </a:solidFill>
                                          <a:latin typeface="Cambria Math" panose="02040503050406030204" pitchFamily="18" charset="0"/>
                                          <a:ea typeface="Cambria Math" panose="02040503050406030204" pitchFamily="18" charset="0"/>
                                        </a:rPr>
                                        <m:t>𝒌</m:t>
                                      </m:r>
                                    </m:sub>
                                  </m:sSub>
                                  <m:r>
                                    <a:rPr lang="en-US" altLang="zh-CN" sz="1600" b="1" i="1">
                                      <a:solidFill>
                                        <a:schemeClr val="tx1"/>
                                      </a:solidFill>
                                      <a:latin typeface="Cambria Math" panose="02040503050406030204" pitchFamily="18" charset="0"/>
                                      <a:ea typeface="Cambria Math" panose="02040503050406030204" pitchFamily="18" charset="0"/>
                                    </a:rPr>
                                    <m:t>)</m:t>
                                  </m:r>
                                </m:lim>
                              </m:limLow>
                              <m:r>
                                <a:rPr lang="en-US" altLang="zh-CN" sz="1600" b="1" i="0"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𝒗</m:t>
                                  </m:r>
                                </m:e>
                                <m:sub>
                                  <m:r>
                                    <a:rPr lang="en-US" altLang="zh-CN" sz="1600" b="1" i="1" smtClean="0">
                                      <a:solidFill>
                                        <a:schemeClr val="tx1"/>
                                      </a:solidFill>
                                      <a:latin typeface="Cambria Math" panose="02040503050406030204" pitchFamily="18" charset="0"/>
                                    </a:rPr>
                                    <m:t>𝒌</m:t>
                                  </m:r>
                                </m:sub>
                              </m:sSub>
                              <m:d>
                                <m:dPr>
                                  <m:ctrlPr>
                                    <a:rPr lang="en-US" altLang="zh-CN" sz="1600" b="1" i="1" smtClean="0">
                                      <a:solidFill>
                                        <a:schemeClr val="tx1"/>
                                      </a:solidFill>
                                      <a:latin typeface="Cambria Math" panose="02040503050406030204" pitchFamily="18" charset="0"/>
                                    </a:rPr>
                                  </m:ctrlPr>
                                </m:dPr>
                                <m:e>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𝒔</m:t>
                                      </m:r>
                                    </m:e>
                                    <m:sub>
                                      <m:r>
                                        <a:rPr lang="en-US" altLang="zh-CN" sz="1600" b="1" i="1" smtClean="0">
                                          <a:solidFill>
                                            <a:schemeClr val="tx1"/>
                                          </a:solidFill>
                                          <a:latin typeface="Cambria Math" panose="02040503050406030204" pitchFamily="18" charset="0"/>
                                        </a:rPr>
                                        <m:t>𝒌</m:t>
                                      </m:r>
                                    </m:sub>
                                  </m:sSub>
                                  <m:r>
                                    <a:rPr lang="en-US" altLang="zh-CN" sz="1600" b="1" i="1"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𝒙</m:t>
                                      </m:r>
                                    </m:e>
                                    <m:sub>
                                      <m:r>
                                        <a:rPr lang="en-US" altLang="zh-CN" sz="1600" b="1" i="1" smtClean="0">
                                          <a:solidFill>
                                            <a:schemeClr val="tx1"/>
                                          </a:solidFill>
                                          <a:latin typeface="Cambria Math" panose="02040503050406030204" pitchFamily="18" charset="0"/>
                                        </a:rPr>
                                        <m:t>𝒌</m:t>
                                      </m:r>
                                    </m:sub>
                                  </m:sSub>
                                </m:e>
                              </m:d>
                              <m:r>
                                <a:rPr lang="en-US" altLang="zh-CN" sz="1600" b="1" i="1" smtClean="0">
                                  <a:solidFill>
                                    <a:schemeClr val="tx1"/>
                                  </a:solidFill>
                                  <a:latin typeface="Cambria Math" panose="02040503050406030204" pitchFamily="18" charset="0"/>
                                  <a:ea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r>
                                    <a:rPr lang="en-US" altLang="zh-CN" sz="1600" b="1" i="1" smtClean="0">
                                      <a:solidFill>
                                        <a:schemeClr val="tx1"/>
                                      </a:solidFill>
                                      <a:latin typeface="Cambria Math" panose="02040503050406030204" pitchFamily="18" charset="0"/>
                                    </a:rPr>
                                    <m:t> </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sub>
                              </m:sSub>
                              <m:r>
                                <a:rPr lang="en-US" altLang="zh-CN" sz="1600" b="1" i="1">
                                  <a:solidFill>
                                    <a:schemeClr val="tx1"/>
                                  </a:solidFill>
                                  <a:latin typeface="Cambria Math" panose="02040503050406030204" pitchFamily="18" charset="0"/>
                                </a:rPr>
                                <m:t>)</m:t>
                              </m:r>
                              <m:r>
                                <a:rPr lang="en-US" altLang="zh-CN" sz="1600" b="1" i="0" smtClean="0">
                                  <a:solidFill>
                                    <a:schemeClr val="tx1"/>
                                  </a:solidFill>
                                  <a:latin typeface="Cambria Math" panose="02040503050406030204" pitchFamily="18" charset="0"/>
                                </a:rPr>
                                <m:t>}</m:t>
                              </m:r>
                            </m:oMath>
                          </a14:m>
                          <a:r>
                            <a:rPr lang="en-US" altLang="zh-CN" sz="1600" b="1" dirty="0" smtClean="0">
                              <a:solidFill>
                                <a:schemeClr val="tx1"/>
                              </a:solidFill>
                            </a:rPr>
                            <a: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1600" b="1" i="1" dirty="0" smtClean="0">
                              <a:solidFill>
                                <a:schemeClr val="tx1"/>
                              </a:solidFill>
                              <a:latin typeface="Times New Roman" panose="02020603050405020304" pitchFamily="18" charset="0"/>
                              <a:cs typeface="Times New Roman" panose="02020603050405020304" pitchFamily="18" charset="0"/>
                            </a:rPr>
                            <a:t>k</a:t>
                          </a:r>
                          <a:r>
                            <a:rPr lang="en-US" altLang="zh-CN" sz="1600" b="1" dirty="0" smtClean="0">
                              <a:solidFill>
                                <a:schemeClr val="tx1"/>
                              </a:solidFill>
                              <a:latin typeface="Times New Roman" panose="02020603050405020304" pitchFamily="18" charset="0"/>
                              <a:cs typeface="Times New Roman" panose="02020603050405020304" pitchFamily="18" charset="0"/>
                            </a:rPr>
                            <a:t>=</a:t>
                          </a:r>
                          <a:r>
                            <a:rPr lang="en-US" altLang="zh-CN" sz="1600" b="1" i="1" dirty="0" smtClean="0">
                              <a:solidFill>
                                <a:schemeClr val="tx1"/>
                              </a:solidFill>
                              <a:latin typeface="Times New Roman" panose="02020603050405020304" pitchFamily="18" charset="0"/>
                              <a:cs typeface="Times New Roman" panose="02020603050405020304" pitchFamily="18" charset="0"/>
                            </a:rPr>
                            <a:t>n,n-1,</a:t>
                          </a:r>
                          <a:r>
                            <a:rPr lang="en-US" altLang="zh-CN" sz="1600" b="1" dirty="0" smtClean="0">
                              <a:solidFill>
                                <a:schemeClr val="tx1"/>
                              </a:solidFill>
                            </a:rPr>
                            <a:t> </a:t>
                          </a:r>
                          <a14:m>
                            <m:oMath xmlns:m="http://schemas.openxmlformats.org/officeDocument/2006/math">
                              <m:r>
                                <a:rPr lang="en-US" altLang="zh-CN" sz="1600" b="1" i="1">
                                  <a:solidFill>
                                    <a:schemeClr val="tx1"/>
                                  </a:solidFill>
                                  <a:latin typeface="Cambria Math" panose="02040503050406030204" pitchFamily="18" charset="0"/>
                                </a:rPr>
                                <m:t>…</m:t>
                              </m:r>
                            </m:oMath>
                          </a14:m>
                          <a:r>
                            <a:rPr lang="en-US" altLang="zh-CN" sz="1600" b="1" dirty="0" smtClean="0">
                              <a:solidFill>
                                <a:schemeClr val="tx1"/>
                              </a:solidFill>
                              <a:latin typeface="Times New Roman" panose="02020603050405020304" pitchFamily="18" charset="0"/>
                              <a:cs typeface="Times New Roman" panose="02020603050405020304" pitchFamily="18" charset="0"/>
                            </a:rPr>
                            <a:t>,1</a:t>
                          </a:r>
                          <a:endParaRPr lang="en-US" altLang="zh-CN" sz="1600" b="1" i="1" dirty="0" smtClean="0">
                            <a:solidFill>
                              <a:schemeClr val="tx1"/>
                            </a:solidFill>
                            <a:latin typeface="Times New Roman" panose="02020603050405020304" pitchFamily="18" charset="0"/>
                            <a:cs typeface="Times New Roman" panose="02020603050405020304" pitchFamily="18" charset="0"/>
                          </a:endParaRPr>
                        </a:p>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smtClean="0">
                                      <a:solidFill>
                                        <a:schemeClr val="tx1"/>
                                      </a:solidFill>
                                      <a:latin typeface="Cambria Math" panose="02040503050406030204" pitchFamily="18" charset="0"/>
                                    </a:rPr>
                                    <m:t>𝒏</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r>
                                    <a:rPr lang="en-US" altLang="zh-CN" sz="1600" b="1" i="1" smtClean="0">
                                      <a:solidFill>
                                        <a:schemeClr val="tx1"/>
                                      </a:solidFill>
                                      <a:latin typeface="Cambria Math" panose="02040503050406030204" pitchFamily="18" charset="0"/>
                                    </a:rPr>
                                    <m:t> </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smtClean="0">
                                      <a:solidFill>
                                        <a:schemeClr val="tx1"/>
                                      </a:solidFill>
                                      <a:latin typeface="Cambria Math" panose="02040503050406030204" pitchFamily="18" charset="0"/>
                                    </a:rPr>
                                    <m:t>𝒏</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sub>
                              </m:sSub>
                              <m:r>
                                <a:rPr lang="en-US" altLang="zh-CN" sz="1600" b="1" i="1">
                                  <a:solidFill>
                                    <a:schemeClr val="tx1"/>
                                  </a:solidFill>
                                  <a:latin typeface="Cambria Math" panose="02040503050406030204" pitchFamily="18" charset="0"/>
                                </a:rPr>
                                <m:t>)</m:t>
                              </m:r>
                            </m:oMath>
                          </a14:m>
                          <a:r>
                            <a:rPr lang="en-US" altLang="zh-CN" sz="1600" b="1" dirty="0">
                              <a:solidFill>
                                <a:schemeClr val="tx1"/>
                              </a:solidFill>
                            </a:rPr>
                            <a:t>=</a:t>
                          </a:r>
                          <a:r>
                            <a:rPr lang="en-US" altLang="zh-CN" sz="1600" b="1" dirty="0" smtClean="0">
                              <a:solidFill>
                                <a:schemeClr val="tx1"/>
                              </a:solidFill>
                            </a:rPr>
                            <a:t>1</a:t>
                          </a:r>
                        </a:p>
                        <a:p>
                          <a:pPr marL="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r>
                                      <a:rPr lang="en-US" altLang="zh-CN" sz="1600" b="1" i="1" smtClean="0">
                                        <a:solidFill>
                                          <a:schemeClr val="tx1"/>
                                        </a:solidFill>
                                        <a:latin typeface="Cambria Math" panose="02040503050406030204" pitchFamily="18" charset="0"/>
                                      </a:rPr>
                                      <m:t> </m:t>
                                    </m:r>
                                  </m:sub>
                                </m:sSub>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𝑻</m:t>
                                </m:r>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sub>
                                </m:sSub>
                                <m:r>
                                  <a:rPr lang="en-US" altLang="zh-CN" sz="1600" b="1" i="1"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𝒙</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rPr>
                                  <m:t>)</m:t>
                                </m:r>
                              </m:oMath>
                            </m:oMathPara>
                          </a14:m>
                          <a:endParaRPr lang="zh-CN" altLang="en-US" dirty="0">
                            <a:solidFill>
                              <a:schemeClr val="tx1"/>
                            </a:solidFill>
                          </a:endParaRPr>
                        </a:p>
                      </a:txBody>
                      <a:tcPr>
                        <a:solidFill>
                          <a:schemeClr val="tx1">
                            <a:lumMod val="10000"/>
                            <a:lumOff val="90000"/>
                          </a:schemeClr>
                        </a:solidFill>
                      </a:tcPr>
                    </a:tc>
                    <a:extLst>
                      <a:ext uri="{0D108BD9-81ED-4DB2-BD59-A6C34878D82A}">
                        <a16:rowId xmlns:a16="http://schemas.microsoft.com/office/drawing/2014/main" val="136665157"/>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2117041538"/>
                  </p:ext>
                </p:extLst>
              </p:nvPr>
            </p:nvGraphicFramePr>
            <p:xfrm>
              <a:off x="755576" y="2845373"/>
              <a:ext cx="8271725" cy="1214565"/>
            </p:xfrm>
            <a:graphic>
              <a:graphicData uri="http://schemas.openxmlformats.org/drawingml/2006/table">
                <a:tbl>
                  <a:tblPr firstRow="1" bandRow="1">
                    <a:tableStyleId>{5C22544A-7EE6-4342-B048-85BDC9FD1C3A}</a:tableStyleId>
                  </a:tblPr>
                  <a:tblGrid>
                    <a:gridCol w="4081511">
                      <a:extLst>
                        <a:ext uri="{9D8B030D-6E8A-4147-A177-3AD203B41FA5}">
                          <a16:colId xmlns:a16="http://schemas.microsoft.com/office/drawing/2014/main" val="1705552234"/>
                        </a:ext>
                      </a:extLst>
                    </a:gridCol>
                    <a:gridCol w="4190214">
                      <a:extLst>
                        <a:ext uri="{9D8B030D-6E8A-4147-A177-3AD203B41FA5}">
                          <a16:colId xmlns:a16="http://schemas.microsoft.com/office/drawing/2014/main" val="889695860"/>
                        </a:ext>
                      </a:extLst>
                    </a:gridCol>
                  </a:tblGrid>
                  <a:tr h="1214565">
                    <a:tc>
                      <a:txBody>
                        <a:bodyPr/>
                        <a:lstStyle/>
                        <a:p>
                          <a:endParaRPr lang="zh-CN"/>
                        </a:p>
                      </a:txBody>
                      <a:tcPr>
                        <a:blipFill>
                          <a:blip r:embed="rId2"/>
                          <a:stretch>
                            <a:fillRect l="-149" t="-995" r="-103433" b="-3483"/>
                          </a:stretch>
                        </a:blipFill>
                      </a:tcPr>
                    </a:tc>
                    <a:tc>
                      <a:txBody>
                        <a:bodyPr/>
                        <a:lstStyle/>
                        <a:p>
                          <a:endParaRPr lang="zh-CN"/>
                        </a:p>
                      </a:txBody>
                      <a:tcPr>
                        <a:blipFill>
                          <a:blip r:embed="rId2"/>
                          <a:stretch>
                            <a:fillRect l="-97529" t="-995" r="-727" b="-3483"/>
                          </a:stretch>
                        </a:blipFill>
                      </a:tcPr>
                    </a:tc>
                    <a:extLst>
                      <a:ext uri="{0D108BD9-81ED-4DB2-BD59-A6C34878D82A}">
                        <a16:rowId xmlns:a16="http://schemas.microsoft.com/office/drawing/2014/main" val="136665157"/>
                      </a:ext>
                    </a:extLst>
                  </a:tr>
                </a:tbl>
              </a:graphicData>
            </a:graphic>
          </p:graphicFrame>
        </mc:Fallback>
      </mc:AlternateContent>
      <mc:AlternateContent xmlns:mc="http://schemas.openxmlformats.org/markup-compatibility/2006" xmlns:a14="http://schemas.microsoft.com/office/drawing/2010/main">
        <mc:Choice Requires="a14">
          <p:sp>
            <p:nvSpPr>
              <p:cNvPr id="12" name="矩形 11"/>
              <p:cNvSpPr/>
              <p:nvPr/>
            </p:nvSpPr>
            <p:spPr>
              <a:xfrm>
                <a:off x="2195736" y="4278078"/>
                <a:ext cx="6351482" cy="338554"/>
              </a:xfrm>
              <a:prstGeom prst="rect">
                <a:avLst/>
              </a:prstGeom>
            </p:spPr>
            <p:txBody>
              <a:bodyPr wrap="none">
                <a:spAutoFit/>
              </a:bodyPr>
              <a:lstStyle/>
              <a:p>
                <a:pPr marL="0" lvl="1"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sSub>
                        <m:sSubPr>
                          <m:ctrlPr>
                            <a:rPr lang="en-US" altLang="zh-CN" sz="1600" b="1" i="1" smtClean="0">
                              <a:latin typeface="Cambria Math" panose="02040503050406030204" pitchFamily="18" charset="0"/>
                            </a:rPr>
                          </m:ctrlPr>
                        </m:sSubPr>
                        <m:e>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𝒇</m:t>
                              </m:r>
                            </m:e>
                            <m:sub>
                              <m:r>
                                <a:rPr lang="en-US" altLang="zh-CN" sz="1600" b="1" i="1">
                                  <a:latin typeface="Cambria Math" panose="02040503050406030204" pitchFamily="18" charset="0"/>
                                </a:rPr>
                                <m:t>𝟏</m:t>
                              </m:r>
                              <m:r>
                                <a:rPr lang="en-US" altLang="zh-CN" sz="1600" b="1" i="1">
                                  <a:latin typeface="Cambria Math" panose="02040503050406030204" pitchFamily="18" charset="0"/>
                                </a:rPr>
                                <m:t> </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a:latin typeface="Cambria Math" panose="02040503050406030204" pitchFamily="18" charset="0"/>
                                </a:rPr>
                                <m:t>𝟏</m:t>
                              </m:r>
                            </m:sub>
                          </m:sSub>
                          <m:r>
                            <a:rPr lang="en-US" altLang="zh-CN" sz="1600" b="1" i="1">
                              <a:latin typeface="Cambria Math" panose="02040503050406030204" pitchFamily="18" charset="0"/>
                            </a:rPr>
                            <m:t>)</m:t>
                          </m:r>
                          <m:r>
                            <a:rPr lang="en-US" altLang="zh-CN" sz="1600" b="1" i="1" smtClean="0">
                              <a:latin typeface="Cambria Math" panose="02040503050406030204" pitchFamily="18" charset="0"/>
                              <a:ea typeface="Cambria Math" panose="02040503050406030204" pitchFamily="18" charset="0"/>
                            </a:rPr>
                            <m:t>←</m:t>
                          </m:r>
                          <m:r>
                            <a:rPr lang="en-US" altLang="zh-CN" sz="1600" b="1" i="1">
                              <a:latin typeface="Cambria Math" panose="02040503050406030204" pitchFamily="18" charset="0"/>
                            </a:rPr>
                            <m:t>…</m:t>
                          </m:r>
                          <m:r>
                            <a:rPr lang="en-US" altLang="zh-CN" sz="1600" b="1" i="1" smtClean="0">
                              <a:latin typeface="Cambria Math" panose="02040503050406030204" pitchFamily="18" charset="0"/>
                              <a:ea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𝒇</m:t>
                              </m:r>
                            </m:e>
                            <m:sub>
                              <m:r>
                                <a:rPr lang="en-US" altLang="zh-CN" sz="1600" b="1" i="1" smtClean="0">
                                  <a:latin typeface="Cambria Math" panose="02040503050406030204" pitchFamily="18" charset="0"/>
                                </a:rPr>
                                <m:t>𝒌</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smtClean="0">
                                  <a:latin typeface="Cambria Math" panose="02040503050406030204" pitchFamily="18" charset="0"/>
                                </a:rPr>
                                <m:t>𝒌</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smtClean="0">
                                  <a:latin typeface="Cambria Math" panose="02040503050406030204" pitchFamily="18" charset="0"/>
                                  <a:ea typeface="Cambria Math" panose="02040503050406030204" pitchFamily="18" charset="0"/>
                                </a:rPr>
                                <m:t>←</m:t>
                              </m:r>
                              <m:r>
                                <a:rPr lang="en-US" altLang="zh-CN" sz="1600" b="1" i="1">
                                  <a:latin typeface="Cambria Math" panose="02040503050406030204" pitchFamily="18" charset="0"/>
                                </a:rPr>
                                <m:t>𝒇</m:t>
                              </m:r>
                            </m:e>
                            <m:sub>
                              <m:r>
                                <a:rPr lang="en-US" altLang="zh-CN" sz="1600" b="1" i="1" smtClean="0">
                                  <a:latin typeface="Cambria Math" panose="02040503050406030204" pitchFamily="18" charset="0"/>
                                </a:rPr>
                                <m:t>𝒌</m:t>
                              </m:r>
                              <m:r>
                                <a:rPr lang="en-US" altLang="zh-CN" sz="1600" b="1" i="1">
                                  <a:latin typeface="Cambria Math" panose="02040503050406030204" pitchFamily="18" charset="0"/>
                                </a:rPr>
                                <m:t>+</m:t>
                              </m:r>
                              <m:r>
                                <a:rPr lang="en-US" altLang="zh-CN" sz="1600" b="1" i="1">
                                  <a:latin typeface="Cambria Math" panose="02040503050406030204" pitchFamily="18" charset="0"/>
                                </a:rPr>
                                <m:t>𝟏</m:t>
                              </m:r>
                              <m:r>
                                <a:rPr lang="en-US" altLang="zh-CN" sz="1600" b="1" i="1">
                                  <a:latin typeface="Cambria Math" panose="02040503050406030204" pitchFamily="18" charset="0"/>
                                </a:rPr>
                                <m:t> </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smtClean="0">
                                  <a:latin typeface="Cambria Math" panose="02040503050406030204" pitchFamily="18" charset="0"/>
                                </a:rPr>
                                <m:t>𝒌</m:t>
                              </m:r>
                              <m:r>
                                <a:rPr lang="en-US" altLang="zh-CN" sz="1600" b="1" i="1">
                                  <a:latin typeface="Cambria Math" panose="02040503050406030204" pitchFamily="18" charset="0"/>
                                </a:rPr>
                                <m:t>+</m:t>
                              </m:r>
                              <m:r>
                                <a:rPr lang="en-US" altLang="zh-CN" sz="1600" b="1" i="1">
                                  <a:latin typeface="Cambria Math" panose="02040503050406030204" pitchFamily="18" charset="0"/>
                                </a:rPr>
                                <m:t>𝟏</m:t>
                              </m:r>
                            </m:sub>
                          </m:sSub>
                          <m:r>
                            <a:rPr lang="en-US" altLang="zh-CN" sz="1600" b="1" i="1">
                              <a:latin typeface="Cambria Math" panose="02040503050406030204" pitchFamily="18" charset="0"/>
                            </a:rPr>
                            <m:t>)</m:t>
                          </m:r>
                          <m:r>
                            <a:rPr lang="en-US" altLang="zh-CN" sz="1600" b="1" i="1" smtClean="0">
                              <a:latin typeface="Cambria Math" panose="02040503050406030204" pitchFamily="18" charset="0"/>
                              <a:ea typeface="Cambria Math" panose="02040503050406030204" pitchFamily="18" charset="0"/>
                            </a:rPr>
                            <m:t>←</m:t>
                          </m:r>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smtClean="0">
                                  <a:latin typeface="Cambria Math" panose="02040503050406030204" pitchFamily="18" charset="0"/>
                                  <a:ea typeface="Cambria Math" panose="02040503050406030204" pitchFamily="18" charset="0"/>
                                </a:rPr>
                                <m:t>←</m:t>
                              </m:r>
                              <m:r>
                                <a:rPr lang="en-US" altLang="zh-CN" sz="1600" b="1" i="1">
                                  <a:latin typeface="Cambria Math" panose="02040503050406030204" pitchFamily="18" charset="0"/>
                                </a:rPr>
                                <m:t>𝒇</m:t>
                              </m:r>
                            </m:e>
                            <m:sub>
                              <m:r>
                                <a:rPr lang="en-US" altLang="zh-CN" sz="1600" b="1" i="1">
                                  <a:latin typeface="Cambria Math" panose="02040503050406030204" pitchFamily="18" charset="0"/>
                                </a:rPr>
                                <m:t>𝒏</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a:latin typeface="Cambria Math" panose="02040503050406030204" pitchFamily="18" charset="0"/>
                                </a:rPr>
                                <m:t>𝒏</m:t>
                              </m:r>
                            </m:sub>
                          </m:sSub>
                          <m:r>
                            <a:rPr lang="en-US" altLang="zh-CN" sz="1600" b="1" i="1">
                              <a:latin typeface="Cambria Math" panose="02040503050406030204" pitchFamily="18" charset="0"/>
                            </a:rPr>
                            <m:t>)</m:t>
                          </m:r>
                          <m:r>
                            <a:rPr lang="en-US" altLang="zh-CN" sz="1600" b="1" i="1" smtClean="0">
                              <a:latin typeface="Cambria Math" panose="02040503050406030204" pitchFamily="18" charset="0"/>
                              <a:ea typeface="Cambria Math" panose="02040503050406030204" pitchFamily="18" charset="0"/>
                            </a:rPr>
                            <m:t>←</m:t>
                          </m:r>
                          <m:r>
                            <a:rPr lang="en-US" altLang="zh-CN" sz="1600" b="1" i="1">
                              <a:latin typeface="Cambria Math" panose="02040503050406030204" pitchFamily="18" charset="0"/>
                            </a:rPr>
                            <m:t>𝒇</m:t>
                          </m:r>
                        </m:e>
                        <m:sub>
                          <m:r>
                            <a:rPr lang="en-US" altLang="zh-CN" sz="1600" b="1" i="1">
                              <a:latin typeface="Cambria Math" panose="02040503050406030204" pitchFamily="18" charset="0"/>
                            </a:rPr>
                            <m:t>𝒏</m:t>
                          </m:r>
                          <m:r>
                            <a:rPr lang="en-US" altLang="zh-CN" sz="1600" b="1" i="1">
                              <a:latin typeface="Cambria Math" panose="02040503050406030204" pitchFamily="18" charset="0"/>
                            </a:rPr>
                            <m:t>+</m:t>
                          </m:r>
                          <m:r>
                            <a:rPr lang="en-US" altLang="zh-CN" sz="1600" b="1" i="1">
                              <a:latin typeface="Cambria Math" panose="02040503050406030204" pitchFamily="18" charset="0"/>
                            </a:rPr>
                            <m:t>𝟏</m:t>
                          </m:r>
                          <m:r>
                            <a:rPr lang="en-US" altLang="zh-CN" sz="1600" b="1" i="1">
                              <a:latin typeface="Cambria Math" panose="02040503050406030204" pitchFamily="18" charset="0"/>
                            </a:rPr>
                            <m:t> </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a:latin typeface="Cambria Math" panose="02040503050406030204" pitchFamily="18" charset="0"/>
                            </a:rPr>
                            <m:t>𝒏</m:t>
                          </m:r>
                          <m:r>
                            <a:rPr lang="en-US" altLang="zh-CN" sz="1600" b="1" i="1">
                              <a:latin typeface="Cambria Math" panose="02040503050406030204" pitchFamily="18" charset="0"/>
                            </a:rPr>
                            <m:t>+</m:t>
                          </m:r>
                          <m:r>
                            <a:rPr lang="en-US" altLang="zh-CN" sz="1600" b="1" i="1">
                              <a:latin typeface="Cambria Math" panose="02040503050406030204" pitchFamily="18" charset="0"/>
                            </a:rPr>
                            <m:t>𝟏</m:t>
                          </m:r>
                        </m:sub>
                      </m:sSub>
                      <m:r>
                        <a:rPr lang="en-US" altLang="zh-CN" sz="1600" b="1" i="1">
                          <a:latin typeface="Cambria Math" panose="02040503050406030204" pitchFamily="18" charset="0"/>
                        </a:rPr>
                        <m:t>)</m:t>
                      </m:r>
                    </m:oMath>
                  </m:oMathPara>
                </a14:m>
                <a:endParaRPr lang="en-US" altLang="zh-CN" sz="1600" b="1" i="1" dirty="0">
                  <a:latin typeface="Times New Roman" panose="02020603050405020304" pitchFamily="18" charset="0"/>
                  <a:cs typeface="Times New Roman" panose="02020603050405020304" pitchFamily="18" charset="0"/>
                </a:endParaRPr>
              </a:p>
            </p:txBody>
          </p:sp>
        </mc:Choice>
        <mc:Fallback xmlns="">
          <p:sp>
            <p:nvSpPr>
              <p:cNvPr id="12" name="矩形 11"/>
              <p:cNvSpPr>
                <a:spLocks noRot="1" noChangeAspect="1" noMove="1" noResize="1" noEditPoints="1" noAdjustHandles="1" noChangeArrowheads="1" noChangeShapeType="1" noTextEdit="1"/>
              </p:cNvSpPr>
              <p:nvPr/>
            </p:nvSpPr>
            <p:spPr>
              <a:xfrm>
                <a:off x="2195736" y="4278078"/>
                <a:ext cx="6351482" cy="338554"/>
              </a:xfrm>
              <a:prstGeom prst="rect">
                <a:avLst/>
              </a:prstGeom>
              <a:blipFill>
                <a:blip r:embed="rId3"/>
                <a:stretch>
                  <a:fillRect b="-12727"/>
                </a:stretch>
              </a:blipFill>
            </p:spPr>
            <p:txBody>
              <a:bodyPr/>
              <a:lstStyle/>
              <a:p>
                <a:r>
                  <a:rPr lang="zh-CN" altLang="en-US">
                    <a:noFill/>
                  </a:rPr>
                  <a:t> </a:t>
                </a:r>
              </a:p>
            </p:txBody>
          </p:sp>
        </mc:Fallback>
      </mc:AlternateContent>
      <p:cxnSp>
        <p:nvCxnSpPr>
          <p:cNvPr id="8" name="直接连接符 7"/>
          <p:cNvCxnSpPr/>
          <p:nvPr/>
        </p:nvCxnSpPr>
        <p:spPr bwMode="auto">
          <a:xfrm>
            <a:off x="1115616" y="5445224"/>
            <a:ext cx="6802837"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p:cNvCxnSpPr/>
          <p:nvPr/>
        </p:nvCxnSpPr>
        <p:spPr bwMode="auto">
          <a:xfrm>
            <a:off x="1111777" y="5373216"/>
            <a:ext cx="0" cy="7200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连接符 17"/>
          <p:cNvCxnSpPr/>
          <p:nvPr/>
        </p:nvCxnSpPr>
        <p:spPr bwMode="auto">
          <a:xfrm>
            <a:off x="2843808" y="5373216"/>
            <a:ext cx="0" cy="7200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p:cNvCxnSpPr/>
          <p:nvPr/>
        </p:nvCxnSpPr>
        <p:spPr bwMode="auto">
          <a:xfrm>
            <a:off x="4427984" y="5373216"/>
            <a:ext cx="0" cy="7200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p:cNvCxnSpPr/>
          <p:nvPr/>
        </p:nvCxnSpPr>
        <p:spPr bwMode="auto">
          <a:xfrm>
            <a:off x="6228184" y="5373216"/>
            <a:ext cx="0" cy="7200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14" name="矩形 13"/>
              <p:cNvSpPr/>
              <p:nvPr/>
            </p:nvSpPr>
            <p:spPr>
              <a:xfrm>
                <a:off x="895753" y="5045114"/>
                <a:ext cx="50789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a:latin typeface="Cambria Math" panose="02040503050406030204" pitchFamily="18" charset="0"/>
                            </a:rPr>
                            <m:t>𝒔</m:t>
                          </m:r>
                        </m:e>
                        <m:sub>
                          <m:r>
                            <a:rPr lang="en-US" altLang="zh-CN" b="1" i="1" smtClean="0">
                              <a:latin typeface="Cambria Math" panose="02040503050406030204" pitchFamily="18" charset="0"/>
                            </a:rPr>
                            <m:t>𝟏</m:t>
                          </m:r>
                        </m:sub>
                      </m:sSub>
                    </m:oMath>
                  </m:oMathPara>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895753" y="5045114"/>
                <a:ext cx="507895" cy="400110"/>
              </a:xfrm>
              <a:prstGeom prst="rect">
                <a:avLst/>
              </a:prstGeom>
              <a:blipFill>
                <a:blip r:embed="rId4"/>
                <a:stretch>
                  <a:fillRect b="-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2627784" y="5045114"/>
                <a:ext cx="50789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a:latin typeface="Cambria Math" panose="02040503050406030204" pitchFamily="18" charset="0"/>
                            </a:rPr>
                            <m:t>𝒔</m:t>
                          </m:r>
                        </m:e>
                        <m:sub>
                          <m:r>
                            <a:rPr lang="en-US" altLang="zh-CN" b="1" i="1" smtClean="0">
                              <a:latin typeface="Cambria Math" panose="02040503050406030204" pitchFamily="18" charset="0"/>
                            </a:rPr>
                            <m:t>𝟐</m:t>
                          </m:r>
                        </m:sub>
                      </m:sSub>
                    </m:oMath>
                  </m:oMathPara>
                </a14:m>
                <a:endParaRPr lang="zh-CN" altLang="en-US" dirty="0"/>
              </a:p>
            </p:txBody>
          </p:sp>
        </mc:Choice>
        <mc:Fallback xmlns="">
          <p:sp>
            <p:nvSpPr>
              <p:cNvPr id="22" name="矩形 21"/>
              <p:cNvSpPr>
                <a:spLocks noRot="1" noChangeAspect="1" noMove="1" noResize="1" noEditPoints="1" noAdjustHandles="1" noChangeArrowheads="1" noChangeShapeType="1" noTextEdit="1"/>
              </p:cNvSpPr>
              <p:nvPr/>
            </p:nvSpPr>
            <p:spPr>
              <a:xfrm>
                <a:off x="2627784" y="5045114"/>
                <a:ext cx="507895" cy="400110"/>
              </a:xfrm>
              <a:prstGeom prst="rect">
                <a:avLst/>
              </a:prstGeom>
              <a:blipFill>
                <a:blip r:embed="rId5"/>
                <a:stretch>
                  <a:fillRect b="-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4211960" y="5045114"/>
                <a:ext cx="50629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a:latin typeface="Cambria Math" panose="02040503050406030204" pitchFamily="18" charset="0"/>
                            </a:rPr>
                            <m:t>𝒔</m:t>
                          </m:r>
                        </m:e>
                        <m:sub>
                          <m:r>
                            <a:rPr lang="en-US" altLang="zh-CN" b="1" i="1" smtClean="0">
                              <a:latin typeface="Cambria Math" panose="02040503050406030204" pitchFamily="18" charset="0"/>
                            </a:rPr>
                            <m:t>𝟑</m:t>
                          </m:r>
                        </m:sub>
                      </m:sSub>
                    </m:oMath>
                  </m:oMathPara>
                </a14:m>
                <a:endParaRPr lang="zh-CN" altLang="en-US" dirty="0"/>
              </a:p>
            </p:txBody>
          </p:sp>
        </mc:Choice>
        <mc:Fallback xmlns="">
          <p:sp>
            <p:nvSpPr>
              <p:cNvPr id="23" name="矩形 22"/>
              <p:cNvSpPr>
                <a:spLocks noRot="1" noChangeAspect="1" noMove="1" noResize="1" noEditPoints="1" noAdjustHandles="1" noChangeArrowheads="1" noChangeShapeType="1" noTextEdit="1"/>
              </p:cNvSpPr>
              <p:nvPr/>
            </p:nvSpPr>
            <p:spPr>
              <a:xfrm>
                <a:off x="4211960" y="5045114"/>
                <a:ext cx="506292" cy="400110"/>
              </a:xfrm>
              <a:prstGeom prst="rect">
                <a:avLst/>
              </a:prstGeom>
              <a:blipFill>
                <a:blip r:embed="rId6"/>
                <a:stretch>
                  <a:fillRect b="-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6012160" y="5045114"/>
                <a:ext cx="50789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a:latin typeface="Cambria Math" panose="02040503050406030204" pitchFamily="18" charset="0"/>
                            </a:rPr>
                            <m:t>𝒔</m:t>
                          </m:r>
                        </m:e>
                        <m:sub>
                          <m:r>
                            <a:rPr lang="en-US" altLang="zh-CN" b="1" i="1" smtClean="0">
                              <a:latin typeface="Cambria Math" panose="02040503050406030204" pitchFamily="18" charset="0"/>
                            </a:rPr>
                            <m:t>𝟒</m:t>
                          </m:r>
                        </m:sub>
                      </m:sSub>
                    </m:oMath>
                  </m:oMathPara>
                </a14:m>
                <a:endParaRPr lang="zh-CN" altLang="en-US" dirty="0"/>
              </a:p>
            </p:txBody>
          </p:sp>
        </mc:Choice>
        <mc:Fallback xmlns="">
          <p:sp>
            <p:nvSpPr>
              <p:cNvPr id="24" name="矩形 23"/>
              <p:cNvSpPr>
                <a:spLocks noRot="1" noChangeAspect="1" noMove="1" noResize="1" noEditPoints="1" noAdjustHandles="1" noChangeArrowheads="1" noChangeShapeType="1" noTextEdit="1"/>
              </p:cNvSpPr>
              <p:nvPr/>
            </p:nvSpPr>
            <p:spPr>
              <a:xfrm>
                <a:off x="6012160" y="5045114"/>
                <a:ext cx="507895" cy="400110"/>
              </a:xfrm>
              <a:prstGeom prst="rect">
                <a:avLst/>
              </a:prstGeom>
              <a:blipFill>
                <a:blip r:embed="rId7"/>
                <a:stretch>
                  <a:fillRect b="-4615"/>
                </a:stretch>
              </a:blipFill>
            </p:spPr>
            <p:txBody>
              <a:bodyPr/>
              <a:lstStyle/>
              <a:p>
                <a:r>
                  <a:rPr lang="zh-CN" altLang="en-US">
                    <a:noFill/>
                  </a:rPr>
                  <a:t> </a:t>
                </a:r>
              </a:p>
            </p:txBody>
          </p:sp>
        </mc:Fallback>
      </mc:AlternateContent>
      <p:cxnSp>
        <p:nvCxnSpPr>
          <p:cNvPr id="25" name="直接连接符 24"/>
          <p:cNvCxnSpPr/>
          <p:nvPr/>
        </p:nvCxnSpPr>
        <p:spPr bwMode="auto">
          <a:xfrm>
            <a:off x="7926232" y="5373216"/>
            <a:ext cx="0" cy="7200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26" name="矩形 25"/>
              <p:cNvSpPr/>
              <p:nvPr/>
            </p:nvSpPr>
            <p:spPr>
              <a:xfrm>
                <a:off x="7706369" y="5045114"/>
                <a:ext cx="50789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a:latin typeface="Cambria Math" panose="02040503050406030204" pitchFamily="18" charset="0"/>
                            </a:rPr>
                            <m:t>𝒔</m:t>
                          </m:r>
                        </m:e>
                        <m:sub>
                          <m:r>
                            <a:rPr lang="en-US" altLang="zh-CN" b="1" i="1" smtClean="0">
                              <a:latin typeface="Cambria Math" panose="02040503050406030204" pitchFamily="18" charset="0"/>
                            </a:rPr>
                            <m:t>𝟓</m:t>
                          </m:r>
                        </m:sub>
                      </m:sSub>
                    </m:oMath>
                  </m:oMathPara>
                </a14:m>
                <a:endParaRPr lang="zh-CN" altLang="en-US" dirty="0"/>
              </a:p>
            </p:txBody>
          </p:sp>
        </mc:Choice>
        <mc:Fallback xmlns="">
          <p:sp>
            <p:nvSpPr>
              <p:cNvPr id="26" name="矩形 25"/>
              <p:cNvSpPr>
                <a:spLocks noRot="1" noChangeAspect="1" noMove="1" noResize="1" noEditPoints="1" noAdjustHandles="1" noChangeArrowheads="1" noChangeShapeType="1" noTextEdit="1"/>
              </p:cNvSpPr>
              <p:nvPr/>
            </p:nvSpPr>
            <p:spPr>
              <a:xfrm>
                <a:off x="7706369" y="5045114"/>
                <a:ext cx="507895" cy="400110"/>
              </a:xfrm>
              <a:prstGeom prst="rect">
                <a:avLst/>
              </a:prstGeom>
              <a:blipFill>
                <a:blip r:embed="rId8"/>
                <a:stretch>
                  <a:fillRect b="-6154"/>
                </a:stretch>
              </a:blipFill>
            </p:spPr>
            <p:txBody>
              <a:bodyPr/>
              <a:lstStyle/>
              <a:p>
                <a:r>
                  <a:rPr lang="zh-CN" altLang="en-US">
                    <a:noFill/>
                  </a:rPr>
                  <a:t> </a:t>
                </a:r>
              </a:p>
            </p:txBody>
          </p:sp>
        </mc:Fallback>
      </mc:AlternateContent>
      <p:sp>
        <p:nvSpPr>
          <p:cNvPr id="21" name="矩形 20"/>
          <p:cNvSpPr/>
          <p:nvPr/>
        </p:nvSpPr>
        <p:spPr>
          <a:xfrm>
            <a:off x="1504873" y="5197510"/>
            <a:ext cx="506870" cy="338554"/>
          </a:xfrm>
          <a:prstGeom prst="rect">
            <a:avLst/>
          </a:prstGeom>
        </p:spPr>
        <p:txBody>
          <a:bodyPr wrap="none">
            <a:spAutoFit/>
          </a:bodyPr>
          <a:lstStyle/>
          <a:p>
            <a:pPr marL="0" lvl="1" eaLnBrk="1" fontAlgn="auto" hangingPunct="1">
              <a:spcBef>
                <a:spcPts val="0"/>
              </a:spcBef>
              <a:spcAft>
                <a:spcPts val="0"/>
              </a:spcAft>
              <a:defRPr/>
            </a:pPr>
            <a:r>
              <a:rPr lang="en-US" altLang="zh-CN" sz="1600" b="1" i="1" dirty="0" smtClean="0">
                <a:latin typeface="Times New Roman" panose="02020603050405020304" pitchFamily="18" charset="0"/>
                <a:cs typeface="Times New Roman" panose="02020603050405020304" pitchFamily="18" charset="0"/>
              </a:rPr>
              <a:t>k</a:t>
            </a:r>
            <a:r>
              <a:rPr lang="en-US" altLang="zh-CN" sz="1600" b="1" dirty="0" smtClean="0">
                <a:latin typeface="Times New Roman" panose="02020603050405020304" pitchFamily="18" charset="0"/>
                <a:cs typeface="Times New Roman" panose="02020603050405020304" pitchFamily="18" charset="0"/>
              </a:rPr>
              <a:t>=1</a:t>
            </a:r>
            <a:endParaRPr lang="en-US" altLang="zh-CN" sz="1600" b="1" i="1" dirty="0">
              <a:latin typeface="Times New Roman" panose="02020603050405020304" pitchFamily="18" charset="0"/>
              <a:cs typeface="Times New Roman" panose="02020603050405020304" pitchFamily="18" charset="0"/>
            </a:endParaRPr>
          </a:p>
        </p:txBody>
      </p:sp>
      <p:sp>
        <p:nvSpPr>
          <p:cNvPr id="31" name="矩形 30"/>
          <p:cNvSpPr/>
          <p:nvPr/>
        </p:nvSpPr>
        <p:spPr>
          <a:xfrm>
            <a:off x="3314446" y="5197510"/>
            <a:ext cx="506870" cy="338554"/>
          </a:xfrm>
          <a:prstGeom prst="rect">
            <a:avLst/>
          </a:prstGeom>
        </p:spPr>
        <p:txBody>
          <a:bodyPr wrap="none">
            <a:spAutoFit/>
          </a:bodyPr>
          <a:lstStyle/>
          <a:p>
            <a:pPr marL="0" lvl="1" eaLnBrk="1" fontAlgn="auto" hangingPunct="1">
              <a:spcBef>
                <a:spcPts val="0"/>
              </a:spcBef>
              <a:spcAft>
                <a:spcPts val="0"/>
              </a:spcAft>
              <a:defRPr/>
            </a:pPr>
            <a:r>
              <a:rPr lang="en-US" altLang="zh-CN" sz="1600" b="1" i="1" dirty="0" smtClean="0">
                <a:latin typeface="Times New Roman" panose="02020603050405020304" pitchFamily="18" charset="0"/>
                <a:cs typeface="Times New Roman" panose="02020603050405020304" pitchFamily="18" charset="0"/>
              </a:rPr>
              <a:t>k</a:t>
            </a:r>
            <a:r>
              <a:rPr lang="en-US" altLang="zh-CN" sz="1600" b="1" dirty="0" smtClean="0">
                <a:latin typeface="Times New Roman" panose="02020603050405020304" pitchFamily="18" charset="0"/>
                <a:cs typeface="Times New Roman" panose="02020603050405020304" pitchFamily="18" charset="0"/>
              </a:rPr>
              <a:t>=2</a:t>
            </a:r>
            <a:endParaRPr lang="en-US" altLang="zh-CN" sz="1600" b="1" i="1" dirty="0">
              <a:latin typeface="Times New Roman" panose="02020603050405020304" pitchFamily="18" charset="0"/>
              <a:cs typeface="Times New Roman" panose="02020603050405020304" pitchFamily="18" charset="0"/>
            </a:endParaRPr>
          </a:p>
        </p:txBody>
      </p:sp>
      <p:sp>
        <p:nvSpPr>
          <p:cNvPr id="32" name="矩形 31"/>
          <p:cNvSpPr/>
          <p:nvPr/>
        </p:nvSpPr>
        <p:spPr>
          <a:xfrm>
            <a:off x="4806142" y="5197510"/>
            <a:ext cx="506870" cy="338554"/>
          </a:xfrm>
          <a:prstGeom prst="rect">
            <a:avLst/>
          </a:prstGeom>
        </p:spPr>
        <p:txBody>
          <a:bodyPr wrap="none">
            <a:spAutoFit/>
          </a:bodyPr>
          <a:lstStyle/>
          <a:p>
            <a:pPr marL="0" lvl="1" eaLnBrk="1" fontAlgn="auto" hangingPunct="1">
              <a:spcBef>
                <a:spcPts val="0"/>
              </a:spcBef>
              <a:spcAft>
                <a:spcPts val="0"/>
              </a:spcAft>
              <a:defRPr/>
            </a:pPr>
            <a:r>
              <a:rPr lang="en-US" altLang="zh-CN" sz="1600" b="1" i="1" dirty="0" smtClean="0">
                <a:latin typeface="Times New Roman" panose="02020603050405020304" pitchFamily="18" charset="0"/>
                <a:cs typeface="Times New Roman" panose="02020603050405020304" pitchFamily="18" charset="0"/>
              </a:rPr>
              <a:t>k</a:t>
            </a:r>
            <a:r>
              <a:rPr lang="en-US" altLang="zh-CN" sz="1600" b="1" dirty="0" smtClean="0">
                <a:latin typeface="Times New Roman" panose="02020603050405020304" pitchFamily="18" charset="0"/>
                <a:cs typeface="Times New Roman" panose="02020603050405020304" pitchFamily="18" charset="0"/>
              </a:rPr>
              <a:t>=3</a:t>
            </a:r>
            <a:endParaRPr lang="en-US" altLang="zh-CN" sz="1600" b="1" i="1" dirty="0">
              <a:latin typeface="Times New Roman" panose="02020603050405020304" pitchFamily="18" charset="0"/>
              <a:cs typeface="Times New Roman" panose="02020603050405020304" pitchFamily="18" charset="0"/>
            </a:endParaRPr>
          </a:p>
        </p:txBody>
      </p:sp>
      <p:sp>
        <p:nvSpPr>
          <p:cNvPr id="33" name="矩形 32"/>
          <p:cNvSpPr/>
          <p:nvPr/>
        </p:nvSpPr>
        <p:spPr>
          <a:xfrm>
            <a:off x="6482644" y="5197510"/>
            <a:ext cx="506870" cy="338554"/>
          </a:xfrm>
          <a:prstGeom prst="rect">
            <a:avLst/>
          </a:prstGeom>
        </p:spPr>
        <p:txBody>
          <a:bodyPr wrap="none">
            <a:spAutoFit/>
          </a:bodyPr>
          <a:lstStyle/>
          <a:p>
            <a:pPr marL="0" lvl="1" eaLnBrk="1" fontAlgn="auto" hangingPunct="1">
              <a:spcBef>
                <a:spcPts val="0"/>
              </a:spcBef>
              <a:spcAft>
                <a:spcPts val="0"/>
              </a:spcAft>
              <a:defRPr/>
            </a:pPr>
            <a:r>
              <a:rPr lang="en-US" altLang="zh-CN" sz="1600" b="1" i="1" dirty="0" smtClean="0">
                <a:latin typeface="Times New Roman" panose="02020603050405020304" pitchFamily="18" charset="0"/>
                <a:cs typeface="Times New Roman" panose="02020603050405020304" pitchFamily="18" charset="0"/>
              </a:rPr>
              <a:t>k</a:t>
            </a:r>
            <a:r>
              <a:rPr lang="en-US" altLang="zh-CN" sz="1600" b="1" dirty="0" smtClean="0">
                <a:latin typeface="Times New Roman" panose="02020603050405020304" pitchFamily="18" charset="0"/>
                <a:cs typeface="Times New Roman" panose="02020603050405020304" pitchFamily="18" charset="0"/>
              </a:rPr>
              <a:t>=4</a:t>
            </a:r>
            <a:endParaRPr lang="en-US" altLang="zh-CN" sz="1600" b="1" i="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4" name="矩形 33"/>
              <p:cNvSpPr/>
              <p:nvPr/>
            </p:nvSpPr>
            <p:spPr>
              <a:xfrm>
                <a:off x="7859376" y="5446711"/>
                <a:ext cx="96109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a:latin typeface="Cambria Math" panose="02040503050406030204" pitchFamily="18" charset="0"/>
                            </a:rPr>
                            <m:t>𝑓</m:t>
                          </m:r>
                        </m:e>
                        <m:sub>
                          <m:r>
                            <a:rPr lang="en-US" altLang="zh-CN" b="0" i="1" smtClean="0">
                              <a:latin typeface="Cambria Math" panose="02040503050406030204" pitchFamily="18" charset="0"/>
                            </a:rPr>
                            <m:t>5</m:t>
                          </m:r>
                          <m:r>
                            <a:rPr lang="en-US" altLang="zh-CN" b="0" i="1">
                              <a:latin typeface="Cambria Math" panose="02040503050406030204" pitchFamily="18" charset="0"/>
                            </a:rPr>
                            <m:t> </m:t>
                          </m:r>
                        </m:sub>
                      </m:sSub>
                      <m:r>
                        <a:rPr lang="en-US" altLang="zh-CN" b="0"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𝑠</m:t>
                          </m:r>
                        </m:e>
                        <m:sub>
                          <m:r>
                            <a:rPr lang="en-US" altLang="zh-CN" b="0" i="1" smtClean="0">
                              <a:latin typeface="Cambria Math" panose="02040503050406030204" pitchFamily="18" charset="0"/>
                            </a:rPr>
                            <m:t>5</m:t>
                          </m:r>
                        </m:sub>
                      </m:sSub>
                      <m:r>
                        <a:rPr lang="en-US" altLang="zh-CN" b="0" i="1">
                          <a:latin typeface="Cambria Math" panose="02040503050406030204" pitchFamily="18" charset="0"/>
                        </a:rPr>
                        <m:t>)</m:t>
                      </m:r>
                    </m:oMath>
                  </m:oMathPara>
                </a14:m>
                <a:endParaRPr lang="zh-CN" altLang="en-US" dirty="0"/>
              </a:p>
            </p:txBody>
          </p:sp>
        </mc:Choice>
        <mc:Fallback xmlns="">
          <p:sp>
            <p:nvSpPr>
              <p:cNvPr id="34" name="矩形 33"/>
              <p:cNvSpPr>
                <a:spLocks noRot="1" noChangeAspect="1" noMove="1" noResize="1" noEditPoints="1" noAdjustHandles="1" noChangeArrowheads="1" noChangeShapeType="1" noTextEdit="1"/>
              </p:cNvSpPr>
              <p:nvPr/>
            </p:nvSpPr>
            <p:spPr>
              <a:xfrm>
                <a:off x="7859376" y="5446711"/>
                <a:ext cx="961096" cy="400110"/>
              </a:xfrm>
              <a:prstGeom prst="rect">
                <a:avLst/>
              </a:prstGeom>
              <a:blipFill>
                <a:blip r:embed="rId9"/>
                <a:stretch>
                  <a:fillRect b="-18182"/>
                </a:stretch>
              </a:blipFill>
            </p:spPr>
            <p:txBody>
              <a:bodyPr/>
              <a:lstStyle/>
              <a:p>
                <a:r>
                  <a:rPr lang="zh-CN" altLang="en-US">
                    <a:noFill/>
                  </a:rPr>
                  <a:t> </a:t>
                </a:r>
              </a:p>
            </p:txBody>
          </p:sp>
        </mc:Fallback>
      </mc:AlternateContent>
      <p:sp>
        <p:nvSpPr>
          <p:cNvPr id="35" name="右大括号 34"/>
          <p:cNvSpPr/>
          <p:nvPr/>
        </p:nvSpPr>
        <p:spPr bwMode="auto">
          <a:xfrm rot="5400000">
            <a:off x="6971556" y="4703319"/>
            <a:ext cx="205622" cy="1718488"/>
          </a:xfrm>
          <a:prstGeom prst="rightBrace">
            <a:avLst>
              <a:gd name="adj1" fmla="val 8333"/>
              <a:gd name="adj2" fmla="val 46076"/>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36" name="矩形 35"/>
              <p:cNvSpPr/>
              <p:nvPr/>
            </p:nvSpPr>
            <p:spPr>
              <a:xfrm>
                <a:off x="6522663" y="5583092"/>
                <a:ext cx="133671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4</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4</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4</m:t>
                              </m:r>
                            </m:sub>
                          </m:sSub>
                        </m:e>
                      </m:d>
                    </m:oMath>
                  </m:oMathPara>
                </a14:m>
                <a:endParaRPr lang="zh-CN" altLang="en-US" dirty="0"/>
              </a:p>
            </p:txBody>
          </p:sp>
        </mc:Choice>
        <mc:Fallback xmlns="">
          <p:sp>
            <p:nvSpPr>
              <p:cNvPr id="36" name="矩形 35"/>
              <p:cNvSpPr>
                <a:spLocks noRot="1" noChangeAspect="1" noMove="1" noResize="1" noEditPoints="1" noAdjustHandles="1" noChangeArrowheads="1" noChangeShapeType="1" noTextEdit="1"/>
              </p:cNvSpPr>
              <p:nvPr/>
            </p:nvSpPr>
            <p:spPr>
              <a:xfrm>
                <a:off x="6522663" y="5583092"/>
                <a:ext cx="1336713" cy="400110"/>
              </a:xfrm>
              <a:prstGeom prst="rect">
                <a:avLst/>
              </a:prstGeom>
              <a:blipFill>
                <a:blip r:embed="rId10"/>
                <a:stretch>
                  <a:fillRect b="-30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p:cNvSpPr/>
              <p:nvPr/>
            </p:nvSpPr>
            <p:spPr>
              <a:xfrm>
                <a:off x="7265093" y="6063613"/>
                <a:ext cx="86177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a:latin typeface="Cambria Math" panose="02040503050406030204" pitchFamily="18" charset="0"/>
                            </a:rPr>
                            <m:t>𝑓</m:t>
                          </m:r>
                        </m:e>
                        <m:sub>
                          <m:r>
                            <a:rPr lang="en-US" altLang="zh-CN" b="0" i="1" smtClean="0">
                              <a:latin typeface="Cambria Math" panose="02040503050406030204" pitchFamily="18" charset="0"/>
                            </a:rPr>
                            <m:t>4</m:t>
                          </m:r>
                          <m:r>
                            <a:rPr lang="en-US" altLang="zh-CN" b="0" i="1">
                              <a:latin typeface="Cambria Math" panose="02040503050406030204" pitchFamily="18" charset="0"/>
                            </a:rPr>
                            <m:t> </m:t>
                          </m:r>
                        </m:sub>
                      </m:sSub>
                      <m:r>
                        <a:rPr lang="en-US" altLang="zh-CN" b="0" i="1">
                          <a:latin typeface="Cambria Math" panose="02040503050406030204" pitchFamily="18" charset="0"/>
                        </a:rPr>
                        <m:t>(</m:t>
                      </m:r>
                      <m:r>
                        <a:rPr lang="en-US" altLang="zh-CN" i="1" smtClean="0">
                          <a:latin typeface="Cambria Math" panose="02040503050406030204" pitchFamily="18" charset="0"/>
                        </a:rPr>
                        <m:t>4</m:t>
                      </m:r>
                      <m:r>
                        <a:rPr lang="en-US" altLang="zh-CN" b="0" i="1">
                          <a:latin typeface="Cambria Math" panose="02040503050406030204" pitchFamily="18" charset="0"/>
                        </a:rPr>
                        <m:t>)</m:t>
                      </m:r>
                    </m:oMath>
                  </m:oMathPara>
                </a14:m>
                <a:endParaRPr lang="zh-CN" altLang="en-US" dirty="0"/>
              </a:p>
            </p:txBody>
          </p:sp>
        </mc:Choice>
        <mc:Fallback xmlns="">
          <p:sp>
            <p:nvSpPr>
              <p:cNvPr id="37" name="矩形 36"/>
              <p:cNvSpPr>
                <a:spLocks noRot="1" noChangeAspect="1" noMove="1" noResize="1" noEditPoints="1" noAdjustHandles="1" noChangeArrowheads="1" noChangeShapeType="1" noTextEdit="1"/>
              </p:cNvSpPr>
              <p:nvPr/>
            </p:nvSpPr>
            <p:spPr>
              <a:xfrm>
                <a:off x="7265093" y="6063613"/>
                <a:ext cx="861774" cy="400110"/>
              </a:xfrm>
              <a:prstGeom prst="rect">
                <a:avLst/>
              </a:prstGeom>
              <a:blipFill>
                <a:blip r:embed="rId11"/>
                <a:stretch>
                  <a:fillRect b="-18462"/>
                </a:stretch>
              </a:blipFill>
            </p:spPr>
            <p:txBody>
              <a:bodyPr/>
              <a:lstStyle/>
              <a:p>
                <a:r>
                  <a:rPr lang="zh-CN" altLang="en-US">
                    <a:noFill/>
                  </a:rPr>
                  <a:t> </a:t>
                </a:r>
              </a:p>
            </p:txBody>
          </p:sp>
        </mc:Fallback>
      </mc:AlternateContent>
      <p:sp>
        <p:nvSpPr>
          <p:cNvPr id="38" name="右大括号 37"/>
          <p:cNvSpPr/>
          <p:nvPr/>
        </p:nvSpPr>
        <p:spPr bwMode="auto">
          <a:xfrm rot="5400000">
            <a:off x="5194121" y="5247810"/>
            <a:ext cx="205622" cy="1718488"/>
          </a:xfrm>
          <a:prstGeom prst="rightBrace">
            <a:avLst>
              <a:gd name="adj1" fmla="val 8333"/>
              <a:gd name="adj2" fmla="val 46076"/>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39" name="矩形 38"/>
              <p:cNvSpPr/>
              <p:nvPr/>
            </p:nvSpPr>
            <p:spPr>
              <a:xfrm>
                <a:off x="4706698" y="6064449"/>
                <a:ext cx="133671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2</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3</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3</m:t>
                              </m:r>
                            </m:sub>
                          </m:sSub>
                        </m:e>
                      </m:d>
                    </m:oMath>
                  </m:oMathPara>
                </a14:m>
                <a:endParaRPr lang="zh-CN" altLang="en-US" dirty="0"/>
              </a:p>
            </p:txBody>
          </p:sp>
        </mc:Choice>
        <mc:Fallback xmlns="">
          <p:sp>
            <p:nvSpPr>
              <p:cNvPr id="39" name="矩形 38"/>
              <p:cNvSpPr>
                <a:spLocks noRot="1" noChangeAspect="1" noMove="1" noResize="1" noEditPoints="1" noAdjustHandles="1" noChangeArrowheads="1" noChangeShapeType="1" noTextEdit="1"/>
              </p:cNvSpPr>
              <p:nvPr/>
            </p:nvSpPr>
            <p:spPr>
              <a:xfrm>
                <a:off x="4706698" y="6064449"/>
                <a:ext cx="1336713" cy="400110"/>
              </a:xfrm>
              <a:prstGeom prst="rect">
                <a:avLst/>
              </a:prstGeom>
              <a:blipFill>
                <a:blip r:embed="rId12"/>
                <a:stretch>
                  <a:fillRect b="-4615"/>
                </a:stretch>
              </a:blipFill>
            </p:spPr>
            <p:txBody>
              <a:bodyPr/>
              <a:lstStyle/>
              <a:p>
                <a:r>
                  <a:rPr lang="zh-CN" altLang="en-US">
                    <a:noFill/>
                  </a:rPr>
                  <a:t> </a:t>
                </a:r>
              </a:p>
            </p:txBody>
          </p:sp>
        </mc:Fallback>
      </mc:AlternateContent>
      <p:sp>
        <p:nvSpPr>
          <p:cNvPr id="40" name="右大括号 39"/>
          <p:cNvSpPr/>
          <p:nvPr/>
        </p:nvSpPr>
        <p:spPr bwMode="auto">
          <a:xfrm rot="5400000">
            <a:off x="7492512" y="5189407"/>
            <a:ext cx="205622" cy="1718488"/>
          </a:xfrm>
          <a:prstGeom prst="rightBrace">
            <a:avLst>
              <a:gd name="adj1" fmla="val 8333"/>
              <a:gd name="adj2" fmla="val 46076"/>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41" name="矩形 40"/>
              <p:cNvSpPr/>
              <p:nvPr/>
            </p:nvSpPr>
            <p:spPr>
              <a:xfrm>
                <a:off x="6053615" y="6535214"/>
                <a:ext cx="96109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a:latin typeface="Cambria Math" panose="02040503050406030204" pitchFamily="18" charset="0"/>
                            </a:rPr>
                            <m:t>𝑓</m:t>
                          </m:r>
                        </m:e>
                        <m:sub>
                          <m:r>
                            <a:rPr lang="en-US" altLang="zh-CN" b="0" i="1" smtClean="0">
                              <a:latin typeface="Cambria Math" panose="02040503050406030204" pitchFamily="18" charset="0"/>
                            </a:rPr>
                            <m:t>3</m:t>
                          </m:r>
                          <m:r>
                            <a:rPr lang="en-US" altLang="zh-CN" b="0" i="1">
                              <a:latin typeface="Cambria Math" panose="02040503050406030204" pitchFamily="18" charset="0"/>
                            </a:rPr>
                            <m:t> </m:t>
                          </m:r>
                        </m:sub>
                      </m:sSub>
                      <m:r>
                        <a:rPr lang="en-US" altLang="zh-CN" b="0"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𝑠</m:t>
                          </m:r>
                        </m:e>
                        <m:sub>
                          <m:r>
                            <a:rPr lang="en-US" altLang="zh-CN" b="0" i="1" smtClean="0">
                              <a:latin typeface="Cambria Math" panose="02040503050406030204" pitchFamily="18" charset="0"/>
                            </a:rPr>
                            <m:t>3</m:t>
                          </m:r>
                        </m:sub>
                      </m:sSub>
                      <m:r>
                        <a:rPr lang="en-US" altLang="zh-CN" b="0" i="1">
                          <a:latin typeface="Cambria Math" panose="02040503050406030204" pitchFamily="18" charset="0"/>
                        </a:rPr>
                        <m:t>)</m:t>
                      </m:r>
                    </m:oMath>
                  </m:oMathPara>
                </a14:m>
                <a:endParaRPr lang="zh-CN" altLang="en-US" dirty="0"/>
              </a:p>
            </p:txBody>
          </p:sp>
        </mc:Choice>
        <mc:Fallback xmlns="">
          <p:sp>
            <p:nvSpPr>
              <p:cNvPr id="41" name="矩形 40"/>
              <p:cNvSpPr>
                <a:spLocks noRot="1" noChangeAspect="1" noMove="1" noResize="1" noEditPoints="1" noAdjustHandles="1" noChangeArrowheads="1" noChangeShapeType="1" noTextEdit="1"/>
              </p:cNvSpPr>
              <p:nvPr/>
            </p:nvSpPr>
            <p:spPr>
              <a:xfrm>
                <a:off x="6053615" y="6535214"/>
                <a:ext cx="961097" cy="400110"/>
              </a:xfrm>
              <a:prstGeom prst="rect">
                <a:avLst/>
              </a:prstGeom>
              <a:blipFill>
                <a:blip r:embed="rId13"/>
                <a:stretch>
                  <a:fillRect b="-18182"/>
                </a:stretch>
              </a:blipFill>
            </p:spPr>
            <p:txBody>
              <a:bodyPr/>
              <a:lstStyle/>
              <a:p>
                <a:r>
                  <a:rPr lang="zh-CN" altLang="en-US">
                    <a:noFill/>
                  </a:rPr>
                  <a:t> </a:t>
                </a:r>
              </a:p>
            </p:txBody>
          </p:sp>
        </mc:Fallback>
      </mc:AlternateContent>
      <p:sp>
        <p:nvSpPr>
          <p:cNvPr id="42" name="右大括号 41"/>
          <p:cNvSpPr/>
          <p:nvPr/>
        </p:nvSpPr>
        <p:spPr bwMode="auto">
          <a:xfrm rot="5400000">
            <a:off x="6277007" y="5680628"/>
            <a:ext cx="205622" cy="1718488"/>
          </a:xfrm>
          <a:prstGeom prst="rightBrace">
            <a:avLst>
              <a:gd name="adj1" fmla="val 8333"/>
              <a:gd name="adj2" fmla="val 46076"/>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43772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animBg="1"/>
      <p:bldP spid="36" grpId="0"/>
      <p:bldP spid="37" grpId="0"/>
      <p:bldP spid="38" grpId="0" animBg="1"/>
      <p:bldP spid="39" grpId="0"/>
      <p:bldP spid="40" grpId="0" animBg="1"/>
      <p:bldP spid="41" grpId="0"/>
      <p:bldP spid="4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a:xfrm>
            <a:off x="1270422" y="478731"/>
            <a:ext cx="6830652" cy="576163"/>
          </a:xfrm>
        </p:spPr>
        <p:txBody>
          <a:bodyPr/>
          <a:lstStyle/>
          <a:p>
            <a:pPr eaLnBrk="1" hangingPunct="1"/>
            <a:r>
              <a:rPr lang="en-US" altLang="zh-CN" dirty="0"/>
              <a:t>8.3</a:t>
            </a:r>
            <a:r>
              <a:rPr lang="zh-CN" altLang="en-US" dirty="0"/>
              <a:t>  动态规划的求解方法</a:t>
            </a:r>
          </a:p>
        </p:txBody>
      </p:sp>
      <p:sp>
        <p:nvSpPr>
          <p:cNvPr id="2" name="内容占位符 1"/>
          <p:cNvSpPr>
            <a:spLocks noGrp="1"/>
          </p:cNvSpPr>
          <p:nvPr>
            <p:ph idx="1"/>
          </p:nvPr>
        </p:nvSpPr>
        <p:spPr>
          <a:xfrm>
            <a:off x="539552" y="1337268"/>
            <a:ext cx="8280920" cy="904863"/>
          </a:xfrm>
        </p:spPr>
        <p:txBody>
          <a:bodyPr/>
          <a:lstStyle/>
          <a:p>
            <a:r>
              <a:rPr lang="zh-CN" altLang="en-US" dirty="0"/>
              <a:t>求解最短路问题的标号法</a:t>
            </a:r>
            <a:r>
              <a:rPr lang="en-US" altLang="zh-CN" dirty="0"/>
              <a:t>——</a:t>
            </a:r>
            <a:r>
              <a:rPr lang="zh-CN" altLang="en-US" dirty="0"/>
              <a:t>逆序解法</a:t>
            </a:r>
          </a:p>
          <a:p>
            <a:endParaRPr lang="zh-CN" altLang="en-US" dirty="0"/>
          </a:p>
        </p:txBody>
      </p:sp>
      <p:sp>
        <p:nvSpPr>
          <p:cNvPr id="27651"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109096D-B28C-4571-8A1C-D11AB4B73E64}" type="slidenum">
              <a:rPr lang="en-US" altLang="zh-CN" sz="1000"/>
              <a:pPr>
                <a:spcBef>
                  <a:spcPct val="0"/>
                </a:spcBef>
                <a:buClrTx/>
                <a:buSzTx/>
                <a:buFontTx/>
                <a:buNone/>
              </a:pPr>
              <a:t>27</a:t>
            </a:fld>
            <a:endParaRPr lang="en-US" altLang="zh-CN" sz="1000"/>
          </a:p>
        </p:txBody>
      </p:sp>
      <p:sp>
        <p:nvSpPr>
          <p:cNvPr id="27653"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grpSp>
        <p:nvGrpSpPr>
          <p:cNvPr id="7" name="Group 116"/>
          <p:cNvGrpSpPr>
            <a:grpSpLocks/>
          </p:cNvGrpSpPr>
          <p:nvPr/>
        </p:nvGrpSpPr>
        <p:grpSpPr bwMode="auto">
          <a:xfrm>
            <a:off x="908112" y="2286318"/>
            <a:ext cx="7543800" cy="3036941"/>
            <a:chOff x="2138" y="3758"/>
            <a:chExt cx="5988" cy="3379"/>
          </a:xfrm>
        </p:grpSpPr>
        <p:grpSp>
          <p:nvGrpSpPr>
            <p:cNvPr id="8" name="Group 117"/>
            <p:cNvGrpSpPr>
              <a:grpSpLocks/>
            </p:cNvGrpSpPr>
            <p:nvPr/>
          </p:nvGrpSpPr>
          <p:grpSpPr bwMode="auto">
            <a:xfrm>
              <a:off x="2138" y="3758"/>
              <a:ext cx="5988" cy="3379"/>
              <a:chOff x="2138" y="3758"/>
              <a:chExt cx="5988" cy="3379"/>
            </a:xfrm>
          </p:grpSpPr>
          <p:sp>
            <p:nvSpPr>
              <p:cNvPr id="39" name="Oval 118"/>
              <p:cNvSpPr>
                <a:spLocks noChangeArrowheads="1"/>
              </p:cNvSpPr>
              <p:nvPr/>
            </p:nvSpPr>
            <p:spPr bwMode="auto">
              <a:xfrm>
                <a:off x="2236" y="5159"/>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endParaRPr kumimoji="0" lang="zh-CN" altLang="zh-CN" sz="2000">
                  <a:latin typeface="Arial Narrow" panose="020B0606020202030204" pitchFamily="34" charset="0"/>
                  <a:ea typeface="宋体" panose="02010600030101010101" pitchFamily="2" charset="-122"/>
                </a:endParaRPr>
              </a:p>
            </p:txBody>
          </p:sp>
          <p:sp>
            <p:nvSpPr>
              <p:cNvPr id="40" name="Oval 119"/>
              <p:cNvSpPr>
                <a:spLocks noChangeArrowheads="1"/>
              </p:cNvSpPr>
              <p:nvPr/>
            </p:nvSpPr>
            <p:spPr bwMode="auto">
              <a:xfrm>
                <a:off x="3353" y="4523"/>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1" name="Oval 120"/>
              <p:cNvSpPr>
                <a:spLocks noChangeArrowheads="1"/>
              </p:cNvSpPr>
              <p:nvPr/>
            </p:nvSpPr>
            <p:spPr bwMode="auto">
              <a:xfrm>
                <a:off x="3316" y="5945"/>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2" name="Oval 121"/>
              <p:cNvSpPr>
                <a:spLocks noChangeArrowheads="1"/>
              </p:cNvSpPr>
              <p:nvPr/>
            </p:nvSpPr>
            <p:spPr bwMode="auto">
              <a:xfrm>
                <a:off x="4576" y="3899"/>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3" name="Oval 122"/>
              <p:cNvSpPr>
                <a:spLocks noChangeArrowheads="1"/>
              </p:cNvSpPr>
              <p:nvPr/>
            </p:nvSpPr>
            <p:spPr bwMode="auto">
              <a:xfrm>
                <a:off x="4576" y="4690"/>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4" name="Oval 123"/>
              <p:cNvSpPr>
                <a:spLocks noChangeArrowheads="1"/>
              </p:cNvSpPr>
              <p:nvPr/>
            </p:nvSpPr>
            <p:spPr bwMode="auto">
              <a:xfrm>
                <a:off x="4576" y="5765"/>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5" name="Oval 124"/>
              <p:cNvSpPr>
                <a:spLocks noChangeArrowheads="1"/>
              </p:cNvSpPr>
              <p:nvPr/>
            </p:nvSpPr>
            <p:spPr bwMode="auto">
              <a:xfrm>
                <a:off x="4576" y="6635"/>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6" name="Oval 125"/>
              <p:cNvSpPr>
                <a:spLocks noChangeArrowheads="1"/>
              </p:cNvSpPr>
              <p:nvPr/>
            </p:nvSpPr>
            <p:spPr bwMode="auto">
              <a:xfrm>
                <a:off x="5873" y="4211"/>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7" name="Oval 126"/>
              <p:cNvSpPr>
                <a:spLocks noChangeArrowheads="1"/>
              </p:cNvSpPr>
              <p:nvPr/>
            </p:nvSpPr>
            <p:spPr bwMode="auto">
              <a:xfrm>
                <a:off x="5873" y="5189"/>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8" name="Oval 127"/>
              <p:cNvSpPr>
                <a:spLocks noChangeArrowheads="1"/>
              </p:cNvSpPr>
              <p:nvPr/>
            </p:nvSpPr>
            <p:spPr bwMode="auto">
              <a:xfrm>
                <a:off x="5873" y="6323"/>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9" name="Oval 128"/>
              <p:cNvSpPr>
                <a:spLocks noChangeArrowheads="1"/>
              </p:cNvSpPr>
              <p:nvPr/>
            </p:nvSpPr>
            <p:spPr bwMode="auto">
              <a:xfrm>
                <a:off x="7313" y="5321"/>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50" name="Oval 129"/>
              <p:cNvSpPr>
                <a:spLocks noChangeArrowheads="1"/>
              </p:cNvSpPr>
              <p:nvPr/>
            </p:nvSpPr>
            <p:spPr bwMode="auto">
              <a:xfrm>
                <a:off x="3233" y="4427"/>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B</a:t>
                </a:r>
                <a:r>
                  <a:rPr kumimoji="0" lang="en-US" altLang="zh-CN" sz="2000" baseline="-25000">
                    <a:latin typeface="Arial Narrow" panose="020B0606020202030204" pitchFamily="34" charset="0"/>
                    <a:ea typeface="宋体" panose="02010600030101010101" pitchFamily="2" charset="-122"/>
                  </a:rPr>
                  <a:t>1</a:t>
                </a:r>
              </a:p>
            </p:txBody>
          </p:sp>
          <p:sp>
            <p:nvSpPr>
              <p:cNvPr id="51" name="Oval 130"/>
              <p:cNvSpPr>
                <a:spLocks noChangeArrowheads="1"/>
              </p:cNvSpPr>
              <p:nvPr/>
            </p:nvSpPr>
            <p:spPr bwMode="auto">
              <a:xfrm>
                <a:off x="2138" y="5084"/>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A</a:t>
                </a:r>
              </a:p>
            </p:txBody>
          </p:sp>
          <p:sp>
            <p:nvSpPr>
              <p:cNvPr id="52" name="Oval 131"/>
              <p:cNvSpPr>
                <a:spLocks noChangeArrowheads="1"/>
              </p:cNvSpPr>
              <p:nvPr/>
            </p:nvSpPr>
            <p:spPr bwMode="auto">
              <a:xfrm>
                <a:off x="4433" y="3758"/>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C</a:t>
                </a:r>
                <a:r>
                  <a:rPr kumimoji="0" lang="en-US" altLang="zh-CN" sz="2000" baseline="-25000">
                    <a:latin typeface="Arial Narrow" panose="020B0606020202030204" pitchFamily="34" charset="0"/>
                    <a:ea typeface="宋体" panose="02010600030101010101" pitchFamily="2" charset="-122"/>
                  </a:rPr>
                  <a:t>1</a:t>
                </a:r>
              </a:p>
            </p:txBody>
          </p:sp>
          <p:sp>
            <p:nvSpPr>
              <p:cNvPr id="53" name="Oval 132"/>
              <p:cNvSpPr>
                <a:spLocks noChangeArrowheads="1"/>
              </p:cNvSpPr>
              <p:nvPr/>
            </p:nvSpPr>
            <p:spPr bwMode="auto">
              <a:xfrm>
                <a:off x="3188" y="5855"/>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B</a:t>
                </a:r>
                <a:r>
                  <a:rPr kumimoji="0" lang="en-US" altLang="zh-CN" sz="2000" baseline="-25000">
                    <a:latin typeface="Arial Narrow" panose="020B0606020202030204" pitchFamily="34" charset="0"/>
                    <a:ea typeface="宋体" panose="02010600030101010101" pitchFamily="2" charset="-122"/>
                  </a:rPr>
                  <a:t>2</a:t>
                </a:r>
              </a:p>
            </p:txBody>
          </p:sp>
          <p:sp>
            <p:nvSpPr>
              <p:cNvPr id="54" name="Oval 133"/>
              <p:cNvSpPr>
                <a:spLocks noChangeArrowheads="1"/>
              </p:cNvSpPr>
              <p:nvPr/>
            </p:nvSpPr>
            <p:spPr bwMode="auto">
              <a:xfrm>
                <a:off x="4433" y="5652"/>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dirty="0">
                    <a:latin typeface="Arial Narrow" panose="020B0606020202030204" pitchFamily="34" charset="0"/>
                    <a:ea typeface="宋体" panose="02010600030101010101" pitchFamily="2" charset="-122"/>
                  </a:rPr>
                  <a:t> C</a:t>
                </a:r>
                <a:r>
                  <a:rPr kumimoji="0" lang="en-US" altLang="zh-CN" sz="2000" baseline="-25000" dirty="0">
                    <a:latin typeface="Arial Narrow" panose="020B0606020202030204" pitchFamily="34" charset="0"/>
                    <a:ea typeface="宋体" panose="02010600030101010101" pitchFamily="2" charset="-122"/>
                  </a:rPr>
                  <a:t>3</a:t>
                </a:r>
              </a:p>
            </p:txBody>
          </p:sp>
          <p:sp>
            <p:nvSpPr>
              <p:cNvPr id="55" name="Oval 134"/>
              <p:cNvSpPr>
                <a:spLocks noChangeArrowheads="1"/>
              </p:cNvSpPr>
              <p:nvPr/>
            </p:nvSpPr>
            <p:spPr bwMode="auto">
              <a:xfrm>
                <a:off x="7223" y="5208"/>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E</a:t>
                </a:r>
              </a:p>
            </p:txBody>
          </p:sp>
          <p:sp>
            <p:nvSpPr>
              <p:cNvPr id="56" name="Oval 135"/>
              <p:cNvSpPr>
                <a:spLocks noChangeArrowheads="1"/>
              </p:cNvSpPr>
              <p:nvPr/>
            </p:nvSpPr>
            <p:spPr bwMode="auto">
              <a:xfrm>
                <a:off x="5753" y="4070"/>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D</a:t>
                </a:r>
                <a:r>
                  <a:rPr kumimoji="0" lang="en-US" altLang="zh-CN" sz="2000" baseline="-25000">
                    <a:latin typeface="Arial Narrow" panose="020B0606020202030204" pitchFamily="34" charset="0"/>
                    <a:ea typeface="宋体" panose="02010600030101010101" pitchFamily="2" charset="-122"/>
                  </a:rPr>
                  <a:t>1</a:t>
                </a:r>
              </a:p>
            </p:txBody>
          </p:sp>
          <p:sp>
            <p:nvSpPr>
              <p:cNvPr id="57" name="Oval 136"/>
              <p:cNvSpPr>
                <a:spLocks noChangeArrowheads="1"/>
              </p:cNvSpPr>
              <p:nvPr/>
            </p:nvSpPr>
            <p:spPr bwMode="auto">
              <a:xfrm>
                <a:off x="4433" y="6513"/>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C</a:t>
                </a:r>
                <a:r>
                  <a:rPr kumimoji="0" lang="en-US" altLang="zh-CN" sz="2000" baseline="-25000">
                    <a:latin typeface="Arial Narrow" panose="020B0606020202030204" pitchFamily="34" charset="0"/>
                    <a:ea typeface="宋体" panose="02010600030101010101" pitchFamily="2" charset="-122"/>
                  </a:rPr>
                  <a:t>4</a:t>
                </a:r>
              </a:p>
            </p:txBody>
          </p:sp>
          <p:sp>
            <p:nvSpPr>
              <p:cNvPr id="58" name="Oval 137"/>
              <p:cNvSpPr>
                <a:spLocks noChangeArrowheads="1"/>
              </p:cNvSpPr>
              <p:nvPr/>
            </p:nvSpPr>
            <p:spPr bwMode="auto">
              <a:xfrm>
                <a:off x="4403" y="4568"/>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C</a:t>
                </a:r>
                <a:r>
                  <a:rPr kumimoji="0" lang="en-US" altLang="zh-CN" sz="2000" baseline="-25000">
                    <a:latin typeface="Arial Narrow" panose="020B0606020202030204" pitchFamily="34" charset="0"/>
                    <a:ea typeface="宋体" panose="02010600030101010101" pitchFamily="2" charset="-122"/>
                  </a:rPr>
                  <a:t>2</a:t>
                </a:r>
              </a:p>
            </p:txBody>
          </p:sp>
          <p:sp>
            <p:nvSpPr>
              <p:cNvPr id="59" name="Oval 138"/>
              <p:cNvSpPr>
                <a:spLocks noChangeArrowheads="1"/>
              </p:cNvSpPr>
              <p:nvPr/>
            </p:nvSpPr>
            <p:spPr bwMode="auto">
              <a:xfrm>
                <a:off x="5738" y="6216"/>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D</a:t>
                </a:r>
                <a:r>
                  <a:rPr kumimoji="0" lang="en-US" altLang="zh-CN" sz="2000" baseline="-25000">
                    <a:latin typeface="Arial Narrow" panose="020B0606020202030204" pitchFamily="34" charset="0"/>
                    <a:ea typeface="宋体" panose="02010600030101010101" pitchFamily="2" charset="-122"/>
                  </a:rPr>
                  <a:t>3</a:t>
                </a:r>
              </a:p>
            </p:txBody>
          </p:sp>
          <p:sp>
            <p:nvSpPr>
              <p:cNvPr id="60" name="Oval 139"/>
              <p:cNvSpPr>
                <a:spLocks noChangeArrowheads="1"/>
              </p:cNvSpPr>
              <p:nvPr/>
            </p:nvSpPr>
            <p:spPr bwMode="auto">
              <a:xfrm>
                <a:off x="5723" y="5072"/>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D</a:t>
                </a:r>
                <a:r>
                  <a:rPr kumimoji="0" lang="en-US" altLang="zh-CN" sz="2000" baseline="-25000">
                    <a:latin typeface="Arial Narrow" panose="020B0606020202030204" pitchFamily="34" charset="0"/>
                    <a:ea typeface="宋体" panose="02010600030101010101" pitchFamily="2" charset="-122"/>
                  </a:rPr>
                  <a:t>2</a:t>
                </a:r>
              </a:p>
            </p:txBody>
          </p:sp>
          <p:sp>
            <p:nvSpPr>
              <p:cNvPr id="61" name="Line 140"/>
              <p:cNvSpPr>
                <a:spLocks noChangeShapeType="1"/>
              </p:cNvSpPr>
              <p:nvPr/>
            </p:nvSpPr>
            <p:spPr bwMode="auto">
              <a:xfrm flipV="1">
                <a:off x="2645" y="4820"/>
                <a:ext cx="737" cy="48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62" name="Line 141"/>
              <p:cNvSpPr>
                <a:spLocks noChangeShapeType="1"/>
              </p:cNvSpPr>
              <p:nvPr/>
            </p:nvSpPr>
            <p:spPr bwMode="auto">
              <a:xfrm>
                <a:off x="2630" y="5304"/>
                <a:ext cx="777" cy="68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63" name="Line 142"/>
              <p:cNvSpPr>
                <a:spLocks noChangeShapeType="1"/>
              </p:cNvSpPr>
              <p:nvPr/>
            </p:nvSpPr>
            <p:spPr bwMode="auto">
              <a:xfrm flipV="1">
                <a:off x="3728" y="4196"/>
                <a:ext cx="900" cy="46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64" name="Line 143"/>
              <p:cNvSpPr>
                <a:spLocks noChangeShapeType="1"/>
              </p:cNvSpPr>
              <p:nvPr/>
            </p:nvSpPr>
            <p:spPr bwMode="auto">
              <a:xfrm>
                <a:off x="3743" y="4679"/>
                <a:ext cx="845" cy="156"/>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65" name="Line 144"/>
              <p:cNvSpPr>
                <a:spLocks noChangeShapeType="1"/>
              </p:cNvSpPr>
              <p:nvPr/>
            </p:nvSpPr>
            <p:spPr bwMode="auto">
              <a:xfrm>
                <a:off x="3713" y="4679"/>
                <a:ext cx="900" cy="1151"/>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66" name="Line 145"/>
              <p:cNvSpPr>
                <a:spLocks noChangeShapeType="1"/>
              </p:cNvSpPr>
              <p:nvPr/>
            </p:nvSpPr>
            <p:spPr bwMode="auto">
              <a:xfrm flipV="1">
                <a:off x="3713" y="5072"/>
                <a:ext cx="1020" cy="99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67" name="Line 146"/>
              <p:cNvSpPr>
                <a:spLocks noChangeShapeType="1"/>
              </p:cNvSpPr>
              <p:nvPr/>
            </p:nvSpPr>
            <p:spPr bwMode="auto">
              <a:xfrm flipV="1">
                <a:off x="3728" y="5977"/>
                <a:ext cx="845" cy="10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68" name="Line 147"/>
              <p:cNvSpPr>
                <a:spLocks noChangeShapeType="1"/>
              </p:cNvSpPr>
              <p:nvPr/>
            </p:nvSpPr>
            <p:spPr bwMode="auto">
              <a:xfrm>
                <a:off x="3713" y="6088"/>
                <a:ext cx="900" cy="624"/>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grpSp>
        <p:sp>
          <p:nvSpPr>
            <p:cNvPr id="9" name="Line 148"/>
            <p:cNvSpPr>
              <a:spLocks noChangeShapeType="1"/>
            </p:cNvSpPr>
            <p:nvPr/>
          </p:nvSpPr>
          <p:spPr bwMode="auto">
            <a:xfrm>
              <a:off x="4973" y="4070"/>
              <a:ext cx="900" cy="31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0" name="Line 149"/>
            <p:cNvSpPr>
              <a:spLocks noChangeShapeType="1"/>
            </p:cNvSpPr>
            <p:nvPr/>
          </p:nvSpPr>
          <p:spPr bwMode="auto">
            <a:xfrm flipV="1">
              <a:off x="4988" y="4523"/>
              <a:ext cx="900" cy="31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1" name="Line 150"/>
            <p:cNvSpPr>
              <a:spLocks noChangeShapeType="1"/>
            </p:cNvSpPr>
            <p:nvPr/>
          </p:nvSpPr>
          <p:spPr bwMode="auto">
            <a:xfrm>
              <a:off x="4988" y="4835"/>
              <a:ext cx="900" cy="46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2" name="Line 151"/>
            <p:cNvSpPr>
              <a:spLocks noChangeShapeType="1"/>
            </p:cNvSpPr>
            <p:nvPr/>
          </p:nvSpPr>
          <p:spPr bwMode="auto">
            <a:xfrm flipV="1">
              <a:off x="5018" y="5474"/>
              <a:ext cx="900" cy="46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3" name="Line 152"/>
            <p:cNvSpPr>
              <a:spLocks noChangeShapeType="1"/>
            </p:cNvSpPr>
            <p:nvPr/>
          </p:nvSpPr>
          <p:spPr bwMode="auto">
            <a:xfrm>
              <a:off x="5018" y="5942"/>
              <a:ext cx="900" cy="46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4" name="Line 153"/>
            <p:cNvSpPr>
              <a:spLocks noChangeShapeType="1"/>
            </p:cNvSpPr>
            <p:nvPr/>
          </p:nvSpPr>
          <p:spPr bwMode="auto">
            <a:xfrm flipV="1">
              <a:off x="4988" y="6596"/>
              <a:ext cx="900" cy="156"/>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5" name="Line 154"/>
            <p:cNvSpPr>
              <a:spLocks noChangeShapeType="1"/>
            </p:cNvSpPr>
            <p:nvPr/>
          </p:nvSpPr>
          <p:spPr bwMode="auto">
            <a:xfrm>
              <a:off x="6308" y="4412"/>
              <a:ext cx="1080" cy="936"/>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6" name="Line 155"/>
            <p:cNvSpPr>
              <a:spLocks noChangeShapeType="1"/>
            </p:cNvSpPr>
            <p:nvPr/>
          </p:nvSpPr>
          <p:spPr bwMode="auto">
            <a:xfrm flipV="1">
              <a:off x="6278" y="5615"/>
              <a:ext cx="1089" cy="879"/>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7" name="Line 156"/>
            <p:cNvSpPr>
              <a:spLocks noChangeShapeType="1"/>
            </p:cNvSpPr>
            <p:nvPr/>
          </p:nvSpPr>
          <p:spPr bwMode="auto">
            <a:xfrm>
              <a:off x="4958" y="4076"/>
              <a:ext cx="1080" cy="109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8" name="Line 157"/>
            <p:cNvSpPr>
              <a:spLocks noChangeShapeType="1"/>
            </p:cNvSpPr>
            <p:nvPr/>
          </p:nvSpPr>
          <p:spPr bwMode="auto">
            <a:xfrm flipV="1">
              <a:off x="4958" y="5585"/>
              <a:ext cx="1094" cy="1151"/>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9" name="Line 158"/>
            <p:cNvSpPr>
              <a:spLocks noChangeShapeType="1"/>
            </p:cNvSpPr>
            <p:nvPr/>
          </p:nvSpPr>
          <p:spPr bwMode="auto">
            <a:xfrm>
              <a:off x="6263" y="5444"/>
              <a:ext cx="1080"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20" name="Rectangle 159"/>
            <p:cNvSpPr>
              <a:spLocks noChangeArrowheads="1"/>
            </p:cNvSpPr>
            <p:nvPr/>
          </p:nvSpPr>
          <p:spPr bwMode="auto">
            <a:xfrm>
              <a:off x="2678" y="516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3</a:t>
              </a:r>
            </a:p>
          </p:txBody>
        </p:sp>
        <p:sp>
          <p:nvSpPr>
            <p:cNvPr id="21" name="Rectangle 160"/>
            <p:cNvSpPr>
              <a:spLocks noChangeArrowheads="1"/>
            </p:cNvSpPr>
            <p:nvPr/>
          </p:nvSpPr>
          <p:spPr bwMode="auto">
            <a:xfrm>
              <a:off x="2558" y="4880"/>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5</a:t>
              </a:r>
            </a:p>
          </p:txBody>
        </p:sp>
        <p:sp>
          <p:nvSpPr>
            <p:cNvPr id="22" name="Rectangle 161"/>
            <p:cNvSpPr>
              <a:spLocks noChangeArrowheads="1"/>
            </p:cNvSpPr>
            <p:nvPr/>
          </p:nvSpPr>
          <p:spPr bwMode="auto">
            <a:xfrm>
              <a:off x="3923" y="4403"/>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3</a:t>
              </a:r>
            </a:p>
          </p:txBody>
        </p:sp>
        <p:sp>
          <p:nvSpPr>
            <p:cNvPr id="23" name="Rectangle 162"/>
            <p:cNvSpPr>
              <a:spLocks noChangeArrowheads="1"/>
            </p:cNvSpPr>
            <p:nvPr/>
          </p:nvSpPr>
          <p:spPr bwMode="auto">
            <a:xfrm>
              <a:off x="3758" y="4175"/>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1</a:t>
              </a:r>
            </a:p>
          </p:txBody>
        </p:sp>
        <p:sp>
          <p:nvSpPr>
            <p:cNvPr id="24" name="Rectangle 163"/>
            <p:cNvSpPr>
              <a:spLocks noChangeArrowheads="1"/>
            </p:cNvSpPr>
            <p:nvPr/>
          </p:nvSpPr>
          <p:spPr bwMode="auto">
            <a:xfrm>
              <a:off x="3848" y="4694"/>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6</a:t>
              </a:r>
            </a:p>
          </p:txBody>
        </p:sp>
        <p:sp>
          <p:nvSpPr>
            <p:cNvPr id="25" name="Rectangle 164"/>
            <p:cNvSpPr>
              <a:spLocks noChangeArrowheads="1"/>
            </p:cNvSpPr>
            <p:nvPr/>
          </p:nvSpPr>
          <p:spPr bwMode="auto">
            <a:xfrm>
              <a:off x="3578" y="5624"/>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8</a:t>
              </a:r>
            </a:p>
          </p:txBody>
        </p:sp>
        <p:sp>
          <p:nvSpPr>
            <p:cNvPr id="26" name="Rectangle 165"/>
            <p:cNvSpPr>
              <a:spLocks noChangeArrowheads="1"/>
            </p:cNvSpPr>
            <p:nvPr/>
          </p:nvSpPr>
          <p:spPr bwMode="auto">
            <a:xfrm>
              <a:off x="3683" y="6113"/>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6</a:t>
              </a:r>
            </a:p>
          </p:txBody>
        </p:sp>
        <p:sp>
          <p:nvSpPr>
            <p:cNvPr id="27" name="Rectangle 166"/>
            <p:cNvSpPr>
              <a:spLocks noChangeArrowheads="1"/>
            </p:cNvSpPr>
            <p:nvPr/>
          </p:nvSpPr>
          <p:spPr bwMode="auto">
            <a:xfrm>
              <a:off x="5078" y="3788"/>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6</a:t>
              </a:r>
            </a:p>
          </p:txBody>
        </p:sp>
        <p:sp>
          <p:nvSpPr>
            <p:cNvPr id="28" name="Rectangle 167"/>
            <p:cNvSpPr>
              <a:spLocks noChangeArrowheads="1"/>
            </p:cNvSpPr>
            <p:nvPr/>
          </p:nvSpPr>
          <p:spPr bwMode="auto">
            <a:xfrm>
              <a:off x="3863" y="569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7</a:t>
              </a:r>
            </a:p>
          </p:txBody>
        </p:sp>
        <p:sp>
          <p:nvSpPr>
            <p:cNvPr id="29" name="Rectangle 168"/>
            <p:cNvSpPr>
              <a:spLocks noChangeArrowheads="1"/>
            </p:cNvSpPr>
            <p:nvPr/>
          </p:nvSpPr>
          <p:spPr bwMode="auto">
            <a:xfrm>
              <a:off x="4928" y="4427"/>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3</a:t>
              </a:r>
            </a:p>
          </p:txBody>
        </p:sp>
        <p:sp>
          <p:nvSpPr>
            <p:cNvPr id="30" name="Rectangle 169"/>
            <p:cNvSpPr>
              <a:spLocks noChangeArrowheads="1"/>
            </p:cNvSpPr>
            <p:nvPr/>
          </p:nvSpPr>
          <p:spPr bwMode="auto">
            <a:xfrm>
              <a:off x="4913" y="4835"/>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5</a:t>
              </a:r>
            </a:p>
          </p:txBody>
        </p:sp>
        <p:sp>
          <p:nvSpPr>
            <p:cNvPr id="31" name="Rectangle 170"/>
            <p:cNvSpPr>
              <a:spLocks noChangeArrowheads="1"/>
            </p:cNvSpPr>
            <p:nvPr/>
          </p:nvSpPr>
          <p:spPr bwMode="auto">
            <a:xfrm>
              <a:off x="4838" y="4070"/>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8</a:t>
              </a:r>
            </a:p>
          </p:txBody>
        </p:sp>
        <p:sp>
          <p:nvSpPr>
            <p:cNvPr id="32" name="Rectangle 171"/>
            <p:cNvSpPr>
              <a:spLocks noChangeArrowheads="1"/>
            </p:cNvSpPr>
            <p:nvPr/>
          </p:nvSpPr>
          <p:spPr bwMode="auto">
            <a:xfrm>
              <a:off x="4958" y="5927"/>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3</a:t>
              </a:r>
            </a:p>
          </p:txBody>
        </p:sp>
        <p:sp>
          <p:nvSpPr>
            <p:cNvPr id="33" name="Rectangle 172"/>
            <p:cNvSpPr>
              <a:spLocks noChangeArrowheads="1"/>
            </p:cNvSpPr>
            <p:nvPr/>
          </p:nvSpPr>
          <p:spPr bwMode="auto">
            <a:xfrm>
              <a:off x="5003" y="5495"/>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3</a:t>
              </a:r>
            </a:p>
          </p:txBody>
        </p:sp>
        <p:sp>
          <p:nvSpPr>
            <p:cNvPr id="34" name="Rectangle 173"/>
            <p:cNvSpPr>
              <a:spLocks noChangeArrowheads="1"/>
            </p:cNvSpPr>
            <p:nvPr/>
          </p:nvSpPr>
          <p:spPr bwMode="auto">
            <a:xfrm>
              <a:off x="4808" y="6284"/>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8</a:t>
              </a:r>
            </a:p>
          </p:txBody>
        </p:sp>
        <p:sp>
          <p:nvSpPr>
            <p:cNvPr id="35" name="Rectangle 174"/>
            <p:cNvSpPr>
              <a:spLocks noChangeArrowheads="1"/>
            </p:cNvSpPr>
            <p:nvPr/>
          </p:nvSpPr>
          <p:spPr bwMode="auto">
            <a:xfrm>
              <a:off x="4958" y="6647"/>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4</a:t>
              </a:r>
            </a:p>
          </p:txBody>
        </p:sp>
        <p:sp>
          <p:nvSpPr>
            <p:cNvPr id="36" name="Rectangle 175"/>
            <p:cNvSpPr>
              <a:spLocks noChangeArrowheads="1"/>
            </p:cNvSpPr>
            <p:nvPr/>
          </p:nvSpPr>
          <p:spPr bwMode="auto">
            <a:xfrm>
              <a:off x="6473" y="5081"/>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2</a:t>
              </a:r>
            </a:p>
          </p:txBody>
        </p:sp>
        <p:sp>
          <p:nvSpPr>
            <p:cNvPr id="37" name="Rectangle 176"/>
            <p:cNvSpPr>
              <a:spLocks noChangeArrowheads="1"/>
            </p:cNvSpPr>
            <p:nvPr/>
          </p:nvSpPr>
          <p:spPr bwMode="auto">
            <a:xfrm>
              <a:off x="6608" y="4397"/>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3</a:t>
              </a:r>
            </a:p>
          </p:txBody>
        </p:sp>
        <p:sp>
          <p:nvSpPr>
            <p:cNvPr id="38" name="Rectangle 177"/>
            <p:cNvSpPr>
              <a:spLocks noChangeArrowheads="1"/>
            </p:cNvSpPr>
            <p:nvPr/>
          </p:nvSpPr>
          <p:spPr bwMode="auto">
            <a:xfrm>
              <a:off x="6278" y="594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2</a:t>
              </a:r>
            </a:p>
          </p:txBody>
        </p:sp>
      </p:grpSp>
      <p:sp>
        <p:nvSpPr>
          <p:cNvPr id="3" name="文本框 2"/>
          <p:cNvSpPr txBox="1"/>
          <p:nvPr/>
        </p:nvSpPr>
        <p:spPr bwMode="auto">
          <a:xfrm>
            <a:off x="7552136" y="3303363"/>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0</a:t>
            </a:r>
            <a:endParaRPr lang="zh-CN" altLang="en-US" sz="1800" dirty="0">
              <a:latin typeface="Times New Roman" panose="02020603050405020304" pitchFamily="18" charset="0"/>
              <a:cs typeface="Courier New" panose="02070309020205020404" pitchFamily="49" charset="0"/>
            </a:endParaRPr>
          </a:p>
        </p:txBody>
      </p:sp>
      <p:sp>
        <p:nvSpPr>
          <p:cNvPr id="69" name="文本框 68"/>
          <p:cNvSpPr txBox="1"/>
          <p:nvPr/>
        </p:nvSpPr>
        <p:spPr bwMode="auto">
          <a:xfrm>
            <a:off x="2535554" y="2552509"/>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9</a:t>
            </a:r>
            <a:endParaRPr lang="zh-CN" altLang="en-US" sz="1800" dirty="0">
              <a:latin typeface="Times New Roman" panose="02020603050405020304" pitchFamily="18" charset="0"/>
              <a:cs typeface="Courier New" panose="02070309020205020404" pitchFamily="49" charset="0"/>
            </a:endParaRPr>
          </a:p>
        </p:txBody>
      </p:sp>
      <p:sp>
        <p:nvSpPr>
          <p:cNvPr id="70" name="文本框 69"/>
          <p:cNvSpPr txBox="1"/>
          <p:nvPr/>
        </p:nvSpPr>
        <p:spPr bwMode="auto">
          <a:xfrm>
            <a:off x="2449115" y="3817721"/>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12</a:t>
            </a:r>
            <a:endParaRPr lang="zh-CN" altLang="en-US" sz="1800" dirty="0">
              <a:latin typeface="Times New Roman" panose="02020603050405020304" pitchFamily="18" charset="0"/>
              <a:cs typeface="Courier New" panose="02070309020205020404" pitchFamily="49" charset="0"/>
            </a:endParaRPr>
          </a:p>
        </p:txBody>
      </p:sp>
      <p:cxnSp>
        <p:nvCxnSpPr>
          <p:cNvPr id="5" name="直接箭头连接符 4"/>
          <p:cNvCxnSpPr>
            <a:stCxn id="15" idx="0"/>
            <a:endCxn id="15" idx="1"/>
          </p:cNvCxnSpPr>
          <p:nvPr/>
        </p:nvCxnSpPr>
        <p:spPr bwMode="auto">
          <a:xfrm>
            <a:off x="6161560" y="2874113"/>
            <a:ext cx="1360605" cy="841248"/>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箭头连接符 73"/>
          <p:cNvCxnSpPr>
            <a:endCxn id="16" idx="1"/>
          </p:cNvCxnSpPr>
          <p:nvPr/>
        </p:nvCxnSpPr>
        <p:spPr bwMode="auto">
          <a:xfrm flipV="1">
            <a:off x="6149022" y="3955332"/>
            <a:ext cx="1346687" cy="770643"/>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 name="文本框 76"/>
          <p:cNvSpPr txBox="1"/>
          <p:nvPr/>
        </p:nvSpPr>
        <p:spPr bwMode="auto">
          <a:xfrm>
            <a:off x="4068124" y="199178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9</a:t>
            </a:r>
            <a:endParaRPr lang="zh-CN" altLang="en-US" sz="1800" dirty="0">
              <a:latin typeface="Times New Roman" panose="02020603050405020304" pitchFamily="18" charset="0"/>
              <a:cs typeface="Courier New" panose="02070309020205020404" pitchFamily="49" charset="0"/>
            </a:endParaRPr>
          </a:p>
        </p:txBody>
      </p:sp>
      <p:sp>
        <p:nvSpPr>
          <p:cNvPr id="81" name="文本框 80"/>
          <p:cNvSpPr txBox="1"/>
          <p:nvPr/>
        </p:nvSpPr>
        <p:spPr bwMode="auto">
          <a:xfrm>
            <a:off x="4067520" y="276599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6</a:t>
            </a:r>
            <a:endParaRPr lang="zh-CN" altLang="en-US" sz="1800" dirty="0">
              <a:latin typeface="Times New Roman" panose="02020603050405020304" pitchFamily="18" charset="0"/>
              <a:cs typeface="Courier New" panose="02070309020205020404" pitchFamily="49" charset="0"/>
            </a:endParaRPr>
          </a:p>
        </p:txBody>
      </p:sp>
      <p:cxnSp>
        <p:nvCxnSpPr>
          <p:cNvPr id="82" name="直接箭头连接符 81"/>
          <p:cNvCxnSpPr>
            <a:stCxn id="64" idx="0"/>
            <a:endCxn id="64" idx="1"/>
          </p:cNvCxnSpPr>
          <p:nvPr/>
        </p:nvCxnSpPr>
        <p:spPr bwMode="auto">
          <a:xfrm>
            <a:off x="2930123" y="3114084"/>
            <a:ext cx="1064548" cy="140208"/>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文本框 84"/>
          <p:cNvSpPr txBox="1"/>
          <p:nvPr/>
        </p:nvSpPr>
        <p:spPr bwMode="auto">
          <a:xfrm>
            <a:off x="4076821" y="370209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5</a:t>
            </a:r>
            <a:endParaRPr lang="zh-CN" altLang="en-US" sz="1800" dirty="0">
              <a:latin typeface="Times New Roman" panose="02020603050405020304" pitchFamily="18" charset="0"/>
              <a:cs typeface="Courier New" panose="02070309020205020404" pitchFamily="49" charset="0"/>
            </a:endParaRPr>
          </a:p>
        </p:txBody>
      </p:sp>
      <p:cxnSp>
        <p:nvCxnSpPr>
          <p:cNvPr id="86" name="直接箭头连接符 85"/>
          <p:cNvCxnSpPr>
            <a:stCxn id="67" idx="0"/>
            <a:endCxn id="67" idx="1"/>
          </p:cNvCxnSpPr>
          <p:nvPr/>
        </p:nvCxnSpPr>
        <p:spPr bwMode="auto">
          <a:xfrm flipV="1">
            <a:off x="2911225" y="4280687"/>
            <a:ext cx="1064548" cy="91674"/>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文本框 88"/>
          <p:cNvSpPr txBox="1"/>
          <p:nvPr/>
        </p:nvSpPr>
        <p:spPr bwMode="auto">
          <a:xfrm>
            <a:off x="4076821" y="4493612"/>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6</a:t>
            </a:r>
            <a:endParaRPr lang="zh-CN" altLang="en-US" sz="1800" dirty="0">
              <a:latin typeface="Times New Roman" panose="02020603050405020304" pitchFamily="18" charset="0"/>
              <a:cs typeface="Courier New" panose="02070309020205020404" pitchFamily="49" charset="0"/>
            </a:endParaRPr>
          </a:p>
        </p:txBody>
      </p:sp>
      <p:cxnSp>
        <p:nvCxnSpPr>
          <p:cNvPr id="90" name="直接箭头连接符 89"/>
          <p:cNvCxnSpPr>
            <a:endCxn id="14" idx="1"/>
          </p:cNvCxnSpPr>
          <p:nvPr/>
        </p:nvCxnSpPr>
        <p:spPr bwMode="auto">
          <a:xfrm flipV="1">
            <a:off x="4477812" y="4837025"/>
            <a:ext cx="1154624" cy="12437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 name="文本框 92"/>
          <p:cNvSpPr txBox="1"/>
          <p:nvPr/>
        </p:nvSpPr>
        <p:spPr bwMode="auto">
          <a:xfrm>
            <a:off x="5707274" y="2323020"/>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3</a:t>
            </a:r>
            <a:endParaRPr lang="zh-CN" altLang="en-US" sz="1800" dirty="0">
              <a:latin typeface="Times New Roman" panose="02020603050405020304" pitchFamily="18" charset="0"/>
              <a:cs typeface="Courier New" panose="02070309020205020404" pitchFamily="49" charset="0"/>
            </a:endParaRPr>
          </a:p>
        </p:txBody>
      </p:sp>
      <p:cxnSp>
        <p:nvCxnSpPr>
          <p:cNvPr id="94" name="直接箭头连接符 93"/>
          <p:cNvCxnSpPr>
            <a:stCxn id="9" idx="0"/>
            <a:endCxn id="9" idx="1"/>
          </p:cNvCxnSpPr>
          <p:nvPr/>
        </p:nvCxnSpPr>
        <p:spPr bwMode="auto">
          <a:xfrm>
            <a:off x="4479701" y="2566734"/>
            <a:ext cx="1133838" cy="28041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文本框 97"/>
          <p:cNvSpPr txBox="1"/>
          <p:nvPr/>
        </p:nvSpPr>
        <p:spPr bwMode="auto">
          <a:xfrm>
            <a:off x="5746651" y="3150391"/>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2</a:t>
            </a:r>
            <a:endParaRPr lang="zh-CN" altLang="en-US" sz="1800" dirty="0">
              <a:latin typeface="Times New Roman" panose="02020603050405020304" pitchFamily="18" charset="0"/>
              <a:cs typeface="Courier New" panose="02070309020205020404" pitchFamily="49" charset="0"/>
            </a:endParaRPr>
          </a:p>
        </p:txBody>
      </p:sp>
      <p:cxnSp>
        <p:nvCxnSpPr>
          <p:cNvPr id="99" name="直接箭头连接符 98"/>
          <p:cNvCxnSpPr>
            <a:stCxn id="11" idx="0"/>
            <a:endCxn id="10" idx="1"/>
          </p:cNvCxnSpPr>
          <p:nvPr/>
        </p:nvCxnSpPr>
        <p:spPr bwMode="auto">
          <a:xfrm flipV="1">
            <a:off x="4498598" y="2973876"/>
            <a:ext cx="1133838" cy="28041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文本框 101"/>
          <p:cNvSpPr txBox="1"/>
          <p:nvPr/>
        </p:nvSpPr>
        <p:spPr bwMode="auto">
          <a:xfrm>
            <a:off x="5715197" y="4169581"/>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2</a:t>
            </a:r>
            <a:endParaRPr lang="zh-CN" altLang="en-US" sz="1800" dirty="0">
              <a:latin typeface="Times New Roman" panose="02020603050405020304" pitchFamily="18" charset="0"/>
              <a:cs typeface="Courier New" panose="02070309020205020404" pitchFamily="49" charset="0"/>
            </a:endParaRPr>
          </a:p>
        </p:txBody>
      </p:sp>
      <p:cxnSp>
        <p:nvCxnSpPr>
          <p:cNvPr id="103" name="直接箭头连接符 102"/>
          <p:cNvCxnSpPr>
            <a:stCxn id="13" idx="0"/>
            <a:endCxn id="48" idx="1"/>
          </p:cNvCxnSpPr>
          <p:nvPr/>
        </p:nvCxnSpPr>
        <p:spPr bwMode="auto">
          <a:xfrm>
            <a:off x="4536393" y="4249230"/>
            <a:ext cx="1150390" cy="39468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文本框 105"/>
          <p:cNvSpPr txBox="1"/>
          <p:nvPr/>
        </p:nvSpPr>
        <p:spPr bwMode="auto">
          <a:xfrm>
            <a:off x="1011659" y="3115876"/>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14</a:t>
            </a:r>
            <a:endParaRPr lang="zh-CN" altLang="en-US" sz="1800" dirty="0">
              <a:latin typeface="Times New Roman" panose="02020603050405020304" pitchFamily="18" charset="0"/>
              <a:cs typeface="Courier New" panose="02070309020205020404" pitchFamily="49" charset="0"/>
            </a:endParaRPr>
          </a:p>
        </p:txBody>
      </p:sp>
      <p:cxnSp>
        <p:nvCxnSpPr>
          <p:cNvPr id="107" name="直接箭头连接符 106"/>
          <p:cNvCxnSpPr>
            <a:stCxn id="19" idx="0"/>
            <a:endCxn id="19" idx="1"/>
          </p:cNvCxnSpPr>
          <p:nvPr/>
        </p:nvCxnSpPr>
        <p:spPr bwMode="auto">
          <a:xfrm>
            <a:off x="6104868" y="3801643"/>
            <a:ext cx="1360605" cy="1"/>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接箭头连接符 96"/>
          <p:cNvCxnSpPr>
            <a:stCxn id="61" idx="0"/>
            <a:endCxn id="61" idx="1"/>
          </p:cNvCxnSpPr>
          <p:nvPr/>
        </p:nvCxnSpPr>
        <p:spPr bwMode="auto">
          <a:xfrm flipV="1">
            <a:off x="1546841" y="3240811"/>
            <a:ext cx="928487" cy="43859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接箭头连接符 90"/>
          <p:cNvCxnSpPr>
            <a:stCxn id="67" idx="0"/>
            <a:endCxn id="68" idx="1"/>
          </p:cNvCxnSpPr>
          <p:nvPr/>
        </p:nvCxnSpPr>
        <p:spPr bwMode="auto">
          <a:xfrm>
            <a:off x="2911225" y="4372361"/>
            <a:ext cx="1114941" cy="568921"/>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直接箭头连接符 91"/>
          <p:cNvCxnSpPr>
            <a:stCxn id="12" idx="0"/>
            <a:endCxn id="12" idx="1"/>
          </p:cNvCxnSpPr>
          <p:nvPr/>
        </p:nvCxnSpPr>
        <p:spPr bwMode="auto">
          <a:xfrm flipV="1">
            <a:off x="4536393" y="3828606"/>
            <a:ext cx="1133838" cy="420624"/>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27315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9"/>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nodeType="afterEffect">
                                  <p:stCondLst>
                                    <p:cond delay="0"/>
                                  </p:stCondLst>
                                  <p:childTnLst>
                                    <p:set>
                                      <p:cBhvr>
                                        <p:cTn id="51" dur="1" fill="hold">
                                          <p:stCondLst>
                                            <p:cond delay="0"/>
                                          </p:stCondLst>
                                        </p:cTn>
                                        <p:tgtEl>
                                          <p:spTgt spid="9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69"/>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8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70"/>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86"/>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91"/>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06"/>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9" grpId="0" animBg="1"/>
      <p:bldP spid="70" grpId="0" animBg="1"/>
      <p:bldP spid="77" grpId="0" animBg="1"/>
      <p:bldP spid="81" grpId="0" animBg="1"/>
      <p:bldP spid="85" grpId="0" animBg="1"/>
      <p:bldP spid="89" grpId="0" animBg="1"/>
      <p:bldP spid="93" grpId="0" animBg="1"/>
      <p:bldP spid="98" grpId="0" animBg="1"/>
      <p:bldP spid="102" grpId="0" animBg="1"/>
      <p:bldP spid="10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pPr eaLnBrk="1" hangingPunct="1"/>
            <a:r>
              <a:rPr lang="en-US" altLang="zh-CN" dirty="0"/>
              <a:t>8.3.1 </a:t>
            </a:r>
            <a:r>
              <a:rPr lang="zh-CN" altLang="en-US" dirty="0"/>
              <a:t>逆推解法</a:t>
            </a:r>
            <a:endParaRPr lang="zh-CN" altLang="en-US" b="1" dirty="0"/>
          </a:p>
        </p:txBody>
      </p:sp>
      <p:sp>
        <p:nvSpPr>
          <p:cNvPr id="2" name="内容占位符 1"/>
          <p:cNvSpPr>
            <a:spLocks noGrp="1"/>
          </p:cNvSpPr>
          <p:nvPr>
            <p:ph idx="1"/>
          </p:nvPr>
        </p:nvSpPr>
        <p:spPr>
          <a:xfrm>
            <a:off x="539552" y="1337268"/>
            <a:ext cx="8280920" cy="904863"/>
          </a:xfrm>
        </p:spPr>
        <p:txBody>
          <a:bodyPr/>
          <a:lstStyle/>
          <a:p>
            <a:r>
              <a:rPr lang="zh-CN" altLang="en-US" dirty="0" smtClean="0"/>
              <a:t>例</a:t>
            </a:r>
            <a:r>
              <a:rPr lang="en-US" altLang="zh-CN" dirty="0" smtClean="0"/>
              <a:t>8-2</a:t>
            </a:r>
            <a:r>
              <a:rPr lang="zh-CN" altLang="en-US" dirty="0" smtClean="0"/>
              <a:t>：</a:t>
            </a:r>
            <a:r>
              <a:rPr lang="zh-CN" altLang="en-US" dirty="0">
                <a:cs typeface="Courier New" panose="02070309020205020404" pitchFamily="49" charset="0"/>
              </a:rPr>
              <a:t>用逆推解法求解下面问题</a:t>
            </a:r>
            <a:endParaRPr lang="zh-CN" altLang="en-US" dirty="0"/>
          </a:p>
          <a:p>
            <a:endParaRPr lang="zh-CN" altLang="en-US" dirty="0"/>
          </a:p>
        </p:txBody>
      </p:sp>
      <p:sp>
        <p:nvSpPr>
          <p:cNvPr id="41987"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71F54FA-0434-4F61-9C63-47FBB23E5483}" type="slidenum">
              <a:rPr lang="en-US" altLang="zh-CN" sz="1000"/>
              <a:pPr>
                <a:spcBef>
                  <a:spcPct val="0"/>
                </a:spcBef>
                <a:buClrTx/>
                <a:buSzTx/>
                <a:buFontTx/>
                <a:buNone/>
              </a:pPr>
              <a:t>28</a:t>
            </a:fld>
            <a:endParaRPr lang="en-US" altLang="zh-CN" sz="1000"/>
          </a:p>
        </p:txBody>
      </p:sp>
      <p:sp>
        <p:nvSpPr>
          <p:cNvPr id="41989"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graphicFrame>
        <p:nvGraphicFramePr>
          <p:cNvPr id="41990" name="Object 35"/>
          <p:cNvGraphicFramePr>
            <a:graphicFrameLocks noChangeAspect="1"/>
          </p:cNvGraphicFramePr>
          <p:nvPr/>
        </p:nvGraphicFramePr>
        <p:xfrm>
          <a:off x="2941401" y="1799219"/>
          <a:ext cx="2879725" cy="1136650"/>
        </p:xfrm>
        <a:graphic>
          <a:graphicData uri="http://schemas.openxmlformats.org/presentationml/2006/ole">
            <mc:AlternateContent xmlns:mc="http://schemas.openxmlformats.org/markup-compatibility/2006">
              <mc:Choice xmlns:v="urn:schemas-microsoft-com:vml" Requires="v">
                <p:oleObj spid="_x0000_s181324" name="Microsoft 公式 3.0" r:id="rId4" imgW="1854200" imgH="736600" progId="Equation.3">
                  <p:embed/>
                </p:oleObj>
              </mc:Choice>
              <mc:Fallback>
                <p:oleObj name="Microsoft 公式 3.0" r:id="rId4" imgW="1854200" imgH="736600" progId="Equation.3">
                  <p:embed/>
                  <p:pic>
                    <p:nvPicPr>
                      <p:cNvPr id="41990" name="Object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1401" y="1799219"/>
                        <a:ext cx="2879725"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41992" name="Rectangle 37"/>
              <p:cNvSpPr>
                <a:spLocks noChangeArrowheads="1"/>
              </p:cNvSpPr>
              <p:nvPr/>
            </p:nvSpPr>
            <p:spPr bwMode="auto">
              <a:xfrm>
                <a:off x="899592" y="2792016"/>
                <a:ext cx="8064760" cy="3927229"/>
              </a:xfrm>
              <a:prstGeom prst="rect">
                <a:avLst/>
              </a:prstGeom>
              <a:noFill/>
              <a:ln>
                <a:noFill/>
              </a:ln>
              <a:effectLst/>
              <a:extLst>
                <a:ext uri="{909E8E84-426E-40DD-AFC4-6F175D3DCCD1}">
                  <a14:hiddenFill>
                    <a:solidFill>
                      <a:schemeClr val="accent1"/>
                    </a:solidFill>
                  </a14:hiddenFill>
                </a:ext>
                <a:ext uri="{91240B29-F687-4F45-9708-019B960494DF}">
                  <a14:hiddenLine w="9525" algn="ctr">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0"/>
                  </a:spcBef>
                  <a:buClrTx/>
                  <a:buSzTx/>
                  <a:buNone/>
                </a:pPr>
                <a:r>
                  <a:rPr lang="zh-CN" altLang="en-US" sz="2000" b="1" dirty="0" smtClean="0">
                    <a:latin typeface="Times New Roman" panose="02020603050405020304" pitchFamily="18" charset="0"/>
                    <a:cs typeface="Times New Roman" panose="02020603050405020304" pitchFamily="18" charset="0"/>
                  </a:rPr>
                  <a:t>解 </a:t>
                </a:r>
                <a:r>
                  <a:rPr lang="zh-CN" altLang="en-US" sz="2000" b="1" dirty="0" smtClean="0">
                    <a:latin typeface="Times New Roman" panose="02020603050405020304" pitchFamily="18" charset="0"/>
                    <a:cs typeface="Times New Roman" panose="02020603050405020304" pitchFamily="18" charset="0"/>
                    <a:sym typeface="Wingdings" panose="05000000000000000000" pitchFamily="2" charset="2"/>
                  </a:rPr>
                  <a:t>： （</a:t>
                </a:r>
                <a:r>
                  <a:rPr lang="en-US" altLang="zh-CN" sz="2000" b="1" dirty="0" smtClean="0">
                    <a:latin typeface="Times New Roman" panose="02020603050405020304" pitchFamily="18" charset="0"/>
                    <a:cs typeface="Times New Roman" panose="02020603050405020304" pitchFamily="18" charset="0"/>
                    <a:sym typeface="Wingdings" panose="05000000000000000000" pitchFamily="2" charset="2"/>
                  </a:rPr>
                  <a:t>1</a:t>
                </a:r>
                <a:r>
                  <a:rPr lang="zh-CN" altLang="en-US" sz="2000" b="1" dirty="0" smtClean="0">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b="1" dirty="0" smtClean="0">
                    <a:latin typeface="Times New Roman" panose="02020603050405020304" pitchFamily="18" charset="0"/>
                    <a:cs typeface="Times New Roman" panose="02020603050405020304" pitchFamily="18" charset="0"/>
                  </a:rPr>
                  <a:t> </a:t>
                </a:r>
                <a:r>
                  <a:rPr lang="zh-CN" altLang="en-US" sz="2000" b="1" dirty="0" smtClean="0">
                    <a:latin typeface="Times New Roman" panose="02020603050405020304" pitchFamily="18" charset="0"/>
                    <a:cs typeface="Times New Roman" panose="02020603050405020304" pitchFamily="18" charset="0"/>
                  </a:rPr>
                  <a:t>按</a:t>
                </a:r>
                <a:r>
                  <a:rPr lang="zh-CN" altLang="en-US" sz="2000" b="1" dirty="0">
                    <a:latin typeface="Times New Roman" panose="02020603050405020304" pitchFamily="18" charset="0"/>
                    <a:cs typeface="Times New Roman" panose="02020603050405020304" pitchFamily="18" charset="0"/>
                  </a:rPr>
                  <a:t>问题的</a:t>
                </a:r>
                <a:r>
                  <a:rPr lang="zh-CN" altLang="en-US" sz="2000" b="1" dirty="0" smtClean="0">
                    <a:latin typeface="Times New Roman" panose="02020603050405020304" pitchFamily="18" charset="0"/>
                    <a:cs typeface="Times New Roman" panose="02020603050405020304" pitchFamily="18" charset="0"/>
                  </a:rPr>
                  <a:t>变量划分</a:t>
                </a:r>
                <a:r>
                  <a:rPr lang="zh-CN" altLang="en-US" sz="2000" b="1" dirty="0">
                    <a:latin typeface="Times New Roman" panose="02020603050405020304" pitchFamily="18" charset="0"/>
                    <a:cs typeface="Times New Roman" panose="02020603050405020304" pitchFamily="18" charset="0"/>
                  </a:rPr>
                  <a:t>阶段</a:t>
                </a:r>
                <a:r>
                  <a:rPr lang="zh-CN" altLang="en-US" sz="2000" b="1" dirty="0" smtClean="0">
                    <a:latin typeface="Times New Roman" panose="02020603050405020304" pitchFamily="18" charset="0"/>
                    <a:cs typeface="Times New Roman" panose="02020603050405020304" pitchFamily="18" charset="0"/>
                  </a:rPr>
                  <a:t>，</a:t>
                </a:r>
                <a:r>
                  <a:rPr lang="zh-CN" altLang="en-US" sz="2000" b="1" dirty="0">
                    <a:ea typeface="楷体_GB2312" pitchFamily="49" charset="-122"/>
                  </a:rPr>
                  <a:t>即</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k</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=1</a:t>
                </a:r>
                <a:r>
                  <a:rPr lang="zh-CN" altLang="en-US" sz="2000" b="1" dirty="0">
                    <a:solidFill>
                      <a:srgbClr val="0000FF"/>
                    </a:solidFill>
                    <a:latin typeface="Times New Roman" panose="02020603050405020304" pitchFamily="18" charset="0"/>
                    <a:ea typeface="楷体_GB2312" pitchFamily="49" charset="-122"/>
                    <a:cs typeface="Times New Roman" panose="02020603050405020304" pitchFamily="18" charset="0"/>
                  </a:rPr>
                  <a:t>，</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2</a:t>
                </a:r>
                <a:r>
                  <a:rPr lang="zh-CN" altLang="en-US" sz="2000" b="1" dirty="0">
                    <a:solidFill>
                      <a:srgbClr val="0000FF"/>
                    </a:solidFill>
                    <a:latin typeface="Times New Roman" panose="02020603050405020304" pitchFamily="18" charset="0"/>
                    <a:ea typeface="楷体_GB2312" pitchFamily="49" charset="-122"/>
                    <a:cs typeface="Times New Roman" panose="02020603050405020304" pitchFamily="18" charset="0"/>
                  </a:rPr>
                  <a:t>，</a:t>
                </a:r>
                <a:r>
                  <a:rPr lang="en-US" altLang="zh-CN" sz="2000" b="1" dirty="0" smtClean="0">
                    <a:solidFill>
                      <a:srgbClr val="0000FF"/>
                    </a:solidFill>
                    <a:latin typeface="Times New Roman" panose="02020603050405020304" pitchFamily="18" charset="0"/>
                    <a:ea typeface="楷体_GB2312" pitchFamily="49" charset="-122"/>
                    <a:cs typeface="Times New Roman" panose="02020603050405020304" pitchFamily="18" charset="0"/>
                  </a:rPr>
                  <a:t>3</a:t>
                </a:r>
                <a:endParaRPr lang="zh-CN" altLang="en-US" sz="2000" b="1" dirty="0">
                  <a:latin typeface="Times New Roman" panose="02020603050405020304" pitchFamily="18" charset="0"/>
                  <a:cs typeface="Times New Roman" panose="02020603050405020304" pitchFamily="18" charset="0"/>
                </a:endParaRPr>
              </a:p>
              <a:p>
                <a:pPr eaLnBrk="1" hangingPunct="1">
                  <a:lnSpc>
                    <a:spcPct val="140000"/>
                  </a:lnSpc>
                  <a:spcBef>
                    <a:spcPct val="0"/>
                  </a:spcBef>
                  <a:buClrTx/>
                  <a:buSzTx/>
                  <a:buFontTx/>
                  <a:buNone/>
                </a:pPr>
                <a:r>
                  <a:rPr lang="zh-CN" altLang="en-US" sz="2000" b="1" dirty="0" smtClean="0">
                    <a:latin typeface="Times New Roman" panose="02020603050405020304" pitchFamily="18" charset="0"/>
                    <a:cs typeface="Times New Roman" panose="02020603050405020304" pitchFamily="18" charset="0"/>
                  </a:rPr>
                  <a:t>（</a:t>
                </a:r>
                <a:r>
                  <a:rPr lang="en-US" altLang="zh-CN" sz="2000" b="1" dirty="0" smtClean="0">
                    <a:latin typeface="Times New Roman" panose="02020603050405020304" pitchFamily="18" charset="0"/>
                    <a:cs typeface="Times New Roman" panose="02020603050405020304" pitchFamily="18" charset="0"/>
                  </a:rPr>
                  <a:t>2</a:t>
                </a:r>
                <a:r>
                  <a:rPr lang="zh-CN" altLang="en-US" sz="2000" b="1" dirty="0">
                    <a:latin typeface="Times New Roman" panose="02020603050405020304" pitchFamily="18" charset="0"/>
                    <a:cs typeface="Times New Roman" panose="02020603050405020304" pitchFamily="18" charset="0"/>
                  </a:rPr>
                  <a:t>）取问题中的变量</a:t>
                </a:r>
                <a:r>
                  <a:rPr lang="en-US" altLang="zh-CN" sz="2000" b="1" i="1" dirty="0">
                    <a:solidFill>
                      <a:srgbClr val="0000FF"/>
                    </a:solidFill>
                    <a:latin typeface="Times New Roman" panose="02020603050405020304" pitchFamily="18" charset="0"/>
                    <a:cs typeface="Times New Roman" panose="02020603050405020304" pitchFamily="18" charset="0"/>
                  </a:rPr>
                  <a:t>x</a:t>
                </a:r>
                <a:r>
                  <a:rPr lang="en-US" altLang="zh-CN" sz="2000" b="1" baseline="-25000" dirty="0">
                    <a:solidFill>
                      <a:srgbClr val="0000FF"/>
                    </a:solidFill>
                    <a:latin typeface="Times New Roman" panose="02020603050405020304" pitchFamily="18" charset="0"/>
                    <a:cs typeface="Times New Roman" panose="02020603050405020304" pitchFamily="18" charset="0"/>
                  </a:rPr>
                  <a:t>1</a:t>
                </a:r>
                <a:r>
                  <a:rPr lang="en-US" altLang="zh-CN" sz="2000" b="1" dirty="0">
                    <a:solidFill>
                      <a:srgbClr val="0000FF"/>
                    </a:solidFill>
                    <a:latin typeface="Times New Roman" panose="02020603050405020304" pitchFamily="18" charset="0"/>
                    <a:cs typeface="Times New Roman" panose="02020603050405020304" pitchFamily="18" charset="0"/>
                  </a:rPr>
                  <a:t>,</a:t>
                </a:r>
                <a:r>
                  <a:rPr lang="en-US" altLang="zh-CN" sz="2000" b="1" i="1" dirty="0">
                    <a:solidFill>
                      <a:srgbClr val="0000FF"/>
                    </a:solidFill>
                    <a:latin typeface="Times New Roman" panose="02020603050405020304" pitchFamily="18" charset="0"/>
                    <a:cs typeface="Times New Roman" panose="02020603050405020304" pitchFamily="18" charset="0"/>
                  </a:rPr>
                  <a:t>x</a:t>
                </a:r>
                <a:r>
                  <a:rPr lang="en-US" altLang="zh-CN" sz="2000" b="1" baseline="-25000" dirty="0">
                    <a:solidFill>
                      <a:srgbClr val="0000FF"/>
                    </a:solidFill>
                    <a:latin typeface="Times New Roman" panose="02020603050405020304" pitchFamily="18" charset="0"/>
                    <a:cs typeface="Times New Roman" panose="02020603050405020304" pitchFamily="18" charset="0"/>
                  </a:rPr>
                  <a:t>2</a:t>
                </a:r>
                <a:r>
                  <a:rPr lang="en-US" altLang="zh-CN" sz="2000" b="1" dirty="0">
                    <a:solidFill>
                      <a:srgbClr val="0000FF"/>
                    </a:solidFill>
                    <a:latin typeface="Times New Roman" panose="02020603050405020304" pitchFamily="18" charset="0"/>
                    <a:cs typeface="Times New Roman" panose="02020603050405020304" pitchFamily="18" charset="0"/>
                  </a:rPr>
                  <a:t>,</a:t>
                </a:r>
                <a:r>
                  <a:rPr lang="en-US" altLang="zh-CN" sz="2000" b="1" i="1" dirty="0">
                    <a:solidFill>
                      <a:srgbClr val="0000FF"/>
                    </a:solidFill>
                    <a:latin typeface="Times New Roman" panose="02020603050405020304" pitchFamily="18" charset="0"/>
                    <a:cs typeface="Times New Roman" panose="02020603050405020304" pitchFamily="18" charset="0"/>
                  </a:rPr>
                  <a:t>x</a:t>
                </a:r>
                <a:r>
                  <a:rPr lang="en-US" altLang="zh-CN" sz="2000" b="1" baseline="-25000" dirty="0">
                    <a:solidFill>
                      <a:srgbClr val="0000FF"/>
                    </a:solidFill>
                    <a:latin typeface="Times New Roman" panose="02020603050405020304" pitchFamily="18" charset="0"/>
                    <a:cs typeface="Times New Roman" panose="02020603050405020304" pitchFamily="18" charset="0"/>
                  </a:rPr>
                  <a:t>3</a:t>
                </a:r>
                <a:r>
                  <a:rPr lang="zh-CN" altLang="en-US" sz="2000" b="1" dirty="0">
                    <a:latin typeface="Times New Roman" panose="02020603050405020304" pitchFamily="18" charset="0"/>
                    <a:cs typeface="Times New Roman" panose="02020603050405020304" pitchFamily="18" charset="0"/>
                  </a:rPr>
                  <a:t>为</a:t>
                </a:r>
                <a:r>
                  <a:rPr lang="zh-CN" altLang="en-US" sz="2000" b="1" dirty="0" smtClean="0">
                    <a:latin typeface="Times New Roman" panose="02020603050405020304" pitchFamily="18" charset="0"/>
                    <a:cs typeface="Times New Roman" panose="02020603050405020304" pitchFamily="18" charset="0"/>
                  </a:rPr>
                  <a:t>决策变量</a:t>
                </a:r>
                <a:endParaRPr lang="en-US" altLang="zh-CN" sz="2000" b="1" dirty="0" smtClean="0">
                  <a:latin typeface="Times New Roman" panose="02020603050405020304" pitchFamily="18" charset="0"/>
                  <a:cs typeface="Times New Roman" panose="02020603050405020304" pitchFamily="18" charset="0"/>
                </a:endParaRPr>
              </a:p>
              <a:p>
                <a:pPr eaLnBrk="1" hangingPunct="1">
                  <a:lnSpc>
                    <a:spcPct val="140000"/>
                  </a:lnSpc>
                  <a:spcBef>
                    <a:spcPct val="0"/>
                  </a:spcBef>
                  <a:buClrTx/>
                  <a:buSzTx/>
                  <a:buFontTx/>
                  <a:buNone/>
                </a:pPr>
                <a:r>
                  <a:rPr lang="zh-CN" altLang="en-US" sz="2000" b="1" dirty="0" smtClean="0">
                    <a:latin typeface="Times New Roman" panose="02020603050405020304" pitchFamily="18" charset="0"/>
                    <a:cs typeface="Times New Roman" panose="02020603050405020304" pitchFamily="18" charset="0"/>
                  </a:rPr>
                  <a:t>（</a:t>
                </a:r>
                <a:r>
                  <a:rPr lang="en-US" altLang="zh-CN" sz="2000" b="1" dirty="0" smtClean="0">
                    <a:latin typeface="Times New Roman" panose="02020603050405020304" pitchFamily="18" charset="0"/>
                    <a:cs typeface="Times New Roman" panose="02020603050405020304" pitchFamily="18" charset="0"/>
                  </a:rPr>
                  <a:t>3</a:t>
                </a:r>
                <a:r>
                  <a:rPr lang="zh-CN" altLang="en-US" sz="2000" b="1" dirty="0" smtClean="0">
                    <a:latin typeface="Times New Roman" panose="02020603050405020304" pitchFamily="18" charset="0"/>
                    <a:cs typeface="Times New Roman" panose="02020603050405020304" pitchFamily="18" charset="0"/>
                  </a:rPr>
                  <a:t>）设</a:t>
                </a:r>
                <a:r>
                  <a:rPr lang="zh-CN" altLang="en-US" sz="2000" b="1" dirty="0">
                    <a:latin typeface="Times New Roman" panose="02020603050405020304" pitchFamily="18" charset="0"/>
                    <a:cs typeface="Times New Roman" panose="02020603050405020304" pitchFamily="18" charset="0"/>
                  </a:rPr>
                  <a:t>状态变量</a:t>
                </a:r>
                <a:r>
                  <a:rPr lang="zh-CN" altLang="en-US" sz="2000" b="1" dirty="0" smtClean="0">
                    <a:latin typeface="Times New Roman" panose="02020603050405020304" pitchFamily="18" charset="0"/>
                    <a:cs typeface="Times New Roman" panose="02020603050405020304" pitchFamily="18" charset="0"/>
                  </a:rPr>
                  <a:t>为</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1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smtClean="0">
                    <a:solidFill>
                      <a:srgbClr val="0000FF"/>
                    </a:solidFill>
                    <a:latin typeface="Times New Roman" panose="02020603050405020304" pitchFamily="18" charset="0"/>
                    <a:ea typeface="楷体_GB2312" pitchFamily="49" charset="-122"/>
                    <a:cs typeface="Times New Roman" panose="02020603050405020304" pitchFamily="18" charset="0"/>
                  </a:rPr>
                  <a:t>c, s</a:t>
                </a:r>
                <a:r>
                  <a:rPr lang="en-US" altLang="zh-CN" sz="2000" b="1" baseline="-30000" dirty="0" smtClean="0">
                    <a:solidFill>
                      <a:srgbClr val="0000FF"/>
                    </a:solidFill>
                    <a:latin typeface="Times New Roman" panose="02020603050405020304" pitchFamily="18" charset="0"/>
                    <a:ea typeface="楷体_GB2312" pitchFamily="49" charset="-122"/>
                    <a:cs typeface="Times New Roman" panose="02020603050405020304" pitchFamily="18" charset="0"/>
                  </a:rPr>
                  <a:t>2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1 </a:t>
                </a:r>
                <a:r>
                  <a:rPr lang="en-US" altLang="zh-CN" sz="2000" b="1" dirty="0" smtClean="0">
                    <a:solidFill>
                      <a:srgbClr val="0000FF"/>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smtClean="0">
                    <a:solidFill>
                      <a:srgbClr val="0000FF"/>
                    </a:solidFill>
                    <a:latin typeface="Times New Roman" panose="02020603050405020304" pitchFamily="18" charset="0"/>
                    <a:ea typeface="楷体_GB2312" pitchFamily="49" charset="-122"/>
                    <a:cs typeface="Times New Roman" panose="02020603050405020304" pitchFamily="18" charset="0"/>
                  </a:rPr>
                  <a:t>x</a:t>
                </a:r>
                <a:r>
                  <a:rPr lang="en-US" altLang="zh-CN" sz="2000" b="1" baseline="-30000" dirty="0" smtClean="0">
                    <a:solidFill>
                      <a:srgbClr val="0000FF"/>
                    </a:solidFill>
                    <a:latin typeface="Times New Roman" panose="02020603050405020304" pitchFamily="18" charset="0"/>
                    <a:ea typeface="楷体_GB2312" pitchFamily="49" charset="-122"/>
                    <a:cs typeface="Times New Roman" panose="02020603050405020304" pitchFamily="18" charset="0"/>
                  </a:rPr>
                  <a:t>1</a:t>
                </a:r>
                <a:r>
                  <a:rPr lang="en-US" altLang="zh-CN" sz="2000" b="1" dirty="0" smtClean="0">
                    <a:solidFill>
                      <a:srgbClr val="0000FF"/>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smtClean="0">
                    <a:solidFill>
                      <a:srgbClr val="0000FF"/>
                    </a:solidFill>
                    <a:latin typeface="Times New Roman" panose="02020603050405020304" pitchFamily="18" charset="0"/>
                    <a:ea typeface="楷体_GB2312" pitchFamily="49" charset="-122"/>
                    <a:cs typeface="Times New Roman" panose="02020603050405020304" pitchFamily="18" charset="0"/>
                  </a:rPr>
                  <a:t>c</a:t>
                </a:r>
                <a:r>
                  <a:rPr lang="en-US" altLang="zh-CN" sz="2000" b="1" dirty="0" smtClean="0">
                    <a:solidFill>
                      <a:srgbClr val="0000FF"/>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smtClean="0">
                    <a:solidFill>
                      <a:srgbClr val="0000FF"/>
                    </a:solidFill>
                    <a:latin typeface="Times New Roman" panose="02020603050405020304" pitchFamily="18" charset="0"/>
                    <a:ea typeface="楷体_GB2312" pitchFamily="49" charset="-122"/>
                    <a:cs typeface="Times New Roman" panose="02020603050405020304" pitchFamily="18" charset="0"/>
                  </a:rPr>
                  <a:t>x</a:t>
                </a:r>
                <a:r>
                  <a:rPr lang="en-US" altLang="zh-CN" sz="2000" b="1" baseline="-30000" dirty="0" smtClean="0">
                    <a:solidFill>
                      <a:srgbClr val="0000FF"/>
                    </a:solidFill>
                    <a:latin typeface="Times New Roman" panose="02020603050405020304" pitchFamily="18" charset="0"/>
                    <a:ea typeface="楷体_GB2312" pitchFamily="49" charset="-122"/>
                    <a:cs typeface="Times New Roman" panose="02020603050405020304" pitchFamily="18" charset="0"/>
                  </a:rPr>
                  <a:t>1</a:t>
                </a:r>
                <a:r>
                  <a:rPr lang="en-US" altLang="zh-CN" sz="2000" b="1" dirty="0" smtClean="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smtClean="0">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baseline="-30000" dirty="0" smtClean="0">
                    <a:solidFill>
                      <a:srgbClr val="0000FF"/>
                    </a:solidFill>
                    <a:latin typeface="Times New Roman" panose="02020603050405020304" pitchFamily="18" charset="0"/>
                    <a:ea typeface="楷体_GB2312" pitchFamily="49" charset="-122"/>
                    <a:cs typeface="Times New Roman" panose="02020603050405020304" pitchFamily="18" charset="0"/>
                  </a:rPr>
                  <a:t>3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2 </a:t>
                </a:r>
                <a:r>
                  <a:rPr lang="en-US" altLang="zh-CN" sz="2000" b="1" dirty="0" smtClean="0">
                    <a:solidFill>
                      <a:srgbClr val="0000FF"/>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smtClean="0">
                    <a:solidFill>
                      <a:srgbClr val="0000FF"/>
                    </a:solidFill>
                    <a:latin typeface="Times New Roman" panose="02020603050405020304" pitchFamily="18" charset="0"/>
                    <a:ea typeface="楷体_GB2312" pitchFamily="49" charset="-122"/>
                    <a:cs typeface="Times New Roman" panose="02020603050405020304" pitchFamily="18" charset="0"/>
                  </a:rPr>
                  <a:t>x</a:t>
                </a:r>
                <a:r>
                  <a:rPr lang="en-US" altLang="zh-CN" sz="2000" b="1" baseline="-30000" dirty="0" smtClean="0">
                    <a:solidFill>
                      <a:srgbClr val="0000FF"/>
                    </a:solidFill>
                    <a:latin typeface="Times New Roman" panose="02020603050405020304" pitchFamily="18" charset="0"/>
                    <a:ea typeface="楷体_GB2312" pitchFamily="49" charset="-122"/>
                    <a:cs typeface="Times New Roman" panose="02020603050405020304" pitchFamily="18" charset="0"/>
                  </a:rPr>
                  <a:t>2</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c</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x</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1</a:t>
                </a:r>
                <a:r>
                  <a:rPr lang="en-US" altLang="zh-CN" sz="2000" b="1" baseline="-30000" dirty="0" smtClean="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smtClean="0">
                    <a:solidFill>
                      <a:srgbClr val="0000FF"/>
                    </a:solidFill>
                    <a:latin typeface="Times New Roman" panose="02020603050405020304" pitchFamily="18" charset="0"/>
                    <a:ea typeface="楷体_GB2312" pitchFamily="49" charset="-122"/>
                    <a:cs typeface="Times New Roman" panose="02020603050405020304" pitchFamily="18" charset="0"/>
                  </a:rPr>
                  <a:t>x</a:t>
                </a:r>
                <a:r>
                  <a:rPr lang="en-US" altLang="zh-CN" sz="2000" b="1" baseline="-30000" dirty="0" smtClean="0">
                    <a:solidFill>
                      <a:srgbClr val="0000FF"/>
                    </a:solidFill>
                    <a:latin typeface="Times New Roman" panose="02020603050405020304" pitchFamily="18" charset="0"/>
                    <a:ea typeface="楷体_GB2312" pitchFamily="49" charset="-122"/>
                    <a:cs typeface="Times New Roman" panose="02020603050405020304" pitchFamily="18" charset="0"/>
                  </a:rPr>
                  <a:t>2</a:t>
                </a:r>
                <a14:m>
                  <m:oMath xmlns:m="http://schemas.openxmlformats.org/officeDocument/2006/math">
                    <m:r>
                      <a:rPr lang="en-US" altLang="zh-CN" sz="2000" b="1"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2000" b="1" i="1" dirty="0" smtClean="0">
                        <a:solidFill>
                          <a:srgbClr val="0000FF"/>
                        </a:solidFill>
                        <a:latin typeface="Times New Roman" panose="02020603050405020304" pitchFamily="18" charset="0"/>
                        <a:ea typeface="楷体_GB2312" pitchFamily="49" charset="-122"/>
                        <a:cs typeface="Times New Roman" panose="02020603050405020304" pitchFamily="18" charset="0"/>
                      </a:rPr>
                      <m:t>x</m:t>
                    </m:r>
                    <m:r>
                      <m:rPr>
                        <m:nor/>
                      </m:rP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m:t>3</m:t>
                    </m:r>
                  </m:oMath>
                </a14:m>
                <a:endParaRPr lang="en-US" altLang="zh-CN" sz="2000" b="1" baseline="-30000" dirty="0" smtClean="0">
                  <a:solidFill>
                    <a:srgbClr val="0000FF"/>
                  </a:solidFill>
                  <a:latin typeface="Times New Roman" panose="02020603050405020304" pitchFamily="18" charset="0"/>
                  <a:ea typeface="楷体_GB2312" pitchFamily="49" charset="-122"/>
                  <a:cs typeface="Times New Roman" panose="02020603050405020304" pitchFamily="18" charset="0"/>
                </a:endParaRPr>
              </a:p>
              <a:p>
                <a:pPr eaLnBrk="1" hangingPunct="1">
                  <a:lnSpc>
                    <a:spcPct val="140000"/>
                  </a:lnSpc>
                  <a:spcBef>
                    <a:spcPct val="0"/>
                  </a:spcBef>
                  <a:buClrTx/>
                  <a:buSzTx/>
                  <a:buNone/>
                </a:pPr>
                <a:r>
                  <a:rPr lang="zh-CN" altLang="en-US" sz="1800" b="1" dirty="0" smtClean="0">
                    <a:latin typeface="Times New Roman" panose="02020603050405020304" pitchFamily="18" charset="0"/>
                    <a:ea typeface="楷体_GB2312" pitchFamily="49" charset="-122"/>
                    <a:cs typeface="Times New Roman" panose="02020603050405020304" pitchFamily="18" charset="0"/>
                  </a:rPr>
                  <a:t>则：</a:t>
                </a:r>
                <a14:m>
                  <m:oMath xmlns:m="http://schemas.openxmlformats.org/officeDocument/2006/math">
                    <m:r>
                      <a:rPr lang="en-US" altLang="zh-CN" sz="1800" b="1" i="1"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𝟎</m:t>
                    </m:r>
                    <m:r>
                      <a:rPr lang="en-US" altLang="zh-CN" sz="1800" b="1"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800" b="1" i="1" dirty="0">
                        <a:solidFill>
                          <a:srgbClr val="0000FF"/>
                        </a:solidFill>
                        <a:latin typeface="Times New Roman" panose="02020603050405020304" pitchFamily="18" charset="0"/>
                        <a:cs typeface="Times New Roman" panose="02020603050405020304" pitchFamily="18" charset="0"/>
                      </a:rPr>
                      <m:t>x</m:t>
                    </m:r>
                    <m:r>
                      <m:rPr>
                        <m:nor/>
                      </m:rPr>
                      <a:rPr lang="en-US" altLang="zh-CN" sz="1800" b="1" baseline="-25000" dirty="0">
                        <a:solidFill>
                          <a:srgbClr val="0000FF"/>
                        </a:solidFill>
                        <a:latin typeface="Times New Roman" panose="02020603050405020304" pitchFamily="18" charset="0"/>
                        <a:cs typeface="Times New Roman" panose="02020603050405020304" pitchFamily="18" charset="0"/>
                      </a:rPr>
                      <m:t>1</m:t>
                    </m:r>
                    <m:r>
                      <a:rPr lang="en-US" altLang="zh-CN" sz="1800" b="1"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1800" b="1"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𝒄</m:t>
                    </m:r>
                  </m:oMath>
                </a14:m>
                <a:r>
                  <a:rPr lang="zh-CN" altLang="en-US" sz="1800" b="1" dirty="0" smtClean="0">
                    <a:solidFill>
                      <a:srgbClr val="0000FF"/>
                    </a:solidFill>
                    <a:latin typeface="Times New Roman" panose="02020603050405020304" pitchFamily="18" charset="0"/>
                    <a:ea typeface="楷体_GB2312" pitchFamily="49" charset="-122"/>
                    <a:cs typeface="Times New Roman" panose="02020603050405020304" pitchFamily="18" charset="0"/>
                  </a:rPr>
                  <a:t>，</a:t>
                </a:r>
                <a:r>
                  <a:rPr lang="en-US" altLang="zh-CN" sz="1800" b="1" dirty="0">
                    <a:solidFill>
                      <a:srgbClr val="0000FF"/>
                    </a:solidFill>
                    <a:ea typeface="Cambria Math" panose="02040503050406030204" pitchFamily="18" charset="0"/>
                    <a:cs typeface="Times New Roman" panose="02020603050405020304" pitchFamily="18" charset="0"/>
                  </a:rPr>
                  <a:t> </a:t>
                </a:r>
                <a14:m>
                  <m:oMath xmlns:m="http://schemas.openxmlformats.org/officeDocument/2006/math">
                    <m:r>
                      <a:rPr lang="en-US" altLang="zh-CN" sz="1800" b="1"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𝟎</m:t>
                    </m:r>
                    <m:r>
                      <a:rPr lang="en-US" altLang="zh-CN" sz="1800" b="1"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800" b="1" i="1" dirty="0">
                        <a:solidFill>
                          <a:srgbClr val="0000FF"/>
                        </a:solidFill>
                        <a:latin typeface="Times New Roman" panose="02020603050405020304" pitchFamily="18" charset="0"/>
                        <a:cs typeface="Times New Roman" panose="02020603050405020304" pitchFamily="18" charset="0"/>
                      </a:rPr>
                      <m:t>x</m:t>
                    </m:r>
                    <m:r>
                      <m:rPr>
                        <m:nor/>
                      </m:rPr>
                      <a:rPr lang="en-US" altLang="zh-CN" sz="1800" b="1" i="0" baseline="-25000" dirty="0" smtClean="0">
                        <a:solidFill>
                          <a:srgbClr val="0000FF"/>
                        </a:solidFill>
                        <a:latin typeface="Times New Roman" panose="02020603050405020304" pitchFamily="18" charset="0"/>
                        <a:cs typeface="Times New Roman" panose="02020603050405020304" pitchFamily="18" charset="0"/>
                      </a:rPr>
                      <m:t>2</m:t>
                    </m:r>
                    <m:r>
                      <a:rPr lang="en-US" altLang="zh-CN" sz="1800" b="1"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800" b="1" i="1" dirty="0">
                        <a:solidFill>
                          <a:srgbClr val="0000FF"/>
                        </a:solidFill>
                        <a:latin typeface="Times New Roman" panose="02020603050405020304" pitchFamily="18" charset="0"/>
                        <a:ea typeface="楷体_GB2312" pitchFamily="49" charset="-122"/>
                        <a:cs typeface="Times New Roman" panose="02020603050405020304" pitchFamily="18" charset="0"/>
                      </a:rPr>
                      <m:t>s</m:t>
                    </m:r>
                    <m:r>
                      <m:rPr>
                        <m:nor/>
                      </m:rPr>
                      <a:rPr lang="en-US" altLang="zh-CN" sz="18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m:t>2</m:t>
                    </m:r>
                  </m:oMath>
                </a14:m>
                <a:r>
                  <a:rPr lang="zh-CN" altLang="en-US" sz="1800" b="1" dirty="0" smtClean="0">
                    <a:solidFill>
                      <a:srgbClr val="0000FF"/>
                    </a:solidFill>
                    <a:latin typeface="Times New Roman" panose="02020603050405020304" pitchFamily="18" charset="0"/>
                    <a:ea typeface="楷体_GB2312" pitchFamily="49" charset="-122"/>
                    <a:cs typeface="Times New Roman" panose="02020603050405020304" pitchFamily="18" charset="0"/>
                  </a:rPr>
                  <a:t>，</a:t>
                </a:r>
                <a:r>
                  <a:rPr lang="en-US" altLang="zh-CN" sz="1800" b="1" dirty="0">
                    <a:solidFill>
                      <a:srgbClr val="0000FF"/>
                    </a:solidFill>
                    <a:ea typeface="Cambria Math" panose="02040503050406030204" pitchFamily="18" charset="0"/>
                    <a:cs typeface="Times New Roman" panose="02020603050405020304" pitchFamily="18" charset="0"/>
                  </a:rPr>
                  <a:t> </a:t>
                </a:r>
                <a14:m>
                  <m:oMath xmlns:m="http://schemas.openxmlformats.org/officeDocument/2006/math">
                    <m:r>
                      <a:rPr lang="en-US" altLang="zh-CN" sz="1800" b="1"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𝟎</m:t>
                    </m:r>
                    <m:r>
                      <a:rPr lang="en-US" altLang="zh-CN" sz="1800" b="1"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800" b="1" i="1" dirty="0">
                        <a:solidFill>
                          <a:srgbClr val="0000FF"/>
                        </a:solidFill>
                        <a:latin typeface="Times New Roman" panose="02020603050405020304" pitchFamily="18" charset="0"/>
                        <a:cs typeface="Times New Roman" panose="02020603050405020304" pitchFamily="18" charset="0"/>
                      </a:rPr>
                      <m:t>x</m:t>
                    </m:r>
                    <m:r>
                      <m:rPr>
                        <m:nor/>
                      </m:rPr>
                      <a:rPr lang="en-US" altLang="zh-CN" sz="1800" b="1" i="0" baseline="-25000" dirty="0" smtClean="0">
                        <a:solidFill>
                          <a:srgbClr val="0000FF"/>
                        </a:solidFill>
                        <a:latin typeface="Times New Roman" panose="02020603050405020304" pitchFamily="18" charset="0"/>
                        <a:cs typeface="Times New Roman" panose="02020603050405020304" pitchFamily="18" charset="0"/>
                      </a:rPr>
                      <m:t>3</m:t>
                    </m:r>
                    <m:r>
                      <a:rPr lang="en-US" altLang="zh-CN" sz="1800" b="1"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800" b="1" i="1" dirty="0">
                        <a:solidFill>
                          <a:srgbClr val="0000FF"/>
                        </a:solidFill>
                        <a:latin typeface="Times New Roman" panose="02020603050405020304" pitchFamily="18" charset="0"/>
                        <a:ea typeface="楷体_GB2312" pitchFamily="49" charset="-122"/>
                        <a:cs typeface="Times New Roman" panose="02020603050405020304" pitchFamily="18" charset="0"/>
                      </a:rPr>
                      <m:t>s</m:t>
                    </m:r>
                    <m:r>
                      <m:rPr>
                        <m:nor/>
                      </m:rPr>
                      <a:rPr lang="en-US" altLang="zh-CN" sz="18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m:t>3</m:t>
                    </m:r>
                  </m:oMath>
                </a14:m>
                <a:r>
                  <a:rPr lang="zh-CN" altLang="en-US" sz="1800" b="1" dirty="0" smtClean="0">
                    <a:solidFill>
                      <a:srgbClr val="0000FF"/>
                    </a:solidFill>
                    <a:cs typeface="Times New Roman" panose="02020603050405020304" pitchFamily="18" charset="0"/>
                  </a:rPr>
                  <a:t>（</a:t>
                </a:r>
                <a14:m>
                  <m:oMath xmlns:m="http://schemas.openxmlformats.org/officeDocument/2006/math">
                    <m:r>
                      <m:rPr>
                        <m:nor/>
                      </m:rPr>
                      <a:rPr lang="en-US" altLang="zh-CN" sz="1800" b="1" i="1" dirty="0">
                        <a:solidFill>
                          <a:srgbClr val="0000FF"/>
                        </a:solidFill>
                        <a:latin typeface="Times New Roman" panose="02020603050405020304" pitchFamily="18" charset="0"/>
                        <a:cs typeface="Times New Roman" panose="02020603050405020304" pitchFamily="18" charset="0"/>
                      </a:rPr>
                      <m:t>x</m:t>
                    </m:r>
                    <m:r>
                      <m:rPr>
                        <m:nor/>
                      </m:rPr>
                      <a:rPr lang="en-US" altLang="zh-CN" sz="1800" b="1" baseline="-25000" dirty="0">
                        <a:solidFill>
                          <a:srgbClr val="0000FF"/>
                        </a:solidFill>
                        <a:latin typeface="Times New Roman" panose="02020603050405020304" pitchFamily="18" charset="0"/>
                        <a:cs typeface="Times New Roman" panose="02020603050405020304" pitchFamily="18" charset="0"/>
                      </a:rPr>
                      <m:t>3</m:t>
                    </m:r>
                    <m:r>
                      <a:rPr lang="en-US" altLang="zh-CN" sz="1800" b="1"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800" b="1" i="1" dirty="0">
                        <a:solidFill>
                          <a:srgbClr val="0000FF"/>
                        </a:solidFill>
                        <a:latin typeface="Times New Roman" panose="02020603050405020304" pitchFamily="18" charset="0"/>
                        <a:ea typeface="楷体_GB2312" pitchFamily="49" charset="-122"/>
                        <a:cs typeface="Times New Roman" panose="02020603050405020304" pitchFamily="18" charset="0"/>
                      </a:rPr>
                      <m:t>s</m:t>
                    </m:r>
                    <m:r>
                      <m:rPr>
                        <m:nor/>
                      </m:rPr>
                      <a:rPr lang="en-US" altLang="zh-CN" sz="18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m:t>3</m:t>
                    </m:r>
                  </m:oMath>
                </a14:m>
                <a:r>
                  <a:rPr lang="zh-CN" altLang="en-US" sz="1800" b="1" dirty="0" smtClean="0">
                    <a:solidFill>
                      <a:srgbClr val="0000FF"/>
                    </a:solidFill>
                    <a:cs typeface="Times New Roman" panose="02020603050405020304" pitchFamily="18" charset="0"/>
                  </a:rPr>
                  <a:t>）</a:t>
                </a:r>
                <a:r>
                  <a:rPr lang="en-US" altLang="zh-CN" sz="1800" b="1" dirty="0">
                    <a:solidFill>
                      <a:srgbClr val="0000FF"/>
                    </a:solidFill>
                    <a:cs typeface="Times New Roman" panose="02020603050405020304" pitchFamily="18" charset="0"/>
                  </a:rPr>
                  <a:t> </a:t>
                </a:r>
                <a:endParaRPr lang="en-US" altLang="zh-CN" sz="1800" b="1" dirty="0" smtClean="0">
                  <a:solidFill>
                    <a:srgbClr val="0000FF"/>
                  </a:solidFill>
                  <a:cs typeface="Times New Roman" panose="02020603050405020304" pitchFamily="18" charset="0"/>
                </a:endParaRPr>
              </a:p>
              <a:p>
                <a:pPr eaLnBrk="1" hangingPunct="1">
                  <a:lnSpc>
                    <a:spcPct val="140000"/>
                  </a:lnSpc>
                  <a:spcBef>
                    <a:spcPct val="0"/>
                  </a:spcBef>
                  <a:buClrTx/>
                  <a:buSzTx/>
                  <a:buNone/>
                </a:pPr>
                <a:r>
                  <a:rPr lang="zh-CN" altLang="en-US" sz="2000" b="1" dirty="0" smtClean="0">
                    <a:latin typeface="Times New Roman" panose="02020603050405020304" pitchFamily="18" charset="0"/>
                    <a:cs typeface="Times New Roman" panose="02020603050405020304" pitchFamily="18" charset="0"/>
                  </a:rPr>
                  <a:t>（</a:t>
                </a:r>
                <a:r>
                  <a:rPr lang="en-US" altLang="zh-CN" sz="2000" b="1" dirty="0" smtClean="0">
                    <a:latin typeface="Times New Roman" panose="02020603050405020304" pitchFamily="18" charset="0"/>
                    <a:cs typeface="Times New Roman" panose="02020603050405020304" pitchFamily="18" charset="0"/>
                  </a:rPr>
                  <a:t>4</a:t>
                </a:r>
                <a:r>
                  <a:rPr lang="zh-CN" altLang="en-US" sz="2000" b="1" dirty="0" smtClean="0">
                    <a:latin typeface="Times New Roman" panose="02020603050405020304" pitchFamily="18" charset="0"/>
                    <a:cs typeface="Times New Roman" panose="02020603050405020304" pitchFamily="18" charset="0"/>
                  </a:rPr>
                  <a:t>）</a:t>
                </a:r>
                <a:r>
                  <a:rPr lang="zh-CN" altLang="en-US" sz="2000" b="1" dirty="0">
                    <a:ea typeface="楷体_GB2312" pitchFamily="49" charset="-122"/>
                  </a:rPr>
                  <a:t>在上述定义的基础上，状态转移方程为：</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i="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k</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+1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err="1">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i="1" baseline="-30000" dirty="0" err="1">
                    <a:solidFill>
                      <a:srgbClr val="0000FF"/>
                    </a:solidFill>
                    <a:latin typeface="Times New Roman" panose="02020603050405020304" pitchFamily="18" charset="0"/>
                    <a:ea typeface="楷体_GB2312" pitchFamily="49" charset="-122"/>
                    <a:cs typeface="Times New Roman" panose="02020603050405020304" pitchFamily="18" charset="0"/>
                  </a:rPr>
                  <a:t>k</a:t>
                </a:r>
                <a:r>
                  <a:rPr lang="zh-CN" altLang="en-US"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err="1" smtClean="0">
                    <a:solidFill>
                      <a:srgbClr val="0000FF"/>
                    </a:solidFill>
                    <a:latin typeface="Times New Roman" panose="02020603050405020304" pitchFamily="18" charset="0"/>
                    <a:ea typeface="楷体_GB2312" pitchFamily="49" charset="-122"/>
                    <a:cs typeface="Times New Roman" panose="02020603050405020304" pitchFamily="18" charset="0"/>
                  </a:rPr>
                  <a:t>x</a:t>
                </a:r>
                <a:r>
                  <a:rPr lang="en-US" altLang="zh-CN" sz="2000" b="1" i="1" baseline="-30000" dirty="0" err="1" smtClean="0">
                    <a:solidFill>
                      <a:srgbClr val="0000FF"/>
                    </a:solidFill>
                    <a:latin typeface="Times New Roman" panose="02020603050405020304" pitchFamily="18" charset="0"/>
                    <a:ea typeface="楷体_GB2312" pitchFamily="49" charset="-122"/>
                    <a:cs typeface="Times New Roman" panose="02020603050405020304" pitchFamily="18" charset="0"/>
                  </a:rPr>
                  <a:t>k</a:t>
                </a:r>
                <a:endParaRPr lang="zh-CN" altLang="en-US" sz="2000" b="1" dirty="0">
                  <a:solidFill>
                    <a:srgbClr val="0000FF"/>
                  </a:solidFill>
                  <a:ea typeface="楷体_GB2312" pitchFamily="49" charset="-122"/>
                </a:endParaRPr>
              </a:p>
              <a:p>
                <a:pPr eaLnBrk="1" hangingPunct="1">
                  <a:lnSpc>
                    <a:spcPct val="140000"/>
                  </a:lnSpc>
                  <a:spcBef>
                    <a:spcPct val="0"/>
                  </a:spcBef>
                  <a:buClrTx/>
                  <a:buSzTx/>
                  <a:buFontTx/>
                  <a:buNone/>
                </a:pPr>
                <a:r>
                  <a:rPr lang="zh-CN" altLang="en-US" sz="2000" b="1" dirty="0" smtClean="0">
                    <a:latin typeface="Times New Roman" panose="02020603050405020304" pitchFamily="18" charset="0"/>
                    <a:cs typeface="Times New Roman" panose="02020603050405020304" pitchFamily="18" charset="0"/>
                  </a:rPr>
                  <a:t>（</a:t>
                </a:r>
                <a:r>
                  <a:rPr lang="en-US" altLang="zh-CN" sz="2000" b="1" dirty="0" smtClean="0">
                    <a:latin typeface="Times New Roman" panose="02020603050405020304" pitchFamily="18" charset="0"/>
                    <a:cs typeface="Times New Roman" panose="02020603050405020304" pitchFamily="18" charset="0"/>
                  </a:rPr>
                  <a:t>5</a:t>
                </a:r>
                <a:r>
                  <a:rPr lang="zh-CN" altLang="en-US" sz="2000" b="1" dirty="0" smtClean="0">
                    <a:latin typeface="Times New Roman" panose="02020603050405020304" pitchFamily="18" charset="0"/>
                    <a:cs typeface="Times New Roman" panose="02020603050405020304" pitchFamily="18" charset="0"/>
                  </a:rPr>
                  <a:t>）各</a:t>
                </a:r>
                <a:r>
                  <a:rPr lang="zh-CN" altLang="en-US" sz="2000" b="1" dirty="0">
                    <a:latin typeface="Times New Roman" panose="02020603050405020304" pitchFamily="18" charset="0"/>
                    <a:cs typeface="Times New Roman" panose="02020603050405020304" pitchFamily="18" charset="0"/>
                  </a:rPr>
                  <a:t>阶段指标函数按乘积方式</a:t>
                </a:r>
                <a:r>
                  <a:rPr lang="zh-CN" altLang="en-US" sz="2000" b="1" dirty="0" smtClean="0">
                    <a:latin typeface="Times New Roman" panose="02020603050405020304" pitchFamily="18" charset="0"/>
                    <a:cs typeface="Times New Roman" panose="02020603050405020304" pitchFamily="18" charset="0"/>
                  </a:rPr>
                  <a:t>结合</a:t>
                </a:r>
                <a:endParaRPr lang="en-US" altLang="zh-CN" sz="2000" b="1" dirty="0" smtClean="0">
                  <a:latin typeface="Times New Roman" panose="02020603050405020304" pitchFamily="18" charset="0"/>
                  <a:cs typeface="Times New Roman" panose="02020603050405020304" pitchFamily="18" charset="0"/>
                </a:endParaRPr>
              </a:p>
              <a:p>
                <a:pPr eaLnBrk="1" hangingPunct="1">
                  <a:lnSpc>
                    <a:spcPct val="140000"/>
                  </a:lnSpc>
                  <a:spcBef>
                    <a:spcPct val="0"/>
                  </a:spcBef>
                  <a:buClrTx/>
                  <a:buSzTx/>
                  <a:buFontTx/>
                  <a:buNone/>
                </a:pPr>
                <a:r>
                  <a:rPr lang="zh-CN" altLang="en-US" sz="2000" b="1" dirty="0" smtClean="0">
                    <a:latin typeface="Times New Roman" panose="02020603050405020304" pitchFamily="18" charset="0"/>
                    <a:cs typeface="Times New Roman" panose="02020603050405020304" pitchFamily="18" charset="0"/>
                  </a:rPr>
                  <a:t>（</a:t>
                </a:r>
                <a:r>
                  <a:rPr lang="en-US" altLang="zh-CN" sz="2000" b="1" dirty="0" smtClean="0">
                    <a:latin typeface="Times New Roman" panose="02020603050405020304" pitchFamily="18" charset="0"/>
                    <a:cs typeface="Times New Roman" panose="02020603050405020304" pitchFamily="18" charset="0"/>
                  </a:rPr>
                  <a:t>6</a:t>
                </a:r>
                <a:r>
                  <a:rPr lang="zh-CN" altLang="en-US" sz="2000" b="1" dirty="0" smtClean="0">
                    <a:latin typeface="Times New Roman" panose="02020603050405020304" pitchFamily="18" charset="0"/>
                    <a:cs typeface="Times New Roman" panose="02020603050405020304" pitchFamily="18" charset="0"/>
                  </a:rPr>
                  <a:t>）</a:t>
                </a:r>
                <a:r>
                  <a:rPr lang="zh-CN" altLang="en-US" sz="2000" b="1" dirty="0">
                    <a:ea typeface="楷体_GB2312" pitchFamily="49" charset="-122"/>
                  </a:rPr>
                  <a:t>动态规划方程为</a:t>
                </a:r>
                <a:endParaRPr lang="en-US" altLang="zh-CN" sz="2000" b="1" dirty="0">
                  <a:latin typeface="Times New Roman" panose="02020603050405020304" pitchFamily="18" charset="0"/>
                  <a:cs typeface="Times New Roman" panose="02020603050405020304" pitchFamily="18" charset="0"/>
                </a:endParaRPr>
              </a:p>
              <a:p>
                <a:pPr eaLnBrk="1" hangingPunct="1">
                  <a:lnSpc>
                    <a:spcPct val="140000"/>
                  </a:lnSpc>
                  <a:spcBef>
                    <a:spcPct val="0"/>
                  </a:spcBef>
                  <a:buClrTx/>
                  <a:buSzTx/>
                  <a:buFontTx/>
                  <a:buNone/>
                </a:pPr>
                <a:endParaRPr lang="en-US" altLang="zh-CN" sz="2000" b="1" dirty="0" smtClean="0">
                  <a:latin typeface="Times New Roman" panose="02020603050405020304" pitchFamily="18" charset="0"/>
                  <a:cs typeface="Times New Roman" panose="02020603050405020304" pitchFamily="18" charset="0"/>
                </a:endParaRPr>
              </a:p>
              <a:p>
                <a:pPr eaLnBrk="1" hangingPunct="1">
                  <a:lnSpc>
                    <a:spcPct val="140000"/>
                  </a:lnSpc>
                  <a:spcBef>
                    <a:spcPct val="0"/>
                  </a:spcBef>
                  <a:buClrTx/>
                  <a:buSzTx/>
                  <a:buFontTx/>
                  <a:buNone/>
                </a:pPr>
                <a:endParaRPr lang="en-US" altLang="zh-CN" sz="2000" b="1" dirty="0">
                  <a:latin typeface="Times New Roman" panose="02020603050405020304" pitchFamily="18" charset="0"/>
                  <a:cs typeface="Times New Roman" panose="02020603050405020304" pitchFamily="18" charset="0"/>
                </a:endParaRPr>
              </a:p>
            </p:txBody>
          </p:sp>
        </mc:Choice>
        <mc:Fallback xmlns="">
          <p:sp>
            <p:nvSpPr>
              <p:cNvPr id="41992" name="Rectangle 37"/>
              <p:cNvSpPr>
                <a:spLocks noRot="1" noChangeAspect="1" noMove="1" noResize="1" noEditPoints="1" noAdjustHandles="1" noChangeArrowheads="1" noChangeShapeType="1" noTextEdit="1"/>
              </p:cNvSpPr>
              <p:nvPr/>
            </p:nvSpPr>
            <p:spPr bwMode="auto">
              <a:xfrm>
                <a:off x="899592" y="2792016"/>
                <a:ext cx="8064760" cy="3927229"/>
              </a:xfrm>
              <a:prstGeom prst="rect">
                <a:avLst/>
              </a:prstGeom>
              <a:blipFill>
                <a:blip r:embed="rId6"/>
                <a:stretch>
                  <a:fillRect l="-83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3" name="Rectangle 53"/>
          <p:cNvSpPr>
            <a:spLocks noChangeArrowheads="1"/>
          </p:cNvSpPr>
          <p:nvPr/>
        </p:nvSpPr>
        <p:spPr bwMode="auto">
          <a:xfrm>
            <a:off x="1043993" y="6125234"/>
            <a:ext cx="61923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smtClean="0">
                <a:latin typeface="Times New Roman" panose="02020603050405020304" pitchFamily="18" charset="0"/>
                <a:cs typeface="Times New Roman" panose="02020603050405020304" pitchFamily="18" charset="0"/>
              </a:rPr>
              <a:t>采用逆推解法，从后先前依次可以得到：</a:t>
            </a:r>
            <a:endParaRPr lang="zh-CN" altLang="en-US" sz="2000" b="1" dirty="0"/>
          </a:p>
        </p:txBody>
      </p:sp>
      <p:pic>
        <p:nvPicPr>
          <p:cNvPr id="3" name="图片 2"/>
          <p:cNvPicPr>
            <a:picLocks noChangeAspect="1"/>
          </p:cNvPicPr>
          <p:nvPr/>
        </p:nvPicPr>
        <p:blipFill>
          <a:blip r:embed="rId7"/>
          <a:stretch>
            <a:fillRect/>
          </a:stretch>
        </p:blipFill>
        <p:spPr>
          <a:xfrm>
            <a:off x="5321339" y="4808083"/>
            <a:ext cx="1780704" cy="625137"/>
          </a:xfrm>
          <a:prstGeom prst="rect">
            <a:avLst/>
          </a:prstGeom>
        </p:spPr>
      </p:pic>
      <p:pic>
        <p:nvPicPr>
          <p:cNvPr id="4" name="图片 3"/>
          <p:cNvPicPr>
            <a:picLocks noChangeAspect="1"/>
          </p:cNvPicPr>
          <p:nvPr/>
        </p:nvPicPr>
        <p:blipFill>
          <a:blip r:embed="rId8"/>
          <a:stretch>
            <a:fillRect/>
          </a:stretch>
        </p:blipFill>
        <p:spPr>
          <a:xfrm>
            <a:off x="3602910" y="5336097"/>
            <a:ext cx="5217562" cy="748756"/>
          </a:xfrm>
          <a:prstGeom prst="rect">
            <a:avLst/>
          </a:prstGeom>
        </p:spPr>
      </p:pic>
      <p:sp>
        <p:nvSpPr>
          <p:cNvPr id="5" name="矩形 4"/>
          <p:cNvSpPr/>
          <p:nvPr/>
        </p:nvSpPr>
        <p:spPr>
          <a:xfrm>
            <a:off x="8198151" y="3212976"/>
            <a:ext cx="1008112" cy="1126462"/>
          </a:xfrm>
          <a:prstGeom prst="rect">
            <a:avLst/>
          </a:prstGeom>
          <a:ln>
            <a:solidFill>
              <a:schemeClr val="tx1">
                <a:lumMod val="10000"/>
                <a:lumOff val="90000"/>
              </a:schemeClr>
            </a:solidFill>
          </a:ln>
        </p:spPr>
        <p:txBody>
          <a:bodyPr wrap="square">
            <a:spAutoFit/>
          </a:bodyPr>
          <a:lstStyle/>
          <a:p>
            <a:pPr eaLnBrk="1" hangingPunct="1">
              <a:lnSpc>
                <a:spcPct val="140000"/>
              </a:lnSpc>
            </a:pPr>
            <a:r>
              <a:rPr lang="zh-CN" altLang="en-US" sz="1600" b="1" dirty="0" smtClean="0">
                <a:solidFill>
                  <a:srgbClr val="FF0000"/>
                </a:solidFill>
                <a:latin typeface="Times New Roman" panose="02020603050405020304" pitchFamily="18" charset="0"/>
                <a:cs typeface="Times New Roman" panose="02020603050405020304" pitchFamily="18" charset="0"/>
              </a:rPr>
              <a:t>想</a:t>
            </a:r>
            <a:r>
              <a:rPr lang="zh-CN" altLang="en-US" sz="1600" b="1" dirty="0">
                <a:solidFill>
                  <a:srgbClr val="FF0000"/>
                </a:solidFill>
                <a:latin typeface="Times New Roman" panose="02020603050405020304" pitchFamily="18" charset="0"/>
                <a:cs typeface="Times New Roman" panose="02020603050405020304" pitchFamily="18" charset="0"/>
              </a:rPr>
              <a:t>成每阶段开始</a:t>
            </a:r>
            <a:r>
              <a:rPr lang="zh-CN" altLang="en-US" sz="1600" b="1" dirty="0" smtClean="0">
                <a:solidFill>
                  <a:srgbClr val="FF0000"/>
                </a:solidFill>
                <a:latin typeface="Times New Roman" panose="02020603050405020304" pitchFamily="18" charset="0"/>
                <a:cs typeface="Times New Roman" panose="02020603050405020304" pitchFamily="18" charset="0"/>
              </a:rPr>
              <a:t>资源量</a:t>
            </a:r>
            <a:endParaRPr lang="en-US" altLang="zh-CN" sz="1600" b="1" dirty="0">
              <a:latin typeface="Times New Roman" panose="02020603050405020304" pitchFamily="18" charset="0"/>
              <a:ea typeface="楷体_GB2312" pitchFamily="49" charset="-122"/>
              <a:cs typeface="Times New Roman" panose="02020603050405020304" pitchFamily="18" charset="0"/>
            </a:endParaRPr>
          </a:p>
        </p:txBody>
      </p:sp>
      <p:sp>
        <p:nvSpPr>
          <p:cNvPr id="12" name="矩形 11"/>
          <p:cNvSpPr/>
          <p:nvPr/>
        </p:nvSpPr>
        <p:spPr>
          <a:xfrm>
            <a:off x="5707635" y="3223809"/>
            <a:ext cx="1008112" cy="741165"/>
          </a:xfrm>
          <a:prstGeom prst="rect">
            <a:avLst/>
          </a:prstGeom>
          <a:ln>
            <a:solidFill>
              <a:schemeClr val="tx1">
                <a:lumMod val="10000"/>
                <a:lumOff val="90000"/>
              </a:schemeClr>
            </a:solidFill>
          </a:ln>
        </p:spPr>
        <p:txBody>
          <a:bodyPr wrap="square">
            <a:spAutoFit/>
          </a:bodyPr>
          <a:lstStyle/>
          <a:p>
            <a:pPr eaLnBrk="1" hangingPunct="1">
              <a:lnSpc>
                <a:spcPct val="140000"/>
              </a:lnSpc>
            </a:pPr>
            <a:r>
              <a:rPr lang="zh-CN" altLang="en-US" sz="1600" b="1" dirty="0">
                <a:solidFill>
                  <a:srgbClr val="FF0000"/>
                </a:solidFill>
                <a:latin typeface="Times New Roman" panose="02020603050405020304" pitchFamily="18" charset="0"/>
                <a:cs typeface="Times New Roman" panose="02020603050405020304" pitchFamily="18" charset="0"/>
              </a:rPr>
              <a:t>想成资源消耗量</a:t>
            </a:r>
            <a:endParaRPr lang="en-US" altLang="zh-CN" sz="1600" b="1" dirty="0">
              <a:latin typeface="Times New Roman" panose="02020603050405020304" pitchFamily="18" charset="0"/>
              <a:ea typeface="楷体_GB2312" pitchFamily="49" charset="-122"/>
              <a:cs typeface="Times New Roman" panose="02020603050405020304" pitchFamily="18" charset="0"/>
            </a:endParaRPr>
          </a:p>
        </p:txBody>
      </p:sp>
    </p:spTree>
    <p:extLst>
      <p:ext uri="{BB962C8B-B14F-4D97-AF65-F5344CB8AC3E}">
        <p14:creationId xmlns:p14="http://schemas.microsoft.com/office/powerpoint/2010/main" val="3431767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9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2" grpId="0"/>
      <p:bldP spid="13" grpId="0"/>
      <p:bldP spid="5" grpId="0" animBg="1"/>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pPr eaLnBrk="1" hangingPunct="1"/>
            <a:r>
              <a:rPr lang="en-US" altLang="zh-CN" dirty="0"/>
              <a:t>8.3.1 </a:t>
            </a:r>
            <a:r>
              <a:rPr lang="zh-CN" altLang="en-US" dirty="0"/>
              <a:t>逆推解法</a:t>
            </a:r>
            <a:endParaRPr lang="zh-CN" altLang="en-US" b="1" dirty="0"/>
          </a:p>
        </p:txBody>
      </p:sp>
      <p:sp>
        <p:nvSpPr>
          <p:cNvPr id="2" name="内容占位符 1"/>
          <p:cNvSpPr>
            <a:spLocks noGrp="1"/>
          </p:cNvSpPr>
          <p:nvPr>
            <p:ph idx="1"/>
          </p:nvPr>
        </p:nvSpPr>
        <p:spPr>
          <a:xfrm>
            <a:off x="539552" y="1337268"/>
            <a:ext cx="8280920" cy="904863"/>
          </a:xfrm>
        </p:spPr>
        <p:txBody>
          <a:bodyPr/>
          <a:lstStyle/>
          <a:p>
            <a:r>
              <a:rPr lang="zh-CN" altLang="en-US" dirty="0" smtClean="0"/>
              <a:t>例</a:t>
            </a:r>
            <a:r>
              <a:rPr lang="en-US" altLang="zh-CN" dirty="0" smtClean="0"/>
              <a:t>8-2</a:t>
            </a:r>
            <a:r>
              <a:rPr lang="zh-CN" altLang="en-US" dirty="0" smtClean="0"/>
              <a:t>：</a:t>
            </a:r>
            <a:r>
              <a:rPr lang="zh-CN" altLang="en-US" dirty="0">
                <a:cs typeface="Courier New" panose="02070309020205020404" pitchFamily="49" charset="0"/>
              </a:rPr>
              <a:t>用逆推解法求解下面问题</a:t>
            </a:r>
            <a:endParaRPr lang="zh-CN" altLang="en-US" dirty="0"/>
          </a:p>
          <a:p>
            <a:endParaRPr lang="zh-CN" altLang="en-US" dirty="0"/>
          </a:p>
        </p:txBody>
      </p:sp>
      <p:sp>
        <p:nvSpPr>
          <p:cNvPr id="41987"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71F54FA-0434-4F61-9C63-47FBB23E5483}" type="slidenum">
              <a:rPr lang="en-US" altLang="zh-CN" sz="1000"/>
              <a:pPr>
                <a:spcBef>
                  <a:spcPct val="0"/>
                </a:spcBef>
                <a:buClrTx/>
                <a:buSzTx/>
                <a:buFontTx/>
                <a:buNone/>
              </a:pPr>
              <a:t>29</a:t>
            </a:fld>
            <a:endParaRPr lang="en-US" altLang="zh-CN" sz="1000"/>
          </a:p>
        </p:txBody>
      </p:sp>
      <p:sp>
        <p:nvSpPr>
          <p:cNvPr id="41989"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sp>
        <p:nvSpPr>
          <p:cNvPr id="41995" name="Rectangle 52"/>
          <p:cNvSpPr>
            <a:spLocks noChangeArrowheads="1"/>
          </p:cNvSpPr>
          <p:nvPr/>
        </p:nvSpPr>
        <p:spPr bwMode="auto">
          <a:xfrm>
            <a:off x="1146174" y="1722425"/>
            <a:ext cx="539224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None/>
            </a:pP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1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c, s</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2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1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x</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1</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3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2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x</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2 </a:t>
            </a:r>
            <a:endParaRPr lang="en-US" altLang="zh-CN" sz="2000" b="1" baseline="-30000" dirty="0" smtClean="0">
              <a:solidFill>
                <a:srgbClr val="0000FF"/>
              </a:solidFill>
              <a:latin typeface="Times New Roman" panose="02020603050405020304" pitchFamily="18" charset="0"/>
              <a:ea typeface="楷体_GB2312" pitchFamily="49" charset="-122"/>
              <a:cs typeface="Times New Roman" panose="02020603050405020304" pitchFamily="18" charset="0"/>
            </a:endParaRPr>
          </a:p>
          <a:p>
            <a:pPr eaLnBrk="1" hangingPunct="1">
              <a:spcBef>
                <a:spcPct val="0"/>
              </a:spcBef>
              <a:buClrTx/>
              <a:buSzTx/>
              <a:buNone/>
            </a:pPr>
            <a:r>
              <a:rPr lang="en-US" altLang="zh-CN" sz="2000" b="1" i="1" dirty="0" smtClean="0">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i="1" baseline="-30000" dirty="0" smtClean="0">
                <a:solidFill>
                  <a:srgbClr val="0000FF"/>
                </a:solidFill>
                <a:latin typeface="Times New Roman" panose="02020603050405020304" pitchFamily="18" charset="0"/>
                <a:ea typeface="楷体_GB2312" pitchFamily="49" charset="-122"/>
                <a:cs typeface="Times New Roman" panose="02020603050405020304" pitchFamily="18" charset="0"/>
              </a:rPr>
              <a:t>k</a:t>
            </a:r>
            <a:r>
              <a:rPr lang="en-US" altLang="zh-CN" sz="2000" b="1" baseline="-30000" dirty="0" smtClean="0">
                <a:solidFill>
                  <a:srgbClr val="0000FF"/>
                </a:solidFill>
                <a:latin typeface="Times New Roman" panose="02020603050405020304" pitchFamily="18" charset="0"/>
                <a:ea typeface="楷体_GB2312" pitchFamily="49" charset="-122"/>
                <a:cs typeface="Times New Roman" panose="02020603050405020304" pitchFamily="18" charset="0"/>
              </a:rPr>
              <a:t>+1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err="1">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i="1" baseline="-30000" dirty="0" err="1">
                <a:solidFill>
                  <a:srgbClr val="0000FF"/>
                </a:solidFill>
                <a:latin typeface="Times New Roman" panose="02020603050405020304" pitchFamily="18" charset="0"/>
                <a:ea typeface="楷体_GB2312" pitchFamily="49" charset="-122"/>
                <a:cs typeface="Times New Roman" panose="02020603050405020304" pitchFamily="18" charset="0"/>
              </a:rPr>
              <a:t>k</a:t>
            </a:r>
            <a:r>
              <a:rPr lang="zh-CN" altLang="en-US"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err="1" smtClean="0">
                <a:solidFill>
                  <a:srgbClr val="0000FF"/>
                </a:solidFill>
                <a:latin typeface="Times New Roman" panose="02020603050405020304" pitchFamily="18" charset="0"/>
                <a:ea typeface="楷体_GB2312" pitchFamily="49" charset="-122"/>
                <a:cs typeface="Times New Roman" panose="02020603050405020304" pitchFamily="18" charset="0"/>
              </a:rPr>
              <a:t>x</a:t>
            </a:r>
            <a:r>
              <a:rPr lang="en-US" altLang="zh-CN" sz="2000" b="1" i="1" baseline="-30000" dirty="0" err="1" smtClean="0">
                <a:solidFill>
                  <a:srgbClr val="0000FF"/>
                </a:solidFill>
                <a:latin typeface="Times New Roman" panose="02020603050405020304" pitchFamily="18" charset="0"/>
                <a:ea typeface="楷体_GB2312" pitchFamily="49" charset="-122"/>
                <a:cs typeface="Times New Roman" panose="02020603050405020304" pitchFamily="18" charset="0"/>
              </a:rPr>
              <a:t>k</a:t>
            </a:r>
            <a:endParaRPr lang="zh-CN" altLang="en-US" sz="2000" b="1" dirty="0"/>
          </a:p>
        </p:txBody>
      </p:sp>
      <p:sp>
        <p:nvSpPr>
          <p:cNvPr id="13" name="Rectangle 53"/>
          <p:cNvSpPr>
            <a:spLocks noChangeArrowheads="1"/>
          </p:cNvSpPr>
          <p:nvPr/>
        </p:nvSpPr>
        <p:spPr bwMode="auto">
          <a:xfrm>
            <a:off x="983786" y="2452826"/>
            <a:ext cx="61923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smtClean="0">
                <a:latin typeface="Times New Roman" panose="02020603050405020304" pitchFamily="18" charset="0"/>
                <a:cs typeface="Times New Roman" panose="02020603050405020304" pitchFamily="18" charset="0"/>
              </a:rPr>
              <a:t>采用逆推解法，从后先前依次可以得到：</a:t>
            </a:r>
            <a:endParaRPr lang="zh-CN" altLang="en-US" sz="2000" b="1" dirty="0"/>
          </a:p>
        </p:txBody>
      </p:sp>
      <p:cxnSp>
        <p:nvCxnSpPr>
          <p:cNvPr id="4" name="直接连接符 3"/>
          <p:cNvCxnSpPr/>
          <p:nvPr/>
        </p:nvCxnSpPr>
        <p:spPr bwMode="auto">
          <a:xfrm flipV="1">
            <a:off x="395536" y="2780928"/>
            <a:ext cx="8424936" cy="71564"/>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Rectangle 53"/>
          <p:cNvSpPr>
            <a:spLocks noChangeArrowheads="1"/>
          </p:cNvSpPr>
          <p:nvPr/>
        </p:nvSpPr>
        <p:spPr bwMode="auto">
          <a:xfrm>
            <a:off x="1042398" y="2931982"/>
            <a:ext cx="61923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i="1" dirty="0" smtClean="0">
                <a:latin typeface="Times New Roman" panose="02020603050405020304" pitchFamily="18" charset="0"/>
                <a:cs typeface="Times New Roman" panose="02020603050405020304" pitchFamily="18" charset="0"/>
              </a:rPr>
              <a:t>k</a:t>
            </a:r>
            <a:r>
              <a:rPr lang="en-US" altLang="zh-CN" sz="2000" b="1" dirty="0" smtClean="0">
                <a:latin typeface="Times New Roman" panose="02020603050405020304" pitchFamily="18" charset="0"/>
                <a:cs typeface="Times New Roman" panose="02020603050405020304" pitchFamily="18" charset="0"/>
              </a:rPr>
              <a:t>=3:</a:t>
            </a:r>
            <a:endParaRPr lang="zh-CN" altLang="en-US" sz="2000" b="1" dirty="0"/>
          </a:p>
        </p:txBody>
      </p:sp>
      <p:graphicFrame>
        <p:nvGraphicFramePr>
          <p:cNvPr id="17" name="Object 22"/>
          <p:cNvGraphicFramePr>
            <a:graphicFrameLocks noChangeAspect="1"/>
          </p:cNvGraphicFramePr>
          <p:nvPr>
            <p:extLst>
              <p:ext uri="{D42A27DB-BD31-4B8C-83A1-F6EECF244321}">
                <p14:modId xmlns:p14="http://schemas.microsoft.com/office/powerpoint/2010/main" val="1447715272"/>
              </p:ext>
            </p:extLst>
          </p:nvPr>
        </p:nvGraphicFramePr>
        <p:xfrm>
          <a:off x="1767008" y="2936325"/>
          <a:ext cx="2376487" cy="527050"/>
        </p:xfrm>
        <a:graphic>
          <a:graphicData uri="http://schemas.openxmlformats.org/presentationml/2006/ole">
            <mc:AlternateContent xmlns:mc="http://schemas.openxmlformats.org/markup-compatibility/2006">
              <mc:Choice xmlns:v="urn:schemas-microsoft-com:vml" Requires="v">
                <p:oleObj spid="_x0000_s42945" r:id="rId4" imgW="1320227" imgH="291973" progId="Equation.DSMT4">
                  <p:embed/>
                </p:oleObj>
              </mc:Choice>
              <mc:Fallback>
                <p:oleObj r:id="rId4" imgW="1320227" imgH="291973" progId="Equation.DSMT4">
                  <p:embed/>
                  <p:pic>
                    <p:nvPicPr>
                      <p:cNvPr id="43014"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7008" y="2936325"/>
                        <a:ext cx="2376487"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21"/>
          <p:cNvGraphicFramePr>
            <a:graphicFrameLocks noChangeAspect="1"/>
          </p:cNvGraphicFramePr>
          <p:nvPr>
            <p:extLst>
              <p:ext uri="{D42A27DB-BD31-4B8C-83A1-F6EECF244321}">
                <p14:modId xmlns:p14="http://schemas.microsoft.com/office/powerpoint/2010/main" val="3993527266"/>
              </p:ext>
            </p:extLst>
          </p:nvPr>
        </p:nvGraphicFramePr>
        <p:xfrm>
          <a:off x="5565911" y="2921614"/>
          <a:ext cx="792162" cy="441325"/>
        </p:xfrm>
        <a:graphic>
          <a:graphicData uri="http://schemas.openxmlformats.org/presentationml/2006/ole">
            <mc:AlternateContent xmlns:mc="http://schemas.openxmlformats.org/markup-compatibility/2006">
              <mc:Choice xmlns:v="urn:schemas-microsoft-com:vml" Requires="v">
                <p:oleObj spid="_x0000_s42946" r:id="rId6" imgW="431613" imgH="241195" progId="Equation.DSMT4">
                  <p:embed/>
                </p:oleObj>
              </mc:Choice>
              <mc:Fallback>
                <p:oleObj r:id="rId6" imgW="431613" imgH="241195" progId="Equation.DSMT4">
                  <p:embed/>
                  <p:pic>
                    <p:nvPicPr>
                      <p:cNvPr id="43015" name="Object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65911" y="2921614"/>
                        <a:ext cx="792162"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Rectangle 24"/>
          <p:cNvSpPr>
            <a:spLocks noChangeArrowheads="1"/>
          </p:cNvSpPr>
          <p:nvPr/>
        </p:nvSpPr>
        <p:spPr bwMode="auto">
          <a:xfrm>
            <a:off x="4348911" y="2943678"/>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000" b="1" dirty="0" smtClean="0">
                <a:latin typeface="Times New Roman" panose="02020603050405020304" pitchFamily="18" charset="0"/>
                <a:cs typeface="Times New Roman" panose="02020603050405020304" pitchFamily="18" charset="0"/>
              </a:rPr>
              <a:t>最优解</a:t>
            </a:r>
            <a:r>
              <a:rPr lang="zh-CN" altLang="en-US" sz="2000" b="1" dirty="0">
                <a:latin typeface="Times New Roman" panose="02020603050405020304" pitchFamily="18" charset="0"/>
                <a:cs typeface="Times New Roman" panose="02020603050405020304" pitchFamily="18" charset="0"/>
              </a:rPr>
              <a:t>为</a:t>
            </a:r>
            <a:endParaRPr lang="zh-CN" altLang="en-US" sz="2000" b="1" dirty="0"/>
          </a:p>
        </p:txBody>
      </p:sp>
      <p:sp>
        <p:nvSpPr>
          <p:cNvPr id="20" name="Rectangle 53"/>
          <p:cNvSpPr>
            <a:spLocks noChangeArrowheads="1"/>
          </p:cNvSpPr>
          <p:nvPr/>
        </p:nvSpPr>
        <p:spPr bwMode="auto">
          <a:xfrm>
            <a:off x="1043993" y="3484218"/>
            <a:ext cx="61923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i="1" dirty="0" smtClean="0">
                <a:latin typeface="Times New Roman" panose="02020603050405020304" pitchFamily="18" charset="0"/>
                <a:cs typeface="Times New Roman" panose="02020603050405020304" pitchFamily="18" charset="0"/>
              </a:rPr>
              <a:t>k</a:t>
            </a:r>
            <a:r>
              <a:rPr lang="en-US" altLang="zh-CN" sz="2000" b="1" dirty="0" smtClean="0">
                <a:latin typeface="Times New Roman" panose="02020603050405020304" pitchFamily="18" charset="0"/>
                <a:cs typeface="Times New Roman" panose="02020603050405020304" pitchFamily="18" charset="0"/>
              </a:rPr>
              <a:t>=2:</a:t>
            </a:r>
            <a:endParaRPr lang="zh-CN" altLang="en-US" sz="2000" b="1" dirty="0"/>
          </a:p>
        </p:txBody>
      </p:sp>
      <p:graphicFrame>
        <p:nvGraphicFramePr>
          <p:cNvPr id="24" name="Object 20"/>
          <p:cNvGraphicFramePr>
            <a:graphicFrameLocks noChangeAspect="1"/>
          </p:cNvGraphicFramePr>
          <p:nvPr>
            <p:extLst>
              <p:ext uri="{D42A27DB-BD31-4B8C-83A1-F6EECF244321}">
                <p14:modId xmlns:p14="http://schemas.microsoft.com/office/powerpoint/2010/main" val="1631964028"/>
              </p:ext>
            </p:extLst>
          </p:nvPr>
        </p:nvGraphicFramePr>
        <p:xfrm>
          <a:off x="1735138" y="3426996"/>
          <a:ext cx="7392987" cy="612775"/>
        </p:xfrm>
        <a:graphic>
          <a:graphicData uri="http://schemas.openxmlformats.org/presentationml/2006/ole">
            <mc:AlternateContent xmlns:mc="http://schemas.openxmlformats.org/markup-compatibility/2006">
              <mc:Choice xmlns:v="urn:schemas-microsoft-com:vml" Requires="v">
                <p:oleObj spid="_x0000_s42947" name="Equation" r:id="rId8" imgW="3848040" imgH="317160" progId="Equation.DSMT4">
                  <p:embed/>
                </p:oleObj>
              </mc:Choice>
              <mc:Fallback>
                <p:oleObj name="Equation" r:id="rId8" imgW="3848040" imgH="317160" progId="Equation.DSMT4">
                  <p:embed/>
                  <p:pic>
                    <p:nvPicPr>
                      <p:cNvPr id="43016" name="Object 20"/>
                      <p:cNvPicPr>
                        <a:picLocks noChangeAspect="1" noChangeArrowheads="1"/>
                      </p:cNvPicPr>
                      <p:nvPr/>
                    </p:nvPicPr>
                    <p:blipFill>
                      <a:blip r:embed="rId9"/>
                      <a:srcRect/>
                      <a:stretch>
                        <a:fillRect/>
                      </a:stretch>
                    </p:blipFill>
                    <p:spPr bwMode="auto">
                      <a:xfrm>
                        <a:off x="1735138" y="3426996"/>
                        <a:ext cx="739298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35"/>
          <p:cNvGraphicFramePr>
            <a:graphicFrameLocks noChangeAspect="1"/>
          </p:cNvGraphicFramePr>
          <p:nvPr>
            <p:extLst>
              <p:ext uri="{D42A27DB-BD31-4B8C-83A1-F6EECF244321}">
                <p14:modId xmlns:p14="http://schemas.microsoft.com/office/powerpoint/2010/main" val="2286347893"/>
              </p:ext>
            </p:extLst>
          </p:nvPr>
        </p:nvGraphicFramePr>
        <p:xfrm>
          <a:off x="6200551" y="1326421"/>
          <a:ext cx="2879725" cy="1136650"/>
        </p:xfrm>
        <a:graphic>
          <a:graphicData uri="http://schemas.openxmlformats.org/presentationml/2006/ole">
            <mc:AlternateContent xmlns:mc="http://schemas.openxmlformats.org/markup-compatibility/2006">
              <mc:Choice xmlns:v="urn:schemas-microsoft-com:vml" Requires="v">
                <p:oleObj spid="_x0000_s42948" name="Microsoft 公式 3.0" r:id="rId10" imgW="1854200" imgH="736600" progId="Equation.3">
                  <p:embed/>
                </p:oleObj>
              </mc:Choice>
              <mc:Fallback>
                <p:oleObj name="Microsoft 公式 3.0" r:id="rId10" imgW="1854200" imgH="736600" progId="Equation.3">
                  <p:embed/>
                  <p:pic>
                    <p:nvPicPr>
                      <p:cNvPr id="41990" name="Object 3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00551" y="1326421"/>
                        <a:ext cx="2879725"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19"/>
          <p:cNvGraphicFramePr>
            <a:graphicFrameLocks noChangeAspect="1"/>
          </p:cNvGraphicFramePr>
          <p:nvPr>
            <p:extLst>
              <p:ext uri="{D42A27DB-BD31-4B8C-83A1-F6EECF244321}">
                <p14:modId xmlns:p14="http://schemas.microsoft.com/office/powerpoint/2010/main" val="242302711"/>
              </p:ext>
            </p:extLst>
          </p:nvPr>
        </p:nvGraphicFramePr>
        <p:xfrm>
          <a:off x="2093740" y="3937796"/>
          <a:ext cx="2089150" cy="671512"/>
        </p:xfrm>
        <a:graphic>
          <a:graphicData uri="http://schemas.openxmlformats.org/presentationml/2006/ole">
            <mc:AlternateContent xmlns:mc="http://schemas.openxmlformats.org/markup-compatibility/2006">
              <mc:Choice xmlns:v="urn:schemas-microsoft-com:vml" Requires="v">
                <p:oleObj spid="_x0000_s42949" r:id="rId12" imgW="1333500" imgH="431800" progId="Equation.DSMT4">
                  <p:embed/>
                </p:oleObj>
              </mc:Choice>
              <mc:Fallback>
                <p:oleObj r:id="rId12" imgW="1333500" imgH="431800" progId="Equation.DSMT4">
                  <p:embed/>
                  <p:pic>
                    <p:nvPicPr>
                      <p:cNvPr id="43017"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93740" y="3937796"/>
                        <a:ext cx="2089150"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18"/>
          <p:cNvGraphicFramePr>
            <a:graphicFrameLocks noChangeAspect="1"/>
          </p:cNvGraphicFramePr>
          <p:nvPr>
            <p:extLst>
              <p:ext uri="{D42A27DB-BD31-4B8C-83A1-F6EECF244321}">
                <p14:modId xmlns:p14="http://schemas.microsoft.com/office/powerpoint/2010/main" val="2442294605"/>
              </p:ext>
            </p:extLst>
          </p:nvPr>
        </p:nvGraphicFramePr>
        <p:xfrm>
          <a:off x="4771455" y="3946906"/>
          <a:ext cx="792163" cy="550862"/>
        </p:xfrm>
        <a:graphic>
          <a:graphicData uri="http://schemas.openxmlformats.org/presentationml/2006/ole">
            <mc:AlternateContent xmlns:mc="http://schemas.openxmlformats.org/markup-compatibility/2006">
              <mc:Choice xmlns:v="urn:schemas-microsoft-com:vml" Requires="v">
                <p:oleObj spid="_x0000_s42950" r:id="rId14" imgW="558558" imgH="393529" progId="Equation.DSMT4">
                  <p:embed/>
                </p:oleObj>
              </mc:Choice>
              <mc:Fallback>
                <p:oleObj r:id="rId14" imgW="558558" imgH="393529" progId="Equation.DSMT4">
                  <p:embed/>
                  <p:pic>
                    <p:nvPicPr>
                      <p:cNvPr id="43018"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71455" y="3946906"/>
                        <a:ext cx="792163"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17"/>
          <p:cNvGraphicFramePr>
            <a:graphicFrameLocks noChangeAspect="1"/>
          </p:cNvGraphicFramePr>
          <p:nvPr>
            <p:extLst>
              <p:ext uri="{D42A27DB-BD31-4B8C-83A1-F6EECF244321}">
                <p14:modId xmlns:p14="http://schemas.microsoft.com/office/powerpoint/2010/main" val="3705494185"/>
              </p:ext>
            </p:extLst>
          </p:nvPr>
        </p:nvGraphicFramePr>
        <p:xfrm>
          <a:off x="5995418" y="4082550"/>
          <a:ext cx="647700" cy="361950"/>
        </p:xfrm>
        <a:graphic>
          <a:graphicData uri="http://schemas.openxmlformats.org/presentationml/2006/ole">
            <mc:AlternateContent xmlns:mc="http://schemas.openxmlformats.org/markup-compatibility/2006">
              <mc:Choice xmlns:v="urn:schemas-microsoft-com:vml" Requires="v">
                <p:oleObj spid="_x0000_s42951" r:id="rId16" imgW="406224" imgH="228501" progId="Equation.DSMT4">
                  <p:embed/>
                </p:oleObj>
              </mc:Choice>
              <mc:Fallback>
                <p:oleObj r:id="rId16" imgW="406224" imgH="228501" progId="Equation.DSMT4">
                  <p:embed/>
                  <p:pic>
                    <p:nvPicPr>
                      <p:cNvPr id="43019"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95418" y="4082550"/>
                        <a:ext cx="6477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16"/>
          <p:cNvGraphicFramePr>
            <a:graphicFrameLocks noChangeAspect="1"/>
          </p:cNvGraphicFramePr>
          <p:nvPr>
            <p:extLst>
              <p:ext uri="{D42A27DB-BD31-4B8C-83A1-F6EECF244321}">
                <p14:modId xmlns:p14="http://schemas.microsoft.com/office/powerpoint/2010/main" val="1289035770"/>
              </p:ext>
            </p:extLst>
          </p:nvPr>
        </p:nvGraphicFramePr>
        <p:xfrm>
          <a:off x="2081022" y="4517314"/>
          <a:ext cx="1511300" cy="671513"/>
        </p:xfrm>
        <a:graphic>
          <a:graphicData uri="http://schemas.openxmlformats.org/presentationml/2006/ole">
            <mc:AlternateContent xmlns:mc="http://schemas.openxmlformats.org/markup-compatibility/2006">
              <mc:Choice xmlns:v="urn:schemas-microsoft-com:vml" Requires="v">
                <p:oleObj spid="_x0000_s42952" r:id="rId18" imgW="1028700" imgH="457200" progId="Equation.DSMT4">
                  <p:embed/>
                </p:oleObj>
              </mc:Choice>
              <mc:Fallback>
                <p:oleObj r:id="rId18" imgW="1028700" imgH="457200" progId="Equation.DSMT4">
                  <p:embed/>
                  <p:pic>
                    <p:nvPicPr>
                      <p:cNvPr id="43020" name="Object 1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081022" y="4517314"/>
                        <a:ext cx="1511300"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15"/>
          <p:cNvGraphicFramePr>
            <a:graphicFrameLocks noChangeAspect="1"/>
          </p:cNvGraphicFramePr>
          <p:nvPr>
            <p:extLst>
              <p:ext uri="{D42A27DB-BD31-4B8C-83A1-F6EECF244321}">
                <p14:modId xmlns:p14="http://schemas.microsoft.com/office/powerpoint/2010/main" val="17914502"/>
              </p:ext>
            </p:extLst>
          </p:nvPr>
        </p:nvGraphicFramePr>
        <p:xfrm>
          <a:off x="4139952" y="4435108"/>
          <a:ext cx="2089150" cy="744538"/>
        </p:xfrm>
        <a:graphic>
          <a:graphicData uri="http://schemas.openxmlformats.org/presentationml/2006/ole">
            <mc:AlternateContent xmlns:mc="http://schemas.openxmlformats.org/markup-compatibility/2006">
              <mc:Choice xmlns:v="urn:schemas-microsoft-com:vml" Requires="v">
                <p:oleObj spid="_x0000_s42953" r:id="rId20" imgW="1358310" imgH="482391" progId="Equation.DSMT4">
                  <p:embed/>
                </p:oleObj>
              </mc:Choice>
              <mc:Fallback>
                <p:oleObj r:id="rId20" imgW="1358310" imgH="482391" progId="Equation.DSMT4">
                  <p:embed/>
                  <p:pic>
                    <p:nvPicPr>
                      <p:cNvPr id="43021" name="Object 1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39952" y="4435108"/>
                        <a:ext cx="2089150"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Object 13"/>
          <p:cNvGraphicFramePr>
            <a:graphicFrameLocks noChangeAspect="1"/>
          </p:cNvGraphicFramePr>
          <p:nvPr>
            <p:extLst>
              <p:ext uri="{D42A27DB-BD31-4B8C-83A1-F6EECF244321}">
                <p14:modId xmlns:p14="http://schemas.microsoft.com/office/powerpoint/2010/main" val="3687216243"/>
              </p:ext>
            </p:extLst>
          </p:nvPr>
        </p:nvGraphicFramePr>
        <p:xfrm>
          <a:off x="6732240" y="4508133"/>
          <a:ext cx="792162" cy="550863"/>
        </p:xfrm>
        <a:graphic>
          <a:graphicData uri="http://schemas.openxmlformats.org/presentationml/2006/ole">
            <mc:AlternateContent xmlns:mc="http://schemas.openxmlformats.org/markup-compatibility/2006">
              <mc:Choice xmlns:v="urn:schemas-microsoft-com:vml" Requires="v">
                <p:oleObj spid="_x0000_s42954" r:id="rId22" imgW="558558" imgH="393529" progId="Equation.DSMT4">
                  <p:embed/>
                </p:oleObj>
              </mc:Choice>
              <mc:Fallback>
                <p:oleObj r:id="rId22" imgW="558558" imgH="393529" progId="Equation.DSMT4">
                  <p:embed/>
                  <p:pic>
                    <p:nvPicPr>
                      <p:cNvPr id="43022" name="Object 1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732240" y="4508133"/>
                        <a:ext cx="792162"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 name="Rectangle 26"/>
          <p:cNvSpPr>
            <a:spLocks noChangeArrowheads="1"/>
          </p:cNvSpPr>
          <p:nvPr/>
        </p:nvSpPr>
        <p:spPr bwMode="auto">
          <a:xfrm>
            <a:off x="1674243" y="4018314"/>
            <a:ext cx="4427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a:cs typeface="Courier New" panose="02070309020205020404" pitchFamily="49" charset="0"/>
              </a:rPr>
              <a:t>由</a:t>
            </a:r>
            <a:endParaRPr lang="zh-CN" altLang="en-US" sz="2000" b="1"/>
          </a:p>
        </p:txBody>
      </p:sp>
      <p:sp>
        <p:nvSpPr>
          <p:cNvPr id="33" name="Rectangle 27"/>
          <p:cNvSpPr>
            <a:spLocks noChangeArrowheads="1"/>
          </p:cNvSpPr>
          <p:nvPr/>
        </p:nvSpPr>
        <p:spPr bwMode="auto">
          <a:xfrm>
            <a:off x="4404743" y="4018314"/>
            <a:ext cx="4427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cs typeface="Courier New" panose="02070309020205020404" pitchFamily="49" charset="0"/>
              </a:rPr>
              <a:t>得</a:t>
            </a:r>
            <a:endParaRPr lang="zh-CN" altLang="en-US" sz="2000" b="1" dirty="0"/>
          </a:p>
        </p:txBody>
      </p:sp>
      <p:sp>
        <p:nvSpPr>
          <p:cNvPr id="34" name="Rectangle 28"/>
          <p:cNvSpPr>
            <a:spLocks noChangeArrowheads="1"/>
          </p:cNvSpPr>
          <p:nvPr/>
        </p:nvSpPr>
        <p:spPr bwMode="auto">
          <a:xfrm>
            <a:off x="5557268" y="4012452"/>
            <a:ext cx="4427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cs typeface="Courier New" panose="02070309020205020404" pitchFamily="49" charset="0"/>
              </a:rPr>
              <a:t>和</a:t>
            </a:r>
            <a:endParaRPr lang="zh-CN" altLang="en-US" sz="2000" b="1" dirty="0"/>
          </a:p>
        </p:txBody>
      </p:sp>
      <p:sp>
        <p:nvSpPr>
          <p:cNvPr id="35" name="Rectangle 29"/>
          <p:cNvSpPr>
            <a:spLocks noChangeArrowheads="1"/>
          </p:cNvSpPr>
          <p:nvPr/>
        </p:nvSpPr>
        <p:spPr bwMode="auto">
          <a:xfrm>
            <a:off x="6787580" y="4018314"/>
            <a:ext cx="94128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tabLst>
                <a:tab pos="2641600" algn="ctr"/>
                <a:tab pos="5270500" algn="r"/>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tabLst>
                <a:tab pos="2641600" algn="ctr"/>
                <a:tab pos="5270500" algn="r"/>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tabLst>
                <a:tab pos="2641600" algn="ctr"/>
                <a:tab pos="5270500" algn="r"/>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tabLst>
                <a:tab pos="2641600" algn="ctr"/>
                <a:tab pos="5270500" algn="r"/>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tabLst>
                <a:tab pos="2641600" algn="ctr"/>
                <a:tab pos="5270500"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tabLst>
                <a:tab pos="2641600" algn="ctr"/>
                <a:tab pos="5270500"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tabLst>
                <a:tab pos="2641600" algn="ctr"/>
                <a:tab pos="5270500"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tabLst>
                <a:tab pos="2641600" algn="ctr"/>
                <a:tab pos="5270500"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tabLst>
                <a:tab pos="2641600" algn="ctr"/>
                <a:tab pos="5270500" algn="r"/>
              </a:tabLs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dirty="0">
                <a:cs typeface="Courier New" panose="02070309020205020404" pitchFamily="49" charset="0"/>
              </a:rPr>
              <a:t> (</a:t>
            </a:r>
            <a:r>
              <a:rPr lang="zh-CN" altLang="en-US" sz="2000" b="1" dirty="0">
                <a:cs typeface="Courier New" panose="02070309020205020404" pitchFamily="49" charset="0"/>
              </a:rPr>
              <a:t>舍去</a:t>
            </a:r>
            <a:r>
              <a:rPr lang="en-US" altLang="zh-CN" sz="2000" b="1" dirty="0">
                <a:cs typeface="Courier New" panose="02070309020205020404" pitchFamily="49" charset="0"/>
              </a:rPr>
              <a:t>)</a:t>
            </a:r>
            <a:endParaRPr lang="en-US" altLang="zh-CN" sz="2000" b="1" dirty="0"/>
          </a:p>
        </p:txBody>
      </p:sp>
      <p:sp>
        <p:nvSpPr>
          <p:cNvPr id="36" name="Rectangle 30"/>
          <p:cNvSpPr>
            <a:spLocks noChangeArrowheads="1"/>
          </p:cNvSpPr>
          <p:nvPr/>
        </p:nvSpPr>
        <p:spPr bwMode="auto">
          <a:xfrm>
            <a:off x="3491880" y="4577954"/>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，而</a:t>
            </a:r>
            <a:endParaRPr lang="zh-CN" altLang="en-US" sz="2000" b="1" dirty="0"/>
          </a:p>
        </p:txBody>
      </p:sp>
      <p:sp>
        <p:nvSpPr>
          <p:cNvPr id="37" name="Rectangle 32"/>
          <p:cNvSpPr>
            <a:spLocks noChangeArrowheads="1"/>
          </p:cNvSpPr>
          <p:nvPr/>
        </p:nvSpPr>
        <p:spPr bwMode="auto">
          <a:xfrm>
            <a:off x="6084168" y="4541441"/>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，故</a:t>
            </a:r>
            <a:endParaRPr lang="zh-CN" altLang="en-US" sz="2000" b="1" dirty="0"/>
          </a:p>
        </p:txBody>
      </p:sp>
      <p:sp>
        <p:nvSpPr>
          <p:cNvPr id="38" name="Rectangle 33"/>
          <p:cNvSpPr>
            <a:spLocks noChangeArrowheads="1"/>
          </p:cNvSpPr>
          <p:nvPr/>
        </p:nvSpPr>
        <p:spPr bwMode="auto">
          <a:xfrm>
            <a:off x="7579048" y="4506516"/>
            <a:ext cx="17331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a:latin typeface="Times New Roman" panose="02020603050405020304" pitchFamily="18" charset="0"/>
                <a:cs typeface="Times New Roman" panose="02020603050405020304" pitchFamily="18" charset="0"/>
              </a:rPr>
              <a:t>为极大值点。</a:t>
            </a:r>
            <a:endParaRPr lang="zh-CN" altLang="en-US" sz="2000" b="1"/>
          </a:p>
        </p:txBody>
      </p:sp>
      <p:sp>
        <p:nvSpPr>
          <p:cNvPr id="39" name="Rectangle 35"/>
          <p:cNvSpPr>
            <a:spLocks noChangeArrowheads="1"/>
          </p:cNvSpPr>
          <p:nvPr/>
        </p:nvSpPr>
        <p:spPr bwMode="auto">
          <a:xfrm>
            <a:off x="1674243" y="4612879"/>
            <a:ext cx="4427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cs typeface="Courier New" panose="02070309020205020404" pitchFamily="49" charset="0"/>
              </a:rPr>
              <a:t>由</a:t>
            </a:r>
            <a:endParaRPr lang="zh-CN" altLang="en-US" sz="2000" b="1" dirty="0"/>
          </a:p>
        </p:txBody>
      </p:sp>
      <p:graphicFrame>
        <p:nvGraphicFramePr>
          <p:cNvPr id="40" name="Object 12"/>
          <p:cNvGraphicFramePr>
            <a:graphicFrameLocks noChangeAspect="1"/>
          </p:cNvGraphicFramePr>
          <p:nvPr>
            <p:extLst>
              <p:ext uri="{D42A27DB-BD31-4B8C-83A1-F6EECF244321}">
                <p14:modId xmlns:p14="http://schemas.microsoft.com/office/powerpoint/2010/main" val="70537826"/>
              </p:ext>
            </p:extLst>
          </p:nvPr>
        </p:nvGraphicFramePr>
        <p:xfrm>
          <a:off x="2378195" y="4955216"/>
          <a:ext cx="1684034" cy="641350"/>
        </p:xfrm>
        <a:graphic>
          <a:graphicData uri="http://schemas.openxmlformats.org/presentationml/2006/ole">
            <mc:AlternateContent xmlns:mc="http://schemas.openxmlformats.org/markup-compatibility/2006">
              <mc:Choice xmlns:v="urn:schemas-microsoft-com:vml" Requires="v">
                <p:oleObj spid="_x0000_s42955" r:id="rId24" imgW="875920" imgH="393529" progId="Equation.DSMT4">
                  <p:embed/>
                </p:oleObj>
              </mc:Choice>
              <mc:Fallback>
                <p:oleObj r:id="rId24" imgW="875920" imgH="393529" progId="Equation.DSMT4">
                  <p:embed/>
                  <p:pic>
                    <p:nvPicPr>
                      <p:cNvPr id="43023" name="Object 1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378195" y="4955216"/>
                        <a:ext cx="1684034" cy="641350"/>
                      </a:xfrm>
                      <a:prstGeom prst="rect">
                        <a:avLst/>
                      </a:prstGeom>
                      <a:noFill/>
                      <a:ln>
                        <a:noFill/>
                      </a:ln>
                      <a:extLst/>
                    </p:spPr>
                  </p:pic>
                </p:oleObj>
              </mc:Fallback>
            </mc:AlternateContent>
          </a:graphicData>
        </a:graphic>
      </p:graphicFrame>
      <p:graphicFrame>
        <p:nvGraphicFramePr>
          <p:cNvPr id="41" name="Object 11"/>
          <p:cNvGraphicFramePr>
            <a:graphicFrameLocks noChangeAspect="1"/>
          </p:cNvGraphicFramePr>
          <p:nvPr>
            <p:extLst>
              <p:ext uri="{D42A27DB-BD31-4B8C-83A1-F6EECF244321}">
                <p14:modId xmlns:p14="http://schemas.microsoft.com/office/powerpoint/2010/main" val="2860698374"/>
              </p:ext>
            </p:extLst>
          </p:nvPr>
        </p:nvGraphicFramePr>
        <p:xfrm>
          <a:off x="5128183" y="4955216"/>
          <a:ext cx="1093602" cy="650875"/>
        </p:xfrm>
        <a:graphic>
          <a:graphicData uri="http://schemas.openxmlformats.org/presentationml/2006/ole">
            <mc:AlternateContent xmlns:mc="http://schemas.openxmlformats.org/markup-compatibility/2006">
              <mc:Choice xmlns:v="urn:schemas-microsoft-com:vml" Requires="v">
                <p:oleObj spid="_x0000_s42956" r:id="rId26" imgW="558558" imgH="393529" progId="Equation.DSMT4">
                  <p:embed/>
                </p:oleObj>
              </mc:Choice>
              <mc:Fallback>
                <p:oleObj r:id="rId26" imgW="558558" imgH="393529" progId="Equation.DSMT4">
                  <p:embed/>
                  <p:pic>
                    <p:nvPicPr>
                      <p:cNvPr id="43024" name="Object 1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128183" y="4955216"/>
                        <a:ext cx="1093602" cy="650875"/>
                      </a:xfrm>
                      <a:prstGeom prst="rect">
                        <a:avLst/>
                      </a:prstGeom>
                      <a:noFill/>
                      <a:ln>
                        <a:noFill/>
                      </a:ln>
                      <a:extLst/>
                    </p:spPr>
                  </p:pic>
                </p:oleObj>
              </mc:Fallback>
            </mc:AlternateContent>
          </a:graphicData>
        </a:graphic>
      </p:graphicFrame>
      <p:sp>
        <p:nvSpPr>
          <p:cNvPr id="42" name="Rectangle 34"/>
          <p:cNvSpPr>
            <a:spLocks noChangeArrowheads="1"/>
          </p:cNvSpPr>
          <p:nvPr/>
        </p:nvSpPr>
        <p:spPr bwMode="auto">
          <a:xfrm>
            <a:off x="4182890" y="5081932"/>
            <a:ext cx="11215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cs typeface="Courier New" panose="02070309020205020404" pitchFamily="49" charset="0"/>
              </a:rPr>
              <a:t>最优解</a:t>
            </a:r>
            <a:endParaRPr lang="zh-CN" altLang="en-US" sz="2000" b="1" dirty="0"/>
          </a:p>
        </p:txBody>
      </p:sp>
      <p:sp>
        <p:nvSpPr>
          <p:cNvPr id="43" name="Rectangle 36"/>
          <p:cNvSpPr>
            <a:spLocks noChangeArrowheads="1"/>
          </p:cNvSpPr>
          <p:nvPr/>
        </p:nvSpPr>
        <p:spPr bwMode="auto">
          <a:xfrm>
            <a:off x="1674242" y="5069395"/>
            <a:ext cx="8095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cs typeface="Courier New" panose="02070309020205020404" pitchFamily="49" charset="0"/>
              </a:rPr>
              <a:t>所以</a:t>
            </a:r>
            <a:endParaRPr lang="zh-CN" altLang="en-US" sz="2000" b="1" dirty="0"/>
          </a:p>
        </p:txBody>
      </p:sp>
      <p:sp>
        <p:nvSpPr>
          <p:cNvPr id="44" name="Rectangle 53"/>
          <p:cNvSpPr>
            <a:spLocks noChangeArrowheads="1"/>
          </p:cNvSpPr>
          <p:nvPr/>
        </p:nvSpPr>
        <p:spPr bwMode="auto">
          <a:xfrm>
            <a:off x="1042398" y="5493214"/>
            <a:ext cx="61923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i="1" dirty="0" smtClean="0">
                <a:latin typeface="Times New Roman" panose="02020603050405020304" pitchFamily="18" charset="0"/>
                <a:cs typeface="Times New Roman" panose="02020603050405020304" pitchFamily="18" charset="0"/>
              </a:rPr>
              <a:t>k</a:t>
            </a:r>
            <a:r>
              <a:rPr lang="en-US" altLang="zh-CN" sz="2000" b="1" dirty="0" smtClean="0">
                <a:latin typeface="Times New Roman" panose="02020603050405020304" pitchFamily="18" charset="0"/>
                <a:cs typeface="Times New Roman" panose="02020603050405020304" pitchFamily="18" charset="0"/>
              </a:rPr>
              <a:t>=1:</a:t>
            </a:r>
            <a:endParaRPr lang="zh-CN" altLang="en-US" sz="2000" b="1" dirty="0"/>
          </a:p>
        </p:txBody>
      </p:sp>
      <p:graphicFrame>
        <p:nvGraphicFramePr>
          <p:cNvPr id="45" name="Object 30"/>
          <p:cNvGraphicFramePr>
            <a:graphicFrameLocks noChangeAspect="1"/>
          </p:cNvGraphicFramePr>
          <p:nvPr>
            <p:extLst>
              <p:ext uri="{D42A27DB-BD31-4B8C-83A1-F6EECF244321}">
                <p14:modId xmlns:p14="http://schemas.microsoft.com/office/powerpoint/2010/main" val="2860179462"/>
              </p:ext>
            </p:extLst>
          </p:nvPr>
        </p:nvGraphicFramePr>
        <p:xfrm>
          <a:off x="1720074" y="5445224"/>
          <a:ext cx="6848475" cy="617538"/>
        </p:xfrm>
        <a:graphic>
          <a:graphicData uri="http://schemas.openxmlformats.org/presentationml/2006/ole">
            <mc:AlternateContent xmlns:mc="http://schemas.openxmlformats.org/markup-compatibility/2006">
              <mc:Choice xmlns:v="urn:schemas-microsoft-com:vml" Requires="v">
                <p:oleObj spid="_x0000_s42957" name="Equation" r:id="rId28" imgW="3974760" imgH="431640" progId="Equation.DSMT4">
                  <p:embed/>
                </p:oleObj>
              </mc:Choice>
              <mc:Fallback>
                <p:oleObj name="Equation" r:id="rId28" imgW="3974760" imgH="431640" progId="Equation.DSMT4">
                  <p:embed/>
                  <p:pic>
                    <p:nvPicPr>
                      <p:cNvPr id="44038" name="Object 30"/>
                      <p:cNvPicPr>
                        <a:picLocks noChangeAspect="1" noChangeArrowheads="1"/>
                      </p:cNvPicPr>
                      <p:nvPr/>
                    </p:nvPicPr>
                    <p:blipFill>
                      <a:blip r:embed="rId29"/>
                      <a:srcRect/>
                      <a:stretch>
                        <a:fillRect/>
                      </a:stretch>
                    </p:blipFill>
                    <p:spPr bwMode="auto">
                      <a:xfrm>
                        <a:off x="1720074" y="5445224"/>
                        <a:ext cx="6848475" cy="617538"/>
                      </a:xfrm>
                      <a:prstGeom prst="rect">
                        <a:avLst/>
                      </a:prstGeom>
                      <a:noFill/>
                      <a:ln>
                        <a:noFill/>
                      </a:ln>
                      <a:extLst/>
                    </p:spPr>
                  </p:pic>
                </p:oleObj>
              </mc:Fallback>
            </mc:AlternateContent>
          </a:graphicData>
        </a:graphic>
      </p:graphicFrame>
      <p:sp>
        <p:nvSpPr>
          <p:cNvPr id="49" name="Rectangle 36"/>
          <p:cNvSpPr>
            <a:spLocks noChangeArrowheads="1"/>
          </p:cNvSpPr>
          <p:nvPr/>
        </p:nvSpPr>
        <p:spPr bwMode="auto">
          <a:xfrm>
            <a:off x="1715228" y="6046876"/>
            <a:ext cx="159128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smtClean="0">
                <a:cs typeface="Courier New" panose="02070309020205020404" pitchFamily="49" charset="0"/>
              </a:rPr>
              <a:t>微分易求得</a:t>
            </a:r>
            <a:endParaRPr lang="zh-CN" altLang="en-US" sz="2000" b="1" dirty="0"/>
          </a:p>
        </p:txBody>
      </p:sp>
      <p:graphicFrame>
        <p:nvGraphicFramePr>
          <p:cNvPr id="50" name="Object 29"/>
          <p:cNvGraphicFramePr>
            <a:graphicFrameLocks noChangeAspect="1"/>
          </p:cNvGraphicFramePr>
          <p:nvPr>
            <p:extLst>
              <p:ext uri="{D42A27DB-BD31-4B8C-83A1-F6EECF244321}">
                <p14:modId xmlns:p14="http://schemas.microsoft.com/office/powerpoint/2010/main" val="4033748109"/>
              </p:ext>
            </p:extLst>
          </p:nvPr>
        </p:nvGraphicFramePr>
        <p:xfrm>
          <a:off x="3306511" y="5926256"/>
          <a:ext cx="935038" cy="673100"/>
        </p:xfrm>
        <a:graphic>
          <a:graphicData uri="http://schemas.openxmlformats.org/presentationml/2006/ole">
            <mc:AlternateContent xmlns:mc="http://schemas.openxmlformats.org/markup-compatibility/2006">
              <mc:Choice xmlns:v="urn:schemas-microsoft-com:vml" Requires="v">
                <p:oleObj spid="_x0000_s42958" r:id="rId30" imgW="545863" imgH="393529" progId="Equation.DSMT4">
                  <p:embed/>
                </p:oleObj>
              </mc:Choice>
              <mc:Fallback>
                <p:oleObj r:id="rId30" imgW="545863" imgH="393529" progId="Equation.DSMT4">
                  <p:embed/>
                  <p:pic>
                    <p:nvPicPr>
                      <p:cNvPr id="44039" name="Object 2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306511" y="5926256"/>
                        <a:ext cx="93503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 name="Object 28"/>
          <p:cNvGraphicFramePr>
            <a:graphicFrameLocks noChangeAspect="1"/>
          </p:cNvGraphicFramePr>
          <p:nvPr>
            <p:extLst>
              <p:ext uri="{D42A27DB-BD31-4B8C-83A1-F6EECF244321}">
                <p14:modId xmlns:p14="http://schemas.microsoft.com/office/powerpoint/2010/main" val="3180750997"/>
              </p:ext>
            </p:extLst>
          </p:nvPr>
        </p:nvGraphicFramePr>
        <p:xfrm>
          <a:off x="4572389" y="5958841"/>
          <a:ext cx="1368425" cy="630238"/>
        </p:xfrm>
        <a:graphic>
          <a:graphicData uri="http://schemas.openxmlformats.org/presentationml/2006/ole">
            <mc:AlternateContent xmlns:mc="http://schemas.openxmlformats.org/markup-compatibility/2006">
              <mc:Choice xmlns:v="urn:schemas-microsoft-com:vml" Requires="v">
                <p:oleObj spid="_x0000_s42959" r:id="rId32" imgW="850531" imgH="393529" progId="Equation.DSMT4">
                  <p:embed/>
                </p:oleObj>
              </mc:Choice>
              <mc:Fallback>
                <p:oleObj r:id="rId32" imgW="850531" imgH="393529" progId="Equation.DSMT4">
                  <p:embed/>
                  <p:pic>
                    <p:nvPicPr>
                      <p:cNvPr id="44040" name="Object 28"/>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572389" y="5958841"/>
                        <a:ext cx="1368425"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4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0"/>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0" grpId="0"/>
      <p:bldP spid="32" grpId="0"/>
      <p:bldP spid="33" grpId="0"/>
      <p:bldP spid="34" grpId="0"/>
      <p:bldP spid="35" grpId="0"/>
      <p:bldP spid="36" grpId="0"/>
      <p:bldP spid="37" grpId="0"/>
      <p:bldP spid="38" grpId="0"/>
      <p:bldP spid="39" grpId="0"/>
      <p:bldP spid="42" grpId="0"/>
      <p:bldP spid="43" grpId="0"/>
      <p:bldP spid="44" grpId="0"/>
      <p:bldP spid="4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pPr eaLnBrk="1" hangingPunct="1"/>
            <a:r>
              <a:rPr lang="en-US" altLang="zh-CN" dirty="0"/>
              <a:t>8.3.1 </a:t>
            </a:r>
            <a:r>
              <a:rPr lang="zh-CN" altLang="en-US" dirty="0"/>
              <a:t>逆推解法</a:t>
            </a:r>
            <a:endParaRPr lang="zh-CN" altLang="en-US" b="1" dirty="0"/>
          </a:p>
        </p:txBody>
      </p:sp>
      <p:sp>
        <p:nvSpPr>
          <p:cNvPr id="2" name="内容占位符 1"/>
          <p:cNvSpPr>
            <a:spLocks noGrp="1"/>
          </p:cNvSpPr>
          <p:nvPr>
            <p:ph idx="1"/>
          </p:nvPr>
        </p:nvSpPr>
        <p:spPr>
          <a:xfrm>
            <a:off x="539552" y="1337268"/>
            <a:ext cx="8280920" cy="904863"/>
          </a:xfrm>
        </p:spPr>
        <p:txBody>
          <a:bodyPr/>
          <a:lstStyle/>
          <a:p>
            <a:r>
              <a:rPr lang="zh-CN" altLang="en-US" dirty="0" smtClean="0"/>
              <a:t>例</a:t>
            </a:r>
            <a:r>
              <a:rPr lang="en-US" altLang="zh-CN" dirty="0" smtClean="0"/>
              <a:t>8-2</a:t>
            </a:r>
            <a:r>
              <a:rPr lang="zh-CN" altLang="en-US" dirty="0" smtClean="0"/>
              <a:t>：</a:t>
            </a:r>
            <a:r>
              <a:rPr lang="zh-CN" altLang="en-US" dirty="0">
                <a:cs typeface="Courier New" panose="02070309020205020404" pitchFamily="49" charset="0"/>
              </a:rPr>
              <a:t>用逆推解法求解下面问题</a:t>
            </a:r>
            <a:endParaRPr lang="zh-CN" altLang="en-US" dirty="0"/>
          </a:p>
          <a:p>
            <a:endParaRPr lang="zh-CN" altLang="en-US" dirty="0"/>
          </a:p>
        </p:txBody>
      </p:sp>
      <p:sp>
        <p:nvSpPr>
          <p:cNvPr id="41987"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71F54FA-0434-4F61-9C63-47FBB23E5483}" type="slidenum">
              <a:rPr lang="en-US" altLang="zh-CN" sz="1000"/>
              <a:pPr>
                <a:spcBef>
                  <a:spcPct val="0"/>
                </a:spcBef>
                <a:buClrTx/>
                <a:buSzTx/>
                <a:buFontTx/>
                <a:buNone/>
              </a:pPr>
              <a:t>30</a:t>
            </a:fld>
            <a:endParaRPr lang="en-US" altLang="zh-CN" sz="1000"/>
          </a:p>
        </p:txBody>
      </p:sp>
      <p:sp>
        <p:nvSpPr>
          <p:cNvPr id="41989"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sp>
        <p:nvSpPr>
          <p:cNvPr id="13" name="Rectangle 53"/>
          <p:cNvSpPr>
            <a:spLocks noChangeArrowheads="1"/>
          </p:cNvSpPr>
          <p:nvPr/>
        </p:nvSpPr>
        <p:spPr bwMode="auto">
          <a:xfrm>
            <a:off x="966078" y="2420888"/>
            <a:ext cx="61923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smtClean="0">
                <a:latin typeface="Times New Roman" panose="02020603050405020304" pitchFamily="18" charset="0"/>
                <a:cs typeface="Times New Roman" panose="02020603050405020304" pitchFamily="18" charset="0"/>
              </a:rPr>
              <a:t>采用逆推解法，从后向前依次可以得到：</a:t>
            </a:r>
            <a:endParaRPr lang="zh-CN" altLang="en-US" sz="2000" b="1" dirty="0"/>
          </a:p>
        </p:txBody>
      </p:sp>
      <p:cxnSp>
        <p:nvCxnSpPr>
          <p:cNvPr id="4" name="直接连接符 3"/>
          <p:cNvCxnSpPr/>
          <p:nvPr/>
        </p:nvCxnSpPr>
        <p:spPr bwMode="auto">
          <a:xfrm flipV="1">
            <a:off x="395536" y="2749434"/>
            <a:ext cx="8424936" cy="71564"/>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Rectangle 53"/>
          <p:cNvSpPr>
            <a:spLocks noChangeArrowheads="1"/>
          </p:cNvSpPr>
          <p:nvPr/>
        </p:nvSpPr>
        <p:spPr bwMode="auto">
          <a:xfrm>
            <a:off x="1042399" y="2900488"/>
            <a:ext cx="7406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i="1" dirty="0" smtClean="0">
                <a:latin typeface="Times New Roman" panose="02020603050405020304" pitchFamily="18" charset="0"/>
                <a:cs typeface="Times New Roman" panose="02020603050405020304" pitchFamily="18" charset="0"/>
              </a:rPr>
              <a:t>k</a:t>
            </a:r>
            <a:r>
              <a:rPr lang="en-US" altLang="zh-CN" sz="2000" b="1" dirty="0" smtClean="0">
                <a:latin typeface="Times New Roman" panose="02020603050405020304" pitchFamily="18" charset="0"/>
                <a:cs typeface="Times New Roman" panose="02020603050405020304" pitchFamily="18" charset="0"/>
              </a:rPr>
              <a:t>=3:</a:t>
            </a:r>
            <a:endParaRPr lang="zh-CN" altLang="en-US" sz="2000" b="1" dirty="0"/>
          </a:p>
        </p:txBody>
      </p:sp>
      <p:graphicFrame>
        <p:nvGraphicFramePr>
          <p:cNvPr id="18" name="Object 21"/>
          <p:cNvGraphicFramePr>
            <a:graphicFrameLocks noChangeAspect="1"/>
          </p:cNvGraphicFramePr>
          <p:nvPr>
            <p:extLst>
              <p:ext uri="{D42A27DB-BD31-4B8C-83A1-F6EECF244321}">
                <p14:modId xmlns:p14="http://schemas.microsoft.com/office/powerpoint/2010/main" val="2771365554"/>
              </p:ext>
            </p:extLst>
          </p:nvPr>
        </p:nvGraphicFramePr>
        <p:xfrm>
          <a:off x="1788009" y="2890554"/>
          <a:ext cx="792162" cy="441325"/>
        </p:xfrm>
        <a:graphic>
          <a:graphicData uri="http://schemas.openxmlformats.org/presentationml/2006/ole">
            <mc:AlternateContent xmlns:mc="http://schemas.openxmlformats.org/markup-compatibility/2006">
              <mc:Choice xmlns:v="urn:schemas-microsoft-com:vml" Requires="v">
                <p:oleObj spid="_x0000_s182917" r:id="rId4" imgW="431613" imgH="241195" progId="Equation.DSMT4">
                  <p:embed/>
                </p:oleObj>
              </mc:Choice>
              <mc:Fallback>
                <p:oleObj r:id="rId4" imgW="431613" imgH="241195" progId="Equation.DSMT4">
                  <p:embed/>
                  <p:pic>
                    <p:nvPicPr>
                      <p:cNvPr id="18" name="Object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8009" y="2890554"/>
                        <a:ext cx="792162"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Rectangle 53"/>
          <p:cNvSpPr>
            <a:spLocks noChangeArrowheads="1"/>
          </p:cNvSpPr>
          <p:nvPr/>
        </p:nvSpPr>
        <p:spPr bwMode="auto">
          <a:xfrm>
            <a:off x="3238382" y="2933953"/>
            <a:ext cx="7786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i="1" dirty="0" smtClean="0">
                <a:latin typeface="Times New Roman" panose="02020603050405020304" pitchFamily="18" charset="0"/>
                <a:cs typeface="Times New Roman" panose="02020603050405020304" pitchFamily="18" charset="0"/>
              </a:rPr>
              <a:t>k</a:t>
            </a:r>
            <a:r>
              <a:rPr lang="en-US" altLang="zh-CN" sz="2000" b="1" dirty="0" smtClean="0">
                <a:latin typeface="Times New Roman" panose="02020603050405020304" pitchFamily="18" charset="0"/>
                <a:cs typeface="Times New Roman" panose="02020603050405020304" pitchFamily="18" charset="0"/>
              </a:rPr>
              <a:t>=2:</a:t>
            </a:r>
            <a:endParaRPr lang="zh-CN" altLang="en-US" sz="2000" b="1" dirty="0"/>
          </a:p>
        </p:txBody>
      </p:sp>
      <p:graphicFrame>
        <p:nvGraphicFramePr>
          <p:cNvPr id="25" name="Object 35"/>
          <p:cNvGraphicFramePr>
            <a:graphicFrameLocks noChangeAspect="1"/>
          </p:cNvGraphicFramePr>
          <p:nvPr/>
        </p:nvGraphicFramePr>
        <p:xfrm>
          <a:off x="6200551" y="1326421"/>
          <a:ext cx="2879725" cy="1136650"/>
        </p:xfrm>
        <a:graphic>
          <a:graphicData uri="http://schemas.openxmlformats.org/presentationml/2006/ole">
            <mc:AlternateContent xmlns:mc="http://schemas.openxmlformats.org/markup-compatibility/2006">
              <mc:Choice xmlns:v="urn:schemas-microsoft-com:vml" Requires="v">
                <p:oleObj spid="_x0000_s182918" name="Microsoft 公式 3.0" r:id="rId6" imgW="1854200" imgH="736600" progId="Equation.3">
                  <p:embed/>
                </p:oleObj>
              </mc:Choice>
              <mc:Fallback>
                <p:oleObj name="Microsoft 公式 3.0" r:id="rId6" imgW="1854200" imgH="736600" progId="Equation.3">
                  <p:embed/>
                  <p:pic>
                    <p:nvPicPr>
                      <p:cNvPr id="25" name="Object 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00551" y="1326421"/>
                        <a:ext cx="2879725"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 name="Object 11"/>
          <p:cNvGraphicFramePr>
            <a:graphicFrameLocks noChangeAspect="1"/>
          </p:cNvGraphicFramePr>
          <p:nvPr>
            <p:extLst>
              <p:ext uri="{D42A27DB-BD31-4B8C-83A1-F6EECF244321}">
                <p14:modId xmlns:p14="http://schemas.microsoft.com/office/powerpoint/2010/main" val="1179845252"/>
              </p:ext>
            </p:extLst>
          </p:nvPr>
        </p:nvGraphicFramePr>
        <p:xfrm>
          <a:off x="4025199" y="2798394"/>
          <a:ext cx="1093602" cy="650875"/>
        </p:xfrm>
        <a:graphic>
          <a:graphicData uri="http://schemas.openxmlformats.org/presentationml/2006/ole">
            <mc:AlternateContent xmlns:mc="http://schemas.openxmlformats.org/markup-compatibility/2006">
              <mc:Choice xmlns:v="urn:schemas-microsoft-com:vml" Requires="v">
                <p:oleObj spid="_x0000_s182919" r:id="rId8" imgW="558558" imgH="393529" progId="Equation.DSMT4">
                  <p:embed/>
                </p:oleObj>
              </mc:Choice>
              <mc:Fallback>
                <p:oleObj r:id="rId8" imgW="558558" imgH="393529" progId="Equation.DSMT4">
                  <p:embed/>
                  <p:pic>
                    <p:nvPicPr>
                      <p:cNvPr id="41"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25199" y="2798394"/>
                        <a:ext cx="1093602" cy="650875"/>
                      </a:xfrm>
                      <a:prstGeom prst="rect">
                        <a:avLst/>
                      </a:prstGeom>
                      <a:noFill/>
                      <a:ln>
                        <a:noFill/>
                      </a:ln>
                      <a:extLst/>
                    </p:spPr>
                  </p:pic>
                </p:oleObj>
              </mc:Fallback>
            </mc:AlternateContent>
          </a:graphicData>
        </a:graphic>
      </p:graphicFrame>
      <p:sp>
        <p:nvSpPr>
          <p:cNvPr id="44" name="Rectangle 53"/>
          <p:cNvSpPr>
            <a:spLocks noChangeArrowheads="1"/>
          </p:cNvSpPr>
          <p:nvPr/>
        </p:nvSpPr>
        <p:spPr bwMode="auto">
          <a:xfrm>
            <a:off x="5585192" y="2904628"/>
            <a:ext cx="7406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i="1" dirty="0" smtClean="0">
                <a:latin typeface="Times New Roman" panose="02020603050405020304" pitchFamily="18" charset="0"/>
                <a:cs typeface="Times New Roman" panose="02020603050405020304" pitchFamily="18" charset="0"/>
              </a:rPr>
              <a:t>k</a:t>
            </a:r>
            <a:r>
              <a:rPr lang="en-US" altLang="zh-CN" sz="2000" b="1" dirty="0" smtClean="0">
                <a:latin typeface="Times New Roman" panose="02020603050405020304" pitchFamily="18" charset="0"/>
                <a:cs typeface="Times New Roman" panose="02020603050405020304" pitchFamily="18" charset="0"/>
              </a:rPr>
              <a:t>=1:</a:t>
            </a:r>
            <a:endParaRPr lang="zh-CN" altLang="en-US" sz="2000" b="1" dirty="0"/>
          </a:p>
        </p:txBody>
      </p:sp>
      <p:graphicFrame>
        <p:nvGraphicFramePr>
          <p:cNvPr id="50" name="Object 29"/>
          <p:cNvGraphicFramePr>
            <a:graphicFrameLocks noChangeAspect="1"/>
          </p:cNvGraphicFramePr>
          <p:nvPr>
            <p:extLst>
              <p:ext uri="{D42A27DB-BD31-4B8C-83A1-F6EECF244321}">
                <p14:modId xmlns:p14="http://schemas.microsoft.com/office/powerpoint/2010/main" val="769170641"/>
              </p:ext>
            </p:extLst>
          </p:nvPr>
        </p:nvGraphicFramePr>
        <p:xfrm>
          <a:off x="6289292" y="2755033"/>
          <a:ext cx="935038" cy="673100"/>
        </p:xfrm>
        <a:graphic>
          <a:graphicData uri="http://schemas.openxmlformats.org/presentationml/2006/ole">
            <mc:AlternateContent xmlns:mc="http://schemas.openxmlformats.org/markup-compatibility/2006">
              <mc:Choice xmlns:v="urn:schemas-microsoft-com:vml" Requires="v">
                <p:oleObj spid="_x0000_s182920" r:id="rId10" imgW="545863" imgH="393529" progId="Equation.DSMT4">
                  <p:embed/>
                </p:oleObj>
              </mc:Choice>
              <mc:Fallback>
                <p:oleObj r:id="rId10" imgW="545863" imgH="393529" progId="Equation.DSMT4">
                  <p:embed/>
                  <p:pic>
                    <p:nvPicPr>
                      <p:cNvPr id="50"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89292" y="2755033"/>
                        <a:ext cx="93503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 name="Rectangle 34"/>
          <p:cNvSpPr>
            <a:spLocks noChangeArrowheads="1"/>
          </p:cNvSpPr>
          <p:nvPr/>
        </p:nvSpPr>
        <p:spPr bwMode="auto">
          <a:xfrm>
            <a:off x="1013442" y="3418558"/>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由于已知</a:t>
            </a:r>
            <a:endParaRPr lang="zh-CN" altLang="en-US" sz="2000" b="1" dirty="0"/>
          </a:p>
        </p:txBody>
      </p:sp>
      <p:graphicFrame>
        <p:nvGraphicFramePr>
          <p:cNvPr id="47" name="Object 27"/>
          <p:cNvGraphicFramePr>
            <a:graphicFrameLocks noChangeAspect="1"/>
          </p:cNvGraphicFramePr>
          <p:nvPr>
            <p:extLst>
              <p:ext uri="{D42A27DB-BD31-4B8C-83A1-F6EECF244321}">
                <p14:modId xmlns:p14="http://schemas.microsoft.com/office/powerpoint/2010/main" val="1275597956"/>
              </p:ext>
            </p:extLst>
          </p:nvPr>
        </p:nvGraphicFramePr>
        <p:xfrm>
          <a:off x="2143824" y="3397754"/>
          <a:ext cx="719138" cy="431800"/>
        </p:xfrm>
        <a:graphic>
          <a:graphicData uri="http://schemas.openxmlformats.org/presentationml/2006/ole">
            <mc:AlternateContent xmlns:mc="http://schemas.openxmlformats.org/markup-compatibility/2006">
              <mc:Choice xmlns:v="urn:schemas-microsoft-com:vml" Requires="v">
                <p:oleObj spid="_x0000_s182921" r:id="rId12" imgW="381000" imgH="228600" progId="Equation.DSMT4">
                  <p:embed/>
                </p:oleObj>
              </mc:Choice>
              <mc:Fallback>
                <p:oleObj r:id="rId12" imgW="381000" imgH="228600" progId="Equation.DSMT4">
                  <p:embed/>
                  <p:pic>
                    <p:nvPicPr>
                      <p:cNvPr id="44041" name="Object 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43824" y="3397754"/>
                        <a:ext cx="7191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 name="Rectangle 35"/>
          <p:cNvSpPr>
            <a:spLocks noChangeArrowheads="1"/>
          </p:cNvSpPr>
          <p:nvPr/>
        </p:nvSpPr>
        <p:spPr bwMode="auto">
          <a:xfrm>
            <a:off x="2843808" y="3387706"/>
            <a:ext cx="53848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smtClean="0">
                <a:latin typeface="Times New Roman" panose="02020603050405020304" pitchFamily="18" charset="0"/>
                <a:cs typeface="Times New Roman" panose="02020603050405020304" pitchFamily="18" charset="0"/>
              </a:rPr>
              <a:t>反序推算</a:t>
            </a:r>
            <a:r>
              <a:rPr lang="zh-CN" altLang="en-US" sz="2000" b="1" dirty="0">
                <a:latin typeface="Times New Roman" panose="02020603050405020304" pitchFamily="18" charset="0"/>
                <a:cs typeface="Times New Roman" panose="02020603050405020304" pitchFamily="18" charset="0"/>
              </a:rPr>
              <a:t>，可得各阶段的最优决策和最优值。</a:t>
            </a:r>
            <a:r>
              <a:rPr lang="zh-CN" altLang="en-US" sz="2000" b="1" dirty="0"/>
              <a:t> </a:t>
            </a:r>
          </a:p>
        </p:txBody>
      </p:sp>
      <p:graphicFrame>
        <p:nvGraphicFramePr>
          <p:cNvPr id="52" name="Object 18"/>
          <p:cNvGraphicFramePr>
            <a:graphicFrameLocks noChangeAspect="1"/>
          </p:cNvGraphicFramePr>
          <p:nvPr>
            <p:extLst>
              <p:ext uri="{D42A27DB-BD31-4B8C-83A1-F6EECF244321}">
                <p14:modId xmlns:p14="http://schemas.microsoft.com/office/powerpoint/2010/main" val="2409348116"/>
              </p:ext>
            </p:extLst>
          </p:nvPr>
        </p:nvGraphicFramePr>
        <p:xfrm>
          <a:off x="1569751" y="3729849"/>
          <a:ext cx="2159000" cy="577850"/>
        </p:xfrm>
        <a:graphic>
          <a:graphicData uri="http://schemas.openxmlformats.org/presentationml/2006/ole">
            <mc:AlternateContent xmlns:mc="http://schemas.openxmlformats.org/markup-compatibility/2006">
              <mc:Choice xmlns:v="urn:schemas-microsoft-com:vml" Requires="v">
                <p:oleObj spid="_x0000_s182922" r:id="rId14" imgW="1459866" imgH="393529" progId="Equation.DSMT4">
                  <p:embed/>
                </p:oleObj>
              </mc:Choice>
              <mc:Fallback>
                <p:oleObj r:id="rId14" imgW="1459866" imgH="393529" progId="Equation.DSMT4">
                  <p:embed/>
                  <p:pic>
                    <p:nvPicPr>
                      <p:cNvPr id="45062"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69751" y="3729849"/>
                        <a:ext cx="21590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 name="Object 17"/>
          <p:cNvGraphicFramePr>
            <a:graphicFrameLocks noChangeAspect="1"/>
          </p:cNvGraphicFramePr>
          <p:nvPr>
            <p:extLst>
              <p:ext uri="{D42A27DB-BD31-4B8C-83A1-F6EECF244321}">
                <p14:modId xmlns:p14="http://schemas.microsoft.com/office/powerpoint/2010/main" val="2732794683"/>
              </p:ext>
            </p:extLst>
          </p:nvPr>
        </p:nvGraphicFramePr>
        <p:xfrm>
          <a:off x="1403648" y="4264579"/>
          <a:ext cx="2305050" cy="573087"/>
        </p:xfrm>
        <a:graphic>
          <a:graphicData uri="http://schemas.openxmlformats.org/presentationml/2006/ole">
            <mc:AlternateContent xmlns:mc="http://schemas.openxmlformats.org/markup-compatibility/2006">
              <mc:Choice xmlns:v="urn:schemas-microsoft-com:vml" Requires="v">
                <p:oleObj spid="_x0000_s182923" r:id="rId16" imgW="1574800" imgH="393700" progId="Equation.DSMT4">
                  <p:embed/>
                </p:oleObj>
              </mc:Choice>
              <mc:Fallback>
                <p:oleObj r:id="rId16" imgW="1574800" imgH="393700" progId="Equation.DSMT4">
                  <p:embed/>
                  <p:pic>
                    <p:nvPicPr>
                      <p:cNvPr id="45063"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03648" y="4264579"/>
                        <a:ext cx="230505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 name="Object 16"/>
          <p:cNvGraphicFramePr>
            <a:graphicFrameLocks noChangeAspect="1"/>
          </p:cNvGraphicFramePr>
          <p:nvPr>
            <p:extLst>
              <p:ext uri="{D42A27DB-BD31-4B8C-83A1-F6EECF244321}">
                <p14:modId xmlns:p14="http://schemas.microsoft.com/office/powerpoint/2010/main" val="3843684065"/>
              </p:ext>
            </p:extLst>
          </p:nvPr>
        </p:nvGraphicFramePr>
        <p:xfrm>
          <a:off x="4576182" y="4236003"/>
          <a:ext cx="2952750" cy="601663"/>
        </p:xfrm>
        <a:graphic>
          <a:graphicData uri="http://schemas.openxmlformats.org/presentationml/2006/ole">
            <mc:AlternateContent xmlns:mc="http://schemas.openxmlformats.org/markup-compatibility/2006">
              <mc:Choice xmlns:v="urn:schemas-microsoft-com:vml" Requires="v">
                <p:oleObj spid="_x0000_s182924" r:id="rId18" imgW="1916868" imgH="393529" progId="Equation.DSMT4">
                  <p:embed/>
                </p:oleObj>
              </mc:Choice>
              <mc:Fallback>
                <p:oleObj r:id="rId18" imgW="1916868" imgH="393529" progId="Equation.DSMT4">
                  <p:embed/>
                  <p:pic>
                    <p:nvPicPr>
                      <p:cNvPr id="45064" name="Object 1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76182" y="4236003"/>
                        <a:ext cx="2952750"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 name="Object 15"/>
          <p:cNvGraphicFramePr>
            <a:graphicFrameLocks noChangeAspect="1"/>
          </p:cNvGraphicFramePr>
          <p:nvPr>
            <p:extLst>
              <p:ext uri="{D42A27DB-BD31-4B8C-83A1-F6EECF244321}">
                <p14:modId xmlns:p14="http://schemas.microsoft.com/office/powerpoint/2010/main" val="4100324272"/>
              </p:ext>
            </p:extLst>
          </p:nvPr>
        </p:nvGraphicFramePr>
        <p:xfrm>
          <a:off x="4610770" y="4837666"/>
          <a:ext cx="2049462" cy="571500"/>
        </p:xfrm>
        <a:graphic>
          <a:graphicData uri="http://schemas.openxmlformats.org/presentationml/2006/ole">
            <mc:AlternateContent xmlns:mc="http://schemas.openxmlformats.org/markup-compatibility/2006">
              <mc:Choice xmlns:v="urn:schemas-microsoft-com:vml" Requires="v">
                <p:oleObj spid="_x0000_s182925" r:id="rId20" imgW="1396394" imgH="393529" progId="Equation.DSMT4">
                  <p:embed/>
                </p:oleObj>
              </mc:Choice>
              <mc:Fallback>
                <p:oleObj r:id="rId20" imgW="1396394" imgH="393529" progId="Equation.DSMT4">
                  <p:embed/>
                  <p:pic>
                    <p:nvPicPr>
                      <p:cNvPr id="45065" name="Object 1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10770" y="4837666"/>
                        <a:ext cx="204946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 name="Object 14"/>
          <p:cNvGraphicFramePr>
            <a:graphicFrameLocks noChangeAspect="1"/>
          </p:cNvGraphicFramePr>
          <p:nvPr>
            <p:extLst>
              <p:ext uri="{D42A27DB-BD31-4B8C-83A1-F6EECF244321}">
                <p14:modId xmlns:p14="http://schemas.microsoft.com/office/powerpoint/2010/main" val="2565616230"/>
              </p:ext>
            </p:extLst>
          </p:nvPr>
        </p:nvGraphicFramePr>
        <p:xfrm>
          <a:off x="3256547" y="5367983"/>
          <a:ext cx="2232025" cy="528637"/>
        </p:xfrm>
        <a:graphic>
          <a:graphicData uri="http://schemas.openxmlformats.org/presentationml/2006/ole">
            <mc:AlternateContent xmlns:mc="http://schemas.openxmlformats.org/markup-compatibility/2006">
              <mc:Choice xmlns:v="urn:schemas-microsoft-com:vml" Requires="v">
                <p:oleObj spid="_x0000_s182926" r:id="rId22" imgW="1651000" imgH="393700" progId="Equation.DSMT4">
                  <p:embed/>
                </p:oleObj>
              </mc:Choice>
              <mc:Fallback>
                <p:oleObj r:id="rId22" imgW="1651000" imgH="393700" progId="Equation.DSMT4">
                  <p:embed/>
                  <p:pic>
                    <p:nvPicPr>
                      <p:cNvPr id="45066" name="Object 1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256547" y="5367983"/>
                        <a:ext cx="2232025"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 name="Object 13"/>
          <p:cNvGraphicFramePr>
            <a:graphicFrameLocks noChangeAspect="1"/>
          </p:cNvGraphicFramePr>
          <p:nvPr>
            <p:extLst>
              <p:ext uri="{D42A27DB-BD31-4B8C-83A1-F6EECF244321}">
                <p14:modId xmlns:p14="http://schemas.microsoft.com/office/powerpoint/2010/main" val="2914515079"/>
              </p:ext>
            </p:extLst>
          </p:nvPr>
        </p:nvGraphicFramePr>
        <p:xfrm>
          <a:off x="2250072" y="5877272"/>
          <a:ext cx="2016125" cy="577850"/>
        </p:xfrm>
        <a:graphic>
          <a:graphicData uri="http://schemas.openxmlformats.org/presentationml/2006/ole">
            <mc:AlternateContent xmlns:mc="http://schemas.openxmlformats.org/markup-compatibility/2006">
              <mc:Choice xmlns:v="urn:schemas-microsoft-com:vml" Requires="v">
                <p:oleObj spid="_x0000_s182927" r:id="rId24" imgW="1358310" imgH="393529" progId="Equation.DSMT4">
                  <p:embed/>
                </p:oleObj>
              </mc:Choice>
              <mc:Fallback>
                <p:oleObj r:id="rId24" imgW="1358310" imgH="393529" progId="Equation.DSMT4">
                  <p:embed/>
                  <p:pic>
                    <p:nvPicPr>
                      <p:cNvPr id="45067" name="Object 1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250072" y="5877272"/>
                        <a:ext cx="201612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8" name="Rectangle 19"/>
          <p:cNvSpPr>
            <a:spLocks noChangeArrowheads="1"/>
          </p:cNvSpPr>
          <p:nvPr/>
        </p:nvSpPr>
        <p:spPr bwMode="auto">
          <a:xfrm>
            <a:off x="1026110" y="3779977"/>
            <a:ext cx="10985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即</a:t>
            </a:r>
            <a:endParaRPr lang="zh-CN" altLang="en-US" sz="2000" b="1" dirty="0"/>
          </a:p>
          <a:p>
            <a:pPr>
              <a:spcBef>
                <a:spcPct val="0"/>
              </a:spcBef>
              <a:buClrTx/>
              <a:buSzTx/>
              <a:buFontTx/>
              <a:buNone/>
            </a:pPr>
            <a:r>
              <a:rPr lang="zh-CN" altLang="en-US" sz="2000" b="1" dirty="0">
                <a:cs typeface="Courier New" panose="02070309020205020404" pitchFamily="49" charset="0"/>
              </a:rPr>
              <a:t>	</a:t>
            </a:r>
            <a:endParaRPr lang="zh-CN" altLang="en-US" sz="2000" b="1" dirty="0"/>
          </a:p>
        </p:txBody>
      </p:sp>
      <p:sp>
        <p:nvSpPr>
          <p:cNvPr id="59" name="Rectangle 20"/>
          <p:cNvSpPr>
            <a:spLocks noChangeArrowheads="1"/>
          </p:cNvSpPr>
          <p:nvPr/>
        </p:nvSpPr>
        <p:spPr bwMode="auto">
          <a:xfrm>
            <a:off x="1043608" y="4352686"/>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由</a:t>
            </a:r>
            <a:r>
              <a:rPr lang="zh-CN" altLang="en-US" sz="2000" b="1" dirty="0">
                <a:cs typeface="Courier New" panose="02070309020205020404" pitchFamily="49" charset="0"/>
              </a:rPr>
              <a:t>	</a:t>
            </a:r>
            <a:endParaRPr lang="zh-CN" altLang="en-US" sz="2000" b="1" dirty="0"/>
          </a:p>
        </p:txBody>
      </p:sp>
      <p:sp>
        <p:nvSpPr>
          <p:cNvPr id="60" name="Rectangle 21"/>
          <p:cNvSpPr>
            <a:spLocks noChangeArrowheads="1"/>
          </p:cNvSpPr>
          <p:nvPr/>
        </p:nvSpPr>
        <p:spPr bwMode="auto">
          <a:xfrm>
            <a:off x="3923928" y="4369982"/>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所以</a:t>
            </a:r>
            <a:r>
              <a:rPr lang="zh-CN" altLang="en-US" sz="2000" b="1" dirty="0">
                <a:cs typeface="Courier New" panose="02070309020205020404" pitchFamily="49" charset="0"/>
              </a:rPr>
              <a:t>	</a:t>
            </a:r>
            <a:endParaRPr lang="zh-CN" altLang="en-US" sz="2000" b="1" dirty="0"/>
          </a:p>
        </p:txBody>
      </p:sp>
      <p:sp>
        <p:nvSpPr>
          <p:cNvPr id="61" name="Rectangle 22"/>
          <p:cNvSpPr>
            <a:spLocks noChangeArrowheads="1"/>
          </p:cNvSpPr>
          <p:nvPr/>
        </p:nvSpPr>
        <p:spPr bwMode="auto">
          <a:xfrm>
            <a:off x="3977506" y="4932751"/>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所以</a:t>
            </a:r>
            <a:r>
              <a:rPr lang="zh-CN" altLang="en-US" sz="2000" b="1" dirty="0">
                <a:cs typeface="Courier New" panose="02070309020205020404" pitchFamily="49" charset="0"/>
              </a:rPr>
              <a:t>	</a:t>
            </a:r>
            <a:endParaRPr lang="zh-CN" altLang="en-US" sz="2000" b="1" dirty="0"/>
          </a:p>
        </p:txBody>
      </p:sp>
      <p:sp>
        <p:nvSpPr>
          <p:cNvPr id="62" name="Rectangle 23"/>
          <p:cNvSpPr>
            <a:spLocks noChangeArrowheads="1"/>
          </p:cNvSpPr>
          <p:nvPr/>
        </p:nvSpPr>
        <p:spPr bwMode="auto">
          <a:xfrm>
            <a:off x="1026110" y="5414021"/>
            <a:ext cx="475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因此得到最优解为			</a:t>
            </a:r>
            <a:endParaRPr lang="zh-CN" altLang="en-US" sz="2000" b="1" dirty="0"/>
          </a:p>
        </p:txBody>
      </p:sp>
      <p:sp>
        <p:nvSpPr>
          <p:cNvPr id="63" name="Rectangle 24"/>
          <p:cNvSpPr>
            <a:spLocks noChangeArrowheads="1"/>
          </p:cNvSpPr>
          <p:nvPr/>
        </p:nvSpPr>
        <p:spPr bwMode="auto">
          <a:xfrm>
            <a:off x="1026110" y="5862472"/>
            <a:ext cx="475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最大值为				</a:t>
            </a:r>
            <a:endParaRPr lang="zh-CN" altLang="en-US" sz="2000" b="1" dirty="0"/>
          </a:p>
        </p:txBody>
      </p:sp>
      <p:sp>
        <p:nvSpPr>
          <p:cNvPr id="64" name="Rectangle 26"/>
          <p:cNvSpPr>
            <a:spLocks noChangeArrowheads="1"/>
          </p:cNvSpPr>
          <p:nvPr/>
        </p:nvSpPr>
        <p:spPr bwMode="auto">
          <a:xfrm>
            <a:off x="1037175" y="4916287"/>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由</a:t>
            </a:r>
            <a:r>
              <a:rPr lang="zh-CN" altLang="en-US" sz="2000" b="1" dirty="0">
                <a:solidFill>
                  <a:srgbClr val="FF0000"/>
                </a:solidFill>
                <a:cs typeface="Courier New" panose="02070309020205020404" pitchFamily="49" charset="0"/>
              </a:rPr>
              <a:t>	</a:t>
            </a:r>
            <a:endParaRPr lang="zh-CN" altLang="en-US" sz="2000" b="1" dirty="0">
              <a:solidFill>
                <a:srgbClr val="FF0000"/>
              </a:solidFill>
            </a:endParaRPr>
          </a:p>
        </p:txBody>
      </p:sp>
      <p:graphicFrame>
        <p:nvGraphicFramePr>
          <p:cNvPr id="65" name="Object 36"/>
          <p:cNvGraphicFramePr>
            <a:graphicFrameLocks noChangeAspect="1"/>
          </p:cNvGraphicFramePr>
          <p:nvPr>
            <p:extLst>
              <p:ext uri="{D42A27DB-BD31-4B8C-83A1-F6EECF244321}">
                <p14:modId xmlns:p14="http://schemas.microsoft.com/office/powerpoint/2010/main" val="1666261649"/>
              </p:ext>
            </p:extLst>
          </p:nvPr>
        </p:nvGraphicFramePr>
        <p:xfrm>
          <a:off x="1362834" y="4837666"/>
          <a:ext cx="2582862" cy="563563"/>
        </p:xfrm>
        <a:graphic>
          <a:graphicData uri="http://schemas.openxmlformats.org/presentationml/2006/ole">
            <mc:AlternateContent xmlns:mc="http://schemas.openxmlformats.org/markup-compatibility/2006">
              <mc:Choice xmlns:v="urn:schemas-microsoft-com:vml" Requires="v">
                <p:oleObj spid="_x0000_s182928" name="公式" r:id="rId26" imgW="1790700" imgH="393700" progId="Equation.3">
                  <p:embed/>
                </p:oleObj>
              </mc:Choice>
              <mc:Fallback>
                <p:oleObj name="公式" r:id="rId26" imgW="1790700" imgH="393700" progId="Equation.3">
                  <p:embed/>
                  <p:pic>
                    <p:nvPicPr>
                      <p:cNvPr id="45079" name="Object 3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362834" y="4837666"/>
                        <a:ext cx="2582862"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 name="Rectangle 52"/>
          <p:cNvSpPr>
            <a:spLocks noChangeArrowheads="1"/>
          </p:cNvSpPr>
          <p:nvPr/>
        </p:nvSpPr>
        <p:spPr bwMode="auto">
          <a:xfrm>
            <a:off x="1146174" y="1722425"/>
            <a:ext cx="539224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None/>
            </a:pP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3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x</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3</a:t>
            </a:r>
            <a:r>
              <a:rPr lang="zh-CN" altLang="en-US"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2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x</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2</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x</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3</a:t>
            </a:r>
            <a:r>
              <a:rPr lang="zh-CN" altLang="en-US"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1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x</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1</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x</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2</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x</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3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smtClean="0">
                <a:solidFill>
                  <a:srgbClr val="0000FF"/>
                </a:solidFill>
                <a:latin typeface="Times New Roman" panose="02020603050405020304" pitchFamily="18" charset="0"/>
                <a:ea typeface="楷体_GB2312" pitchFamily="49" charset="-122"/>
                <a:cs typeface="Times New Roman" panose="02020603050405020304" pitchFamily="18" charset="0"/>
              </a:rPr>
              <a:t>c</a:t>
            </a:r>
          </a:p>
          <a:p>
            <a:pPr eaLnBrk="1" hangingPunct="1">
              <a:spcBef>
                <a:spcPct val="0"/>
              </a:spcBef>
              <a:buClrTx/>
              <a:buSzTx/>
              <a:buNone/>
            </a:pPr>
            <a:r>
              <a:rPr lang="en-US" altLang="zh-CN" sz="2000" b="1" i="1" dirty="0">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i="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k</a:t>
            </a:r>
            <a:r>
              <a:rPr lang="en-US" altLang="zh-CN" sz="2000" b="1" baseline="-30000" dirty="0">
                <a:solidFill>
                  <a:srgbClr val="0000FF"/>
                </a:solidFill>
                <a:latin typeface="Times New Roman" panose="02020603050405020304" pitchFamily="18" charset="0"/>
                <a:ea typeface="楷体_GB2312" pitchFamily="49" charset="-122"/>
                <a:cs typeface="Times New Roman" panose="02020603050405020304" pitchFamily="18" charset="0"/>
              </a:rPr>
              <a:t>+1 </a:t>
            </a:r>
            <a:r>
              <a:rPr lang="en-US" altLang="zh-CN"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err="1">
                <a:solidFill>
                  <a:srgbClr val="0000FF"/>
                </a:solidFill>
                <a:latin typeface="Times New Roman" panose="02020603050405020304" pitchFamily="18" charset="0"/>
                <a:ea typeface="楷体_GB2312" pitchFamily="49" charset="-122"/>
                <a:cs typeface="Times New Roman" panose="02020603050405020304" pitchFamily="18" charset="0"/>
              </a:rPr>
              <a:t>s</a:t>
            </a:r>
            <a:r>
              <a:rPr lang="en-US" altLang="zh-CN" sz="2000" b="1" i="1" baseline="-30000" dirty="0" err="1">
                <a:solidFill>
                  <a:srgbClr val="0000FF"/>
                </a:solidFill>
                <a:latin typeface="Times New Roman" panose="02020603050405020304" pitchFamily="18" charset="0"/>
                <a:ea typeface="楷体_GB2312" pitchFamily="49" charset="-122"/>
                <a:cs typeface="Times New Roman" panose="02020603050405020304" pitchFamily="18" charset="0"/>
              </a:rPr>
              <a:t>k</a:t>
            </a:r>
            <a:r>
              <a:rPr lang="zh-CN" altLang="en-US" sz="20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err="1" smtClean="0">
                <a:solidFill>
                  <a:srgbClr val="0000FF"/>
                </a:solidFill>
                <a:latin typeface="Times New Roman" panose="02020603050405020304" pitchFamily="18" charset="0"/>
                <a:ea typeface="楷体_GB2312" pitchFamily="49" charset="-122"/>
                <a:cs typeface="Times New Roman" panose="02020603050405020304" pitchFamily="18" charset="0"/>
              </a:rPr>
              <a:t>x</a:t>
            </a:r>
            <a:r>
              <a:rPr lang="en-US" altLang="zh-CN" sz="2000" b="1" i="1" baseline="-30000" dirty="0" err="1" smtClean="0">
                <a:solidFill>
                  <a:srgbClr val="0000FF"/>
                </a:solidFill>
                <a:latin typeface="Times New Roman" panose="02020603050405020304" pitchFamily="18" charset="0"/>
                <a:ea typeface="楷体_GB2312" pitchFamily="49" charset="-122"/>
                <a:cs typeface="Times New Roman" panose="02020603050405020304" pitchFamily="18" charset="0"/>
              </a:rPr>
              <a:t>k</a:t>
            </a:r>
            <a:endParaRPr lang="zh-CN" altLang="en-US" sz="2000" b="1" dirty="0"/>
          </a:p>
        </p:txBody>
      </p:sp>
    </p:spTree>
    <p:extLst>
      <p:ext uri="{BB962C8B-B14F-4D97-AF65-F5344CB8AC3E}">
        <p14:creationId xmlns:p14="http://schemas.microsoft.com/office/powerpoint/2010/main" val="18794066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p:nvPr>
        </p:nvSpPr>
        <p:spPr/>
        <p:txBody>
          <a:bodyPr/>
          <a:lstStyle/>
          <a:p>
            <a:pPr eaLnBrk="1" hangingPunct="1"/>
            <a:r>
              <a:rPr lang="en-US" altLang="zh-CN" dirty="0" smtClean="0"/>
              <a:t>8.3.2  </a:t>
            </a:r>
            <a:r>
              <a:rPr lang="zh-CN" altLang="en-US" dirty="0"/>
              <a:t>顺推解法</a:t>
            </a:r>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251520" y="1287882"/>
                <a:ext cx="8889776" cy="3811300"/>
              </a:xfrm>
            </p:spPr>
            <p:txBody>
              <a:bodyPr/>
              <a:lstStyle/>
              <a:p>
                <a:pPr>
                  <a:lnSpc>
                    <a:spcPct val="120000"/>
                  </a:lnSpc>
                  <a:spcBef>
                    <a:spcPct val="0"/>
                  </a:spcBef>
                  <a:buClrTx/>
                  <a:buSzTx/>
                </a:pPr>
                <a:r>
                  <a:rPr lang="zh-CN" altLang="en-US" dirty="0" smtClean="0">
                    <a:latin typeface="Times New Roman" panose="02020603050405020304" pitchFamily="18" charset="0"/>
                    <a:cs typeface="Times New Roman" panose="02020603050405020304" pitchFamily="18" charset="0"/>
                  </a:rPr>
                  <a:t>设已知终止状态</a:t>
                </a:r>
                <a:r>
                  <a:rPr lang="en-US" altLang="zh-CN" i="1" dirty="0">
                    <a:latin typeface="Times New Roman" panose="02020603050405020304" pitchFamily="18" charset="0"/>
                    <a:cs typeface="Times New Roman" panose="02020603050405020304" pitchFamily="18" charset="0"/>
                  </a:rPr>
                  <a:t>s</a:t>
                </a:r>
                <a:r>
                  <a:rPr lang="en-US" altLang="zh-CN" i="1" baseline="-25000" dirty="0">
                    <a:latin typeface="Times New Roman" panose="02020603050405020304" pitchFamily="18" charset="0"/>
                    <a:cs typeface="Times New Roman" panose="02020603050405020304" pitchFamily="18" charset="0"/>
                  </a:rPr>
                  <a:t>n</a:t>
                </a:r>
                <a:r>
                  <a:rPr lang="en-US" altLang="zh-CN" baseline="-25000"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，并假定最优值函数</a:t>
                </a:r>
                <a:r>
                  <a:rPr lang="en-US" altLang="zh-CN" i="1" dirty="0" err="1">
                    <a:latin typeface="Times New Roman" panose="02020603050405020304" pitchFamily="18" charset="0"/>
                    <a:cs typeface="Times New Roman" panose="02020603050405020304" pitchFamily="18" charset="0"/>
                  </a:rPr>
                  <a:t>f</a:t>
                </a:r>
                <a:r>
                  <a:rPr lang="en-US" altLang="zh-CN" i="1" baseline="-25000" dirty="0" err="1">
                    <a:latin typeface="Times New Roman" panose="02020603050405020304" pitchFamily="18" charset="0"/>
                    <a:cs typeface="Times New Roman" panose="02020603050405020304" pitchFamily="18" charset="0"/>
                  </a:rPr>
                  <a:t>k</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表示第</a:t>
                </a:r>
                <a:r>
                  <a:rPr lang="en-US" altLang="zh-CN" i="1" dirty="0">
                    <a:latin typeface="Times New Roman" panose="02020603050405020304" pitchFamily="18" charset="0"/>
                    <a:cs typeface="Times New Roman" panose="02020603050405020304" pitchFamily="18" charset="0"/>
                  </a:rPr>
                  <a:t>k</a:t>
                </a:r>
                <a:r>
                  <a:rPr lang="zh-CN" altLang="en-US" dirty="0">
                    <a:solidFill>
                      <a:srgbClr val="FF0000"/>
                    </a:solidFill>
                    <a:latin typeface="Times New Roman" panose="02020603050405020304" pitchFamily="18" charset="0"/>
                    <a:cs typeface="Times New Roman" panose="02020603050405020304" pitchFamily="18" charset="0"/>
                  </a:rPr>
                  <a:t>阶段末</a:t>
                </a:r>
                <a:r>
                  <a:rPr lang="zh-CN" altLang="en-US" dirty="0">
                    <a:latin typeface="Times New Roman" panose="02020603050405020304" pitchFamily="18" charset="0"/>
                    <a:cs typeface="Times New Roman" panose="02020603050405020304" pitchFamily="18" charset="0"/>
                  </a:rPr>
                  <a:t>的</a:t>
                </a:r>
                <a:r>
                  <a:rPr lang="zh-CN" altLang="en-US" dirty="0">
                    <a:solidFill>
                      <a:srgbClr val="FF0000"/>
                    </a:solidFill>
                    <a:latin typeface="Times New Roman" panose="02020603050405020304" pitchFamily="18" charset="0"/>
                    <a:cs typeface="Times New Roman" panose="02020603050405020304" pitchFamily="18" charset="0"/>
                  </a:rPr>
                  <a:t>结束状态为</a:t>
                </a:r>
                <a:r>
                  <a:rPr lang="en-US" altLang="zh-CN" dirty="0" smtClean="0">
                    <a:solidFill>
                      <a:srgbClr val="FF0000"/>
                    </a:solidFill>
                    <a:latin typeface="Times New Roman" panose="02020603050405020304" pitchFamily="18" charset="0"/>
                    <a:cs typeface="Times New Roman" panose="02020603050405020304" pitchFamily="18" charset="0"/>
                  </a:rPr>
                  <a:t>s</a:t>
                </a:r>
                <a:r>
                  <a:rPr lang="zh-CN" altLang="en-US" dirty="0" smtClean="0">
                    <a:solidFill>
                      <a:srgbClr val="FF0000"/>
                    </a:solidFill>
                    <a:latin typeface="Times New Roman" panose="02020603050405020304" pitchFamily="18" charset="0"/>
                    <a:cs typeface="Times New Roman" panose="02020603050405020304" pitchFamily="18" charset="0"/>
                  </a:rPr>
                  <a:t>的前提下</a:t>
                </a:r>
                <a:r>
                  <a:rPr lang="zh-CN" altLang="en-US" dirty="0" smtClean="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从</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阶段到</a:t>
                </a:r>
                <a:r>
                  <a:rPr lang="en-US" altLang="zh-CN" i="1"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阶段所得的最大收益</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lvl="1"/>
                <a:r>
                  <a:rPr lang="zh-CN" altLang="en-US" dirty="0" smtClean="0">
                    <a:latin typeface="Times New Roman" panose="02020603050405020304" pitchFamily="18" charset="0"/>
                    <a:cs typeface="Times New Roman" panose="02020603050405020304" pitchFamily="18" charset="0"/>
                  </a:rPr>
                  <a:t>按照阶段的顺序方向，由前向后推算；</a:t>
                </a:r>
                <a:endParaRPr lang="en-US" altLang="zh-CN" dirty="0" smtClean="0">
                  <a:latin typeface="Times New Roman" panose="02020603050405020304" pitchFamily="18" charset="0"/>
                  <a:cs typeface="Times New Roman" panose="02020603050405020304" pitchFamily="18" charset="0"/>
                </a:endParaRPr>
              </a:p>
              <a:p>
                <a:pPr lvl="1"/>
                <a:r>
                  <a:rPr lang="zh-CN" altLang="en-US" dirty="0" smtClean="0">
                    <a:latin typeface="Times New Roman" panose="02020603050405020304" pitchFamily="18" charset="0"/>
                    <a:cs typeface="Times New Roman" panose="02020603050405020304" pitchFamily="18" charset="0"/>
                  </a:rPr>
                  <a:t>假定阶段序数</a:t>
                </a:r>
                <a:r>
                  <a:rPr lang="en-US" altLang="zh-CN" i="1" dirty="0">
                    <a:latin typeface="Times New Roman" panose="02020603050405020304" pitchFamily="18" charset="0"/>
                    <a:cs typeface="Times New Roman" panose="02020603050405020304" pitchFamily="18" charset="0"/>
                  </a:rPr>
                  <a:t>k</a:t>
                </a:r>
                <a:r>
                  <a:rPr lang="zh-CN" altLang="en-US" dirty="0" smtClean="0">
                    <a:latin typeface="Times New Roman" panose="02020603050405020304" pitchFamily="18" charset="0"/>
                    <a:cs typeface="Times New Roman" panose="02020603050405020304" pitchFamily="18" charset="0"/>
                  </a:rPr>
                  <a:t>和状态变量</a:t>
                </a:r>
                <a:r>
                  <a:rPr lang="en-US" altLang="zh-CN" i="1" dirty="0" err="1">
                    <a:latin typeface="Times New Roman" panose="02020603050405020304" pitchFamily="18" charset="0"/>
                    <a:cs typeface="Times New Roman" panose="02020603050405020304" pitchFamily="18" charset="0"/>
                  </a:rPr>
                  <a:t>s</a:t>
                </a:r>
                <a:r>
                  <a:rPr lang="en-US" altLang="zh-CN" i="1" baseline="-25000" dirty="0" err="1">
                    <a:latin typeface="Times New Roman" panose="02020603050405020304" pitchFamily="18" charset="0"/>
                    <a:cs typeface="Times New Roman" panose="02020603050405020304" pitchFamily="18" charset="0"/>
                  </a:rPr>
                  <a:t>k</a:t>
                </a:r>
                <a:r>
                  <a:rPr lang="zh-CN" altLang="en-US" dirty="0" smtClean="0">
                    <a:latin typeface="Times New Roman" panose="02020603050405020304" pitchFamily="18" charset="0"/>
                    <a:cs typeface="Times New Roman" panose="02020603050405020304" pitchFamily="18" charset="0"/>
                  </a:rPr>
                  <a:t>的定义不变；</a:t>
                </a:r>
                <a:endParaRPr lang="en-US" altLang="zh-CN" dirty="0" smtClean="0">
                  <a:latin typeface="Times New Roman" panose="02020603050405020304" pitchFamily="18" charset="0"/>
                  <a:cs typeface="Times New Roman" panose="02020603050405020304" pitchFamily="18" charset="0"/>
                </a:endParaRPr>
              </a:p>
              <a:p>
                <a:pPr lvl="1"/>
                <a:r>
                  <a:rPr lang="zh-CN" altLang="en-US" dirty="0" smtClean="0">
                    <a:latin typeface="Times New Roman" panose="02020603050405020304" pitchFamily="18" charset="0"/>
                    <a:cs typeface="Times New Roman" panose="02020603050405020304" pitchFamily="18" charset="0"/>
                  </a:rPr>
                  <a:t>改变决策变量的定义，由</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𝒌</m:t>
                        </m:r>
                      </m:sub>
                    </m:sSub>
                  </m:oMath>
                </a14:m>
                <a:r>
                  <a:rPr lang="en-US" altLang="zh-CN" dirty="0" smtClean="0">
                    <a:latin typeface="Times New Roman" panose="02020603050405020304" pitchFamily="18" charset="0"/>
                    <a:cs typeface="Times New Roman" panose="02020603050405020304" pitchFamily="18" charset="0"/>
                  </a:rPr>
                  <a:t>(</a:t>
                </a:r>
                <a:r>
                  <a:rPr lang="en-US" altLang="zh-CN" i="1" dirty="0" err="1">
                    <a:latin typeface="Times New Roman" panose="02020603050405020304" pitchFamily="18" charset="0"/>
                    <a:cs typeface="Times New Roman" panose="02020603050405020304" pitchFamily="18" charset="0"/>
                  </a:rPr>
                  <a:t>s</a:t>
                </a:r>
                <a:r>
                  <a:rPr lang="en-US" altLang="zh-CN" i="1" baseline="-25000" dirty="0" err="1">
                    <a:latin typeface="Times New Roman" panose="02020603050405020304" pitchFamily="18" charset="0"/>
                    <a:cs typeface="Times New Roman" panose="02020603050405020304" pitchFamily="18" charset="0"/>
                  </a:rPr>
                  <a:t>k</a:t>
                </a:r>
                <a:r>
                  <a:rPr lang="en-US" altLang="zh-CN" i="1" baseline="-25000" dirty="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s</a:t>
                </a:r>
                <a:r>
                  <a:rPr lang="en-US" altLang="zh-CN" i="1" baseline="-25000" dirty="0">
                    <a:latin typeface="Times New Roman" panose="02020603050405020304" pitchFamily="18" charset="0"/>
                    <a:cs typeface="Times New Roman" panose="02020603050405020304" pitchFamily="18" charset="0"/>
                  </a:rPr>
                  <a:t>k</a:t>
                </a:r>
                <a:r>
                  <a:rPr lang="en-US" altLang="zh-CN" baseline="-25000" dirty="0">
                    <a:latin typeface="Times New Roman" panose="02020603050405020304" pitchFamily="18" charset="0"/>
                    <a:cs typeface="Times New Roman" panose="02020603050405020304" pitchFamily="18" charset="0"/>
                  </a:rPr>
                  <a:t>+1 </a:t>
                </a:r>
                <a:r>
                  <a:rPr lang="zh-CN" altLang="en-US" dirty="0" smtClean="0">
                    <a:latin typeface="Times New Roman" panose="02020603050405020304" pitchFamily="18" charset="0"/>
                    <a:cs typeface="Times New Roman" panose="02020603050405020304" pitchFamily="18" charset="0"/>
                  </a:rPr>
                  <a:t>改为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𝒌</m:t>
                        </m:r>
                      </m:sub>
                    </m:sSub>
                  </m:oMath>
                </a14:m>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s</a:t>
                </a:r>
                <a:r>
                  <a:rPr lang="en-US" altLang="zh-CN" i="1" baseline="-25000" dirty="0" smtClean="0">
                    <a:latin typeface="Times New Roman" panose="02020603050405020304" pitchFamily="18" charset="0"/>
                    <a:cs typeface="Times New Roman" panose="02020603050405020304" pitchFamily="18" charset="0"/>
                  </a:rPr>
                  <a:t>k</a:t>
                </a:r>
                <a:r>
                  <a:rPr lang="en-US" altLang="zh-CN" baseline="-25000" dirty="0" smtClean="0">
                    <a:latin typeface="Times New Roman" panose="02020603050405020304" pitchFamily="18" charset="0"/>
                    <a:cs typeface="Times New Roman" panose="02020603050405020304" pitchFamily="18" charset="0"/>
                  </a:rPr>
                  <a:t>+1 </a:t>
                </a:r>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 </a:t>
                </a:r>
                <a:r>
                  <a:rPr lang="en-US" altLang="zh-CN" i="1" dirty="0" err="1" smtClean="0">
                    <a:latin typeface="Times New Roman" panose="02020603050405020304" pitchFamily="18" charset="0"/>
                    <a:cs typeface="Times New Roman" panose="02020603050405020304" pitchFamily="18" charset="0"/>
                  </a:rPr>
                  <a:t>s</a:t>
                </a:r>
                <a:r>
                  <a:rPr lang="en-US" altLang="zh-CN" i="1" baseline="-25000" dirty="0" err="1" smtClean="0">
                    <a:latin typeface="Times New Roman" panose="02020603050405020304" pitchFamily="18" charset="0"/>
                    <a:cs typeface="Times New Roman" panose="02020603050405020304" pitchFamily="18" charset="0"/>
                  </a:rPr>
                  <a:t>k</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lvl="1"/>
                <a:r>
                  <a:rPr lang="zh-CN" altLang="en-US" dirty="0" smtClean="0">
                    <a:latin typeface="Times New Roman" panose="02020603050405020304" pitchFamily="18" charset="0"/>
                    <a:cs typeface="Times New Roman" panose="02020603050405020304" pitchFamily="18" charset="0"/>
                  </a:rPr>
                  <a:t>状态变换是之前的逆变换，</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𝒔</m:t>
                        </m:r>
                      </m:e>
                      <m:sub>
                        <m:r>
                          <a:rPr lang="en-US" altLang="zh-CN" i="1">
                            <a:latin typeface="Cambria Math" panose="02040503050406030204" pitchFamily="18" charset="0"/>
                          </a:rPr>
                          <m:t>𝒌</m:t>
                        </m:r>
                      </m:sub>
                    </m:sSub>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𝑻</m:t>
                        </m:r>
                      </m:e>
                      <m:sub>
                        <m:r>
                          <a:rPr lang="en-US" altLang="zh-CN" i="1">
                            <a:latin typeface="Cambria Math" panose="02040503050406030204" pitchFamily="18" charset="0"/>
                          </a:rPr>
                          <m:t>𝒌</m:t>
                        </m:r>
                      </m:sub>
                      <m:sup>
                        <m:r>
                          <a:rPr lang="en-US" altLang="zh-CN" i="1">
                            <a:latin typeface="Cambria Math" panose="02040503050406030204" pitchFamily="18" charset="0"/>
                            <a:ea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𝒔</m:t>
                        </m:r>
                      </m:e>
                      <m:sub>
                        <m:r>
                          <a:rPr lang="en-US" altLang="zh-CN" i="1">
                            <a:latin typeface="Cambria Math" panose="02040503050406030204" pitchFamily="18" charset="0"/>
                            <a:ea typeface="Cambria Math" panose="02040503050406030204" pitchFamily="18" charset="0"/>
                          </a:rPr>
                          <m:t>𝒌</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𝟏</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𝒌</m:t>
                        </m:r>
                      </m:sub>
                    </m:sSub>
                    <m:r>
                      <a:rPr lang="en-US" altLang="zh-CN" i="1">
                        <a:latin typeface="Cambria Math" panose="02040503050406030204" pitchFamily="18" charset="0"/>
                        <a:ea typeface="Cambria Math" panose="02040503050406030204" pitchFamily="18" charset="0"/>
                      </a:rPr>
                      <m:t>)</m:t>
                    </m:r>
                  </m:oMath>
                </a14:m>
                <a:r>
                  <a:rPr lang="zh-CN" altLang="en-US" dirty="0" smtClean="0"/>
                  <a:t>，</a:t>
                </a:r>
                <a:r>
                  <a:rPr lang="zh-CN" altLang="en-US" dirty="0" smtClean="0">
                    <a:latin typeface="Times New Roman" panose="02020603050405020304" pitchFamily="18" charset="0"/>
                    <a:cs typeface="Times New Roman" panose="02020603050405020304" pitchFamily="18" charset="0"/>
                  </a:rPr>
                  <a:t>即</a:t>
                </a:r>
                <a:r>
                  <a:rPr lang="zh-CN" altLang="en-US" dirty="0">
                    <a:latin typeface="Times New Roman" panose="02020603050405020304" pitchFamily="18" charset="0"/>
                    <a:cs typeface="Times New Roman" panose="02020603050405020304" pitchFamily="18" charset="0"/>
                  </a:rPr>
                  <a:t>是由</a:t>
                </a:r>
                <a:r>
                  <a:rPr lang="en-US" altLang="zh-CN" i="1" dirty="0">
                    <a:latin typeface="Times New Roman" panose="02020603050405020304" pitchFamily="18" charset="0"/>
                    <a:cs typeface="Times New Roman" panose="02020603050405020304" pitchFamily="18" charset="0"/>
                  </a:rPr>
                  <a:t>s</a:t>
                </a:r>
                <a:r>
                  <a:rPr lang="en-US" altLang="zh-CN" i="1" baseline="-25000" dirty="0">
                    <a:latin typeface="Times New Roman" panose="02020603050405020304" pitchFamily="18" charset="0"/>
                    <a:cs typeface="Times New Roman" panose="02020603050405020304" pitchFamily="18" charset="0"/>
                  </a:rPr>
                  <a:t>k</a:t>
                </a:r>
                <a:r>
                  <a:rPr lang="en-US" altLang="zh-CN" baseline="-25000"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和</a:t>
                </a:r>
                <a:r>
                  <a:rPr lang="en-US" altLang="zh-CN" i="1" dirty="0" err="1">
                    <a:latin typeface="Times New Roman" panose="02020603050405020304" pitchFamily="18" charset="0"/>
                    <a:cs typeface="Times New Roman" panose="02020603050405020304" pitchFamily="18" charset="0"/>
                  </a:rPr>
                  <a:t>x</a:t>
                </a:r>
                <a:r>
                  <a:rPr lang="en-US" altLang="zh-CN" i="1" baseline="-25000" dirty="0" err="1">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而去确定</a:t>
                </a:r>
                <a:r>
                  <a:rPr lang="en-US" altLang="zh-CN" i="1" dirty="0" err="1" smtClean="0">
                    <a:latin typeface="Times New Roman" panose="02020603050405020304" pitchFamily="18" charset="0"/>
                    <a:cs typeface="Times New Roman" panose="02020603050405020304" pitchFamily="18" charset="0"/>
                  </a:rPr>
                  <a:t>s</a:t>
                </a:r>
                <a:r>
                  <a:rPr lang="en-US" altLang="zh-CN" i="1" baseline="-25000" dirty="0" err="1" smtClean="0">
                    <a:latin typeface="Times New Roman" panose="02020603050405020304" pitchFamily="18" charset="0"/>
                    <a:cs typeface="Times New Roman" panose="02020603050405020304" pitchFamily="18" charset="0"/>
                  </a:rPr>
                  <a:t>k</a:t>
                </a:r>
                <a:r>
                  <a:rPr lang="zh-CN" altLang="en-US" i="1" baseline="-25000" dirty="0" smtClean="0">
                    <a:latin typeface="Times New Roman" panose="02020603050405020304" pitchFamily="18" charset="0"/>
                    <a:cs typeface="Times New Roman" panose="02020603050405020304" pitchFamily="18" charset="0"/>
                  </a:rPr>
                  <a:t>。</a:t>
                </a:r>
                <a:endParaRPr lang="en-US" altLang="zh-CN" i="1" baseline="-25000" dirty="0" smtClean="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指标函数表示为</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𝒔</m:t>
                        </m:r>
                      </m:e>
                      <m:sub>
                        <m:r>
                          <a:rPr lang="en-US" altLang="zh-CN" i="1">
                            <a:latin typeface="Cambria Math" panose="02040503050406030204" pitchFamily="18" charset="0"/>
                            <a:ea typeface="Cambria Math" panose="02040503050406030204" pitchFamily="18" charset="0"/>
                          </a:rPr>
                          <m:t>𝒌</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𝟏</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𝒌</m:t>
                        </m:r>
                      </m:sub>
                    </m:sSub>
                  </m:oMath>
                </a14:m>
                <a:r>
                  <a:rPr lang="zh-CN" altLang="en-US" dirty="0">
                    <a:latin typeface="Times New Roman" panose="02020603050405020304" pitchFamily="18" charset="0"/>
                    <a:cs typeface="Times New Roman" panose="02020603050405020304" pitchFamily="18" charset="0"/>
                  </a:rPr>
                  <a:t>的函数</a:t>
                </a:r>
                <a:r>
                  <a:rPr lang="zh-CN" altLang="en-US" dirty="0" smtClean="0">
                    <a:latin typeface="Times New Roman" panose="02020603050405020304" pitchFamily="18" charset="0"/>
                    <a:cs typeface="Times New Roman" panose="02020603050405020304" pitchFamily="18" charset="0"/>
                  </a:rPr>
                  <a:t>，表示从点</a:t>
                </a:r>
                <a:r>
                  <a:rPr lang="en-US" altLang="zh-CN" i="1" dirty="0" err="1">
                    <a:latin typeface="Times New Roman" panose="02020603050405020304" pitchFamily="18" charset="0"/>
                    <a:cs typeface="Times New Roman" panose="02020603050405020304" pitchFamily="18" charset="0"/>
                  </a:rPr>
                  <a:t>s</a:t>
                </a:r>
                <a:r>
                  <a:rPr lang="en-US" altLang="zh-CN" i="1" baseline="-25000" dirty="0" err="1">
                    <a:latin typeface="Times New Roman" panose="02020603050405020304" pitchFamily="18" charset="0"/>
                    <a:cs typeface="Times New Roman" panose="02020603050405020304" pitchFamily="18" charset="0"/>
                  </a:rPr>
                  <a:t>k</a:t>
                </a:r>
                <a:r>
                  <a:rPr lang="zh-CN" altLang="en-US" dirty="0" smtClean="0">
                    <a:latin typeface="Times New Roman" panose="02020603050405020304" pitchFamily="18" charset="0"/>
                    <a:cs typeface="Times New Roman" panose="02020603050405020304" pitchFamily="18" charset="0"/>
                  </a:rPr>
                  <a:t>到</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𝒔</m:t>
                        </m:r>
                      </m:e>
                      <m:sub>
                        <m:r>
                          <a:rPr lang="en-US" altLang="zh-CN" i="1">
                            <a:latin typeface="Cambria Math" panose="02040503050406030204" pitchFamily="18" charset="0"/>
                            <a:ea typeface="Cambria Math" panose="02040503050406030204" pitchFamily="18" charset="0"/>
                          </a:rPr>
                          <m:t>𝒌</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𝟏</m:t>
                        </m:r>
                      </m:sub>
                    </m:sSub>
                  </m:oMath>
                </a14:m>
                <a:r>
                  <a:rPr lang="zh-CN" altLang="en-US" dirty="0" smtClean="0">
                    <a:latin typeface="Times New Roman" panose="02020603050405020304" pitchFamily="18" charset="0"/>
                    <a:cs typeface="Times New Roman" panose="02020603050405020304" pitchFamily="18" charset="0"/>
                  </a:rPr>
                  <a:t>的距离。</a:t>
                </a:r>
                <a:endParaRPr lang="en-US" altLang="zh-CN" dirty="0" smtClean="0">
                  <a:latin typeface="Times New Roman" panose="02020603050405020304" pitchFamily="18" charset="0"/>
                  <a:cs typeface="Times New Roman" panose="02020603050405020304" pitchFamily="18" charset="0"/>
                </a:endParaRPr>
              </a:p>
              <a:p>
                <a:pPr lvl="1"/>
                <a:r>
                  <a:rPr lang="zh-CN" altLang="en-US" dirty="0" smtClean="0">
                    <a:latin typeface="Times New Roman" panose="02020603050405020304" pitchFamily="18" charset="0"/>
                    <a:cs typeface="Times New Roman" panose="02020603050405020304" pitchFamily="18" charset="0"/>
                  </a:rPr>
                  <a:t>最优值函数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𝒇</m:t>
                        </m:r>
                      </m:e>
                      <m:sub>
                        <m:r>
                          <a:rPr lang="en-US" altLang="zh-CN" b="1" i="1" smtClean="0">
                            <a:latin typeface="Cambria Math" panose="02040503050406030204" pitchFamily="18" charset="0"/>
                          </a:rPr>
                          <m:t>𝒌</m:t>
                        </m:r>
                        <m:r>
                          <a:rPr lang="en-US" altLang="zh-CN" i="1">
                            <a:latin typeface="Cambria Math" panose="02040503050406030204" pitchFamily="18" charset="0"/>
                          </a:rPr>
                          <m:t> </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𝒔</m:t>
                        </m:r>
                      </m:e>
                      <m:sub>
                        <m:r>
                          <a:rPr lang="en-US" altLang="zh-CN" b="1" i="1" smtClean="0">
                            <a:latin typeface="Cambria Math" panose="02040503050406030204" pitchFamily="18" charset="0"/>
                          </a:rPr>
                          <m:t>𝒌</m:t>
                        </m:r>
                        <m:r>
                          <a:rPr lang="en-US" altLang="zh-CN" i="1">
                            <a:latin typeface="Cambria Math" panose="02040503050406030204" pitchFamily="18" charset="0"/>
                          </a:rPr>
                          <m:t>+</m:t>
                        </m:r>
                        <m:r>
                          <a:rPr lang="en-US" altLang="zh-CN" i="1">
                            <a:latin typeface="Cambria Math" panose="02040503050406030204" pitchFamily="18" charset="0"/>
                          </a:rPr>
                          <m:t>𝟏</m:t>
                        </m:r>
                      </m:sub>
                    </m:sSub>
                    <m:r>
                      <a:rPr lang="en-US" altLang="zh-CN" i="1">
                        <a:latin typeface="Cambria Math" panose="02040503050406030204" pitchFamily="18" charset="0"/>
                      </a:rPr>
                      <m:t>)</m:t>
                    </m:r>
                  </m:oMath>
                </a14:m>
                <a:r>
                  <a:rPr lang="zh-CN" altLang="en-US" dirty="0" smtClean="0">
                    <a:latin typeface="Times New Roman" panose="02020603050405020304" pitchFamily="18" charset="0"/>
                    <a:cs typeface="Times New Roman" panose="02020603050405020304" pitchFamily="18" charset="0"/>
                  </a:rPr>
                  <a:t>表示第</a:t>
                </a:r>
                <a:r>
                  <a:rPr lang="en-US" altLang="zh-CN" dirty="0" smtClean="0">
                    <a:latin typeface="Times New Roman" panose="02020603050405020304" pitchFamily="18" charset="0"/>
                    <a:cs typeface="Times New Roman" panose="02020603050405020304" pitchFamily="18" charset="0"/>
                  </a:rPr>
                  <a:t>k</a:t>
                </a:r>
                <a:r>
                  <a:rPr lang="zh-CN" altLang="en-US" dirty="0" smtClean="0">
                    <a:latin typeface="Times New Roman" panose="02020603050405020304" pitchFamily="18" charset="0"/>
                    <a:cs typeface="Times New Roman" panose="02020603050405020304" pitchFamily="18" charset="0"/>
                  </a:rPr>
                  <a:t>阶段的结束状态为，从第一阶段到</a:t>
                </a:r>
                <a:r>
                  <a:rPr lang="en-US" altLang="zh-CN" dirty="0" smtClean="0">
                    <a:latin typeface="Times New Roman" panose="02020603050405020304" pitchFamily="18" charset="0"/>
                    <a:cs typeface="Times New Roman" panose="02020603050405020304" pitchFamily="18" charset="0"/>
                  </a:rPr>
                  <a:t>k</a:t>
                </a:r>
                <a:r>
                  <a:rPr lang="zh-CN" altLang="en-US" dirty="0" smtClean="0">
                    <a:latin typeface="Times New Roman" panose="02020603050405020304" pitchFamily="18" charset="0"/>
                    <a:cs typeface="Times New Roman" panose="02020603050405020304" pitchFamily="18" charset="0"/>
                  </a:rPr>
                  <a:t>阶段的最优指标值</a:t>
                </a:r>
                <a:endParaRPr lang="zh-CN" altLang="en-US" dirty="0">
                  <a:latin typeface="Times New Roman" panose="02020603050405020304" pitchFamily="18" charset="0"/>
                  <a:cs typeface="Times New Roman" panose="02020603050405020304" pitchFamily="18" charset="0"/>
                </a:endParaRP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251520" y="1287882"/>
                <a:ext cx="8889776" cy="3811300"/>
              </a:xfrm>
              <a:blipFill>
                <a:blip r:embed="rId3"/>
                <a:stretch>
                  <a:fillRect l="-891" t="-960" r="-411" b="-1600"/>
                </a:stretch>
              </a:blipFill>
            </p:spPr>
            <p:txBody>
              <a:bodyPr/>
              <a:lstStyle/>
              <a:p>
                <a:r>
                  <a:rPr lang="zh-CN" altLang="en-US">
                    <a:noFill/>
                  </a:rPr>
                  <a:t> </a:t>
                </a:r>
              </a:p>
            </p:txBody>
          </p:sp>
        </mc:Fallback>
      </mc:AlternateContent>
      <p:sp>
        <p:nvSpPr>
          <p:cNvPr id="46083"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AC04560-5413-4EBB-AF7F-70DCB3591B1A}" type="slidenum">
              <a:rPr lang="en-US" altLang="zh-CN" sz="1000"/>
              <a:pPr>
                <a:spcBef>
                  <a:spcPct val="0"/>
                </a:spcBef>
                <a:buClrTx/>
                <a:buSzTx/>
                <a:buFontTx/>
                <a:buNone/>
              </a:pPr>
              <a:t>31</a:t>
            </a:fld>
            <a:endParaRPr lang="en-US" altLang="zh-CN" sz="1000" dirty="0"/>
          </a:p>
        </p:txBody>
      </p:sp>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extLst>
                  <p:ext uri="{D42A27DB-BD31-4B8C-83A1-F6EECF244321}">
                    <p14:modId xmlns:p14="http://schemas.microsoft.com/office/powerpoint/2010/main" val="302742412"/>
                  </p:ext>
                </p:extLst>
              </p:nvPr>
            </p:nvGraphicFramePr>
            <p:xfrm>
              <a:off x="251520" y="5200416"/>
              <a:ext cx="8856984" cy="1214565"/>
            </p:xfrm>
            <a:graphic>
              <a:graphicData uri="http://schemas.openxmlformats.org/drawingml/2006/table">
                <a:tbl>
                  <a:tblPr firstRow="1" bandRow="1">
                    <a:tableStyleId>{5C22544A-7EE6-4342-B048-85BDC9FD1C3A}</a:tableStyleId>
                  </a:tblPr>
                  <a:tblGrid>
                    <a:gridCol w="4370295">
                      <a:extLst>
                        <a:ext uri="{9D8B030D-6E8A-4147-A177-3AD203B41FA5}">
                          <a16:colId xmlns:a16="http://schemas.microsoft.com/office/drawing/2014/main" val="1705552234"/>
                        </a:ext>
                      </a:extLst>
                    </a:gridCol>
                    <a:gridCol w="4486689">
                      <a:extLst>
                        <a:ext uri="{9D8B030D-6E8A-4147-A177-3AD203B41FA5}">
                          <a16:colId xmlns:a16="http://schemas.microsoft.com/office/drawing/2014/main" val="889695860"/>
                        </a:ext>
                      </a:extLst>
                    </a:gridCol>
                  </a:tblGrid>
                  <a:tr h="9041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 </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sub>
                              </m:sSub>
                              <m:r>
                                <a:rPr lang="en-US" altLang="zh-CN" sz="1600" b="1" i="1">
                                  <a:solidFill>
                                    <a:schemeClr val="tx1"/>
                                  </a:solidFill>
                                  <a:latin typeface="Cambria Math" panose="02040503050406030204" pitchFamily="18" charset="0"/>
                                </a:rPr>
                                <m:t>)</m:t>
                              </m:r>
                            </m:oMath>
                          </a14:m>
                          <a:r>
                            <a:rPr lang="en-US" altLang="zh-CN" sz="1600" b="1" dirty="0">
                              <a:solidFill>
                                <a:schemeClr val="tx1"/>
                              </a:solidFill>
                            </a:rPr>
                            <a:t>=</a:t>
                          </a:r>
                          <a14:m>
                            <m:oMath xmlns:m="http://schemas.openxmlformats.org/officeDocument/2006/math">
                              <m:limLow>
                                <m:limLowPr>
                                  <m:ctrlPr>
                                    <a:rPr lang="en-US" altLang="zh-CN" sz="1600" b="1" i="1">
                                      <a:solidFill>
                                        <a:schemeClr val="tx1"/>
                                      </a:solidFill>
                                      <a:latin typeface="Cambria Math" panose="02040503050406030204" pitchFamily="18" charset="0"/>
                                    </a:rPr>
                                  </m:ctrlPr>
                                </m:limLowPr>
                                <m:e>
                                  <m:r>
                                    <a:rPr lang="en-US" altLang="zh-CN" sz="1600" b="1" i="1">
                                      <a:solidFill>
                                        <a:schemeClr val="tx1"/>
                                      </a:solidFill>
                                      <a:latin typeface="Cambria Math" panose="02040503050406030204" pitchFamily="18" charset="0"/>
                                    </a:rPr>
                                    <m:t>𝒐𝒑𝒕</m:t>
                                  </m:r>
                                </m:e>
                                <m:lim>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𝒙</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ea typeface="Cambria Math" panose="02040503050406030204" pitchFamily="18" charset="0"/>
                                    </a:rPr>
                                    <m:t>∈</m:t>
                                  </m:r>
                                  <m:sSub>
                                    <m:sSubPr>
                                      <m:ctrlPr>
                                        <a:rPr lang="en-US" altLang="zh-CN" sz="1600" b="1" i="1">
                                          <a:solidFill>
                                            <a:schemeClr val="tx1"/>
                                          </a:solidFill>
                                          <a:latin typeface="Cambria Math" panose="02040503050406030204" pitchFamily="18" charset="0"/>
                                          <a:ea typeface="Cambria Math" panose="02040503050406030204" pitchFamily="18" charset="0"/>
                                        </a:rPr>
                                      </m:ctrlPr>
                                    </m:sSubPr>
                                    <m:e>
                                      <m:r>
                                        <a:rPr lang="en-US" altLang="zh-CN" sz="1600" b="1" i="1">
                                          <a:solidFill>
                                            <a:schemeClr val="tx1"/>
                                          </a:solidFill>
                                          <a:latin typeface="Cambria Math" panose="02040503050406030204" pitchFamily="18" charset="0"/>
                                          <a:ea typeface="Cambria Math" panose="02040503050406030204" pitchFamily="18" charset="0"/>
                                        </a:rPr>
                                        <m:t>𝑫</m:t>
                                      </m:r>
                                    </m:e>
                                    <m:sub>
                                      <m:r>
                                        <a:rPr lang="en-US" altLang="zh-CN" sz="1600" b="1" i="1">
                                          <a:solidFill>
                                            <a:schemeClr val="tx1"/>
                                          </a:solidFill>
                                          <a:latin typeface="Cambria Math" panose="02040503050406030204" pitchFamily="18" charset="0"/>
                                          <a:ea typeface="Cambria Math" panose="02040503050406030204" pitchFamily="18" charset="0"/>
                                        </a:rPr>
                                        <m:t>𝒌</m:t>
                                      </m:r>
                                    </m:sub>
                                  </m:sSub>
                                  <m:r>
                                    <a:rPr lang="en-US" altLang="zh-CN" sz="1600" b="1" i="1">
                                      <a:solidFill>
                                        <a:schemeClr val="tx1"/>
                                      </a:solidFill>
                                      <a:latin typeface="Cambria Math" panose="02040503050406030204" pitchFamily="18" charset="0"/>
                                      <a:ea typeface="Cambria Math" panose="02040503050406030204" pitchFamily="18" charset="0"/>
                                    </a:rPr>
                                    <m:t>(</m:t>
                                  </m:r>
                                  <m:sSub>
                                    <m:sSubPr>
                                      <m:ctrlPr>
                                        <a:rPr lang="en-US" altLang="zh-CN" sz="1600" b="1" i="1">
                                          <a:solidFill>
                                            <a:schemeClr val="tx1"/>
                                          </a:solidFill>
                                          <a:latin typeface="Cambria Math" panose="02040503050406030204" pitchFamily="18" charset="0"/>
                                          <a:ea typeface="Cambria Math" panose="02040503050406030204" pitchFamily="18" charset="0"/>
                                        </a:rPr>
                                      </m:ctrlPr>
                                    </m:sSubPr>
                                    <m:e>
                                      <m:r>
                                        <a:rPr lang="en-US" altLang="zh-CN" sz="1600" b="1" i="1">
                                          <a:solidFill>
                                            <a:schemeClr val="tx1"/>
                                          </a:solidFill>
                                          <a:latin typeface="Cambria Math" panose="02040503050406030204" pitchFamily="18" charset="0"/>
                                          <a:ea typeface="Cambria Math" panose="02040503050406030204" pitchFamily="18" charset="0"/>
                                        </a:rPr>
                                        <m:t>𝒔</m:t>
                                      </m:r>
                                    </m:e>
                                    <m:sub>
                                      <m:r>
                                        <a:rPr lang="en-US" altLang="zh-CN" sz="1600" b="1" i="1">
                                          <a:solidFill>
                                            <a:schemeClr val="tx1"/>
                                          </a:solidFill>
                                          <a:latin typeface="Cambria Math" panose="02040503050406030204" pitchFamily="18" charset="0"/>
                                          <a:ea typeface="Cambria Math" panose="02040503050406030204" pitchFamily="18" charset="0"/>
                                        </a:rPr>
                                        <m:t>𝒌</m:t>
                                      </m:r>
                                      <m:r>
                                        <a:rPr lang="en-US" altLang="zh-CN" sz="1600" b="1" i="1" smtClean="0">
                                          <a:solidFill>
                                            <a:schemeClr val="tx1"/>
                                          </a:solidFill>
                                          <a:latin typeface="Cambria Math" panose="02040503050406030204" pitchFamily="18" charset="0"/>
                                          <a:ea typeface="Cambria Math" panose="02040503050406030204" pitchFamily="18" charset="0"/>
                                        </a:rPr>
                                        <m:t>+</m:t>
                                      </m:r>
                                      <m:r>
                                        <a:rPr lang="en-US" altLang="zh-CN" sz="1600" b="1" i="1" smtClean="0">
                                          <a:solidFill>
                                            <a:schemeClr val="tx1"/>
                                          </a:solidFill>
                                          <a:latin typeface="Cambria Math" panose="02040503050406030204" pitchFamily="18" charset="0"/>
                                          <a:ea typeface="Cambria Math" panose="02040503050406030204" pitchFamily="18" charset="0"/>
                                        </a:rPr>
                                        <m:t>𝟏</m:t>
                                      </m:r>
                                    </m:sub>
                                  </m:sSub>
                                  <m:r>
                                    <a:rPr lang="en-US" altLang="zh-CN" sz="1600" b="1" i="1">
                                      <a:solidFill>
                                        <a:schemeClr val="tx1"/>
                                      </a:solidFill>
                                      <a:latin typeface="Cambria Math" panose="02040503050406030204" pitchFamily="18" charset="0"/>
                                      <a:ea typeface="Cambria Math" panose="02040503050406030204" pitchFamily="18" charset="0"/>
                                    </a:rPr>
                                    <m:t>)</m:t>
                                  </m:r>
                                </m:lim>
                              </m:limLow>
                              <m:r>
                                <a:rPr lang="en-US" altLang="zh-CN" sz="1600" b="1" i="0"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𝒗</m:t>
                                  </m:r>
                                </m:e>
                                <m:sub>
                                  <m:r>
                                    <a:rPr lang="en-US" altLang="zh-CN" sz="1600" b="1" i="1" smtClean="0">
                                      <a:solidFill>
                                        <a:schemeClr val="tx1"/>
                                      </a:solidFill>
                                      <a:latin typeface="Cambria Math" panose="02040503050406030204" pitchFamily="18" charset="0"/>
                                    </a:rPr>
                                    <m:t>𝒌</m:t>
                                  </m:r>
                                </m:sub>
                              </m:sSub>
                              <m:d>
                                <m:dPr>
                                  <m:ctrlPr>
                                    <a:rPr lang="en-US" altLang="zh-CN" sz="1600" b="1" i="1" smtClean="0">
                                      <a:solidFill>
                                        <a:schemeClr val="tx1"/>
                                      </a:solidFill>
                                      <a:latin typeface="Cambria Math" panose="02040503050406030204" pitchFamily="18" charset="0"/>
                                    </a:rPr>
                                  </m:ctrlPr>
                                </m:dPr>
                                <m:e>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𝒔</m:t>
                                      </m:r>
                                    </m:e>
                                    <m:sub>
                                      <m:r>
                                        <a:rPr lang="en-US" altLang="zh-CN" sz="1600" b="1" i="1" smtClean="0">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sub>
                                  </m:sSub>
                                  <m:r>
                                    <a:rPr lang="en-US" altLang="zh-CN" sz="1600" b="1" i="1"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𝒙</m:t>
                                      </m:r>
                                    </m:e>
                                    <m:sub>
                                      <m:r>
                                        <a:rPr lang="en-US" altLang="zh-CN" sz="1600" b="1" i="1" smtClean="0">
                                          <a:solidFill>
                                            <a:schemeClr val="tx1"/>
                                          </a:solidFill>
                                          <a:latin typeface="Cambria Math" panose="02040503050406030204" pitchFamily="18" charset="0"/>
                                        </a:rPr>
                                        <m:t>𝒌</m:t>
                                      </m:r>
                                    </m:sub>
                                  </m:sSub>
                                </m:e>
                              </m:d>
                              <m:r>
                                <a:rPr lang="en-US" altLang="zh-CN" sz="1600" b="1" i="1"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r>
                                    <a:rPr lang="en-US" altLang="zh-CN" sz="1600" b="1" i="1" smtClean="0">
                                      <a:solidFill>
                                        <a:schemeClr val="tx1"/>
                                      </a:solidFill>
                                      <a:latin typeface="Cambria Math" panose="02040503050406030204" pitchFamily="18" charset="0"/>
                                    </a:rPr>
                                    <m:t> </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rPr>
                                <m:t>)</m:t>
                              </m:r>
                              <m:r>
                                <a:rPr lang="en-US" altLang="zh-CN" sz="1600" b="1" i="0" smtClean="0">
                                  <a:solidFill>
                                    <a:schemeClr val="tx1"/>
                                  </a:solidFill>
                                  <a:latin typeface="Cambria Math" panose="02040503050406030204" pitchFamily="18" charset="0"/>
                                </a:rPr>
                                <m:t>}</m:t>
                              </m:r>
                            </m:oMath>
                          </a14:m>
                          <a:r>
                            <a:rPr lang="en-US" altLang="zh-CN" sz="1600" b="1" dirty="0" smtClean="0">
                              <a:solidFill>
                                <a:schemeClr val="tx1"/>
                              </a:solidFill>
                            </a:rPr>
                            <a: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1600" b="1" i="1" dirty="0" smtClean="0">
                              <a:solidFill>
                                <a:schemeClr val="tx1"/>
                              </a:solidFill>
                              <a:latin typeface="Times New Roman" panose="02020603050405020304" pitchFamily="18" charset="0"/>
                              <a:cs typeface="Times New Roman" panose="02020603050405020304" pitchFamily="18" charset="0"/>
                            </a:rPr>
                            <a:t>k</a:t>
                          </a:r>
                          <a:r>
                            <a:rPr lang="en-US" altLang="zh-CN" sz="1600" b="1" dirty="0" smtClean="0">
                              <a:solidFill>
                                <a:schemeClr val="tx1"/>
                              </a:solidFill>
                              <a:latin typeface="Times New Roman" panose="02020603050405020304" pitchFamily="18" charset="0"/>
                              <a:cs typeface="Times New Roman" panose="02020603050405020304" pitchFamily="18" charset="0"/>
                            </a:rPr>
                            <a:t>=</a:t>
                          </a:r>
                          <a:r>
                            <a:rPr lang="en-US" altLang="zh-CN" sz="1600" b="1" i="1" dirty="0" smtClean="0">
                              <a:solidFill>
                                <a:schemeClr val="tx1"/>
                              </a:solidFill>
                              <a:latin typeface="Times New Roman" panose="02020603050405020304" pitchFamily="18" charset="0"/>
                              <a:cs typeface="Times New Roman" panose="02020603050405020304" pitchFamily="18" charset="0"/>
                            </a:rPr>
                            <a:t>1,2,</a:t>
                          </a:r>
                          <a:r>
                            <a:rPr lang="en-US" altLang="zh-CN" sz="1600" b="1" dirty="0" smtClean="0">
                              <a:solidFill>
                                <a:schemeClr val="tx1"/>
                              </a:solidFill>
                            </a:rPr>
                            <a:t> </a:t>
                          </a:r>
                          <a14:m>
                            <m:oMath xmlns:m="http://schemas.openxmlformats.org/officeDocument/2006/math">
                              <m:r>
                                <a:rPr lang="en-US" altLang="zh-CN" sz="1600" b="1" i="0">
                                  <a:solidFill>
                                    <a:schemeClr val="tx1"/>
                                  </a:solidFill>
                                  <a:latin typeface="Cambria Math" panose="02040503050406030204" pitchFamily="18" charset="0"/>
                                </a:rPr>
                                <m:t>…</m:t>
                              </m:r>
                            </m:oMath>
                          </a14:m>
                          <a:r>
                            <a:rPr lang="en-US" altLang="zh-CN" sz="1600" b="1" i="1" dirty="0" smtClean="0">
                              <a:solidFill>
                                <a:schemeClr val="tx1"/>
                              </a:solidFill>
                              <a:latin typeface="Times New Roman" panose="02020603050405020304" pitchFamily="18" charset="0"/>
                              <a:cs typeface="Times New Roman" panose="02020603050405020304" pitchFamily="18" charset="0"/>
                            </a:rPr>
                            <a:t>n</a:t>
                          </a:r>
                        </a:p>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smtClean="0">
                                      <a:solidFill>
                                        <a:schemeClr val="tx1"/>
                                      </a:solidFill>
                                      <a:latin typeface="Cambria Math" panose="02040503050406030204" pitchFamily="18" charset="0"/>
                                    </a:rPr>
                                    <m:t>𝟎</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smtClean="0">
                                      <a:solidFill>
                                        <a:schemeClr val="tx1"/>
                                      </a:solidFill>
                                      <a:latin typeface="Cambria Math" panose="02040503050406030204" pitchFamily="18" charset="0"/>
                                    </a:rPr>
                                    <m:t>𝟏</m:t>
                                  </m:r>
                                </m:sub>
                              </m:sSub>
                              <m:r>
                                <a:rPr lang="en-US" altLang="zh-CN" sz="1600" b="1" i="1">
                                  <a:solidFill>
                                    <a:schemeClr val="tx1"/>
                                  </a:solidFill>
                                  <a:latin typeface="Cambria Math" panose="02040503050406030204" pitchFamily="18" charset="0"/>
                                </a:rPr>
                                <m:t>)</m:t>
                              </m:r>
                            </m:oMath>
                          </a14:m>
                          <a:r>
                            <a:rPr lang="en-US" altLang="zh-CN" sz="1600" b="1" dirty="0">
                              <a:solidFill>
                                <a:schemeClr val="tx1"/>
                              </a:solidFill>
                            </a:rPr>
                            <a:t>=</a:t>
                          </a:r>
                          <a:r>
                            <a:rPr lang="en-US" altLang="zh-CN" sz="1600" b="1" dirty="0" smtClean="0">
                              <a:solidFill>
                                <a:schemeClr val="tx1"/>
                              </a:solidFill>
                            </a:rPr>
                            <a:t>0</a:t>
                          </a:r>
                        </a:p>
                        <a:p>
                          <a:pPr marL="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sub>
                                </m:sSub>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𝑻</m:t>
                                </m:r>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sub>
                                </m:sSub>
                                <m:r>
                                  <a:rPr lang="en-US" altLang="zh-CN" sz="1600" b="1" i="1"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𝒙</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rPr>
                                  <m:t>)</m:t>
                                </m:r>
                              </m:oMath>
                            </m:oMathPara>
                          </a14:m>
                          <a:endParaRPr lang="zh-CN" altLang="en-US" dirty="0">
                            <a:solidFill>
                              <a:schemeClr val="tx1"/>
                            </a:solidFill>
                          </a:endParaRPr>
                        </a:p>
                      </a:txBody>
                      <a:tcPr>
                        <a:solidFill>
                          <a:schemeClr val="tx1">
                            <a:lumMod val="10000"/>
                            <a:lumOff val="9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 </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sub>
                              </m:sSub>
                              <m:r>
                                <a:rPr lang="en-US" altLang="zh-CN" sz="1600" b="1" i="1">
                                  <a:solidFill>
                                    <a:schemeClr val="tx1"/>
                                  </a:solidFill>
                                  <a:latin typeface="Cambria Math" panose="02040503050406030204" pitchFamily="18" charset="0"/>
                                </a:rPr>
                                <m:t>)</m:t>
                              </m:r>
                            </m:oMath>
                          </a14:m>
                          <a:r>
                            <a:rPr lang="en-US" altLang="zh-CN" sz="1600" b="1" dirty="0">
                              <a:solidFill>
                                <a:schemeClr val="tx1"/>
                              </a:solidFill>
                            </a:rPr>
                            <a:t>=</a:t>
                          </a:r>
                          <a14:m>
                            <m:oMath xmlns:m="http://schemas.openxmlformats.org/officeDocument/2006/math">
                              <m:limLow>
                                <m:limLowPr>
                                  <m:ctrlPr>
                                    <a:rPr lang="en-US" altLang="zh-CN" sz="1600" b="1" i="1">
                                      <a:solidFill>
                                        <a:schemeClr val="tx1"/>
                                      </a:solidFill>
                                      <a:latin typeface="Cambria Math" panose="02040503050406030204" pitchFamily="18" charset="0"/>
                                    </a:rPr>
                                  </m:ctrlPr>
                                </m:limLowPr>
                                <m:e>
                                  <m:r>
                                    <a:rPr lang="en-US" altLang="zh-CN" sz="1600" b="1" i="1">
                                      <a:solidFill>
                                        <a:schemeClr val="tx1"/>
                                      </a:solidFill>
                                      <a:latin typeface="Cambria Math" panose="02040503050406030204" pitchFamily="18" charset="0"/>
                                    </a:rPr>
                                    <m:t>𝒐𝒑𝒕</m:t>
                                  </m:r>
                                </m:e>
                                <m:lim>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𝒙</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ea typeface="Cambria Math" panose="02040503050406030204" pitchFamily="18" charset="0"/>
                                    </a:rPr>
                                    <m:t>∈</m:t>
                                  </m:r>
                                  <m:sSub>
                                    <m:sSubPr>
                                      <m:ctrlPr>
                                        <a:rPr lang="en-US" altLang="zh-CN" sz="1600" b="1" i="1">
                                          <a:solidFill>
                                            <a:schemeClr val="tx1"/>
                                          </a:solidFill>
                                          <a:latin typeface="Cambria Math" panose="02040503050406030204" pitchFamily="18" charset="0"/>
                                          <a:ea typeface="Cambria Math" panose="02040503050406030204" pitchFamily="18" charset="0"/>
                                        </a:rPr>
                                      </m:ctrlPr>
                                    </m:sSubPr>
                                    <m:e>
                                      <m:r>
                                        <a:rPr lang="en-US" altLang="zh-CN" sz="1600" b="1" i="1">
                                          <a:solidFill>
                                            <a:schemeClr val="tx1"/>
                                          </a:solidFill>
                                          <a:latin typeface="Cambria Math" panose="02040503050406030204" pitchFamily="18" charset="0"/>
                                          <a:ea typeface="Cambria Math" panose="02040503050406030204" pitchFamily="18" charset="0"/>
                                        </a:rPr>
                                        <m:t>𝑫</m:t>
                                      </m:r>
                                    </m:e>
                                    <m:sub>
                                      <m:r>
                                        <a:rPr lang="en-US" altLang="zh-CN" sz="1600" b="1" i="1">
                                          <a:solidFill>
                                            <a:schemeClr val="tx1"/>
                                          </a:solidFill>
                                          <a:latin typeface="Cambria Math" panose="02040503050406030204" pitchFamily="18" charset="0"/>
                                          <a:ea typeface="Cambria Math" panose="02040503050406030204" pitchFamily="18" charset="0"/>
                                        </a:rPr>
                                        <m:t>𝒌</m:t>
                                      </m:r>
                                    </m:sub>
                                  </m:sSub>
                                  <m:r>
                                    <a:rPr lang="en-US" altLang="zh-CN" sz="1600" b="1" i="1">
                                      <a:solidFill>
                                        <a:schemeClr val="tx1"/>
                                      </a:solidFill>
                                      <a:latin typeface="Cambria Math" panose="02040503050406030204" pitchFamily="18" charset="0"/>
                                      <a:ea typeface="Cambria Math" panose="02040503050406030204" pitchFamily="18" charset="0"/>
                                    </a:rPr>
                                    <m:t>(</m:t>
                                  </m:r>
                                  <m:sSub>
                                    <m:sSubPr>
                                      <m:ctrlPr>
                                        <a:rPr lang="en-US" altLang="zh-CN" sz="1600" b="1" i="1">
                                          <a:solidFill>
                                            <a:schemeClr val="tx1"/>
                                          </a:solidFill>
                                          <a:latin typeface="Cambria Math" panose="02040503050406030204" pitchFamily="18" charset="0"/>
                                          <a:ea typeface="Cambria Math" panose="02040503050406030204" pitchFamily="18" charset="0"/>
                                        </a:rPr>
                                      </m:ctrlPr>
                                    </m:sSubPr>
                                    <m:e>
                                      <m:r>
                                        <a:rPr lang="en-US" altLang="zh-CN" sz="1600" b="1" i="1">
                                          <a:solidFill>
                                            <a:schemeClr val="tx1"/>
                                          </a:solidFill>
                                          <a:latin typeface="Cambria Math" panose="02040503050406030204" pitchFamily="18" charset="0"/>
                                          <a:ea typeface="Cambria Math" panose="02040503050406030204" pitchFamily="18" charset="0"/>
                                        </a:rPr>
                                        <m:t>𝒔</m:t>
                                      </m:r>
                                    </m:e>
                                    <m:sub>
                                      <m:r>
                                        <a:rPr lang="en-US" altLang="zh-CN" sz="1600" b="1" i="1">
                                          <a:solidFill>
                                            <a:schemeClr val="tx1"/>
                                          </a:solidFill>
                                          <a:latin typeface="Cambria Math" panose="02040503050406030204" pitchFamily="18" charset="0"/>
                                          <a:ea typeface="Cambria Math" panose="02040503050406030204" pitchFamily="18" charset="0"/>
                                        </a:rPr>
                                        <m:t>𝒌</m:t>
                                      </m:r>
                                      <m:r>
                                        <a:rPr lang="en-US" altLang="zh-CN" sz="1600" b="1" i="1" smtClean="0">
                                          <a:solidFill>
                                            <a:schemeClr val="tx1"/>
                                          </a:solidFill>
                                          <a:latin typeface="Cambria Math" panose="02040503050406030204" pitchFamily="18" charset="0"/>
                                          <a:ea typeface="Cambria Math" panose="02040503050406030204" pitchFamily="18" charset="0"/>
                                        </a:rPr>
                                        <m:t>+</m:t>
                                      </m:r>
                                      <m:r>
                                        <a:rPr lang="en-US" altLang="zh-CN" sz="1600" b="1" i="1" smtClean="0">
                                          <a:solidFill>
                                            <a:schemeClr val="tx1"/>
                                          </a:solidFill>
                                          <a:latin typeface="Cambria Math" panose="02040503050406030204" pitchFamily="18" charset="0"/>
                                          <a:ea typeface="Cambria Math" panose="02040503050406030204" pitchFamily="18" charset="0"/>
                                        </a:rPr>
                                        <m:t>𝟏</m:t>
                                      </m:r>
                                    </m:sub>
                                  </m:sSub>
                                  <m:r>
                                    <a:rPr lang="en-US" altLang="zh-CN" sz="1600" b="1" i="1">
                                      <a:solidFill>
                                        <a:schemeClr val="tx1"/>
                                      </a:solidFill>
                                      <a:latin typeface="Cambria Math" panose="02040503050406030204" pitchFamily="18" charset="0"/>
                                      <a:ea typeface="Cambria Math" panose="02040503050406030204" pitchFamily="18" charset="0"/>
                                    </a:rPr>
                                    <m:t>)</m:t>
                                  </m:r>
                                </m:lim>
                              </m:limLow>
                              <m:r>
                                <a:rPr lang="en-US" altLang="zh-CN" sz="1600" b="1" i="0"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𝒗</m:t>
                                  </m:r>
                                </m:e>
                                <m:sub>
                                  <m:r>
                                    <a:rPr lang="en-US" altLang="zh-CN" sz="1600" b="1" i="1" smtClean="0">
                                      <a:solidFill>
                                        <a:schemeClr val="tx1"/>
                                      </a:solidFill>
                                      <a:latin typeface="Cambria Math" panose="02040503050406030204" pitchFamily="18" charset="0"/>
                                    </a:rPr>
                                    <m:t>𝒌</m:t>
                                  </m:r>
                                </m:sub>
                              </m:sSub>
                              <m:d>
                                <m:dPr>
                                  <m:ctrlPr>
                                    <a:rPr lang="en-US" altLang="zh-CN" sz="1600" b="1" i="1" smtClean="0">
                                      <a:solidFill>
                                        <a:schemeClr val="tx1"/>
                                      </a:solidFill>
                                      <a:latin typeface="Cambria Math" panose="02040503050406030204" pitchFamily="18" charset="0"/>
                                    </a:rPr>
                                  </m:ctrlPr>
                                </m:dPr>
                                <m:e>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𝒔</m:t>
                                      </m:r>
                                    </m:e>
                                    <m:sub>
                                      <m:r>
                                        <a:rPr lang="en-US" altLang="zh-CN" sz="1600" b="1" i="1" smtClean="0">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sub>
                                  </m:sSub>
                                  <m:r>
                                    <a:rPr lang="en-US" altLang="zh-CN" sz="1600" b="1" i="1"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𝒙</m:t>
                                      </m:r>
                                    </m:e>
                                    <m:sub>
                                      <m:r>
                                        <a:rPr lang="en-US" altLang="zh-CN" sz="1600" b="1" i="1" smtClean="0">
                                          <a:solidFill>
                                            <a:schemeClr val="tx1"/>
                                          </a:solidFill>
                                          <a:latin typeface="Cambria Math" panose="02040503050406030204" pitchFamily="18" charset="0"/>
                                        </a:rPr>
                                        <m:t>𝒌</m:t>
                                      </m:r>
                                    </m:sub>
                                  </m:sSub>
                                </m:e>
                              </m:d>
                              <m:r>
                                <a:rPr lang="en-US" altLang="zh-CN" sz="1600" b="1" i="1" smtClean="0">
                                  <a:solidFill>
                                    <a:schemeClr val="tx1"/>
                                  </a:solidFill>
                                  <a:latin typeface="Cambria Math" panose="02040503050406030204" pitchFamily="18" charset="0"/>
                                  <a:ea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r>
                                    <a:rPr lang="en-US" altLang="zh-CN" sz="1600" b="1" i="1" smtClean="0">
                                      <a:solidFill>
                                        <a:schemeClr val="tx1"/>
                                      </a:solidFill>
                                      <a:latin typeface="Cambria Math" panose="02040503050406030204" pitchFamily="18" charset="0"/>
                                    </a:rPr>
                                    <m:t> </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rPr>
                                <m:t>)</m:t>
                              </m:r>
                              <m:r>
                                <a:rPr lang="en-US" altLang="zh-CN" sz="1600" b="1" i="0" smtClean="0">
                                  <a:solidFill>
                                    <a:schemeClr val="tx1"/>
                                  </a:solidFill>
                                  <a:latin typeface="Cambria Math" panose="02040503050406030204" pitchFamily="18" charset="0"/>
                                </a:rPr>
                                <m:t>}</m:t>
                              </m:r>
                            </m:oMath>
                          </a14:m>
                          <a:r>
                            <a:rPr lang="en-US" altLang="zh-CN" sz="1600" b="1" dirty="0" smtClean="0">
                              <a:solidFill>
                                <a:schemeClr val="tx1"/>
                              </a:solidFill>
                            </a:rPr>
                            <a: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1600" b="1" i="1" dirty="0" smtClean="0">
                              <a:solidFill>
                                <a:schemeClr val="tx1"/>
                              </a:solidFill>
                              <a:latin typeface="Times New Roman" panose="02020603050405020304" pitchFamily="18" charset="0"/>
                              <a:cs typeface="Times New Roman" panose="02020603050405020304" pitchFamily="18" charset="0"/>
                            </a:rPr>
                            <a:t>k</a:t>
                          </a:r>
                          <a:r>
                            <a:rPr lang="en-US" altLang="zh-CN" sz="1600" b="1" dirty="0" smtClean="0">
                              <a:solidFill>
                                <a:schemeClr val="tx1"/>
                              </a:solidFill>
                              <a:latin typeface="Times New Roman" panose="02020603050405020304" pitchFamily="18" charset="0"/>
                              <a:cs typeface="Times New Roman" panose="02020603050405020304" pitchFamily="18" charset="0"/>
                            </a:rPr>
                            <a:t>=</a:t>
                          </a:r>
                          <a:r>
                            <a:rPr lang="en-US" altLang="zh-CN" sz="1600" b="1" i="1" dirty="0" smtClean="0">
                              <a:solidFill>
                                <a:schemeClr val="tx1"/>
                              </a:solidFill>
                              <a:latin typeface="Times New Roman" panose="02020603050405020304" pitchFamily="18" charset="0"/>
                              <a:cs typeface="Times New Roman" panose="02020603050405020304" pitchFamily="18" charset="0"/>
                            </a:rPr>
                            <a:t>1,2,</a:t>
                          </a:r>
                          <a:r>
                            <a:rPr lang="en-US" altLang="zh-CN" sz="1600" b="1" dirty="0" smtClean="0">
                              <a:solidFill>
                                <a:schemeClr val="tx1"/>
                              </a:solidFill>
                            </a:rPr>
                            <a:t> </a:t>
                          </a:r>
                          <a14:m>
                            <m:oMath xmlns:m="http://schemas.openxmlformats.org/officeDocument/2006/math">
                              <m:r>
                                <a:rPr lang="en-US" altLang="zh-CN" sz="1600" b="1" i="0">
                                  <a:solidFill>
                                    <a:schemeClr val="tx1"/>
                                  </a:solidFill>
                                  <a:latin typeface="Cambria Math" panose="02040503050406030204" pitchFamily="18" charset="0"/>
                                </a:rPr>
                                <m:t>…</m:t>
                              </m:r>
                            </m:oMath>
                          </a14:m>
                          <a:r>
                            <a:rPr lang="en-US" altLang="zh-CN" sz="1600" b="1" i="1" dirty="0" smtClean="0">
                              <a:solidFill>
                                <a:schemeClr val="tx1"/>
                              </a:solidFill>
                              <a:latin typeface="Times New Roman" panose="02020603050405020304" pitchFamily="18" charset="0"/>
                              <a:cs typeface="Times New Roman" panose="02020603050405020304" pitchFamily="18" charset="0"/>
                            </a:rPr>
                            <a:t>n</a:t>
                          </a:r>
                        </a:p>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smtClean="0">
                                      <a:solidFill>
                                        <a:schemeClr val="tx1"/>
                                      </a:solidFill>
                                      <a:latin typeface="Cambria Math" panose="02040503050406030204" pitchFamily="18" charset="0"/>
                                    </a:rPr>
                                    <m:t>𝟎</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smtClean="0">
                                      <a:solidFill>
                                        <a:schemeClr val="tx1"/>
                                      </a:solidFill>
                                      <a:latin typeface="Cambria Math" panose="02040503050406030204" pitchFamily="18" charset="0"/>
                                    </a:rPr>
                                    <m:t>𝟏</m:t>
                                  </m:r>
                                </m:sub>
                              </m:sSub>
                              <m:r>
                                <a:rPr lang="en-US" altLang="zh-CN" sz="1600" b="1" i="1">
                                  <a:solidFill>
                                    <a:schemeClr val="tx1"/>
                                  </a:solidFill>
                                  <a:latin typeface="Cambria Math" panose="02040503050406030204" pitchFamily="18" charset="0"/>
                                </a:rPr>
                                <m:t>)</m:t>
                              </m:r>
                            </m:oMath>
                          </a14:m>
                          <a:r>
                            <a:rPr lang="en-US" altLang="zh-CN" sz="1600" b="1" dirty="0">
                              <a:solidFill>
                                <a:schemeClr val="tx1"/>
                              </a:solidFill>
                            </a:rPr>
                            <a:t>=</a:t>
                          </a:r>
                          <a:r>
                            <a:rPr lang="en-US" altLang="zh-CN" sz="1600" b="1" dirty="0" smtClean="0">
                              <a:solidFill>
                                <a:schemeClr val="tx1"/>
                              </a:solidFill>
                            </a:rPr>
                            <a:t>1</a:t>
                          </a:r>
                        </a:p>
                        <a:p>
                          <a:pPr marL="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sub>
                                </m:sSub>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𝑻</m:t>
                                </m:r>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sub>
                                </m:sSub>
                                <m:r>
                                  <a:rPr lang="en-US" altLang="zh-CN" sz="1600" b="1" i="1"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𝒙</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rPr>
                                  <m:t>)</m:t>
                                </m:r>
                              </m:oMath>
                            </m:oMathPara>
                          </a14:m>
                          <a:endParaRPr lang="zh-CN" altLang="en-US" dirty="0">
                            <a:solidFill>
                              <a:schemeClr val="tx1"/>
                            </a:solidFill>
                          </a:endParaRPr>
                        </a:p>
                      </a:txBody>
                      <a:tcPr>
                        <a:solidFill>
                          <a:schemeClr val="tx1">
                            <a:lumMod val="10000"/>
                            <a:lumOff val="90000"/>
                          </a:schemeClr>
                        </a:solidFill>
                      </a:tcPr>
                    </a:tc>
                    <a:extLst>
                      <a:ext uri="{0D108BD9-81ED-4DB2-BD59-A6C34878D82A}">
                        <a16:rowId xmlns:a16="http://schemas.microsoft.com/office/drawing/2014/main" val="136665157"/>
                      </a:ext>
                    </a:extLst>
                  </a:tr>
                </a:tbl>
              </a:graphicData>
            </a:graphic>
          </p:graphicFrame>
        </mc:Choice>
        <mc:Fallback xmlns="">
          <p:graphicFrame>
            <p:nvGraphicFramePr>
              <p:cNvPr id="5" name="表格 4"/>
              <p:cNvGraphicFramePr>
                <a:graphicFrameLocks noGrp="1"/>
              </p:cNvGraphicFramePr>
              <p:nvPr>
                <p:extLst>
                  <p:ext uri="{D42A27DB-BD31-4B8C-83A1-F6EECF244321}">
                    <p14:modId xmlns:p14="http://schemas.microsoft.com/office/powerpoint/2010/main" val="302742412"/>
                  </p:ext>
                </p:extLst>
              </p:nvPr>
            </p:nvGraphicFramePr>
            <p:xfrm>
              <a:off x="251520" y="5200416"/>
              <a:ext cx="8856984" cy="1214565"/>
            </p:xfrm>
            <a:graphic>
              <a:graphicData uri="http://schemas.openxmlformats.org/drawingml/2006/table">
                <a:tbl>
                  <a:tblPr firstRow="1" bandRow="1">
                    <a:tableStyleId>{5C22544A-7EE6-4342-B048-85BDC9FD1C3A}</a:tableStyleId>
                  </a:tblPr>
                  <a:tblGrid>
                    <a:gridCol w="4370295">
                      <a:extLst>
                        <a:ext uri="{9D8B030D-6E8A-4147-A177-3AD203B41FA5}">
                          <a16:colId xmlns:a16="http://schemas.microsoft.com/office/drawing/2014/main" val="1705552234"/>
                        </a:ext>
                      </a:extLst>
                    </a:gridCol>
                    <a:gridCol w="4486689">
                      <a:extLst>
                        <a:ext uri="{9D8B030D-6E8A-4147-A177-3AD203B41FA5}">
                          <a16:colId xmlns:a16="http://schemas.microsoft.com/office/drawing/2014/main" val="889695860"/>
                        </a:ext>
                      </a:extLst>
                    </a:gridCol>
                  </a:tblGrid>
                  <a:tr h="1214565">
                    <a:tc>
                      <a:txBody>
                        <a:bodyPr/>
                        <a:lstStyle/>
                        <a:p>
                          <a:endParaRPr lang="zh-CN"/>
                        </a:p>
                      </a:txBody>
                      <a:tcPr>
                        <a:blipFill>
                          <a:blip r:embed="rId4"/>
                          <a:stretch>
                            <a:fillRect l="-139" t="-1500" r="-103347" b="-3500"/>
                          </a:stretch>
                        </a:blipFill>
                      </a:tcPr>
                    </a:tc>
                    <a:tc>
                      <a:txBody>
                        <a:bodyPr/>
                        <a:lstStyle/>
                        <a:p>
                          <a:endParaRPr lang="zh-CN"/>
                        </a:p>
                      </a:txBody>
                      <a:tcPr>
                        <a:blipFill>
                          <a:blip r:embed="rId4"/>
                          <a:stretch>
                            <a:fillRect l="-97422" t="-1500" r="-543" b="-3500"/>
                          </a:stretch>
                        </a:blipFill>
                      </a:tcPr>
                    </a:tc>
                    <a:extLst>
                      <a:ext uri="{0D108BD9-81ED-4DB2-BD59-A6C34878D82A}">
                        <a16:rowId xmlns:a16="http://schemas.microsoft.com/office/drawing/2014/main" val="136665157"/>
                      </a:ext>
                    </a:extLst>
                  </a:tr>
                </a:tbl>
              </a:graphicData>
            </a:graphic>
          </p:graphicFrame>
        </mc:Fallback>
      </mc:AlternateContent>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p:nvPr>
        </p:nvSpPr>
        <p:spPr/>
        <p:txBody>
          <a:bodyPr/>
          <a:lstStyle/>
          <a:p>
            <a:pPr eaLnBrk="1" hangingPunct="1"/>
            <a:r>
              <a:rPr lang="en-US" altLang="zh-CN" dirty="0" smtClean="0"/>
              <a:t>8.3.2  </a:t>
            </a:r>
            <a:r>
              <a:rPr lang="zh-CN" altLang="en-US" dirty="0"/>
              <a:t>顺推解法</a:t>
            </a:r>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251520" y="1270480"/>
                <a:ext cx="8712968" cy="5169300"/>
              </a:xfrm>
            </p:spPr>
            <p:txBody>
              <a:bodyPr/>
              <a:lstStyle/>
              <a:p>
                <a:pPr>
                  <a:lnSpc>
                    <a:spcPct val="120000"/>
                  </a:lnSpc>
                  <a:spcBef>
                    <a:spcPct val="0"/>
                  </a:spcBef>
                  <a:buClrTx/>
                  <a:buSzTx/>
                </a:pPr>
                <a:r>
                  <a:rPr lang="zh-CN" altLang="en-US" dirty="0" smtClean="0">
                    <a:latin typeface="Times New Roman" panose="02020603050405020304" pitchFamily="18" charset="0"/>
                    <a:cs typeface="Times New Roman" panose="02020603050405020304" pitchFamily="18" charset="0"/>
                  </a:rPr>
                  <a:t>设已知终止状态</a:t>
                </a:r>
                <a:r>
                  <a:rPr lang="en-US" altLang="zh-CN" i="1" dirty="0">
                    <a:latin typeface="Times New Roman" panose="02020603050405020304" pitchFamily="18" charset="0"/>
                    <a:cs typeface="Times New Roman" panose="02020603050405020304" pitchFamily="18" charset="0"/>
                  </a:rPr>
                  <a:t>s</a:t>
                </a:r>
                <a:r>
                  <a:rPr lang="en-US" altLang="zh-CN" i="1" baseline="-25000" dirty="0">
                    <a:latin typeface="Times New Roman" panose="02020603050405020304" pitchFamily="18" charset="0"/>
                    <a:cs typeface="Times New Roman" panose="02020603050405020304" pitchFamily="18" charset="0"/>
                  </a:rPr>
                  <a:t>n</a:t>
                </a:r>
                <a:r>
                  <a:rPr lang="en-US" altLang="zh-CN" baseline="-25000"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，并假定最优值函数</a:t>
                </a:r>
                <a:r>
                  <a:rPr lang="en-US" altLang="zh-CN" i="1" dirty="0" err="1">
                    <a:latin typeface="Times New Roman" panose="02020603050405020304" pitchFamily="18" charset="0"/>
                    <a:cs typeface="Times New Roman" panose="02020603050405020304" pitchFamily="18" charset="0"/>
                  </a:rPr>
                  <a:t>f</a:t>
                </a:r>
                <a:r>
                  <a:rPr lang="en-US" altLang="zh-CN" i="1" baseline="-25000" dirty="0" err="1">
                    <a:latin typeface="Times New Roman" panose="02020603050405020304" pitchFamily="18" charset="0"/>
                    <a:cs typeface="Times New Roman" panose="02020603050405020304" pitchFamily="18" charset="0"/>
                  </a:rPr>
                  <a:t>k</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表示第</a:t>
                </a:r>
                <a:r>
                  <a:rPr lang="en-US" altLang="zh-CN" i="1"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阶段末的结束状态为</a:t>
                </a:r>
                <a:r>
                  <a:rPr lang="en-US" altLang="zh-CN" dirty="0">
                    <a:latin typeface="Times New Roman" panose="02020603050405020304" pitchFamily="18" charset="0"/>
                    <a:cs typeface="Times New Roman" panose="02020603050405020304" pitchFamily="18" charset="0"/>
                  </a:rPr>
                  <a:t>s</a:t>
                </a:r>
                <a:r>
                  <a:rPr lang="zh-CN" altLang="en-US" dirty="0">
                    <a:latin typeface="Times New Roman" panose="02020603050405020304" pitchFamily="18" charset="0"/>
                    <a:cs typeface="Times New Roman" panose="02020603050405020304" pitchFamily="18" charset="0"/>
                  </a:rPr>
                  <a:t>，从</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阶段到</a:t>
                </a:r>
                <a:r>
                  <a:rPr lang="en-US" altLang="zh-CN" i="1"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阶段所得的最大收益</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lvl="1"/>
                <a:r>
                  <a:rPr lang="en-US" altLang="zh-CN" sz="1900" dirty="0">
                    <a:latin typeface="Times New Roman" panose="02020603050405020304" pitchFamily="18" charset="0"/>
                    <a:cs typeface="Times New Roman" panose="02020603050405020304" pitchFamily="18" charset="0"/>
                  </a:rPr>
                  <a:t>1</a:t>
                </a:r>
                <a:r>
                  <a:rPr lang="zh-CN" altLang="en-US" sz="1900" dirty="0">
                    <a:latin typeface="Times New Roman" panose="02020603050405020304" pitchFamily="18" charset="0"/>
                    <a:cs typeface="Times New Roman" panose="02020603050405020304" pitchFamily="18" charset="0"/>
                  </a:rPr>
                  <a:t>阶段：</a:t>
                </a:r>
                <a14:m>
                  <m:oMath xmlns:m="http://schemas.openxmlformats.org/officeDocument/2006/math">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𝒇</m:t>
                        </m:r>
                      </m:e>
                      <m:sub>
                        <m:r>
                          <a:rPr lang="en-US" altLang="zh-CN" sz="1900" i="1">
                            <a:latin typeface="Cambria Math" panose="02040503050406030204" pitchFamily="18" charset="0"/>
                          </a:rPr>
                          <m:t>𝟏</m:t>
                        </m:r>
                        <m:r>
                          <a:rPr lang="en-US" altLang="zh-CN" sz="1900" i="1">
                            <a:latin typeface="Cambria Math" panose="02040503050406030204" pitchFamily="18" charset="0"/>
                          </a:rPr>
                          <m:t> </m:t>
                        </m:r>
                      </m:sub>
                    </m:sSub>
                    <m:r>
                      <a:rPr lang="en-US" altLang="zh-CN" sz="1900" i="1">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𝒔</m:t>
                        </m:r>
                      </m:e>
                      <m:sub>
                        <m:r>
                          <a:rPr lang="en-US" altLang="zh-CN" sz="1900" i="1">
                            <a:latin typeface="Cambria Math" panose="02040503050406030204" pitchFamily="18" charset="0"/>
                          </a:rPr>
                          <m:t>𝟐</m:t>
                        </m:r>
                      </m:sub>
                    </m:sSub>
                    <m:r>
                      <a:rPr lang="en-US" altLang="zh-CN" sz="1900" i="1">
                        <a:latin typeface="Cambria Math" panose="02040503050406030204" pitchFamily="18" charset="0"/>
                      </a:rPr>
                      <m:t>)</m:t>
                    </m:r>
                  </m:oMath>
                </a14:m>
                <a:r>
                  <a:rPr lang="en-US" altLang="zh-CN" sz="1900" dirty="0"/>
                  <a:t>=</a:t>
                </a:r>
                <a14:m>
                  <m:oMath xmlns:m="http://schemas.openxmlformats.org/officeDocument/2006/math">
                    <m:limLow>
                      <m:limLowPr>
                        <m:ctrlPr>
                          <a:rPr lang="en-US" altLang="zh-CN" sz="1900" i="1">
                            <a:latin typeface="Cambria Math" panose="02040503050406030204" pitchFamily="18" charset="0"/>
                          </a:rPr>
                        </m:ctrlPr>
                      </m:limLowPr>
                      <m:e>
                        <m:r>
                          <a:rPr lang="en-US" altLang="zh-CN" sz="1900" i="1">
                            <a:latin typeface="Cambria Math" panose="02040503050406030204" pitchFamily="18" charset="0"/>
                          </a:rPr>
                          <m:t>𝒎𝒂𝒙</m:t>
                        </m:r>
                      </m:e>
                      <m:lim>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𝒙</m:t>
                            </m:r>
                          </m:e>
                          <m:sub>
                            <m:r>
                              <a:rPr lang="en-US" altLang="zh-CN" sz="1900" i="1">
                                <a:latin typeface="Cambria Math" panose="02040503050406030204" pitchFamily="18" charset="0"/>
                              </a:rPr>
                              <m:t>𝟏</m:t>
                            </m:r>
                          </m:sub>
                        </m:sSub>
                        <m:r>
                          <a:rPr lang="en-US" altLang="zh-CN" sz="1900" i="1">
                            <a:latin typeface="Cambria Math" panose="02040503050406030204" pitchFamily="18" charset="0"/>
                            <a:ea typeface="Cambria Math" panose="02040503050406030204" pitchFamily="18" charset="0"/>
                          </a:rPr>
                          <m:t>∈</m:t>
                        </m:r>
                        <m:sSub>
                          <m:sSubPr>
                            <m:ctrlPr>
                              <a:rPr lang="en-US" altLang="zh-CN" sz="1900" i="1">
                                <a:latin typeface="Cambria Math" panose="02040503050406030204" pitchFamily="18" charset="0"/>
                                <a:ea typeface="Cambria Math" panose="02040503050406030204" pitchFamily="18" charset="0"/>
                              </a:rPr>
                            </m:ctrlPr>
                          </m:sSubPr>
                          <m:e>
                            <m:r>
                              <a:rPr lang="en-US" altLang="zh-CN" sz="1900" i="1">
                                <a:latin typeface="Cambria Math" panose="02040503050406030204" pitchFamily="18" charset="0"/>
                                <a:ea typeface="Cambria Math" panose="02040503050406030204" pitchFamily="18" charset="0"/>
                              </a:rPr>
                              <m:t>𝑫</m:t>
                            </m:r>
                          </m:e>
                          <m:sub>
                            <m:r>
                              <a:rPr lang="en-US" altLang="zh-CN" sz="1900" i="1">
                                <a:latin typeface="Cambria Math" panose="02040503050406030204" pitchFamily="18" charset="0"/>
                                <a:ea typeface="Cambria Math" panose="02040503050406030204" pitchFamily="18" charset="0"/>
                              </a:rPr>
                              <m:t>𝟏</m:t>
                            </m:r>
                          </m:sub>
                        </m:sSub>
                        <m:r>
                          <a:rPr lang="en-US" altLang="zh-CN" sz="1900" i="1">
                            <a:latin typeface="Cambria Math" panose="02040503050406030204" pitchFamily="18" charset="0"/>
                            <a:ea typeface="Cambria Math" panose="02040503050406030204" pitchFamily="18" charset="0"/>
                          </a:rPr>
                          <m:t>(</m:t>
                        </m:r>
                        <m:sSub>
                          <m:sSubPr>
                            <m:ctrlPr>
                              <a:rPr lang="en-US" altLang="zh-CN" sz="1900" i="1">
                                <a:latin typeface="Cambria Math" panose="02040503050406030204" pitchFamily="18" charset="0"/>
                                <a:ea typeface="Cambria Math" panose="02040503050406030204" pitchFamily="18" charset="0"/>
                              </a:rPr>
                            </m:ctrlPr>
                          </m:sSubPr>
                          <m:e>
                            <m:r>
                              <a:rPr lang="en-US" altLang="zh-CN" sz="1900" i="1">
                                <a:latin typeface="Cambria Math" panose="02040503050406030204" pitchFamily="18" charset="0"/>
                                <a:ea typeface="Cambria Math" panose="02040503050406030204" pitchFamily="18" charset="0"/>
                              </a:rPr>
                              <m:t>𝒔</m:t>
                            </m:r>
                          </m:e>
                          <m:sub>
                            <m:r>
                              <a:rPr lang="en-US" altLang="zh-CN" sz="1900" i="1">
                                <a:latin typeface="Cambria Math" panose="02040503050406030204" pitchFamily="18" charset="0"/>
                                <a:ea typeface="Cambria Math" panose="02040503050406030204" pitchFamily="18" charset="0"/>
                              </a:rPr>
                              <m:t>𝟏</m:t>
                            </m:r>
                          </m:sub>
                        </m:sSub>
                        <m:r>
                          <a:rPr lang="en-US" altLang="zh-CN" sz="1900" i="1">
                            <a:latin typeface="Cambria Math" panose="02040503050406030204" pitchFamily="18" charset="0"/>
                            <a:ea typeface="Cambria Math" panose="02040503050406030204" pitchFamily="18" charset="0"/>
                          </a:rPr>
                          <m:t>)</m:t>
                        </m:r>
                      </m:lim>
                    </m:limLow>
                    <m:r>
                      <a:rPr lang="en-US" altLang="zh-CN" sz="1900">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𝒗</m:t>
                        </m:r>
                      </m:e>
                      <m:sub>
                        <m:r>
                          <a:rPr lang="en-US" altLang="zh-CN" sz="1900" i="1">
                            <a:latin typeface="Cambria Math" panose="02040503050406030204" pitchFamily="18" charset="0"/>
                          </a:rPr>
                          <m:t>𝟏</m:t>
                        </m:r>
                      </m:sub>
                    </m:sSub>
                    <m:d>
                      <m:dPr>
                        <m:ctrlPr>
                          <a:rPr lang="en-US" altLang="zh-CN" sz="1900" i="1">
                            <a:latin typeface="Cambria Math" panose="02040503050406030204" pitchFamily="18" charset="0"/>
                          </a:rPr>
                        </m:ctrlPr>
                      </m:dPr>
                      <m:e>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𝒔</m:t>
                            </m:r>
                          </m:e>
                          <m:sub>
                            <m:r>
                              <a:rPr lang="en-US" altLang="zh-CN" sz="1900" b="1" i="1" smtClean="0">
                                <a:latin typeface="Cambria Math" panose="02040503050406030204" pitchFamily="18" charset="0"/>
                              </a:rPr>
                              <m:t>𝟐</m:t>
                            </m:r>
                          </m:sub>
                        </m:sSub>
                        <m:r>
                          <a:rPr lang="en-US" altLang="zh-CN" sz="1900" i="1">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𝒙</m:t>
                            </m:r>
                          </m:e>
                          <m:sub>
                            <m:r>
                              <a:rPr lang="en-US" altLang="zh-CN" sz="1900" i="1">
                                <a:latin typeface="Cambria Math" panose="02040503050406030204" pitchFamily="18" charset="0"/>
                              </a:rPr>
                              <m:t>𝟏</m:t>
                            </m:r>
                          </m:sub>
                        </m:sSub>
                      </m:e>
                    </m:d>
                    <m:r>
                      <a:rPr lang="en-US" altLang="zh-CN" sz="1900">
                        <a:latin typeface="Cambria Math" panose="02040503050406030204" pitchFamily="18" charset="0"/>
                      </a:rPr>
                      <m:t>}</m:t>
                    </m:r>
                  </m:oMath>
                </a14:m>
                <a:endParaRPr lang="en-US" altLang="zh-CN" sz="1900" dirty="0">
                  <a:latin typeface="Times New Roman" panose="02020603050405020304" pitchFamily="18" charset="0"/>
                  <a:cs typeface="Times New Roman" panose="02020603050405020304" pitchFamily="18" charset="0"/>
                </a:endParaRPr>
              </a:p>
              <a:p>
                <a:pPr lvl="2"/>
                <a:r>
                  <a:rPr lang="zh-CN" altLang="en-US" sz="1800" dirty="0">
                    <a:latin typeface="Times New Roman" panose="02020603050405020304" pitchFamily="18" charset="0"/>
                    <a:cs typeface="Times New Roman" panose="02020603050405020304" pitchFamily="18" charset="0"/>
                  </a:rPr>
                  <a:t>其中</a:t>
                </a:r>
                <a:r>
                  <a:rPr lang="en-US" altLang="zh-CN" sz="18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𝒔</m:t>
                        </m:r>
                      </m:e>
                      <m:sub>
                        <m:r>
                          <a:rPr lang="en-US" altLang="zh-CN" sz="1800" i="1">
                            <a:latin typeface="Cambria Math" panose="02040503050406030204" pitchFamily="18" charset="0"/>
                          </a:rPr>
                          <m:t>𝟏</m:t>
                        </m:r>
                      </m:sub>
                    </m:sSub>
                    <m:r>
                      <a:rPr lang="en-US" altLang="zh-CN" sz="1800" i="1">
                        <a:latin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𝑻</m:t>
                        </m:r>
                      </m:e>
                      <m:sub>
                        <m:r>
                          <a:rPr lang="en-US" altLang="zh-CN" sz="1800" i="1">
                            <a:latin typeface="Cambria Math" panose="02040503050406030204" pitchFamily="18" charset="0"/>
                          </a:rPr>
                          <m:t>𝟏</m:t>
                        </m:r>
                      </m:sub>
                      <m:sup>
                        <m:r>
                          <a:rPr lang="en-US" altLang="zh-CN" sz="1800" i="1">
                            <a:latin typeface="Cambria Math" panose="02040503050406030204" pitchFamily="18" charset="0"/>
                            <a:ea typeface="Cambria Math" panose="02040503050406030204" pitchFamily="18" charset="0"/>
                          </a:rPr>
                          <m:t>∗</m:t>
                        </m:r>
                      </m:sup>
                    </m:sSubSup>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𝒔</m:t>
                        </m:r>
                      </m:e>
                      <m:sub>
                        <m:r>
                          <a:rPr lang="en-US" altLang="zh-CN" sz="1800" i="1">
                            <a:latin typeface="Cambria Math" panose="02040503050406030204" pitchFamily="18" charset="0"/>
                            <a:ea typeface="Cambria Math" panose="02040503050406030204" pitchFamily="18" charset="0"/>
                          </a:rPr>
                          <m:t>𝟐</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𝒙</m:t>
                        </m:r>
                      </m:e>
                      <m:sub>
                        <m:r>
                          <a:rPr lang="en-US" altLang="zh-CN" sz="1800" i="1">
                            <a:latin typeface="Cambria Math" panose="02040503050406030204" pitchFamily="18" charset="0"/>
                          </a:rPr>
                          <m:t>𝟏</m:t>
                        </m:r>
                      </m:sub>
                    </m:sSub>
                    <m:r>
                      <a:rPr lang="en-US" altLang="zh-CN" sz="1800" i="1">
                        <a:latin typeface="Cambria Math" panose="02040503050406030204" pitchFamily="18" charset="0"/>
                        <a:ea typeface="Cambria Math" panose="02040503050406030204" pitchFamily="18" charset="0"/>
                      </a:rPr>
                      <m:t>)</m:t>
                    </m:r>
                  </m:oMath>
                </a14:m>
                <a:endParaRPr lang="zh-CN" altLang="en-US" sz="1800" dirty="0"/>
              </a:p>
              <a:p>
                <a:pPr lvl="2"/>
                <a:r>
                  <a:rPr lang="zh-CN" altLang="en-US" sz="1800" dirty="0">
                    <a:latin typeface="Times New Roman" panose="02020603050405020304" pitchFamily="18" charset="0"/>
                    <a:cs typeface="Times New Roman" panose="02020603050405020304" pitchFamily="18" charset="0"/>
                  </a:rPr>
                  <a:t>解此一维极值问题，得到最优解</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𝒙</m:t>
                        </m:r>
                      </m:e>
                      <m:sub>
                        <m:r>
                          <a:rPr lang="en-US" altLang="zh-CN" sz="1800" i="1">
                            <a:latin typeface="Cambria Math" panose="02040503050406030204" pitchFamily="18" charset="0"/>
                          </a:rPr>
                          <m:t>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𝒙</m:t>
                        </m:r>
                      </m:e>
                      <m:sub>
                        <m:r>
                          <a:rPr lang="en-US" altLang="zh-CN" sz="1800" i="1">
                            <a:latin typeface="Cambria Math" panose="02040503050406030204" pitchFamily="18" charset="0"/>
                          </a:rPr>
                          <m:t>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𝒔</m:t>
                        </m:r>
                      </m:e>
                      <m:sub>
                        <m:r>
                          <a:rPr lang="en-US" altLang="zh-CN" sz="1800" i="1">
                            <a:latin typeface="Cambria Math" panose="02040503050406030204" pitchFamily="18" charset="0"/>
                          </a:rPr>
                          <m:t>𝟐</m:t>
                        </m:r>
                      </m:sub>
                    </m:sSub>
                    <m:r>
                      <a:rPr lang="en-US" altLang="zh-CN" sz="1800" i="1">
                        <a:latin typeface="Cambria Math" panose="02040503050406030204" pitchFamily="18" charset="0"/>
                      </a:rPr>
                      <m:t>)</m:t>
                    </m:r>
                  </m:oMath>
                </a14:m>
                <a:r>
                  <a:rPr lang="zh-CN" altLang="en-US" sz="1800" dirty="0">
                    <a:latin typeface="Times New Roman" panose="02020603050405020304" pitchFamily="18" charset="0"/>
                    <a:cs typeface="Times New Roman" panose="02020603050405020304" pitchFamily="18" charset="0"/>
                  </a:rPr>
                  <a:t>和最优值</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𝒇</m:t>
                        </m:r>
                      </m:e>
                      <m:sub>
                        <m:r>
                          <a:rPr lang="en-US" altLang="zh-CN" sz="1800" i="1">
                            <a:latin typeface="Cambria Math" panose="02040503050406030204" pitchFamily="18" charset="0"/>
                          </a:rPr>
                          <m:t>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𝒔</m:t>
                        </m:r>
                      </m:e>
                      <m:sub>
                        <m:r>
                          <a:rPr lang="en-US" altLang="zh-CN" sz="1800" i="1">
                            <a:latin typeface="Cambria Math" panose="02040503050406030204" pitchFamily="18" charset="0"/>
                          </a:rPr>
                          <m:t>𝟐</m:t>
                        </m:r>
                      </m:sub>
                    </m:sSub>
                    <m:r>
                      <a:rPr lang="en-US" altLang="zh-CN" sz="1800" i="1">
                        <a:latin typeface="Cambria Math" panose="02040503050406030204" pitchFamily="18" charset="0"/>
                      </a:rPr>
                      <m:t>)</m:t>
                    </m:r>
                  </m:oMath>
                </a14:m>
                <a:endParaRPr lang="en-US" altLang="zh-CN" sz="1800" dirty="0"/>
              </a:p>
              <a:p>
                <a:pPr lvl="1"/>
                <a:r>
                  <a:rPr lang="en-US" altLang="zh-CN" sz="1900" dirty="0">
                    <a:latin typeface="Times New Roman" panose="02020603050405020304" pitchFamily="18" charset="0"/>
                    <a:cs typeface="Times New Roman" panose="02020603050405020304" pitchFamily="18" charset="0"/>
                  </a:rPr>
                  <a:t>2</a:t>
                </a:r>
                <a:r>
                  <a:rPr lang="zh-CN" altLang="en-US" sz="1900" dirty="0">
                    <a:latin typeface="Times New Roman" panose="02020603050405020304" pitchFamily="18" charset="0"/>
                    <a:cs typeface="Times New Roman" panose="02020603050405020304" pitchFamily="18" charset="0"/>
                  </a:rPr>
                  <a:t>阶段：</a:t>
                </a:r>
                <a14:m>
                  <m:oMath xmlns:m="http://schemas.openxmlformats.org/officeDocument/2006/math">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𝒇</m:t>
                        </m:r>
                      </m:e>
                      <m:sub>
                        <m:r>
                          <a:rPr lang="en-US" altLang="zh-CN" sz="1900" i="1">
                            <a:latin typeface="Cambria Math" panose="02040503050406030204" pitchFamily="18" charset="0"/>
                          </a:rPr>
                          <m:t>𝟐</m:t>
                        </m:r>
                        <m:r>
                          <a:rPr lang="en-US" altLang="zh-CN" sz="1900" i="1">
                            <a:latin typeface="Cambria Math" panose="02040503050406030204" pitchFamily="18" charset="0"/>
                          </a:rPr>
                          <m:t> </m:t>
                        </m:r>
                      </m:sub>
                    </m:sSub>
                    <m:r>
                      <a:rPr lang="en-US" altLang="zh-CN" sz="1900" i="1">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𝒔</m:t>
                        </m:r>
                      </m:e>
                      <m:sub>
                        <m:r>
                          <a:rPr lang="en-US" altLang="zh-CN" sz="1900" i="1">
                            <a:latin typeface="Cambria Math" panose="02040503050406030204" pitchFamily="18" charset="0"/>
                          </a:rPr>
                          <m:t>𝟑</m:t>
                        </m:r>
                      </m:sub>
                    </m:sSub>
                    <m:r>
                      <a:rPr lang="en-US" altLang="zh-CN" sz="1900" i="1">
                        <a:latin typeface="Cambria Math" panose="02040503050406030204" pitchFamily="18" charset="0"/>
                      </a:rPr>
                      <m:t>)</m:t>
                    </m:r>
                  </m:oMath>
                </a14:m>
                <a:r>
                  <a:rPr lang="en-US" altLang="zh-CN" sz="1900" dirty="0"/>
                  <a:t>=</a:t>
                </a:r>
                <a14:m>
                  <m:oMath xmlns:m="http://schemas.openxmlformats.org/officeDocument/2006/math">
                    <m:limLow>
                      <m:limLowPr>
                        <m:ctrlPr>
                          <a:rPr lang="en-US" altLang="zh-CN" sz="1900" i="1">
                            <a:latin typeface="Cambria Math" panose="02040503050406030204" pitchFamily="18" charset="0"/>
                          </a:rPr>
                        </m:ctrlPr>
                      </m:limLowPr>
                      <m:e>
                        <m:r>
                          <a:rPr lang="en-US" altLang="zh-CN" sz="1900" i="1">
                            <a:latin typeface="Cambria Math" panose="02040503050406030204" pitchFamily="18" charset="0"/>
                          </a:rPr>
                          <m:t>𝒎𝒂𝒙</m:t>
                        </m:r>
                      </m:e>
                      <m:lim>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𝒙</m:t>
                            </m:r>
                          </m:e>
                          <m:sub>
                            <m:r>
                              <a:rPr lang="en-US" altLang="zh-CN" sz="1900" i="1">
                                <a:latin typeface="Cambria Math" panose="02040503050406030204" pitchFamily="18" charset="0"/>
                              </a:rPr>
                              <m:t>𝟐</m:t>
                            </m:r>
                          </m:sub>
                        </m:sSub>
                        <m:r>
                          <a:rPr lang="en-US" altLang="zh-CN" sz="1900" i="1">
                            <a:latin typeface="Cambria Math" panose="02040503050406030204" pitchFamily="18" charset="0"/>
                            <a:ea typeface="Cambria Math" panose="02040503050406030204" pitchFamily="18" charset="0"/>
                          </a:rPr>
                          <m:t>∈</m:t>
                        </m:r>
                        <m:sSub>
                          <m:sSubPr>
                            <m:ctrlPr>
                              <a:rPr lang="en-US" altLang="zh-CN" sz="1900" i="1">
                                <a:latin typeface="Cambria Math" panose="02040503050406030204" pitchFamily="18" charset="0"/>
                                <a:ea typeface="Cambria Math" panose="02040503050406030204" pitchFamily="18" charset="0"/>
                              </a:rPr>
                            </m:ctrlPr>
                          </m:sSubPr>
                          <m:e>
                            <m:r>
                              <a:rPr lang="en-US" altLang="zh-CN" sz="1900" i="1">
                                <a:latin typeface="Cambria Math" panose="02040503050406030204" pitchFamily="18" charset="0"/>
                                <a:ea typeface="Cambria Math" panose="02040503050406030204" pitchFamily="18" charset="0"/>
                              </a:rPr>
                              <m:t>𝑫</m:t>
                            </m:r>
                          </m:e>
                          <m:sub>
                            <m:r>
                              <a:rPr lang="en-US" altLang="zh-CN" sz="1900" i="1">
                                <a:latin typeface="Cambria Math" panose="02040503050406030204" pitchFamily="18" charset="0"/>
                                <a:ea typeface="Cambria Math" panose="02040503050406030204" pitchFamily="18" charset="0"/>
                              </a:rPr>
                              <m:t>𝟐</m:t>
                            </m:r>
                          </m:sub>
                        </m:sSub>
                        <m:r>
                          <a:rPr lang="en-US" altLang="zh-CN" sz="1900" i="1">
                            <a:latin typeface="Cambria Math" panose="02040503050406030204" pitchFamily="18" charset="0"/>
                            <a:ea typeface="Cambria Math" panose="02040503050406030204" pitchFamily="18" charset="0"/>
                          </a:rPr>
                          <m:t>(</m:t>
                        </m:r>
                        <m:sSub>
                          <m:sSubPr>
                            <m:ctrlPr>
                              <a:rPr lang="en-US" altLang="zh-CN" sz="1900" i="1">
                                <a:latin typeface="Cambria Math" panose="02040503050406030204" pitchFamily="18" charset="0"/>
                                <a:ea typeface="Cambria Math" panose="02040503050406030204" pitchFamily="18" charset="0"/>
                              </a:rPr>
                            </m:ctrlPr>
                          </m:sSubPr>
                          <m:e>
                            <m:r>
                              <a:rPr lang="en-US" altLang="zh-CN" sz="1900" i="1">
                                <a:latin typeface="Cambria Math" panose="02040503050406030204" pitchFamily="18" charset="0"/>
                                <a:ea typeface="Cambria Math" panose="02040503050406030204" pitchFamily="18" charset="0"/>
                              </a:rPr>
                              <m:t>𝒔</m:t>
                            </m:r>
                          </m:e>
                          <m:sub>
                            <m:r>
                              <a:rPr lang="en-US" altLang="zh-CN" sz="1900" i="1">
                                <a:latin typeface="Cambria Math" panose="02040503050406030204" pitchFamily="18" charset="0"/>
                                <a:ea typeface="Cambria Math" panose="02040503050406030204" pitchFamily="18" charset="0"/>
                              </a:rPr>
                              <m:t>𝟐</m:t>
                            </m:r>
                          </m:sub>
                        </m:sSub>
                        <m:r>
                          <a:rPr lang="en-US" altLang="zh-CN" sz="1900" i="1">
                            <a:latin typeface="Cambria Math" panose="02040503050406030204" pitchFamily="18" charset="0"/>
                            <a:ea typeface="Cambria Math" panose="02040503050406030204" pitchFamily="18" charset="0"/>
                          </a:rPr>
                          <m:t>)</m:t>
                        </m:r>
                      </m:lim>
                    </m:limLow>
                    <m:r>
                      <a:rPr lang="en-US" altLang="zh-CN" sz="1900">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𝒗</m:t>
                        </m:r>
                      </m:e>
                      <m:sub>
                        <m:r>
                          <a:rPr lang="en-US" altLang="zh-CN" sz="1900" i="1">
                            <a:latin typeface="Cambria Math" panose="02040503050406030204" pitchFamily="18" charset="0"/>
                          </a:rPr>
                          <m:t>𝟐</m:t>
                        </m:r>
                      </m:sub>
                    </m:sSub>
                    <m:d>
                      <m:dPr>
                        <m:ctrlPr>
                          <a:rPr lang="en-US" altLang="zh-CN" sz="1900" i="1">
                            <a:latin typeface="Cambria Math" panose="02040503050406030204" pitchFamily="18" charset="0"/>
                          </a:rPr>
                        </m:ctrlPr>
                      </m:dPr>
                      <m:e>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𝒔</m:t>
                            </m:r>
                          </m:e>
                          <m:sub>
                            <m:r>
                              <a:rPr lang="en-US" altLang="zh-CN" sz="1900" b="1" i="1" smtClean="0">
                                <a:latin typeface="Cambria Math" panose="02040503050406030204" pitchFamily="18" charset="0"/>
                              </a:rPr>
                              <m:t>𝟑</m:t>
                            </m:r>
                          </m:sub>
                        </m:sSub>
                        <m:r>
                          <a:rPr lang="en-US" altLang="zh-CN" sz="1900" i="1">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𝒙</m:t>
                            </m:r>
                          </m:e>
                          <m:sub>
                            <m:r>
                              <a:rPr lang="en-US" altLang="zh-CN" sz="1900" b="1" i="1" smtClean="0">
                                <a:latin typeface="Cambria Math" panose="02040503050406030204" pitchFamily="18" charset="0"/>
                              </a:rPr>
                              <m:t>𝟐</m:t>
                            </m:r>
                          </m:sub>
                        </m:sSub>
                      </m:e>
                    </m:d>
                    <m:r>
                      <a:rPr lang="en-US" altLang="zh-CN" sz="1900">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𝒇</m:t>
                        </m:r>
                      </m:e>
                      <m:sub>
                        <m:r>
                          <a:rPr lang="en-US" altLang="zh-CN" sz="1900" i="1">
                            <a:latin typeface="Cambria Math" panose="02040503050406030204" pitchFamily="18" charset="0"/>
                          </a:rPr>
                          <m:t>𝟏</m:t>
                        </m:r>
                        <m:r>
                          <a:rPr lang="en-US" altLang="zh-CN" sz="1900" i="1">
                            <a:latin typeface="Cambria Math" panose="02040503050406030204" pitchFamily="18" charset="0"/>
                          </a:rPr>
                          <m:t> </m:t>
                        </m:r>
                      </m:sub>
                    </m:sSub>
                    <m:r>
                      <a:rPr lang="en-US" altLang="zh-CN" sz="1900" i="1">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𝒔</m:t>
                        </m:r>
                      </m:e>
                      <m:sub>
                        <m:r>
                          <a:rPr lang="en-US" altLang="zh-CN" sz="1900" i="1">
                            <a:latin typeface="Cambria Math" panose="02040503050406030204" pitchFamily="18" charset="0"/>
                          </a:rPr>
                          <m:t>𝟐</m:t>
                        </m:r>
                      </m:sub>
                    </m:sSub>
                    <m:r>
                      <a:rPr lang="en-US" altLang="zh-CN" sz="1900" i="1">
                        <a:latin typeface="Cambria Math" panose="02040503050406030204" pitchFamily="18" charset="0"/>
                      </a:rPr>
                      <m:t>)</m:t>
                    </m:r>
                    <m:r>
                      <a:rPr lang="en-US" altLang="zh-CN" sz="1900">
                        <a:latin typeface="Cambria Math" panose="02040503050406030204" pitchFamily="18" charset="0"/>
                      </a:rPr>
                      <m:t>}</m:t>
                    </m:r>
                  </m:oMath>
                </a14:m>
                <a:endParaRPr lang="en-US" altLang="zh-CN" sz="1900" dirty="0">
                  <a:latin typeface="Times New Roman" panose="02020603050405020304" pitchFamily="18" charset="0"/>
                  <a:cs typeface="Times New Roman" panose="02020603050405020304" pitchFamily="18" charset="0"/>
                </a:endParaRPr>
              </a:p>
              <a:p>
                <a:pPr lvl="2"/>
                <a:r>
                  <a:rPr lang="zh-CN" altLang="en-US" sz="1800" dirty="0">
                    <a:latin typeface="Times New Roman" panose="02020603050405020304" pitchFamily="18" charset="0"/>
                    <a:cs typeface="Times New Roman" panose="02020603050405020304" pitchFamily="18" charset="0"/>
                  </a:rPr>
                  <a:t>其中</a:t>
                </a:r>
                <a:r>
                  <a:rPr lang="en-US" altLang="zh-CN" sz="1800"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CN" sz="1800" i="1">
                            <a:latin typeface="Cambria Math" panose="02040503050406030204" pitchFamily="18" charset="0"/>
                          </a:rPr>
                        </m:ctrlPr>
                      </m:sSubSup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𝒔</m:t>
                            </m:r>
                          </m:e>
                          <m:sub>
                            <m:r>
                              <a:rPr lang="en-US" altLang="zh-CN" sz="1800" i="1">
                                <a:latin typeface="Cambria Math" panose="02040503050406030204" pitchFamily="18" charset="0"/>
                              </a:rPr>
                              <m:t>𝟐</m:t>
                            </m:r>
                          </m:sub>
                        </m:sSub>
                        <m:r>
                          <a:rPr lang="en-US" altLang="zh-CN" sz="1800" i="1">
                            <a:latin typeface="Cambria Math" panose="02040503050406030204" pitchFamily="18" charset="0"/>
                          </a:rPr>
                          <m:t>=</m:t>
                        </m:r>
                        <m:r>
                          <a:rPr lang="en-US" altLang="zh-CN" sz="1800" i="1">
                            <a:latin typeface="Cambria Math" panose="02040503050406030204" pitchFamily="18" charset="0"/>
                          </a:rPr>
                          <m:t>𝑻</m:t>
                        </m:r>
                      </m:e>
                      <m:sub>
                        <m:r>
                          <a:rPr lang="en-US" altLang="zh-CN" sz="1800" i="1">
                            <a:latin typeface="Cambria Math" panose="02040503050406030204" pitchFamily="18" charset="0"/>
                          </a:rPr>
                          <m:t>𝟐</m:t>
                        </m:r>
                      </m:sub>
                      <m:sup>
                        <m:r>
                          <a:rPr lang="en-US" altLang="zh-CN" sz="1800" i="1">
                            <a:latin typeface="Cambria Math" panose="02040503050406030204" pitchFamily="18" charset="0"/>
                            <a:ea typeface="Cambria Math" panose="02040503050406030204" pitchFamily="18" charset="0"/>
                          </a:rPr>
                          <m:t>∗</m:t>
                        </m:r>
                      </m:sup>
                    </m:sSubSup>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𝒔</m:t>
                        </m:r>
                      </m:e>
                      <m:sub>
                        <m:r>
                          <a:rPr lang="en-US" altLang="zh-CN" sz="1800" i="1">
                            <a:latin typeface="Cambria Math" panose="02040503050406030204" pitchFamily="18" charset="0"/>
                            <a:ea typeface="Cambria Math" panose="02040503050406030204" pitchFamily="18" charset="0"/>
                          </a:rPr>
                          <m:t>𝟑</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𝒙</m:t>
                        </m:r>
                      </m:e>
                      <m:sub>
                        <m:r>
                          <a:rPr lang="en-US" altLang="zh-CN" sz="1800" i="1">
                            <a:latin typeface="Cambria Math" panose="02040503050406030204" pitchFamily="18" charset="0"/>
                          </a:rPr>
                          <m:t>𝟐</m:t>
                        </m:r>
                      </m:sub>
                    </m:sSub>
                    <m:r>
                      <a:rPr lang="en-US" altLang="zh-CN" sz="1800" i="1">
                        <a:latin typeface="Cambria Math" panose="02040503050406030204" pitchFamily="18" charset="0"/>
                        <a:ea typeface="Cambria Math" panose="02040503050406030204" pitchFamily="18" charset="0"/>
                      </a:rPr>
                      <m:t>)</m:t>
                    </m:r>
                  </m:oMath>
                </a14:m>
                <a:r>
                  <a:rPr lang="zh-CN" altLang="en-US" sz="1800" dirty="0">
                    <a:latin typeface="Times New Roman" panose="02020603050405020304" pitchFamily="18" charset="0"/>
                    <a:cs typeface="Times New Roman" panose="02020603050405020304" pitchFamily="18" charset="0"/>
                  </a:rPr>
                  <a:t>。</a:t>
                </a:r>
                <a:endParaRPr lang="zh-CN" altLang="en-US" sz="1800" dirty="0"/>
              </a:p>
              <a:p>
                <a:pPr lvl="2"/>
                <a:r>
                  <a:rPr lang="zh-CN" altLang="en-US" sz="1800" dirty="0">
                    <a:latin typeface="Times New Roman" panose="02020603050405020304" pitchFamily="18" charset="0"/>
                    <a:cs typeface="Times New Roman" panose="02020603050405020304" pitchFamily="18" charset="0"/>
                  </a:rPr>
                  <a:t>解此一维极值问题，得到最优解</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𝒙</m:t>
                        </m:r>
                      </m:e>
                      <m:sub>
                        <m:r>
                          <a:rPr lang="en-US" altLang="zh-CN" sz="1800" i="1">
                            <a:latin typeface="Cambria Math" panose="02040503050406030204" pitchFamily="18" charset="0"/>
                          </a:rPr>
                          <m:t>𝟐</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𝒙</m:t>
                        </m:r>
                      </m:e>
                      <m:sub>
                        <m:r>
                          <a:rPr lang="en-US" altLang="zh-CN" sz="1800" i="1">
                            <a:latin typeface="Cambria Math" panose="02040503050406030204" pitchFamily="18" charset="0"/>
                          </a:rPr>
                          <m:t>𝟐</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𝒔</m:t>
                        </m:r>
                      </m:e>
                      <m:sub>
                        <m:r>
                          <a:rPr lang="en-US" altLang="zh-CN" sz="1800" i="1">
                            <a:latin typeface="Cambria Math" panose="02040503050406030204" pitchFamily="18" charset="0"/>
                          </a:rPr>
                          <m:t>𝟑</m:t>
                        </m:r>
                      </m:sub>
                    </m:sSub>
                    <m:r>
                      <a:rPr lang="en-US" altLang="zh-CN" sz="1800" i="1">
                        <a:latin typeface="Cambria Math" panose="02040503050406030204" pitchFamily="18" charset="0"/>
                      </a:rPr>
                      <m:t>)</m:t>
                    </m:r>
                  </m:oMath>
                </a14:m>
                <a:r>
                  <a:rPr lang="zh-CN" altLang="en-US" sz="1800" dirty="0">
                    <a:latin typeface="Times New Roman" panose="02020603050405020304" pitchFamily="18" charset="0"/>
                    <a:cs typeface="Times New Roman" panose="02020603050405020304" pitchFamily="18" charset="0"/>
                  </a:rPr>
                  <a:t>和最优值</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𝒇</m:t>
                        </m:r>
                      </m:e>
                      <m:sub>
                        <m:r>
                          <a:rPr lang="en-US" altLang="zh-CN" sz="1800" i="1">
                            <a:latin typeface="Cambria Math" panose="02040503050406030204" pitchFamily="18" charset="0"/>
                          </a:rPr>
                          <m:t>𝟐</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𝒔</m:t>
                        </m:r>
                      </m:e>
                      <m:sub>
                        <m:r>
                          <a:rPr lang="en-US" altLang="zh-CN" sz="1800" i="1">
                            <a:latin typeface="Cambria Math" panose="02040503050406030204" pitchFamily="18" charset="0"/>
                          </a:rPr>
                          <m:t>𝟑</m:t>
                        </m:r>
                      </m:sub>
                    </m:sSub>
                    <m:r>
                      <a:rPr lang="en-US" altLang="zh-CN" sz="1800" i="1">
                        <a:latin typeface="Cambria Math" panose="02040503050406030204" pitchFamily="18" charset="0"/>
                      </a:rPr>
                      <m:t>)</m:t>
                    </m:r>
                  </m:oMath>
                </a14:m>
                <a:endParaRPr lang="en-US" altLang="zh-CN" sz="1800" dirty="0"/>
              </a:p>
              <a:p>
                <a:pPr lvl="1"/>
                <a:r>
                  <a:rPr lang="en-US" altLang="zh-CN" sz="1900" i="1" dirty="0" smtClean="0">
                    <a:latin typeface="Times New Roman" panose="02020603050405020304" pitchFamily="18" charset="0"/>
                  </a:rPr>
                  <a:t>n</a:t>
                </a:r>
                <a:r>
                  <a:rPr lang="zh-CN" altLang="en-US" sz="1900" dirty="0" smtClean="0">
                    <a:latin typeface="Times New Roman" panose="02020603050405020304" pitchFamily="18" charset="0"/>
                    <a:cs typeface="Times New Roman" panose="02020603050405020304" pitchFamily="18" charset="0"/>
                  </a:rPr>
                  <a:t>阶段：</a:t>
                </a:r>
                <a:r>
                  <a:rPr lang="en-US" altLang="zh-CN" sz="1900" dirty="0" smtClean="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𝒇</m:t>
                        </m:r>
                      </m:e>
                      <m:sub>
                        <m:r>
                          <a:rPr lang="en-US" altLang="zh-CN" sz="1900" i="1">
                            <a:latin typeface="Cambria Math" panose="02040503050406030204" pitchFamily="18" charset="0"/>
                          </a:rPr>
                          <m:t>𝒏</m:t>
                        </m:r>
                        <m:r>
                          <a:rPr lang="en-US" altLang="zh-CN" sz="1900" i="1">
                            <a:latin typeface="Cambria Math" panose="02040503050406030204" pitchFamily="18" charset="0"/>
                          </a:rPr>
                          <m:t> </m:t>
                        </m:r>
                      </m:sub>
                    </m:sSub>
                    <m:r>
                      <a:rPr lang="en-US" altLang="zh-CN" sz="1900" i="1">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𝒔</m:t>
                        </m:r>
                      </m:e>
                      <m:sub>
                        <m:r>
                          <a:rPr lang="en-US" altLang="zh-CN" sz="1900" i="1">
                            <a:latin typeface="Cambria Math" panose="02040503050406030204" pitchFamily="18" charset="0"/>
                          </a:rPr>
                          <m:t>𝒏</m:t>
                        </m:r>
                        <m:r>
                          <a:rPr lang="en-US" altLang="zh-CN" sz="1900" b="1" i="1" smtClean="0">
                            <a:latin typeface="Cambria Math" panose="02040503050406030204" pitchFamily="18" charset="0"/>
                          </a:rPr>
                          <m:t>+</m:t>
                        </m:r>
                        <m:r>
                          <a:rPr lang="en-US" altLang="zh-CN" sz="1900" b="1" i="1" smtClean="0">
                            <a:latin typeface="Cambria Math" panose="02040503050406030204" pitchFamily="18" charset="0"/>
                          </a:rPr>
                          <m:t>𝟏</m:t>
                        </m:r>
                      </m:sub>
                    </m:sSub>
                    <m:r>
                      <a:rPr lang="en-US" altLang="zh-CN" sz="1900" i="1">
                        <a:latin typeface="Cambria Math" panose="02040503050406030204" pitchFamily="18" charset="0"/>
                      </a:rPr>
                      <m:t>)</m:t>
                    </m:r>
                  </m:oMath>
                </a14:m>
                <a:r>
                  <a:rPr lang="en-US" altLang="zh-CN" sz="1900" dirty="0"/>
                  <a:t>=</a:t>
                </a:r>
                <a14:m>
                  <m:oMath xmlns:m="http://schemas.openxmlformats.org/officeDocument/2006/math">
                    <m:limLow>
                      <m:limLowPr>
                        <m:ctrlPr>
                          <a:rPr lang="en-US" altLang="zh-CN" sz="1900" i="1">
                            <a:latin typeface="Cambria Math" panose="02040503050406030204" pitchFamily="18" charset="0"/>
                          </a:rPr>
                        </m:ctrlPr>
                      </m:limLowPr>
                      <m:e>
                        <m:r>
                          <a:rPr lang="en-US" altLang="zh-CN" sz="1900" i="1">
                            <a:latin typeface="Cambria Math" panose="02040503050406030204" pitchFamily="18" charset="0"/>
                          </a:rPr>
                          <m:t>𝒎𝒂𝒙</m:t>
                        </m:r>
                      </m:e>
                      <m:lim>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𝒙</m:t>
                            </m:r>
                          </m:e>
                          <m:sub>
                            <m:r>
                              <a:rPr lang="en-US" altLang="zh-CN" sz="1900" i="1">
                                <a:latin typeface="Cambria Math" panose="02040503050406030204" pitchFamily="18" charset="0"/>
                              </a:rPr>
                              <m:t>𝒏</m:t>
                            </m:r>
                          </m:sub>
                        </m:sSub>
                        <m:r>
                          <a:rPr lang="en-US" altLang="zh-CN" sz="1900" i="1">
                            <a:latin typeface="Cambria Math" panose="02040503050406030204" pitchFamily="18" charset="0"/>
                            <a:ea typeface="Cambria Math" panose="02040503050406030204" pitchFamily="18" charset="0"/>
                          </a:rPr>
                          <m:t>∈</m:t>
                        </m:r>
                        <m:sSub>
                          <m:sSubPr>
                            <m:ctrlPr>
                              <a:rPr lang="en-US" altLang="zh-CN" sz="1900" i="1">
                                <a:latin typeface="Cambria Math" panose="02040503050406030204" pitchFamily="18" charset="0"/>
                                <a:ea typeface="Cambria Math" panose="02040503050406030204" pitchFamily="18" charset="0"/>
                              </a:rPr>
                            </m:ctrlPr>
                          </m:sSubPr>
                          <m:e>
                            <m:r>
                              <a:rPr lang="en-US" altLang="zh-CN" sz="1900" i="1">
                                <a:latin typeface="Cambria Math" panose="02040503050406030204" pitchFamily="18" charset="0"/>
                                <a:ea typeface="Cambria Math" panose="02040503050406030204" pitchFamily="18" charset="0"/>
                              </a:rPr>
                              <m:t>𝑫</m:t>
                            </m:r>
                          </m:e>
                          <m:sub>
                            <m:r>
                              <a:rPr lang="en-US" altLang="zh-CN" sz="1900" i="1">
                                <a:latin typeface="Cambria Math" panose="02040503050406030204" pitchFamily="18" charset="0"/>
                                <a:ea typeface="Cambria Math" panose="02040503050406030204" pitchFamily="18" charset="0"/>
                              </a:rPr>
                              <m:t>𝒏</m:t>
                            </m:r>
                          </m:sub>
                        </m:sSub>
                        <m:r>
                          <a:rPr lang="en-US" altLang="zh-CN" sz="1900" i="1">
                            <a:latin typeface="Cambria Math" panose="02040503050406030204" pitchFamily="18" charset="0"/>
                            <a:ea typeface="Cambria Math" panose="02040503050406030204" pitchFamily="18" charset="0"/>
                          </a:rPr>
                          <m:t>(</m:t>
                        </m:r>
                        <m:sSub>
                          <m:sSubPr>
                            <m:ctrlPr>
                              <a:rPr lang="en-US" altLang="zh-CN" sz="1900" i="1">
                                <a:latin typeface="Cambria Math" panose="02040503050406030204" pitchFamily="18" charset="0"/>
                                <a:ea typeface="Cambria Math" panose="02040503050406030204" pitchFamily="18" charset="0"/>
                              </a:rPr>
                            </m:ctrlPr>
                          </m:sSubPr>
                          <m:e>
                            <m:r>
                              <a:rPr lang="en-US" altLang="zh-CN" sz="1900" i="1">
                                <a:latin typeface="Cambria Math" panose="02040503050406030204" pitchFamily="18" charset="0"/>
                                <a:ea typeface="Cambria Math" panose="02040503050406030204" pitchFamily="18" charset="0"/>
                              </a:rPr>
                              <m:t>𝒔</m:t>
                            </m:r>
                          </m:e>
                          <m:sub>
                            <m:r>
                              <a:rPr lang="en-US" altLang="zh-CN" sz="1900" i="1">
                                <a:latin typeface="Cambria Math" panose="02040503050406030204" pitchFamily="18" charset="0"/>
                                <a:ea typeface="Cambria Math" panose="02040503050406030204" pitchFamily="18" charset="0"/>
                              </a:rPr>
                              <m:t>𝒏</m:t>
                            </m:r>
                          </m:sub>
                        </m:sSub>
                        <m:r>
                          <a:rPr lang="en-US" altLang="zh-CN" sz="1900" i="1">
                            <a:latin typeface="Cambria Math" panose="02040503050406030204" pitchFamily="18" charset="0"/>
                            <a:ea typeface="Cambria Math" panose="02040503050406030204" pitchFamily="18" charset="0"/>
                          </a:rPr>
                          <m:t>)</m:t>
                        </m:r>
                      </m:lim>
                    </m:limLow>
                    <m:r>
                      <a:rPr lang="en-US" altLang="zh-CN" sz="1900">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𝒗</m:t>
                        </m:r>
                      </m:e>
                      <m:sub>
                        <m:r>
                          <a:rPr lang="en-US" altLang="zh-CN" sz="1900" i="1">
                            <a:latin typeface="Cambria Math" panose="02040503050406030204" pitchFamily="18" charset="0"/>
                          </a:rPr>
                          <m:t>𝒏</m:t>
                        </m:r>
                      </m:sub>
                    </m:sSub>
                    <m:d>
                      <m:dPr>
                        <m:ctrlPr>
                          <a:rPr lang="en-US" altLang="zh-CN" sz="1900" i="1">
                            <a:latin typeface="Cambria Math" panose="02040503050406030204" pitchFamily="18" charset="0"/>
                          </a:rPr>
                        </m:ctrlPr>
                      </m:dPr>
                      <m:e>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𝒔</m:t>
                            </m:r>
                          </m:e>
                          <m:sub>
                            <m:r>
                              <a:rPr lang="en-US" altLang="zh-CN" sz="1900" i="1">
                                <a:latin typeface="Cambria Math" panose="02040503050406030204" pitchFamily="18" charset="0"/>
                              </a:rPr>
                              <m:t>𝒏</m:t>
                            </m:r>
                            <m:r>
                              <a:rPr lang="en-US" altLang="zh-CN" sz="1900" b="1" i="1" smtClean="0">
                                <a:latin typeface="Cambria Math" panose="02040503050406030204" pitchFamily="18" charset="0"/>
                              </a:rPr>
                              <m:t>+</m:t>
                            </m:r>
                            <m:r>
                              <a:rPr lang="en-US" altLang="zh-CN" sz="1900" b="1" i="1" smtClean="0">
                                <a:latin typeface="Cambria Math" panose="02040503050406030204" pitchFamily="18" charset="0"/>
                              </a:rPr>
                              <m:t>𝟏</m:t>
                            </m:r>
                          </m:sub>
                        </m:sSub>
                        <m:r>
                          <a:rPr lang="en-US" altLang="zh-CN" sz="1900" i="1">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𝒙</m:t>
                            </m:r>
                          </m:e>
                          <m:sub>
                            <m:r>
                              <a:rPr lang="en-US" altLang="zh-CN" sz="1900" i="1">
                                <a:latin typeface="Cambria Math" panose="02040503050406030204" pitchFamily="18" charset="0"/>
                              </a:rPr>
                              <m:t>𝒏</m:t>
                            </m:r>
                          </m:sub>
                        </m:sSub>
                      </m:e>
                    </m:d>
                    <m:r>
                      <a:rPr lang="en-US" altLang="zh-CN" sz="1900">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𝒇</m:t>
                        </m:r>
                      </m:e>
                      <m:sub>
                        <m:r>
                          <a:rPr lang="en-US" altLang="zh-CN" sz="1900" b="1" i="1" smtClean="0">
                            <a:latin typeface="Cambria Math" panose="02040503050406030204" pitchFamily="18" charset="0"/>
                          </a:rPr>
                          <m:t>𝒏</m:t>
                        </m:r>
                        <m:r>
                          <a:rPr lang="en-US" altLang="zh-CN" sz="1900" b="1" i="1" smtClean="0">
                            <a:latin typeface="Cambria Math" panose="02040503050406030204" pitchFamily="18" charset="0"/>
                          </a:rPr>
                          <m:t>−</m:t>
                        </m:r>
                        <m:r>
                          <a:rPr lang="en-US" altLang="zh-CN" sz="1900" i="1">
                            <a:latin typeface="Cambria Math" panose="02040503050406030204" pitchFamily="18" charset="0"/>
                          </a:rPr>
                          <m:t>𝟏</m:t>
                        </m:r>
                        <m:r>
                          <a:rPr lang="en-US" altLang="zh-CN" sz="1900" i="1">
                            <a:latin typeface="Cambria Math" panose="02040503050406030204" pitchFamily="18" charset="0"/>
                          </a:rPr>
                          <m:t> </m:t>
                        </m:r>
                      </m:sub>
                    </m:sSub>
                    <m:r>
                      <a:rPr lang="en-US" altLang="zh-CN" sz="1900" i="1">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i="1">
                            <a:latin typeface="Cambria Math" panose="02040503050406030204" pitchFamily="18" charset="0"/>
                          </a:rPr>
                          <m:t>𝒔</m:t>
                        </m:r>
                      </m:e>
                      <m:sub>
                        <m:r>
                          <a:rPr lang="en-US" altLang="zh-CN" sz="1900" b="1" i="1" smtClean="0">
                            <a:latin typeface="Cambria Math" panose="02040503050406030204" pitchFamily="18" charset="0"/>
                          </a:rPr>
                          <m:t>𝒏</m:t>
                        </m:r>
                      </m:sub>
                    </m:sSub>
                    <m:r>
                      <a:rPr lang="en-US" altLang="zh-CN" sz="1900" b="1" i="0" smtClean="0">
                        <a:latin typeface="Cambria Math" panose="02040503050406030204" pitchFamily="18" charset="0"/>
                      </a:rPr>
                      <m:t>)</m:t>
                    </m:r>
                    <m:r>
                      <a:rPr lang="en-US" altLang="zh-CN" sz="1900">
                        <a:latin typeface="Cambria Math" panose="02040503050406030204" pitchFamily="18" charset="0"/>
                      </a:rPr>
                      <m:t>}</m:t>
                    </m:r>
                  </m:oMath>
                </a14:m>
                <a:r>
                  <a:rPr lang="zh-CN" altLang="en-US" sz="1900" dirty="0" smtClean="0">
                    <a:latin typeface="Times New Roman" panose="02020603050405020304" pitchFamily="18" charset="0"/>
                    <a:cs typeface="Times New Roman" panose="02020603050405020304" pitchFamily="18" charset="0"/>
                  </a:rPr>
                  <a:t>，</a:t>
                </a:r>
                <a:endParaRPr lang="en-US" altLang="zh-CN" sz="1900" dirty="0" smtClean="0">
                  <a:latin typeface="Times New Roman" panose="02020603050405020304" pitchFamily="18" charset="0"/>
                  <a:cs typeface="Times New Roman" panose="02020603050405020304" pitchFamily="18" charset="0"/>
                </a:endParaRPr>
              </a:p>
              <a:p>
                <a:pPr lvl="2"/>
                <a:r>
                  <a:rPr lang="zh-CN" altLang="en-US" sz="1800" dirty="0">
                    <a:latin typeface="Times New Roman" panose="02020603050405020304" pitchFamily="18" charset="0"/>
                    <a:cs typeface="Times New Roman" panose="02020603050405020304" pitchFamily="18" charset="0"/>
                  </a:rPr>
                  <a:t>其中</a:t>
                </a:r>
                <a:r>
                  <a:rPr lang="en-US" altLang="zh-CN" sz="1800"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CN" sz="1800" i="1">
                            <a:latin typeface="Cambria Math" panose="02040503050406030204" pitchFamily="18" charset="0"/>
                          </a:rPr>
                        </m:ctrlPr>
                      </m:sSubSup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𝒔</m:t>
                            </m:r>
                          </m:e>
                          <m:sub>
                            <m:r>
                              <a:rPr lang="en-US" altLang="zh-CN" sz="1800" b="1" i="1" smtClean="0">
                                <a:latin typeface="Cambria Math" panose="02040503050406030204" pitchFamily="18" charset="0"/>
                              </a:rPr>
                              <m:t>𝒏</m:t>
                            </m:r>
                          </m:sub>
                        </m:sSub>
                        <m:r>
                          <a:rPr lang="en-US" altLang="zh-CN" sz="1800" i="1">
                            <a:latin typeface="Cambria Math" panose="02040503050406030204" pitchFamily="18" charset="0"/>
                          </a:rPr>
                          <m:t>=</m:t>
                        </m:r>
                        <m:r>
                          <a:rPr lang="en-US" altLang="zh-CN" sz="1800" i="1">
                            <a:latin typeface="Cambria Math" panose="02040503050406030204" pitchFamily="18" charset="0"/>
                          </a:rPr>
                          <m:t>𝑻</m:t>
                        </m:r>
                      </m:e>
                      <m:sub>
                        <m:r>
                          <a:rPr lang="en-US" altLang="zh-CN" sz="1800" b="1" i="1" smtClean="0">
                            <a:latin typeface="Cambria Math" panose="02040503050406030204" pitchFamily="18" charset="0"/>
                          </a:rPr>
                          <m:t>𝒏</m:t>
                        </m:r>
                      </m:sub>
                      <m:sup>
                        <m:r>
                          <a:rPr lang="en-US" altLang="zh-CN" sz="1800" i="1">
                            <a:latin typeface="Cambria Math" panose="02040503050406030204" pitchFamily="18" charset="0"/>
                            <a:ea typeface="Cambria Math" panose="02040503050406030204" pitchFamily="18" charset="0"/>
                          </a:rPr>
                          <m:t>∗</m:t>
                        </m:r>
                      </m:sup>
                    </m:sSubSup>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𝒔</m:t>
                        </m:r>
                      </m:e>
                      <m:sub>
                        <m:r>
                          <a:rPr lang="en-US" altLang="zh-CN" sz="1800" b="1" i="1" smtClean="0">
                            <a:latin typeface="Cambria Math" panose="02040503050406030204" pitchFamily="18" charset="0"/>
                            <a:ea typeface="Cambria Math" panose="02040503050406030204" pitchFamily="18" charset="0"/>
                          </a:rPr>
                          <m:t>𝒏</m:t>
                        </m:r>
                        <m:r>
                          <a:rPr lang="en-US" altLang="zh-CN" sz="1800" b="1" i="1" smtClean="0">
                            <a:latin typeface="Cambria Math" panose="02040503050406030204" pitchFamily="18" charset="0"/>
                            <a:ea typeface="Cambria Math" panose="02040503050406030204" pitchFamily="18" charset="0"/>
                          </a:rPr>
                          <m:t>+</m:t>
                        </m:r>
                        <m:r>
                          <a:rPr lang="en-US" altLang="zh-CN" sz="1800" b="1" i="1" smtClean="0">
                            <a:latin typeface="Cambria Math" panose="02040503050406030204" pitchFamily="18" charset="0"/>
                            <a:ea typeface="Cambria Math" panose="02040503050406030204" pitchFamily="18" charset="0"/>
                          </a:rPr>
                          <m:t>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𝒙</m:t>
                        </m:r>
                      </m:e>
                      <m:sub>
                        <m:r>
                          <a:rPr lang="en-US" altLang="zh-CN" sz="1800" b="1" i="1" smtClean="0">
                            <a:latin typeface="Cambria Math" panose="02040503050406030204" pitchFamily="18" charset="0"/>
                          </a:rPr>
                          <m:t>𝒏</m:t>
                        </m:r>
                      </m:sub>
                    </m:sSub>
                    <m:r>
                      <a:rPr lang="en-US" altLang="zh-CN" sz="1800" i="1">
                        <a:latin typeface="Cambria Math" panose="02040503050406030204" pitchFamily="18" charset="0"/>
                        <a:ea typeface="Cambria Math" panose="02040503050406030204" pitchFamily="18" charset="0"/>
                      </a:rPr>
                      <m:t>)</m:t>
                    </m:r>
                  </m:oMath>
                </a14:m>
                <a:r>
                  <a:rPr lang="zh-CN" altLang="en-US" sz="1800" dirty="0">
                    <a:latin typeface="Times New Roman" panose="02020603050405020304" pitchFamily="18" charset="0"/>
                    <a:cs typeface="Times New Roman" panose="02020603050405020304" pitchFamily="18" charset="0"/>
                  </a:rPr>
                  <a:t>。</a:t>
                </a:r>
                <a:endParaRPr lang="zh-CN" altLang="en-US" sz="1800" dirty="0"/>
              </a:p>
              <a:p>
                <a:pPr lvl="2"/>
                <a:r>
                  <a:rPr lang="zh-CN" altLang="en-US" sz="1800" dirty="0" smtClean="0">
                    <a:latin typeface="Times New Roman" panose="02020603050405020304" pitchFamily="18" charset="0"/>
                    <a:cs typeface="Times New Roman" panose="02020603050405020304" pitchFamily="18" charset="0"/>
                  </a:rPr>
                  <a:t>解</a:t>
                </a:r>
                <a:r>
                  <a:rPr lang="zh-CN" altLang="en-US" sz="1800" dirty="0">
                    <a:latin typeface="Times New Roman" panose="02020603050405020304" pitchFamily="18" charset="0"/>
                    <a:cs typeface="Times New Roman" panose="02020603050405020304" pitchFamily="18" charset="0"/>
                  </a:rPr>
                  <a:t>此一维极值问题</a:t>
                </a:r>
                <a:r>
                  <a:rPr lang="zh-CN" altLang="en-US" sz="1800" dirty="0" smtClean="0">
                    <a:latin typeface="Times New Roman" panose="02020603050405020304" pitchFamily="18" charset="0"/>
                    <a:cs typeface="Times New Roman" panose="02020603050405020304" pitchFamily="18" charset="0"/>
                  </a:rPr>
                  <a:t>，得到</a:t>
                </a:r>
                <a:r>
                  <a:rPr lang="zh-CN" altLang="en-US" sz="1800" dirty="0">
                    <a:latin typeface="Times New Roman" panose="02020603050405020304" pitchFamily="18" charset="0"/>
                    <a:cs typeface="Times New Roman" panose="02020603050405020304" pitchFamily="18" charset="0"/>
                  </a:rPr>
                  <a:t>最优解</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𝒙</m:t>
                        </m:r>
                      </m:e>
                      <m:sub>
                        <m:r>
                          <a:rPr lang="en-US" altLang="zh-CN" sz="1800" i="1">
                            <a:latin typeface="Cambria Math" panose="02040503050406030204" pitchFamily="18" charset="0"/>
                          </a:rPr>
                          <m:t>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𝒙</m:t>
                        </m:r>
                      </m:e>
                      <m:sub>
                        <m:r>
                          <a:rPr lang="en-US" altLang="zh-CN" sz="1800" i="1">
                            <a:latin typeface="Cambria Math" panose="02040503050406030204" pitchFamily="18" charset="0"/>
                          </a:rPr>
                          <m:t>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𝒔</m:t>
                        </m:r>
                      </m:e>
                      <m:sub>
                        <m:r>
                          <a:rPr lang="en-US" altLang="zh-CN" sz="1800" i="1">
                            <a:latin typeface="Cambria Math" panose="02040503050406030204" pitchFamily="18" charset="0"/>
                          </a:rPr>
                          <m:t>𝒏</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𝟏</m:t>
                        </m:r>
                      </m:sub>
                    </m:sSub>
                    <m:r>
                      <a:rPr lang="en-US" altLang="zh-CN" sz="1800" i="1">
                        <a:latin typeface="Cambria Math" panose="02040503050406030204" pitchFamily="18" charset="0"/>
                      </a:rPr>
                      <m:t>)</m:t>
                    </m:r>
                  </m:oMath>
                </a14:m>
                <a:r>
                  <a:rPr lang="zh-CN" altLang="en-US" sz="1800" dirty="0">
                    <a:latin typeface="Times New Roman" panose="02020603050405020304" pitchFamily="18" charset="0"/>
                    <a:cs typeface="Times New Roman" panose="02020603050405020304" pitchFamily="18" charset="0"/>
                  </a:rPr>
                  <a:t>和最优值</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𝒇</m:t>
                        </m:r>
                      </m:e>
                      <m:sub>
                        <m:r>
                          <a:rPr lang="en-US" altLang="zh-CN" sz="1800" i="1">
                            <a:latin typeface="Cambria Math" panose="02040503050406030204" pitchFamily="18" charset="0"/>
                          </a:rPr>
                          <m:t>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𝒔</m:t>
                        </m:r>
                      </m:e>
                      <m:sub>
                        <m:r>
                          <a:rPr lang="en-US" altLang="zh-CN" sz="1800" i="1">
                            <a:latin typeface="Cambria Math" panose="02040503050406030204" pitchFamily="18" charset="0"/>
                          </a:rPr>
                          <m:t>𝒏</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𝟏</m:t>
                        </m:r>
                      </m:sub>
                    </m:sSub>
                    <m:r>
                      <a:rPr lang="en-US" altLang="zh-CN" sz="1800" i="1">
                        <a:latin typeface="Cambria Math" panose="02040503050406030204" pitchFamily="18" charset="0"/>
                      </a:rPr>
                      <m:t>)</m:t>
                    </m:r>
                  </m:oMath>
                </a14:m>
                <a:endParaRPr lang="en-US" altLang="zh-CN" sz="1800" dirty="0" smtClean="0"/>
              </a:p>
              <a:p>
                <a:pPr lvl="2"/>
                <a:r>
                  <a:rPr lang="zh-CN" altLang="en-US" sz="1800" dirty="0" smtClean="0">
                    <a:latin typeface="Times New Roman" panose="02020603050405020304" pitchFamily="18" charset="0"/>
                    <a:cs typeface="Times New Roman" panose="02020603050405020304" pitchFamily="18" charset="0"/>
                  </a:rPr>
                  <a:t>由于</a:t>
                </a:r>
                <a:r>
                  <a:rPr lang="zh-CN" altLang="en-US" sz="1800" dirty="0">
                    <a:latin typeface="Times New Roman" panose="02020603050405020304" pitchFamily="18" charset="0"/>
                    <a:cs typeface="Times New Roman" panose="02020603050405020304" pitchFamily="18" charset="0"/>
                  </a:rPr>
                  <a:t>终止</a:t>
                </a:r>
                <a:r>
                  <a:rPr lang="zh-CN" altLang="en-US" sz="1800" dirty="0" smtClean="0">
                    <a:latin typeface="Times New Roman" panose="02020603050405020304" pitchFamily="18" charset="0"/>
                    <a:cs typeface="Times New Roman" panose="02020603050405020304" pitchFamily="18" charset="0"/>
                  </a:rPr>
                  <a:t>状态</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𝒔</m:t>
                        </m:r>
                      </m:e>
                      <m:sub>
                        <m:r>
                          <a:rPr lang="en-US" altLang="zh-CN" sz="1800" i="1">
                            <a:latin typeface="Cambria Math" panose="02040503050406030204" pitchFamily="18" charset="0"/>
                          </a:rPr>
                          <m:t>𝒏</m:t>
                        </m:r>
                        <m:r>
                          <a:rPr lang="en-US" altLang="zh-CN" sz="1800" i="1">
                            <a:latin typeface="Cambria Math" panose="02040503050406030204" pitchFamily="18" charset="0"/>
                          </a:rPr>
                          <m:t>+</m:t>
                        </m:r>
                        <m:r>
                          <a:rPr lang="en-US" altLang="zh-CN" sz="1800" i="1">
                            <a:latin typeface="Cambria Math" panose="02040503050406030204" pitchFamily="18" charset="0"/>
                          </a:rPr>
                          <m:t>𝟏</m:t>
                        </m:r>
                      </m:sub>
                    </m:sSub>
                  </m:oMath>
                </a14:m>
                <a:r>
                  <a:rPr lang="zh-CN" altLang="en-US" sz="1800" dirty="0">
                    <a:latin typeface="Times New Roman" panose="02020603050405020304" pitchFamily="18" charset="0"/>
                    <a:cs typeface="Times New Roman" panose="02020603050405020304" pitchFamily="18" charset="0"/>
                  </a:rPr>
                  <a:t>已知，故</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𝒙</m:t>
                        </m:r>
                      </m:e>
                      <m:sub>
                        <m:r>
                          <a:rPr lang="en-US" altLang="zh-CN" sz="1800" i="1">
                            <a:latin typeface="Cambria Math" panose="02040503050406030204" pitchFamily="18" charset="0"/>
                          </a:rPr>
                          <m:t>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𝒙</m:t>
                        </m:r>
                      </m:e>
                      <m:sub>
                        <m:r>
                          <a:rPr lang="en-US" altLang="zh-CN" sz="1800" i="1">
                            <a:latin typeface="Cambria Math" panose="02040503050406030204" pitchFamily="18" charset="0"/>
                          </a:rPr>
                          <m:t>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𝒔</m:t>
                        </m:r>
                      </m:e>
                      <m:sub>
                        <m:r>
                          <a:rPr lang="en-US" altLang="zh-CN" sz="1800" i="1">
                            <a:latin typeface="Cambria Math" panose="02040503050406030204" pitchFamily="18" charset="0"/>
                          </a:rPr>
                          <m:t>𝒏</m:t>
                        </m:r>
                        <m:r>
                          <a:rPr lang="en-US" altLang="zh-CN" sz="1800" i="1">
                            <a:latin typeface="Cambria Math" panose="02040503050406030204" pitchFamily="18" charset="0"/>
                          </a:rPr>
                          <m:t>+</m:t>
                        </m:r>
                        <m:r>
                          <a:rPr lang="en-US" altLang="zh-CN" sz="1800" i="1">
                            <a:latin typeface="Cambria Math" panose="02040503050406030204" pitchFamily="18" charset="0"/>
                          </a:rPr>
                          <m:t>𝟏</m:t>
                        </m:r>
                      </m:sub>
                    </m:sSub>
                    <m:r>
                      <a:rPr lang="en-US" altLang="zh-CN" sz="1800" i="1">
                        <a:latin typeface="Cambria Math" panose="02040503050406030204" pitchFamily="18" charset="0"/>
                      </a:rPr>
                      <m:t>)</m:t>
                    </m:r>
                  </m:oMath>
                </a14:m>
                <a:r>
                  <a:rPr lang="zh-CN" altLang="en-US" sz="1800" dirty="0">
                    <a:latin typeface="Times New Roman" panose="02020603050405020304" pitchFamily="18" charset="0"/>
                    <a:cs typeface="Times New Roman" panose="02020603050405020304" pitchFamily="18" charset="0"/>
                  </a:rPr>
                  <a:t>和最优值</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𝒇</m:t>
                        </m:r>
                      </m:e>
                      <m:sub>
                        <m:r>
                          <a:rPr lang="en-US" altLang="zh-CN" sz="1800" i="1">
                            <a:latin typeface="Cambria Math" panose="02040503050406030204" pitchFamily="18" charset="0"/>
                          </a:rPr>
                          <m:t>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𝒔</m:t>
                        </m:r>
                      </m:e>
                      <m:sub>
                        <m:r>
                          <a:rPr lang="en-US" altLang="zh-CN" sz="1800" i="1">
                            <a:latin typeface="Cambria Math" panose="02040503050406030204" pitchFamily="18" charset="0"/>
                          </a:rPr>
                          <m:t>𝒏</m:t>
                        </m:r>
                        <m:r>
                          <a:rPr lang="en-US" altLang="zh-CN" sz="1800" i="1">
                            <a:latin typeface="Cambria Math" panose="02040503050406030204" pitchFamily="18" charset="0"/>
                          </a:rPr>
                          <m:t>+</m:t>
                        </m:r>
                        <m:r>
                          <a:rPr lang="en-US" altLang="zh-CN" sz="1800" i="1">
                            <a:latin typeface="Cambria Math" panose="02040503050406030204" pitchFamily="18" charset="0"/>
                          </a:rPr>
                          <m:t>𝟏</m:t>
                        </m:r>
                      </m:sub>
                    </m:sSub>
                    <m:r>
                      <a:rPr lang="en-US" altLang="zh-CN" sz="1800" i="1">
                        <a:latin typeface="Cambria Math" panose="02040503050406030204" pitchFamily="18" charset="0"/>
                      </a:rPr>
                      <m:t>)</m:t>
                    </m:r>
                  </m:oMath>
                </a14:m>
                <a:r>
                  <a:rPr lang="zh-CN" altLang="en-US" sz="1800" dirty="0"/>
                  <a:t>是确定的</a:t>
                </a:r>
                <a:r>
                  <a:rPr lang="zh-CN" altLang="en-US" sz="1800" dirty="0" smtClean="0"/>
                  <a:t>。</a:t>
                </a:r>
                <a:endParaRPr lang="en-US" altLang="zh-CN" sz="1800" dirty="0" smtClean="0"/>
              </a:p>
              <a:p>
                <a:pPr lvl="1"/>
                <a:r>
                  <a:rPr lang="zh-CN" altLang="en-US" sz="1900" dirty="0" smtClean="0"/>
                  <a:t>再</a:t>
                </a:r>
                <a:r>
                  <a:rPr lang="zh-CN" altLang="en-US" sz="1900" dirty="0"/>
                  <a:t>按计算过程的相反顺序</a:t>
                </a:r>
                <a:r>
                  <a:rPr lang="zh-CN" altLang="en-US" sz="1900" dirty="0" smtClean="0"/>
                  <a:t>推算，</a:t>
                </a:r>
                <a:r>
                  <a:rPr lang="zh-CN" altLang="en-US" sz="1900" dirty="0"/>
                  <a:t>就可逐步确定出每阶段的决策及效益。</a:t>
                </a: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251520" y="1270480"/>
                <a:ext cx="8712968" cy="5169300"/>
              </a:xfrm>
              <a:blipFill>
                <a:blip r:embed="rId3"/>
                <a:stretch>
                  <a:fillRect l="-909" t="-708" b="-825"/>
                </a:stretch>
              </a:blipFill>
            </p:spPr>
            <p:txBody>
              <a:bodyPr/>
              <a:lstStyle/>
              <a:p>
                <a:r>
                  <a:rPr lang="zh-CN" altLang="en-US">
                    <a:noFill/>
                  </a:rPr>
                  <a:t> </a:t>
                </a:r>
              </a:p>
            </p:txBody>
          </p:sp>
        </mc:Fallback>
      </mc:AlternateContent>
      <p:sp>
        <p:nvSpPr>
          <p:cNvPr id="46083"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AC04560-5413-4EBB-AF7F-70DCB3591B1A}" type="slidenum">
              <a:rPr lang="en-US" altLang="zh-CN" sz="1000"/>
              <a:pPr>
                <a:spcBef>
                  <a:spcPct val="0"/>
                </a:spcBef>
                <a:buClrTx/>
                <a:buSzTx/>
                <a:buFontTx/>
                <a:buNone/>
              </a:pPr>
              <a:t>32</a:t>
            </a:fld>
            <a:endParaRPr lang="en-US" altLang="zh-CN" sz="1000" dirty="0"/>
          </a:p>
        </p:txBody>
      </p:sp>
    </p:spTree>
    <p:extLst>
      <p:ext uri="{BB962C8B-B14F-4D97-AF65-F5344CB8AC3E}">
        <p14:creationId xmlns:p14="http://schemas.microsoft.com/office/powerpoint/2010/main" val="322479643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270422" y="478731"/>
            <a:ext cx="6757962" cy="576163"/>
          </a:xfrm>
        </p:spPr>
        <p:txBody>
          <a:bodyPr/>
          <a:lstStyle/>
          <a:p>
            <a:pPr eaLnBrk="1" hangingPunct="1"/>
            <a:r>
              <a:rPr lang="en-US" altLang="zh-CN" dirty="0"/>
              <a:t>8.3.2  </a:t>
            </a:r>
            <a:r>
              <a:rPr lang="zh-CN" altLang="en-US" dirty="0"/>
              <a:t>顺推解法</a:t>
            </a:r>
            <a:endParaRPr lang="zh-CN" altLang="en-US" b="1" dirty="0"/>
          </a:p>
        </p:txBody>
      </p:sp>
      <p:sp>
        <p:nvSpPr>
          <p:cNvPr id="2" name="内容占位符 1"/>
          <p:cNvSpPr>
            <a:spLocks noGrp="1"/>
          </p:cNvSpPr>
          <p:nvPr>
            <p:ph idx="1"/>
          </p:nvPr>
        </p:nvSpPr>
        <p:spPr>
          <a:xfrm>
            <a:off x="539552" y="1124744"/>
            <a:ext cx="8280920" cy="1274195"/>
          </a:xfrm>
        </p:spPr>
        <p:txBody>
          <a:bodyPr/>
          <a:lstStyle/>
          <a:p>
            <a:r>
              <a:rPr lang="zh-CN" altLang="en-US" dirty="0"/>
              <a:t>例</a:t>
            </a:r>
            <a:r>
              <a:rPr lang="en-US" altLang="zh-CN" dirty="0"/>
              <a:t>8-1</a:t>
            </a:r>
            <a:r>
              <a:rPr lang="zh-CN" altLang="en-US" dirty="0"/>
              <a:t>顺推求解</a:t>
            </a:r>
            <a:endParaRPr lang="en-US" altLang="zh-CN" dirty="0"/>
          </a:p>
          <a:p>
            <a:pPr lvl="1"/>
            <a:endParaRPr lang="zh-CN" altLang="en-US" dirty="0"/>
          </a:p>
          <a:p>
            <a:endParaRPr lang="zh-CN" altLang="en-US" dirty="0"/>
          </a:p>
        </p:txBody>
      </p:sp>
      <p:sp>
        <p:nvSpPr>
          <p:cNvPr id="18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363084643"/>
                  </p:ext>
                </p:extLst>
              </p:nvPr>
            </p:nvGraphicFramePr>
            <p:xfrm>
              <a:off x="969052" y="4390816"/>
              <a:ext cx="7609947" cy="1270432"/>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538912">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1" i="1" smtClean="0">
                                        <a:latin typeface="Cambria Math" panose="02040503050406030204" pitchFamily="18" charset="0"/>
                                      </a:rPr>
                                      <m:t>𝑺</m:t>
                                    </m:r>
                                  </m:e>
                                  <m:sub>
                                    <m:r>
                                      <a:rPr lang="en-US" altLang="zh-CN" sz="1800" b="0" i="1" smtClean="0">
                                        <a:latin typeface="Cambria Math" panose="02040503050406030204" pitchFamily="18" charset="0"/>
                                      </a:rPr>
                                      <m:t>2</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𝐷</m:t>
                                    </m:r>
                                  </m:e>
                                  <m:sub>
                                    <m:r>
                                      <a:rPr lang="en-US" altLang="zh-CN" sz="1800" b="1" i="1" smtClean="0">
                                        <a:latin typeface="Cambria Math" panose="02040503050406030204" pitchFamily="18" charset="0"/>
                                      </a:rPr>
                                      <m:t>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𝟐</m:t>
                                    </m:r>
                                  </m:sub>
                                </m:sSub>
                                <m:r>
                                  <a:rPr lang="en-US" altLang="zh-CN" sz="1800" i="1">
                                    <a:latin typeface="Cambria Math" panose="02040503050406030204" pitchFamily="18" charset="0"/>
                                  </a:rPr>
                                  <m:t>)</m:t>
                                </m:r>
                                <m:r>
                                  <m:rPr>
                                    <m:nor/>
                                  </m:rPr>
                                  <a:rPr lang="zh-CN" altLang="en-US" sz="1800" dirty="0"/>
                                  <m:t> </m:t>
                                </m:r>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𝟏</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𝟐</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𝟏</m:t>
                                        </m:r>
                                      </m:sub>
                                    </m:sSub>
                                  </m:e>
                                </m:d>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𝟎</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𝟏</m:t>
                                        </m:r>
                                      </m:sub>
                                    </m:sSub>
                                  </m:e>
                                </m:d>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𝟏</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𝟐</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𝟏</m:t>
                                      </m:r>
                                    </m:sub>
                                  </m:sSub>
                                </m:e>
                              </m:d>
                            </m:oMath>
                          </a14:m>
                          <a:r>
                            <a:rPr lang="en-US" altLang="zh-CN" dirty="0" smtClean="0"/>
                            <a: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𝟎</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𝟎</m:t>
                                      </m:r>
                                    </m:sub>
                                  </m:sSub>
                                </m:e>
                              </m:d>
                            </m:oMath>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𝟏</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𝟐</m:t>
                                        </m:r>
                                      </m:sub>
                                    </m:sSub>
                                  </m:e>
                                </m:d>
                              </m:oMath>
                            </m:oMathPara>
                          </a14:m>
                          <a:endParaRPr lang="zh-CN" altLang="en-US" dirty="0"/>
                        </a:p>
                      </a:txBody>
                      <a:tcPr/>
                    </a:tc>
                    <a:tc>
                      <a:txBody>
                        <a:bodyPr/>
                        <a:lstStyle/>
                        <a:p>
                          <a:r>
                            <a:rPr lang="zh-CN" altLang="en-US" dirty="0" smtClean="0"/>
                            <a:t>最优决策</a:t>
                          </a:r>
                          <a14:m>
                            <m:oMath xmlns:m="http://schemas.openxmlformats.org/officeDocument/2006/math">
                              <m:sSubSup>
                                <m:sSubSupPr>
                                  <m:ctrlPr>
                                    <a:rPr lang="en-US" altLang="zh-CN"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up>
                                  <m:r>
                                    <a:rPr lang="en-US" altLang="zh-CN" b="1" i="1" smtClean="0">
                                      <a:latin typeface="Cambria Math" panose="02040503050406030204" pitchFamily="18" charset="0"/>
                                    </a:rPr>
                                    <m:t>∗</m:t>
                                  </m:r>
                                </m:sup>
                              </m:sSubSup>
                            </m:oMath>
                          </a14:m>
                          <a:endParaRPr lang="zh-CN" altLang="en-US" dirty="0"/>
                        </a:p>
                      </a:txBody>
                      <a:tcPr/>
                    </a:tc>
                    <a:extLst>
                      <a:ext uri="{0D108BD9-81ED-4DB2-BD59-A6C34878D82A}">
                        <a16:rowId xmlns:a16="http://schemas.microsoft.com/office/drawing/2014/main" val="37799757"/>
                      </a:ext>
                    </a:extLst>
                  </a:tr>
                  <a:tr h="307950">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i="1">
                                        <a:latin typeface="Cambria Math" panose="02040503050406030204" pitchFamily="18" charset="0"/>
                                      </a:rPr>
                                      <m:t>1</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r>
                                <a:rPr lang="en-US" altLang="zh-CN" sz="1800" i="1" smtClean="0">
                                  <a:latin typeface="Cambria Math" panose="02040503050406030204" pitchFamily="18" charset="0"/>
                                </a:rPr>
                                <m:t>𝐴</m:t>
                              </m:r>
                            </m:oMath>
                          </a14:m>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5</a:t>
                          </a:r>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i="1">
                                        <a:latin typeface="Cambria Math" panose="02040503050406030204" pitchFamily="18" charset="0"/>
                                      </a:rPr>
                                      <m:t>1</m:t>
                                    </m:r>
                                  </m:sub>
                                </m:sSub>
                                <m:r>
                                  <m:rPr>
                                    <m:nor/>
                                  </m:rPr>
                                  <a:rPr lang="en-US" altLang="zh-CN" dirty="0" smtClean="0"/>
                                  <m:t>−&gt;</m:t>
                                </m:r>
                                <m:r>
                                  <a:rPr lang="en-US" altLang="zh-CN" sz="1800" i="1" smtClean="0">
                                    <a:latin typeface="Cambria Math" panose="02040503050406030204" pitchFamily="18" charset="0"/>
                                  </a:rPr>
                                  <m:t>𝐴</m:t>
                                </m:r>
                              </m:oMath>
                            </m:oMathPara>
                          </a14:m>
                          <a:endParaRPr lang="zh-CN" altLang="en-US" dirty="0"/>
                        </a:p>
                      </a:txBody>
                      <a:tcPr/>
                    </a:tc>
                    <a:extLst>
                      <a:ext uri="{0D108BD9-81ED-4DB2-BD59-A6C34878D82A}">
                        <a16:rowId xmlns:a16="http://schemas.microsoft.com/office/drawing/2014/main" val="3736361684"/>
                      </a:ext>
                    </a:extLst>
                  </a:tr>
                  <a:tr h="307950">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2</m:t>
                                    </m:r>
                                  </m:sub>
                                </m:sSub>
                              </m:oMath>
                            </m:oMathPara>
                          </a14:m>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r>
                                <a:rPr lang="en-US" altLang="zh-CN" sz="1800" i="1" smtClean="0">
                                  <a:latin typeface="Cambria Math" panose="02040503050406030204" pitchFamily="18" charset="0"/>
                                </a:rPr>
                                <m:t>𝐴</m:t>
                              </m:r>
                            </m:oMath>
                          </a14:m>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3</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2</m:t>
                                    </m:r>
                                  </m:sub>
                                </m:sSub>
                                <m:r>
                                  <m:rPr>
                                    <m:nor/>
                                  </m:rPr>
                                  <a:rPr lang="en-US" altLang="zh-CN" dirty="0" smtClean="0"/>
                                  <m:t>−&gt;</m:t>
                                </m:r>
                                <m:r>
                                  <a:rPr lang="en-US" altLang="zh-CN" sz="1800" i="1" smtClean="0">
                                    <a:latin typeface="Cambria Math" panose="02040503050406030204" pitchFamily="18" charset="0"/>
                                  </a:rPr>
                                  <m:t>𝐴</m:t>
                                </m:r>
                              </m:oMath>
                            </m:oMathPara>
                          </a14:m>
                          <a:endParaRPr lang="zh-CN" altLang="en-US" dirty="0"/>
                        </a:p>
                      </a:txBody>
                      <a:tcPr/>
                    </a:tc>
                    <a:extLst>
                      <a:ext uri="{0D108BD9-81ED-4DB2-BD59-A6C34878D82A}">
                        <a16:rowId xmlns:a16="http://schemas.microsoft.com/office/drawing/2014/main" val="1091311635"/>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363084643"/>
                  </p:ext>
                </p:extLst>
              </p:nvPr>
            </p:nvGraphicFramePr>
            <p:xfrm>
              <a:off x="969052" y="4390816"/>
              <a:ext cx="7609947" cy="1270432"/>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538912">
                    <a:tc>
                      <a:txBody>
                        <a:bodyPr/>
                        <a:lstStyle/>
                        <a:p>
                          <a:endParaRPr lang="zh-CN"/>
                        </a:p>
                      </a:txBody>
                      <a:tcPr>
                        <a:blipFill>
                          <a:blip r:embed="rId3"/>
                          <a:stretch>
                            <a:fillRect l="-1299" t="-7865" r="-1528571" b="-152809"/>
                          </a:stretch>
                        </a:blipFill>
                      </a:tcPr>
                    </a:tc>
                    <a:tc>
                      <a:txBody>
                        <a:bodyPr/>
                        <a:lstStyle/>
                        <a:p>
                          <a:endParaRPr lang="zh-CN"/>
                        </a:p>
                      </a:txBody>
                      <a:tcPr>
                        <a:blipFill>
                          <a:blip r:embed="rId3"/>
                          <a:stretch>
                            <a:fillRect l="-49367" t="-7865" r="-644937" b="-152809"/>
                          </a:stretch>
                        </a:blipFill>
                      </a:tcPr>
                    </a:tc>
                    <a:tc>
                      <a:txBody>
                        <a:bodyPr/>
                        <a:lstStyle/>
                        <a:p>
                          <a:endParaRPr lang="zh-CN"/>
                        </a:p>
                      </a:txBody>
                      <a:tcPr>
                        <a:blipFill>
                          <a:blip r:embed="rId3"/>
                          <a:stretch>
                            <a:fillRect l="-120408" t="-7865" r="-419898" b="-152809"/>
                          </a:stretch>
                        </a:blipFill>
                      </a:tcPr>
                    </a:tc>
                    <a:tc>
                      <a:txBody>
                        <a:bodyPr/>
                        <a:lstStyle/>
                        <a:p>
                          <a:endParaRPr lang="zh-CN"/>
                        </a:p>
                      </a:txBody>
                      <a:tcPr>
                        <a:blipFill>
                          <a:blip r:embed="rId3"/>
                          <a:stretch>
                            <a:fillRect l="-310791" t="-7865" r="-492086" b="-152809"/>
                          </a:stretch>
                        </a:blipFill>
                      </a:tcPr>
                    </a:tc>
                    <a:tc>
                      <a:txBody>
                        <a:bodyPr/>
                        <a:lstStyle/>
                        <a:p>
                          <a:endParaRPr lang="zh-CN"/>
                        </a:p>
                      </a:txBody>
                      <a:tcPr>
                        <a:blipFill>
                          <a:blip r:embed="rId3"/>
                          <a:stretch>
                            <a:fillRect l="-180696" t="-7865" r="-116456" b="-152809"/>
                          </a:stretch>
                        </a:blipFill>
                      </a:tcPr>
                    </a:tc>
                    <a:tc>
                      <a:txBody>
                        <a:bodyPr/>
                        <a:lstStyle/>
                        <a:p>
                          <a:endParaRPr lang="zh-CN"/>
                        </a:p>
                      </a:txBody>
                      <a:tcPr>
                        <a:blipFill>
                          <a:blip r:embed="rId3"/>
                          <a:stretch>
                            <a:fillRect l="-638129" t="-7865" r="-164748" b="-152809"/>
                          </a:stretch>
                        </a:blipFill>
                      </a:tcPr>
                    </a:tc>
                    <a:tc>
                      <a:txBody>
                        <a:bodyPr/>
                        <a:lstStyle/>
                        <a:p>
                          <a:endParaRPr lang="zh-CN"/>
                        </a:p>
                      </a:txBody>
                      <a:tcPr>
                        <a:blipFill>
                          <a:blip r:embed="rId3"/>
                          <a:stretch>
                            <a:fillRect l="-456000" t="-7865" r="-1778" b="-152809"/>
                          </a:stretch>
                        </a:blipFill>
                      </a:tcPr>
                    </a:tc>
                    <a:extLst>
                      <a:ext uri="{0D108BD9-81ED-4DB2-BD59-A6C34878D82A}">
                        <a16:rowId xmlns:a16="http://schemas.microsoft.com/office/drawing/2014/main" val="37799757"/>
                      </a:ext>
                    </a:extLst>
                  </a:tr>
                  <a:tr h="365760">
                    <a:tc>
                      <a:txBody>
                        <a:bodyPr/>
                        <a:lstStyle/>
                        <a:p>
                          <a:endParaRPr lang="zh-CN"/>
                        </a:p>
                      </a:txBody>
                      <a:tcPr>
                        <a:blipFill>
                          <a:blip r:embed="rId3"/>
                          <a:stretch>
                            <a:fillRect l="-1299" t="-160000" r="-1528571" b="-126667"/>
                          </a:stretch>
                        </a:blipFill>
                      </a:tcPr>
                    </a:tc>
                    <a:tc>
                      <a:txBody>
                        <a:bodyPr/>
                        <a:lstStyle/>
                        <a:p>
                          <a:endParaRPr lang="zh-CN"/>
                        </a:p>
                      </a:txBody>
                      <a:tcPr>
                        <a:blipFill>
                          <a:blip r:embed="rId3"/>
                          <a:stretch>
                            <a:fillRect l="-49367" t="-160000" r="-644937" b="-126667"/>
                          </a:stretch>
                        </a:blipFill>
                      </a:tcPr>
                    </a:tc>
                    <a:tc>
                      <a:txBody>
                        <a:bodyPr/>
                        <a:lstStyle/>
                        <a:p>
                          <a:r>
                            <a:rPr lang="en-US" altLang="zh-CN" dirty="0" smtClean="0"/>
                            <a:t>5</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5</a:t>
                          </a:r>
                          <a:endParaRPr lang="zh-CN" altLang="en-US" dirty="0"/>
                        </a:p>
                      </a:txBody>
                      <a:tcPr/>
                    </a:tc>
                    <a:tc>
                      <a:txBody>
                        <a:bodyPr/>
                        <a:lstStyle/>
                        <a:p>
                          <a:endParaRPr lang="zh-CN"/>
                        </a:p>
                      </a:txBody>
                      <a:tcPr>
                        <a:blipFill>
                          <a:blip r:embed="rId3"/>
                          <a:stretch>
                            <a:fillRect l="-456000" t="-160000" r="-1778" b="-126667"/>
                          </a:stretch>
                        </a:blipFill>
                      </a:tcPr>
                    </a:tc>
                    <a:extLst>
                      <a:ext uri="{0D108BD9-81ED-4DB2-BD59-A6C34878D82A}">
                        <a16:rowId xmlns:a16="http://schemas.microsoft.com/office/drawing/2014/main" val="3736361684"/>
                      </a:ext>
                    </a:extLst>
                  </a:tr>
                  <a:tr h="365760">
                    <a:tc>
                      <a:txBody>
                        <a:bodyPr/>
                        <a:lstStyle/>
                        <a:p>
                          <a:endParaRPr lang="zh-CN"/>
                        </a:p>
                      </a:txBody>
                      <a:tcPr>
                        <a:blipFill>
                          <a:blip r:embed="rId3"/>
                          <a:stretch>
                            <a:fillRect l="-1299" t="-260000" r="-1528571" b="-26667"/>
                          </a:stretch>
                        </a:blipFill>
                      </a:tcPr>
                    </a:tc>
                    <a:tc>
                      <a:txBody>
                        <a:bodyPr/>
                        <a:lstStyle/>
                        <a:p>
                          <a:endParaRPr lang="zh-CN"/>
                        </a:p>
                      </a:txBody>
                      <a:tcPr>
                        <a:blipFill>
                          <a:blip r:embed="rId3"/>
                          <a:stretch>
                            <a:fillRect l="-49367" t="-260000" r="-644937" b="-26667"/>
                          </a:stretch>
                        </a:blipFill>
                      </a:tcPr>
                    </a:tc>
                    <a:tc>
                      <a:txBody>
                        <a:bodyPr/>
                        <a:lstStyle/>
                        <a:p>
                          <a:r>
                            <a:rPr lang="en-US" altLang="zh-CN" dirty="0" smtClean="0"/>
                            <a:t>3</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3</a:t>
                          </a:r>
                          <a:endParaRPr lang="zh-CN" altLang="en-US" dirty="0"/>
                        </a:p>
                      </a:txBody>
                      <a:tcPr/>
                    </a:tc>
                    <a:tc>
                      <a:txBody>
                        <a:bodyPr/>
                        <a:lstStyle/>
                        <a:p>
                          <a:endParaRPr lang="zh-CN"/>
                        </a:p>
                      </a:txBody>
                      <a:tcPr>
                        <a:blipFill>
                          <a:blip r:embed="rId3"/>
                          <a:stretch>
                            <a:fillRect l="-456000" t="-260000" r="-1778" b="-26667"/>
                          </a:stretch>
                        </a:blipFill>
                      </a:tcPr>
                    </a:tc>
                    <a:extLst>
                      <a:ext uri="{0D108BD9-81ED-4DB2-BD59-A6C34878D82A}">
                        <a16:rowId xmlns:a16="http://schemas.microsoft.com/office/drawing/2014/main" val="1091311635"/>
                      </a:ext>
                    </a:extLst>
                  </a:tr>
                </a:tbl>
              </a:graphicData>
            </a:graphic>
          </p:graphicFrame>
        </mc:Fallback>
      </mc:AlternateContent>
      <p:sp>
        <p:nvSpPr>
          <p:cNvPr id="19" name="矩形 18"/>
          <p:cNvSpPr/>
          <p:nvPr/>
        </p:nvSpPr>
        <p:spPr>
          <a:xfrm>
            <a:off x="-26526" y="5127367"/>
            <a:ext cx="1056404" cy="341632"/>
          </a:xfrm>
          <a:prstGeom prst="rect">
            <a:avLst/>
          </a:prstGeom>
        </p:spPr>
        <p:txBody>
          <a:bodyPr wrap="square">
            <a:spAutoFit/>
          </a:bodyPr>
          <a:lstStyle/>
          <a:p>
            <a:pPr marL="0" lvl="2" defTabSz="179388" eaLnBrk="1" hangingPunct="1">
              <a:lnSpc>
                <a:spcPct val="90000"/>
              </a:lnSpc>
            </a:pPr>
            <a:r>
              <a:rPr lang="zh-CN" altLang="en-US" sz="1800" dirty="0" smtClean="0"/>
              <a:t>阶段</a:t>
            </a:r>
            <a:r>
              <a:rPr lang="en-US" altLang="zh-CN" sz="1800" dirty="0" smtClean="0"/>
              <a:t>k=1</a:t>
            </a:r>
            <a:endParaRPr lang="zh-CN" altLang="en-US" sz="1800" dirty="0"/>
          </a:p>
        </p:txBody>
      </p:sp>
      <p:pic>
        <p:nvPicPr>
          <p:cNvPr id="26"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07704" y="1556792"/>
            <a:ext cx="5113942" cy="207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Line 9"/>
          <p:cNvSpPr>
            <a:spLocks noChangeShapeType="1"/>
          </p:cNvSpPr>
          <p:nvPr/>
        </p:nvSpPr>
        <p:spPr bwMode="auto">
          <a:xfrm flipH="1">
            <a:off x="2233291" y="1778592"/>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1" name="Line 12"/>
          <p:cNvSpPr>
            <a:spLocks noChangeShapeType="1"/>
          </p:cNvSpPr>
          <p:nvPr/>
        </p:nvSpPr>
        <p:spPr bwMode="auto">
          <a:xfrm>
            <a:off x="298895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3" name="Line 12"/>
          <p:cNvSpPr>
            <a:spLocks noChangeShapeType="1"/>
          </p:cNvSpPr>
          <p:nvPr/>
        </p:nvSpPr>
        <p:spPr bwMode="auto">
          <a:xfrm>
            <a:off x="442911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4" name="Line 9"/>
          <p:cNvSpPr>
            <a:spLocks noChangeShapeType="1"/>
          </p:cNvSpPr>
          <p:nvPr/>
        </p:nvSpPr>
        <p:spPr bwMode="auto">
          <a:xfrm flipH="1">
            <a:off x="5113611" y="1772816"/>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5" name="Line 12"/>
          <p:cNvSpPr>
            <a:spLocks noChangeShapeType="1"/>
          </p:cNvSpPr>
          <p:nvPr/>
        </p:nvSpPr>
        <p:spPr bwMode="auto">
          <a:xfrm>
            <a:off x="5869270" y="1772816"/>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6" name="矩形 35"/>
          <p:cNvSpPr/>
          <p:nvPr/>
        </p:nvSpPr>
        <p:spPr>
          <a:xfrm>
            <a:off x="326241" y="3440128"/>
            <a:ext cx="6768752" cy="341632"/>
          </a:xfrm>
          <a:prstGeom prst="rect">
            <a:avLst/>
          </a:prstGeom>
        </p:spPr>
        <p:txBody>
          <a:bodyPr wrap="square">
            <a:spAutoFit/>
          </a:bodyPr>
          <a:lstStyle/>
          <a:p>
            <a:pPr lvl="2" eaLnBrk="1" hangingPunct="1">
              <a:lnSpc>
                <a:spcPct val="90000"/>
              </a:lnSpc>
            </a:pPr>
            <a:r>
              <a:rPr lang="zh-CN" altLang="en-US" sz="1800" dirty="0" smtClean="0"/>
              <a:t>阶段</a:t>
            </a:r>
            <a:r>
              <a:rPr lang="en-US" altLang="zh-CN" sz="1800" dirty="0" smtClean="0"/>
              <a:t>k</a:t>
            </a:r>
            <a:r>
              <a:rPr lang="zh-CN" altLang="en-US" sz="1800" dirty="0" smtClean="0"/>
              <a:t>： 阶段</a:t>
            </a:r>
            <a:r>
              <a:rPr lang="en-US" altLang="zh-CN" sz="1800" dirty="0" smtClean="0"/>
              <a:t>1   </a:t>
            </a:r>
            <a:r>
              <a:rPr lang="zh-CN" altLang="en-US" sz="1800" dirty="0" smtClean="0"/>
              <a:t>阶段</a:t>
            </a:r>
            <a:r>
              <a:rPr lang="en-US" altLang="zh-CN" sz="1800" dirty="0" smtClean="0"/>
              <a:t>2   </a:t>
            </a:r>
            <a:r>
              <a:rPr lang="zh-CN" altLang="en-US" sz="1800" dirty="0" smtClean="0"/>
              <a:t>阶段</a:t>
            </a:r>
            <a:r>
              <a:rPr lang="en-US" altLang="zh-CN" sz="1800" dirty="0" smtClean="0"/>
              <a:t>3  </a:t>
            </a:r>
            <a:r>
              <a:rPr lang="zh-CN" altLang="en-US" sz="1800" dirty="0" smtClean="0"/>
              <a:t>阶段</a:t>
            </a:r>
            <a:r>
              <a:rPr lang="en-US" altLang="zh-CN" sz="1800" dirty="0" smtClean="0"/>
              <a:t>4  </a:t>
            </a:r>
            <a:r>
              <a:rPr lang="zh-CN" altLang="en-US" sz="1800" dirty="0" smtClean="0"/>
              <a:t>阶段</a:t>
            </a:r>
            <a:r>
              <a:rPr lang="en-US" altLang="zh-CN" sz="1800" dirty="0" smtClean="0"/>
              <a:t>5  </a:t>
            </a:r>
            <a:r>
              <a:rPr lang="zh-CN" altLang="en-US" sz="1800" dirty="0" smtClean="0"/>
              <a:t>阶段</a:t>
            </a:r>
            <a:r>
              <a:rPr lang="en-US" altLang="zh-CN" sz="1800" dirty="0" smtClean="0"/>
              <a:t>6</a:t>
            </a:r>
            <a:endParaRPr lang="zh-CN" altLang="en-US" sz="1800" dirty="0"/>
          </a:p>
        </p:txBody>
      </p:sp>
      <p:sp>
        <p:nvSpPr>
          <p:cNvPr id="63" name="文本框 62"/>
          <p:cNvSpPr txBox="1"/>
          <p:nvPr/>
        </p:nvSpPr>
        <p:spPr bwMode="auto">
          <a:xfrm>
            <a:off x="2752447" y="164865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5</a:t>
            </a:r>
            <a:endParaRPr lang="zh-CN" altLang="en-US" sz="1800" dirty="0">
              <a:latin typeface="Times New Roman" panose="02020603050405020304" pitchFamily="18" charset="0"/>
              <a:cs typeface="Courier New" panose="02070309020205020404" pitchFamily="49" charset="0"/>
            </a:endParaRPr>
          </a:p>
        </p:txBody>
      </p:sp>
      <p:cxnSp>
        <p:nvCxnSpPr>
          <p:cNvPr id="64" name="直接箭头连接符 63"/>
          <p:cNvCxnSpPr/>
          <p:nvPr/>
        </p:nvCxnSpPr>
        <p:spPr bwMode="auto">
          <a:xfrm flipH="1" flipV="1">
            <a:off x="2332377" y="2708920"/>
            <a:ext cx="467236" cy="309188"/>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文本框 64"/>
          <p:cNvSpPr txBox="1"/>
          <p:nvPr/>
        </p:nvSpPr>
        <p:spPr bwMode="auto">
          <a:xfrm>
            <a:off x="2799613" y="264313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3</a:t>
            </a:r>
            <a:endParaRPr lang="zh-CN" altLang="en-US" sz="1800" dirty="0">
              <a:latin typeface="Times New Roman" panose="02020603050405020304" pitchFamily="18" charset="0"/>
              <a:cs typeface="Courier New" panose="02070309020205020404" pitchFamily="49" charset="0"/>
            </a:endParaRPr>
          </a:p>
        </p:txBody>
      </p:sp>
      <p:cxnSp>
        <p:nvCxnSpPr>
          <p:cNvPr id="66" name="直接箭头连接符 65"/>
          <p:cNvCxnSpPr/>
          <p:nvPr/>
        </p:nvCxnSpPr>
        <p:spPr bwMode="auto">
          <a:xfrm flipH="1">
            <a:off x="2332377" y="2276872"/>
            <a:ext cx="420070" cy="28979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文本框 66"/>
          <p:cNvSpPr txBox="1"/>
          <p:nvPr/>
        </p:nvSpPr>
        <p:spPr bwMode="auto">
          <a:xfrm>
            <a:off x="2032295" y="219169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0</a:t>
            </a:r>
            <a:endParaRPr lang="zh-CN" altLang="en-US" sz="1800" dirty="0">
              <a:latin typeface="Times New Roman" panose="02020603050405020304" pitchFamily="18" charset="0"/>
              <a:cs typeface="Courier New" panose="02070309020205020404" pitchFamily="49" charset="0"/>
            </a:endParaRPr>
          </a:p>
        </p:txBody>
      </p:sp>
      <mc:AlternateContent xmlns:mc="http://schemas.openxmlformats.org/markup-compatibility/2006" xmlns:a14="http://schemas.microsoft.com/office/drawing/2010/main">
        <mc:Choice Requires="a14">
          <p:sp>
            <p:nvSpPr>
              <p:cNvPr id="68" name="矩形 67"/>
              <p:cNvSpPr/>
              <p:nvPr/>
            </p:nvSpPr>
            <p:spPr>
              <a:xfrm>
                <a:off x="1475656" y="3832458"/>
                <a:ext cx="6858000" cy="53264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𝑓</m:t>
                          </m:r>
                        </m:e>
                        <m:sub>
                          <m:r>
                            <a:rPr lang="en-US" altLang="zh-CN" b="0" i="1" smtClean="0">
                              <a:latin typeface="Cambria Math" panose="02040503050406030204" pitchFamily="18" charset="0"/>
                            </a:rPr>
                            <m:t>1</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2</m:t>
                              </m:r>
                            </m:sub>
                          </m:sSub>
                        </m:e>
                      </m:d>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min</m:t>
                              </m:r>
                            </m:e>
                            <m:lim>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1</m:t>
                                  </m:r>
                                </m:sub>
                              </m:sSub>
                              <m:r>
                                <a:rPr lang="en-US" altLang="zh-CN" i="1">
                                  <a:latin typeface="Cambria Math" panose="02040503050406030204" pitchFamily="18" charset="0"/>
                                </a:rPr>
                                <m:t>)</m:t>
                              </m:r>
                              <m:r>
                                <m:rPr>
                                  <m:nor/>
                                </m:rPr>
                                <a:rPr lang="zh-CN" altLang="en-US" dirty="0"/>
                                <m:t> </m:t>
                              </m:r>
                            </m:lim>
                          </m:limLow>
                        </m:fName>
                        <m:e>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1</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Sub>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b="0" i="1" smtClean="0">
                                      <a:latin typeface="Cambria Math" panose="02040503050406030204" pitchFamily="18" charset="0"/>
                                    </a:rPr>
                                    <m:t>0</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1</m:t>
                                      </m:r>
                                    </m:sub>
                                  </m:sSub>
                                </m:e>
                              </m:d>
                            </m:e>
                          </m:d>
                        </m:e>
                      </m:func>
                    </m:oMath>
                  </m:oMathPara>
                </a14:m>
                <a:endParaRPr lang="zh-CN" altLang="en-US" dirty="0"/>
              </a:p>
            </p:txBody>
          </p:sp>
        </mc:Choice>
        <mc:Fallback xmlns="">
          <p:sp>
            <p:nvSpPr>
              <p:cNvPr id="68" name="矩形 67"/>
              <p:cNvSpPr>
                <a:spLocks noRot="1" noChangeAspect="1" noMove="1" noResize="1" noEditPoints="1" noAdjustHandles="1" noChangeArrowheads="1" noChangeShapeType="1" noTextEdit="1"/>
              </p:cNvSpPr>
              <p:nvPr/>
            </p:nvSpPr>
            <p:spPr>
              <a:xfrm>
                <a:off x="1475656" y="3832458"/>
                <a:ext cx="6858000" cy="532646"/>
              </a:xfrm>
              <a:prstGeom prst="rect">
                <a:avLst/>
              </a:prstGeom>
              <a:blipFill>
                <a:blip r:embed="rId5"/>
                <a:stretch>
                  <a:fillRect b="-804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94956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63" grpId="0" animBg="1"/>
      <p:bldP spid="65" grpId="0" animBg="1"/>
      <p:bldP spid="67" grpId="0" animBg="1"/>
      <p:bldP spid="6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270422" y="478731"/>
            <a:ext cx="6757962" cy="576163"/>
          </a:xfrm>
        </p:spPr>
        <p:txBody>
          <a:bodyPr/>
          <a:lstStyle/>
          <a:p>
            <a:pPr eaLnBrk="1" hangingPunct="1"/>
            <a:r>
              <a:rPr lang="en-US" altLang="zh-CN" dirty="0"/>
              <a:t>8.3.2  </a:t>
            </a:r>
            <a:r>
              <a:rPr lang="zh-CN" altLang="en-US" dirty="0"/>
              <a:t>顺推解法</a:t>
            </a:r>
            <a:endParaRPr lang="zh-CN" altLang="en-US" b="1" dirty="0"/>
          </a:p>
        </p:txBody>
      </p:sp>
      <p:sp>
        <p:nvSpPr>
          <p:cNvPr id="2" name="内容占位符 1"/>
          <p:cNvSpPr>
            <a:spLocks noGrp="1"/>
          </p:cNvSpPr>
          <p:nvPr>
            <p:ph idx="1"/>
          </p:nvPr>
        </p:nvSpPr>
        <p:spPr>
          <a:xfrm>
            <a:off x="539552" y="1124744"/>
            <a:ext cx="8280920" cy="1274195"/>
          </a:xfrm>
        </p:spPr>
        <p:txBody>
          <a:bodyPr/>
          <a:lstStyle/>
          <a:p>
            <a:r>
              <a:rPr lang="zh-CN" altLang="en-US" dirty="0" smtClean="0"/>
              <a:t>例</a:t>
            </a:r>
            <a:r>
              <a:rPr lang="en-US" altLang="zh-CN" dirty="0" smtClean="0"/>
              <a:t>8-1</a:t>
            </a:r>
            <a:r>
              <a:rPr lang="zh-CN" altLang="en-US" dirty="0" smtClean="0"/>
              <a:t>顺推求解</a:t>
            </a:r>
            <a:endParaRPr lang="en-US" altLang="zh-CN" dirty="0"/>
          </a:p>
          <a:p>
            <a:pPr lvl="1"/>
            <a:endParaRPr lang="zh-CN" altLang="en-US" dirty="0"/>
          </a:p>
          <a:p>
            <a:endParaRPr lang="zh-CN" altLang="en-US" dirty="0"/>
          </a:p>
        </p:txBody>
      </p:sp>
      <p:sp>
        <p:nvSpPr>
          <p:cNvPr id="18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1789861"/>
                  </p:ext>
                </p:extLst>
              </p:nvPr>
            </p:nvGraphicFramePr>
            <p:xfrm>
              <a:off x="1211741" y="3846608"/>
              <a:ext cx="7609947" cy="2560320"/>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253239">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1" i="1" smtClean="0">
                                        <a:latin typeface="Cambria Math" panose="02040503050406030204" pitchFamily="18" charset="0"/>
                                      </a:rPr>
                                      <m:t>𝑺</m:t>
                                    </m:r>
                                  </m:e>
                                  <m:sub>
                                    <m:r>
                                      <a:rPr lang="en-US" altLang="zh-CN" sz="1800" b="0" i="1" smtClean="0">
                                        <a:latin typeface="Cambria Math" panose="02040503050406030204" pitchFamily="18" charset="0"/>
                                      </a:rPr>
                                      <m:t>3</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𝐷</m:t>
                                    </m:r>
                                  </m:e>
                                  <m:sub>
                                    <m:r>
                                      <a:rPr lang="en-US" altLang="zh-CN" sz="1800" b="1" i="1" smtClean="0">
                                        <a:latin typeface="Cambria Math" panose="02040503050406030204" pitchFamily="18" charset="0"/>
                                      </a:rPr>
                                      <m:t>𝟐</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r>
                                  <a:rPr lang="en-US" altLang="zh-CN" sz="1800" i="1">
                                    <a:latin typeface="Cambria Math" panose="02040503050406030204" pitchFamily="18" charset="0"/>
                                  </a:rPr>
                                  <m:t>)</m:t>
                                </m:r>
                                <m:r>
                                  <m:rPr>
                                    <m:nor/>
                                  </m:rPr>
                                  <a:rPr lang="zh-CN" altLang="en-US" sz="1800" dirty="0"/>
                                  <m:t> </m:t>
                                </m:r>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𝟐</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𝟐</m:t>
                                        </m:r>
                                      </m:sub>
                                    </m:sSub>
                                  </m:e>
                                </m:d>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𝟏</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𝟐</m:t>
                                        </m:r>
                                      </m:sub>
                                    </m:sSub>
                                  </m:e>
                                </m:d>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𝟐</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𝟐</m:t>
                                      </m:r>
                                    </m:sub>
                                  </m:sSub>
                                </m:e>
                              </m:d>
                            </m:oMath>
                          </a14:m>
                          <a:r>
                            <a:rPr lang="en-US" altLang="zh-CN" dirty="0" smtClean="0"/>
                            <a: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𝟑</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e>
                              </m:d>
                            </m:oMath>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𝟐</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e>
                                </m:d>
                              </m:oMath>
                            </m:oMathPara>
                          </a14:m>
                          <a:endParaRPr lang="zh-CN" altLang="en-US" dirty="0"/>
                        </a:p>
                      </a:txBody>
                      <a:tcPr/>
                    </a:tc>
                    <a:tc>
                      <a:txBody>
                        <a:bodyPr/>
                        <a:lstStyle/>
                        <a:p>
                          <a:r>
                            <a:rPr lang="zh-CN" altLang="en-US" dirty="0" smtClean="0"/>
                            <a:t>最优决策</a:t>
                          </a:r>
                          <a14:m>
                            <m:oMath xmlns:m="http://schemas.openxmlformats.org/officeDocument/2006/math">
                              <m:sSubSup>
                                <m:sSubSupPr>
                                  <m:ctrlPr>
                                    <a:rPr lang="en-US" altLang="zh-CN"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up>
                                  <m:r>
                                    <a:rPr lang="en-US" altLang="zh-CN" b="1" i="1" smtClean="0">
                                      <a:latin typeface="Cambria Math" panose="02040503050406030204" pitchFamily="18" charset="0"/>
                                    </a:rPr>
                                    <m:t>∗</m:t>
                                  </m:r>
                                </m:sup>
                              </m:sSubSup>
                            </m:oMath>
                          </a14:m>
                          <a:endParaRPr lang="zh-CN" altLang="en-US" dirty="0"/>
                        </a:p>
                      </a:txBody>
                      <a:tcPr/>
                    </a:tc>
                    <a:extLst>
                      <a:ext uri="{0D108BD9-81ED-4DB2-BD59-A6C34878D82A}">
                        <a16:rowId xmlns:a16="http://schemas.microsoft.com/office/drawing/2014/main" val="37799757"/>
                      </a:ext>
                    </a:extLst>
                  </a:tr>
                  <a:tr h="362666">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i="1">
                                        <a:latin typeface="Cambria Math" panose="02040503050406030204" pitchFamily="18" charset="0"/>
                                      </a:rPr>
                                      <m:t>1</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i="1">
                                      <a:latin typeface="Cambria Math" panose="02040503050406030204" pitchFamily="18" charset="0"/>
                                    </a:rPr>
                                    <m:t>1</m:t>
                                  </m:r>
                                </m:sub>
                              </m:sSub>
                            </m:oMath>
                          </a14:m>
                          <a:endParaRPr lang="zh-CN" altLang="en-US" dirty="0"/>
                        </a:p>
                      </a:txBody>
                      <a:tcPr/>
                    </a:tc>
                    <a:tc>
                      <a:txBody>
                        <a:bodyPr/>
                        <a:lstStyle/>
                        <a:p>
                          <a:r>
                            <a:rPr lang="en-US" altLang="zh-CN" dirty="0" smtClean="0"/>
                            <a:t>1</a:t>
                          </a:r>
                          <a:endParaRPr lang="zh-CN" altLang="en-US" dirty="0"/>
                        </a:p>
                      </a:txBody>
                      <a:tcPr/>
                    </a:tc>
                    <a:tc>
                      <a:txBody>
                        <a:bodyPr/>
                        <a:lstStyle/>
                        <a:p>
                          <a:pPr algn="l"/>
                          <a:r>
                            <a:rPr lang="en-US" altLang="zh-CN" dirty="0" smtClean="0"/>
                            <a:t>5</a:t>
                          </a:r>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6</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i="1">
                                        <a:latin typeface="Cambria Math" panose="02040503050406030204" pitchFamily="18" charset="0"/>
                                      </a:rPr>
                                      <m:t>1</m:t>
                                    </m:r>
                                  </m:sub>
                                </m:sSub>
                                <m:r>
                                  <m:rPr>
                                    <m:nor/>
                                  </m:rPr>
                                  <a:rPr lang="en-US" altLang="zh-CN" dirty="0" smtClean="0"/>
                                  <m:t>−&gt;</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i="1">
                                        <a:latin typeface="Cambria Math" panose="02040503050406030204" pitchFamily="18" charset="0"/>
                                      </a:rPr>
                                      <m:t>1</m:t>
                                    </m:r>
                                  </m:sub>
                                </m:sSub>
                              </m:oMath>
                            </m:oMathPara>
                          </a14:m>
                          <a:endParaRPr lang="zh-CN" altLang="en-US" dirty="0"/>
                        </a:p>
                      </a:txBody>
                      <a:tcPr/>
                    </a:tc>
                    <a:extLst>
                      <a:ext uri="{0D108BD9-81ED-4DB2-BD59-A6C34878D82A}">
                        <a16:rowId xmlns:a16="http://schemas.microsoft.com/office/drawing/2014/main" val="3736361684"/>
                      </a:ext>
                    </a:extLst>
                  </a:tr>
                  <a:tr h="362666">
                    <a:tc rowSpan="2">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i="1">
                                        <a:latin typeface="Cambria Math" panose="02040503050406030204" pitchFamily="18" charset="0"/>
                                      </a:rPr>
                                      <m:t>2</m:t>
                                    </m:r>
                                  </m:sub>
                                </m:sSub>
                              </m:oMath>
                            </m:oMathPara>
                          </a14:m>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1</m:t>
                                  </m:r>
                                </m:sub>
                              </m:sSub>
                            </m:oMath>
                          </a14:m>
                          <a:endParaRPr lang="zh-CN" altLang="en-US" dirty="0"/>
                        </a:p>
                      </a:txBody>
                      <a:tcPr/>
                    </a:tc>
                    <a:tc>
                      <a:txBody>
                        <a:bodyPr/>
                        <a:lstStyle/>
                        <a:p>
                          <a:r>
                            <a:rPr lang="en-US" altLang="zh-CN" dirty="0" smtClean="0"/>
                            <a:t>3</a:t>
                          </a:r>
                          <a:endParaRPr lang="zh-CN" altLang="en-US" dirty="0"/>
                        </a:p>
                      </a:txBody>
                      <a:tcPr/>
                    </a:tc>
                    <a:tc>
                      <a:txBody>
                        <a:bodyPr/>
                        <a:lstStyle/>
                        <a:p>
                          <a:pPr algn="l"/>
                          <a:r>
                            <a:rPr lang="en-US" altLang="zh-CN" dirty="0" smtClean="0"/>
                            <a:t>5</a:t>
                          </a:r>
                          <a:endParaRPr lang="zh-CN" altLang="en-US" dirty="0"/>
                        </a:p>
                      </a:txBody>
                      <a:tcPr/>
                    </a:tc>
                    <a:tc>
                      <a:txBody>
                        <a:bodyPr/>
                        <a:lstStyle/>
                        <a:p>
                          <a:r>
                            <a:rPr lang="en-US" altLang="zh-CN" dirty="0" smtClean="0"/>
                            <a:t>8</a:t>
                          </a:r>
                          <a:endParaRPr lang="zh-CN" altLang="en-US" dirty="0"/>
                        </a:p>
                      </a:txBody>
                      <a:tcPr/>
                    </a:tc>
                    <a:tc rowSpan="2">
                      <a:txBody>
                        <a:bodyPr/>
                        <a:lstStyle/>
                        <a:p>
                          <a:r>
                            <a:rPr lang="en-US" altLang="zh-CN" dirty="0" smtClean="0"/>
                            <a:t>8</a:t>
                          </a:r>
                          <a:endParaRPr lang="zh-CN" altLang="en-US" dirty="0"/>
                        </a:p>
                      </a:txBody>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1</m:t>
                                  </m:r>
                                </m:sub>
                              </m:sSub>
                            </m:oMath>
                          </a14:m>
                          <a:endParaRPr lang="zh-CN" altLang="en-US" dirty="0"/>
                        </a:p>
                      </a:txBody>
                      <a:tcPr/>
                    </a:tc>
                    <a:extLst>
                      <a:ext uri="{0D108BD9-81ED-4DB2-BD59-A6C34878D82A}">
                        <a16:rowId xmlns:a16="http://schemas.microsoft.com/office/drawing/2014/main" val="1091311635"/>
                      </a:ext>
                    </a:extLst>
                  </a:tr>
                  <a:tr h="362666">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8</a:t>
                          </a:r>
                          <a:endParaRPr lang="zh-CN" altLang="en-US" dirty="0"/>
                        </a:p>
                      </a:txBody>
                      <a:tcPr/>
                    </a:tc>
                    <a:tc>
                      <a:txBody>
                        <a:bodyPr/>
                        <a:lstStyle/>
                        <a:p>
                          <a:pPr algn="l"/>
                          <a:r>
                            <a:rPr lang="en-US" altLang="zh-CN" dirty="0" smtClean="0"/>
                            <a:t>3</a:t>
                          </a:r>
                          <a:endParaRPr lang="zh-CN" altLang="en-US" dirty="0"/>
                        </a:p>
                      </a:txBody>
                      <a:tcPr/>
                    </a:tc>
                    <a:tc>
                      <a:txBody>
                        <a:bodyPr/>
                        <a:lstStyle/>
                        <a:p>
                          <a:r>
                            <a:rPr lang="en-US" altLang="zh-CN" dirty="0" smtClean="0"/>
                            <a:t>11</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744109341"/>
                      </a:ext>
                    </a:extLst>
                  </a:tr>
                  <a:tr h="362666">
                    <a:tc rowSpan="2">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3</m:t>
                                    </m:r>
                                  </m:sub>
                                </m:sSub>
                              </m:oMath>
                            </m:oMathPara>
                          </a14:m>
                          <a:endParaRPr lang="zh-CN" altLang="en-US" dirty="0"/>
                        </a:p>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3</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1</m:t>
                                  </m:r>
                                </m:sub>
                              </m:sSub>
                            </m:oMath>
                          </a14:m>
                          <a:endParaRPr lang="zh-CN" altLang="en-US" dirty="0"/>
                        </a:p>
                      </a:txBody>
                      <a:tcPr/>
                    </a:tc>
                    <a:tc>
                      <a:txBody>
                        <a:bodyPr/>
                        <a:lstStyle/>
                        <a:p>
                          <a:r>
                            <a:rPr lang="en-US" altLang="zh-CN" dirty="0" smtClean="0"/>
                            <a:t>6</a:t>
                          </a:r>
                          <a:endParaRPr lang="zh-CN" altLang="en-US" dirty="0"/>
                        </a:p>
                      </a:txBody>
                      <a:tcPr/>
                    </a:tc>
                    <a:tc>
                      <a:txBody>
                        <a:bodyPr/>
                        <a:lstStyle/>
                        <a:p>
                          <a:pPr algn="l"/>
                          <a:r>
                            <a:rPr lang="en-US" altLang="zh-CN" dirty="0" smtClean="0"/>
                            <a:t>5</a:t>
                          </a:r>
                          <a:endParaRPr lang="zh-CN" altLang="en-US" dirty="0"/>
                        </a:p>
                      </a:txBody>
                      <a:tcPr/>
                    </a:tc>
                    <a:tc>
                      <a:txBody>
                        <a:bodyPr/>
                        <a:lstStyle/>
                        <a:p>
                          <a:r>
                            <a:rPr lang="en-US" altLang="zh-CN" dirty="0" smtClean="0"/>
                            <a:t>11</a:t>
                          </a:r>
                          <a:endParaRPr lang="zh-CN" altLang="en-US" dirty="0"/>
                        </a:p>
                      </a:txBody>
                      <a:tcPr/>
                    </a:tc>
                    <a:tc rowSpan="2">
                      <a:txBody>
                        <a:bodyPr/>
                        <a:lstStyle/>
                        <a:p>
                          <a:r>
                            <a:rPr lang="en-US" altLang="zh-CN" dirty="0" smtClean="0"/>
                            <a:t>10</a:t>
                          </a:r>
                          <a:endParaRPr lang="zh-CN" altLang="en-US" dirty="0"/>
                        </a:p>
                      </a:txBody>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3</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1</m:t>
                                  </m:r>
                                </m:sub>
                              </m:sSub>
                            </m:oMath>
                          </a14:m>
                          <a:endParaRPr lang="zh-CN" altLang="en-US" dirty="0"/>
                        </a:p>
                      </a:txBody>
                      <a:tcPr/>
                    </a:tc>
                    <a:extLst>
                      <a:ext uri="{0D108BD9-81ED-4DB2-BD59-A6C34878D82A}">
                        <a16:rowId xmlns:a16="http://schemas.microsoft.com/office/drawing/2014/main" val="752238598"/>
                      </a:ext>
                    </a:extLst>
                  </a:tr>
                  <a:tr h="362666">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3</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1</m:t>
                                  </m:r>
                                </m:sub>
                              </m:sSub>
                            </m:oMath>
                          </a14:m>
                          <a:endParaRPr lang="zh-CN" altLang="en-US" dirty="0"/>
                        </a:p>
                      </a:txBody>
                      <a:tcPr/>
                    </a:tc>
                    <a:tc>
                      <a:txBody>
                        <a:bodyPr/>
                        <a:lstStyle/>
                        <a:p>
                          <a:r>
                            <a:rPr lang="en-US" altLang="zh-CN" dirty="0" smtClean="0"/>
                            <a:t>7</a:t>
                          </a:r>
                          <a:endParaRPr lang="zh-CN" altLang="en-US" dirty="0"/>
                        </a:p>
                      </a:txBody>
                      <a:tcPr/>
                    </a:tc>
                    <a:tc>
                      <a:txBody>
                        <a:bodyPr/>
                        <a:lstStyle/>
                        <a:p>
                          <a:pPr algn="l"/>
                          <a:r>
                            <a:rPr lang="en-US" altLang="zh-CN" dirty="0" smtClean="0"/>
                            <a:t>3</a:t>
                          </a:r>
                          <a:endParaRPr lang="zh-CN" altLang="en-US" dirty="0"/>
                        </a:p>
                      </a:txBody>
                      <a:tcPr/>
                    </a:tc>
                    <a:tc>
                      <a:txBody>
                        <a:bodyPr/>
                        <a:lstStyle/>
                        <a:p>
                          <a:r>
                            <a:rPr lang="en-US" altLang="zh-CN" dirty="0" smtClean="0"/>
                            <a:t>10</a:t>
                          </a:r>
                          <a:endParaRPr lang="zh-CN" altLang="en-US" dirty="0"/>
                        </a:p>
                      </a:txBody>
                      <a:tcPr/>
                    </a:tc>
                    <a:tc vMerge="1">
                      <a:txBody>
                        <a:bodyPr/>
                        <a:lstStyle/>
                        <a:p>
                          <a:endParaRPr lang="zh-CN" altLang="en-US" dirty="0"/>
                        </a:p>
                      </a:txBody>
                      <a:tcPr/>
                    </a:tc>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944060997"/>
                      </a:ext>
                    </a:extLst>
                  </a:tr>
                  <a:tr h="362666">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4</m:t>
                                    </m:r>
                                  </m:sub>
                                </m:sSub>
                              </m:oMath>
                            </m:oMathPara>
                          </a14:m>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4</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6</a:t>
                          </a:r>
                          <a:endParaRPr lang="zh-CN" altLang="en-US" dirty="0"/>
                        </a:p>
                      </a:txBody>
                      <a:tcPr/>
                    </a:tc>
                    <a:tc>
                      <a:txBody>
                        <a:bodyPr/>
                        <a:lstStyle/>
                        <a:p>
                          <a:pPr algn="l"/>
                          <a:r>
                            <a:rPr lang="en-US" altLang="zh-CN" dirty="0" smtClean="0"/>
                            <a:t>3</a:t>
                          </a:r>
                          <a:endParaRPr lang="zh-CN" altLang="en-US" dirty="0"/>
                        </a:p>
                      </a:txBody>
                      <a:tcPr/>
                    </a:tc>
                    <a:tc>
                      <a:txBody>
                        <a:bodyPr/>
                        <a:lstStyle/>
                        <a:p>
                          <a:r>
                            <a:rPr lang="en-US" altLang="zh-CN" dirty="0" smtClean="0"/>
                            <a:t>9</a:t>
                          </a:r>
                          <a:endParaRPr lang="zh-CN" altLang="en-US" dirty="0"/>
                        </a:p>
                      </a:txBody>
                      <a:tcPr/>
                    </a:tc>
                    <a:tc>
                      <a:txBody>
                        <a:bodyPr/>
                        <a:lstStyle/>
                        <a:p>
                          <a:r>
                            <a:rPr lang="en-US" altLang="zh-CN" dirty="0" smtClean="0"/>
                            <a:t>9</a:t>
                          </a:r>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4</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𝐵</m:t>
                                  </m:r>
                                </m:e>
                                <m:sub>
                                  <m:r>
                                    <a:rPr lang="en-US" altLang="zh-CN" sz="1800" b="0" i="1" smtClean="0">
                                      <a:latin typeface="Cambria Math" panose="02040503050406030204" pitchFamily="18" charset="0"/>
                                    </a:rPr>
                                    <m:t>2</m:t>
                                  </m:r>
                                </m:sub>
                              </m:sSub>
                            </m:oMath>
                          </a14:m>
                          <a:endParaRPr lang="zh-CN" altLang="en-US" dirty="0"/>
                        </a:p>
                      </a:txBody>
                      <a:tcPr/>
                    </a:tc>
                    <a:extLst>
                      <a:ext uri="{0D108BD9-81ED-4DB2-BD59-A6C34878D82A}">
                        <a16:rowId xmlns:a16="http://schemas.microsoft.com/office/drawing/2014/main" val="3274687360"/>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1789861"/>
                  </p:ext>
                </p:extLst>
              </p:nvPr>
            </p:nvGraphicFramePr>
            <p:xfrm>
              <a:off x="1211741" y="3846608"/>
              <a:ext cx="7609947" cy="2560320"/>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365760">
                    <a:tc>
                      <a:txBody>
                        <a:bodyPr/>
                        <a:lstStyle/>
                        <a:p>
                          <a:endParaRPr lang="zh-CN"/>
                        </a:p>
                      </a:txBody>
                      <a:tcPr>
                        <a:blipFill>
                          <a:blip r:embed="rId3"/>
                          <a:stretch>
                            <a:fillRect l="-1299" t="-11667" r="-1528571" b="-626667"/>
                          </a:stretch>
                        </a:blipFill>
                      </a:tcPr>
                    </a:tc>
                    <a:tc>
                      <a:txBody>
                        <a:bodyPr/>
                        <a:lstStyle/>
                        <a:p>
                          <a:endParaRPr lang="zh-CN"/>
                        </a:p>
                      </a:txBody>
                      <a:tcPr>
                        <a:blipFill>
                          <a:blip r:embed="rId3"/>
                          <a:stretch>
                            <a:fillRect l="-49367" t="-11667" r="-644937" b="-626667"/>
                          </a:stretch>
                        </a:blipFill>
                      </a:tcPr>
                    </a:tc>
                    <a:tc>
                      <a:txBody>
                        <a:bodyPr/>
                        <a:lstStyle/>
                        <a:p>
                          <a:endParaRPr lang="zh-CN"/>
                        </a:p>
                      </a:txBody>
                      <a:tcPr>
                        <a:blipFill>
                          <a:blip r:embed="rId3"/>
                          <a:stretch>
                            <a:fillRect l="-120408" t="-11667" r="-419898" b="-626667"/>
                          </a:stretch>
                        </a:blipFill>
                      </a:tcPr>
                    </a:tc>
                    <a:tc>
                      <a:txBody>
                        <a:bodyPr/>
                        <a:lstStyle/>
                        <a:p>
                          <a:endParaRPr lang="zh-CN"/>
                        </a:p>
                      </a:txBody>
                      <a:tcPr>
                        <a:blipFill>
                          <a:blip r:embed="rId3"/>
                          <a:stretch>
                            <a:fillRect l="-310791" t="-11667" r="-492086" b="-626667"/>
                          </a:stretch>
                        </a:blipFill>
                      </a:tcPr>
                    </a:tc>
                    <a:tc>
                      <a:txBody>
                        <a:bodyPr/>
                        <a:lstStyle/>
                        <a:p>
                          <a:endParaRPr lang="zh-CN"/>
                        </a:p>
                      </a:txBody>
                      <a:tcPr>
                        <a:blipFill>
                          <a:blip r:embed="rId3"/>
                          <a:stretch>
                            <a:fillRect l="-180696" t="-11667" r="-116456" b="-626667"/>
                          </a:stretch>
                        </a:blipFill>
                      </a:tcPr>
                    </a:tc>
                    <a:tc>
                      <a:txBody>
                        <a:bodyPr/>
                        <a:lstStyle/>
                        <a:p>
                          <a:endParaRPr lang="zh-CN"/>
                        </a:p>
                      </a:txBody>
                      <a:tcPr>
                        <a:blipFill>
                          <a:blip r:embed="rId3"/>
                          <a:stretch>
                            <a:fillRect l="-638129" t="-11667" r="-164748" b="-626667"/>
                          </a:stretch>
                        </a:blipFill>
                      </a:tcPr>
                    </a:tc>
                    <a:tc>
                      <a:txBody>
                        <a:bodyPr/>
                        <a:lstStyle/>
                        <a:p>
                          <a:endParaRPr lang="zh-CN"/>
                        </a:p>
                      </a:txBody>
                      <a:tcPr>
                        <a:blipFill>
                          <a:blip r:embed="rId3"/>
                          <a:stretch>
                            <a:fillRect l="-456000" t="-11667" r="-1778" b="-626667"/>
                          </a:stretch>
                        </a:blipFill>
                      </a:tcPr>
                    </a:tc>
                    <a:extLst>
                      <a:ext uri="{0D108BD9-81ED-4DB2-BD59-A6C34878D82A}">
                        <a16:rowId xmlns:a16="http://schemas.microsoft.com/office/drawing/2014/main" val="37799757"/>
                      </a:ext>
                    </a:extLst>
                  </a:tr>
                  <a:tr h="365760">
                    <a:tc>
                      <a:txBody>
                        <a:bodyPr/>
                        <a:lstStyle/>
                        <a:p>
                          <a:endParaRPr lang="zh-CN"/>
                        </a:p>
                      </a:txBody>
                      <a:tcPr>
                        <a:blipFill>
                          <a:blip r:embed="rId3"/>
                          <a:stretch>
                            <a:fillRect l="-1299" t="-111667" r="-1528571" b="-526667"/>
                          </a:stretch>
                        </a:blipFill>
                      </a:tcPr>
                    </a:tc>
                    <a:tc>
                      <a:txBody>
                        <a:bodyPr/>
                        <a:lstStyle/>
                        <a:p>
                          <a:endParaRPr lang="zh-CN"/>
                        </a:p>
                      </a:txBody>
                      <a:tcPr>
                        <a:blipFill>
                          <a:blip r:embed="rId3"/>
                          <a:stretch>
                            <a:fillRect l="-49367" t="-111667" r="-644937" b="-526667"/>
                          </a:stretch>
                        </a:blipFill>
                      </a:tcPr>
                    </a:tc>
                    <a:tc>
                      <a:txBody>
                        <a:bodyPr/>
                        <a:lstStyle/>
                        <a:p>
                          <a:r>
                            <a:rPr lang="en-US" altLang="zh-CN" dirty="0" smtClean="0"/>
                            <a:t>1</a:t>
                          </a:r>
                          <a:endParaRPr lang="zh-CN" altLang="en-US" dirty="0"/>
                        </a:p>
                      </a:txBody>
                      <a:tcPr/>
                    </a:tc>
                    <a:tc>
                      <a:txBody>
                        <a:bodyPr/>
                        <a:lstStyle/>
                        <a:p>
                          <a:pPr algn="l"/>
                          <a:r>
                            <a:rPr lang="en-US" altLang="zh-CN" dirty="0" smtClean="0"/>
                            <a:t>5</a:t>
                          </a:r>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6</a:t>
                          </a:r>
                          <a:endParaRPr lang="zh-CN" altLang="en-US" dirty="0"/>
                        </a:p>
                      </a:txBody>
                      <a:tcPr/>
                    </a:tc>
                    <a:tc>
                      <a:txBody>
                        <a:bodyPr/>
                        <a:lstStyle/>
                        <a:p>
                          <a:endParaRPr lang="zh-CN"/>
                        </a:p>
                      </a:txBody>
                      <a:tcPr>
                        <a:blipFill>
                          <a:blip r:embed="rId3"/>
                          <a:stretch>
                            <a:fillRect l="-456000" t="-111667" r="-1778" b="-526667"/>
                          </a:stretch>
                        </a:blipFill>
                      </a:tcPr>
                    </a:tc>
                    <a:extLst>
                      <a:ext uri="{0D108BD9-81ED-4DB2-BD59-A6C34878D82A}">
                        <a16:rowId xmlns:a16="http://schemas.microsoft.com/office/drawing/2014/main" val="3736361684"/>
                      </a:ext>
                    </a:extLst>
                  </a:tr>
                  <a:tr h="365760">
                    <a:tc rowSpan="2">
                      <a:txBody>
                        <a:bodyPr/>
                        <a:lstStyle/>
                        <a:p>
                          <a:endParaRPr lang="zh-CN"/>
                        </a:p>
                      </a:txBody>
                      <a:tcPr>
                        <a:blipFill>
                          <a:blip r:embed="rId3"/>
                          <a:stretch>
                            <a:fillRect l="-1299" t="-104959" r="-1528571" b="-161157"/>
                          </a:stretch>
                        </a:blipFill>
                      </a:tcPr>
                    </a:tc>
                    <a:tc>
                      <a:txBody>
                        <a:bodyPr/>
                        <a:lstStyle/>
                        <a:p>
                          <a:endParaRPr lang="zh-CN"/>
                        </a:p>
                      </a:txBody>
                      <a:tcPr>
                        <a:blipFill>
                          <a:blip r:embed="rId3"/>
                          <a:stretch>
                            <a:fillRect l="-49367" t="-211667" r="-644937" b="-426667"/>
                          </a:stretch>
                        </a:blipFill>
                      </a:tcPr>
                    </a:tc>
                    <a:tc>
                      <a:txBody>
                        <a:bodyPr/>
                        <a:lstStyle/>
                        <a:p>
                          <a:r>
                            <a:rPr lang="en-US" altLang="zh-CN" dirty="0" smtClean="0"/>
                            <a:t>3</a:t>
                          </a:r>
                          <a:endParaRPr lang="zh-CN" altLang="en-US" dirty="0"/>
                        </a:p>
                      </a:txBody>
                      <a:tcPr/>
                    </a:tc>
                    <a:tc>
                      <a:txBody>
                        <a:bodyPr/>
                        <a:lstStyle/>
                        <a:p>
                          <a:pPr algn="l"/>
                          <a:r>
                            <a:rPr lang="en-US" altLang="zh-CN" dirty="0" smtClean="0"/>
                            <a:t>5</a:t>
                          </a:r>
                          <a:endParaRPr lang="zh-CN" altLang="en-US" dirty="0"/>
                        </a:p>
                      </a:txBody>
                      <a:tcPr/>
                    </a:tc>
                    <a:tc>
                      <a:txBody>
                        <a:bodyPr/>
                        <a:lstStyle/>
                        <a:p>
                          <a:r>
                            <a:rPr lang="en-US" altLang="zh-CN" dirty="0" smtClean="0"/>
                            <a:t>8</a:t>
                          </a:r>
                          <a:endParaRPr lang="zh-CN" altLang="en-US" dirty="0"/>
                        </a:p>
                      </a:txBody>
                      <a:tcPr/>
                    </a:tc>
                    <a:tc rowSpan="2">
                      <a:txBody>
                        <a:bodyPr/>
                        <a:lstStyle/>
                        <a:p>
                          <a:r>
                            <a:rPr lang="en-US" altLang="zh-CN" dirty="0" smtClean="0"/>
                            <a:t>8</a:t>
                          </a:r>
                          <a:endParaRPr lang="zh-CN" altLang="en-US" dirty="0"/>
                        </a:p>
                      </a:txBody>
                      <a:tcPr/>
                    </a:tc>
                    <a:tc rowSpan="2">
                      <a:txBody>
                        <a:bodyPr/>
                        <a:lstStyle/>
                        <a:p>
                          <a:endParaRPr lang="zh-CN"/>
                        </a:p>
                      </a:txBody>
                      <a:tcPr>
                        <a:blipFill>
                          <a:blip r:embed="rId3"/>
                          <a:stretch>
                            <a:fillRect l="-456000" t="-104959" r="-1778" b="-161157"/>
                          </a:stretch>
                        </a:blipFill>
                      </a:tcPr>
                    </a:tc>
                    <a:extLst>
                      <a:ext uri="{0D108BD9-81ED-4DB2-BD59-A6C34878D82A}">
                        <a16:rowId xmlns:a16="http://schemas.microsoft.com/office/drawing/2014/main" val="1091311635"/>
                      </a:ext>
                    </a:extLst>
                  </a:tr>
                  <a:tr h="365760">
                    <a:tc vMerge="1">
                      <a:txBody>
                        <a:bodyPr/>
                        <a:lstStyle/>
                        <a:p>
                          <a:pPr/>
                          <a:endParaRPr lang="zh-CN" altLang="en-US" dirty="0"/>
                        </a:p>
                      </a:txBody>
                      <a:tcPr/>
                    </a:tc>
                    <a:tc>
                      <a:txBody>
                        <a:bodyPr/>
                        <a:lstStyle/>
                        <a:p>
                          <a:endParaRPr lang="zh-CN"/>
                        </a:p>
                      </a:txBody>
                      <a:tcPr>
                        <a:blipFill>
                          <a:blip r:embed="rId3"/>
                          <a:stretch>
                            <a:fillRect l="-49367" t="-306557" r="-644937" b="-319672"/>
                          </a:stretch>
                        </a:blipFill>
                      </a:tcPr>
                    </a:tc>
                    <a:tc>
                      <a:txBody>
                        <a:bodyPr/>
                        <a:lstStyle/>
                        <a:p>
                          <a:r>
                            <a:rPr lang="en-US" altLang="zh-CN" dirty="0" smtClean="0"/>
                            <a:t>8</a:t>
                          </a:r>
                          <a:endParaRPr lang="zh-CN" altLang="en-US" dirty="0"/>
                        </a:p>
                      </a:txBody>
                      <a:tcPr/>
                    </a:tc>
                    <a:tc>
                      <a:txBody>
                        <a:bodyPr/>
                        <a:lstStyle/>
                        <a:p>
                          <a:pPr algn="l"/>
                          <a:r>
                            <a:rPr lang="en-US" altLang="zh-CN" dirty="0" smtClean="0"/>
                            <a:t>3</a:t>
                          </a:r>
                          <a:endParaRPr lang="zh-CN" altLang="en-US" dirty="0"/>
                        </a:p>
                      </a:txBody>
                      <a:tcPr/>
                    </a:tc>
                    <a:tc>
                      <a:txBody>
                        <a:bodyPr/>
                        <a:lstStyle/>
                        <a:p>
                          <a:r>
                            <a:rPr lang="en-US" altLang="zh-CN" dirty="0" smtClean="0"/>
                            <a:t>11</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744109341"/>
                      </a:ext>
                    </a:extLst>
                  </a:tr>
                  <a:tr h="365760">
                    <a:tc rowSpan="2">
                      <a:txBody>
                        <a:bodyPr/>
                        <a:lstStyle/>
                        <a:p>
                          <a:endParaRPr lang="zh-CN"/>
                        </a:p>
                      </a:txBody>
                      <a:tcPr>
                        <a:blipFill>
                          <a:blip r:embed="rId3"/>
                          <a:stretch>
                            <a:fillRect l="-1299" t="-206667" r="-1528571" b="-62500"/>
                          </a:stretch>
                        </a:blipFill>
                      </a:tcPr>
                    </a:tc>
                    <a:tc>
                      <a:txBody>
                        <a:bodyPr/>
                        <a:lstStyle/>
                        <a:p>
                          <a:endParaRPr lang="zh-CN"/>
                        </a:p>
                      </a:txBody>
                      <a:tcPr>
                        <a:blipFill>
                          <a:blip r:embed="rId3"/>
                          <a:stretch>
                            <a:fillRect l="-49367" t="-413333" r="-644937" b="-225000"/>
                          </a:stretch>
                        </a:blipFill>
                      </a:tcPr>
                    </a:tc>
                    <a:tc>
                      <a:txBody>
                        <a:bodyPr/>
                        <a:lstStyle/>
                        <a:p>
                          <a:r>
                            <a:rPr lang="en-US" altLang="zh-CN" dirty="0" smtClean="0"/>
                            <a:t>6</a:t>
                          </a:r>
                          <a:endParaRPr lang="zh-CN" altLang="en-US" dirty="0"/>
                        </a:p>
                      </a:txBody>
                      <a:tcPr/>
                    </a:tc>
                    <a:tc>
                      <a:txBody>
                        <a:bodyPr/>
                        <a:lstStyle/>
                        <a:p>
                          <a:pPr algn="l"/>
                          <a:r>
                            <a:rPr lang="en-US" altLang="zh-CN" dirty="0" smtClean="0"/>
                            <a:t>5</a:t>
                          </a:r>
                          <a:endParaRPr lang="zh-CN" altLang="en-US" dirty="0"/>
                        </a:p>
                      </a:txBody>
                      <a:tcPr/>
                    </a:tc>
                    <a:tc>
                      <a:txBody>
                        <a:bodyPr/>
                        <a:lstStyle/>
                        <a:p>
                          <a:r>
                            <a:rPr lang="en-US" altLang="zh-CN" dirty="0" smtClean="0"/>
                            <a:t>11</a:t>
                          </a:r>
                          <a:endParaRPr lang="zh-CN" altLang="en-US" dirty="0"/>
                        </a:p>
                      </a:txBody>
                      <a:tcPr/>
                    </a:tc>
                    <a:tc rowSpan="2">
                      <a:txBody>
                        <a:bodyPr/>
                        <a:lstStyle/>
                        <a:p>
                          <a:r>
                            <a:rPr lang="en-US" altLang="zh-CN" dirty="0" smtClean="0"/>
                            <a:t>10</a:t>
                          </a:r>
                          <a:endParaRPr lang="zh-CN" altLang="en-US" dirty="0"/>
                        </a:p>
                      </a:txBody>
                      <a:tcPr/>
                    </a:tc>
                    <a:tc rowSpan="2">
                      <a:txBody>
                        <a:bodyPr/>
                        <a:lstStyle/>
                        <a:p>
                          <a:endParaRPr lang="zh-CN"/>
                        </a:p>
                      </a:txBody>
                      <a:tcPr>
                        <a:blipFill>
                          <a:blip r:embed="rId3"/>
                          <a:stretch>
                            <a:fillRect l="-456000" t="-206667" r="-1778" b="-62500"/>
                          </a:stretch>
                        </a:blipFill>
                      </a:tcPr>
                    </a:tc>
                    <a:extLst>
                      <a:ext uri="{0D108BD9-81ED-4DB2-BD59-A6C34878D82A}">
                        <a16:rowId xmlns:a16="http://schemas.microsoft.com/office/drawing/2014/main" val="752238598"/>
                      </a:ext>
                    </a:extLst>
                  </a:tr>
                  <a:tr h="365760">
                    <a:tc vMerge="1">
                      <a:txBody>
                        <a:bodyPr/>
                        <a:lstStyle/>
                        <a:p>
                          <a:endParaRPr lang="zh-CN" altLang="en-US" dirty="0"/>
                        </a:p>
                      </a:txBody>
                      <a:tcPr/>
                    </a:tc>
                    <a:tc>
                      <a:txBody>
                        <a:bodyPr/>
                        <a:lstStyle/>
                        <a:p>
                          <a:endParaRPr lang="zh-CN"/>
                        </a:p>
                      </a:txBody>
                      <a:tcPr>
                        <a:blipFill>
                          <a:blip r:embed="rId3"/>
                          <a:stretch>
                            <a:fillRect l="-49367" t="-513333" r="-644937" b="-125000"/>
                          </a:stretch>
                        </a:blipFill>
                      </a:tcPr>
                    </a:tc>
                    <a:tc>
                      <a:txBody>
                        <a:bodyPr/>
                        <a:lstStyle/>
                        <a:p>
                          <a:r>
                            <a:rPr lang="en-US" altLang="zh-CN" dirty="0" smtClean="0"/>
                            <a:t>7</a:t>
                          </a:r>
                          <a:endParaRPr lang="zh-CN" altLang="en-US" dirty="0"/>
                        </a:p>
                      </a:txBody>
                      <a:tcPr/>
                    </a:tc>
                    <a:tc>
                      <a:txBody>
                        <a:bodyPr/>
                        <a:lstStyle/>
                        <a:p>
                          <a:pPr algn="l"/>
                          <a:r>
                            <a:rPr lang="en-US" altLang="zh-CN" dirty="0" smtClean="0"/>
                            <a:t>3</a:t>
                          </a:r>
                          <a:endParaRPr lang="zh-CN" altLang="en-US" dirty="0"/>
                        </a:p>
                      </a:txBody>
                      <a:tcPr/>
                    </a:tc>
                    <a:tc>
                      <a:txBody>
                        <a:bodyPr/>
                        <a:lstStyle/>
                        <a:p>
                          <a:r>
                            <a:rPr lang="en-US" altLang="zh-CN" dirty="0" smtClean="0"/>
                            <a:t>10</a:t>
                          </a:r>
                          <a:endParaRPr lang="zh-CN" altLang="en-US" dirty="0"/>
                        </a:p>
                      </a:txBody>
                      <a:tcPr/>
                    </a:tc>
                    <a:tc vMerge="1">
                      <a:txBody>
                        <a:bodyPr/>
                        <a:lstStyle/>
                        <a:p>
                          <a:endParaRPr lang="zh-CN" altLang="en-US" dirty="0"/>
                        </a:p>
                      </a:txBody>
                      <a:tcPr/>
                    </a:tc>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944060997"/>
                      </a:ext>
                    </a:extLst>
                  </a:tr>
                  <a:tr h="365760">
                    <a:tc>
                      <a:txBody>
                        <a:bodyPr/>
                        <a:lstStyle/>
                        <a:p>
                          <a:endParaRPr lang="zh-CN"/>
                        </a:p>
                      </a:txBody>
                      <a:tcPr>
                        <a:blipFill>
                          <a:blip r:embed="rId3"/>
                          <a:stretch>
                            <a:fillRect l="-1299" t="-613333" r="-1528571" b="-25000"/>
                          </a:stretch>
                        </a:blipFill>
                      </a:tcPr>
                    </a:tc>
                    <a:tc>
                      <a:txBody>
                        <a:bodyPr/>
                        <a:lstStyle/>
                        <a:p>
                          <a:endParaRPr lang="zh-CN"/>
                        </a:p>
                      </a:txBody>
                      <a:tcPr>
                        <a:blipFill>
                          <a:blip r:embed="rId3"/>
                          <a:stretch>
                            <a:fillRect l="-49367" t="-613333" r="-644937" b="-25000"/>
                          </a:stretch>
                        </a:blipFill>
                      </a:tcPr>
                    </a:tc>
                    <a:tc>
                      <a:txBody>
                        <a:bodyPr/>
                        <a:lstStyle/>
                        <a:p>
                          <a:r>
                            <a:rPr lang="en-US" altLang="zh-CN" dirty="0" smtClean="0"/>
                            <a:t>6</a:t>
                          </a:r>
                          <a:endParaRPr lang="zh-CN" altLang="en-US" dirty="0"/>
                        </a:p>
                      </a:txBody>
                      <a:tcPr/>
                    </a:tc>
                    <a:tc>
                      <a:txBody>
                        <a:bodyPr/>
                        <a:lstStyle/>
                        <a:p>
                          <a:pPr algn="l"/>
                          <a:r>
                            <a:rPr lang="en-US" altLang="zh-CN" dirty="0" smtClean="0"/>
                            <a:t>3</a:t>
                          </a:r>
                          <a:endParaRPr lang="zh-CN" altLang="en-US" dirty="0"/>
                        </a:p>
                      </a:txBody>
                      <a:tcPr/>
                    </a:tc>
                    <a:tc>
                      <a:txBody>
                        <a:bodyPr/>
                        <a:lstStyle/>
                        <a:p>
                          <a:r>
                            <a:rPr lang="en-US" altLang="zh-CN" dirty="0" smtClean="0"/>
                            <a:t>9</a:t>
                          </a:r>
                          <a:endParaRPr lang="zh-CN" altLang="en-US" dirty="0"/>
                        </a:p>
                      </a:txBody>
                      <a:tcPr/>
                    </a:tc>
                    <a:tc>
                      <a:txBody>
                        <a:bodyPr/>
                        <a:lstStyle/>
                        <a:p>
                          <a:r>
                            <a:rPr lang="en-US" altLang="zh-CN" dirty="0" smtClean="0"/>
                            <a:t>9</a:t>
                          </a:r>
                          <a:endParaRPr lang="zh-CN" altLang="en-US" dirty="0"/>
                        </a:p>
                      </a:txBody>
                      <a:tcPr/>
                    </a:tc>
                    <a:tc>
                      <a:txBody>
                        <a:bodyPr/>
                        <a:lstStyle/>
                        <a:p>
                          <a:endParaRPr lang="zh-CN"/>
                        </a:p>
                      </a:txBody>
                      <a:tcPr>
                        <a:blipFill>
                          <a:blip r:embed="rId3"/>
                          <a:stretch>
                            <a:fillRect l="-456000" t="-613333" r="-1778" b="-25000"/>
                          </a:stretch>
                        </a:blipFill>
                      </a:tcPr>
                    </a:tc>
                    <a:extLst>
                      <a:ext uri="{0D108BD9-81ED-4DB2-BD59-A6C34878D82A}">
                        <a16:rowId xmlns:a16="http://schemas.microsoft.com/office/drawing/2014/main" val="3274687360"/>
                      </a:ext>
                    </a:extLst>
                  </a:tr>
                </a:tbl>
              </a:graphicData>
            </a:graphic>
          </p:graphicFrame>
        </mc:Fallback>
      </mc:AlternateContent>
      <p:sp>
        <p:nvSpPr>
          <p:cNvPr id="19" name="矩形 18"/>
          <p:cNvSpPr/>
          <p:nvPr/>
        </p:nvSpPr>
        <p:spPr>
          <a:xfrm>
            <a:off x="-26526" y="4556784"/>
            <a:ext cx="1056404" cy="341632"/>
          </a:xfrm>
          <a:prstGeom prst="rect">
            <a:avLst/>
          </a:prstGeom>
        </p:spPr>
        <p:txBody>
          <a:bodyPr wrap="square">
            <a:spAutoFit/>
          </a:bodyPr>
          <a:lstStyle/>
          <a:p>
            <a:pPr marL="0" lvl="2" defTabSz="179388" eaLnBrk="1" hangingPunct="1">
              <a:lnSpc>
                <a:spcPct val="90000"/>
              </a:lnSpc>
            </a:pPr>
            <a:r>
              <a:rPr lang="zh-CN" altLang="en-US" sz="1800" dirty="0" smtClean="0"/>
              <a:t>阶段</a:t>
            </a:r>
            <a:r>
              <a:rPr lang="en-US" altLang="zh-CN" sz="1800" dirty="0" smtClean="0"/>
              <a:t>k=2</a:t>
            </a:r>
            <a:endParaRPr lang="zh-CN" altLang="en-US" sz="1800" dirty="0"/>
          </a:p>
        </p:txBody>
      </p:sp>
      <p:pic>
        <p:nvPicPr>
          <p:cNvPr id="61"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07704" y="1556792"/>
            <a:ext cx="5113942" cy="207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Line 9"/>
          <p:cNvSpPr>
            <a:spLocks noChangeShapeType="1"/>
          </p:cNvSpPr>
          <p:nvPr/>
        </p:nvSpPr>
        <p:spPr bwMode="auto">
          <a:xfrm flipH="1">
            <a:off x="2233291" y="1778592"/>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63" name="Line 12"/>
          <p:cNvSpPr>
            <a:spLocks noChangeShapeType="1"/>
          </p:cNvSpPr>
          <p:nvPr/>
        </p:nvSpPr>
        <p:spPr bwMode="auto">
          <a:xfrm>
            <a:off x="298895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64" name="Line 12"/>
          <p:cNvSpPr>
            <a:spLocks noChangeShapeType="1"/>
          </p:cNvSpPr>
          <p:nvPr/>
        </p:nvSpPr>
        <p:spPr bwMode="auto">
          <a:xfrm>
            <a:off x="442911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65" name="Line 9"/>
          <p:cNvSpPr>
            <a:spLocks noChangeShapeType="1"/>
          </p:cNvSpPr>
          <p:nvPr/>
        </p:nvSpPr>
        <p:spPr bwMode="auto">
          <a:xfrm flipH="1">
            <a:off x="5113611" y="1772816"/>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66" name="Line 12"/>
          <p:cNvSpPr>
            <a:spLocks noChangeShapeType="1"/>
          </p:cNvSpPr>
          <p:nvPr/>
        </p:nvSpPr>
        <p:spPr bwMode="auto">
          <a:xfrm>
            <a:off x="5869270" y="1772816"/>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67" name="矩形 66"/>
          <p:cNvSpPr/>
          <p:nvPr/>
        </p:nvSpPr>
        <p:spPr>
          <a:xfrm>
            <a:off x="326241" y="3440128"/>
            <a:ext cx="6768752" cy="341632"/>
          </a:xfrm>
          <a:prstGeom prst="rect">
            <a:avLst/>
          </a:prstGeom>
        </p:spPr>
        <p:txBody>
          <a:bodyPr wrap="square">
            <a:spAutoFit/>
          </a:bodyPr>
          <a:lstStyle/>
          <a:p>
            <a:pPr lvl="2" eaLnBrk="1" hangingPunct="1">
              <a:lnSpc>
                <a:spcPct val="90000"/>
              </a:lnSpc>
            </a:pPr>
            <a:r>
              <a:rPr lang="zh-CN" altLang="en-US" sz="1800" dirty="0" smtClean="0"/>
              <a:t>阶段</a:t>
            </a:r>
            <a:r>
              <a:rPr lang="en-US" altLang="zh-CN" sz="1800" dirty="0" smtClean="0"/>
              <a:t>k</a:t>
            </a:r>
            <a:r>
              <a:rPr lang="zh-CN" altLang="en-US" sz="1800" dirty="0" smtClean="0"/>
              <a:t>： 阶段</a:t>
            </a:r>
            <a:r>
              <a:rPr lang="en-US" altLang="zh-CN" sz="1800" dirty="0" smtClean="0"/>
              <a:t>1   </a:t>
            </a:r>
            <a:r>
              <a:rPr lang="zh-CN" altLang="en-US" sz="1800" dirty="0" smtClean="0"/>
              <a:t>阶段</a:t>
            </a:r>
            <a:r>
              <a:rPr lang="en-US" altLang="zh-CN" sz="1800" dirty="0" smtClean="0"/>
              <a:t>2   </a:t>
            </a:r>
            <a:r>
              <a:rPr lang="zh-CN" altLang="en-US" sz="1800" dirty="0" smtClean="0"/>
              <a:t>阶段</a:t>
            </a:r>
            <a:r>
              <a:rPr lang="en-US" altLang="zh-CN" sz="1800" dirty="0" smtClean="0"/>
              <a:t>3  </a:t>
            </a:r>
            <a:r>
              <a:rPr lang="zh-CN" altLang="en-US" sz="1800" dirty="0" smtClean="0"/>
              <a:t>阶段</a:t>
            </a:r>
            <a:r>
              <a:rPr lang="en-US" altLang="zh-CN" sz="1800" dirty="0" smtClean="0"/>
              <a:t>4  </a:t>
            </a:r>
            <a:r>
              <a:rPr lang="zh-CN" altLang="en-US" sz="1800" dirty="0" smtClean="0"/>
              <a:t>阶段</a:t>
            </a:r>
            <a:r>
              <a:rPr lang="en-US" altLang="zh-CN" sz="1800" dirty="0" smtClean="0"/>
              <a:t>5  </a:t>
            </a:r>
            <a:r>
              <a:rPr lang="zh-CN" altLang="en-US" sz="1800" dirty="0" smtClean="0"/>
              <a:t>阶段</a:t>
            </a:r>
            <a:r>
              <a:rPr lang="en-US" altLang="zh-CN" sz="1800" dirty="0" smtClean="0"/>
              <a:t>6</a:t>
            </a:r>
            <a:endParaRPr lang="zh-CN" altLang="en-US" sz="1800" dirty="0"/>
          </a:p>
        </p:txBody>
      </p:sp>
      <p:sp>
        <p:nvSpPr>
          <p:cNvPr id="68" name="文本框 67"/>
          <p:cNvSpPr txBox="1"/>
          <p:nvPr/>
        </p:nvSpPr>
        <p:spPr bwMode="auto">
          <a:xfrm>
            <a:off x="2752447" y="164865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5</a:t>
            </a:r>
            <a:endParaRPr lang="zh-CN" altLang="en-US" sz="1800" dirty="0">
              <a:latin typeface="Times New Roman" panose="02020603050405020304" pitchFamily="18" charset="0"/>
              <a:cs typeface="Courier New" panose="02070309020205020404" pitchFamily="49" charset="0"/>
            </a:endParaRPr>
          </a:p>
        </p:txBody>
      </p:sp>
      <p:cxnSp>
        <p:nvCxnSpPr>
          <p:cNvPr id="69" name="直接箭头连接符 68"/>
          <p:cNvCxnSpPr/>
          <p:nvPr/>
        </p:nvCxnSpPr>
        <p:spPr bwMode="auto">
          <a:xfrm flipH="1" flipV="1">
            <a:off x="2332377" y="2708920"/>
            <a:ext cx="467236" cy="309188"/>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文本框 69"/>
          <p:cNvSpPr txBox="1"/>
          <p:nvPr/>
        </p:nvSpPr>
        <p:spPr bwMode="auto">
          <a:xfrm>
            <a:off x="2799613" y="264313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3</a:t>
            </a:r>
            <a:endParaRPr lang="zh-CN" altLang="en-US" sz="1800" dirty="0">
              <a:latin typeface="Times New Roman" panose="02020603050405020304" pitchFamily="18" charset="0"/>
              <a:cs typeface="Courier New" panose="02070309020205020404" pitchFamily="49" charset="0"/>
            </a:endParaRPr>
          </a:p>
        </p:txBody>
      </p:sp>
      <p:cxnSp>
        <p:nvCxnSpPr>
          <p:cNvPr id="71" name="直接箭头连接符 70"/>
          <p:cNvCxnSpPr/>
          <p:nvPr/>
        </p:nvCxnSpPr>
        <p:spPr bwMode="auto">
          <a:xfrm flipH="1">
            <a:off x="2332377" y="2276872"/>
            <a:ext cx="420070" cy="28979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文本框 71"/>
          <p:cNvSpPr txBox="1"/>
          <p:nvPr/>
        </p:nvSpPr>
        <p:spPr bwMode="auto">
          <a:xfrm>
            <a:off x="2032295" y="219169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0</a:t>
            </a:r>
            <a:endParaRPr lang="zh-CN" altLang="en-US" sz="1800" dirty="0">
              <a:latin typeface="Times New Roman" panose="02020603050405020304" pitchFamily="18" charset="0"/>
              <a:cs typeface="Courier New" panose="02070309020205020404" pitchFamily="49" charset="0"/>
            </a:endParaRPr>
          </a:p>
        </p:txBody>
      </p:sp>
      <p:sp>
        <p:nvSpPr>
          <p:cNvPr id="73" name="文本框 72"/>
          <p:cNvSpPr txBox="1"/>
          <p:nvPr/>
        </p:nvSpPr>
        <p:spPr bwMode="auto">
          <a:xfrm>
            <a:off x="3491880" y="134076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6</a:t>
            </a:r>
            <a:endParaRPr lang="zh-CN" altLang="en-US" sz="1800" dirty="0">
              <a:latin typeface="Times New Roman" panose="02020603050405020304" pitchFamily="18" charset="0"/>
              <a:cs typeface="Courier New" panose="02070309020205020404" pitchFamily="49" charset="0"/>
            </a:endParaRPr>
          </a:p>
        </p:txBody>
      </p:sp>
      <p:cxnSp>
        <p:nvCxnSpPr>
          <p:cNvPr id="74" name="直接箭头连接符 73"/>
          <p:cNvCxnSpPr/>
          <p:nvPr/>
        </p:nvCxnSpPr>
        <p:spPr bwMode="auto">
          <a:xfrm flipH="1">
            <a:off x="3050870" y="1854852"/>
            <a:ext cx="414185" cy="20593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文本框 74"/>
          <p:cNvSpPr txBox="1"/>
          <p:nvPr/>
        </p:nvSpPr>
        <p:spPr bwMode="auto">
          <a:xfrm>
            <a:off x="3479830" y="184488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8</a:t>
            </a:r>
            <a:endParaRPr lang="zh-CN" altLang="en-US" sz="1800" dirty="0">
              <a:latin typeface="Times New Roman" panose="02020603050405020304" pitchFamily="18" charset="0"/>
              <a:cs typeface="Courier New" panose="02070309020205020404" pitchFamily="49" charset="0"/>
            </a:endParaRPr>
          </a:p>
        </p:txBody>
      </p:sp>
      <p:cxnSp>
        <p:nvCxnSpPr>
          <p:cNvPr id="76" name="直接箭头连接符 75"/>
          <p:cNvCxnSpPr/>
          <p:nvPr/>
        </p:nvCxnSpPr>
        <p:spPr bwMode="auto">
          <a:xfrm flipH="1" flipV="1">
            <a:off x="3099695" y="2184198"/>
            <a:ext cx="359815" cy="82784"/>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 name="文本框 76"/>
          <p:cNvSpPr txBox="1"/>
          <p:nvPr/>
        </p:nvSpPr>
        <p:spPr bwMode="auto">
          <a:xfrm>
            <a:off x="3447122" y="2447661"/>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10</a:t>
            </a:r>
            <a:endParaRPr lang="zh-CN" altLang="en-US" sz="1800" dirty="0">
              <a:latin typeface="Times New Roman" panose="02020603050405020304" pitchFamily="18" charset="0"/>
              <a:cs typeface="Courier New" panose="02070309020205020404" pitchFamily="49" charset="0"/>
            </a:endParaRPr>
          </a:p>
        </p:txBody>
      </p:sp>
      <p:cxnSp>
        <p:nvCxnSpPr>
          <p:cNvPr id="78" name="直接箭头连接符 77"/>
          <p:cNvCxnSpPr/>
          <p:nvPr/>
        </p:nvCxnSpPr>
        <p:spPr bwMode="auto">
          <a:xfrm flipH="1">
            <a:off x="3127503" y="2925004"/>
            <a:ext cx="390603" cy="117312"/>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 name="文本框 78"/>
          <p:cNvSpPr txBox="1"/>
          <p:nvPr/>
        </p:nvSpPr>
        <p:spPr bwMode="auto">
          <a:xfrm>
            <a:off x="3531518" y="2957142"/>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9</a:t>
            </a:r>
            <a:endParaRPr lang="zh-CN" altLang="en-US" sz="1800" dirty="0">
              <a:latin typeface="Times New Roman" panose="02020603050405020304" pitchFamily="18" charset="0"/>
              <a:cs typeface="Courier New" panose="02070309020205020404" pitchFamily="49" charset="0"/>
            </a:endParaRPr>
          </a:p>
        </p:txBody>
      </p:sp>
      <p:cxnSp>
        <p:nvCxnSpPr>
          <p:cNvPr id="80" name="直接箭头连接符 79"/>
          <p:cNvCxnSpPr/>
          <p:nvPr/>
        </p:nvCxnSpPr>
        <p:spPr bwMode="auto">
          <a:xfrm flipH="1" flipV="1">
            <a:off x="3099695" y="3176823"/>
            <a:ext cx="431824" cy="160337"/>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570803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73" grpId="0" animBg="1"/>
      <p:bldP spid="75" grpId="0" animBg="1"/>
      <p:bldP spid="77" grpId="0" animBg="1"/>
      <p:bldP spid="7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270422" y="478731"/>
            <a:ext cx="6757962" cy="576163"/>
          </a:xfrm>
        </p:spPr>
        <p:txBody>
          <a:bodyPr/>
          <a:lstStyle/>
          <a:p>
            <a:pPr eaLnBrk="1" hangingPunct="1"/>
            <a:r>
              <a:rPr lang="en-US" altLang="zh-CN" dirty="0"/>
              <a:t>8.3.2  </a:t>
            </a:r>
            <a:r>
              <a:rPr lang="zh-CN" altLang="en-US" dirty="0"/>
              <a:t>顺推解法</a:t>
            </a:r>
            <a:endParaRPr lang="zh-CN" altLang="en-US" b="1" dirty="0"/>
          </a:p>
        </p:txBody>
      </p:sp>
      <p:sp>
        <p:nvSpPr>
          <p:cNvPr id="2" name="内容占位符 1"/>
          <p:cNvSpPr>
            <a:spLocks noGrp="1"/>
          </p:cNvSpPr>
          <p:nvPr>
            <p:ph idx="1"/>
          </p:nvPr>
        </p:nvSpPr>
        <p:spPr>
          <a:xfrm>
            <a:off x="539552" y="1074685"/>
            <a:ext cx="8280920" cy="1274195"/>
          </a:xfrm>
        </p:spPr>
        <p:txBody>
          <a:bodyPr/>
          <a:lstStyle/>
          <a:p>
            <a:r>
              <a:rPr lang="zh-CN" altLang="en-US" dirty="0"/>
              <a:t>例</a:t>
            </a:r>
            <a:r>
              <a:rPr lang="en-US" altLang="zh-CN" dirty="0"/>
              <a:t>8-1</a:t>
            </a:r>
            <a:r>
              <a:rPr lang="zh-CN" altLang="en-US" dirty="0"/>
              <a:t>顺推求解</a:t>
            </a:r>
            <a:endParaRPr lang="en-US" altLang="zh-CN" dirty="0"/>
          </a:p>
          <a:p>
            <a:pPr lvl="1"/>
            <a:endParaRPr lang="zh-CN" altLang="en-US" dirty="0"/>
          </a:p>
          <a:p>
            <a:endParaRPr lang="zh-CN" altLang="en-US" dirty="0"/>
          </a:p>
        </p:txBody>
      </p:sp>
      <p:sp>
        <p:nvSpPr>
          <p:cNvPr id="18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sp>
        <p:nvSpPr>
          <p:cNvPr id="19" name="矩形 18"/>
          <p:cNvSpPr/>
          <p:nvPr/>
        </p:nvSpPr>
        <p:spPr>
          <a:xfrm>
            <a:off x="-26526" y="4556784"/>
            <a:ext cx="1056404" cy="341632"/>
          </a:xfrm>
          <a:prstGeom prst="rect">
            <a:avLst/>
          </a:prstGeom>
        </p:spPr>
        <p:txBody>
          <a:bodyPr wrap="square">
            <a:spAutoFit/>
          </a:bodyPr>
          <a:lstStyle/>
          <a:p>
            <a:pPr marL="0" lvl="2" defTabSz="179388" eaLnBrk="1" hangingPunct="1">
              <a:lnSpc>
                <a:spcPct val="90000"/>
              </a:lnSpc>
            </a:pPr>
            <a:r>
              <a:rPr lang="zh-CN" altLang="en-US" sz="1800" dirty="0" smtClean="0"/>
              <a:t>阶段</a:t>
            </a:r>
            <a:r>
              <a:rPr lang="en-US" altLang="zh-CN" sz="1800" dirty="0" smtClean="0"/>
              <a:t>k=3</a:t>
            </a:r>
            <a:endParaRPr lang="zh-CN" altLang="en-US" sz="1800" dirty="0"/>
          </a:p>
        </p:txBody>
      </p:sp>
      <p:pic>
        <p:nvPicPr>
          <p:cNvPr id="56"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7704" y="1556792"/>
            <a:ext cx="5113942" cy="207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Line 9"/>
          <p:cNvSpPr>
            <a:spLocks noChangeShapeType="1"/>
          </p:cNvSpPr>
          <p:nvPr/>
        </p:nvSpPr>
        <p:spPr bwMode="auto">
          <a:xfrm flipH="1">
            <a:off x="2233291" y="1778592"/>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58" name="Line 12"/>
          <p:cNvSpPr>
            <a:spLocks noChangeShapeType="1"/>
          </p:cNvSpPr>
          <p:nvPr/>
        </p:nvSpPr>
        <p:spPr bwMode="auto">
          <a:xfrm>
            <a:off x="298895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59" name="Line 12"/>
          <p:cNvSpPr>
            <a:spLocks noChangeShapeType="1"/>
          </p:cNvSpPr>
          <p:nvPr/>
        </p:nvSpPr>
        <p:spPr bwMode="auto">
          <a:xfrm>
            <a:off x="442911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60" name="Line 9"/>
          <p:cNvSpPr>
            <a:spLocks noChangeShapeType="1"/>
          </p:cNvSpPr>
          <p:nvPr/>
        </p:nvSpPr>
        <p:spPr bwMode="auto">
          <a:xfrm flipH="1">
            <a:off x="5113611" y="1772816"/>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61" name="Line 12"/>
          <p:cNvSpPr>
            <a:spLocks noChangeShapeType="1"/>
          </p:cNvSpPr>
          <p:nvPr/>
        </p:nvSpPr>
        <p:spPr bwMode="auto">
          <a:xfrm>
            <a:off x="5869270" y="1772816"/>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62" name="矩形 61"/>
          <p:cNvSpPr/>
          <p:nvPr/>
        </p:nvSpPr>
        <p:spPr>
          <a:xfrm>
            <a:off x="326241" y="3440128"/>
            <a:ext cx="6768752" cy="341632"/>
          </a:xfrm>
          <a:prstGeom prst="rect">
            <a:avLst/>
          </a:prstGeom>
        </p:spPr>
        <p:txBody>
          <a:bodyPr wrap="square">
            <a:spAutoFit/>
          </a:bodyPr>
          <a:lstStyle/>
          <a:p>
            <a:pPr lvl="2" eaLnBrk="1" hangingPunct="1">
              <a:lnSpc>
                <a:spcPct val="90000"/>
              </a:lnSpc>
            </a:pPr>
            <a:r>
              <a:rPr lang="zh-CN" altLang="en-US" sz="1800" dirty="0" smtClean="0"/>
              <a:t>阶段</a:t>
            </a:r>
            <a:r>
              <a:rPr lang="en-US" altLang="zh-CN" sz="1800" dirty="0" smtClean="0"/>
              <a:t>k</a:t>
            </a:r>
            <a:r>
              <a:rPr lang="zh-CN" altLang="en-US" sz="1800" dirty="0" smtClean="0"/>
              <a:t>： 阶段</a:t>
            </a:r>
            <a:r>
              <a:rPr lang="en-US" altLang="zh-CN" sz="1800" dirty="0" smtClean="0"/>
              <a:t>1   </a:t>
            </a:r>
            <a:r>
              <a:rPr lang="zh-CN" altLang="en-US" sz="1800" dirty="0" smtClean="0"/>
              <a:t>阶段</a:t>
            </a:r>
            <a:r>
              <a:rPr lang="en-US" altLang="zh-CN" sz="1800" dirty="0" smtClean="0"/>
              <a:t>2   </a:t>
            </a:r>
            <a:r>
              <a:rPr lang="zh-CN" altLang="en-US" sz="1800" dirty="0" smtClean="0"/>
              <a:t>阶段</a:t>
            </a:r>
            <a:r>
              <a:rPr lang="en-US" altLang="zh-CN" sz="1800" dirty="0" smtClean="0"/>
              <a:t>3  </a:t>
            </a:r>
            <a:r>
              <a:rPr lang="zh-CN" altLang="en-US" sz="1800" dirty="0" smtClean="0"/>
              <a:t>阶段</a:t>
            </a:r>
            <a:r>
              <a:rPr lang="en-US" altLang="zh-CN" sz="1800" dirty="0" smtClean="0"/>
              <a:t>4  </a:t>
            </a:r>
            <a:r>
              <a:rPr lang="zh-CN" altLang="en-US" sz="1800" dirty="0" smtClean="0"/>
              <a:t>阶段</a:t>
            </a:r>
            <a:r>
              <a:rPr lang="en-US" altLang="zh-CN" sz="1800" dirty="0" smtClean="0"/>
              <a:t>5  </a:t>
            </a:r>
            <a:r>
              <a:rPr lang="zh-CN" altLang="en-US" sz="1800" dirty="0" smtClean="0"/>
              <a:t>阶段</a:t>
            </a:r>
            <a:r>
              <a:rPr lang="en-US" altLang="zh-CN" sz="1800" dirty="0" smtClean="0"/>
              <a:t>6</a:t>
            </a:r>
            <a:endParaRPr lang="zh-CN" altLang="en-US" sz="1800" dirty="0"/>
          </a:p>
        </p:txBody>
      </p:sp>
      <p:sp>
        <p:nvSpPr>
          <p:cNvPr id="63" name="文本框 62"/>
          <p:cNvSpPr txBox="1"/>
          <p:nvPr/>
        </p:nvSpPr>
        <p:spPr bwMode="auto">
          <a:xfrm>
            <a:off x="2752447" y="164865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5</a:t>
            </a:r>
            <a:endParaRPr lang="zh-CN" altLang="en-US" sz="1800" dirty="0">
              <a:latin typeface="Times New Roman" panose="02020603050405020304" pitchFamily="18" charset="0"/>
              <a:cs typeface="Courier New" panose="02070309020205020404" pitchFamily="49" charset="0"/>
            </a:endParaRPr>
          </a:p>
        </p:txBody>
      </p:sp>
      <p:cxnSp>
        <p:nvCxnSpPr>
          <p:cNvPr id="64" name="直接箭头连接符 63"/>
          <p:cNvCxnSpPr/>
          <p:nvPr/>
        </p:nvCxnSpPr>
        <p:spPr bwMode="auto">
          <a:xfrm flipH="1" flipV="1">
            <a:off x="2332377" y="2708920"/>
            <a:ext cx="467236" cy="309188"/>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文本框 64"/>
          <p:cNvSpPr txBox="1"/>
          <p:nvPr/>
        </p:nvSpPr>
        <p:spPr bwMode="auto">
          <a:xfrm>
            <a:off x="2799613" y="264313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3</a:t>
            </a:r>
            <a:endParaRPr lang="zh-CN" altLang="en-US" sz="1800" dirty="0">
              <a:latin typeface="Times New Roman" panose="02020603050405020304" pitchFamily="18" charset="0"/>
              <a:cs typeface="Courier New" panose="02070309020205020404" pitchFamily="49" charset="0"/>
            </a:endParaRPr>
          </a:p>
        </p:txBody>
      </p:sp>
      <p:cxnSp>
        <p:nvCxnSpPr>
          <p:cNvPr id="66" name="直接箭头连接符 65"/>
          <p:cNvCxnSpPr/>
          <p:nvPr/>
        </p:nvCxnSpPr>
        <p:spPr bwMode="auto">
          <a:xfrm flipH="1">
            <a:off x="2332377" y="2276872"/>
            <a:ext cx="420070" cy="28979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文本框 66"/>
          <p:cNvSpPr txBox="1"/>
          <p:nvPr/>
        </p:nvSpPr>
        <p:spPr bwMode="auto">
          <a:xfrm>
            <a:off x="2032295" y="219169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0</a:t>
            </a:r>
            <a:endParaRPr lang="zh-CN" altLang="en-US" sz="1800" dirty="0">
              <a:latin typeface="Times New Roman" panose="02020603050405020304" pitchFamily="18" charset="0"/>
              <a:cs typeface="Courier New" panose="02070309020205020404" pitchFamily="49" charset="0"/>
            </a:endParaRPr>
          </a:p>
        </p:txBody>
      </p:sp>
      <p:sp>
        <p:nvSpPr>
          <p:cNvPr id="68" name="文本框 67"/>
          <p:cNvSpPr txBox="1"/>
          <p:nvPr/>
        </p:nvSpPr>
        <p:spPr bwMode="auto">
          <a:xfrm>
            <a:off x="3491880" y="134076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6</a:t>
            </a:r>
            <a:endParaRPr lang="zh-CN" altLang="en-US" sz="1800" dirty="0">
              <a:latin typeface="Times New Roman" panose="02020603050405020304" pitchFamily="18" charset="0"/>
              <a:cs typeface="Courier New" panose="02070309020205020404" pitchFamily="49" charset="0"/>
            </a:endParaRPr>
          </a:p>
        </p:txBody>
      </p:sp>
      <p:cxnSp>
        <p:nvCxnSpPr>
          <p:cNvPr id="69" name="直接箭头连接符 68"/>
          <p:cNvCxnSpPr/>
          <p:nvPr/>
        </p:nvCxnSpPr>
        <p:spPr bwMode="auto">
          <a:xfrm flipH="1">
            <a:off x="3050870" y="1854852"/>
            <a:ext cx="414185" cy="20593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文本框 69"/>
          <p:cNvSpPr txBox="1"/>
          <p:nvPr/>
        </p:nvSpPr>
        <p:spPr bwMode="auto">
          <a:xfrm>
            <a:off x="3479830" y="184488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8</a:t>
            </a:r>
            <a:endParaRPr lang="zh-CN" altLang="en-US" sz="1800" dirty="0">
              <a:latin typeface="Times New Roman" panose="02020603050405020304" pitchFamily="18" charset="0"/>
              <a:cs typeface="Courier New" panose="02070309020205020404" pitchFamily="49" charset="0"/>
            </a:endParaRPr>
          </a:p>
        </p:txBody>
      </p:sp>
      <p:cxnSp>
        <p:nvCxnSpPr>
          <p:cNvPr id="71" name="直接箭头连接符 70"/>
          <p:cNvCxnSpPr/>
          <p:nvPr/>
        </p:nvCxnSpPr>
        <p:spPr bwMode="auto">
          <a:xfrm flipH="1" flipV="1">
            <a:off x="3099695" y="2184198"/>
            <a:ext cx="359815" cy="82784"/>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文本框 71"/>
          <p:cNvSpPr txBox="1"/>
          <p:nvPr/>
        </p:nvSpPr>
        <p:spPr bwMode="auto">
          <a:xfrm>
            <a:off x="3447122" y="2447661"/>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10</a:t>
            </a:r>
            <a:endParaRPr lang="zh-CN" altLang="en-US" sz="1800" dirty="0">
              <a:latin typeface="Times New Roman" panose="02020603050405020304" pitchFamily="18" charset="0"/>
              <a:cs typeface="Courier New" panose="02070309020205020404" pitchFamily="49" charset="0"/>
            </a:endParaRPr>
          </a:p>
        </p:txBody>
      </p:sp>
      <p:cxnSp>
        <p:nvCxnSpPr>
          <p:cNvPr id="73" name="直接箭头连接符 72"/>
          <p:cNvCxnSpPr/>
          <p:nvPr/>
        </p:nvCxnSpPr>
        <p:spPr bwMode="auto">
          <a:xfrm flipH="1">
            <a:off x="3127503" y="2925004"/>
            <a:ext cx="390603" cy="117312"/>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文本框 73"/>
          <p:cNvSpPr txBox="1"/>
          <p:nvPr/>
        </p:nvSpPr>
        <p:spPr bwMode="auto">
          <a:xfrm>
            <a:off x="3531518" y="2957142"/>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9</a:t>
            </a:r>
            <a:endParaRPr lang="zh-CN" altLang="en-US" sz="1800" dirty="0">
              <a:latin typeface="Times New Roman" panose="02020603050405020304" pitchFamily="18" charset="0"/>
              <a:cs typeface="Courier New" panose="02070309020205020404" pitchFamily="49" charset="0"/>
            </a:endParaRPr>
          </a:p>
        </p:txBody>
      </p:sp>
      <p:cxnSp>
        <p:nvCxnSpPr>
          <p:cNvPr id="75" name="直接箭头连接符 74"/>
          <p:cNvCxnSpPr/>
          <p:nvPr/>
        </p:nvCxnSpPr>
        <p:spPr bwMode="auto">
          <a:xfrm flipH="1" flipV="1">
            <a:off x="3099695" y="3176823"/>
            <a:ext cx="431824" cy="160337"/>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3723632718"/>
                  </p:ext>
                </p:extLst>
              </p:nvPr>
            </p:nvGraphicFramePr>
            <p:xfrm>
              <a:off x="1115616" y="3501008"/>
              <a:ext cx="7488832" cy="3291840"/>
            </p:xfrm>
            <a:graphic>
              <a:graphicData uri="http://schemas.openxmlformats.org/drawingml/2006/table">
                <a:tbl>
                  <a:tblPr firstRow="1" bandRow="1">
                    <a:tableStyleId>{5C22544A-7EE6-4342-B048-85BDC9FD1C3A}</a:tableStyleId>
                  </a:tblPr>
                  <a:tblGrid>
                    <a:gridCol w="459921">
                      <a:extLst>
                        <a:ext uri="{9D8B030D-6E8A-4147-A177-3AD203B41FA5}">
                          <a16:colId xmlns:a16="http://schemas.microsoft.com/office/drawing/2014/main" val="1816936163"/>
                        </a:ext>
                      </a:extLst>
                    </a:gridCol>
                    <a:gridCol w="950089">
                      <a:extLst>
                        <a:ext uri="{9D8B030D-6E8A-4147-A177-3AD203B41FA5}">
                          <a16:colId xmlns:a16="http://schemas.microsoft.com/office/drawing/2014/main" val="1250546864"/>
                        </a:ext>
                      </a:extLst>
                    </a:gridCol>
                    <a:gridCol w="1173675">
                      <a:extLst>
                        <a:ext uri="{9D8B030D-6E8A-4147-A177-3AD203B41FA5}">
                          <a16:colId xmlns:a16="http://schemas.microsoft.com/office/drawing/2014/main" val="3148481169"/>
                        </a:ext>
                      </a:extLst>
                    </a:gridCol>
                    <a:gridCol w="832108">
                      <a:extLst>
                        <a:ext uri="{9D8B030D-6E8A-4147-A177-3AD203B41FA5}">
                          <a16:colId xmlns:a16="http://schemas.microsoft.com/office/drawing/2014/main" val="644265878"/>
                        </a:ext>
                      </a:extLst>
                    </a:gridCol>
                    <a:gridCol w="1894554">
                      <a:extLst>
                        <a:ext uri="{9D8B030D-6E8A-4147-A177-3AD203B41FA5}">
                          <a16:colId xmlns:a16="http://schemas.microsoft.com/office/drawing/2014/main" val="938889560"/>
                        </a:ext>
                      </a:extLst>
                    </a:gridCol>
                    <a:gridCol w="832108">
                      <a:extLst>
                        <a:ext uri="{9D8B030D-6E8A-4147-A177-3AD203B41FA5}">
                          <a16:colId xmlns:a16="http://schemas.microsoft.com/office/drawing/2014/main" val="1613744912"/>
                        </a:ext>
                      </a:extLst>
                    </a:gridCol>
                    <a:gridCol w="1346377">
                      <a:extLst>
                        <a:ext uri="{9D8B030D-6E8A-4147-A177-3AD203B41FA5}">
                          <a16:colId xmlns:a16="http://schemas.microsoft.com/office/drawing/2014/main" val="2765978471"/>
                        </a:ext>
                      </a:extLst>
                    </a:gridCol>
                  </a:tblGrid>
                  <a:tr h="284701">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1" i="1" smtClean="0">
                                        <a:latin typeface="Cambria Math" panose="02040503050406030204" pitchFamily="18" charset="0"/>
                                      </a:rPr>
                                      <m:t>𝑺</m:t>
                                    </m:r>
                                  </m:e>
                                  <m:sub>
                                    <m:r>
                                      <a:rPr lang="en-US" altLang="zh-CN" sz="1800" b="0" i="1" smtClean="0">
                                        <a:latin typeface="Cambria Math" panose="02040503050406030204" pitchFamily="18" charset="0"/>
                                      </a:rPr>
                                      <m:t>4</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𝐷</m:t>
                                    </m:r>
                                  </m:e>
                                  <m:sub>
                                    <m:r>
                                      <a:rPr lang="en-US" altLang="zh-CN" sz="1800" b="1" i="1" smtClean="0">
                                        <a:latin typeface="Cambria Math" panose="02040503050406030204" pitchFamily="18" charset="0"/>
                                      </a:rPr>
                                      <m:t>𝟑</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𝟒</m:t>
                                    </m:r>
                                  </m:sub>
                                </m:sSub>
                                <m:r>
                                  <a:rPr lang="en-US" altLang="zh-CN" sz="1800" i="1">
                                    <a:latin typeface="Cambria Math" panose="02040503050406030204" pitchFamily="18" charset="0"/>
                                  </a:rPr>
                                  <m:t>)</m:t>
                                </m:r>
                                <m:r>
                                  <m:rPr>
                                    <m:nor/>
                                  </m:rPr>
                                  <a:rPr lang="zh-CN" altLang="en-US" sz="1800" dirty="0"/>
                                  <m:t> </m:t>
                                </m:r>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𝟑</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𝟒</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𝟑</m:t>
                                        </m:r>
                                      </m:sub>
                                    </m:sSub>
                                  </m:e>
                                </m:d>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𝟐</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e>
                                </m:d>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𝟑</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𝟑</m:t>
                                      </m:r>
                                    </m:sub>
                                  </m:sSub>
                                </m:e>
                              </m:d>
                            </m:oMath>
                          </a14:m>
                          <a:r>
                            <a:rPr lang="en-US" altLang="zh-CN" dirty="0" smtClean="0"/>
                            <a: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𝟐</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e>
                              </m:d>
                            </m:oMath>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𝟑</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𝟒</m:t>
                                        </m:r>
                                      </m:sub>
                                    </m:sSub>
                                  </m:e>
                                </m:d>
                              </m:oMath>
                            </m:oMathPara>
                          </a14:m>
                          <a:endParaRPr lang="zh-CN" altLang="en-US" dirty="0"/>
                        </a:p>
                      </a:txBody>
                      <a:tcPr/>
                    </a:tc>
                    <a:tc>
                      <a:txBody>
                        <a:bodyPr/>
                        <a:lstStyle/>
                        <a:p>
                          <a:r>
                            <a:rPr lang="zh-CN" altLang="en-US" dirty="0" smtClean="0"/>
                            <a:t>最优决策</a:t>
                          </a:r>
                          <a14:m>
                            <m:oMath xmlns:m="http://schemas.openxmlformats.org/officeDocument/2006/math">
                              <m:sSubSup>
                                <m:sSubSupPr>
                                  <m:ctrlPr>
                                    <a:rPr lang="en-US" altLang="zh-CN"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sub>
                                <m:sup>
                                  <m:r>
                                    <a:rPr lang="en-US" altLang="zh-CN" b="1" i="1" smtClean="0">
                                      <a:latin typeface="Cambria Math" panose="02040503050406030204" pitchFamily="18" charset="0"/>
                                    </a:rPr>
                                    <m:t>∗</m:t>
                                  </m:r>
                                </m:sup>
                              </m:sSubSup>
                            </m:oMath>
                          </a14:m>
                          <a:endParaRPr lang="zh-CN" altLang="en-US" dirty="0"/>
                        </a:p>
                      </a:txBody>
                      <a:tcPr/>
                    </a:tc>
                    <a:extLst>
                      <a:ext uri="{0D108BD9-81ED-4DB2-BD59-A6C34878D82A}">
                        <a16:rowId xmlns:a16="http://schemas.microsoft.com/office/drawing/2014/main" val="37799757"/>
                      </a:ext>
                    </a:extLst>
                  </a:tr>
                  <a:tr h="284701">
                    <a:tc rowSpan="2">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1</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i="1">
                                      <a:latin typeface="Cambria Math" panose="02040503050406030204" pitchFamily="18" charset="0"/>
                                    </a:rPr>
                                    <m:t>1</m:t>
                                  </m:r>
                                </m:sub>
                              </m:sSub>
                            </m:oMath>
                          </a14:m>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12</a:t>
                          </a:r>
                          <a:endParaRPr lang="zh-CN" altLang="en-US" dirty="0"/>
                        </a:p>
                      </a:txBody>
                      <a:tcPr/>
                    </a:tc>
                    <a:tc rowSpan="2">
                      <a:txBody>
                        <a:bodyPr/>
                        <a:lstStyle/>
                        <a:p>
                          <a:pPr algn="l"/>
                          <a:r>
                            <a:rPr lang="en-US" altLang="zh-CN" dirty="0" smtClean="0"/>
                            <a:t>11</a:t>
                          </a:r>
                          <a:endParaRPr lang="zh-CN" altLang="en-US" dirty="0"/>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1</m:t>
                                    </m:r>
                                  </m:sub>
                                </m:sSub>
                                <m:r>
                                  <m:rPr>
                                    <m:nor/>
                                  </m:rPr>
                                  <a:rPr lang="en-US" altLang="zh-CN" dirty="0" smtClean="0"/>
                                  <m:t>−&gt;</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2</m:t>
                                    </m:r>
                                  </m:sub>
                                </m:sSub>
                              </m:oMath>
                            </m:oMathPara>
                          </a14:m>
                          <a:endParaRPr lang="zh-CN" altLang="en-US" dirty="0"/>
                        </a:p>
                      </a:txBody>
                      <a:tcPr/>
                    </a:tc>
                    <a:extLst>
                      <a:ext uri="{0D108BD9-81ED-4DB2-BD59-A6C34878D82A}">
                        <a16:rowId xmlns:a16="http://schemas.microsoft.com/office/drawing/2014/main" val="3736361684"/>
                      </a:ext>
                    </a:extLst>
                  </a:tr>
                  <a:tr h="284701">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11</a:t>
                          </a:r>
                          <a:endParaRPr lang="zh-CN" altLang="en-US" dirty="0"/>
                        </a:p>
                      </a:txBody>
                      <a:tcPr/>
                    </a:tc>
                    <a:tc vMerge="1">
                      <a:txBody>
                        <a:bodyPr/>
                        <a:lstStyle/>
                        <a:p>
                          <a:pPr algn="l"/>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91311635"/>
                      </a:ext>
                    </a:extLst>
                  </a:tr>
                  <a:tr h="284701">
                    <a:tc rowSpan="4">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2</m:t>
                                    </m:r>
                                  </m:sub>
                                </m:sSub>
                              </m:oMath>
                            </m:oMathPara>
                          </a14:m>
                          <a:endParaRPr lang="zh-CN" altLang="en-US" dirty="0"/>
                        </a:p>
                        <a:p>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i="1">
                                      <a:latin typeface="Cambria Math" panose="02040503050406030204" pitchFamily="18" charset="0"/>
                                    </a:rPr>
                                    <m:t>1</m:t>
                                  </m:r>
                                </m:sub>
                              </m:sSub>
                            </m:oMath>
                          </a14:m>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14</a:t>
                          </a:r>
                          <a:endParaRPr lang="zh-CN" altLang="en-US" dirty="0"/>
                        </a:p>
                      </a:txBody>
                      <a:tcPr/>
                    </a:tc>
                    <a:tc rowSpan="4">
                      <a:txBody>
                        <a:bodyPr/>
                        <a:lstStyle/>
                        <a:p>
                          <a:pPr algn="l"/>
                          <a:r>
                            <a:rPr lang="en-US" altLang="zh-CN" dirty="0" smtClean="0"/>
                            <a:t>13</a:t>
                          </a:r>
                          <a:endParaRPr lang="zh-CN" altLang="en-US" dirty="0"/>
                        </a:p>
                      </a:txBody>
                      <a:tcPr/>
                    </a:tc>
                    <a:tc row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2</m:t>
                                  </m:r>
                                </m:sub>
                              </m:sSub>
                            </m:oMath>
                          </a14:m>
                          <a:endParaRPr lang="en-US" altLang="zh-CN" dirty="0" smtClean="0"/>
                        </a:p>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3</m:t>
                                  </m:r>
                                </m:sub>
                              </m:sSub>
                            </m:oMath>
                          </a14:m>
                          <a:endParaRPr lang="zh-CN" altLang="en-US" dirty="0"/>
                        </a:p>
                      </a:txBody>
                      <a:tcPr/>
                    </a:tc>
                    <a:extLst>
                      <a:ext uri="{0D108BD9-81ED-4DB2-BD59-A6C34878D82A}">
                        <a16:rowId xmlns:a16="http://schemas.microsoft.com/office/drawing/2014/main" val="752238598"/>
                      </a:ext>
                    </a:extLst>
                  </a:tr>
                  <a:tr h="284701">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13</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944060997"/>
                      </a:ext>
                    </a:extLst>
                  </a:tr>
                  <a:tr h="284701">
                    <a:tc vMerge="1">
                      <a:txBody>
                        <a:bodyPr/>
                        <a:lstStyle/>
                        <a:p>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3</m:t>
                                  </m:r>
                                </m:sub>
                              </m:sSub>
                            </m:oMath>
                          </a14:m>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10</a:t>
                          </a:r>
                          <a:endParaRPr lang="zh-CN" altLang="en-US" dirty="0"/>
                        </a:p>
                      </a:txBody>
                      <a:tcPr/>
                    </a:tc>
                    <a:tc>
                      <a:txBody>
                        <a:bodyPr/>
                        <a:lstStyle/>
                        <a:p>
                          <a:r>
                            <a:rPr lang="en-US" altLang="zh-CN" dirty="0" smtClean="0"/>
                            <a:t>13</a:t>
                          </a:r>
                          <a:endParaRPr lang="zh-CN" altLang="en-US" dirty="0"/>
                        </a:p>
                      </a:txBody>
                      <a:tcPr/>
                    </a:tc>
                    <a:tc vMerge="1">
                      <a:txBody>
                        <a:bodyPr/>
                        <a:lstStyle/>
                        <a:p>
                          <a:pPr algn="l"/>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80564706"/>
                      </a:ext>
                    </a:extLst>
                  </a:tr>
                  <a:tr h="284701">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4</m:t>
                                  </m:r>
                                </m:sub>
                              </m:sSub>
                            </m:oMath>
                          </a14:m>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9</a:t>
                          </a:r>
                          <a:endParaRPr lang="zh-CN" altLang="en-US" dirty="0"/>
                        </a:p>
                      </a:txBody>
                      <a:tcPr/>
                    </a:tc>
                    <a:tc>
                      <a:txBody>
                        <a:bodyPr/>
                        <a:lstStyle/>
                        <a:p>
                          <a:r>
                            <a:rPr lang="en-US" altLang="zh-CN" dirty="0" smtClean="0"/>
                            <a:t>17</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74687360"/>
                      </a:ext>
                    </a:extLst>
                  </a:tr>
                  <a:tr h="284701">
                    <a:tc rowSpan="2">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3</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3</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3</m:t>
                                  </m:r>
                                </m:sub>
                              </m:sSub>
                            </m:oMath>
                          </a14:m>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10</a:t>
                          </a:r>
                          <a:endParaRPr lang="zh-CN" altLang="en-US" dirty="0"/>
                        </a:p>
                      </a:txBody>
                      <a:tcPr/>
                    </a:tc>
                    <a:tc>
                      <a:txBody>
                        <a:bodyPr/>
                        <a:lstStyle/>
                        <a:p>
                          <a:r>
                            <a:rPr lang="en-US" altLang="zh-CN" dirty="0" smtClean="0"/>
                            <a:t>13</a:t>
                          </a:r>
                          <a:endParaRPr lang="zh-CN" altLang="en-US" dirty="0"/>
                        </a:p>
                      </a:txBody>
                      <a:tcPr/>
                    </a:tc>
                    <a:tc rowSpan="2">
                      <a:txBody>
                        <a:bodyPr/>
                        <a:lstStyle/>
                        <a:p>
                          <a:pPr algn="l"/>
                          <a:r>
                            <a:rPr lang="en-US" altLang="zh-CN" dirty="0" smtClean="0"/>
                            <a:t>13</a:t>
                          </a:r>
                          <a:endParaRPr lang="zh-CN" altLang="en-US" dirty="0"/>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3</m:t>
                                    </m:r>
                                  </m:sub>
                                </m:sSub>
                                <m:r>
                                  <m:rPr>
                                    <m:nor/>
                                  </m:rPr>
                                  <a:rPr lang="en-US" altLang="zh-CN" dirty="0" smtClean="0"/>
                                  <m:t>−&gt;</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3</m:t>
                                    </m:r>
                                  </m:sub>
                                </m:sSub>
                              </m:oMath>
                            </m:oMathPara>
                          </a14:m>
                          <a:endParaRPr lang="en-US" altLang="zh-CN" dirty="0" smtClean="0"/>
                        </a:p>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3</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4</m:t>
                                  </m:r>
                                </m:sub>
                              </m:sSub>
                            </m:oMath>
                          </a14:m>
                          <a:endParaRPr lang="zh-CN" altLang="en-US" dirty="0"/>
                        </a:p>
                      </a:txBody>
                      <a:tcPr/>
                    </a:tc>
                    <a:extLst>
                      <a:ext uri="{0D108BD9-81ED-4DB2-BD59-A6C34878D82A}">
                        <a16:rowId xmlns:a16="http://schemas.microsoft.com/office/drawing/2014/main" val="2213408945"/>
                      </a:ext>
                    </a:extLst>
                  </a:tr>
                  <a:tr h="284701">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3</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𝐶</m:t>
                                  </m:r>
                                </m:e>
                                <m:sub>
                                  <m:r>
                                    <a:rPr lang="en-US" altLang="zh-CN" sz="1800" b="0" i="1" smtClean="0">
                                      <a:latin typeface="Cambria Math" panose="02040503050406030204" pitchFamily="18" charset="0"/>
                                    </a:rPr>
                                    <m:t>4</m:t>
                                  </m:r>
                                </m:sub>
                              </m:sSub>
                            </m:oMath>
                          </a14:m>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9</a:t>
                          </a:r>
                          <a:endParaRPr lang="zh-CN" altLang="en-US" dirty="0"/>
                        </a:p>
                      </a:txBody>
                      <a:tcPr/>
                    </a:tc>
                    <a:tc>
                      <a:txBody>
                        <a:bodyPr/>
                        <a:lstStyle/>
                        <a:p>
                          <a:r>
                            <a:rPr lang="en-US" altLang="zh-CN" dirty="0" smtClean="0"/>
                            <a:t>13</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205811890"/>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3723632718"/>
                  </p:ext>
                </p:extLst>
              </p:nvPr>
            </p:nvGraphicFramePr>
            <p:xfrm>
              <a:off x="1115616" y="3501008"/>
              <a:ext cx="7488832" cy="3291840"/>
            </p:xfrm>
            <a:graphic>
              <a:graphicData uri="http://schemas.openxmlformats.org/drawingml/2006/table">
                <a:tbl>
                  <a:tblPr firstRow="1" bandRow="1">
                    <a:tableStyleId>{5C22544A-7EE6-4342-B048-85BDC9FD1C3A}</a:tableStyleId>
                  </a:tblPr>
                  <a:tblGrid>
                    <a:gridCol w="459921">
                      <a:extLst>
                        <a:ext uri="{9D8B030D-6E8A-4147-A177-3AD203B41FA5}">
                          <a16:colId xmlns:a16="http://schemas.microsoft.com/office/drawing/2014/main" val="1816936163"/>
                        </a:ext>
                      </a:extLst>
                    </a:gridCol>
                    <a:gridCol w="950089">
                      <a:extLst>
                        <a:ext uri="{9D8B030D-6E8A-4147-A177-3AD203B41FA5}">
                          <a16:colId xmlns:a16="http://schemas.microsoft.com/office/drawing/2014/main" val="1250546864"/>
                        </a:ext>
                      </a:extLst>
                    </a:gridCol>
                    <a:gridCol w="1173675">
                      <a:extLst>
                        <a:ext uri="{9D8B030D-6E8A-4147-A177-3AD203B41FA5}">
                          <a16:colId xmlns:a16="http://schemas.microsoft.com/office/drawing/2014/main" val="3148481169"/>
                        </a:ext>
                      </a:extLst>
                    </a:gridCol>
                    <a:gridCol w="832108">
                      <a:extLst>
                        <a:ext uri="{9D8B030D-6E8A-4147-A177-3AD203B41FA5}">
                          <a16:colId xmlns:a16="http://schemas.microsoft.com/office/drawing/2014/main" val="644265878"/>
                        </a:ext>
                      </a:extLst>
                    </a:gridCol>
                    <a:gridCol w="1894554">
                      <a:extLst>
                        <a:ext uri="{9D8B030D-6E8A-4147-A177-3AD203B41FA5}">
                          <a16:colId xmlns:a16="http://schemas.microsoft.com/office/drawing/2014/main" val="938889560"/>
                        </a:ext>
                      </a:extLst>
                    </a:gridCol>
                    <a:gridCol w="832108">
                      <a:extLst>
                        <a:ext uri="{9D8B030D-6E8A-4147-A177-3AD203B41FA5}">
                          <a16:colId xmlns:a16="http://schemas.microsoft.com/office/drawing/2014/main" val="1613744912"/>
                        </a:ext>
                      </a:extLst>
                    </a:gridCol>
                    <a:gridCol w="1346377">
                      <a:extLst>
                        <a:ext uri="{9D8B030D-6E8A-4147-A177-3AD203B41FA5}">
                          <a16:colId xmlns:a16="http://schemas.microsoft.com/office/drawing/2014/main" val="2765978471"/>
                        </a:ext>
                      </a:extLst>
                    </a:gridCol>
                  </a:tblGrid>
                  <a:tr h="365760">
                    <a:tc>
                      <a:txBody>
                        <a:bodyPr/>
                        <a:lstStyle/>
                        <a:p>
                          <a:endParaRPr lang="zh-CN"/>
                        </a:p>
                      </a:txBody>
                      <a:tcPr>
                        <a:blipFill>
                          <a:blip r:embed="rId4"/>
                          <a:stretch>
                            <a:fillRect l="-2667" t="-13333" r="-1544000" b="-826667"/>
                          </a:stretch>
                        </a:blipFill>
                      </a:tcPr>
                    </a:tc>
                    <a:tc>
                      <a:txBody>
                        <a:bodyPr/>
                        <a:lstStyle/>
                        <a:p>
                          <a:endParaRPr lang="zh-CN"/>
                        </a:p>
                      </a:txBody>
                      <a:tcPr>
                        <a:blipFill>
                          <a:blip r:embed="rId4"/>
                          <a:stretch>
                            <a:fillRect l="-49359" t="-13333" r="-642308" b="-826667"/>
                          </a:stretch>
                        </a:blipFill>
                      </a:tcPr>
                    </a:tc>
                    <a:tc>
                      <a:txBody>
                        <a:bodyPr/>
                        <a:lstStyle/>
                        <a:p>
                          <a:endParaRPr lang="zh-CN"/>
                        </a:p>
                      </a:txBody>
                      <a:tcPr>
                        <a:blipFill>
                          <a:blip r:embed="rId4"/>
                          <a:stretch>
                            <a:fillRect l="-120725" t="-13333" r="-419171" b="-826667"/>
                          </a:stretch>
                        </a:blipFill>
                      </a:tcPr>
                    </a:tc>
                    <a:tc>
                      <a:txBody>
                        <a:bodyPr/>
                        <a:lstStyle/>
                        <a:p>
                          <a:endParaRPr lang="zh-CN"/>
                        </a:p>
                      </a:txBody>
                      <a:tcPr>
                        <a:blipFill>
                          <a:blip r:embed="rId4"/>
                          <a:stretch>
                            <a:fillRect l="-310949" t="-13333" r="-490511" b="-826667"/>
                          </a:stretch>
                        </a:blipFill>
                      </a:tcPr>
                    </a:tc>
                    <a:tc>
                      <a:txBody>
                        <a:bodyPr/>
                        <a:lstStyle/>
                        <a:p>
                          <a:endParaRPr lang="zh-CN"/>
                        </a:p>
                      </a:txBody>
                      <a:tcPr>
                        <a:blipFill>
                          <a:blip r:embed="rId4"/>
                          <a:stretch>
                            <a:fillRect l="-181613" t="-13333" r="-116774" b="-826667"/>
                          </a:stretch>
                        </a:blipFill>
                      </a:tcPr>
                    </a:tc>
                    <a:tc>
                      <a:txBody>
                        <a:bodyPr/>
                        <a:lstStyle/>
                        <a:p>
                          <a:endParaRPr lang="zh-CN"/>
                        </a:p>
                      </a:txBody>
                      <a:tcPr>
                        <a:blipFill>
                          <a:blip r:embed="rId4"/>
                          <a:stretch>
                            <a:fillRect l="-637226" t="-13333" r="-164234" b="-826667"/>
                          </a:stretch>
                        </a:blipFill>
                      </a:tcPr>
                    </a:tc>
                    <a:tc>
                      <a:txBody>
                        <a:bodyPr/>
                        <a:lstStyle/>
                        <a:p>
                          <a:endParaRPr lang="zh-CN"/>
                        </a:p>
                      </a:txBody>
                      <a:tcPr>
                        <a:blipFill>
                          <a:blip r:embed="rId4"/>
                          <a:stretch>
                            <a:fillRect l="-457014" t="-13333" r="-1810" b="-826667"/>
                          </a:stretch>
                        </a:blipFill>
                      </a:tcPr>
                    </a:tc>
                    <a:extLst>
                      <a:ext uri="{0D108BD9-81ED-4DB2-BD59-A6C34878D82A}">
                        <a16:rowId xmlns:a16="http://schemas.microsoft.com/office/drawing/2014/main" val="37799757"/>
                      </a:ext>
                    </a:extLst>
                  </a:tr>
                  <a:tr h="365760">
                    <a:tc rowSpan="2">
                      <a:txBody>
                        <a:bodyPr/>
                        <a:lstStyle/>
                        <a:p>
                          <a:endParaRPr lang="zh-CN"/>
                        </a:p>
                      </a:txBody>
                      <a:tcPr>
                        <a:blipFill>
                          <a:blip r:embed="rId4"/>
                          <a:stretch>
                            <a:fillRect l="-2667" t="-56667" r="-1544000" b="-313333"/>
                          </a:stretch>
                        </a:blipFill>
                      </a:tcPr>
                    </a:tc>
                    <a:tc>
                      <a:txBody>
                        <a:bodyPr/>
                        <a:lstStyle/>
                        <a:p>
                          <a:endParaRPr lang="zh-CN"/>
                        </a:p>
                      </a:txBody>
                      <a:tcPr>
                        <a:blipFill>
                          <a:blip r:embed="rId4"/>
                          <a:stretch>
                            <a:fillRect l="-49359" t="-113333" r="-642308" b="-726667"/>
                          </a:stretch>
                        </a:blipFill>
                      </a:tcPr>
                    </a:tc>
                    <a:tc>
                      <a:txBody>
                        <a:bodyPr/>
                        <a:lstStyle/>
                        <a:p>
                          <a:r>
                            <a:rPr lang="en-US" altLang="zh-CN" dirty="0" smtClean="0"/>
                            <a:t>6</a:t>
                          </a:r>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12</a:t>
                          </a:r>
                          <a:endParaRPr lang="zh-CN" altLang="en-US" dirty="0"/>
                        </a:p>
                      </a:txBody>
                      <a:tcPr/>
                    </a:tc>
                    <a:tc rowSpan="2">
                      <a:txBody>
                        <a:bodyPr/>
                        <a:lstStyle/>
                        <a:p>
                          <a:pPr algn="l"/>
                          <a:r>
                            <a:rPr lang="en-US" altLang="zh-CN" dirty="0" smtClean="0"/>
                            <a:t>11</a:t>
                          </a:r>
                          <a:endParaRPr lang="zh-CN" altLang="en-US" dirty="0"/>
                        </a:p>
                      </a:txBody>
                      <a:tcPr/>
                    </a:tc>
                    <a:tc rowSpan="2">
                      <a:txBody>
                        <a:bodyPr/>
                        <a:lstStyle/>
                        <a:p>
                          <a:endParaRPr lang="zh-CN"/>
                        </a:p>
                      </a:txBody>
                      <a:tcPr>
                        <a:blipFill>
                          <a:blip r:embed="rId4"/>
                          <a:stretch>
                            <a:fillRect l="-457014" t="-56667" r="-1810" b="-313333"/>
                          </a:stretch>
                        </a:blipFill>
                      </a:tcPr>
                    </a:tc>
                    <a:extLst>
                      <a:ext uri="{0D108BD9-81ED-4DB2-BD59-A6C34878D82A}">
                        <a16:rowId xmlns:a16="http://schemas.microsoft.com/office/drawing/2014/main" val="3736361684"/>
                      </a:ext>
                    </a:extLst>
                  </a:tr>
                  <a:tr h="365760">
                    <a:tc vMerge="1">
                      <a:txBody>
                        <a:bodyPr/>
                        <a:lstStyle/>
                        <a:p>
                          <a:pPr/>
                          <a:endParaRPr lang="zh-CN" altLang="en-US" dirty="0"/>
                        </a:p>
                      </a:txBody>
                      <a:tcPr/>
                    </a:tc>
                    <a:tc>
                      <a:txBody>
                        <a:bodyPr/>
                        <a:lstStyle/>
                        <a:p>
                          <a:endParaRPr lang="zh-CN"/>
                        </a:p>
                      </a:txBody>
                      <a:tcPr>
                        <a:blipFill>
                          <a:blip r:embed="rId4"/>
                          <a:stretch>
                            <a:fillRect l="-49359" t="-213333" r="-642308" b="-626667"/>
                          </a:stretch>
                        </a:blipFill>
                      </a:tcPr>
                    </a:tc>
                    <a:tc>
                      <a:txBody>
                        <a:bodyPr/>
                        <a:lstStyle/>
                        <a:p>
                          <a:r>
                            <a:rPr lang="en-US" altLang="zh-CN" dirty="0" smtClean="0"/>
                            <a:t>3</a:t>
                          </a:r>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11</a:t>
                          </a:r>
                          <a:endParaRPr lang="zh-CN" altLang="en-US" dirty="0"/>
                        </a:p>
                      </a:txBody>
                      <a:tcPr/>
                    </a:tc>
                    <a:tc vMerge="1">
                      <a:txBody>
                        <a:bodyPr/>
                        <a:lstStyle/>
                        <a:p>
                          <a:pPr algn="l"/>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91311635"/>
                      </a:ext>
                    </a:extLst>
                  </a:tr>
                  <a:tr h="365760">
                    <a:tc rowSpan="4">
                      <a:txBody>
                        <a:bodyPr/>
                        <a:lstStyle/>
                        <a:p>
                          <a:endParaRPr lang="zh-CN"/>
                        </a:p>
                      </a:txBody>
                      <a:tcPr>
                        <a:blipFill>
                          <a:blip r:embed="rId4"/>
                          <a:stretch>
                            <a:fillRect l="-2667" t="-78008" r="-1544000" b="-56017"/>
                          </a:stretch>
                        </a:blipFill>
                      </a:tcPr>
                    </a:tc>
                    <a:tc>
                      <a:txBody>
                        <a:bodyPr/>
                        <a:lstStyle/>
                        <a:p>
                          <a:endParaRPr lang="zh-CN"/>
                        </a:p>
                      </a:txBody>
                      <a:tcPr>
                        <a:blipFill>
                          <a:blip r:embed="rId4"/>
                          <a:stretch>
                            <a:fillRect l="-49359" t="-313333" r="-642308" b="-526667"/>
                          </a:stretch>
                        </a:blipFill>
                      </a:tcPr>
                    </a:tc>
                    <a:tc>
                      <a:txBody>
                        <a:bodyPr/>
                        <a:lstStyle/>
                        <a:p>
                          <a:r>
                            <a:rPr lang="en-US" altLang="zh-CN" dirty="0" smtClean="0"/>
                            <a:t>8</a:t>
                          </a:r>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14</a:t>
                          </a:r>
                          <a:endParaRPr lang="zh-CN" altLang="en-US" dirty="0"/>
                        </a:p>
                      </a:txBody>
                      <a:tcPr/>
                    </a:tc>
                    <a:tc rowSpan="4">
                      <a:txBody>
                        <a:bodyPr/>
                        <a:lstStyle/>
                        <a:p>
                          <a:pPr algn="l"/>
                          <a:r>
                            <a:rPr lang="en-US" altLang="zh-CN" dirty="0" smtClean="0"/>
                            <a:t>13</a:t>
                          </a:r>
                          <a:endParaRPr lang="zh-CN" altLang="en-US" dirty="0"/>
                        </a:p>
                      </a:txBody>
                      <a:tcPr/>
                    </a:tc>
                    <a:tc rowSpan="4">
                      <a:txBody>
                        <a:bodyPr/>
                        <a:lstStyle/>
                        <a:p>
                          <a:endParaRPr lang="zh-CN"/>
                        </a:p>
                      </a:txBody>
                      <a:tcPr>
                        <a:blipFill>
                          <a:blip r:embed="rId4"/>
                          <a:stretch>
                            <a:fillRect l="-457014" t="-78008" r="-1810" b="-56017"/>
                          </a:stretch>
                        </a:blipFill>
                      </a:tcPr>
                    </a:tc>
                    <a:extLst>
                      <a:ext uri="{0D108BD9-81ED-4DB2-BD59-A6C34878D82A}">
                        <a16:rowId xmlns:a16="http://schemas.microsoft.com/office/drawing/2014/main" val="752238598"/>
                      </a:ext>
                    </a:extLst>
                  </a:tr>
                  <a:tr h="365760">
                    <a:tc vMerge="1">
                      <a:txBody>
                        <a:bodyPr/>
                        <a:lstStyle/>
                        <a:p>
                          <a:pPr/>
                          <a:endParaRPr lang="zh-CN" altLang="en-US" dirty="0"/>
                        </a:p>
                      </a:txBody>
                      <a:tcPr/>
                    </a:tc>
                    <a:tc>
                      <a:txBody>
                        <a:bodyPr/>
                        <a:lstStyle/>
                        <a:p>
                          <a:endParaRPr lang="zh-CN"/>
                        </a:p>
                      </a:txBody>
                      <a:tcPr>
                        <a:blipFill>
                          <a:blip r:embed="rId4"/>
                          <a:stretch>
                            <a:fillRect l="-49359" t="-406557" r="-642308" b="-418033"/>
                          </a:stretch>
                        </a:blipFill>
                      </a:tcPr>
                    </a:tc>
                    <a:tc>
                      <a:txBody>
                        <a:bodyPr/>
                        <a:lstStyle/>
                        <a:p>
                          <a:r>
                            <a:rPr lang="en-US" altLang="zh-CN" dirty="0" smtClean="0"/>
                            <a:t>5</a:t>
                          </a:r>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13</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944060997"/>
                      </a:ext>
                    </a:extLst>
                  </a:tr>
                  <a:tr h="365760">
                    <a:tc vMerge="1">
                      <a:txBody>
                        <a:bodyPr/>
                        <a:lstStyle/>
                        <a:p>
                          <a:pPr/>
                          <a:endParaRPr lang="zh-CN" altLang="en-US" dirty="0"/>
                        </a:p>
                      </a:txBody>
                      <a:tcPr/>
                    </a:tc>
                    <a:tc>
                      <a:txBody>
                        <a:bodyPr/>
                        <a:lstStyle/>
                        <a:p>
                          <a:endParaRPr lang="zh-CN"/>
                        </a:p>
                      </a:txBody>
                      <a:tcPr>
                        <a:blipFill>
                          <a:blip r:embed="rId4"/>
                          <a:stretch>
                            <a:fillRect l="-49359" t="-515000" r="-642308" b="-325000"/>
                          </a:stretch>
                        </a:blipFill>
                      </a:tcPr>
                    </a:tc>
                    <a:tc>
                      <a:txBody>
                        <a:bodyPr/>
                        <a:lstStyle/>
                        <a:p>
                          <a:r>
                            <a:rPr lang="en-US" altLang="zh-CN" dirty="0" smtClean="0"/>
                            <a:t>3</a:t>
                          </a:r>
                          <a:endParaRPr lang="zh-CN" altLang="en-US" dirty="0"/>
                        </a:p>
                      </a:txBody>
                      <a:tcPr/>
                    </a:tc>
                    <a:tc>
                      <a:txBody>
                        <a:bodyPr/>
                        <a:lstStyle/>
                        <a:p>
                          <a:r>
                            <a:rPr lang="en-US" altLang="zh-CN" dirty="0" smtClean="0"/>
                            <a:t>10</a:t>
                          </a:r>
                          <a:endParaRPr lang="zh-CN" altLang="en-US" dirty="0"/>
                        </a:p>
                      </a:txBody>
                      <a:tcPr/>
                    </a:tc>
                    <a:tc>
                      <a:txBody>
                        <a:bodyPr/>
                        <a:lstStyle/>
                        <a:p>
                          <a:r>
                            <a:rPr lang="en-US" altLang="zh-CN" dirty="0" smtClean="0"/>
                            <a:t>13</a:t>
                          </a:r>
                          <a:endParaRPr lang="zh-CN" altLang="en-US" dirty="0"/>
                        </a:p>
                      </a:txBody>
                      <a:tcPr/>
                    </a:tc>
                    <a:tc vMerge="1">
                      <a:txBody>
                        <a:bodyPr/>
                        <a:lstStyle/>
                        <a:p>
                          <a:pPr algn="l"/>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80564706"/>
                      </a:ext>
                    </a:extLst>
                  </a:tr>
                  <a:tr h="365760">
                    <a:tc vMerge="1">
                      <a:txBody>
                        <a:bodyPr/>
                        <a:lstStyle/>
                        <a:p>
                          <a:pPr/>
                          <a:endParaRPr lang="zh-CN" altLang="en-US" dirty="0"/>
                        </a:p>
                      </a:txBody>
                      <a:tcPr/>
                    </a:tc>
                    <a:tc>
                      <a:txBody>
                        <a:bodyPr/>
                        <a:lstStyle/>
                        <a:p>
                          <a:endParaRPr lang="zh-CN"/>
                        </a:p>
                      </a:txBody>
                      <a:tcPr>
                        <a:blipFill>
                          <a:blip r:embed="rId4"/>
                          <a:stretch>
                            <a:fillRect l="-49359" t="-615000" r="-642308" b="-225000"/>
                          </a:stretch>
                        </a:blipFill>
                      </a:tcPr>
                    </a:tc>
                    <a:tc>
                      <a:txBody>
                        <a:bodyPr/>
                        <a:lstStyle/>
                        <a:p>
                          <a:r>
                            <a:rPr lang="en-US" altLang="zh-CN" dirty="0" smtClean="0"/>
                            <a:t>8</a:t>
                          </a:r>
                          <a:endParaRPr lang="zh-CN" altLang="en-US" dirty="0"/>
                        </a:p>
                      </a:txBody>
                      <a:tcPr/>
                    </a:tc>
                    <a:tc>
                      <a:txBody>
                        <a:bodyPr/>
                        <a:lstStyle/>
                        <a:p>
                          <a:r>
                            <a:rPr lang="en-US" altLang="zh-CN" dirty="0" smtClean="0"/>
                            <a:t>9</a:t>
                          </a:r>
                          <a:endParaRPr lang="zh-CN" altLang="en-US" dirty="0"/>
                        </a:p>
                      </a:txBody>
                      <a:tcPr/>
                    </a:tc>
                    <a:tc>
                      <a:txBody>
                        <a:bodyPr/>
                        <a:lstStyle/>
                        <a:p>
                          <a:r>
                            <a:rPr lang="en-US" altLang="zh-CN" dirty="0" smtClean="0"/>
                            <a:t>17</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74687360"/>
                      </a:ext>
                    </a:extLst>
                  </a:tr>
                  <a:tr h="365760">
                    <a:tc rowSpan="2">
                      <a:txBody>
                        <a:bodyPr/>
                        <a:lstStyle/>
                        <a:p>
                          <a:endParaRPr lang="zh-CN"/>
                        </a:p>
                      </a:txBody>
                      <a:tcPr>
                        <a:blipFill>
                          <a:blip r:embed="rId4"/>
                          <a:stretch>
                            <a:fillRect l="-2667" t="-357500" r="-1544000" b="-12500"/>
                          </a:stretch>
                        </a:blipFill>
                      </a:tcPr>
                    </a:tc>
                    <a:tc>
                      <a:txBody>
                        <a:bodyPr/>
                        <a:lstStyle/>
                        <a:p>
                          <a:endParaRPr lang="zh-CN"/>
                        </a:p>
                      </a:txBody>
                      <a:tcPr>
                        <a:blipFill>
                          <a:blip r:embed="rId4"/>
                          <a:stretch>
                            <a:fillRect l="-49359" t="-715000" r="-642308" b="-125000"/>
                          </a:stretch>
                        </a:blipFill>
                      </a:tcPr>
                    </a:tc>
                    <a:tc>
                      <a:txBody>
                        <a:bodyPr/>
                        <a:lstStyle/>
                        <a:p>
                          <a:r>
                            <a:rPr lang="en-US" altLang="zh-CN" dirty="0" smtClean="0"/>
                            <a:t>3</a:t>
                          </a:r>
                          <a:endParaRPr lang="zh-CN" altLang="en-US" dirty="0"/>
                        </a:p>
                      </a:txBody>
                      <a:tcPr/>
                    </a:tc>
                    <a:tc>
                      <a:txBody>
                        <a:bodyPr/>
                        <a:lstStyle/>
                        <a:p>
                          <a:r>
                            <a:rPr lang="en-US" altLang="zh-CN" dirty="0" smtClean="0"/>
                            <a:t>10</a:t>
                          </a:r>
                          <a:endParaRPr lang="zh-CN" altLang="en-US" dirty="0"/>
                        </a:p>
                      </a:txBody>
                      <a:tcPr/>
                    </a:tc>
                    <a:tc>
                      <a:txBody>
                        <a:bodyPr/>
                        <a:lstStyle/>
                        <a:p>
                          <a:r>
                            <a:rPr lang="en-US" altLang="zh-CN" dirty="0" smtClean="0"/>
                            <a:t>13</a:t>
                          </a:r>
                          <a:endParaRPr lang="zh-CN" altLang="en-US" dirty="0"/>
                        </a:p>
                      </a:txBody>
                      <a:tcPr/>
                    </a:tc>
                    <a:tc rowSpan="2">
                      <a:txBody>
                        <a:bodyPr/>
                        <a:lstStyle/>
                        <a:p>
                          <a:pPr algn="l"/>
                          <a:r>
                            <a:rPr lang="en-US" altLang="zh-CN" dirty="0" smtClean="0"/>
                            <a:t>13</a:t>
                          </a:r>
                          <a:endParaRPr lang="zh-CN" altLang="en-US" dirty="0"/>
                        </a:p>
                      </a:txBody>
                      <a:tcPr/>
                    </a:tc>
                    <a:tc rowSpan="2">
                      <a:txBody>
                        <a:bodyPr/>
                        <a:lstStyle/>
                        <a:p>
                          <a:endParaRPr lang="zh-CN"/>
                        </a:p>
                      </a:txBody>
                      <a:tcPr>
                        <a:blipFill>
                          <a:blip r:embed="rId4"/>
                          <a:stretch>
                            <a:fillRect l="-457014" t="-357500" r="-1810" b="-12500"/>
                          </a:stretch>
                        </a:blipFill>
                      </a:tcPr>
                    </a:tc>
                    <a:extLst>
                      <a:ext uri="{0D108BD9-81ED-4DB2-BD59-A6C34878D82A}">
                        <a16:rowId xmlns:a16="http://schemas.microsoft.com/office/drawing/2014/main" val="2213408945"/>
                      </a:ext>
                    </a:extLst>
                  </a:tr>
                  <a:tr h="365760">
                    <a:tc vMerge="1">
                      <a:txBody>
                        <a:bodyPr/>
                        <a:lstStyle/>
                        <a:p>
                          <a:pPr/>
                          <a:endParaRPr lang="zh-CN" altLang="en-US" dirty="0"/>
                        </a:p>
                      </a:txBody>
                      <a:tcPr/>
                    </a:tc>
                    <a:tc>
                      <a:txBody>
                        <a:bodyPr/>
                        <a:lstStyle/>
                        <a:p>
                          <a:endParaRPr lang="zh-CN"/>
                        </a:p>
                      </a:txBody>
                      <a:tcPr>
                        <a:blipFill>
                          <a:blip r:embed="rId4"/>
                          <a:stretch>
                            <a:fillRect l="-49359" t="-815000" r="-642308" b="-25000"/>
                          </a:stretch>
                        </a:blipFill>
                      </a:tcPr>
                    </a:tc>
                    <a:tc>
                      <a:txBody>
                        <a:bodyPr/>
                        <a:lstStyle/>
                        <a:p>
                          <a:r>
                            <a:rPr lang="en-US" altLang="zh-CN" dirty="0" smtClean="0"/>
                            <a:t>4</a:t>
                          </a:r>
                          <a:endParaRPr lang="zh-CN" altLang="en-US" dirty="0"/>
                        </a:p>
                      </a:txBody>
                      <a:tcPr/>
                    </a:tc>
                    <a:tc>
                      <a:txBody>
                        <a:bodyPr/>
                        <a:lstStyle/>
                        <a:p>
                          <a:r>
                            <a:rPr lang="en-US" altLang="zh-CN" dirty="0" smtClean="0"/>
                            <a:t>9</a:t>
                          </a:r>
                          <a:endParaRPr lang="zh-CN" altLang="en-US" dirty="0"/>
                        </a:p>
                      </a:txBody>
                      <a:tcPr/>
                    </a:tc>
                    <a:tc>
                      <a:txBody>
                        <a:bodyPr/>
                        <a:lstStyle/>
                        <a:p>
                          <a:r>
                            <a:rPr lang="en-US" altLang="zh-CN" dirty="0" smtClean="0"/>
                            <a:t>13</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205811890"/>
                      </a:ext>
                    </a:extLst>
                  </a:tr>
                </a:tbl>
              </a:graphicData>
            </a:graphic>
          </p:graphicFrame>
        </mc:Fallback>
      </mc:AlternateContent>
      <p:sp>
        <p:nvSpPr>
          <p:cNvPr id="76" name="文本框 75"/>
          <p:cNvSpPr txBox="1"/>
          <p:nvPr/>
        </p:nvSpPr>
        <p:spPr bwMode="auto">
          <a:xfrm>
            <a:off x="4218506" y="1493168"/>
            <a:ext cx="406906"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11</a:t>
            </a:r>
            <a:endParaRPr lang="zh-CN" altLang="en-US" sz="1800" dirty="0">
              <a:latin typeface="Times New Roman" panose="02020603050405020304" pitchFamily="18" charset="0"/>
              <a:cs typeface="Courier New" panose="02070309020205020404" pitchFamily="49" charset="0"/>
            </a:endParaRPr>
          </a:p>
        </p:txBody>
      </p:sp>
      <p:cxnSp>
        <p:nvCxnSpPr>
          <p:cNvPr id="77" name="直接箭头连接符 76"/>
          <p:cNvCxnSpPr/>
          <p:nvPr/>
        </p:nvCxnSpPr>
        <p:spPr bwMode="auto">
          <a:xfrm flipH="1">
            <a:off x="3830908" y="2007252"/>
            <a:ext cx="414185" cy="20593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文本框 77"/>
          <p:cNvSpPr txBox="1"/>
          <p:nvPr/>
        </p:nvSpPr>
        <p:spPr bwMode="auto">
          <a:xfrm>
            <a:off x="4232806" y="2132916"/>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13</a:t>
            </a:r>
            <a:endParaRPr lang="zh-CN" altLang="en-US" sz="1800" dirty="0">
              <a:latin typeface="Times New Roman" panose="02020603050405020304" pitchFamily="18" charset="0"/>
              <a:cs typeface="Courier New" panose="02070309020205020404" pitchFamily="49" charset="0"/>
            </a:endParaRPr>
          </a:p>
        </p:txBody>
      </p:sp>
      <p:cxnSp>
        <p:nvCxnSpPr>
          <p:cNvPr id="79" name="直接箭头连接符 78"/>
          <p:cNvCxnSpPr/>
          <p:nvPr/>
        </p:nvCxnSpPr>
        <p:spPr bwMode="auto">
          <a:xfrm flipH="1">
            <a:off x="3862620" y="2647000"/>
            <a:ext cx="401071" cy="152340"/>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直接箭头连接符 79"/>
          <p:cNvCxnSpPr/>
          <p:nvPr/>
        </p:nvCxnSpPr>
        <p:spPr bwMode="auto">
          <a:xfrm flipH="1" flipV="1">
            <a:off x="3830908" y="2366066"/>
            <a:ext cx="421331" cy="147082"/>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文本框 80"/>
          <p:cNvSpPr txBox="1"/>
          <p:nvPr/>
        </p:nvSpPr>
        <p:spPr bwMode="auto">
          <a:xfrm>
            <a:off x="4228510" y="2690568"/>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13</a:t>
            </a:r>
            <a:endParaRPr lang="zh-CN" altLang="en-US" sz="1800" dirty="0">
              <a:latin typeface="Times New Roman" panose="02020603050405020304" pitchFamily="18" charset="0"/>
              <a:cs typeface="Courier New" panose="02070309020205020404" pitchFamily="49" charset="0"/>
            </a:endParaRPr>
          </a:p>
        </p:txBody>
      </p:sp>
      <p:cxnSp>
        <p:nvCxnSpPr>
          <p:cNvPr id="82" name="直接箭头连接符 81"/>
          <p:cNvCxnSpPr/>
          <p:nvPr/>
        </p:nvCxnSpPr>
        <p:spPr bwMode="auto">
          <a:xfrm flipH="1">
            <a:off x="3858324" y="3204652"/>
            <a:ext cx="401071" cy="152340"/>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直接箭头连接符 82"/>
          <p:cNvCxnSpPr/>
          <p:nvPr/>
        </p:nvCxnSpPr>
        <p:spPr bwMode="auto">
          <a:xfrm flipH="1" flipV="1">
            <a:off x="3826612" y="2923718"/>
            <a:ext cx="421331" cy="147082"/>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882627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76" grpId="0" animBg="1"/>
      <p:bldP spid="78" grpId="0" animBg="1"/>
      <p:bldP spid="8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270422" y="478731"/>
            <a:ext cx="6757962" cy="576163"/>
          </a:xfrm>
        </p:spPr>
        <p:txBody>
          <a:bodyPr/>
          <a:lstStyle/>
          <a:p>
            <a:pPr eaLnBrk="1" hangingPunct="1"/>
            <a:r>
              <a:rPr lang="en-US" altLang="zh-CN" dirty="0"/>
              <a:t>8.3.2  </a:t>
            </a:r>
            <a:r>
              <a:rPr lang="zh-CN" altLang="en-US" dirty="0"/>
              <a:t>顺推解法</a:t>
            </a:r>
            <a:endParaRPr lang="zh-CN" altLang="en-US" b="1" dirty="0"/>
          </a:p>
        </p:txBody>
      </p:sp>
      <p:sp>
        <p:nvSpPr>
          <p:cNvPr id="2" name="内容占位符 1"/>
          <p:cNvSpPr>
            <a:spLocks noGrp="1"/>
          </p:cNvSpPr>
          <p:nvPr>
            <p:ph idx="1"/>
          </p:nvPr>
        </p:nvSpPr>
        <p:spPr>
          <a:xfrm>
            <a:off x="539552" y="1124744"/>
            <a:ext cx="8280920" cy="1274195"/>
          </a:xfrm>
        </p:spPr>
        <p:txBody>
          <a:bodyPr/>
          <a:lstStyle/>
          <a:p>
            <a:r>
              <a:rPr lang="zh-CN" altLang="en-US" dirty="0"/>
              <a:t>例</a:t>
            </a:r>
            <a:r>
              <a:rPr lang="en-US" altLang="zh-CN" dirty="0"/>
              <a:t>8-1</a:t>
            </a:r>
            <a:r>
              <a:rPr lang="zh-CN" altLang="en-US" dirty="0"/>
              <a:t>顺推求解</a:t>
            </a:r>
            <a:endParaRPr lang="en-US" altLang="zh-CN" dirty="0"/>
          </a:p>
          <a:p>
            <a:pPr lvl="1"/>
            <a:endParaRPr lang="zh-CN" altLang="en-US" dirty="0"/>
          </a:p>
          <a:p>
            <a:endParaRPr lang="zh-CN" altLang="en-US" dirty="0"/>
          </a:p>
        </p:txBody>
      </p:sp>
      <p:sp>
        <p:nvSpPr>
          <p:cNvPr id="18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1614537987"/>
                  </p:ext>
                </p:extLst>
              </p:nvPr>
            </p:nvGraphicFramePr>
            <p:xfrm>
              <a:off x="1006473" y="3854701"/>
              <a:ext cx="7609947" cy="2680694"/>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486134">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1" i="1" smtClean="0">
                                        <a:latin typeface="Cambria Math" panose="02040503050406030204" pitchFamily="18" charset="0"/>
                                      </a:rPr>
                                      <m:t>𝑺</m:t>
                                    </m:r>
                                  </m:e>
                                  <m:sub>
                                    <m:r>
                                      <a:rPr lang="en-US" altLang="zh-CN" sz="1800" b="0" i="1" smtClean="0">
                                        <a:latin typeface="Cambria Math" panose="02040503050406030204" pitchFamily="18" charset="0"/>
                                      </a:rPr>
                                      <m:t>5</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𝐷</m:t>
                                    </m:r>
                                  </m:e>
                                  <m:sub>
                                    <m:r>
                                      <a:rPr lang="en-US" altLang="zh-CN" sz="1800" b="1" i="1" smtClean="0">
                                        <a:latin typeface="Cambria Math" panose="02040503050406030204" pitchFamily="18" charset="0"/>
                                      </a:rPr>
                                      <m:t>𝟒</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𝟓</m:t>
                                    </m:r>
                                  </m:sub>
                                </m:sSub>
                                <m:r>
                                  <a:rPr lang="en-US" altLang="zh-CN" sz="1800" i="1">
                                    <a:latin typeface="Cambria Math" panose="02040503050406030204" pitchFamily="18" charset="0"/>
                                  </a:rPr>
                                  <m:t>)</m:t>
                                </m:r>
                                <m:r>
                                  <m:rPr>
                                    <m:nor/>
                                  </m:rPr>
                                  <a:rPr lang="zh-CN" altLang="en-US" sz="1800" dirty="0"/>
                                  <m:t> </m:t>
                                </m:r>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𝟒</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𝟓</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𝟒</m:t>
                                        </m:r>
                                      </m:sub>
                                    </m:sSub>
                                  </m:e>
                                </m:d>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𝟑</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𝟒</m:t>
                                        </m:r>
                                      </m:sub>
                                    </m:sSub>
                                  </m:e>
                                </m:d>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𝟒</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𝟓</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𝟒</m:t>
                                      </m:r>
                                    </m:sub>
                                  </m:sSub>
                                </m:e>
                              </m:d>
                            </m:oMath>
                          </a14:m>
                          <a:r>
                            <a:rPr lang="en-US" altLang="zh-CN" dirty="0" smtClean="0"/>
                            <a: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𝟑</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𝟒</m:t>
                                      </m:r>
                                    </m:sub>
                                  </m:sSub>
                                </m:e>
                              </m:d>
                            </m:oMath>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𝟒</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𝟓</m:t>
                                        </m:r>
                                      </m:sub>
                                    </m:sSub>
                                  </m:e>
                                </m:d>
                              </m:oMath>
                            </m:oMathPara>
                          </a14:m>
                          <a:endParaRPr lang="zh-CN" altLang="en-US" dirty="0"/>
                        </a:p>
                      </a:txBody>
                      <a:tcPr/>
                    </a:tc>
                    <a:tc>
                      <a:txBody>
                        <a:bodyPr/>
                        <a:lstStyle/>
                        <a:p>
                          <a:r>
                            <a:rPr lang="zh-CN" altLang="en-US" dirty="0" smtClean="0"/>
                            <a:t>最优决策</a:t>
                          </a:r>
                          <a14:m>
                            <m:oMath xmlns:m="http://schemas.openxmlformats.org/officeDocument/2006/math">
                              <m:sSubSup>
                                <m:sSubSupPr>
                                  <m:ctrlPr>
                                    <a:rPr lang="en-US" altLang="zh-CN"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𝟒</m:t>
                                  </m:r>
                                </m:sub>
                                <m:sup>
                                  <m:r>
                                    <a:rPr lang="en-US" altLang="zh-CN" b="1" i="1" smtClean="0">
                                      <a:latin typeface="Cambria Math" panose="02040503050406030204" pitchFamily="18" charset="0"/>
                                    </a:rPr>
                                    <m:t>∗</m:t>
                                  </m:r>
                                </m:sup>
                              </m:sSubSup>
                            </m:oMath>
                          </a14:m>
                          <a:endParaRPr lang="zh-CN" altLang="en-US" dirty="0"/>
                        </a:p>
                      </a:txBody>
                      <a:tcPr/>
                    </a:tc>
                    <a:extLst>
                      <a:ext uri="{0D108BD9-81ED-4DB2-BD59-A6C34878D82A}">
                        <a16:rowId xmlns:a16="http://schemas.microsoft.com/office/drawing/2014/main" val="37799757"/>
                      </a:ext>
                    </a:extLst>
                  </a:tr>
                  <a:tr h="329940">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i="1">
                                        <a:latin typeface="Cambria Math" panose="02040503050406030204" pitchFamily="18" charset="0"/>
                                      </a:rPr>
                                      <m:t>1</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1</m:t>
                                  </m:r>
                                </m:sub>
                              </m:sSub>
                            </m:oMath>
                          </a14:m>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11</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13</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i="1">
                                        <a:latin typeface="Cambria Math" panose="02040503050406030204" pitchFamily="18" charset="0"/>
                                      </a:rPr>
                                      <m:t>1</m:t>
                                    </m:r>
                                  </m:sub>
                                </m:sSub>
                                <m:r>
                                  <m:rPr>
                                    <m:nor/>
                                  </m:rPr>
                                  <a:rPr lang="en-US" altLang="zh-CN" dirty="0" smtClean="0"/>
                                  <m:t>−&gt;</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i="1">
                                        <a:latin typeface="Cambria Math" panose="02040503050406030204" pitchFamily="18" charset="0"/>
                                      </a:rPr>
                                      <m:t>1</m:t>
                                    </m:r>
                                  </m:sub>
                                </m:sSub>
                              </m:oMath>
                            </m:oMathPara>
                          </a14:m>
                          <a:endParaRPr lang="zh-CN" altLang="en-US" dirty="0"/>
                        </a:p>
                      </a:txBody>
                      <a:tcPr/>
                    </a:tc>
                    <a:extLst>
                      <a:ext uri="{0D108BD9-81ED-4DB2-BD59-A6C34878D82A}">
                        <a16:rowId xmlns:a16="http://schemas.microsoft.com/office/drawing/2014/main" val="3736361684"/>
                      </a:ext>
                    </a:extLst>
                  </a:tr>
                  <a:tr h="329940">
                    <a:tc rowSpan="3">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i="1">
                                        <a:latin typeface="Cambria Math" panose="02040503050406030204" pitchFamily="18" charset="0"/>
                                      </a:rPr>
                                      <m:t>2</m:t>
                                    </m:r>
                                  </m:sub>
                                </m:sSub>
                              </m:oMath>
                            </m:oMathPara>
                          </a14:m>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1</m:t>
                                  </m:r>
                                </m:sub>
                              </m:sSub>
                            </m:oMath>
                          </a14:m>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11</a:t>
                          </a:r>
                          <a:endParaRPr lang="zh-CN" altLang="en-US" dirty="0"/>
                        </a:p>
                      </a:txBody>
                      <a:tcPr/>
                    </a:tc>
                    <a:tc>
                      <a:txBody>
                        <a:bodyPr/>
                        <a:lstStyle/>
                        <a:p>
                          <a:r>
                            <a:rPr lang="en-US" altLang="zh-CN" dirty="0" smtClean="0"/>
                            <a:t>13</a:t>
                          </a:r>
                          <a:endParaRPr lang="zh-CN" altLang="en-US" dirty="0"/>
                        </a:p>
                      </a:txBody>
                      <a:tcPr/>
                    </a:tc>
                    <a:tc rowSpan="3">
                      <a:txBody>
                        <a:bodyPr/>
                        <a:lstStyle/>
                        <a:p>
                          <a:r>
                            <a:rPr lang="en-US" altLang="zh-CN" dirty="0" smtClean="0"/>
                            <a:t>13</a:t>
                          </a:r>
                          <a:endParaRPr lang="zh-CN" altLang="en-US" dirty="0"/>
                        </a:p>
                      </a:txBody>
                      <a:tcPr/>
                    </a:tc>
                    <a:tc row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1</m:t>
                                  </m:r>
                                </m:sub>
                              </m:sSub>
                            </m:oMath>
                          </a14:m>
                          <a:endParaRPr lang="zh-CN" altLang="en-US" dirty="0"/>
                        </a:p>
                      </a:txBody>
                      <a:tcPr/>
                    </a:tc>
                    <a:extLst>
                      <a:ext uri="{0D108BD9-81ED-4DB2-BD59-A6C34878D82A}">
                        <a16:rowId xmlns:a16="http://schemas.microsoft.com/office/drawing/2014/main" val="1091311635"/>
                      </a:ext>
                    </a:extLst>
                  </a:tr>
                  <a:tr h="329940">
                    <a:tc vMerge="1">
                      <a:txBody>
                        <a:bodyPr/>
                        <a:lstStyle/>
                        <a:p>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14</a:t>
                          </a:r>
                          <a:endParaRPr lang="zh-CN" altLang="en-US" dirty="0"/>
                        </a:p>
                      </a:txBody>
                      <a:tcPr/>
                    </a:tc>
                    <a:tc vMerge="1">
                      <a:txBody>
                        <a:bodyPr/>
                        <a:lstStyle/>
                        <a:p>
                          <a:endParaRPr lang="zh-CN" altLang="en-US" dirty="0"/>
                        </a:p>
                      </a:txBody>
                      <a:tcPr/>
                    </a:tc>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752238598"/>
                      </a:ext>
                    </a:extLst>
                  </a:tr>
                  <a:tr h="329940">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3</m:t>
                                  </m:r>
                                </m:sub>
                              </m:sSub>
                            </m:oMath>
                          </a14:m>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16</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944060997"/>
                      </a:ext>
                    </a:extLst>
                  </a:tr>
                  <a:tr h="329940">
                    <a:tc rowSpan="2">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3</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3</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15</a:t>
                          </a:r>
                          <a:endParaRPr lang="zh-CN" altLang="en-US" dirty="0"/>
                        </a:p>
                      </a:txBody>
                      <a:tcPr/>
                    </a:tc>
                    <a:tc rowSpan="2">
                      <a:txBody>
                        <a:bodyPr/>
                        <a:lstStyle/>
                        <a:p>
                          <a:r>
                            <a:rPr lang="en-US" altLang="zh-CN" dirty="0" smtClean="0"/>
                            <a:t>15</a:t>
                          </a:r>
                          <a:endParaRPr lang="zh-CN" altLang="en-US" dirty="0"/>
                        </a:p>
                      </a:txBody>
                      <a:tcPr/>
                    </a:tc>
                    <a:tc rowSpan="2">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3</m:t>
                                    </m:r>
                                  </m:sub>
                                </m:sSub>
                                <m:r>
                                  <m:rPr>
                                    <m:nor/>
                                  </m:rPr>
                                  <a:rPr lang="en-US" altLang="zh-CN" dirty="0" smtClean="0"/>
                                  <m:t>−&gt;</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2</m:t>
                                    </m:r>
                                  </m:sub>
                                </m:sSub>
                              </m:oMath>
                            </m:oMathPara>
                          </a14:m>
                          <a:endParaRPr lang="zh-CN" altLang="en-US" dirty="0"/>
                        </a:p>
                      </a:txBody>
                      <a:tcPr/>
                    </a:tc>
                    <a:extLst>
                      <a:ext uri="{0D108BD9-81ED-4DB2-BD59-A6C34878D82A}">
                        <a16:rowId xmlns:a16="http://schemas.microsoft.com/office/drawing/2014/main" val="3280564706"/>
                      </a:ext>
                    </a:extLst>
                  </a:tr>
                  <a:tr h="329940">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3</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3</m:t>
                                  </m:r>
                                </m:sub>
                              </m:sSub>
                            </m:oMath>
                          </a14:m>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16</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74687360"/>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1614537987"/>
                  </p:ext>
                </p:extLst>
              </p:nvPr>
            </p:nvGraphicFramePr>
            <p:xfrm>
              <a:off x="1006473" y="3854701"/>
              <a:ext cx="7609947" cy="2680694"/>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486134">
                    <a:tc>
                      <a:txBody>
                        <a:bodyPr/>
                        <a:lstStyle/>
                        <a:p>
                          <a:endParaRPr lang="zh-CN"/>
                        </a:p>
                      </a:txBody>
                      <a:tcPr>
                        <a:blipFill>
                          <a:blip r:embed="rId3"/>
                          <a:stretch>
                            <a:fillRect l="-1299" t="-8750" r="-1527273" b="-470000"/>
                          </a:stretch>
                        </a:blipFill>
                      </a:tcPr>
                    </a:tc>
                    <a:tc>
                      <a:txBody>
                        <a:bodyPr/>
                        <a:lstStyle/>
                        <a:p>
                          <a:endParaRPr lang="zh-CN"/>
                        </a:p>
                      </a:txBody>
                      <a:tcPr>
                        <a:blipFill>
                          <a:blip r:embed="rId3"/>
                          <a:stretch>
                            <a:fillRect l="-49367" t="-8750" r="-644304" b="-470000"/>
                          </a:stretch>
                        </a:blipFill>
                      </a:tcPr>
                    </a:tc>
                    <a:tc>
                      <a:txBody>
                        <a:bodyPr/>
                        <a:lstStyle/>
                        <a:p>
                          <a:endParaRPr lang="zh-CN"/>
                        </a:p>
                      </a:txBody>
                      <a:tcPr>
                        <a:blipFill>
                          <a:blip r:embed="rId3"/>
                          <a:stretch>
                            <a:fillRect l="-120408" t="-8750" r="-419388" b="-470000"/>
                          </a:stretch>
                        </a:blipFill>
                      </a:tcPr>
                    </a:tc>
                    <a:tc>
                      <a:txBody>
                        <a:bodyPr/>
                        <a:lstStyle/>
                        <a:p>
                          <a:endParaRPr lang="zh-CN"/>
                        </a:p>
                      </a:txBody>
                      <a:tcPr>
                        <a:blipFill>
                          <a:blip r:embed="rId3"/>
                          <a:stretch>
                            <a:fillRect l="-310791" t="-8750" r="-491367" b="-470000"/>
                          </a:stretch>
                        </a:blipFill>
                      </a:tcPr>
                    </a:tc>
                    <a:tc>
                      <a:txBody>
                        <a:bodyPr/>
                        <a:lstStyle/>
                        <a:p>
                          <a:endParaRPr lang="zh-CN"/>
                        </a:p>
                      </a:txBody>
                      <a:tcPr>
                        <a:blipFill>
                          <a:blip r:embed="rId3"/>
                          <a:stretch>
                            <a:fillRect l="-180696" t="-8750" r="-116139" b="-470000"/>
                          </a:stretch>
                        </a:blipFill>
                      </a:tcPr>
                    </a:tc>
                    <a:tc>
                      <a:txBody>
                        <a:bodyPr/>
                        <a:lstStyle/>
                        <a:p>
                          <a:endParaRPr lang="zh-CN"/>
                        </a:p>
                      </a:txBody>
                      <a:tcPr>
                        <a:blipFill>
                          <a:blip r:embed="rId3"/>
                          <a:stretch>
                            <a:fillRect l="-642754" t="-8750" r="-165942" b="-470000"/>
                          </a:stretch>
                        </a:blipFill>
                      </a:tcPr>
                    </a:tc>
                    <a:tc>
                      <a:txBody>
                        <a:bodyPr/>
                        <a:lstStyle/>
                        <a:p>
                          <a:endParaRPr lang="zh-CN"/>
                        </a:p>
                      </a:txBody>
                      <a:tcPr>
                        <a:blipFill>
                          <a:blip r:embed="rId3"/>
                          <a:stretch>
                            <a:fillRect l="-455556" t="-8750" r="-1778" b="-470000"/>
                          </a:stretch>
                        </a:blipFill>
                      </a:tcPr>
                    </a:tc>
                    <a:extLst>
                      <a:ext uri="{0D108BD9-81ED-4DB2-BD59-A6C34878D82A}">
                        <a16:rowId xmlns:a16="http://schemas.microsoft.com/office/drawing/2014/main" val="37799757"/>
                      </a:ext>
                    </a:extLst>
                  </a:tr>
                  <a:tr h="365760">
                    <a:tc>
                      <a:txBody>
                        <a:bodyPr/>
                        <a:lstStyle/>
                        <a:p>
                          <a:endParaRPr lang="zh-CN"/>
                        </a:p>
                      </a:txBody>
                      <a:tcPr>
                        <a:blipFill>
                          <a:blip r:embed="rId3"/>
                          <a:stretch>
                            <a:fillRect l="-1299" t="-145000" r="-1527273" b="-526667"/>
                          </a:stretch>
                        </a:blipFill>
                      </a:tcPr>
                    </a:tc>
                    <a:tc>
                      <a:txBody>
                        <a:bodyPr/>
                        <a:lstStyle/>
                        <a:p>
                          <a:endParaRPr lang="zh-CN"/>
                        </a:p>
                      </a:txBody>
                      <a:tcPr>
                        <a:blipFill>
                          <a:blip r:embed="rId3"/>
                          <a:stretch>
                            <a:fillRect l="-49367" t="-145000" r="-644304" b="-526667"/>
                          </a:stretch>
                        </a:blipFill>
                      </a:tcPr>
                    </a:tc>
                    <a:tc>
                      <a:txBody>
                        <a:bodyPr/>
                        <a:lstStyle/>
                        <a:p>
                          <a:r>
                            <a:rPr lang="en-US" altLang="zh-CN" dirty="0" smtClean="0"/>
                            <a:t>2</a:t>
                          </a:r>
                          <a:endParaRPr lang="zh-CN" altLang="en-US" dirty="0"/>
                        </a:p>
                      </a:txBody>
                      <a:tcPr/>
                    </a:tc>
                    <a:tc>
                      <a:txBody>
                        <a:bodyPr/>
                        <a:lstStyle/>
                        <a:p>
                          <a:r>
                            <a:rPr lang="en-US" altLang="zh-CN" dirty="0" smtClean="0"/>
                            <a:t>11</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13</a:t>
                          </a:r>
                          <a:endParaRPr lang="zh-CN" altLang="en-US" dirty="0"/>
                        </a:p>
                      </a:txBody>
                      <a:tcPr/>
                    </a:tc>
                    <a:tc>
                      <a:txBody>
                        <a:bodyPr/>
                        <a:lstStyle/>
                        <a:p>
                          <a:endParaRPr lang="zh-CN"/>
                        </a:p>
                      </a:txBody>
                      <a:tcPr>
                        <a:blipFill>
                          <a:blip r:embed="rId3"/>
                          <a:stretch>
                            <a:fillRect l="-455556" t="-145000" r="-1778" b="-526667"/>
                          </a:stretch>
                        </a:blipFill>
                      </a:tcPr>
                    </a:tc>
                    <a:extLst>
                      <a:ext uri="{0D108BD9-81ED-4DB2-BD59-A6C34878D82A}">
                        <a16:rowId xmlns:a16="http://schemas.microsoft.com/office/drawing/2014/main" val="3736361684"/>
                      </a:ext>
                    </a:extLst>
                  </a:tr>
                  <a:tr h="365760">
                    <a:tc rowSpan="3">
                      <a:txBody>
                        <a:bodyPr/>
                        <a:lstStyle/>
                        <a:p>
                          <a:endParaRPr lang="zh-CN"/>
                        </a:p>
                      </a:txBody>
                      <a:tcPr>
                        <a:blipFill>
                          <a:blip r:embed="rId3"/>
                          <a:stretch>
                            <a:fillRect l="-1299" t="-81215" r="-1527273" b="-74586"/>
                          </a:stretch>
                        </a:blipFill>
                      </a:tcPr>
                    </a:tc>
                    <a:tc>
                      <a:txBody>
                        <a:bodyPr/>
                        <a:lstStyle/>
                        <a:p>
                          <a:endParaRPr lang="zh-CN"/>
                        </a:p>
                      </a:txBody>
                      <a:tcPr>
                        <a:blipFill>
                          <a:blip r:embed="rId3"/>
                          <a:stretch>
                            <a:fillRect l="-49367" t="-245000" r="-644304" b="-426667"/>
                          </a:stretch>
                        </a:blipFill>
                      </a:tcPr>
                    </a:tc>
                    <a:tc>
                      <a:txBody>
                        <a:bodyPr/>
                        <a:lstStyle/>
                        <a:p>
                          <a:r>
                            <a:rPr lang="en-US" altLang="zh-CN" dirty="0" smtClean="0"/>
                            <a:t>2</a:t>
                          </a:r>
                          <a:endParaRPr lang="zh-CN" altLang="en-US" dirty="0"/>
                        </a:p>
                      </a:txBody>
                      <a:tcPr/>
                    </a:tc>
                    <a:tc>
                      <a:txBody>
                        <a:bodyPr/>
                        <a:lstStyle/>
                        <a:p>
                          <a:r>
                            <a:rPr lang="en-US" altLang="zh-CN" dirty="0" smtClean="0"/>
                            <a:t>11</a:t>
                          </a:r>
                          <a:endParaRPr lang="zh-CN" altLang="en-US" dirty="0"/>
                        </a:p>
                      </a:txBody>
                      <a:tcPr/>
                    </a:tc>
                    <a:tc>
                      <a:txBody>
                        <a:bodyPr/>
                        <a:lstStyle/>
                        <a:p>
                          <a:r>
                            <a:rPr lang="en-US" altLang="zh-CN" dirty="0" smtClean="0"/>
                            <a:t>13</a:t>
                          </a:r>
                          <a:endParaRPr lang="zh-CN" altLang="en-US" dirty="0"/>
                        </a:p>
                      </a:txBody>
                      <a:tcPr/>
                    </a:tc>
                    <a:tc rowSpan="3">
                      <a:txBody>
                        <a:bodyPr/>
                        <a:lstStyle/>
                        <a:p>
                          <a:r>
                            <a:rPr lang="en-US" altLang="zh-CN" dirty="0" smtClean="0"/>
                            <a:t>13</a:t>
                          </a:r>
                          <a:endParaRPr lang="zh-CN" altLang="en-US" dirty="0"/>
                        </a:p>
                      </a:txBody>
                      <a:tcPr/>
                    </a:tc>
                    <a:tc rowSpan="3">
                      <a:txBody>
                        <a:bodyPr/>
                        <a:lstStyle/>
                        <a:p>
                          <a:endParaRPr lang="zh-CN"/>
                        </a:p>
                      </a:txBody>
                      <a:tcPr>
                        <a:blipFill>
                          <a:blip r:embed="rId3"/>
                          <a:stretch>
                            <a:fillRect l="-455556" t="-81215" r="-1778" b="-74586"/>
                          </a:stretch>
                        </a:blipFill>
                      </a:tcPr>
                    </a:tc>
                    <a:extLst>
                      <a:ext uri="{0D108BD9-81ED-4DB2-BD59-A6C34878D82A}">
                        <a16:rowId xmlns:a16="http://schemas.microsoft.com/office/drawing/2014/main" val="1091311635"/>
                      </a:ext>
                    </a:extLst>
                  </a:tr>
                  <a:tr h="365760">
                    <a:tc vMerge="1">
                      <a:txBody>
                        <a:bodyPr/>
                        <a:lstStyle/>
                        <a:p>
                          <a:pPr/>
                          <a:endParaRPr lang="zh-CN" altLang="en-US" dirty="0"/>
                        </a:p>
                      </a:txBody>
                      <a:tcPr/>
                    </a:tc>
                    <a:tc>
                      <a:txBody>
                        <a:bodyPr/>
                        <a:lstStyle/>
                        <a:p>
                          <a:endParaRPr lang="zh-CN"/>
                        </a:p>
                      </a:txBody>
                      <a:tcPr>
                        <a:blipFill>
                          <a:blip r:embed="rId3"/>
                          <a:stretch>
                            <a:fillRect l="-49367" t="-345000" r="-644304" b="-326667"/>
                          </a:stretch>
                        </a:blipFill>
                      </a:tcPr>
                    </a:tc>
                    <a:tc>
                      <a:txBody>
                        <a:bodyPr/>
                        <a:lstStyle/>
                        <a:p>
                          <a:r>
                            <a:rPr lang="en-US" altLang="zh-CN" dirty="0" smtClean="0"/>
                            <a:t>1</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14</a:t>
                          </a:r>
                          <a:endParaRPr lang="zh-CN" altLang="en-US" dirty="0"/>
                        </a:p>
                      </a:txBody>
                      <a:tcPr/>
                    </a:tc>
                    <a:tc vMerge="1">
                      <a:txBody>
                        <a:bodyPr/>
                        <a:lstStyle/>
                        <a:p>
                          <a:endParaRPr lang="zh-CN" altLang="en-US" dirty="0"/>
                        </a:p>
                      </a:txBody>
                      <a:tcPr/>
                    </a:tc>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752238598"/>
                      </a:ext>
                    </a:extLst>
                  </a:tr>
                  <a:tr h="365760">
                    <a:tc vMerge="1">
                      <a:txBody>
                        <a:bodyPr/>
                        <a:lstStyle/>
                        <a:p>
                          <a:endParaRPr lang="zh-CN" altLang="en-US" dirty="0"/>
                        </a:p>
                      </a:txBody>
                      <a:tcPr/>
                    </a:tc>
                    <a:tc>
                      <a:txBody>
                        <a:bodyPr/>
                        <a:lstStyle/>
                        <a:p>
                          <a:endParaRPr lang="zh-CN"/>
                        </a:p>
                      </a:txBody>
                      <a:tcPr>
                        <a:blipFill>
                          <a:blip r:embed="rId3"/>
                          <a:stretch>
                            <a:fillRect l="-49367" t="-437705" r="-644304" b="-221311"/>
                          </a:stretch>
                        </a:blipFill>
                      </a:tcPr>
                    </a:tc>
                    <a:tc>
                      <a:txBody>
                        <a:bodyPr/>
                        <a:lstStyle/>
                        <a:p>
                          <a:r>
                            <a:rPr lang="en-US" altLang="zh-CN" dirty="0" smtClean="0"/>
                            <a:t>3</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16</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2944060997"/>
                      </a:ext>
                    </a:extLst>
                  </a:tr>
                  <a:tr h="365760">
                    <a:tc rowSpan="2">
                      <a:txBody>
                        <a:bodyPr/>
                        <a:lstStyle/>
                        <a:p>
                          <a:endParaRPr lang="zh-CN"/>
                        </a:p>
                      </a:txBody>
                      <a:tcPr>
                        <a:blipFill>
                          <a:blip r:embed="rId3"/>
                          <a:stretch>
                            <a:fillRect l="-1299" t="-273333" r="-1527273" b="-12500"/>
                          </a:stretch>
                        </a:blipFill>
                      </a:tcPr>
                    </a:tc>
                    <a:tc>
                      <a:txBody>
                        <a:bodyPr/>
                        <a:lstStyle/>
                        <a:p>
                          <a:endParaRPr lang="zh-CN"/>
                        </a:p>
                      </a:txBody>
                      <a:tcPr>
                        <a:blipFill>
                          <a:blip r:embed="rId3"/>
                          <a:stretch>
                            <a:fillRect l="-49367" t="-546667" r="-644304" b="-125000"/>
                          </a:stretch>
                        </a:blipFill>
                      </a:tcPr>
                    </a:tc>
                    <a:tc>
                      <a:txBody>
                        <a:bodyPr/>
                        <a:lstStyle/>
                        <a:p>
                          <a:r>
                            <a:rPr lang="en-US" altLang="zh-CN" dirty="0" smtClean="0"/>
                            <a:t>2</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15</a:t>
                          </a:r>
                          <a:endParaRPr lang="zh-CN" altLang="en-US" dirty="0"/>
                        </a:p>
                      </a:txBody>
                      <a:tcPr/>
                    </a:tc>
                    <a:tc rowSpan="2">
                      <a:txBody>
                        <a:bodyPr/>
                        <a:lstStyle/>
                        <a:p>
                          <a:r>
                            <a:rPr lang="en-US" altLang="zh-CN" dirty="0" smtClean="0"/>
                            <a:t>15</a:t>
                          </a:r>
                          <a:endParaRPr lang="zh-CN" altLang="en-US" dirty="0"/>
                        </a:p>
                      </a:txBody>
                      <a:tcPr/>
                    </a:tc>
                    <a:tc rowSpan="2">
                      <a:txBody>
                        <a:bodyPr/>
                        <a:lstStyle/>
                        <a:p>
                          <a:endParaRPr lang="zh-CN"/>
                        </a:p>
                      </a:txBody>
                      <a:tcPr>
                        <a:blipFill>
                          <a:blip r:embed="rId3"/>
                          <a:stretch>
                            <a:fillRect l="-455556" t="-273333" r="-1778" b="-12500"/>
                          </a:stretch>
                        </a:blipFill>
                      </a:tcPr>
                    </a:tc>
                    <a:extLst>
                      <a:ext uri="{0D108BD9-81ED-4DB2-BD59-A6C34878D82A}">
                        <a16:rowId xmlns:a16="http://schemas.microsoft.com/office/drawing/2014/main" val="3280564706"/>
                      </a:ext>
                    </a:extLst>
                  </a:tr>
                  <a:tr h="365760">
                    <a:tc vMerge="1">
                      <a:txBody>
                        <a:bodyPr/>
                        <a:lstStyle/>
                        <a:p>
                          <a:endParaRPr lang="zh-CN" altLang="en-US" dirty="0"/>
                        </a:p>
                      </a:txBody>
                      <a:tcPr/>
                    </a:tc>
                    <a:tc>
                      <a:txBody>
                        <a:bodyPr/>
                        <a:lstStyle/>
                        <a:p>
                          <a:endParaRPr lang="zh-CN"/>
                        </a:p>
                      </a:txBody>
                      <a:tcPr>
                        <a:blipFill>
                          <a:blip r:embed="rId3"/>
                          <a:stretch>
                            <a:fillRect l="-49367" t="-646667" r="-644304" b="-25000"/>
                          </a:stretch>
                        </a:blipFill>
                      </a:tcPr>
                    </a:tc>
                    <a:tc>
                      <a:txBody>
                        <a:bodyPr/>
                        <a:lstStyle/>
                        <a:p>
                          <a:r>
                            <a:rPr lang="en-US" altLang="zh-CN" dirty="0" smtClean="0"/>
                            <a:t>3</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16</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74687360"/>
                      </a:ext>
                    </a:extLst>
                  </a:tr>
                </a:tbl>
              </a:graphicData>
            </a:graphic>
          </p:graphicFrame>
        </mc:Fallback>
      </mc:AlternateContent>
      <p:sp>
        <p:nvSpPr>
          <p:cNvPr id="19" name="矩形 18"/>
          <p:cNvSpPr/>
          <p:nvPr/>
        </p:nvSpPr>
        <p:spPr>
          <a:xfrm>
            <a:off x="-26526" y="4556784"/>
            <a:ext cx="1056404" cy="341632"/>
          </a:xfrm>
          <a:prstGeom prst="rect">
            <a:avLst/>
          </a:prstGeom>
        </p:spPr>
        <p:txBody>
          <a:bodyPr wrap="square">
            <a:spAutoFit/>
          </a:bodyPr>
          <a:lstStyle/>
          <a:p>
            <a:pPr marL="0" lvl="2" defTabSz="179388" eaLnBrk="1" hangingPunct="1">
              <a:lnSpc>
                <a:spcPct val="90000"/>
              </a:lnSpc>
            </a:pPr>
            <a:r>
              <a:rPr lang="zh-CN" altLang="en-US" sz="1800" dirty="0" smtClean="0"/>
              <a:t>阶段</a:t>
            </a:r>
            <a:r>
              <a:rPr lang="en-US" altLang="zh-CN" sz="1800" dirty="0" smtClean="0"/>
              <a:t>k=4</a:t>
            </a:r>
            <a:endParaRPr lang="zh-CN" altLang="en-US" sz="1800" dirty="0"/>
          </a:p>
        </p:txBody>
      </p:sp>
      <p:pic>
        <p:nvPicPr>
          <p:cNvPr id="52"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07704" y="1556792"/>
            <a:ext cx="5113942" cy="207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Line 9"/>
          <p:cNvSpPr>
            <a:spLocks noChangeShapeType="1"/>
          </p:cNvSpPr>
          <p:nvPr/>
        </p:nvSpPr>
        <p:spPr bwMode="auto">
          <a:xfrm flipH="1">
            <a:off x="2233291" y="1778592"/>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54" name="Line 12"/>
          <p:cNvSpPr>
            <a:spLocks noChangeShapeType="1"/>
          </p:cNvSpPr>
          <p:nvPr/>
        </p:nvSpPr>
        <p:spPr bwMode="auto">
          <a:xfrm>
            <a:off x="298895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55" name="Line 12"/>
          <p:cNvSpPr>
            <a:spLocks noChangeShapeType="1"/>
          </p:cNvSpPr>
          <p:nvPr/>
        </p:nvSpPr>
        <p:spPr bwMode="auto">
          <a:xfrm>
            <a:off x="442911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56" name="Line 9"/>
          <p:cNvSpPr>
            <a:spLocks noChangeShapeType="1"/>
          </p:cNvSpPr>
          <p:nvPr/>
        </p:nvSpPr>
        <p:spPr bwMode="auto">
          <a:xfrm flipH="1">
            <a:off x="5113611" y="1772816"/>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57" name="Line 12"/>
          <p:cNvSpPr>
            <a:spLocks noChangeShapeType="1"/>
          </p:cNvSpPr>
          <p:nvPr/>
        </p:nvSpPr>
        <p:spPr bwMode="auto">
          <a:xfrm>
            <a:off x="5869270" y="1772816"/>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58" name="文本框 57"/>
          <p:cNvSpPr txBox="1"/>
          <p:nvPr/>
        </p:nvSpPr>
        <p:spPr bwMode="auto">
          <a:xfrm>
            <a:off x="2752447" y="164865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5</a:t>
            </a:r>
            <a:endParaRPr lang="zh-CN" altLang="en-US" sz="1800" dirty="0">
              <a:latin typeface="Times New Roman" panose="02020603050405020304" pitchFamily="18" charset="0"/>
              <a:cs typeface="Courier New" panose="02070309020205020404" pitchFamily="49" charset="0"/>
            </a:endParaRPr>
          </a:p>
        </p:txBody>
      </p:sp>
      <p:cxnSp>
        <p:nvCxnSpPr>
          <p:cNvPr id="59" name="直接箭头连接符 58"/>
          <p:cNvCxnSpPr/>
          <p:nvPr/>
        </p:nvCxnSpPr>
        <p:spPr bwMode="auto">
          <a:xfrm flipH="1" flipV="1">
            <a:off x="2332377" y="2708920"/>
            <a:ext cx="467236" cy="309188"/>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 name="文本框 59"/>
          <p:cNvSpPr txBox="1"/>
          <p:nvPr/>
        </p:nvSpPr>
        <p:spPr bwMode="auto">
          <a:xfrm>
            <a:off x="2799613" y="264313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3</a:t>
            </a:r>
            <a:endParaRPr lang="zh-CN" altLang="en-US" sz="1800" dirty="0">
              <a:latin typeface="Times New Roman" panose="02020603050405020304" pitchFamily="18" charset="0"/>
              <a:cs typeface="Courier New" panose="02070309020205020404" pitchFamily="49" charset="0"/>
            </a:endParaRPr>
          </a:p>
        </p:txBody>
      </p:sp>
      <p:cxnSp>
        <p:nvCxnSpPr>
          <p:cNvPr id="61" name="直接箭头连接符 60"/>
          <p:cNvCxnSpPr/>
          <p:nvPr/>
        </p:nvCxnSpPr>
        <p:spPr bwMode="auto">
          <a:xfrm flipH="1">
            <a:off x="2332377" y="2276872"/>
            <a:ext cx="420070" cy="28979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文本框 61"/>
          <p:cNvSpPr txBox="1"/>
          <p:nvPr/>
        </p:nvSpPr>
        <p:spPr bwMode="auto">
          <a:xfrm>
            <a:off x="2032295" y="219169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0</a:t>
            </a:r>
            <a:endParaRPr lang="zh-CN" altLang="en-US" sz="1800" dirty="0">
              <a:latin typeface="Times New Roman" panose="02020603050405020304" pitchFamily="18" charset="0"/>
              <a:cs typeface="Courier New" panose="02070309020205020404" pitchFamily="49" charset="0"/>
            </a:endParaRPr>
          </a:p>
        </p:txBody>
      </p:sp>
      <p:sp>
        <p:nvSpPr>
          <p:cNvPr id="63" name="文本框 62"/>
          <p:cNvSpPr txBox="1"/>
          <p:nvPr/>
        </p:nvSpPr>
        <p:spPr bwMode="auto">
          <a:xfrm>
            <a:off x="3491880" y="134076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6</a:t>
            </a:r>
            <a:endParaRPr lang="zh-CN" altLang="en-US" sz="1800" dirty="0">
              <a:latin typeface="Times New Roman" panose="02020603050405020304" pitchFamily="18" charset="0"/>
              <a:cs typeface="Courier New" panose="02070309020205020404" pitchFamily="49" charset="0"/>
            </a:endParaRPr>
          </a:p>
        </p:txBody>
      </p:sp>
      <p:cxnSp>
        <p:nvCxnSpPr>
          <p:cNvPr id="64" name="直接箭头连接符 63"/>
          <p:cNvCxnSpPr/>
          <p:nvPr/>
        </p:nvCxnSpPr>
        <p:spPr bwMode="auto">
          <a:xfrm flipH="1">
            <a:off x="3050870" y="1854852"/>
            <a:ext cx="414185" cy="20593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文本框 64"/>
          <p:cNvSpPr txBox="1"/>
          <p:nvPr/>
        </p:nvSpPr>
        <p:spPr bwMode="auto">
          <a:xfrm>
            <a:off x="3479830" y="184488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8</a:t>
            </a:r>
            <a:endParaRPr lang="zh-CN" altLang="en-US" sz="1800" dirty="0">
              <a:latin typeface="Times New Roman" panose="02020603050405020304" pitchFamily="18" charset="0"/>
              <a:cs typeface="Courier New" panose="02070309020205020404" pitchFamily="49" charset="0"/>
            </a:endParaRPr>
          </a:p>
        </p:txBody>
      </p:sp>
      <p:cxnSp>
        <p:nvCxnSpPr>
          <p:cNvPr id="66" name="直接箭头连接符 65"/>
          <p:cNvCxnSpPr/>
          <p:nvPr/>
        </p:nvCxnSpPr>
        <p:spPr bwMode="auto">
          <a:xfrm flipH="1" flipV="1">
            <a:off x="3099695" y="2184198"/>
            <a:ext cx="359815" cy="82784"/>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文本框 66"/>
          <p:cNvSpPr txBox="1"/>
          <p:nvPr/>
        </p:nvSpPr>
        <p:spPr bwMode="auto">
          <a:xfrm>
            <a:off x="3447122" y="2447661"/>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10</a:t>
            </a:r>
            <a:endParaRPr lang="zh-CN" altLang="en-US" sz="1800" dirty="0">
              <a:latin typeface="Times New Roman" panose="02020603050405020304" pitchFamily="18" charset="0"/>
              <a:cs typeface="Courier New" panose="02070309020205020404" pitchFamily="49" charset="0"/>
            </a:endParaRPr>
          </a:p>
        </p:txBody>
      </p:sp>
      <p:cxnSp>
        <p:nvCxnSpPr>
          <p:cNvPr id="68" name="直接箭头连接符 67"/>
          <p:cNvCxnSpPr/>
          <p:nvPr/>
        </p:nvCxnSpPr>
        <p:spPr bwMode="auto">
          <a:xfrm flipH="1">
            <a:off x="3127503" y="2925004"/>
            <a:ext cx="390603" cy="117312"/>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文本框 68"/>
          <p:cNvSpPr txBox="1"/>
          <p:nvPr/>
        </p:nvSpPr>
        <p:spPr bwMode="auto">
          <a:xfrm>
            <a:off x="3531518" y="2957142"/>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9</a:t>
            </a:r>
            <a:endParaRPr lang="zh-CN" altLang="en-US" sz="1800" dirty="0">
              <a:latin typeface="Times New Roman" panose="02020603050405020304" pitchFamily="18" charset="0"/>
              <a:cs typeface="Courier New" panose="02070309020205020404" pitchFamily="49" charset="0"/>
            </a:endParaRPr>
          </a:p>
        </p:txBody>
      </p:sp>
      <p:cxnSp>
        <p:nvCxnSpPr>
          <p:cNvPr id="70" name="直接箭头连接符 69"/>
          <p:cNvCxnSpPr/>
          <p:nvPr/>
        </p:nvCxnSpPr>
        <p:spPr bwMode="auto">
          <a:xfrm flipH="1" flipV="1">
            <a:off x="3099695" y="3176823"/>
            <a:ext cx="431824" cy="160337"/>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文本框 70"/>
          <p:cNvSpPr txBox="1"/>
          <p:nvPr/>
        </p:nvSpPr>
        <p:spPr bwMode="auto">
          <a:xfrm>
            <a:off x="4218506" y="1493168"/>
            <a:ext cx="406906"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11</a:t>
            </a:r>
            <a:endParaRPr lang="zh-CN" altLang="en-US" sz="1800" dirty="0">
              <a:latin typeface="Times New Roman" panose="02020603050405020304" pitchFamily="18" charset="0"/>
              <a:cs typeface="Courier New" panose="02070309020205020404" pitchFamily="49" charset="0"/>
            </a:endParaRPr>
          </a:p>
        </p:txBody>
      </p:sp>
      <p:cxnSp>
        <p:nvCxnSpPr>
          <p:cNvPr id="72" name="直接箭头连接符 71"/>
          <p:cNvCxnSpPr/>
          <p:nvPr/>
        </p:nvCxnSpPr>
        <p:spPr bwMode="auto">
          <a:xfrm flipH="1">
            <a:off x="3830908" y="2007252"/>
            <a:ext cx="414185" cy="20593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文本框 72"/>
          <p:cNvSpPr txBox="1"/>
          <p:nvPr/>
        </p:nvSpPr>
        <p:spPr bwMode="auto">
          <a:xfrm>
            <a:off x="4232806" y="2132916"/>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13</a:t>
            </a:r>
            <a:endParaRPr lang="zh-CN" altLang="en-US" sz="1800" dirty="0">
              <a:latin typeface="Times New Roman" panose="02020603050405020304" pitchFamily="18" charset="0"/>
              <a:cs typeface="Courier New" panose="02070309020205020404" pitchFamily="49" charset="0"/>
            </a:endParaRPr>
          </a:p>
        </p:txBody>
      </p:sp>
      <p:cxnSp>
        <p:nvCxnSpPr>
          <p:cNvPr id="74" name="直接箭头连接符 73"/>
          <p:cNvCxnSpPr/>
          <p:nvPr/>
        </p:nvCxnSpPr>
        <p:spPr bwMode="auto">
          <a:xfrm flipH="1">
            <a:off x="3862620" y="2647000"/>
            <a:ext cx="401071" cy="152340"/>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箭头连接符 74"/>
          <p:cNvCxnSpPr/>
          <p:nvPr/>
        </p:nvCxnSpPr>
        <p:spPr bwMode="auto">
          <a:xfrm flipH="1" flipV="1">
            <a:off x="3830908" y="2366066"/>
            <a:ext cx="421331" cy="147082"/>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文本框 75"/>
          <p:cNvSpPr txBox="1"/>
          <p:nvPr/>
        </p:nvSpPr>
        <p:spPr bwMode="auto">
          <a:xfrm>
            <a:off x="4228510" y="2690568"/>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13</a:t>
            </a:r>
            <a:endParaRPr lang="zh-CN" altLang="en-US" sz="1800" dirty="0">
              <a:latin typeface="Times New Roman" panose="02020603050405020304" pitchFamily="18" charset="0"/>
              <a:cs typeface="Courier New" panose="02070309020205020404" pitchFamily="49" charset="0"/>
            </a:endParaRPr>
          </a:p>
        </p:txBody>
      </p:sp>
      <p:cxnSp>
        <p:nvCxnSpPr>
          <p:cNvPr id="77" name="直接箭头连接符 76"/>
          <p:cNvCxnSpPr/>
          <p:nvPr/>
        </p:nvCxnSpPr>
        <p:spPr bwMode="auto">
          <a:xfrm flipH="1">
            <a:off x="3858324" y="3204652"/>
            <a:ext cx="401071" cy="152340"/>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直接箭头连接符 77"/>
          <p:cNvCxnSpPr/>
          <p:nvPr/>
        </p:nvCxnSpPr>
        <p:spPr bwMode="auto">
          <a:xfrm flipH="1" flipV="1">
            <a:off x="3826612" y="2923718"/>
            <a:ext cx="421331" cy="147082"/>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矩形 33"/>
          <p:cNvSpPr/>
          <p:nvPr/>
        </p:nvSpPr>
        <p:spPr>
          <a:xfrm>
            <a:off x="326241" y="3440128"/>
            <a:ext cx="6768752" cy="341632"/>
          </a:xfrm>
          <a:prstGeom prst="rect">
            <a:avLst/>
          </a:prstGeom>
        </p:spPr>
        <p:txBody>
          <a:bodyPr wrap="square">
            <a:spAutoFit/>
          </a:bodyPr>
          <a:lstStyle/>
          <a:p>
            <a:pPr lvl="2" eaLnBrk="1" hangingPunct="1">
              <a:lnSpc>
                <a:spcPct val="90000"/>
              </a:lnSpc>
            </a:pPr>
            <a:r>
              <a:rPr lang="zh-CN" altLang="en-US" sz="1800" dirty="0" smtClean="0"/>
              <a:t>阶段</a:t>
            </a:r>
            <a:r>
              <a:rPr lang="en-US" altLang="zh-CN" sz="1800" dirty="0" smtClean="0"/>
              <a:t>k</a:t>
            </a:r>
            <a:r>
              <a:rPr lang="zh-CN" altLang="en-US" sz="1800" dirty="0" smtClean="0"/>
              <a:t>： 阶段</a:t>
            </a:r>
            <a:r>
              <a:rPr lang="en-US" altLang="zh-CN" sz="1800" dirty="0" smtClean="0"/>
              <a:t>1   </a:t>
            </a:r>
            <a:r>
              <a:rPr lang="zh-CN" altLang="en-US" sz="1800" dirty="0" smtClean="0"/>
              <a:t>阶段</a:t>
            </a:r>
            <a:r>
              <a:rPr lang="en-US" altLang="zh-CN" sz="1800" dirty="0" smtClean="0"/>
              <a:t>2   </a:t>
            </a:r>
            <a:r>
              <a:rPr lang="zh-CN" altLang="en-US" sz="1800" dirty="0" smtClean="0"/>
              <a:t>阶段</a:t>
            </a:r>
            <a:r>
              <a:rPr lang="en-US" altLang="zh-CN" sz="1800" dirty="0" smtClean="0"/>
              <a:t>3  </a:t>
            </a:r>
            <a:r>
              <a:rPr lang="zh-CN" altLang="en-US" sz="1800" dirty="0" smtClean="0"/>
              <a:t>阶段</a:t>
            </a:r>
            <a:r>
              <a:rPr lang="en-US" altLang="zh-CN" sz="1800" dirty="0" smtClean="0"/>
              <a:t>4  </a:t>
            </a:r>
            <a:r>
              <a:rPr lang="zh-CN" altLang="en-US" sz="1800" dirty="0" smtClean="0"/>
              <a:t>阶段</a:t>
            </a:r>
            <a:r>
              <a:rPr lang="en-US" altLang="zh-CN" sz="1800" dirty="0" smtClean="0"/>
              <a:t>5  </a:t>
            </a:r>
            <a:r>
              <a:rPr lang="zh-CN" altLang="en-US" sz="1800" dirty="0" smtClean="0"/>
              <a:t>阶段</a:t>
            </a:r>
            <a:r>
              <a:rPr lang="en-US" altLang="zh-CN" sz="1800" dirty="0" smtClean="0"/>
              <a:t>6</a:t>
            </a:r>
            <a:endParaRPr lang="zh-CN" altLang="en-US" sz="1800" dirty="0"/>
          </a:p>
        </p:txBody>
      </p:sp>
      <p:sp>
        <p:nvSpPr>
          <p:cNvPr id="79" name="文本框 78"/>
          <p:cNvSpPr txBox="1"/>
          <p:nvPr/>
        </p:nvSpPr>
        <p:spPr bwMode="auto">
          <a:xfrm>
            <a:off x="4932040" y="1484784"/>
            <a:ext cx="406906"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11</a:t>
            </a:r>
            <a:endParaRPr lang="zh-CN" altLang="en-US" sz="1800" dirty="0">
              <a:latin typeface="Times New Roman" panose="02020603050405020304" pitchFamily="18" charset="0"/>
              <a:cs typeface="Courier New" panose="02070309020205020404" pitchFamily="49" charset="0"/>
            </a:endParaRPr>
          </a:p>
        </p:txBody>
      </p:sp>
      <p:cxnSp>
        <p:nvCxnSpPr>
          <p:cNvPr id="80" name="直接箭头连接符 79"/>
          <p:cNvCxnSpPr/>
          <p:nvPr/>
        </p:nvCxnSpPr>
        <p:spPr bwMode="auto">
          <a:xfrm flipH="1">
            <a:off x="4572000" y="1916832"/>
            <a:ext cx="385183" cy="0"/>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文本框 80"/>
          <p:cNvSpPr txBox="1"/>
          <p:nvPr/>
        </p:nvSpPr>
        <p:spPr bwMode="auto">
          <a:xfrm>
            <a:off x="4885174" y="2060848"/>
            <a:ext cx="406906"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11</a:t>
            </a:r>
            <a:endParaRPr lang="zh-CN" altLang="en-US" sz="1800" dirty="0">
              <a:latin typeface="Times New Roman" panose="02020603050405020304" pitchFamily="18" charset="0"/>
              <a:cs typeface="Courier New" panose="02070309020205020404" pitchFamily="49" charset="0"/>
            </a:endParaRPr>
          </a:p>
        </p:txBody>
      </p:sp>
      <p:cxnSp>
        <p:nvCxnSpPr>
          <p:cNvPr id="82" name="直接箭头连接符 81"/>
          <p:cNvCxnSpPr/>
          <p:nvPr/>
        </p:nvCxnSpPr>
        <p:spPr bwMode="auto">
          <a:xfrm flipH="1" flipV="1">
            <a:off x="4572000" y="2060788"/>
            <a:ext cx="385182" cy="338151"/>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文本框 82"/>
          <p:cNvSpPr txBox="1"/>
          <p:nvPr/>
        </p:nvSpPr>
        <p:spPr bwMode="auto">
          <a:xfrm>
            <a:off x="4880878" y="2636972"/>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15</a:t>
            </a:r>
            <a:endParaRPr lang="zh-CN" altLang="en-US" sz="1800" dirty="0">
              <a:latin typeface="Times New Roman" panose="02020603050405020304" pitchFamily="18" charset="0"/>
              <a:cs typeface="Courier New" panose="02070309020205020404" pitchFamily="49" charset="0"/>
            </a:endParaRPr>
          </a:p>
        </p:txBody>
      </p:sp>
      <p:cxnSp>
        <p:nvCxnSpPr>
          <p:cNvPr id="84" name="直接箭头连接符 83"/>
          <p:cNvCxnSpPr/>
          <p:nvPr/>
        </p:nvCxnSpPr>
        <p:spPr bwMode="auto">
          <a:xfrm flipH="1" flipV="1">
            <a:off x="4556449" y="2643134"/>
            <a:ext cx="417647" cy="31400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468154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79" grpId="0" animBg="1"/>
      <p:bldP spid="81" grpId="0" animBg="1"/>
      <p:bldP spid="8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7704" y="1556792"/>
            <a:ext cx="5113942" cy="207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Line 9"/>
          <p:cNvSpPr>
            <a:spLocks noChangeShapeType="1"/>
          </p:cNvSpPr>
          <p:nvPr/>
        </p:nvSpPr>
        <p:spPr bwMode="auto">
          <a:xfrm flipH="1">
            <a:off x="2233291" y="1778592"/>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48" name="Line 12"/>
          <p:cNvSpPr>
            <a:spLocks noChangeShapeType="1"/>
          </p:cNvSpPr>
          <p:nvPr/>
        </p:nvSpPr>
        <p:spPr bwMode="auto">
          <a:xfrm>
            <a:off x="298895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49" name="Line 12"/>
          <p:cNvSpPr>
            <a:spLocks noChangeShapeType="1"/>
          </p:cNvSpPr>
          <p:nvPr/>
        </p:nvSpPr>
        <p:spPr bwMode="auto">
          <a:xfrm>
            <a:off x="442911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50" name="Line 9"/>
          <p:cNvSpPr>
            <a:spLocks noChangeShapeType="1"/>
          </p:cNvSpPr>
          <p:nvPr/>
        </p:nvSpPr>
        <p:spPr bwMode="auto">
          <a:xfrm flipH="1">
            <a:off x="5113611" y="1772816"/>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51" name="Line 12"/>
          <p:cNvSpPr>
            <a:spLocks noChangeShapeType="1"/>
          </p:cNvSpPr>
          <p:nvPr/>
        </p:nvSpPr>
        <p:spPr bwMode="auto">
          <a:xfrm>
            <a:off x="5869270" y="1772816"/>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52" name="文本框 51"/>
          <p:cNvSpPr txBox="1"/>
          <p:nvPr/>
        </p:nvSpPr>
        <p:spPr bwMode="auto">
          <a:xfrm>
            <a:off x="2752447" y="164865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5</a:t>
            </a:r>
            <a:endParaRPr lang="zh-CN" altLang="en-US" sz="1800" dirty="0">
              <a:latin typeface="Times New Roman" panose="02020603050405020304" pitchFamily="18" charset="0"/>
              <a:cs typeface="Courier New" panose="02070309020205020404" pitchFamily="49" charset="0"/>
            </a:endParaRPr>
          </a:p>
        </p:txBody>
      </p:sp>
      <p:cxnSp>
        <p:nvCxnSpPr>
          <p:cNvPr id="53" name="直接箭头连接符 52"/>
          <p:cNvCxnSpPr/>
          <p:nvPr/>
        </p:nvCxnSpPr>
        <p:spPr bwMode="auto">
          <a:xfrm flipH="1" flipV="1">
            <a:off x="2332377" y="2708920"/>
            <a:ext cx="467236" cy="309188"/>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文本框 53"/>
          <p:cNvSpPr txBox="1"/>
          <p:nvPr/>
        </p:nvSpPr>
        <p:spPr bwMode="auto">
          <a:xfrm>
            <a:off x="2799613" y="264313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3</a:t>
            </a:r>
            <a:endParaRPr lang="zh-CN" altLang="en-US" sz="1800" dirty="0">
              <a:latin typeface="Times New Roman" panose="02020603050405020304" pitchFamily="18" charset="0"/>
              <a:cs typeface="Courier New" panose="02070309020205020404" pitchFamily="49" charset="0"/>
            </a:endParaRPr>
          </a:p>
        </p:txBody>
      </p:sp>
      <p:cxnSp>
        <p:nvCxnSpPr>
          <p:cNvPr id="55" name="直接箭头连接符 54"/>
          <p:cNvCxnSpPr/>
          <p:nvPr/>
        </p:nvCxnSpPr>
        <p:spPr bwMode="auto">
          <a:xfrm flipH="1">
            <a:off x="2332377" y="2276872"/>
            <a:ext cx="420070" cy="28979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文本框 55"/>
          <p:cNvSpPr txBox="1"/>
          <p:nvPr/>
        </p:nvSpPr>
        <p:spPr bwMode="auto">
          <a:xfrm>
            <a:off x="2032295" y="219169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0</a:t>
            </a:r>
            <a:endParaRPr lang="zh-CN" altLang="en-US" sz="1800" dirty="0">
              <a:latin typeface="Times New Roman" panose="02020603050405020304" pitchFamily="18" charset="0"/>
              <a:cs typeface="Courier New" panose="02070309020205020404" pitchFamily="49" charset="0"/>
            </a:endParaRPr>
          </a:p>
        </p:txBody>
      </p:sp>
      <p:sp>
        <p:nvSpPr>
          <p:cNvPr id="57" name="文本框 56"/>
          <p:cNvSpPr txBox="1"/>
          <p:nvPr/>
        </p:nvSpPr>
        <p:spPr bwMode="auto">
          <a:xfrm>
            <a:off x="3491880" y="134076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6</a:t>
            </a:r>
            <a:endParaRPr lang="zh-CN" altLang="en-US" sz="1800" dirty="0">
              <a:latin typeface="Times New Roman" panose="02020603050405020304" pitchFamily="18" charset="0"/>
              <a:cs typeface="Courier New" panose="02070309020205020404" pitchFamily="49" charset="0"/>
            </a:endParaRPr>
          </a:p>
        </p:txBody>
      </p:sp>
      <p:cxnSp>
        <p:nvCxnSpPr>
          <p:cNvPr id="58" name="直接箭头连接符 57"/>
          <p:cNvCxnSpPr/>
          <p:nvPr/>
        </p:nvCxnSpPr>
        <p:spPr bwMode="auto">
          <a:xfrm flipH="1">
            <a:off x="3050870" y="1854852"/>
            <a:ext cx="414185" cy="20593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文本框 58"/>
          <p:cNvSpPr txBox="1"/>
          <p:nvPr/>
        </p:nvSpPr>
        <p:spPr bwMode="auto">
          <a:xfrm>
            <a:off x="3479830" y="184488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8</a:t>
            </a:r>
            <a:endParaRPr lang="zh-CN" altLang="en-US" sz="1800" dirty="0">
              <a:latin typeface="Times New Roman" panose="02020603050405020304" pitchFamily="18" charset="0"/>
              <a:cs typeface="Courier New" panose="02070309020205020404" pitchFamily="49" charset="0"/>
            </a:endParaRPr>
          </a:p>
        </p:txBody>
      </p:sp>
      <p:cxnSp>
        <p:nvCxnSpPr>
          <p:cNvPr id="60" name="直接箭头连接符 59"/>
          <p:cNvCxnSpPr/>
          <p:nvPr/>
        </p:nvCxnSpPr>
        <p:spPr bwMode="auto">
          <a:xfrm flipH="1" flipV="1">
            <a:off x="3099695" y="2184198"/>
            <a:ext cx="359815" cy="82784"/>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文本框 60"/>
          <p:cNvSpPr txBox="1"/>
          <p:nvPr/>
        </p:nvSpPr>
        <p:spPr bwMode="auto">
          <a:xfrm>
            <a:off x="3447122" y="2447661"/>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10</a:t>
            </a:r>
            <a:endParaRPr lang="zh-CN" altLang="en-US" sz="1800" dirty="0">
              <a:latin typeface="Times New Roman" panose="02020603050405020304" pitchFamily="18" charset="0"/>
              <a:cs typeface="Courier New" panose="02070309020205020404" pitchFamily="49" charset="0"/>
            </a:endParaRPr>
          </a:p>
        </p:txBody>
      </p:sp>
      <p:cxnSp>
        <p:nvCxnSpPr>
          <p:cNvPr id="62" name="直接箭头连接符 61"/>
          <p:cNvCxnSpPr/>
          <p:nvPr/>
        </p:nvCxnSpPr>
        <p:spPr bwMode="auto">
          <a:xfrm flipH="1">
            <a:off x="3127503" y="2925004"/>
            <a:ext cx="390603" cy="117312"/>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文本框 62"/>
          <p:cNvSpPr txBox="1"/>
          <p:nvPr/>
        </p:nvSpPr>
        <p:spPr bwMode="auto">
          <a:xfrm>
            <a:off x="3531518" y="2957142"/>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9</a:t>
            </a:r>
            <a:endParaRPr lang="zh-CN" altLang="en-US" sz="1800" dirty="0">
              <a:latin typeface="Times New Roman" panose="02020603050405020304" pitchFamily="18" charset="0"/>
              <a:cs typeface="Courier New" panose="02070309020205020404" pitchFamily="49" charset="0"/>
            </a:endParaRPr>
          </a:p>
        </p:txBody>
      </p:sp>
      <p:cxnSp>
        <p:nvCxnSpPr>
          <p:cNvPr id="64" name="直接箭头连接符 63"/>
          <p:cNvCxnSpPr/>
          <p:nvPr/>
        </p:nvCxnSpPr>
        <p:spPr bwMode="auto">
          <a:xfrm flipH="1" flipV="1">
            <a:off x="3099695" y="3176823"/>
            <a:ext cx="431824" cy="160337"/>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文本框 64"/>
          <p:cNvSpPr txBox="1"/>
          <p:nvPr/>
        </p:nvSpPr>
        <p:spPr bwMode="auto">
          <a:xfrm>
            <a:off x="4218506" y="1493168"/>
            <a:ext cx="406906"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11</a:t>
            </a:r>
            <a:endParaRPr lang="zh-CN" altLang="en-US" sz="1800" dirty="0">
              <a:latin typeface="Times New Roman" panose="02020603050405020304" pitchFamily="18" charset="0"/>
              <a:cs typeface="Courier New" panose="02070309020205020404" pitchFamily="49" charset="0"/>
            </a:endParaRPr>
          </a:p>
        </p:txBody>
      </p:sp>
      <p:cxnSp>
        <p:nvCxnSpPr>
          <p:cNvPr id="66" name="直接箭头连接符 65"/>
          <p:cNvCxnSpPr/>
          <p:nvPr/>
        </p:nvCxnSpPr>
        <p:spPr bwMode="auto">
          <a:xfrm flipH="1">
            <a:off x="3830908" y="2007252"/>
            <a:ext cx="414185" cy="20593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文本框 66"/>
          <p:cNvSpPr txBox="1"/>
          <p:nvPr/>
        </p:nvSpPr>
        <p:spPr bwMode="auto">
          <a:xfrm>
            <a:off x="4232806" y="2132916"/>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13</a:t>
            </a:r>
            <a:endParaRPr lang="zh-CN" altLang="en-US" sz="1800" dirty="0">
              <a:latin typeface="Times New Roman" panose="02020603050405020304" pitchFamily="18" charset="0"/>
              <a:cs typeface="Courier New" panose="02070309020205020404" pitchFamily="49" charset="0"/>
            </a:endParaRPr>
          </a:p>
        </p:txBody>
      </p:sp>
      <p:cxnSp>
        <p:nvCxnSpPr>
          <p:cNvPr id="68" name="直接箭头连接符 67"/>
          <p:cNvCxnSpPr/>
          <p:nvPr/>
        </p:nvCxnSpPr>
        <p:spPr bwMode="auto">
          <a:xfrm flipH="1">
            <a:off x="3862620" y="2647000"/>
            <a:ext cx="401071" cy="152340"/>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直接箭头连接符 68"/>
          <p:cNvCxnSpPr/>
          <p:nvPr/>
        </p:nvCxnSpPr>
        <p:spPr bwMode="auto">
          <a:xfrm flipH="1" flipV="1">
            <a:off x="3830908" y="2366066"/>
            <a:ext cx="421331" cy="147082"/>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文本框 69"/>
          <p:cNvSpPr txBox="1"/>
          <p:nvPr/>
        </p:nvSpPr>
        <p:spPr bwMode="auto">
          <a:xfrm>
            <a:off x="4228510" y="2690568"/>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13</a:t>
            </a:r>
            <a:endParaRPr lang="zh-CN" altLang="en-US" sz="1800" dirty="0">
              <a:latin typeface="Times New Roman" panose="02020603050405020304" pitchFamily="18" charset="0"/>
              <a:cs typeface="Courier New" panose="02070309020205020404" pitchFamily="49" charset="0"/>
            </a:endParaRPr>
          </a:p>
        </p:txBody>
      </p:sp>
      <p:cxnSp>
        <p:nvCxnSpPr>
          <p:cNvPr id="71" name="直接箭头连接符 70"/>
          <p:cNvCxnSpPr/>
          <p:nvPr/>
        </p:nvCxnSpPr>
        <p:spPr bwMode="auto">
          <a:xfrm flipH="1">
            <a:off x="3858324" y="3204652"/>
            <a:ext cx="401071" cy="152340"/>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箭头连接符 71"/>
          <p:cNvCxnSpPr/>
          <p:nvPr/>
        </p:nvCxnSpPr>
        <p:spPr bwMode="auto">
          <a:xfrm flipH="1" flipV="1">
            <a:off x="3826612" y="2923718"/>
            <a:ext cx="421331" cy="147082"/>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文本框 72"/>
          <p:cNvSpPr txBox="1"/>
          <p:nvPr/>
        </p:nvSpPr>
        <p:spPr bwMode="auto">
          <a:xfrm>
            <a:off x="4932040" y="1484784"/>
            <a:ext cx="406906"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11</a:t>
            </a:r>
            <a:endParaRPr lang="zh-CN" altLang="en-US" sz="1800" dirty="0">
              <a:latin typeface="Times New Roman" panose="02020603050405020304" pitchFamily="18" charset="0"/>
              <a:cs typeface="Courier New" panose="02070309020205020404" pitchFamily="49" charset="0"/>
            </a:endParaRPr>
          </a:p>
        </p:txBody>
      </p:sp>
      <p:cxnSp>
        <p:nvCxnSpPr>
          <p:cNvPr id="74" name="直接箭头连接符 73"/>
          <p:cNvCxnSpPr/>
          <p:nvPr/>
        </p:nvCxnSpPr>
        <p:spPr bwMode="auto">
          <a:xfrm flipH="1">
            <a:off x="4572000" y="1916832"/>
            <a:ext cx="385183" cy="0"/>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文本框 74"/>
          <p:cNvSpPr txBox="1"/>
          <p:nvPr/>
        </p:nvSpPr>
        <p:spPr bwMode="auto">
          <a:xfrm>
            <a:off x="4885174" y="2060848"/>
            <a:ext cx="406906"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11</a:t>
            </a:r>
            <a:endParaRPr lang="zh-CN" altLang="en-US" sz="1800" dirty="0">
              <a:latin typeface="Times New Roman" panose="02020603050405020304" pitchFamily="18" charset="0"/>
              <a:cs typeface="Courier New" panose="02070309020205020404" pitchFamily="49" charset="0"/>
            </a:endParaRPr>
          </a:p>
        </p:txBody>
      </p:sp>
      <p:cxnSp>
        <p:nvCxnSpPr>
          <p:cNvPr id="76" name="直接箭头连接符 75"/>
          <p:cNvCxnSpPr/>
          <p:nvPr/>
        </p:nvCxnSpPr>
        <p:spPr bwMode="auto">
          <a:xfrm flipH="1" flipV="1">
            <a:off x="4572000" y="2060788"/>
            <a:ext cx="385182" cy="338151"/>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 name="文本框 76"/>
          <p:cNvSpPr txBox="1"/>
          <p:nvPr/>
        </p:nvSpPr>
        <p:spPr bwMode="auto">
          <a:xfrm>
            <a:off x="4880878" y="2636972"/>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15</a:t>
            </a:r>
            <a:endParaRPr lang="zh-CN" altLang="en-US" sz="1800" dirty="0">
              <a:latin typeface="Times New Roman" panose="02020603050405020304" pitchFamily="18" charset="0"/>
              <a:cs typeface="Courier New" panose="02070309020205020404" pitchFamily="49" charset="0"/>
            </a:endParaRPr>
          </a:p>
        </p:txBody>
      </p:sp>
      <p:cxnSp>
        <p:nvCxnSpPr>
          <p:cNvPr id="78" name="直接箭头连接符 77"/>
          <p:cNvCxnSpPr/>
          <p:nvPr/>
        </p:nvCxnSpPr>
        <p:spPr bwMode="auto">
          <a:xfrm flipH="1" flipV="1">
            <a:off x="4556449" y="2643134"/>
            <a:ext cx="417647" cy="31400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436" name="Rectangle 2"/>
          <p:cNvSpPr>
            <a:spLocks noGrp="1" noChangeArrowheads="1"/>
          </p:cNvSpPr>
          <p:nvPr>
            <p:ph type="title"/>
          </p:nvPr>
        </p:nvSpPr>
        <p:spPr>
          <a:xfrm>
            <a:off x="1270422" y="478731"/>
            <a:ext cx="6757962" cy="576163"/>
          </a:xfrm>
        </p:spPr>
        <p:txBody>
          <a:bodyPr/>
          <a:lstStyle/>
          <a:p>
            <a:pPr eaLnBrk="1" hangingPunct="1"/>
            <a:r>
              <a:rPr lang="en-US" altLang="zh-CN" dirty="0"/>
              <a:t>8.3.2  </a:t>
            </a:r>
            <a:r>
              <a:rPr lang="zh-CN" altLang="en-US" dirty="0"/>
              <a:t>顺推解法</a:t>
            </a:r>
            <a:endParaRPr lang="zh-CN" altLang="en-US" b="1" dirty="0"/>
          </a:p>
        </p:txBody>
      </p:sp>
      <p:sp>
        <p:nvSpPr>
          <p:cNvPr id="2" name="内容占位符 1"/>
          <p:cNvSpPr>
            <a:spLocks noGrp="1"/>
          </p:cNvSpPr>
          <p:nvPr>
            <p:ph idx="1"/>
          </p:nvPr>
        </p:nvSpPr>
        <p:spPr>
          <a:xfrm>
            <a:off x="539552" y="1124744"/>
            <a:ext cx="8280920" cy="1274195"/>
          </a:xfrm>
        </p:spPr>
        <p:txBody>
          <a:bodyPr/>
          <a:lstStyle/>
          <a:p>
            <a:r>
              <a:rPr lang="zh-CN" altLang="en-US" dirty="0"/>
              <a:t>例</a:t>
            </a:r>
            <a:r>
              <a:rPr lang="en-US" altLang="zh-CN" dirty="0"/>
              <a:t>8-1</a:t>
            </a:r>
            <a:r>
              <a:rPr lang="zh-CN" altLang="en-US" dirty="0"/>
              <a:t>顺推求解</a:t>
            </a:r>
            <a:endParaRPr lang="en-US" altLang="zh-CN" dirty="0"/>
          </a:p>
          <a:p>
            <a:pPr lvl="1"/>
            <a:endParaRPr lang="zh-CN" altLang="en-US" dirty="0"/>
          </a:p>
          <a:p>
            <a:endParaRPr lang="zh-CN" altLang="en-US" dirty="0"/>
          </a:p>
        </p:txBody>
      </p:sp>
      <p:sp>
        <p:nvSpPr>
          <p:cNvPr id="18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sp>
        <p:nvSpPr>
          <p:cNvPr id="29" name="矩形 28"/>
          <p:cNvSpPr/>
          <p:nvPr/>
        </p:nvSpPr>
        <p:spPr>
          <a:xfrm>
            <a:off x="326241" y="3440128"/>
            <a:ext cx="6768752" cy="341632"/>
          </a:xfrm>
          <a:prstGeom prst="rect">
            <a:avLst/>
          </a:prstGeom>
        </p:spPr>
        <p:txBody>
          <a:bodyPr wrap="square">
            <a:spAutoFit/>
          </a:bodyPr>
          <a:lstStyle/>
          <a:p>
            <a:pPr lvl="2" eaLnBrk="1" hangingPunct="1">
              <a:lnSpc>
                <a:spcPct val="90000"/>
              </a:lnSpc>
            </a:pPr>
            <a:r>
              <a:rPr lang="zh-CN" altLang="en-US" sz="1800" dirty="0" smtClean="0"/>
              <a:t>阶段</a:t>
            </a:r>
            <a:r>
              <a:rPr lang="en-US" altLang="zh-CN" sz="1800" dirty="0" smtClean="0"/>
              <a:t>k</a:t>
            </a:r>
            <a:r>
              <a:rPr lang="zh-CN" altLang="en-US" sz="1800" dirty="0" smtClean="0"/>
              <a:t>： 阶段</a:t>
            </a:r>
            <a:r>
              <a:rPr lang="en-US" altLang="zh-CN" sz="1800" dirty="0" smtClean="0"/>
              <a:t>1   </a:t>
            </a:r>
            <a:r>
              <a:rPr lang="zh-CN" altLang="en-US" sz="1800" dirty="0" smtClean="0"/>
              <a:t>阶段</a:t>
            </a:r>
            <a:r>
              <a:rPr lang="en-US" altLang="zh-CN" sz="1800" dirty="0" smtClean="0"/>
              <a:t>2   </a:t>
            </a:r>
            <a:r>
              <a:rPr lang="zh-CN" altLang="en-US" sz="1800" dirty="0" smtClean="0"/>
              <a:t>阶段</a:t>
            </a:r>
            <a:r>
              <a:rPr lang="en-US" altLang="zh-CN" sz="1800" dirty="0" smtClean="0"/>
              <a:t>3  </a:t>
            </a:r>
            <a:r>
              <a:rPr lang="zh-CN" altLang="en-US" sz="1800" dirty="0" smtClean="0"/>
              <a:t>阶段</a:t>
            </a:r>
            <a:r>
              <a:rPr lang="en-US" altLang="zh-CN" sz="1800" dirty="0" smtClean="0"/>
              <a:t>4  </a:t>
            </a:r>
            <a:r>
              <a:rPr lang="zh-CN" altLang="en-US" sz="1800" dirty="0" smtClean="0"/>
              <a:t>阶段</a:t>
            </a:r>
            <a:r>
              <a:rPr lang="en-US" altLang="zh-CN" sz="1800" dirty="0" smtClean="0"/>
              <a:t>5  </a:t>
            </a:r>
            <a:r>
              <a:rPr lang="zh-CN" altLang="en-US" sz="1800" dirty="0" smtClean="0"/>
              <a:t>阶段</a:t>
            </a:r>
            <a:r>
              <a:rPr lang="en-US" altLang="zh-CN" sz="1800" dirty="0" smtClean="0"/>
              <a:t>6</a:t>
            </a:r>
            <a:endParaRPr lang="zh-CN" altLang="en-US" sz="1800" dirty="0"/>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3786377099"/>
                  </p:ext>
                </p:extLst>
              </p:nvPr>
            </p:nvGraphicFramePr>
            <p:xfrm>
              <a:off x="1029878" y="3867395"/>
              <a:ext cx="7609947" cy="2645023"/>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450463">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1" i="1" smtClean="0">
                                        <a:latin typeface="Cambria Math" panose="02040503050406030204" pitchFamily="18" charset="0"/>
                                      </a:rPr>
                                      <m:t>𝑺</m:t>
                                    </m:r>
                                  </m:e>
                                  <m:sub>
                                    <m:r>
                                      <a:rPr lang="en-US" altLang="zh-CN" sz="1800" b="0" i="1" smtClean="0">
                                        <a:latin typeface="Cambria Math" panose="02040503050406030204" pitchFamily="18" charset="0"/>
                                      </a:rPr>
                                      <m:t>6</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𝐷</m:t>
                                    </m:r>
                                  </m:e>
                                  <m:sub>
                                    <m:r>
                                      <a:rPr lang="en-US" altLang="zh-CN" sz="1800" b="1" i="1" smtClean="0">
                                        <a:latin typeface="Cambria Math" panose="02040503050406030204" pitchFamily="18" charset="0"/>
                                      </a:rPr>
                                      <m:t>𝟓</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𝟔</m:t>
                                    </m:r>
                                  </m:sub>
                                </m:sSub>
                                <m:r>
                                  <a:rPr lang="en-US" altLang="zh-CN" sz="1800" i="1">
                                    <a:latin typeface="Cambria Math" panose="02040503050406030204" pitchFamily="18" charset="0"/>
                                  </a:rPr>
                                  <m:t>)</m:t>
                                </m:r>
                                <m:r>
                                  <m:rPr>
                                    <m:nor/>
                                  </m:rPr>
                                  <a:rPr lang="zh-CN" altLang="en-US" sz="1800" dirty="0"/>
                                  <m:t> </m:t>
                                </m:r>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𝟓</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𝟔</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𝟓</m:t>
                                        </m:r>
                                      </m:sub>
                                    </m:sSub>
                                  </m:e>
                                </m:d>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𝟒</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𝟓</m:t>
                                        </m:r>
                                      </m:sub>
                                    </m:sSub>
                                  </m:e>
                                </m:d>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𝟓</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𝟔</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𝟓</m:t>
                                      </m:r>
                                    </m:sub>
                                  </m:sSub>
                                </m:e>
                              </m:d>
                            </m:oMath>
                          </a14:m>
                          <a:r>
                            <a:rPr lang="en-US" altLang="zh-CN" dirty="0" smtClean="0"/>
                            <a: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𝟒</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𝟓</m:t>
                                      </m:r>
                                    </m:sub>
                                  </m:sSub>
                                </m:e>
                              </m:d>
                            </m:oMath>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𝟓</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𝟔</m:t>
                                        </m:r>
                                      </m:sub>
                                    </m:sSub>
                                  </m:e>
                                </m:d>
                              </m:oMath>
                            </m:oMathPara>
                          </a14:m>
                          <a:endParaRPr lang="zh-CN" altLang="en-US" dirty="0"/>
                        </a:p>
                      </a:txBody>
                      <a:tcPr/>
                    </a:tc>
                    <a:tc>
                      <a:txBody>
                        <a:bodyPr/>
                        <a:lstStyle/>
                        <a:p>
                          <a:r>
                            <a:rPr lang="zh-CN" altLang="en-US" dirty="0" smtClean="0"/>
                            <a:t>最优决策</a:t>
                          </a:r>
                          <a14:m>
                            <m:oMath xmlns:m="http://schemas.openxmlformats.org/officeDocument/2006/math">
                              <m:sSubSup>
                                <m:sSubSupPr>
                                  <m:ctrlPr>
                                    <a:rPr lang="en-US" altLang="zh-CN"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𝟓</m:t>
                                  </m:r>
                                </m:sub>
                                <m:sup>
                                  <m:r>
                                    <a:rPr lang="en-US" altLang="zh-CN" b="1" i="1" smtClean="0">
                                      <a:latin typeface="Cambria Math" panose="02040503050406030204" pitchFamily="18" charset="0"/>
                                    </a:rPr>
                                    <m:t>∗</m:t>
                                  </m:r>
                                </m:sup>
                              </m:sSubSup>
                            </m:oMath>
                          </a14:m>
                          <a:endParaRPr lang="zh-CN" altLang="en-US" dirty="0"/>
                        </a:p>
                      </a:txBody>
                      <a:tcPr/>
                    </a:tc>
                    <a:extLst>
                      <a:ext uri="{0D108BD9-81ED-4DB2-BD59-A6C34878D82A}">
                        <a16:rowId xmlns:a16="http://schemas.microsoft.com/office/drawing/2014/main" val="37799757"/>
                      </a:ext>
                    </a:extLst>
                  </a:tr>
                  <a:tr h="338922">
                    <a:tc rowSpan="3">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i="1">
                                        <a:latin typeface="Cambria Math" panose="02040503050406030204" pitchFamily="18" charset="0"/>
                                      </a:rPr>
                                      <m:t>1</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i="1">
                                      <a:latin typeface="Cambria Math" panose="02040503050406030204" pitchFamily="18" charset="0"/>
                                    </a:rPr>
                                    <m:t>1</m:t>
                                  </m:r>
                                </m:sub>
                              </m:sSub>
                            </m:oMath>
                          </a14:m>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16</a:t>
                          </a:r>
                          <a:endParaRPr lang="zh-CN" altLang="en-US" dirty="0"/>
                        </a:p>
                      </a:txBody>
                      <a:tcPr/>
                    </a:tc>
                    <a:tc rowSpan="3">
                      <a:txBody>
                        <a:bodyPr/>
                        <a:lstStyle/>
                        <a:p>
                          <a:r>
                            <a:rPr lang="en-US" altLang="zh-CN" dirty="0" smtClean="0"/>
                            <a:t>16</a:t>
                          </a:r>
                          <a:endParaRPr lang="zh-CN" altLang="en-US" dirty="0"/>
                        </a:p>
                      </a:txBody>
                      <a:tcPr/>
                    </a:tc>
                    <a:tc row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i="1">
                                      <a:latin typeface="Cambria Math" panose="02040503050406030204" pitchFamily="18" charset="0"/>
                                    </a:rPr>
                                    <m:t>1</m:t>
                                  </m:r>
                                </m:sub>
                              </m:sSub>
                            </m:oMath>
                          </a14:m>
                          <a:endParaRPr lang="zh-CN" altLang="en-US" dirty="0"/>
                        </a:p>
                      </a:txBody>
                      <a:tcPr/>
                    </a:tc>
                    <a:extLst>
                      <a:ext uri="{0D108BD9-81ED-4DB2-BD59-A6C34878D82A}">
                        <a16:rowId xmlns:a16="http://schemas.microsoft.com/office/drawing/2014/main" val="3736361684"/>
                      </a:ext>
                    </a:extLst>
                  </a:tr>
                  <a:tr h="338922">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i="1">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18</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91311635"/>
                      </a:ext>
                    </a:extLst>
                  </a:tr>
                  <a:tr h="338922">
                    <a:tc vMerge="1">
                      <a:txBody>
                        <a:bodyPr/>
                        <a:lstStyle/>
                        <a:p>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1</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3</m:t>
                                  </m:r>
                                </m:sub>
                              </m:sSub>
                            </m:oMath>
                          </a14:m>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15</a:t>
                          </a:r>
                          <a:endParaRPr lang="zh-CN" altLang="en-US" dirty="0"/>
                        </a:p>
                      </a:txBody>
                      <a:tcPr/>
                    </a:tc>
                    <a:tc>
                      <a:txBody>
                        <a:bodyPr/>
                        <a:lstStyle/>
                        <a:p>
                          <a:r>
                            <a:rPr lang="en-US" altLang="zh-CN" dirty="0" smtClean="0"/>
                            <a:t>21</a:t>
                          </a:r>
                          <a:endParaRPr lang="zh-CN" altLang="en-US" dirty="0"/>
                        </a:p>
                      </a:txBody>
                      <a:tcPr/>
                    </a:tc>
                    <a:tc vMerge="1">
                      <a:txBody>
                        <a:bodyPr/>
                        <a:lstStyle/>
                        <a:p>
                          <a:endParaRPr lang="zh-CN" altLang="en-US" dirty="0"/>
                        </a:p>
                      </a:txBody>
                      <a:tcPr/>
                    </a:tc>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752238598"/>
                      </a:ext>
                    </a:extLst>
                  </a:tr>
                  <a:tr h="338922">
                    <a:tc rowSpan="3">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2</m:t>
                                    </m:r>
                                  </m:sub>
                                </m:sSub>
                              </m:oMath>
                            </m:oMathPara>
                          </a14:m>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3</m:t>
                                  </m:r>
                                </m:sub>
                              </m:sSub>
                            </m:oMath>
                          </a14:m>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18</a:t>
                          </a:r>
                          <a:endParaRPr lang="zh-CN" altLang="en-US" dirty="0"/>
                        </a:p>
                      </a:txBody>
                      <a:tcPr/>
                    </a:tc>
                    <a:tc rowSpan="3">
                      <a:txBody>
                        <a:bodyPr/>
                        <a:lstStyle/>
                        <a:p>
                          <a:r>
                            <a:rPr lang="en-US" altLang="zh-CN" dirty="0" smtClean="0"/>
                            <a:t>15</a:t>
                          </a:r>
                          <a:endParaRPr lang="zh-CN" altLang="en-US" dirty="0"/>
                        </a:p>
                      </a:txBody>
                      <a:tcPr/>
                    </a:tc>
                    <a:tc row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2</m:t>
                                    </m:r>
                                  </m:sub>
                                </m:sSub>
                                <m:r>
                                  <m:rPr>
                                    <m:nor/>
                                  </m:rPr>
                                  <a:rPr lang="en-US" altLang="zh-CN" dirty="0" smtClean="0"/>
                                  <m:t>−&gt;</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2</m:t>
                                    </m:r>
                                  </m:sub>
                                </m:sSub>
                              </m:oMath>
                            </m:oMathPara>
                          </a14:m>
                          <a:endParaRPr lang="zh-CN" altLang="en-US" dirty="0"/>
                        </a:p>
                      </a:txBody>
                      <a:tcPr/>
                    </a:tc>
                    <a:extLst>
                      <a:ext uri="{0D108BD9-81ED-4DB2-BD59-A6C34878D82A}">
                        <a16:rowId xmlns:a16="http://schemas.microsoft.com/office/drawing/2014/main" val="2944060997"/>
                      </a:ext>
                    </a:extLst>
                  </a:tr>
                  <a:tr h="338922">
                    <a:tc vMerge="1">
                      <a:txBody>
                        <a:bodyPr/>
                        <a:lstStyle/>
                        <a:p>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15</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80564706"/>
                      </a:ext>
                    </a:extLst>
                  </a:tr>
                  <a:tr h="338922">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2</m:t>
                                  </m:r>
                                </m:sub>
                              </m:sSub>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𝐸</m:t>
                                  </m:r>
                                </m:e>
                                <m:sub>
                                  <m:r>
                                    <a:rPr lang="en-US" altLang="zh-CN" sz="1800" b="0" i="1" smtClean="0">
                                      <a:latin typeface="Cambria Math" panose="02040503050406030204" pitchFamily="18" charset="0"/>
                                    </a:rPr>
                                    <m:t>3</m:t>
                                  </m:r>
                                </m:sub>
                              </m:sSub>
                            </m:oMath>
                          </a14:m>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15</a:t>
                          </a:r>
                          <a:endParaRPr lang="zh-CN" altLang="en-US" dirty="0"/>
                        </a:p>
                      </a:txBody>
                      <a:tcPr/>
                    </a:tc>
                    <a:tc>
                      <a:txBody>
                        <a:bodyPr/>
                        <a:lstStyle/>
                        <a:p>
                          <a:r>
                            <a:rPr lang="en-US" altLang="zh-CN" dirty="0" smtClean="0"/>
                            <a:t>21</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74687360"/>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3786377099"/>
                  </p:ext>
                </p:extLst>
              </p:nvPr>
            </p:nvGraphicFramePr>
            <p:xfrm>
              <a:off x="1029878" y="3867395"/>
              <a:ext cx="7609947" cy="2645023"/>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450463">
                    <a:tc>
                      <a:txBody>
                        <a:bodyPr/>
                        <a:lstStyle/>
                        <a:p>
                          <a:endParaRPr lang="zh-CN"/>
                        </a:p>
                      </a:txBody>
                      <a:tcPr>
                        <a:blipFill>
                          <a:blip r:embed="rId4"/>
                          <a:stretch>
                            <a:fillRect l="-1299" t="-10811" r="-1528571" b="-508108"/>
                          </a:stretch>
                        </a:blipFill>
                      </a:tcPr>
                    </a:tc>
                    <a:tc>
                      <a:txBody>
                        <a:bodyPr/>
                        <a:lstStyle/>
                        <a:p>
                          <a:endParaRPr lang="zh-CN"/>
                        </a:p>
                      </a:txBody>
                      <a:tcPr>
                        <a:blipFill>
                          <a:blip r:embed="rId4"/>
                          <a:stretch>
                            <a:fillRect l="-49367" t="-10811" r="-644937" b="-508108"/>
                          </a:stretch>
                        </a:blipFill>
                      </a:tcPr>
                    </a:tc>
                    <a:tc>
                      <a:txBody>
                        <a:bodyPr/>
                        <a:lstStyle/>
                        <a:p>
                          <a:endParaRPr lang="zh-CN"/>
                        </a:p>
                      </a:txBody>
                      <a:tcPr>
                        <a:blipFill>
                          <a:blip r:embed="rId4"/>
                          <a:stretch>
                            <a:fillRect l="-120408" t="-10811" r="-419898" b="-508108"/>
                          </a:stretch>
                        </a:blipFill>
                      </a:tcPr>
                    </a:tc>
                    <a:tc>
                      <a:txBody>
                        <a:bodyPr/>
                        <a:lstStyle/>
                        <a:p>
                          <a:endParaRPr lang="zh-CN"/>
                        </a:p>
                      </a:txBody>
                      <a:tcPr>
                        <a:blipFill>
                          <a:blip r:embed="rId4"/>
                          <a:stretch>
                            <a:fillRect l="-310791" t="-10811" r="-492086" b="-508108"/>
                          </a:stretch>
                        </a:blipFill>
                      </a:tcPr>
                    </a:tc>
                    <a:tc>
                      <a:txBody>
                        <a:bodyPr/>
                        <a:lstStyle/>
                        <a:p>
                          <a:endParaRPr lang="zh-CN"/>
                        </a:p>
                      </a:txBody>
                      <a:tcPr>
                        <a:blipFill>
                          <a:blip r:embed="rId4"/>
                          <a:stretch>
                            <a:fillRect l="-180696" t="-10811" r="-116456" b="-508108"/>
                          </a:stretch>
                        </a:blipFill>
                      </a:tcPr>
                    </a:tc>
                    <a:tc>
                      <a:txBody>
                        <a:bodyPr/>
                        <a:lstStyle/>
                        <a:p>
                          <a:endParaRPr lang="zh-CN"/>
                        </a:p>
                      </a:txBody>
                      <a:tcPr>
                        <a:blipFill>
                          <a:blip r:embed="rId4"/>
                          <a:stretch>
                            <a:fillRect l="-638129" t="-10811" r="-164748" b="-508108"/>
                          </a:stretch>
                        </a:blipFill>
                      </a:tcPr>
                    </a:tc>
                    <a:tc>
                      <a:txBody>
                        <a:bodyPr/>
                        <a:lstStyle/>
                        <a:p>
                          <a:endParaRPr lang="zh-CN"/>
                        </a:p>
                      </a:txBody>
                      <a:tcPr>
                        <a:blipFill>
                          <a:blip r:embed="rId4"/>
                          <a:stretch>
                            <a:fillRect l="-456000" t="-10811" r="-1778" b="-508108"/>
                          </a:stretch>
                        </a:blipFill>
                      </a:tcPr>
                    </a:tc>
                    <a:extLst>
                      <a:ext uri="{0D108BD9-81ED-4DB2-BD59-A6C34878D82A}">
                        <a16:rowId xmlns:a16="http://schemas.microsoft.com/office/drawing/2014/main" val="37799757"/>
                      </a:ext>
                    </a:extLst>
                  </a:tr>
                  <a:tr h="365760">
                    <a:tc rowSpan="3">
                      <a:txBody>
                        <a:bodyPr/>
                        <a:lstStyle/>
                        <a:p>
                          <a:endParaRPr lang="zh-CN"/>
                        </a:p>
                      </a:txBody>
                      <a:tcPr>
                        <a:blipFill>
                          <a:blip r:embed="rId4"/>
                          <a:stretch>
                            <a:fillRect l="-1299" t="-45304" r="-1528571" b="-107735"/>
                          </a:stretch>
                        </a:blipFill>
                      </a:tcPr>
                    </a:tc>
                    <a:tc>
                      <a:txBody>
                        <a:bodyPr/>
                        <a:lstStyle/>
                        <a:p>
                          <a:endParaRPr lang="zh-CN"/>
                        </a:p>
                      </a:txBody>
                      <a:tcPr>
                        <a:blipFill>
                          <a:blip r:embed="rId4"/>
                          <a:stretch>
                            <a:fillRect l="-49367" t="-136667" r="-644937" b="-526667"/>
                          </a:stretch>
                        </a:blipFill>
                      </a:tcPr>
                    </a:tc>
                    <a:tc>
                      <a:txBody>
                        <a:bodyPr/>
                        <a:lstStyle/>
                        <a:p>
                          <a:r>
                            <a:rPr lang="en-US" altLang="zh-CN" dirty="0" smtClean="0"/>
                            <a:t>3</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16</a:t>
                          </a:r>
                          <a:endParaRPr lang="zh-CN" altLang="en-US" dirty="0"/>
                        </a:p>
                      </a:txBody>
                      <a:tcPr/>
                    </a:tc>
                    <a:tc rowSpan="3">
                      <a:txBody>
                        <a:bodyPr/>
                        <a:lstStyle/>
                        <a:p>
                          <a:r>
                            <a:rPr lang="en-US" altLang="zh-CN" dirty="0" smtClean="0"/>
                            <a:t>16</a:t>
                          </a:r>
                          <a:endParaRPr lang="zh-CN" altLang="en-US" dirty="0"/>
                        </a:p>
                      </a:txBody>
                      <a:tcPr/>
                    </a:tc>
                    <a:tc rowSpan="3">
                      <a:txBody>
                        <a:bodyPr/>
                        <a:lstStyle/>
                        <a:p>
                          <a:endParaRPr lang="zh-CN"/>
                        </a:p>
                      </a:txBody>
                      <a:tcPr>
                        <a:blipFill>
                          <a:blip r:embed="rId4"/>
                          <a:stretch>
                            <a:fillRect l="-456000" t="-45304" r="-1778" b="-107735"/>
                          </a:stretch>
                        </a:blipFill>
                      </a:tcPr>
                    </a:tc>
                    <a:extLst>
                      <a:ext uri="{0D108BD9-81ED-4DB2-BD59-A6C34878D82A}">
                        <a16:rowId xmlns:a16="http://schemas.microsoft.com/office/drawing/2014/main" val="3736361684"/>
                      </a:ext>
                    </a:extLst>
                  </a:tr>
                  <a:tr h="365760">
                    <a:tc vMerge="1">
                      <a:txBody>
                        <a:bodyPr/>
                        <a:lstStyle/>
                        <a:p>
                          <a:pPr/>
                          <a:endParaRPr lang="zh-CN" altLang="en-US" dirty="0"/>
                        </a:p>
                      </a:txBody>
                      <a:tcPr/>
                    </a:tc>
                    <a:tc>
                      <a:txBody>
                        <a:bodyPr/>
                        <a:lstStyle/>
                        <a:p>
                          <a:endParaRPr lang="zh-CN"/>
                        </a:p>
                      </a:txBody>
                      <a:tcPr>
                        <a:blipFill>
                          <a:blip r:embed="rId4"/>
                          <a:stretch>
                            <a:fillRect l="-49367" t="-236667" r="-644937" b="-426667"/>
                          </a:stretch>
                        </a:blipFill>
                      </a:tcPr>
                    </a:tc>
                    <a:tc>
                      <a:txBody>
                        <a:bodyPr/>
                        <a:lstStyle/>
                        <a:p>
                          <a:r>
                            <a:rPr lang="en-US" altLang="zh-CN" dirty="0" smtClean="0"/>
                            <a:t>5</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18</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91311635"/>
                      </a:ext>
                    </a:extLst>
                  </a:tr>
                  <a:tr h="365760">
                    <a:tc vMerge="1">
                      <a:txBody>
                        <a:bodyPr/>
                        <a:lstStyle/>
                        <a:p>
                          <a:pPr/>
                          <a:endParaRPr lang="zh-CN" altLang="en-US" dirty="0"/>
                        </a:p>
                      </a:txBody>
                      <a:tcPr/>
                    </a:tc>
                    <a:tc>
                      <a:txBody>
                        <a:bodyPr/>
                        <a:lstStyle/>
                        <a:p>
                          <a:endParaRPr lang="zh-CN"/>
                        </a:p>
                      </a:txBody>
                      <a:tcPr>
                        <a:blipFill>
                          <a:blip r:embed="rId4"/>
                          <a:stretch>
                            <a:fillRect l="-49367" t="-331148" r="-644937" b="-319672"/>
                          </a:stretch>
                        </a:blipFill>
                      </a:tcPr>
                    </a:tc>
                    <a:tc>
                      <a:txBody>
                        <a:bodyPr/>
                        <a:lstStyle/>
                        <a:p>
                          <a:r>
                            <a:rPr lang="en-US" altLang="zh-CN" dirty="0" smtClean="0"/>
                            <a:t>6</a:t>
                          </a:r>
                          <a:endParaRPr lang="zh-CN" altLang="en-US" dirty="0"/>
                        </a:p>
                      </a:txBody>
                      <a:tcPr/>
                    </a:tc>
                    <a:tc>
                      <a:txBody>
                        <a:bodyPr/>
                        <a:lstStyle/>
                        <a:p>
                          <a:r>
                            <a:rPr lang="en-US" altLang="zh-CN" dirty="0" smtClean="0"/>
                            <a:t>15</a:t>
                          </a:r>
                          <a:endParaRPr lang="zh-CN" altLang="en-US" dirty="0"/>
                        </a:p>
                      </a:txBody>
                      <a:tcPr/>
                    </a:tc>
                    <a:tc>
                      <a:txBody>
                        <a:bodyPr/>
                        <a:lstStyle/>
                        <a:p>
                          <a:r>
                            <a:rPr lang="en-US" altLang="zh-CN" dirty="0" smtClean="0"/>
                            <a:t>21</a:t>
                          </a:r>
                          <a:endParaRPr lang="zh-CN" altLang="en-US" dirty="0"/>
                        </a:p>
                      </a:txBody>
                      <a:tcPr/>
                    </a:tc>
                    <a:tc vMerge="1">
                      <a:txBody>
                        <a:bodyPr/>
                        <a:lstStyle/>
                        <a:p>
                          <a:endParaRPr lang="zh-CN" altLang="en-US" dirty="0"/>
                        </a:p>
                      </a:txBody>
                      <a:tcPr/>
                    </a:tc>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752238598"/>
                      </a:ext>
                    </a:extLst>
                  </a:tr>
                  <a:tr h="365760">
                    <a:tc rowSpan="3">
                      <a:txBody>
                        <a:bodyPr/>
                        <a:lstStyle/>
                        <a:p>
                          <a:endParaRPr lang="zh-CN"/>
                        </a:p>
                      </a:txBody>
                      <a:tcPr>
                        <a:blipFill>
                          <a:blip r:embed="rId4"/>
                          <a:stretch>
                            <a:fillRect l="-1299" t="-146111" r="-1528571" b="-8333"/>
                          </a:stretch>
                        </a:blipFill>
                      </a:tcPr>
                    </a:tc>
                    <a:tc>
                      <a:txBody>
                        <a:bodyPr/>
                        <a:lstStyle/>
                        <a:p>
                          <a:endParaRPr lang="zh-CN"/>
                        </a:p>
                      </a:txBody>
                      <a:tcPr>
                        <a:blipFill>
                          <a:blip r:embed="rId4"/>
                          <a:stretch>
                            <a:fillRect l="-49367" t="-438333" r="-644937" b="-225000"/>
                          </a:stretch>
                        </a:blipFill>
                      </a:tcPr>
                    </a:tc>
                    <a:tc>
                      <a:txBody>
                        <a:bodyPr/>
                        <a:lstStyle/>
                        <a:p>
                          <a:r>
                            <a:rPr lang="en-US" altLang="zh-CN" dirty="0" smtClean="0"/>
                            <a:t>5</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18</a:t>
                          </a:r>
                          <a:endParaRPr lang="zh-CN" altLang="en-US" dirty="0"/>
                        </a:p>
                      </a:txBody>
                      <a:tcPr/>
                    </a:tc>
                    <a:tc rowSpan="3">
                      <a:txBody>
                        <a:bodyPr/>
                        <a:lstStyle/>
                        <a:p>
                          <a:r>
                            <a:rPr lang="en-US" altLang="zh-CN" dirty="0" smtClean="0"/>
                            <a:t>15</a:t>
                          </a:r>
                          <a:endParaRPr lang="zh-CN" altLang="en-US" dirty="0"/>
                        </a:p>
                      </a:txBody>
                      <a:tcPr/>
                    </a:tc>
                    <a:tc rowSpan="3">
                      <a:txBody>
                        <a:bodyPr/>
                        <a:lstStyle/>
                        <a:p>
                          <a:endParaRPr lang="zh-CN"/>
                        </a:p>
                      </a:txBody>
                      <a:tcPr>
                        <a:blipFill>
                          <a:blip r:embed="rId4"/>
                          <a:stretch>
                            <a:fillRect l="-456000" t="-146111" r="-1778" b="-8333"/>
                          </a:stretch>
                        </a:blipFill>
                      </a:tcPr>
                    </a:tc>
                    <a:extLst>
                      <a:ext uri="{0D108BD9-81ED-4DB2-BD59-A6C34878D82A}">
                        <a16:rowId xmlns:a16="http://schemas.microsoft.com/office/drawing/2014/main" val="2944060997"/>
                      </a:ext>
                    </a:extLst>
                  </a:tr>
                  <a:tr h="365760">
                    <a:tc vMerge="1">
                      <a:txBody>
                        <a:bodyPr/>
                        <a:lstStyle/>
                        <a:p>
                          <a:pPr/>
                          <a:endParaRPr lang="zh-CN" altLang="en-US" dirty="0"/>
                        </a:p>
                      </a:txBody>
                      <a:tcPr/>
                    </a:tc>
                    <a:tc>
                      <a:txBody>
                        <a:bodyPr/>
                        <a:lstStyle/>
                        <a:p>
                          <a:endParaRPr lang="zh-CN"/>
                        </a:p>
                      </a:txBody>
                      <a:tcPr>
                        <a:blipFill>
                          <a:blip r:embed="rId4"/>
                          <a:stretch>
                            <a:fillRect l="-49367" t="-538333" r="-644937" b="-125000"/>
                          </a:stretch>
                        </a:blipFill>
                      </a:tcPr>
                    </a:tc>
                    <a:tc>
                      <a:txBody>
                        <a:bodyPr/>
                        <a:lstStyle/>
                        <a:p>
                          <a:r>
                            <a:rPr lang="en-US" altLang="zh-CN" dirty="0" smtClean="0"/>
                            <a:t>2</a:t>
                          </a:r>
                          <a:endParaRPr lang="zh-CN" altLang="en-US" dirty="0"/>
                        </a:p>
                      </a:txBody>
                      <a:tcPr/>
                    </a:tc>
                    <a:tc>
                      <a:txBody>
                        <a:bodyPr/>
                        <a:lstStyle/>
                        <a:p>
                          <a:r>
                            <a:rPr lang="en-US" altLang="zh-CN" dirty="0" smtClean="0"/>
                            <a:t>13</a:t>
                          </a:r>
                          <a:endParaRPr lang="zh-CN" altLang="en-US" dirty="0"/>
                        </a:p>
                      </a:txBody>
                      <a:tcPr/>
                    </a:tc>
                    <a:tc>
                      <a:txBody>
                        <a:bodyPr/>
                        <a:lstStyle/>
                        <a:p>
                          <a:r>
                            <a:rPr lang="en-US" altLang="zh-CN" dirty="0" smtClean="0"/>
                            <a:t>15</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80564706"/>
                      </a:ext>
                    </a:extLst>
                  </a:tr>
                  <a:tr h="365760">
                    <a:tc vMerge="1">
                      <a:txBody>
                        <a:bodyPr/>
                        <a:lstStyle/>
                        <a:p>
                          <a:pPr/>
                          <a:endParaRPr lang="zh-CN" altLang="en-US" dirty="0"/>
                        </a:p>
                      </a:txBody>
                      <a:tcPr/>
                    </a:tc>
                    <a:tc>
                      <a:txBody>
                        <a:bodyPr/>
                        <a:lstStyle/>
                        <a:p>
                          <a:endParaRPr lang="zh-CN"/>
                        </a:p>
                      </a:txBody>
                      <a:tcPr>
                        <a:blipFill>
                          <a:blip r:embed="rId4"/>
                          <a:stretch>
                            <a:fillRect l="-49367" t="-638333" r="-644937" b="-25000"/>
                          </a:stretch>
                        </a:blipFill>
                      </a:tcPr>
                    </a:tc>
                    <a:tc>
                      <a:txBody>
                        <a:bodyPr/>
                        <a:lstStyle/>
                        <a:p>
                          <a:r>
                            <a:rPr lang="en-US" altLang="zh-CN" dirty="0" smtClean="0"/>
                            <a:t>6</a:t>
                          </a:r>
                          <a:endParaRPr lang="zh-CN" altLang="en-US" dirty="0"/>
                        </a:p>
                      </a:txBody>
                      <a:tcPr/>
                    </a:tc>
                    <a:tc>
                      <a:txBody>
                        <a:bodyPr/>
                        <a:lstStyle/>
                        <a:p>
                          <a:r>
                            <a:rPr lang="en-US" altLang="zh-CN" dirty="0" smtClean="0"/>
                            <a:t>15</a:t>
                          </a:r>
                          <a:endParaRPr lang="zh-CN" altLang="en-US" dirty="0"/>
                        </a:p>
                      </a:txBody>
                      <a:tcPr/>
                    </a:tc>
                    <a:tc>
                      <a:txBody>
                        <a:bodyPr/>
                        <a:lstStyle/>
                        <a:p>
                          <a:r>
                            <a:rPr lang="en-US" altLang="zh-CN" dirty="0" smtClean="0"/>
                            <a:t>21</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74687360"/>
                      </a:ext>
                    </a:extLst>
                  </a:tr>
                </a:tbl>
              </a:graphicData>
            </a:graphic>
          </p:graphicFrame>
        </mc:Fallback>
      </mc:AlternateContent>
      <p:sp>
        <p:nvSpPr>
          <p:cNvPr id="19" name="矩形 18"/>
          <p:cNvSpPr/>
          <p:nvPr/>
        </p:nvSpPr>
        <p:spPr>
          <a:xfrm>
            <a:off x="-26526" y="4556784"/>
            <a:ext cx="1056404" cy="341632"/>
          </a:xfrm>
          <a:prstGeom prst="rect">
            <a:avLst/>
          </a:prstGeom>
        </p:spPr>
        <p:txBody>
          <a:bodyPr wrap="square">
            <a:spAutoFit/>
          </a:bodyPr>
          <a:lstStyle/>
          <a:p>
            <a:pPr marL="0" lvl="2" defTabSz="179388" eaLnBrk="1" hangingPunct="1">
              <a:lnSpc>
                <a:spcPct val="90000"/>
              </a:lnSpc>
            </a:pPr>
            <a:r>
              <a:rPr lang="zh-CN" altLang="en-US" sz="1800" dirty="0" smtClean="0"/>
              <a:t>阶段</a:t>
            </a:r>
            <a:r>
              <a:rPr lang="en-US" altLang="zh-CN" sz="1800" dirty="0" smtClean="0"/>
              <a:t>k=5</a:t>
            </a:r>
            <a:endParaRPr lang="zh-CN" altLang="en-US" sz="1800" dirty="0"/>
          </a:p>
        </p:txBody>
      </p:sp>
      <p:sp>
        <p:nvSpPr>
          <p:cNvPr id="34" name="矩形 33"/>
          <p:cNvSpPr/>
          <p:nvPr/>
        </p:nvSpPr>
        <p:spPr>
          <a:xfrm>
            <a:off x="326241" y="3440128"/>
            <a:ext cx="6768752" cy="341632"/>
          </a:xfrm>
          <a:prstGeom prst="rect">
            <a:avLst/>
          </a:prstGeom>
        </p:spPr>
        <p:txBody>
          <a:bodyPr wrap="square">
            <a:spAutoFit/>
          </a:bodyPr>
          <a:lstStyle/>
          <a:p>
            <a:pPr lvl="2" eaLnBrk="1" hangingPunct="1">
              <a:lnSpc>
                <a:spcPct val="90000"/>
              </a:lnSpc>
            </a:pPr>
            <a:r>
              <a:rPr lang="zh-CN" altLang="en-US" sz="1800" dirty="0" smtClean="0"/>
              <a:t>阶段</a:t>
            </a:r>
            <a:r>
              <a:rPr lang="en-US" altLang="zh-CN" sz="1800" dirty="0" smtClean="0"/>
              <a:t>k</a:t>
            </a:r>
            <a:r>
              <a:rPr lang="zh-CN" altLang="en-US" sz="1800" dirty="0" smtClean="0"/>
              <a:t>： 阶段</a:t>
            </a:r>
            <a:r>
              <a:rPr lang="en-US" altLang="zh-CN" sz="1800" dirty="0" smtClean="0"/>
              <a:t>1   </a:t>
            </a:r>
            <a:r>
              <a:rPr lang="zh-CN" altLang="en-US" sz="1800" dirty="0" smtClean="0"/>
              <a:t>阶段</a:t>
            </a:r>
            <a:r>
              <a:rPr lang="en-US" altLang="zh-CN" sz="1800" dirty="0" smtClean="0"/>
              <a:t>2   </a:t>
            </a:r>
            <a:r>
              <a:rPr lang="zh-CN" altLang="en-US" sz="1800" dirty="0" smtClean="0"/>
              <a:t>阶段</a:t>
            </a:r>
            <a:r>
              <a:rPr lang="en-US" altLang="zh-CN" sz="1800" dirty="0" smtClean="0"/>
              <a:t>3  </a:t>
            </a:r>
            <a:r>
              <a:rPr lang="zh-CN" altLang="en-US" sz="1800" dirty="0" smtClean="0"/>
              <a:t>阶段</a:t>
            </a:r>
            <a:r>
              <a:rPr lang="en-US" altLang="zh-CN" sz="1800" dirty="0" smtClean="0"/>
              <a:t>4  </a:t>
            </a:r>
            <a:r>
              <a:rPr lang="zh-CN" altLang="en-US" sz="1800" dirty="0" smtClean="0"/>
              <a:t>阶段</a:t>
            </a:r>
            <a:r>
              <a:rPr lang="en-US" altLang="zh-CN" sz="1800" dirty="0" smtClean="0"/>
              <a:t>5  </a:t>
            </a:r>
            <a:r>
              <a:rPr lang="zh-CN" altLang="en-US" sz="1800" dirty="0" smtClean="0"/>
              <a:t>阶段</a:t>
            </a:r>
            <a:r>
              <a:rPr lang="en-US" altLang="zh-CN" sz="1800" dirty="0" smtClean="0"/>
              <a:t>6</a:t>
            </a:r>
            <a:endParaRPr lang="zh-CN" altLang="en-US" sz="1800" dirty="0"/>
          </a:p>
        </p:txBody>
      </p:sp>
      <p:sp>
        <p:nvSpPr>
          <p:cNvPr id="79" name="文本框 78"/>
          <p:cNvSpPr txBox="1"/>
          <p:nvPr/>
        </p:nvSpPr>
        <p:spPr bwMode="auto">
          <a:xfrm>
            <a:off x="5672966" y="1556792"/>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16</a:t>
            </a:r>
            <a:endParaRPr lang="zh-CN" altLang="en-US" sz="1800" dirty="0">
              <a:latin typeface="Times New Roman" panose="02020603050405020304" pitchFamily="18" charset="0"/>
              <a:cs typeface="Courier New" panose="02070309020205020404" pitchFamily="49" charset="0"/>
            </a:endParaRPr>
          </a:p>
        </p:txBody>
      </p:sp>
      <p:cxnSp>
        <p:nvCxnSpPr>
          <p:cNvPr id="80" name="直接箭头连接符 79"/>
          <p:cNvCxnSpPr/>
          <p:nvPr/>
        </p:nvCxnSpPr>
        <p:spPr bwMode="auto">
          <a:xfrm flipH="1" flipV="1">
            <a:off x="5292080" y="1931766"/>
            <a:ext cx="410326" cy="57074"/>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文本框 80"/>
          <p:cNvSpPr txBox="1"/>
          <p:nvPr/>
        </p:nvSpPr>
        <p:spPr bwMode="auto">
          <a:xfrm>
            <a:off x="5672966" y="2420888"/>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15</a:t>
            </a:r>
            <a:endParaRPr lang="zh-CN" altLang="en-US" sz="1800" dirty="0">
              <a:latin typeface="Times New Roman" panose="02020603050405020304" pitchFamily="18" charset="0"/>
              <a:cs typeface="Courier New" panose="02070309020205020404" pitchFamily="49" charset="0"/>
            </a:endParaRPr>
          </a:p>
        </p:txBody>
      </p:sp>
      <p:cxnSp>
        <p:nvCxnSpPr>
          <p:cNvPr id="82" name="直接箭头连接符 81"/>
          <p:cNvCxnSpPr/>
          <p:nvPr/>
        </p:nvCxnSpPr>
        <p:spPr bwMode="auto">
          <a:xfrm flipH="1" flipV="1">
            <a:off x="5292080" y="2566668"/>
            <a:ext cx="410326" cy="229194"/>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54576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79" grpId="0" animBg="1"/>
      <p:bldP spid="8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7704" y="1556792"/>
            <a:ext cx="5113942" cy="207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Line 9"/>
          <p:cNvSpPr>
            <a:spLocks noChangeShapeType="1"/>
          </p:cNvSpPr>
          <p:nvPr/>
        </p:nvSpPr>
        <p:spPr bwMode="auto">
          <a:xfrm flipH="1">
            <a:off x="2233291" y="1778592"/>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8" name="Line 12"/>
          <p:cNvSpPr>
            <a:spLocks noChangeShapeType="1"/>
          </p:cNvSpPr>
          <p:nvPr/>
        </p:nvSpPr>
        <p:spPr bwMode="auto">
          <a:xfrm>
            <a:off x="298895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9" name="Line 12"/>
          <p:cNvSpPr>
            <a:spLocks noChangeShapeType="1"/>
          </p:cNvSpPr>
          <p:nvPr/>
        </p:nvSpPr>
        <p:spPr bwMode="auto">
          <a:xfrm>
            <a:off x="4429110" y="1779163"/>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40" name="Line 9"/>
          <p:cNvSpPr>
            <a:spLocks noChangeShapeType="1"/>
          </p:cNvSpPr>
          <p:nvPr/>
        </p:nvSpPr>
        <p:spPr bwMode="auto">
          <a:xfrm flipH="1">
            <a:off x="5113611" y="1772816"/>
            <a:ext cx="37166" cy="179442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41" name="Line 12"/>
          <p:cNvSpPr>
            <a:spLocks noChangeShapeType="1"/>
          </p:cNvSpPr>
          <p:nvPr/>
        </p:nvSpPr>
        <p:spPr bwMode="auto">
          <a:xfrm>
            <a:off x="5869270" y="1772816"/>
            <a:ext cx="1587" cy="186586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42" name="文本框 41"/>
          <p:cNvSpPr txBox="1"/>
          <p:nvPr/>
        </p:nvSpPr>
        <p:spPr bwMode="auto">
          <a:xfrm>
            <a:off x="2752447" y="164865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5</a:t>
            </a:r>
            <a:endParaRPr lang="zh-CN" altLang="en-US" sz="1800" dirty="0">
              <a:latin typeface="Times New Roman" panose="02020603050405020304" pitchFamily="18" charset="0"/>
              <a:cs typeface="Courier New" panose="02070309020205020404" pitchFamily="49" charset="0"/>
            </a:endParaRPr>
          </a:p>
        </p:txBody>
      </p:sp>
      <p:cxnSp>
        <p:nvCxnSpPr>
          <p:cNvPr id="43" name="直接箭头连接符 42"/>
          <p:cNvCxnSpPr/>
          <p:nvPr/>
        </p:nvCxnSpPr>
        <p:spPr bwMode="auto">
          <a:xfrm flipH="1" flipV="1">
            <a:off x="2332377" y="2708920"/>
            <a:ext cx="467236" cy="309188"/>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文本框 43"/>
          <p:cNvSpPr txBox="1"/>
          <p:nvPr/>
        </p:nvSpPr>
        <p:spPr bwMode="auto">
          <a:xfrm>
            <a:off x="2799613" y="264313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3</a:t>
            </a:r>
            <a:endParaRPr lang="zh-CN" altLang="en-US" sz="1800" dirty="0">
              <a:latin typeface="Times New Roman" panose="02020603050405020304" pitchFamily="18" charset="0"/>
              <a:cs typeface="Courier New" panose="02070309020205020404" pitchFamily="49" charset="0"/>
            </a:endParaRPr>
          </a:p>
        </p:txBody>
      </p:sp>
      <p:cxnSp>
        <p:nvCxnSpPr>
          <p:cNvPr id="45" name="直接箭头连接符 44"/>
          <p:cNvCxnSpPr/>
          <p:nvPr/>
        </p:nvCxnSpPr>
        <p:spPr bwMode="auto">
          <a:xfrm flipH="1">
            <a:off x="2332377" y="2276872"/>
            <a:ext cx="420070" cy="28979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文本框 45"/>
          <p:cNvSpPr txBox="1"/>
          <p:nvPr/>
        </p:nvSpPr>
        <p:spPr bwMode="auto">
          <a:xfrm>
            <a:off x="2032295" y="219169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0</a:t>
            </a:r>
            <a:endParaRPr lang="zh-CN" altLang="en-US" sz="1800" dirty="0">
              <a:latin typeface="Times New Roman" panose="02020603050405020304" pitchFamily="18" charset="0"/>
              <a:cs typeface="Courier New" panose="02070309020205020404" pitchFamily="49" charset="0"/>
            </a:endParaRPr>
          </a:p>
        </p:txBody>
      </p:sp>
      <p:sp>
        <p:nvSpPr>
          <p:cNvPr id="47" name="文本框 46"/>
          <p:cNvSpPr txBox="1"/>
          <p:nvPr/>
        </p:nvSpPr>
        <p:spPr bwMode="auto">
          <a:xfrm>
            <a:off x="3491880" y="1340768"/>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6</a:t>
            </a:r>
            <a:endParaRPr lang="zh-CN" altLang="en-US" sz="1800" dirty="0">
              <a:latin typeface="Times New Roman" panose="02020603050405020304" pitchFamily="18" charset="0"/>
              <a:cs typeface="Courier New" panose="02070309020205020404" pitchFamily="49" charset="0"/>
            </a:endParaRPr>
          </a:p>
        </p:txBody>
      </p:sp>
      <p:cxnSp>
        <p:nvCxnSpPr>
          <p:cNvPr id="48" name="直接箭头连接符 47"/>
          <p:cNvCxnSpPr/>
          <p:nvPr/>
        </p:nvCxnSpPr>
        <p:spPr bwMode="auto">
          <a:xfrm flipH="1">
            <a:off x="3050870" y="1854852"/>
            <a:ext cx="414185" cy="20593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文本框 48"/>
          <p:cNvSpPr txBox="1"/>
          <p:nvPr/>
        </p:nvSpPr>
        <p:spPr bwMode="auto">
          <a:xfrm>
            <a:off x="3479830" y="184488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8</a:t>
            </a:r>
            <a:endParaRPr lang="zh-CN" altLang="en-US" sz="1800" dirty="0">
              <a:latin typeface="Times New Roman" panose="02020603050405020304" pitchFamily="18" charset="0"/>
              <a:cs typeface="Courier New" panose="02070309020205020404" pitchFamily="49" charset="0"/>
            </a:endParaRPr>
          </a:p>
        </p:txBody>
      </p:sp>
      <p:cxnSp>
        <p:nvCxnSpPr>
          <p:cNvPr id="50" name="直接箭头连接符 49"/>
          <p:cNvCxnSpPr/>
          <p:nvPr/>
        </p:nvCxnSpPr>
        <p:spPr bwMode="auto">
          <a:xfrm flipH="1" flipV="1">
            <a:off x="3099695" y="2184198"/>
            <a:ext cx="359815" cy="82784"/>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文本框 50"/>
          <p:cNvSpPr txBox="1"/>
          <p:nvPr/>
        </p:nvSpPr>
        <p:spPr bwMode="auto">
          <a:xfrm>
            <a:off x="3447122" y="2447661"/>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10</a:t>
            </a:r>
            <a:endParaRPr lang="zh-CN" altLang="en-US" sz="1800" dirty="0">
              <a:latin typeface="Times New Roman" panose="02020603050405020304" pitchFamily="18" charset="0"/>
              <a:cs typeface="Courier New" panose="02070309020205020404" pitchFamily="49" charset="0"/>
            </a:endParaRPr>
          </a:p>
        </p:txBody>
      </p:sp>
      <p:cxnSp>
        <p:nvCxnSpPr>
          <p:cNvPr id="52" name="直接箭头连接符 51"/>
          <p:cNvCxnSpPr/>
          <p:nvPr/>
        </p:nvCxnSpPr>
        <p:spPr bwMode="auto">
          <a:xfrm flipH="1">
            <a:off x="3127503" y="2925004"/>
            <a:ext cx="390603" cy="117312"/>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文本框 52"/>
          <p:cNvSpPr txBox="1"/>
          <p:nvPr/>
        </p:nvSpPr>
        <p:spPr bwMode="auto">
          <a:xfrm>
            <a:off x="3531518" y="2957142"/>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9</a:t>
            </a:r>
            <a:endParaRPr lang="zh-CN" altLang="en-US" sz="1800" dirty="0">
              <a:latin typeface="Times New Roman" panose="02020603050405020304" pitchFamily="18" charset="0"/>
              <a:cs typeface="Courier New" panose="02070309020205020404" pitchFamily="49" charset="0"/>
            </a:endParaRPr>
          </a:p>
        </p:txBody>
      </p:sp>
      <p:cxnSp>
        <p:nvCxnSpPr>
          <p:cNvPr id="54" name="直接箭头连接符 53"/>
          <p:cNvCxnSpPr/>
          <p:nvPr/>
        </p:nvCxnSpPr>
        <p:spPr bwMode="auto">
          <a:xfrm flipH="1" flipV="1">
            <a:off x="3099695" y="3176823"/>
            <a:ext cx="431824" cy="160337"/>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文本框 54"/>
          <p:cNvSpPr txBox="1"/>
          <p:nvPr/>
        </p:nvSpPr>
        <p:spPr bwMode="auto">
          <a:xfrm>
            <a:off x="4218506" y="1493168"/>
            <a:ext cx="406906"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11</a:t>
            </a:r>
            <a:endParaRPr lang="zh-CN" altLang="en-US" sz="1800" dirty="0">
              <a:latin typeface="Times New Roman" panose="02020603050405020304" pitchFamily="18" charset="0"/>
              <a:cs typeface="Courier New" panose="02070309020205020404" pitchFamily="49" charset="0"/>
            </a:endParaRPr>
          </a:p>
        </p:txBody>
      </p:sp>
      <p:cxnSp>
        <p:nvCxnSpPr>
          <p:cNvPr id="56" name="直接箭头连接符 55"/>
          <p:cNvCxnSpPr/>
          <p:nvPr/>
        </p:nvCxnSpPr>
        <p:spPr bwMode="auto">
          <a:xfrm flipH="1">
            <a:off x="3830908" y="2007252"/>
            <a:ext cx="414185" cy="205936"/>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文本框 56"/>
          <p:cNvSpPr txBox="1"/>
          <p:nvPr/>
        </p:nvSpPr>
        <p:spPr bwMode="auto">
          <a:xfrm>
            <a:off x="4232806" y="2132916"/>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13</a:t>
            </a:r>
            <a:endParaRPr lang="zh-CN" altLang="en-US" sz="1800" dirty="0">
              <a:latin typeface="Times New Roman" panose="02020603050405020304" pitchFamily="18" charset="0"/>
              <a:cs typeface="Courier New" panose="02070309020205020404" pitchFamily="49" charset="0"/>
            </a:endParaRPr>
          </a:p>
        </p:txBody>
      </p:sp>
      <p:cxnSp>
        <p:nvCxnSpPr>
          <p:cNvPr id="58" name="直接箭头连接符 57"/>
          <p:cNvCxnSpPr/>
          <p:nvPr/>
        </p:nvCxnSpPr>
        <p:spPr bwMode="auto">
          <a:xfrm flipH="1">
            <a:off x="3862620" y="2647000"/>
            <a:ext cx="401071" cy="152340"/>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箭头连接符 58"/>
          <p:cNvCxnSpPr/>
          <p:nvPr/>
        </p:nvCxnSpPr>
        <p:spPr bwMode="auto">
          <a:xfrm flipH="1" flipV="1">
            <a:off x="3830908" y="2366066"/>
            <a:ext cx="421331" cy="147082"/>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 name="文本框 59"/>
          <p:cNvSpPr txBox="1"/>
          <p:nvPr/>
        </p:nvSpPr>
        <p:spPr bwMode="auto">
          <a:xfrm>
            <a:off x="4228510" y="2690568"/>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13</a:t>
            </a:r>
            <a:endParaRPr lang="zh-CN" altLang="en-US" sz="1800" dirty="0">
              <a:latin typeface="Times New Roman" panose="02020603050405020304" pitchFamily="18" charset="0"/>
              <a:cs typeface="Courier New" panose="02070309020205020404" pitchFamily="49" charset="0"/>
            </a:endParaRPr>
          </a:p>
        </p:txBody>
      </p:sp>
      <p:cxnSp>
        <p:nvCxnSpPr>
          <p:cNvPr id="61" name="直接箭头连接符 60"/>
          <p:cNvCxnSpPr/>
          <p:nvPr/>
        </p:nvCxnSpPr>
        <p:spPr bwMode="auto">
          <a:xfrm flipH="1">
            <a:off x="3858324" y="3204652"/>
            <a:ext cx="401071" cy="152340"/>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箭头连接符 61"/>
          <p:cNvCxnSpPr/>
          <p:nvPr/>
        </p:nvCxnSpPr>
        <p:spPr bwMode="auto">
          <a:xfrm flipH="1" flipV="1">
            <a:off x="3826612" y="2923718"/>
            <a:ext cx="421331" cy="147082"/>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文本框 62"/>
          <p:cNvSpPr txBox="1"/>
          <p:nvPr/>
        </p:nvSpPr>
        <p:spPr bwMode="auto">
          <a:xfrm>
            <a:off x="4932040" y="1484784"/>
            <a:ext cx="406906"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11</a:t>
            </a:r>
            <a:endParaRPr lang="zh-CN" altLang="en-US" sz="1800" dirty="0">
              <a:latin typeface="Times New Roman" panose="02020603050405020304" pitchFamily="18" charset="0"/>
              <a:cs typeface="Courier New" panose="02070309020205020404" pitchFamily="49" charset="0"/>
            </a:endParaRPr>
          </a:p>
        </p:txBody>
      </p:sp>
      <p:cxnSp>
        <p:nvCxnSpPr>
          <p:cNvPr id="64" name="直接箭头连接符 63"/>
          <p:cNvCxnSpPr/>
          <p:nvPr/>
        </p:nvCxnSpPr>
        <p:spPr bwMode="auto">
          <a:xfrm flipH="1">
            <a:off x="4572000" y="1916832"/>
            <a:ext cx="385183" cy="0"/>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文本框 64"/>
          <p:cNvSpPr txBox="1"/>
          <p:nvPr/>
        </p:nvSpPr>
        <p:spPr bwMode="auto">
          <a:xfrm>
            <a:off x="4885174" y="2060848"/>
            <a:ext cx="406906"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11</a:t>
            </a:r>
            <a:endParaRPr lang="zh-CN" altLang="en-US" sz="1800" dirty="0">
              <a:latin typeface="Times New Roman" panose="02020603050405020304" pitchFamily="18" charset="0"/>
              <a:cs typeface="Courier New" panose="02070309020205020404" pitchFamily="49" charset="0"/>
            </a:endParaRPr>
          </a:p>
        </p:txBody>
      </p:sp>
      <p:cxnSp>
        <p:nvCxnSpPr>
          <p:cNvPr id="66" name="直接箭头连接符 65"/>
          <p:cNvCxnSpPr/>
          <p:nvPr/>
        </p:nvCxnSpPr>
        <p:spPr bwMode="auto">
          <a:xfrm flipH="1" flipV="1">
            <a:off x="4572000" y="2060788"/>
            <a:ext cx="385182" cy="338151"/>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文本框 66"/>
          <p:cNvSpPr txBox="1"/>
          <p:nvPr/>
        </p:nvSpPr>
        <p:spPr bwMode="auto">
          <a:xfrm>
            <a:off x="4880878" y="2636972"/>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15</a:t>
            </a:r>
            <a:endParaRPr lang="zh-CN" altLang="en-US" sz="1800" dirty="0">
              <a:latin typeface="Times New Roman" panose="02020603050405020304" pitchFamily="18" charset="0"/>
              <a:cs typeface="Courier New" panose="02070309020205020404" pitchFamily="49" charset="0"/>
            </a:endParaRPr>
          </a:p>
        </p:txBody>
      </p:sp>
      <p:cxnSp>
        <p:nvCxnSpPr>
          <p:cNvPr id="68" name="直接箭头连接符 67"/>
          <p:cNvCxnSpPr/>
          <p:nvPr/>
        </p:nvCxnSpPr>
        <p:spPr bwMode="auto">
          <a:xfrm flipH="1" flipV="1">
            <a:off x="4556449" y="2643134"/>
            <a:ext cx="417647" cy="314009"/>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文本框 68"/>
          <p:cNvSpPr txBox="1"/>
          <p:nvPr/>
        </p:nvSpPr>
        <p:spPr bwMode="auto">
          <a:xfrm>
            <a:off x="5672966" y="1556792"/>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16</a:t>
            </a:r>
            <a:endParaRPr lang="zh-CN" altLang="en-US" sz="1800" dirty="0">
              <a:latin typeface="Times New Roman" panose="02020603050405020304" pitchFamily="18" charset="0"/>
              <a:cs typeface="Courier New" panose="02070309020205020404" pitchFamily="49" charset="0"/>
            </a:endParaRPr>
          </a:p>
        </p:txBody>
      </p:sp>
      <p:cxnSp>
        <p:nvCxnSpPr>
          <p:cNvPr id="70" name="直接箭头连接符 69"/>
          <p:cNvCxnSpPr/>
          <p:nvPr/>
        </p:nvCxnSpPr>
        <p:spPr bwMode="auto">
          <a:xfrm flipH="1" flipV="1">
            <a:off x="5292080" y="1931766"/>
            <a:ext cx="410326" cy="57074"/>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文本框 70"/>
          <p:cNvSpPr txBox="1"/>
          <p:nvPr/>
        </p:nvSpPr>
        <p:spPr bwMode="auto">
          <a:xfrm>
            <a:off x="5672966" y="2420888"/>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15</a:t>
            </a:r>
            <a:endParaRPr lang="zh-CN" altLang="en-US" sz="1800" dirty="0">
              <a:latin typeface="Times New Roman" panose="02020603050405020304" pitchFamily="18" charset="0"/>
              <a:cs typeface="Courier New" panose="02070309020205020404" pitchFamily="49" charset="0"/>
            </a:endParaRPr>
          </a:p>
        </p:txBody>
      </p:sp>
      <p:cxnSp>
        <p:nvCxnSpPr>
          <p:cNvPr id="72" name="直接箭头连接符 71"/>
          <p:cNvCxnSpPr/>
          <p:nvPr/>
        </p:nvCxnSpPr>
        <p:spPr bwMode="auto">
          <a:xfrm flipH="1" flipV="1">
            <a:off x="5292080" y="2566668"/>
            <a:ext cx="410326" cy="229194"/>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436" name="Rectangle 2"/>
          <p:cNvSpPr>
            <a:spLocks noGrp="1" noChangeArrowheads="1"/>
          </p:cNvSpPr>
          <p:nvPr>
            <p:ph type="title"/>
          </p:nvPr>
        </p:nvSpPr>
        <p:spPr>
          <a:xfrm>
            <a:off x="1270422" y="478731"/>
            <a:ext cx="6757962" cy="576163"/>
          </a:xfrm>
        </p:spPr>
        <p:txBody>
          <a:bodyPr/>
          <a:lstStyle/>
          <a:p>
            <a:pPr eaLnBrk="1" hangingPunct="1"/>
            <a:r>
              <a:rPr lang="en-US" altLang="zh-CN" dirty="0"/>
              <a:t>8.3.2  </a:t>
            </a:r>
            <a:r>
              <a:rPr lang="zh-CN" altLang="en-US" dirty="0"/>
              <a:t>顺推解法</a:t>
            </a:r>
            <a:endParaRPr lang="zh-CN" altLang="en-US" b="1" dirty="0"/>
          </a:p>
        </p:txBody>
      </p:sp>
      <p:sp>
        <p:nvSpPr>
          <p:cNvPr id="2" name="内容占位符 1"/>
          <p:cNvSpPr>
            <a:spLocks noGrp="1"/>
          </p:cNvSpPr>
          <p:nvPr>
            <p:ph idx="1"/>
          </p:nvPr>
        </p:nvSpPr>
        <p:spPr>
          <a:xfrm>
            <a:off x="539552" y="1124744"/>
            <a:ext cx="8280920" cy="1274195"/>
          </a:xfrm>
        </p:spPr>
        <p:txBody>
          <a:bodyPr/>
          <a:lstStyle/>
          <a:p>
            <a:r>
              <a:rPr lang="zh-CN" altLang="en-US" dirty="0"/>
              <a:t>例</a:t>
            </a:r>
            <a:r>
              <a:rPr lang="en-US" altLang="zh-CN" dirty="0"/>
              <a:t>8-1</a:t>
            </a:r>
            <a:r>
              <a:rPr lang="zh-CN" altLang="en-US" dirty="0"/>
              <a:t>顺推求解</a:t>
            </a:r>
            <a:endParaRPr lang="en-US" altLang="zh-CN" dirty="0"/>
          </a:p>
          <a:p>
            <a:pPr lvl="1"/>
            <a:endParaRPr lang="zh-CN" altLang="en-US" dirty="0"/>
          </a:p>
          <a:p>
            <a:endParaRPr lang="zh-CN" altLang="en-US" dirty="0"/>
          </a:p>
        </p:txBody>
      </p:sp>
      <p:sp>
        <p:nvSpPr>
          <p:cNvPr id="18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sp>
        <p:nvSpPr>
          <p:cNvPr id="29" name="矩形 28"/>
          <p:cNvSpPr/>
          <p:nvPr/>
        </p:nvSpPr>
        <p:spPr>
          <a:xfrm>
            <a:off x="326241" y="3440128"/>
            <a:ext cx="6768752" cy="341632"/>
          </a:xfrm>
          <a:prstGeom prst="rect">
            <a:avLst/>
          </a:prstGeom>
        </p:spPr>
        <p:txBody>
          <a:bodyPr wrap="square">
            <a:spAutoFit/>
          </a:bodyPr>
          <a:lstStyle/>
          <a:p>
            <a:pPr lvl="2" eaLnBrk="1" hangingPunct="1">
              <a:lnSpc>
                <a:spcPct val="90000"/>
              </a:lnSpc>
            </a:pPr>
            <a:r>
              <a:rPr lang="zh-CN" altLang="en-US" sz="1800" dirty="0" smtClean="0"/>
              <a:t>阶段</a:t>
            </a:r>
            <a:r>
              <a:rPr lang="en-US" altLang="zh-CN" sz="1800" dirty="0" smtClean="0"/>
              <a:t>k</a:t>
            </a:r>
            <a:r>
              <a:rPr lang="zh-CN" altLang="en-US" sz="1800" dirty="0" smtClean="0"/>
              <a:t>： 阶段</a:t>
            </a:r>
            <a:r>
              <a:rPr lang="en-US" altLang="zh-CN" sz="1800" dirty="0" smtClean="0"/>
              <a:t>1   </a:t>
            </a:r>
            <a:r>
              <a:rPr lang="zh-CN" altLang="en-US" sz="1800" dirty="0" smtClean="0"/>
              <a:t>阶段</a:t>
            </a:r>
            <a:r>
              <a:rPr lang="en-US" altLang="zh-CN" sz="1800" dirty="0" smtClean="0"/>
              <a:t>2   </a:t>
            </a:r>
            <a:r>
              <a:rPr lang="zh-CN" altLang="en-US" sz="1800" dirty="0" smtClean="0"/>
              <a:t>阶段</a:t>
            </a:r>
            <a:r>
              <a:rPr lang="en-US" altLang="zh-CN" sz="1800" dirty="0" smtClean="0"/>
              <a:t>3  </a:t>
            </a:r>
            <a:r>
              <a:rPr lang="zh-CN" altLang="en-US" sz="1800" dirty="0" smtClean="0"/>
              <a:t>阶段</a:t>
            </a:r>
            <a:r>
              <a:rPr lang="en-US" altLang="zh-CN" sz="1800" dirty="0" smtClean="0"/>
              <a:t>4  </a:t>
            </a:r>
            <a:r>
              <a:rPr lang="zh-CN" altLang="en-US" sz="1800" dirty="0" smtClean="0"/>
              <a:t>阶段</a:t>
            </a:r>
            <a:r>
              <a:rPr lang="en-US" altLang="zh-CN" sz="1800" dirty="0" smtClean="0"/>
              <a:t>5  </a:t>
            </a:r>
            <a:r>
              <a:rPr lang="zh-CN" altLang="en-US" sz="1800" dirty="0" smtClean="0"/>
              <a:t>阶段</a:t>
            </a:r>
            <a:r>
              <a:rPr lang="en-US" altLang="zh-CN" sz="1800" dirty="0" smtClean="0"/>
              <a:t>6</a:t>
            </a:r>
            <a:endParaRPr lang="zh-CN" altLang="en-US" sz="1800" dirty="0"/>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888330348"/>
                  </p:ext>
                </p:extLst>
              </p:nvPr>
            </p:nvGraphicFramePr>
            <p:xfrm>
              <a:off x="1029878" y="3789040"/>
              <a:ext cx="7609947" cy="1270432"/>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538912">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1" i="1" smtClean="0">
                                        <a:latin typeface="Cambria Math" panose="02040503050406030204" pitchFamily="18" charset="0"/>
                                      </a:rPr>
                                      <m:t>𝑺</m:t>
                                    </m:r>
                                  </m:e>
                                  <m:sub>
                                    <m:r>
                                      <a:rPr lang="en-US" altLang="zh-CN" sz="1800" b="0" i="1" smtClean="0">
                                        <a:latin typeface="Cambria Math" panose="02040503050406030204" pitchFamily="18" charset="0"/>
                                      </a:rPr>
                                      <m:t>7</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𝐷</m:t>
                                    </m:r>
                                  </m:e>
                                  <m:sub>
                                    <m:r>
                                      <a:rPr lang="en-US" altLang="zh-CN" sz="1800" b="1" i="1" smtClean="0">
                                        <a:latin typeface="Cambria Math" panose="02040503050406030204" pitchFamily="18" charset="0"/>
                                      </a:rPr>
                                      <m:t>𝟔</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1" i="1" smtClean="0">
                                        <a:latin typeface="Cambria Math" panose="02040503050406030204" pitchFamily="18" charset="0"/>
                                      </a:rPr>
                                      <m:t>𝒔</m:t>
                                    </m:r>
                                  </m:e>
                                  <m:sub>
                                    <m:r>
                                      <a:rPr lang="en-US" altLang="zh-CN" sz="1800" b="1" i="1" smtClean="0">
                                        <a:latin typeface="Cambria Math" panose="02040503050406030204" pitchFamily="18" charset="0"/>
                                      </a:rPr>
                                      <m:t>𝟕</m:t>
                                    </m:r>
                                  </m:sub>
                                </m:sSub>
                                <m:r>
                                  <a:rPr lang="en-US" altLang="zh-CN" sz="1800" i="1">
                                    <a:latin typeface="Cambria Math" panose="02040503050406030204" pitchFamily="18" charset="0"/>
                                  </a:rPr>
                                  <m:t>)</m:t>
                                </m:r>
                                <m:r>
                                  <m:rPr>
                                    <m:nor/>
                                  </m:rPr>
                                  <a:rPr lang="zh-CN" altLang="en-US" sz="1800" dirty="0"/>
                                  <m:t> </m:t>
                                </m:r>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𝟔</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𝟕</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𝟔</m:t>
                                        </m:r>
                                      </m:sub>
                                    </m:sSub>
                                  </m:e>
                                </m:d>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𝟓</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𝟔</m:t>
                                        </m:r>
                                      </m:sub>
                                    </m:sSub>
                                  </m:e>
                                </m:d>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𝟔</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𝟕</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𝟔</m:t>
                                      </m:r>
                                    </m:sub>
                                  </m:sSub>
                                </m:e>
                              </m:d>
                            </m:oMath>
                          </a14:m>
                          <a:r>
                            <a:rPr lang="en-US" altLang="zh-CN" dirty="0" smtClean="0"/>
                            <a: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𝟓</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𝟔</m:t>
                                      </m:r>
                                    </m:sub>
                                  </m:sSub>
                                </m:e>
                              </m:d>
                            </m:oMath>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𝟔</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𝟕</m:t>
                                        </m:r>
                                      </m:sub>
                                    </m:sSub>
                                  </m:e>
                                </m:d>
                              </m:oMath>
                            </m:oMathPara>
                          </a14:m>
                          <a:endParaRPr lang="zh-CN" altLang="en-US" dirty="0"/>
                        </a:p>
                      </a:txBody>
                      <a:tcPr/>
                    </a:tc>
                    <a:tc>
                      <a:txBody>
                        <a:bodyPr/>
                        <a:lstStyle/>
                        <a:p>
                          <a:r>
                            <a:rPr lang="zh-CN" altLang="en-US" dirty="0" smtClean="0"/>
                            <a:t>最优决策</a:t>
                          </a:r>
                          <a14:m>
                            <m:oMath xmlns:m="http://schemas.openxmlformats.org/officeDocument/2006/math">
                              <m:sSubSup>
                                <m:sSubSupPr>
                                  <m:ctrlPr>
                                    <a:rPr lang="en-US" altLang="zh-CN"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𝟔</m:t>
                                  </m:r>
                                </m:sub>
                                <m:sup>
                                  <m:r>
                                    <a:rPr lang="en-US" altLang="zh-CN" b="1" i="1" smtClean="0">
                                      <a:latin typeface="Cambria Math" panose="02040503050406030204" pitchFamily="18" charset="0"/>
                                    </a:rPr>
                                    <m:t>∗</m:t>
                                  </m:r>
                                </m:sup>
                              </m:sSubSup>
                            </m:oMath>
                          </a14:m>
                          <a:endParaRPr lang="zh-CN" altLang="en-US" dirty="0"/>
                        </a:p>
                      </a:txBody>
                      <a:tcPr/>
                    </a:tc>
                    <a:extLst>
                      <a:ext uri="{0D108BD9-81ED-4DB2-BD59-A6C34878D82A}">
                        <a16:rowId xmlns:a16="http://schemas.microsoft.com/office/drawing/2014/main" val="37799757"/>
                      </a:ext>
                    </a:extLst>
                  </a:tr>
                  <a:tr h="307950">
                    <a:tc rowSpan="2">
                      <a:txBody>
                        <a:bodyPr/>
                        <a:lstStyle/>
                        <a:p>
                          <a:r>
                            <a:rPr lang="en-US" altLang="zh-CN" dirty="0" smtClean="0"/>
                            <a:t>G</a:t>
                          </a:r>
                          <a:endParaRPr lang="zh-CN" altLang="en-US" dirty="0"/>
                        </a:p>
                      </a:txBody>
                      <a:tcPr/>
                    </a:tc>
                    <a:tc>
                      <a:txBody>
                        <a:bodyPr/>
                        <a:lstStyle/>
                        <a:p>
                          <a14:m>
                            <m:oMath xmlns:m="http://schemas.openxmlformats.org/officeDocument/2006/math">
                              <m:r>
                                <m:rPr>
                                  <m:nor/>
                                </m:rPr>
                                <a:rPr lang="en-US" altLang="zh-CN" dirty="0" smtClean="0"/>
                                <m:t>G</m:t>
                              </m:r>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i="1">
                                      <a:latin typeface="Cambria Math" panose="02040503050406030204" pitchFamily="18" charset="0"/>
                                    </a:rPr>
                                    <m:t>1</m:t>
                                  </m:r>
                                </m:sub>
                              </m:sSub>
                            </m:oMath>
                          </a14:m>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16</a:t>
                          </a:r>
                          <a:endParaRPr lang="zh-CN" altLang="en-US" dirty="0"/>
                        </a:p>
                      </a:txBody>
                      <a:tcPr/>
                    </a:tc>
                    <a:tc>
                      <a:txBody>
                        <a:bodyPr/>
                        <a:lstStyle/>
                        <a:p>
                          <a:r>
                            <a:rPr lang="en-US" altLang="zh-CN" dirty="0" smtClean="0"/>
                            <a:t>20</a:t>
                          </a:r>
                          <a:endParaRPr lang="zh-CN" altLang="en-US" dirty="0"/>
                        </a:p>
                      </a:txBody>
                      <a:tcPr/>
                    </a:tc>
                    <a:tc rowSpan="2">
                      <a:txBody>
                        <a:bodyPr/>
                        <a:lstStyle/>
                        <a:p>
                          <a:r>
                            <a:rPr lang="en-US" altLang="zh-CN" dirty="0" smtClean="0"/>
                            <a:t>18</a:t>
                          </a:r>
                          <a:endParaRPr lang="zh-CN" altLang="en-US" dirty="0"/>
                        </a:p>
                      </a:txBody>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nor/>
                                </m:rPr>
                                <a:rPr lang="en-US" altLang="zh-CN" dirty="0" smtClean="0"/>
                                <m:t>G</m:t>
                              </m:r>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2</m:t>
                                  </m:r>
                                </m:sub>
                              </m:sSub>
                            </m:oMath>
                          </a14:m>
                          <a:endParaRPr lang="zh-CN" altLang="en-US" dirty="0"/>
                        </a:p>
                      </a:txBody>
                      <a:tcPr/>
                    </a:tc>
                    <a:extLst>
                      <a:ext uri="{0D108BD9-81ED-4DB2-BD59-A6C34878D82A}">
                        <a16:rowId xmlns:a16="http://schemas.microsoft.com/office/drawing/2014/main" val="3736361684"/>
                      </a:ext>
                    </a:extLst>
                  </a:tr>
                  <a:tr h="307950">
                    <a:tc vMerge="1">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nor/>
                                </m:rPr>
                                <a:rPr lang="en-US" altLang="zh-CN" dirty="0" smtClean="0"/>
                                <m:t>G</m:t>
                              </m:r>
                            </m:oMath>
                          </a14:m>
                          <a:r>
                            <a:rPr lang="en-US" altLang="zh-CN" dirty="0" smtClean="0"/>
                            <a:t>-&gt;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2</m:t>
                                  </m:r>
                                </m:sub>
                              </m:sSub>
                            </m:oMath>
                          </a14:m>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15</a:t>
                          </a:r>
                          <a:endParaRPr lang="zh-CN" altLang="en-US" dirty="0"/>
                        </a:p>
                      </a:txBody>
                      <a:tcPr/>
                    </a:tc>
                    <a:tc>
                      <a:txBody>
                        <a:bodyPr/>
                        <a:lstStyle/>
                        <a:p>
                          <a:r>
                            <a:rPr lang="en-US" altLang="zh-CN" dirty="0" smtClean="0"/>
                            <a:t>18</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74687360"/>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888330348"/>
                  </p:ext>
                </p:extLst>
              </p:nvPr>
            </p:nvGraphicFramePr>
            <p:xfrm>
              <a:off x="1029878" y="3789040"/>
              <a:ext cx="7609947" cy="1270432"/>
            </p:xfrm>
            <a:graphic>
              <a:graphicData uri="http://schemas.openxmlformats.org/drawingml/2006/table">
                <a:tbl>
                  <a:tblPr firstRow="1" bandRow="1">
                    <a:tableStyleId>{5C22544A-7EE6-4342-B048-85BDC9FD1C3A}</a:tableStyleId>
                  </a:tblPr>
                  <a:tblGrid>
                    <a:gridCol w="467360">
                      <a:extLst>
                        <a:ext uri="{9D8B030D-6E8A-4147-A177-3AD203B41FA5}">
                          <a16:colId xmlns:a16="http://schemas.microsoft.com/office/drawing/2014/main" val="1816936163"/>
                        </a:ext>
                      </a:extLst>
                    </a:gridCol>
                    <a:gridCol w="965454">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1368151">
                      <a:extLst>
                        <a:ext uri="{9D8B030D-6E8A-4147-A177-3AD203B41FA5}">
                          <a16:colId xmlns:a16="http://schemas.microsoft.com/office/drawing/2014/main" val="2765978471"/>
                        </a:ext>
                      </a:extLst>
                    </a:gridCol>
                  </a:tblGrid>
                  <a:tr h="538912">
                    <a:tc>
                      <a:txBody>
                        <a:bodyPr/>
                        <a:lstStyle/>
                        <a:p>
                          <a:endParaRPr lang="zh-CN"/>
                        </a:p>
                      </a:txBody>
                      <a:tcPr>
                        <a:blipFill>
                          <a:blip r:embed="rId4"/>
                          <a:stretch>
                            <a:fillRect l="-1299" t="-8989" r="-1528571" b="-152809"/>
                          </a:stretch>
                        </a:blipFill>
                      </a:tcPr>
                    </a:tc>
                    <a:tc>
                      <a:txBody>
                        <a:bodyPr/>
                        <a:lstStyle/>
                        <a:p>
                          <a:endParaRPr lang="zh-CN"/>
                        </a:p>
                      </a:txBody>
                      <a:tcPr>
                        <a:blipFill>
                          <a:blip r:embed="rId4"/>
                          <a:stretch>
                            <a:fillRect l="-49367" t="-8989" r="-644937" b="-152809"/>
                          </a:stretch>
                        </a:blipFill>
                      </a:tcPr>
                    </a:tc>
                    <a:tc>
                      <a:txBody>
                        <a:bodyPr/>
                        <a:lstStyle/>
                        <a:p>
                          <a:endParaRPr lang="zh-CN"/>
                        </a:p>
                      </a:txBody>
                      <a:tcPr>
                        <a:blipFill>
                          <a:blip r:embed="rId4"/>
                          <a:stretch>
                            <a:fillRect l="-120408" t="-8989" r="-419898" b="-152809"/>
                          </a:stretch>
                        </a:blipFill>
                      </a:tcPr>
                    </a:tc>
                    <a:tc>
                      <a:txBody>
                        <a:bodyPr/>
                        <a:lstStyle/>
                        <a:p>
                          <a:endParaRPr lang="zh-CN"/>
                        </a:p>
                      </a:txBody>
                      <a:tcPr>
                        <a:blipFill>
                          <a:blip r:embed="rId4"/>
                          <a:stretch>
                            <a:fillRect l="-310791" t="-8989" r="-492086" b="-152809"/>
                          </a:stretch>
                        </a:blipFill>
                      </a:tcPr>
                    </a:tc>
                    <a:tc>
                      <a:txBody>
                        <a:bodyPr/>
                        <a:lstStyle/>
                        <a:p>
                          <a:endParaRPr lang="zh-CN"/>
                        </a:p>
                      </a:txBody>
                      <a:tcPr>
                        <a:blipFill>
                          <a:blip r:embed="rId4"/>
                          <a:stretch>
                            <a:fillRect l="-180696" t="-8989" r="-116456" b="-152809"/>
                          </a:stretch>
                        </a:blipFill>
                      </a:tcPr>
                    </a:tc>
                    <a:tc>
                      <a:txBody>
                        <a:bodyPr/>
                        <a:lstStyle/>
                        <a:p>
                          <a:endParaRPr lang="zh-CN"/>
                        </a:p>
                      </a:txBody>
                      <a:tcPr>
                        <a:blipFill>
                          <a:blip r:embed="rId4"/>
                          <a:stretch>
                            <a:fillRect l="-638129" t="-8989" r="-164748" b="-152809"/>
                          </a:stretch>
                        </a:blipFill>
                      </a:tcPr>
                    </a:tc>
                    <a:tc>
                      <a:txBody>
                        <a:bodyPr/>
                        <a:lstStyle/>
                        <a:p>
                          <a:endParaRPr lang="zh-CN"/>
                        </a:p>
                      </a:txBody>
                      <a:tcPr>
                        <a:blipFill>
                          <a:blip r:embed="rId4"/>
                          <a:stretch>
                            <a:fillRect l="-456000" t="-8989" r="-1778" b="-152809"/>
                          </a:stretch>
                        </a:blipFill>
                      </a:tcPr>
                    </a:tc>
                    <a:extLst>
                      <a:ext uri="{0D108BD9-81ED-4DB2-BD59-A6C34878D82A}">
                        <a16:rowId xmlns:a16="http://schemas.microsoft.com/office/drawing/2014/main" val="37799757"/>
                      </a:ext>
                    </a:extLst>
                  </a:tr>
                  <a:tr h="365760">
                    <a:tc rowSpan="2">
                      <a:txBody>
                        <a:bodyPr/>
                        <a:lstStyle/>
                        <a:p>
                          <a:pPr/>
                          <a:r>
                            <a:rPr lang="en-US" altLang="zh-CN" dirty="0" smtClean="0"/>
                            <a:t>G</a:t>
                          </a:r>
                          <a:endParaRPr lang="zh-CN" altLang="en-US" dirty="0"/>
                        </a:p>
                      </a:txBody>
                      <a:tcPr/>
                    </a:tc>
                    <a:tc>
                      <a:txBody>
                        <a:bodyPr/>
                        <a:lstStyle/>
                        <a:p>
                          <a:endParaRPr lang="zh-CN"/>
                        </a:p>
                      </a:txBody>
                      <a:tcPr>
                        <a:blipFill>
                          <a:blip r:embed="rId4"/>
                          <a:stretch>
                            <a:fillRect l="-49367" t="-161667" r="-644937" b="-126667"/>
                          </a:stretch>
                        </a:blipFill>
                      </a:tcPr>
                    </a:tc>
                    <a:tc>
                      <a:txBody>
                        <a:bodyPr/>
                        <a:lstStyle/>
                        <a:p>
                          <a:r>
                            <a:rPr lang="en-US" altLang="zh-CN" dirty="0" smtClean="0"/>
                            <a:t>4</a:t>
                          </a:r>
                          <a:endParaRPr lang="zh-CN" altLang="en-US" dirty="0"/>
                        </a:p>
                      </a:txBody>
                      <a:tcPr/>
                    </a:tc>
                    <a:tc>
                      <a:txBody>
                        <a:bodyPr/>
                        <a:lstStyle/>
                        <a:p>
                          <a:r>
                            <a:rPr lang="en-US" altLang="zh-CN" dirty="0" smtClean="0"/>
                            <a:t>16</a:t>
                          </a:r>
                          <a:endParaRPr lang="zh-CN" altLang="en-US" dirty="0"/>
                        </a:p>
                      </a:txBody>
                      <a:tcPr/>
                    </a:tc>
                    <a:tc>
                      <a:txBody>
                        <a:bodyPr/>
                        <a:lstStyle/>
                        <a:p>
                          <a:r>
                            <a:rPr lang="en-US" altLang="zh-CN" dirty="0" smtClean="0"/>
                            <a:t>20</a:t>
                          </a:r>
                          <a:endParaRPr lang="zh-CN" altLang="en-US" dirty="0"/>
                        </a:p>
                      </a:txBody>
                      <a:tcPr/>
                    </a:tc>
                    <a:tc rowSpan="2">
                      <a:txBody>
                        <a:bodyPr/>
                        <a:lstStyle/>
                        <a:p>
                          <a:r>
                            <a:rPr lang="en-US" altLang="zh-CN" dirty="0" smtClean="0"/>
                            <a:t>18</a:t>
                          </a:r>
                          <a:endParaRPr lang="zh-CN" altLang="en-US" dirty="0"/>
                        </a:p>
                      </a:txBody>
                      <a:tcPr/>
                    </a:tc>
                    <a:tc rowSpan="2">
                      <a:txBody>
                        <a:bodyPr/>
                        <a:lstStyle/>
                        <a:p>
                          <a:endParaRPr lang="zh-CN"/>
                        </a:p>
                      </a:txBody>
                      <a:tcPr>
                        <a:blipFill>
                          <a:blip r:embed="rId4"/>
                          <a:stretch>
                            <a:fillRect l="-456000" t="-80833" r="-1778" b="-13333"/>
                          </a:stretch>
                        </a:blipFill>
                      </a:tcPr>
                    </a:tc>
                    <a:extLst>
                      <a:ext uri="{0D108BD9-81ED-4DB2-BD59-A6C34878D82A}">
                        <a16:rowId xmlns:a16="http://schemas.microsoft.com/office/drawing/2014/main" val="3736361684"/>
                      </a:ext>
                    </a:extLst>
                  </a:tr>
                  <a:tr h="365760">
                    <a:tc vMerge="1">
                      <a:txBody>
                        <a:bodyPr/>
                        <a:lstStyle/>
                        <a:p>
                          <a:pPr/>
                          <a:endParaRPr lang="zh-CN" altLang="en-US" dirty="0"/>
                        </a:p>
                      </a:txBody>
                      <a:tcPr/>
                    </a:tc>
                    <a:tc>
                      <a:txBody>
                        <a:bodyPr/>
                        <a:lstStyle/>
                        <a:p>
                          <a:endParaRPr lang="zh-CN"/>
                        </a:p>
                      </a:txBody>
                      <a:tcPr>
                        <a:blipFill>
                          <a:blip r:embed="rId4"/>
                          <a:stretch>
                            <a:fillRect l="-49367" t="-261667" r="-644937" b="-26667"/>
                          </a:stretch>
                        </a:blipFill>
                      </a:tcPr>
                    </a:tc>
                    <a:tc>
                      <a:txBody>
                        <a:bodyPr/>
                        <a:lstStyle/>
                        <a:p>
                          <a:r>
                            <a:rPr lang="en-US" altLang="zh-CN" dirty="0" smtClean="0"/>
                            <a:t>3</a:t>
                          </a:r>
                          <a:endParaRPr lang="zh-CN" altLang="en-US" dirty="0"/>
                        </a:p>
                      </a:txBody>
                      <a:tcPr/>
                    </a:tc>
                    <a:tc>
                      <a:txBody>
                        <a:bodyPr/>
                        <a:lstStyle/>
                        <a:p>
                          <a:r>
                            <a:rPr lang="en-US" altLang="zh-CN" dirty="0" smtClean="0"/>
                            <a:t>15</a:t>
                          </a:r>
                          <a:endParaRPr lang="zh-CN" altLang="en-US" dirty="0"/>
                        </a:p>
                      </a:txBody>
                      <a:tcPr/>
                    </a:tc>
                    <a:tc>
                      <a:txBody>
                        <a:bodyPr/>
                        <a:lstStyle/>
                        <a:p>
                          <a:r>
                            <a:rPr lang="en-US" altLang="zh-CN" dirty="0" smtClean="0"/>
                            <a:t>18</a:t>
                          </a:r>
                          <a:endParaRPr lang="zh-CN" altLang="en-US" dirty="0"/>
                        </a:p>
                      </a:txBody>
                      <a:tcPr/>
                    </a:tc>
                    <a:tc vMerge="1">
                      <a:txBody>
                        <a:bodyPr/>
                        <a:lstStyle/>
                        <a:p>
                          <a:endParaRPr lang="zh-CN" altLang="en-US"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3274687360"/>
                      </a:ext>
                    </a:extLst>
                  </a:tr>
                </a:tbl>
              </a:graphicData>
            </a:graphic>
          </p:graphicFrame>
        </mc:Fallback>
      </mc:AlternateContent>
      <p:sp>
        <p:nvSpPr>
          <p:cNvPr id="19" name="矩形 18"/>
          <p:cNvSpPr/>
          <p:nvPr/>
        </p:nvSpPr>
        <p:spPr>
          <a:xfrm>
            <a:off x="-26526" y="4094931"/>
            <a:ext cx="1056404" cy="341632"/>
          </a:xfrm>
          <a:prstGeom prst="rect">
            <a:avLst/>
          </a:prstGeom>
        </p:spPr>
        <p:txBody>
          <a:bodyPr wrap="square">
            <a:spAutoFit/>
          </a:bodyPr>
          <a:lstStyle/>
          <a:p>
            <a:pPr marL="0" lvl="2" defTabSz="179388" eaLnBrk="1" hangingPunct="1">
              <a:lnSpc>
                <a:spcPct val="90000"/>
              </a:lnSpc>
            </a:pPr>
            <a:r>
              <a:rPr lang="zh-CN" altLang="en-US" sz="1800" dirty="0" smtClean="0"/>
              <a:t>阶段</a:t>
            </a:r>
            <a:r>
              <a:rPr lang="en-US" altLang="zh-CN" sz="1800" dirty="0" smtClean="0"/>
              <a:t>k=6</a:t>
            </a:r>
            <a:endParaRPr lang="zh-CN" altLang="en-US" sz="1800" dirty="0"/>
          </a:p>
        </p:txBody>
      </p:sp>
      <p:graphicFrame>
        <p:nvGraphicFramePr>
          <p:cNvPr id="25" name="Object 17"/>
          <p:cNvGraphicFramePr>
            <a:graphicFrameLocks noChangeAspect="1"/>
          </p:cNvGraphicFramePr>
          <p:nvPr>
            <p:extLst>
              <p:ext uri="{D42A27DB-BD31-4B8C-83A1-F6EECF244321}">
                <p14:modId xmlns:p14="http://schemas.microsoft.com/office/powerpoint/2010/main" val="1716085867"/>
              </p:ext>
            </p:extLst>
          </p:nvPr>
        </p:nvGraphicFramePr>
        <p:xfrm>
          <a:off x="8171785" y="5238033"/>
          <a:ext cx="504825" cy="425450"/>
        </p:xfrm>
        <a:graphic>
          <a:graphicData uri="http://schemas.openxmlformats.org/presentationml/2006/ole">
            <mc:AlternateContent xmlns:mc="http://schemas.openxmlformats.org/markup-compatibility/2006">
              <mc:Choice xmlns:v="urn:schemas-microsoft-com:vml" Requires="v">
                <p:oleObj spid="_x0000_s198784" name="Equation" r:id="rId5" imgW="304560" imgH="253800" progId="Equation.DSMT4">
                  <p:embed/>
                </p:oleObj>
              </mc:Choice>
              <mc:Fallback>
                <p:oleObj name="Equation" r:id="rId5" imgW="304560" imgH="253800" progId="Equation.DSMT4">
                  <p:embed/>
                  <p:pic>
                    <p:nvPicPr>
                      <p:cNvPr id="20" name="Object 17"/>
                      <p:cNvPicPr>
                        <a:picLocks noChangeAspect="1" noChangeArrowheads="1"/>
                      </p:cNvPicPr>
                      <p:nvPr/>
                    </p:nvPicPr>
                    <p:blipFill>
                      <a:blip r:embed="rId6"/>
                      <a:srcRect/>
                      <a:stretch>
                        <a:fillRect/>
                      </a:stretch>
                    </p:blipFill>
                    <p:spPr bwMode="auto">
                      <a:xfrm>
                        <a:off x="8171785" y="5238033"/>
                        <a:ext cx="50482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Object 16"/>
          <p:cNvGraphicFramePr>
            <a:graphicFrameLocks noChangeAspect="1"/>
          </p:cNvGraphicFramePr>
          <p:nvPr>
            <p:extLst>
              <p:ext uri="{D42A27DB-BD31-4B8C-83A1-F6EECF244321}">
                <p14:modId xmlns:p14="http://schemas.microsoft.com/office/powerpoint/2010/main" val="1560159111"/>
              </p:ext>
            </p:extLst>
          </p:nvPr>
        </p:nvGraphicFramePr>
        <p:xfrm>
          <a:off x="1568450" y="5664200"/>
          <a:ext cx="7304088" cy="379413"/>
        </p:xfrm>
        <a:graphic>
          <a:graphicData uri="http://schemas.openxmlformats.org/presentationml/2006/ole">
            <mc:AlternateContent xmlns:mc="http://schemas.openxmlformats.org/markup-compatibility/2006">
              <mc:Choice xmlns:v="urn:schemas-microsoft-com:vml" Requires="v">
                <p:oleObj spid="_x0000_s198785" name="Equation" r:id="rId7" imgW="4444920" imgH="241200" progId="Equation.DSMT4">
                  <p:embed/>
                </p:oleObj>
              </mc:Choice>
              <mc:Fallback>
                <p:oleObj name="Equation" r:id="rId7" imgW="4444920" imgH="241200" progId="Equation.DSMT4">
                  <p:embed/>
                  <p:pic>
                    <p:nvPicPr>
                      <p:cNvPr id="21" name="Object 16"/>
                      <p:cNvPicPr>
                        <a:picLocks noChangeAspect="1" noChangeArrowheads="1"/>
                      </p:cNvPicPr>
                      <p:nvPr/>
                    </p:nvPicPr>
                    <p:blipFill>
                      <a:blip r:embed="rId8"/>
                      <a:srcRect/>
                      <a:stretch>
                        <a:fillRect/>
                      </a:stretch>
                    </p:blipFill>
                    <p:spPr bwMode="auto">
                      <a:xfrm>
                        <a:off x="1568450" y="5664200"/>
                        <a:ext cx="7304088"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Object 15"/>
          <p:cNvGraphicFramePr>
            <a:graphicFrameLocks noChangeAspect="1"/>
          </p:cNvGraphicFramePr>
          <p:nvPr>
            <p:extLst>
              <p:ext uri="{D42A27DB-BD31-4B8C-83A1-F6EECF244321}">
                <p14:modId xmlns:p14="http://schemas.microsoft.com/office/powerpoint/2010/main" val="1618471192"/>
              </p:ext>
            </p:extLst>
          </p:nvPr>
        </p:nvGraphicFramePr>
        <p:xfrm>
          <a:off x="5059810" y="6073123"/>
          <a:ext cx="3600450" cy="358775"/>
        </p:xfrm>
        <a:graphic>
          <a:graphicData uri="http://schemas.openxmlformats.org/presentationml/2006/ole">
            <mc:AlternateContent xmlns:mc="http://schemas.openxmlformats.org/markup-compatibility/2006">
              <mc:Choice xmlns:v="urn:schemas-microsoft-com:vml" Requires="v">
                <p:oleObj spid="_x0000_s198786" r:id="rId9" imgW="2298700" imgH="228600" progId="Equation.DSMT4">
                  <p:embed/>
                </p:oleObj>
              </mc:Choice>
              <mc:Fallback>
                <p:oleObj r:id="rId9" imgW="2298700" imgH="228600" progId="Equation.DSMT4">
                  <p:embed/>
                  <p:pic>
                    <p:nvPicPr>
                      <p:cNvPr id="22"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59810" y="6073123"/>
                        <a:ext cx="36004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 name="Rectangle 18"/>
          <p:cNvSpPr>
            <a:spLocks noChangeArrowheads="1"/>
          </p:cNvSpPr>
          <p:nvPr/>
        </p:nvSpPr>
        <p:spPr bwMode="auto">
          <a:xfrm>
            <a:off x="899746" y="5266092"/>
            <a:ext cx="83534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dirty="0">
                <a:latin typeface="Times New Roman" panose="02020603050405020304" pitchFamily="18" charset="0"/>
                <a:cs typeface="Times New Roman" panose="02020603050405020304" pitchFamily="18" charset="0"/>
              </a:rPr>
              <a:t>为了找出最短路线，再按计算的顺序反推之，可求出最优决策函数序列</a:t>
            </a:r>
            <a:endParaRPr lang="zh-CN" altLang="en-US" sz="1800" b="1" dirty="0"/>
          </a:p>
        </p:txBody>
      </p:sp>
      <p:sp>
        <p:nvSpPr>
          <p:cNvPr id="34" name="Rectangle 19"/>
          <p:cNvSpPr>
            <a:spLocks noChangeArrowheads="1"/>
          </p:cNvSpPr>
          <p:nvPr/>
        </p:nvSpPr>
        <p:spPr bwMode="auto">
          <a:xfrm>
            <a:off x="931080" y="5654377"/>
            <a:ext cx="8819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dirty="0" smtClean="0">
                <a:latin typeface="Times New Roman" panose="02020603050405020304" pitchFamily="18" charset="0"/>
                <a:cs typeface="Times New Roman" panose="02020603050405020304" pitchFamily="18" charset="0"/>
              </a:rPr>
              <a:t>即由：</a:t>
            </a:r>
            <a:endParaRPr lang="zh-CN" altLang="en-US" sz="1800" b="1" dirty="0"/>
          </a:p>
        </p:txBody>
      </p:sp>
      <p:sp>
        <p:nvSpPr>
          <p:cNvPr id="35" name="Rectangle 20"/>
          <p:cNvSpPr>
            <a:spLocks noChangeArrowheads="1"/>
          </p:cNvSpPr>
          <p:nvPr/>
        </p:nvSpPr>
        <p:spPr bwMode="auto">
          <a:xfrm>
            <a:off x="927772" y="6023709"/>
            <a:ext cx="77324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dirty="0">
                <a:latin typeface="Times New Roman" panose="02020603050405020304" pitchFamily="18" charset="0"/>
                <a:cs typeface="Times New Roman" panose="02020603050405020304" pitchFamily="18" charset="0"/>
              </a:rPr>
              <a:t>组成一个最优策略</a:t>
            </a:r>
            <a:r>
              <a:rPr lang="zh-CN" altLang="en-US" sz="1800" b="1" dirty="0" smtClean="0">
                <a:latin typeface="Times New Roman" panose="02020603050405020304" pitchFamily="18" charset="0"/>
                <a:cs typeface="Times New Roman" panose="02020603050405020304" pitchFamily="18" charset="0"/>
              </a:rPr>
              <a:t>。相应</a:t>
            </a:r>
            <a:r>
              <a:rPr lang="zh-CN" altLang="en-US" sz="1800" b="1" dirty="0">
                <a:latin typeface="Times New Roman" panose="02020603050405020304" pitchFamily="18" charset="0"/>
                <a:cs typeface="Times New Roman" panose="02020603050405020304" pitchFamily="18" charset="0"/>
              </a:rPr>
              <a:t>的最短路线</a:t>
            </a:r>
            <a:r>
              <a:rPr lang="zh-CN" altLang="en-US" sz="1800" b="1" dirty="0" smtClean="0">
                <a:latin typeface="Times New Roman" panose="02020603050405020304" pitchFamily="18" charset="0"/>
                <a:cs typeface="Times New Roman" panose="02020603050405020304" pitchFamily="18" charset="0"/>
              </a:rPr>
              <a:t>为</a:t>
            </a:r>
            <a:r>
              <a:rPr lang="en-US" altLang="zh-CN" sz="1800" b="1" dirty="0" smtClean="0">
                <a:latin typeface="Times New Roman" panose="02020603050405020304" pitchFamily="18" charset="0"/>
                <a:cs typeface="Times New Roman" panose="02020603050405020304" pitchFamily="18" charset="0"/>
              </a:rPr>
              <a:t>:</a:t>
            </a:r>
            <a:endParaRPr lang="zh-CN" altLang="en-US" sz="1800" b="1" dirty="0"/>
          </a:p>
          <a:p>
            <a:pPr>
              <a:spcBef>
                <a:spcPct val="0"/>
              </a:spcBef>
              <a:buClrTx/>
              <a:buSzTx/>
              <a:buFontTx/>
              <a:buNone/>
            </a:pPr>
            <a:r>
              <a:rPr lang="zh-CN" altLang="en-US" sz="1800" b="1" dirty="0">
                <a:cs typeface="Courier New" panose="02070309020205020404" pitchFamily="49" charset="0"/>
              </a:rPr>
              <a:t>	</a:t>
            </a:r>
            <a:endParaRPr lang="zh-CN" altLang="en-US" sz="1800" b="1" dirty="0"/>
          </a:p>
        </p:txBody>
      </p:sp>
      <p:sp>
        <p:nvSpPr>
          <p:cNvPr id="73" name="文本框 72"/>
          <p:cNvSpPr txBox="1"/>
          <p:nvPr/>
        </p:nvSpPr>
        <p:spPr bwMode="auto">
          <a:xfrm>
            <a:off x="6460758" y="1988840"/>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18</a:t>
            </a:r>
            <a:endParaRPr lang="zh-CN" altLang="en-US" sz="1800" dirty="0">
              <a:latin typeface="Times New Roman" panose="02020603050405020304" pitchFamily="18" charset="0"/>
              <a:cs typeface="Courier New" panose="02070309020205020404" pitchFamily="49" charset="0"/>
            </a:endParaRPr>
          </a:p>
        </p:txBody>
      </p:sp>
      <p:cxnSp>
        <p:nvCxnSpPr>
          <p:cNvPr id="74" name="直接箭头连接符 73"/>
          <p:cNvCxnSpPr/>
          <p:nvPr/>
        </p:nvCxnSpPr>
        <p:spPr bwMode="auto">
          <a:xfrm flipH="1">
            <a:off x="6012160" y="2566668"/>
            <a:ext cx="504056" cy="255967"/>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434966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3" grpId="0"/>
      <p:bldP spid="34" grpId="0"/>
      <p:bldP spid="35" grpId="0"/>
      <p:bldP spid="7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a:xfrm>
            <a:off x="1270422" y="478731"/>
            <a:ext cx="6830652" cy="576163"/>
          </a:xfrm>
        </p:spPr>
        <p:txBody>
          <a:bodyPr/>
          <a:lstStyle/>
          <a:p>
            <a:pPr eaLnBrk="1" hangingPunct="1"/>
            <a:r>
              <a:rPr lang="en-US" altLang="zh-CN" dirty="0"/>
              <a:t>8.3.2  </a:t>
            </a:r>
            <a:r>
              <a:rPr lang="zh-CN" altLang="en-US" dirty="0"/>
              <a:t>顺推解法</a:t>
            </a:r>
          </a:p>
        </p:txBody>
      </p:sp>
      <p:sp>
        <p:nvSpPr>
          <p:cNvPr id="2" name="内容占位符 1"/>
          <p:cNvSpPr>
            <a:spLocks noGrp="1"/>
          </p:cNvSpPr>
          <p:nvPr>
            <p:ph idx="1"/>
          </p:nvPr>
        </p:nvSpPr>
        <p:spPr>
          <a:xfrm>
            <a:off x="539552" y="1337268"/>
            <a:ext cx="8280920" cy="904863"/>
          </a:xfrm>
        </p:spPr>
        <p:txBody>
          <a:bodyPr/>
          <a:lstStyle/>
          <a:p>
            <a:r>
              <a:rPr lang="zh-CN" altLang="en-US" dirty="0"/>
              <a:t>求解最短路问题的标号法</a:t>
            </a:r>
            <a:r>
              <a:rPr lang="en-US" altLang="zh-CN" dirty="0" smtClean="0"/>
              <a:t>——</a:t>
            </a:r>
            <a:r>
              <a:rPr lang="zh-CN" altLang="en-US" dirty="0" smtClean="0"/>
              <a:t>顺序</a:t>
            </a:r>
            <a:r>
              <a:rPr lang="zh-CN" altLang="en-US" dirty="0"/>
              <a:t>解法</a:t>
            </a:r>
          </a:p>
          <a:p>
            <a:endParaRPr lang="zh-CN" altLang="en-US" dirty="0"/>
          </a:p>
        </p:txBody>
      </p:sp>
      <p:sp>
        <p:nvSpPr>
          <p:cNvPr id="27651"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109096D-B28C-4571-8A1C-D11AB4B73E64}" type="slidenum">
              <a:rPr lang="en-US" altLang="zh-CN" sz="1000"/>
              <a:pPr>
                <a:spcBef>
                  <a:spcPct val="0"/>
                </a:spcBef>
                <a:buClrTx/>
                <a:buSzTx/>
                <a:buFontTx/>
                <a:buNone/>
              </a:pPr>
              <a:t>39</a:t>
            </a:fld>
            <a:endParaRPr lang="en-US" altLang="zh-CN" sz="1000"/>
          </a:p>
        </p:txBody>
      </p:sp>
      <p:sp>
        <p:nvSpPr>
          <p:cNvPr id="27653"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grpSp>
        <p:nvGrpSpPr>
          <p:cNvPr id="7" name="Group 116"/>
          <p:cNvGrpSpPr>
            <a:grpSpLocks/>
          </p:cNvGrpSpPr>
          <p:nvPr/>
        </p:nvGrpSpPr>
        <p:grpSpPr bwMode="auto">
          <a:xfrm>
            <a:off x="908112" y="2286318"/>
            <a:ext cx="7543800" cy="3036941"/>
            <a:chOff x="2138" y="3758"/>
            <a:chExt cx="5988" cy="3379"/>
          </a:xfrm>
        </p:grpSpPr>
        <p:grpSp>
          <p:nvGrpSpPr>
            <p:cNvPr id="8" name="Group 117"/>
            <p:cNvGrpSpPr>
              <a:grpSpLocks/>
            </p:cNvGrpSpPr>
            <p:nvPr/>
          </p:nvGrpSpPr>
          <p:grpSpPr bwMode="auto">
            <a:xfrm>
              <a:off x="2138" y="3758"/>
              <a:ext cx="5988" cy="3379"/>
              <a:chOff x="2138" y="3758"/>
              <a:chExt cx="5988" cy="3379"/>
            </a:xfrm>
          </p:grpSpPr>
          <p:sp>
            <p:nvSpPr>
              <p:cNvPr id="39" name="Oval 118"/>
              <p:cNvSpPr>
                <a:spLocks noChangeArrowheads="1"/>
              </p:cNvSpPr>
              <p:nvPr/>
            </p:nvSpPr>
            <p:spPr bwMode="auto">
              <a:xfrm>
                <a:off x="2236" y="5159"/>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endParaRPr kumimoji="0" lang="zh-CN" altLang="zh-CN" sz="2000">
                  <a:latin typeface="Arial Narrow" panose="020B0606020202030204" pitchFamily="34" charset="0"/>
                  <a:ea typeface="宋体" panose="02010600030101010101" pitchFamily="2" charset="-122"/>
                </a:endParaRPr>
              </a:p>
            </p:txBody>
          </p:sp>
          <p:sp>
            <p:nvSpPr>
              <p:cNvPr id="40" name="Oval 119"/>
              <p:cNvSpPr>
                <a:spLocks noChangeArrowheads="1"/>
              </p:cNvSpPr>
              <p:nvPr/>
            </p:nvSpPr>
            <p:spPr bwMode="auto">
              <a:xfrm>
                <a:off x="3353" y="4523"/>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1" name="Oval 120"/>
              <p:cNvSpPr>
                <a:spLocks noChangeArrowheads="1"/>
              </p:cNvSpPr>
              <p:nvPr/>
            </p:nvSpPr>
            <p:spPr bwMode="auto">
              <a:xfrm>
                <a:off x="3316" y="5945"/>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2" name="Oval 121"/>
              <p:cNvSpPr>
                <a:spLocks noChangeArrowheads="1"/>
              </p:cNvSpPr>
              <p:nvPr/>
            </p:nvSpPr>
            <p:spPr bwMode="auto">
              <a:xfrm>
                <a:off x="4576" y="3899"/>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3" name="Oval 122"/>
              <p:cNvSpPr>
                <a:spLocks noChangeArrowheads="1"/>
              </p:cNvSpPr>
              <p:nvPr/>
            </p:nvSpPr>
            <p:spPr bwMode="auto">
              <a:xfrm>
                <a:off x="4576" y="4690"/>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4" name="Oval 123"/>
              <p:cNvSpPr>
                <a:spLocks noChangeArrowheads="1"/>
              </p:cNvSpPr>
              <p:nvPr/>
            </p:nvSpPr>
            <p:spPr bwMode="auto">
              <a:xfrm>
                <a:off x="4576" y="5765"/>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5" name="Oval 124"/>
              <p:cNvSpPr>
                <a:spLocks noChangeArrowheads="1"/>
              </p:cNvSpPr>
              <p:nvPr/>
            </p:nvSpPr>
            <p:spPr bwMode="auto">
              <a:xfrm>
                <a:off x="4576" y="6635"/>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6" name="Oval 125"/>
              <p:cNvSpPr>
                <a:spLocks noChangeArrowheads="1"/>
              </p:cNvSpPr>
              <p:nvPr/>
            </p:nvSpPr>
            <p:spPr bwMode="auto">
              <a:xfrm>
                <a:off x="5873" y="4211"/>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7" name="Oval 126"/>
              <p:cNvSpPr>
                <a:spLocks noChangeArrowheads="1"/>
              </p:cNvSpPr>
              <p:nvPr/>
            </p:nvSpPr>
            <p:spPr bwMode="auto">
              <a:xfrm>
                <a:off x="5873" y="5189"/>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8" name="Oval 127"/>
              <p:cNvSpPr>
                <a:spLocks noChangeArrowheads="1"/>
              </p:cNvSpPr>
              <p:nvPr/>
            </p:nvSpPr>
            <p:spPr bwMode="auto">
              <a:xfrm>
                <a:off x="5873" y="6323"/>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49" name="Oval 128"/>
              <p:cNvSpPr>
                <a:spLocks noChangeArrowheads="1"/>
              </p:cNvSpPr>
              <p:nvPr/>
            </p:nvSpPr>
            <p:spPr bwMode="auto">
              <a:xfrm>
                <a:off x="7313" y="5321"/>
                <a:ext cx="397" cy="397"/>
              </a:xfrm>
              <a:prstGeom prst="ellipse">
                <a:avLst/>
              </a:prstGeom>
              <a:solidFill>
                <a:srgbClr val="FFFFFF"/>
              </a:solidFill>
              <a:ln w="9525">
                <a:solidFill>
                  <a:srgbClr val="000000"/>
                </a:solidFill>
                <a:round/>
                <a:headEnd/>
                <a:tailEnd/>
              </a:ln>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eaLnBrk="1" hangingPunct="1"/>
                <a:endParaRPr lang="zh-CN" altLang="en-US"/>
              </a:p>
            </p:txBody>
          </p:sp>
          <p:sp>
            <p:nvSpPr>
              <p:cNvPr id="50" name="Oval 129"/>
              <p:cNvSpPr>
                <a:spLocks noChangeArrowheads="1"/>
              </p:cNvSpPr>
              <p:nvPr/>
            </p:nvSpPr>
            <p:spPr bwMode="auto">
              <a:xfrm>
                <a:off x="3233" y="4427"/>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B</a:t>
                </a:r>
                <a:r>
                  <a:rPr kumimoji="0" lang="en-US" altLang="zh-CN" sz="2000" baseline="-25000">
                    <a:latin typeface="Arial Narrow" panose="020B0606020202030204" pitchFamily="34" charset="0"/>
                    <a:ea typeface="宋体" panose="02010600030101010101" pitchFamily="2" charset="-122"/>
                  </a:rPr>
                  <a:t>1</a:t>
                </a:r>
              </a:p>
            </p:txBody>
          </p:sp>
          <p:sp>
            <p:nvSpPr>
              <p:cNvPr id="51" name="Oval 130"/>
              <p:cNvSpPr>
                <a:spLocks noChangeArrowheads="1"/>
              </p:cNvSpPr>
              <p:nvPr/>
            </p:nvSpPr>
            <p:spPr bwMode="auto">
              <a:xfrm>
                <a:off x="2138" y="5084"/>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A</a:t>
                </a:r>
              </a:p>
            </p:txBody>
          </p:sp>
          <p:sp>
            <p:nvSpPr>
              <p:cNvPr id="52" name="Oval 131"/>
              <p:cNvSpPr>
                <a:spLocks noChangeArrowheads="1"/>
              </p:cNvSpPr>
              <p:nvPr/>
            </p:nvSpPr>
            <p:spPr bwMode="auto">
              <a:xfrm>
                <a:off x="4433" y="3758"/>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C</a:t>
                </a:r>
                <a:r>
                  <a:rPr kumimoji="0" lang="en-US" altLang="zh-CN" sz="2000" baseline="-25000">
                    <a:latin typeface="Arial Narrow" panose="020B0606020202030204" pitchFamily="34" charset="0"/>
                    <a:ea typeface="宋体" panose="02010600030101010101" pitchFamily="2" charset="-122"/>
                  </a:rPr>
                  <a:t>1</a:t>
                </a:r>
              </a:p>
            </p:txBody>
          </p:sp>
          <p:sp>
            <p:nvSpPr>
              <p:cNvPr id="53" name="Oval 132"/>
              <p:cNvSpPr>
                <a:spLocks noChangeArrowheads="1"/>
              </p:cNvSpPr>
              <p:nvPr/>
            </p:nvSpPr>
            <p:spPr bwMode="auto">
              <a:xfrm>
                <a:off x="3188" y="5855"/>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B</a:t>
                </a:r>
                <a:r>
                  <a:rPr kumimoji="0" lang="en-US" altLang="zh-CN" sz="2000" baseline="-25000">
                    <a:latin typeface="Arial Narrow" panose="020B0606020202030204" pitchFamily="34" charset="0"/>
                    <a:ea typeface="宋体" panose="02010600030101010101" pitchFamily="2" charset="-122"/>
                  </a:rPr>
                  <a:t>2</a:t>
                </a:r>
              </a:p>
            </p:txBody>
          </p:sp>
          <p:sp>
            <p:nvSpPr>
              <p:cNvPr id="54" name="Oval 133"/>
              <p:cNvSpPr>
                <a:spLocks noChangeArrowheads="1"/>
              </p:cNvSpPr>
              <p:nvPr/>
            </p:nvSpPr>
            <p:spPr bwMode="auto">
              <a:xfrm>
                <a:off x="4433" y="5652"/>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dirty="0">
                    <a:latin typeface="Arial Narrow" panose="020B0606020202030204" pitchFamily="34" charset="0"/>
                    <a:ea typeface="宋体" panose="02010600030101010101" pitchFamily="2" charset="-122"/>
                  </a:rPr>
                  <a:t> C</a:t>
                </a:r>
                <a:r>
                  <a:rPr kumimoji="0" lang="en-US" altLang="zh-CN" sz="2000" baseline="-25000" dirty="0">
                    <a:latin typeface="Arial Narrow" panose="020B0606020202030204" pitchFamily="34" charset="0"/>
                    <a:ea typeface="宋体" panose="02010600030101010101" pitchFamily="2" charset="-122"/>
                  </a:rPr>
                  <a:t>3</a:t>
                </a:r>
              </a:p>
            </p:txBody>
          </p:sp>
          <p:sp>
            <p:nvSpPr>
              <p:cNvPr id="55" name="Oval 134"/>
              <p:cNvSpPr>
                <a:spLocks noChangeArrowheads="1"/>
              </p:cNvSpPr>
              <p:nvPr/>
            </p:nvSpPr>
            <p:spPr bwMode="auto">
              <a:xfrm>
                <a:off x="7223" y="5208"/>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E</a:t>
                </a:r>
              </a:p>
            </p:txBody>
          </p:sp>
          <p:sp>
            <p:nvSpPr>
              <p:cNvPr id="56" name="Oval 135"/>
              <p:cNvSpPr>
                <a:spLocks noChangeArrowheads="1"/>
              </p:cNvSpPr>
              <p:nvPr/>
            </p:nvSpPr>
            <p:spPr bwMode="auto">
              <a:xfrm>
                <a:off x="5753" y="4070"/>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D</a:t>
                </a:r>
                <a:r>
                  <a:rPr kumimoji="0" lang="en-US" altLang="zh-CN" sz="2000" baseline="-25000">
                    <a:latin typeface="Arial Narrow" panose="020B0606020202030204" pitchFamily="34" charset="0"/>
                    <a:ea typeface="宋体" panose="02010600030101010101" pitchFamily="2" charset="-122"/>
                  </a:rPr>
                  <a:t>1</a:t>
                </a:r>
              </a:p>
            </p:txBody>
          </p:sp>
          <p:sp>
            <p:nvSpPr>
              <p:cNvPr id="57" name="Oval 136"/>
              <p:cNvSpPr>
                <a:spLocks noChangeArrowheads="1"/>
              </p:cNvSpPr>
              <p:nvPr/>
            </p:nvSpPr>
            <p:spPr bwMode="auto">
              <a:xfrm>
                <a:off x="4433" y="6513"/>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C</a:t>
                </a:r>
                <a:r>
                  <a:rPr kumimoji="0" lang="en-US" altLang="zh-CN" sz="2000" baseline="-25000">
                    <a:latin typeface="Arial Narrow" panose="020B0606020202030204" pitchFamily="34" charset="0"/>
                    <a:ea typeface="宋体" panose="02010600030101010101" pitchFamily="2" charset="-122"/>
                  </a:rPr>
                  <a:t>4</a:t>
                </a:r>
              </a:p>
            </p:txBody>
          </p:sp>
          <p:sp>
            <p:nvSpPr>
              <p:cNvPr id="58" name="Oval 137"/>
              <p:cNvSpPr>
                <a:spLocks noChangeArrowheads="1"/>
              </p:cNvSpPr>
              <p:nvPr/>
            </p:nvSpPr>
            <p:spPr bwMode="auto">
              <a:xfrm>
                <a:off x="4403" y="4568"/>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C</a:t>
                </a:r>
                <a:r>
                  <a:rPr kumimoji="0" lang="en-US" altLang="zh-CN" sz="2000" baseline="-25000">
                    <a:latin typeface="Arial Narrow" panose="020B0606020202030204" pitchFamily="34" charset="0"/>
                    <a:ea typeface="宋体" panose="02010600030101010101" pitchFamily="2" charset="-122"/>
                  </a:rPr>
                  <a:t>2</a:t>
                </a:r>
              </a:p>
            </p:txBody>
          </p:sp>
          <p:sp>
            <p:nvSpPr>
              <p:cNvPr id="59" name="Oval 138"/>
              <p:cNvSpPr>
                <a:spLocks noChangeArrowheads="1"/>
              </p:cNvSpPr>
              <p:nvPr/>
            </p:nvSpPr>
            <p:spPr bwMode="auto">
              <a:xfrm>
                <a:off x="5738" y="6216"/>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D</a:t>
                </a:r>
                <a:r>
                  <a:rPr kumimoji="0" lang="en-US" altLang="zh-CN" sz="2000" baseline="-25000">
                    <a:latin typeface="Arial Narrow" panose="020B0606020202030204" pitchFamily="34" charset="0"/>
                    <a:ea typeface="宋体" panose="02010600030101010101" pitchFamily="2" charset="-122"/>
                  </a:rPr>
                  <a:t>3</a:t>
                </a:r>
              </a:p>
            </p:txBody>
          </p:sp>
          <p:sp>
            <p:nvSpPr>
              <p:cNvPr id="60" name="Oval 139"/>
              <p:cNvSpPr>
                <a:spLocks noChangeArrowheads="1"/>
              </p:cNvSpPr>
              <p:nvPr/>
            </p:nvSpPr>
            <p:spPr bwMode="auto">
              <a:xfrm>
                <a:off x="5723" y="5072"/>
                <a:ext cx="903" cy="62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D</a:t>
                </a:r>
                <a:r>
                  <a:rPr kumimoji="0" lang="en-US" altLang="zh-CN" sz="2000" baseline="-25000">
                    <a:latin typeface="Arial Narrow" panose="020B0606020202030204" pitchFamily="34" charset="0"/>
                    <a:ea typeface="宋体" panose="02010600030101010101" pitchFamily="2" charset="-122"/>
                  </a:rPr>
                  <a:t>2</a:t>
                </a:r>
              </a:p>
            </p:txBody>
          </p:sp>
          <p:sp>
            <p:nvSpPr>
              <p:cNvPr id="61" name="Line 140"/>
              <p:cNvSpPr>
                <a:spLocks noChangeShapeType="1"/>
              </p:cNvSpPr>
              <p:nvPr/>
            </p:nvSpPr>
            <p:spPr bwMode="auto">
              <a:xfrm flipV="1">
                <a:off x="2645" y="4820"/>
                <a:ext cx="737" cy="48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62" name="Line 141"/>
              <p:cNvSpPr>
                <a:spLocks noChangeShapeType="1"/>
              </p:cNvSpPr>
              <p:nvPr/>
            </p:nvSpPr>
            <p:spPr bwMode="auto">
              <a:xfrm>
                <a:off x="2630" y="5304"/>
                <a:ext cx="777" cy="68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63" name="Line 142"/>
              <p:cNvSpPr>
                <a:spLocks noChangeShapeType="1"/>
              </p:cNvSpPr>
              <p:nvPr/>
            </p:nvSpPr>
            <p:spPr bwMode="auto">
              <a:xfrm flipV="1">
                <a:off x="3728" y="4196"/>
                <a:ext cx="900" cy="46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64" name="Line 143"/>
              <p:cNvSpPr>
                <a:spLocks noChangeShapeType="1"/>
              </p:cNvSpPr>
              <p:nvPr/>
            </p:nvSpPr>
            <p:spPr bwMode="auto">
              <a:xfrm>
                <a:off x="3743" y="4679"/>
                <a:ext cx="845" cy="156"/>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65" name="Line 144"/>
              <p:cNvSpPr>
                <a:spLocks noChangeShapeType="1"/>
              </p:cNvSpPr>
              <p:nvPr/>
            </p:nvSpPr>
            <p:spPr bwMode="auto">
              <a:xfrm>
                <a:off x="3713" y="4679"/>
                <a:ext cx="900" cy="1151"/>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66" name="Line 145"/>
              <p:cNvSpPr>
                <a:spLocks noChangeShapeType="1"/>
              </p:cNvSpPr>
              <p:nvPr/>
            </p:nvSpPr>
            <p:spPr bwMode="auto">
              <a:xfrm flipV="1">
                <a:off x="3713" y="5072"/>
                <a:ext cx="1020" cy="99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67" name="Line 146"/>
              <p:cNvSpPr>
                <a:spLocks noChangeShapeType="1"/>
              </p:cNvSpPr>
              <p:nvPr/>
            </p:nvSpPr>
            <p:spPr bwMode="auto">
              <a:xfrm flipV="1">
                <a:off x="3728" y="5977"/>
                <a:ext cx="845" cy="10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68" name="Line 147"/>
              <p:cNvSpPr>
                <a:spLocks noChangeShapeType="1"/>
              </p:cNvSpPr>
              <p:nvPr/>
            </p:nvSpPr>
            <p:spPr bwMode="auto">
              <a:xfrm>
                <a:off x="3713" y="6088"/>
                <a:ext cx="900" cy="624"/>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grpSp>
        <p:sp>
          <p:nvSpPr>
            <p:cNvPr id="9" name="Line 148"/>
            <p:cNvSpPr>
              <a:spLocks noChangeShapeType="1"/>
            </p:cNvSpPr>
            <p:nvPr/>
          </p:nvSpPr>
          <p:spPr bwMode="auto">
            <a:xfrm>
              <a:off x="4973" y="4070"/>
              <a:ext cx="900" cy="31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0" name="Line 149"/>
            <p:cNvSpPr>
              <a:spLocks noChangeShapeType="1"/>
            </p:cNvSpPr>
            <p:nvPr/>
          </p:nvSpPr>
          <p:spPr bwMode="auto">
            <a:xfrm flipV="1">
              <a:off x="4988" y="4523"/>
              <a:ext cx="900" cy="31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1" name="Line 150"/>
            <p:cNvSpPr>
              <a:spLocks noChangeShapeType="1"/>
            </p:cNvSpPr>
            <p:nvPr/>
          </p:nvSpPr>
          <p:spPr bwMode="auto">
            <a:xfrm>
              <a:off x="4988" y="4835"/>
              <a:ext cx="900" cy="46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2" name="Line 151"/>
            <p:cNvSpPr>
              <a:spLocks noChangeShapeType="1"/>
            </p:cNvSpPr>
            <p:nvPr/>
          </p:nvSpPr>
          <p:spPr bwMode="auto">
            <a:xfrm flipV="1">
              <a:off x="5018" y="5474"/>
              <a:ext cx="900" cy="46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3" name="Line 152"/>
            <p:cNvSpPr>
              <a:spLocks noChangeShapeType="1"/>
            </p:cNvSpPr>
            <p:nvPr/>
          </p:nvSpPr>
          <p:spPr bwMode="auto">
            <a:xfrm>
              <a:off x="5018" y="5942"/>
              <a:ext cx="900" cy="46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4" name="Line 153"/>
            <p:cNvSpPr>
              <a:spLocks noChangeShapeType="1"/>
            </p:cNvSpPr>
            <p:nvPr/>
          </p:nvSpPr>
          <p:spPr bwMode="auto">
            <a:xfrm flipV="1">
              <a:off x="4988" y="6596"/>
              <a:ext cx="900" cy="156"/>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5" name="Line 154"/>
            <p:cNvSpPr>
              <a:spLocks noChangeShapeType="1"/>
            </p:cNvSpPr>
            <p:nvPr/>
          </p:nvSpPr>
          <p:spPr bwMode="auto">
            <a:xfrm>
              <a:off x="6308" y="4412"/>
              <a:ext cx="1080" cy="936"/>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6" name="Line 155"/>
            <p:cNvSpPr>
              <a:spLocks noChangeShapeType="1"/>
            </p:cNvSpPr>
            <p:nvPr/>
          </p:nvSpPr>
          <p:spPr bwMode="auto">
            <a:xfrm flipV="1">
              <a:off x="6278" y="5615"/>
              <a:ext cx="1089" cy="879"/>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7" name="Line 156"/>
            <p:cNvSpPr>
              <a:spLocks noChangeShapeType="1"/>
            </p:cNvSpPr>
            <p:nvPr/>
          </p:nvSpPr>
          <p:spPr bwMode="auto">
            <a:xfrm>
              <a:off x="4958" y="4076"/>
              <a:ext cx="1080" cy="109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8" name="Line 157"/>
            <p:cNvSpPr>
              <a:spLocks noChangeShapeType="1"/>
            </p:cNvSpPr>
            <p:nvPr/>
          </p:nvSpPr>
          <p:spPr bwMode="auto">
            <a:xfrm flipV="1">
              <a:off x="4958" y="5585"/>
              <a:ext cx="1094" cy="1151"/>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19" name="Line 158"/>
            <p:cNvSpPr>
              <a:spLocks noChangeShapeType="1"/>
            </p:cNvSpPr>
            <p:nvPr/>
          </p:nvSpPr>
          <p:spPr bwMode="auto">
            <a:xfrm>
              <a:off x="6263" y="5444"/>
              <a:ext cx="1080"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endParaRPr lang="zh-CN" altLang="en-US"/>
            </a:p>
          </p:txBody>
        </p:sp>
        <p:sp>
          <p:nvSpPr>
            <p:cNvPr id="20" name="Rectangle 159"/>
            <p:cNvSpPr>
              <a:spLocks noChangeArrowheads="1"/>
            </p:cNvSpPr>
            <p:nvPr/>
          </p:nvSpPr>
          <p:spPr bwMode="auto">
            <a:xfrm>
              <a:off x="2678" y="516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3</a:t>
              </a:r>
            </a:p>
          </p:txBody>
        </p:sp>
        <p:sp>
          <p:nvSpPr>
            <p:cNvPr id="21" name="Rectangle 160"/>
            <p:cNvSpPr>
              <a:spLocks noChangeArrowheads="1"/>
            </p:cNvSpPr>
            <p:nvPr/>
          </p:nvSpPr>
          <p:spPr bwMode="auto">
            <a:xfrm>
              <a:off x="2558" y="4880"/>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5</a:t>
              </a:r>
            </a:p>
          </p:txBody>
        </p:sp>
        <p:sp>
          <p:nvSpPr>
            <p:cNvPr id="22" name="Rectangle 161"/>
            <p:cNvSpPr>
              <a:spLocks noChangeArrowheads="1"/>
            </p:cNvSpPr>
            <p:nvPr/>
          </p:nvSpPr>
          <p:spPr bwMode="auto">
            <a:xfrm>
              <a:off x="3923" y="4403"/>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3</a:t>
              </a:r>
            </a:p>
          </p:txBody>
        </p:sp>
        <p:sp>
          <p:nvSpPr>
            <p:cNvPr id="23" name="Rectangle 162"/>
            <p:cNvSpPr>
              <a:spLocks noChangeArrowheads="1"/>
            </p:cNvSpPr>
            <p:nvPr/>
          </p:nvSpPr>
          <p:spPr bwMode="auto">
            <a:xfrm>
              <a:off x="3758" y="4175"/>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1</a:t>
              </a:r>
            </a:p>
          </p:txBody>
        </p:sp>
        <p:sp>
          <p:nvSpPr>
            <p:cNvPr id="24" name="Rectangle 163"/>
            <p:cNvSpPr>
              <a:spLocks noChangeArrowheads="1"/>
            </p:cNvSpPr>
            <p:nvPr/>
          </p:nvSpPr>
          <p:spPr bwMode="auto">
            <a:xfrm>
              <a:off x="3848" y="4694"/>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6</a:t>
              </a:r>
            </a:p>
          </p:txBody>
        </p:sp>
        <p:sp>
          <p:nvSpPr>
            <p:cNvPr id="25" name="Rectangle 164"/>
            <p:cNvSpPr>
              <a:spLocks noChangeArrowheads="1"/>
            </p:cNvSpPr>
            <p:nvPr/>
          </p:nvSpPr>
          <p:spPr bwMode="auto">
            <a:xfrm>
              <a:off x="3578" y="5624"/>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8</a:t>
              </a:r>
            </a:p>
          </p:txBody>
        </p:sp>
        <p:sp>
          <p:nvSpPr>
            <p:cNvPr id="26" name="Rectangle 165"/>
            <p:cNvSpPr>
              <a:spLocks noChangeArrowheads="1"/>
            </p:cNvSpPr>
            <p:nvPr/>
          </p:nvSpPr>
          <p:spPr bwMode="auto">
            <a:xfrm>
              <a:off x="3683" y="6113"/>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6</a:t>
              </a:r>
            </a:p>
          </p:txBody>
        </p:sp>
        <p:sp>
          <p:nvSpPr>
            <p:cNvPr id="27" name="Rectangle 166"/>
            <p:cNvSpPr>
              <a:spLocks noChangeArrowheads="1"/>
            </p:cNvSpPr>
            <p:nvPr/>
          </p:nvSpPr>
          <p:spPr bwMode="auto">
            <a:xfrm>
              <a:off x="5078" y="3788"/>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6</a:t>
              </a:r>
            </a:p>
          </p:txBody>
        </p:sp>
        <p:sp>
          <p:nvSpPr>
            <p:cNvPr id="28" name="Rectangle 167"/>
            <p:cNvSpPr>
              <a:spLocks noChangeArrowheads="1"/>
            </p:cNvSpPr>
            <p:nvPr/>
          </p:nvSpPr>
          <p:spPr bwMode="auto">
            <a:xfrm>
              <a:off x="3863" y="569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7</a:t>
              </a:r>
            </a:p>
          </p:txBody>
        </p:sp>
        <p:sp>
          <p:nvSpPr>
            <p:cNvPr id="29" name="Rectangle 168"/>
            <p:cNvSpPr>
              <a:spLocks noChangeArrowheads="1"/>
            </p:cNvSpPr>
            <p:nvPr/>
          </p:nvSpPr>
          <p:spPr bwMode="auto">
            <a:xfrm>
              <a:off x="4928" y="4427"/>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3</a:t>
              </a:r>
            </a:p>
          </p:txBody>
        </p:sp>
        <p:sp>
          <p:nvSpPr>
            <p:cNvPr id="30" name="Rectangle 169"/>
            <p:cNvSpPr>
              <a:spLocks noChangeArrowheads="1"/>
            </p:cNvSpPr>
            <p:nvPr/>
          </p:nvSpPr>
          <p:spPr bwMode="auto">
            <a:xfrm>
              <a:off x="4913" y="4835"/>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5</a:t>
              </a:r>
            </a:p>
          </p:txBody>
        </p:sp>
        <p:sp>
          <p:nvSpPr>
            <p:cNvPr id="31" name="Rectangle 170"/>
            <p:cNvSpPr>
              <a:spLocks noChangeArrowheads="1"/>
            </p:cNvSpPr>
            <p:nvPr/>
          </p:nvSpPr>
          <p:spPr bwMode="auto">
            <a:xfrm>
              <a:off x="4838" y="4070"/>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8</a:t>
              </a:r>
            </a:p>
          </p:txBody>
        </p:sp>
        <p:sp>
          <p:nvSpPr>
            <p:cNvPr id="32" name="Rectangle 171"/>
            <p:cNvSpPr>
              <a:spLocks noChangeArrowheads="1"/>
            </p:cNvSpPr>
            <p:nvPr/>
          </p:nvSpPr>
          <p:spPr bwMode="auto">
            <a:xfrm>
              <a:off x="4958" y="5927"/>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3</a:t>
              </a:r>
            </a:p>
          </p:txBody>
        </p:sp>
        <p:sp>
          <p:nvSpPr>
            <p:cNvPr id="33" name="Rectangle 172"/>
            <p:cNvSpPr>
              <a:spLocks noChangeArrowheads="1"/>
            </p:cNvSpPr>
            <p:nvPr/>
          </p:nvSpPr>
          <p:spPr bwMode="auto">
            <a:xfrm>
              <a:off x="5003" y="5495"/>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3</a:t>
              </a:r>
            </a:p>
          </p:txBody>
        </p:sp>
        <p:sp>
          <p:nvSpPr>
            <p:cNvPr id="34" name="Rectangle 173"/>
            <p:cNvSpPr>
              <a:spLocks noChangeArrowheads="1"/>
            </p:cNvSpPr>
            <p:nvPr/>
          </p:nvSpPr>
          <p:spPr bwMode="auto">
            <a:xfrm>
              <a:off x="4808" y="6284"/>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8</a:t>
              </a:r>
            </a:p>
          </p:txBody>
        </p:sp>
        <p:sp>
          <p:nvSpPr>
            <p:cNvPr id="35" name="Rectangle 174"/>
            <p:cNvSpPr>
              <a:spLocks noChangeArrowheads="1"/>
            </p:cNvSpPr>
            <p:nvPr/>
          </p:nvSpPr>
          <p:spPr bwMode="auto">
            <a:xfrm>
              <a:off x="4958" y="6647"/>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 4</a:t>
              </a:r>
            </a:p>
          </p:txBody>
        </p:sp>
        <p:sp>
          <p:nvSpPr>
            <p:cNvPr id="36" name="Rectangle 175"/>
            <p:cNvSpPr>
              <a:spLocks noChangeArrowheads="1"/>
            </p:cNvSpPr>
            <p:nvPr/>
          </p:nvSpPr>
          <p:spPr bwMode="auto">
            <a:xfrm>
              <a:off x="6473" y="5081"/>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2</a:t>
              </a:r>
            </a:p>
          </p:txBody>
        </p:sp>
        <p:sp>
          <p:nvSpPr>
            <p:cNvPr id="37" name="Rectangle 176"/>
            <p:cNvSpPr>
              <a:spLocks noChangeArrowheads="1"/>
            </p:cNvSpPr>
            <p:nvPr/>
          </p:nvSpPr>
          <p:spPr bwMode="auto">
            <a:xfrm>
              <a:off x="6608" y="4397"/>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3</a:t>
              </a:r>
            </a:p>
          </p:txBody>
        </p:sp>
        <p:sp>
          <p:nvSpPr>
            <p:cNvPr id="38" name="Rectangle 177"/>
            <p:cNvSpPr>
              <a:spLocks noChangeArrowheads="1"/>
            </p:cNvSpPr>
            <p:nvPr/>
          </p:nvSpPr>
          <p:spPr bwMode="auto">
            <a:xfrm>
              <a:off x="6278" y="594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1pPr>
              <a:lvl2pPr marL="4572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2pPr>
              <a:lvl3pPr marL="9144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3pPr>
              <a:lvl4pPr marL="13716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4pPr>
              <a:lvl5pPr marL="1828800" algn="just" rtl="0" fontAlgn="base">
                <a:lnSpc>
                  <a:spcPct val="90000"/>
                </a:lnSpc>
                <a:spcBef>
                  <a:spcPct val="50000"/>
                </a:spcBef>
                <a:spcAft>
                  <a:spcPct val="0"/>
                </a:spcAft>
                <a:defRPr kumimoji="1" sz="24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umimoji="1" sz="2400" b="1" kern="1200">
                  <a:solidFill>
                    <a:schemeClr val="tx1"/>
                  </a:solidFill>
                  <a:latin typeface="Arial" panose="020B0604020202020204" pitchFamily="34" charset="0"/>
                  <a:ea typeface="楷体_GB2312" pitchFamily="49" charset="-122"/>
                  <a:cs typeface="+mn-cs"/>
                </a:defRPr>
              </a:lvl9pPr>
            </a:lstStyle>
            <a:p>
              <a:pPr>
                <a:lnSpc>
                  <a:spcPct val="100000"/>
                </a:lnSpc>
                <a:spcBef>
                  <a:spcPct val="0"/>
                </a:spcBef>
              </a:pPr>
              <a:r>
                <a:rPr kumimoji="0" lang="en-US" altLang="zh-CN" sz="2000">
                  <a:latin typeface="Arial Narrow" panose="020B0606020202030204" pitchFamily="34" charset="0"/>
                  <a:ea typeface="宋体" panose="02010600030101010101" pitchFamily="2" charset="-122"/>
                </a:rPr>
                <a:t>2</a:t>
              </a:r>
            </a:p>
          </p:txBody>
        </p:sp>
      </p:grpSp>
      <p:sp>
        <p:nvSpPr>
          <p:cNvPr id="3" name="文本框 2"/>
          <p:cNvSpPr txBox="1"/>
          <p:nvPr/>
        </p:nvSpPr>
        <p:spPr bwMode="auto">
          <a:xfrm>
            <a:off x="1154915" y="3066805"/>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0</a:t>
            </a:r>
            <a:endParaRPr lang="zh-CN" altLang="en-US" sz="1800" dirty="0">
              <a:latin typeface="Times New Roman" panose="02020603050405020304" pitchFamily="18" charset="0"/>
              <a:cs typeface="Courier New" panose="02070309020205020404" pitchFamily="49" charset="0"/>
            </a:endParaRPr>
          </a:p>
        </p:txBody>
      </p:sp>
      <p:sp>
        <p:nvSpPr>
          <p:cNvPr id="69" name="文本框 68"/>
          <p:cNvSpPr txBox="1"/>
          <p:nvPr/>
        </p:nvSpPr>
        <p:spPr bwMode="auto">
          <a:xfrm>
            <a:off x="2535554" y="2552509"/>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5</a:t>
            </a:r>
            <a:endParaRPr lang="zh-CN" altLang="en-US" sz="1800" dirty="0">
              <a:latin typeface="Times New Roman" panose="02020603050405020304" pitchFamily="18" charset="0"/>
              <a:cs typeface="Courier New" panose="02070309020205020404" pitchFamily="49" charset="0"/>
            </a:endParaRPr>
          </a:p>
        </p:txBody>
      </p:sp>
      <p:sp>
        <p:nvSpPr>
          <p:cNvPr id="70" name="文本框 69"/>
          <p:cNvSpPr txBox="1"/>
          <p:nvPr/>
        </p:nvSpPr>
        <p:spPr bwMode="auto">
          <a:xfrm>
            <a:off x="2506823" y="3817721"/>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3</a:t>
            </a:r>
            <a:endParaRPr lang="zh-CN" altLang="en-US" sz="1800" dirty="0">
              <a:latin typeface="Times New Roman" panose="02020603050405020304" pitchFamily="18" charset="0"/>
              <a:cs typeface="Courier New" panose="02070309020205020404" pitchFamily="49" charset="0"/>
            </a:endParaRPr>
          </a:p>
        </p:txBody>
      </p:sp>
      <p:cxnSp>
        <p:nvCxnSpPr>
          <p:cNvPr id="5" name="直接箭头连接符 4"/>
          <p:cNvCxnSpPr>
            <a:stCxn id="61" idx="1"/>
          </p:cNvCxnSpPr>
          <p:nvPr/>
        </p:nvCxnSpPr>
        <p:spPr bwMode="auto">
          <a:xfrm flipH="1">
            <a:off x="1546842" y="3240811"/>
            <a:ext cx="928486" cy="428900"/>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箭头连接符 73"/>
          <p:cNvCxnSpPr>
            <a:stCxn id="62" idx="1"/>
            <a:endCxn id="62" idx="0"/>
          </p:cNvCxnSpPr>
          <p:nvPr/>
        </p:nvCxnSpPr>
        <p:spPr bwMode="auto">
          <a:xfrm flipH="1" flipV="1">
            <a:off x="1527943" y="3675815"/>
            <a:ext cx="978880" cy="611163"/>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 name="文本框 76"/>
          <p:cNvSpPr txBox="1"/>
          <p:nvPr/>
        </p:nvSpPr>
        <p:spPr bwMode="auto">
          <a:xfrm>
            <a:off x="4068124" y="199178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6</a:t>
            </a:r>
            <a:endParaRPr lang="zh-CN" altLang="en-US" sz="1800" dirty="0">
              <a:latin typeface="Times New Roman" panose="02020603050405020304" pitchFamily="18" charset="0"/>
              <a:cs typeface="Courier New" panose="02070309020205020404" pitchFamily="49" charset="0"/>
            </a:endParaRPr>
          </a:p>
        </p:txBody>
      </p:sp>
      <p:cxnSp>
        <p:nvCxnSpPr>
          <p:cNvPr id="78" name="直接箭头连接符 77"/>
          <p:cNvCxnSpPr>
            <a:stCxn id="63" idx="1"/>
            <a:endCxn id="65" idx="0"/>
          </p:cNvCxnSpPr>
          <p:nvPr/>
        </p:nvCxnSpPr>
        <p:spPr bwMode="auto">
          <a:xfrm flipH="1">
            <a:off x="2892328" y="2679979"/>
            <a:ext cx="1152735" cy="43410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文本框 80"/>
          <p:cNvSpPr txBox="1"/>
          <p:nvPr/>
        </p:nvSpPr>
        <p:spPr bwMode="auto">
          <a:xfrm>
            <a:off x="4067520" y="2765994"/>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8</a:t>
            </a:r>
            <a:endParaRPr lang="zh-CN" altLang="en-US" sz="1800" dirty="0">
              <a:latin typeface="Times New Roman" panose="02020603050405020304" pitchFamily="18" charset="0"/>
              <a:cs typeface="Courier New" panose="02070309020205020404" pitchFamily="49" charset="0"/>
            </a:endParaRPr>
          </a:p>
        </p:txBody>
      </p:sp>
      <p:cxnSp>
        <p:nvCxnSpPr>
          <p:cNvPr id="82" name="直接箭头连接符 81"/>
          <p:cNvCxnSpPr>
            <a:stCxn id="64" idx="0"/>
            <a:endCxn id="64" idx="1"/>
          </p:cNvCxnSpPr>
          <p:nvPr/>
        </p:nvCxnSpPr>
        <p:spPr bwMode="auto">
          <a:xfrm>
            <a:off x="2930123" y="3114084"/>
            <a:ext cx="1064548" cy="140208"/>
          </a:xfrm>
          <a:prstGeom prst="straightConnector1">
            <a:avLst/>
          </a:prstGeom>
          <a:noFill/>
          <a:ln w="28575" cap="flat" cmpd="sng" algn="ctr">
            <a:solidFill>
              <a:srgbClr val="FF0000"/>
            </a:solidFill>
            <a:prstDash val="solid"/>
            <a:round/>
            <a:headEnd type="arrow"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文本框 84"/>
          <p:cNvSpPr txBox="1"/>
          <p:nvPr/>
        </p:nvSpPr>
        <p:spPr bwMode="auto">
          <a:xfrm>
            <a:off x="4019113" y="3702098"/>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10</a:t>
            </a:r>
            <a:endParaRPr lang="zh-CN" altLang="en-US" sz="1800" dirty="0">
              <a:latin typeface="Times New Roman" panose="02020603050405020304" pitchFamily="18" charset="0"/>
              <a:cs typeface="Courier New" panose="02070309020205020404" pitchFamily="49" charset="0"/>
            </a:endParaRPr>
          </a:p>
        </p:txBody>
      </p:sp>
      <p:cxnSp>
        <p:nvCxnSpPr>
          <p:cNvPr id="86" name="直接箭头连接符 85"/>
          <p:cNvCxnSpPr>
            <a:stCxn id="67" idx="0"/>
            <a:endCxn id="67" idx="1"/>
          </p:cNvCxnSpPr>
          <p:nvPr/>
        </p:nvCxnSpPr>
        <p:spPr bwMode="auto">
          <a:xfrm flipV="1">
            <a:off x="2911225" y="4280687"/>
            <a:ext cx="1064548" cy="91674"/>
          </a:xfrm>
          <a:prstGeom prst="straightConnector1">
            <a:avLst/>
          </a:prstGeom>
          <a:noFill/>
          <a:ln w="28575" cap="flat" cmpd="sng" algn="ctr">
            <a:solidFill>
              <a:srgbClr val="FF0000"/>
            </a:solidFill>
            <a:prstDash val="solid"/>
            <a:round/>
            <a:headEnd type="arrow"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文本框 88"/>
          <p:cNvSpPr txBox="1"/>
          <p:nvPr/>
        </p:nvSpPr>
        <p:spPr bwMode="auto">
          <a:xfrm>
            <a:off x="4076821" y="4493612"/>
            <a:ext cx="300082"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9</a:t>
            </a:r>
            <a:endParaRPr lang="zh-CN" altLang="en-US" sz="1800" dirty="0">
              <a:latin typeface="Times New Roman" panose="02020603050405020304" pitchFamily="18" charset="0"/>
              <a:cs typeface="Courier New" panose="02070309020205020404" pitchFamily="49" charset="0"/>
            </a:endParaRPr>
          </a:p>
        </p:txBody>
      </p:sp>
      <p:cxnSp>
        <p:nvCxnSpPr>
          <p:cNvPr id="90" name="直接箭头连接符 89"/>
          <p:cNvCxnSpPr>
            <a:stCxn id="68" idx="0"/>
          </p:cNvCxnSpPr>
          <p:nvPr/>
        </p:nvCxnSpPr>
        <p:spPr bwMode="auto">
          <a:xfrm>
            <a:off x="2892328" y="4380450"/>
            <a:ext cx="1171631" cy="541958"/>
          </a:xfrm>
          <a:prstGeom prst="straightConnector1">
            <a:avLst/>
          </a:prstGeom>
          <a:noFill/>
          <a:ln w="28575" cap="flat" cmpd="sng" algn="ctr">
            <a:solidFill>
              <a:srgbClr val="FF0000"/>
            </a:solidFill>
            <a:prstDash val="solid"/>
            <a:round/>
            <a:headEnd type="arrow"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 name="文本框 92"/>
          <p:cNvSpPr txBox="1"/>
          <p:nvPr/>
        </p:nvSpPr>
        <p:spPr bwMode="auto">
          <a:xfrm>
            <a:off x="5653862" y="2323020"/>
            <a:ext cx="406906"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11</a:t>
            </a:r>
            <a:endParaRPr lang="zh-CN" altLang="en-US" sz="1800" dirty="0">
              <a:latin typeface="Times New Roman" panose="02020603050405020304" pitchFamily="18" charset="0"/>
              <a:cs typeface="Courier New" panose="02070309020205020404" pitchFamily="49" charset="0"/>
            </a:endParaRPr>
          </a:p>
        </p:txBody>
      </p:sp>
      <p:cxnSp>
        <p:nvCxnSpPr>
          <p:cNvPr id="94" name="直接箭头连接符 93"/>
          <p:cNvCxnSpPr>
            <a:stCxn id="11" idx="0"/>
            <a:endCxn id="10" idx="1"/>
          </p:cNvCxnSpPr>
          <p:nvPr/>
        </p:nvCxnSpPr>
        <p:spPr bwMode="auto">
          <a:xfrm flipV="1">
            <a:off x="4498598" y="2973876"/>
            <a:ext cx="1133838" cy="280416"/>
          </a:xfrm>
          <a:prstGeom prst="straightConnector1">
            <a:avLst/>
          </a:prstGeom>
          <a:noFill/>
          <a:ln w="28575" cap="flat" cmpd="sng" algn="ctr">
            <a:solidFill>
              <a:srgbClr val="FF0000"/>
            </a:solidFill>
            <a:prstDash val="solid"/>
            <a:round/>
            <a:headEnd type="arrow"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文本框 97"/>
          <p:cNvSpPr txBox="1"/>
          <p:nvPr/>
        </p:nvSpPr>
        <p:spPr bwMode="auto">
          <a:xfrm>
            <a:off x="5688943" y="3150391"/>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13</a:t>
            </a:r>
            <a:endParaRPr lang="zh-CN" altLang="en-US" sz="1800" dirty="0">
              <a:latin typeface="Times New Roman" panose="02020603050405020304" pitchFamily="18" charset="0"/>
              <a:cs typeface="Courier New" panose="02070309020205020404" pitchFamily="49" charset="0"/>
            </a:endParaRPr>
          </a:p>
        </p:txBody>
      </p:sp>
      <p:cxnSp>
        <p:nvCxnSpPr>
          <p:cNvPr id="99" name="直接箭头连接符 98"/>
          <p:cNvCxnSpPr>
            <a:stCxn id="11" idx="0"/>
            <a:endCxn id="11" idx="1"/>
          </p:cNvCxnSpPr>
          <p:nvPr/>
        </p:nvCxnSpPr>
        <p:spPr bwMode="auto">
          <a:xfrm>
            <a:off x="4498598" y="3254292"/>
            <a:ext cx="1133838" cy="420624"/>
          </a:xfrm>
          <a:prstGeom prst="straightConnector1">
            <a:avLst/>
          </a:prstGeom>
          <a:noFill/>
          <a:ln w="28575" cap="flat" cmpd="sng" algn="ctr">
            <a:solidFill>
              <a:srgbClr val="FF0000"/>
            </a:solidFill>
            <a:prstDash val="solid"/>
            <a:round/>
            <a:headEnd type="arrow"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文本框 101"/>
          <p:cNvSpPr txBox="1"/>
          <p:nvPr/>
        </p:nvSpPr>
        <p:spPr bwMode="auto">
          <a:xfrm>
            <a:off x="5657489" y="4169581"/>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13</a:t>
            </a:r>
            <a:endParaRPr lang="zh-CN" altLang="en-US" sz="1800" dirty="0">
              <a:latin typeface="Times New Roman" panose="02020603050405020304" pitchFamily="18" charset="0"/>
              <a:cs typeface="Courier New" panose="02070309020205020404" pitchFamily="49" charset="0"/>
            </a:endParaRPr>
          </a:p>
        </p:txBody>
      </p:sp>
      <p:cxnSp>
        <p:nvCxnSpPr>
          <p:cNvPr id="103" name="直接箭头连接符 102"/>
          <p:cNvCxnSpPr>
            <a:stCxn id="13" idx="0"/>
            <a:endCxn id="48" idx="1"/>
          </p:cNvCxnSpPr>
          <p:nvPr/>
        </p:nvCxnSpPr>
        <p:spPr bwMode="auto">
          <a:xfrm>
            <a:off x="4536393" y="4249230"/>
            <a:ext cx="1150390" cy="394685"/>
          </a:xfrm>
          <a:prstGeom prst="straightConnector1">
            <a:avLst/>
          </a:prstGeom>
          <a:noFill/>
          <a:ln w="28575" cap="flat" cmpd="sng" algn="ctr">
            <a:solidFill>
              <a:srgbClr val="FF0000"/>
            </a:solidFill>
            <a:prstDash val="solid"/>
            <a:round/>
            <a:headEnd type="arrow"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文本框 105"/>
          <p:cNvSpPr txBox="1"/>
          <p:nvPr/>
        </p:nvSpPr>
        <p:spPr bwMode="auto">
          <a:xfrm>
            <a:off x="7516625" y="3294737"/>
            <a:ext cx="415498" cy="37497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14</a:t>
            </a:r>
            <a:endParaRPr lang="zh-CN" altLang="en-US" sz="1800" dirty="0">
              <a:latin typeface="Times New Roman" panose="02020603050405020304" pitchFamily="18" charset="0"/>
              <a:cs typeface="Courier New" panose="02070309020205020404" pitchFamily="49" charset="0"/>
            </a:endParaRPr>
          </a:p>
        </p:txBody>
      </p:sp>
      <p:cxnSp>
        <p:nvCxnSpPr>
          <p:cNvPr id="107" name="直接箭头连接符 106"/>
          <p:cNvCxnSpPr>
            <a:stCxn id="15" idx="0"/>
            <a:endCxn id="15" idx="1"/>
          </p:cNvCxnSpPr>
          <p:nvPr/>
        </p:nvCxnSpPr>
        <p:spPr bwMode="auto">
          <a:xfrm>
            <a:off x="6161560" y="2874113"/>
            <a:ext cx="1360605" cy="841248"/>
          </a:xfrm>
          <a:prstGeom prst="straightConnector1">
            <a:avLst/>
          </a:prstGeom>
          <a:noFill/>
          <a:ln w="28575" cap="flat" cmpd="sng" algn="ctr">
            <a:solidFill>
              <a:srgbClr val="FF0000"/>
            </a:solidFill>
            <a:prstDash val="solid"/>
            <a:round/>
            <a:headEnd type="arrow"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594360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9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9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0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0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0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9" grpId="0" animBg="1"/>
      <p:bldP spid="70" grpId="0" animBg="1"/>
      <p:bldP spid="77" grpId="0" animBg="1"/>
      <p:bldP spid="81" grpId="0" animBg="1"/>
      <p:bldP spid="85" grpId="0" animBg="1"/>
      <p:bldP spid="89" grpId="0" animBg="1"/>
      <p:bldP spid="93" grpId="0" animBg="1"/>
      <p:bldP spid="98" grpId="0" animBg="1"/>
      <p:bldP spid="102" grpId="0" animBg="1"/>
      <p:bldP spid="10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a:xfrm>
            <a:off x="1270422" y="478731"/>
            <a:ext cx="6830652" cy="576163"/>
          </a:xfrm>
        </p:spPr>
        <p:txBody>
          <a:bodyPr/>
          <a:lstStyle/>
          <a:p>
            <a:pPr eaLnBrk="1" hangingPunct="1"/>
            <a:r>
              <a:rPr lang="en-US" altLang="zh-CN" dirty="0"/>
              <a:t>8.3.2  </a:t>
            </a:r>
            <a:r>
              <a:rPr lang="zh-CN" altLang="en-US" dirty="0"/>
              <a:t>顺推解法</a:t>
            </a:r>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539552" y="1337268"/>
                <a:ext cx="8280920" cy="3724096"/>
              </a:xfrm>
            </p:spPr>
            <p:txBody>
              <a:bodyPr/>
              <a:lstStyle/>
              <a:p>
                <a:r>
                  <a:rPr lang="zh-CN" altLang="en-US" dirty="0"/>
                  <a:t>顺</a:t>
                </a:r>
                <a:r>
                  <a:rPr lang="zh-CN" altLang="en-US" dirty="0" smtClean="0"/>
                  <a:t>推法</a:t>
                </a:r>
                <a:endParaRPr lang="en-US" altLang="zh-CN" dirty="0" smtClean="0"/>
              </a:p>
              <a:p>
                <a:pPr lvl="1"/>
                <a:r>
                  <a:rPr lang="zh-CN" altLang="en-US" dirty="0" smtClean="0"/>
                  <a:t>定义：从实际决策的</a:t>
                </a:r>
                <a:r>
                  <a:rPr lang="zh-CN" altLang="en-US" dirty="0" smtClean="0">
                    <a:solidFill>
                      <a:srgbClr val="FF0000"/>
                    </a:solidFill>
                  </a:rPr>
                  <a:t>最初</a:t>
                </a:r>
                <a:r>
                  <a:rPr lang="zh-CN" altLang="en-US" dirty="0" smtClean="0"/>
                  <a:t>阶段向</a:t>
                </a:r>
                <a:r>
                  <a:rPr lang="zh-CN" altLang="en-US" dirty="0" smtClean="0">
                    <a:solidFill>
                      <a:srgbClr val="FF0000"/>
                    </a:solidFill>
                  </a:rPr>
                  <a:t>最后</a:t>
                </a:r>
                <a:r>
                  <a:rPr lang="zh-CN" altLang="en-US" dirty="0" smtClean="0"/>
                  <a:t>阶段进行递推来寻找最优解（适用于</a:t>
                </a:r>
                <a:r>
                  <a:rPr lang="zh-CN" altLang="en-US" dirty="0" smtClean="0">
                    <a:solidFill>
                      <a:srgbClr val="FF0000"/>
                    </a:solidFill>
                  </a:rPr>
                  <a:t>终止状态给定</a:t>
                </a:r>
                <a:r>
                  <a:rPr lang="zh-CN" altLang="en-US" dirty="0" smtClean="0"/>
                  <a:t>）</a:t>
                </a:r>
                <a:endParaRPr lang="en-US" altLang="zh-CN" dirty="0" smtClean="0"/>
              </a:p>
              <a:p>
                <a:pPr lvl="1"/>
                <a:r>
                  <a:rPr lang="zh-CN" altLang="en-US" dirty="0" smtClean="0"/>
                  <a:t>模型（将</a:t>
                </a:r>
                <a14:m>
                  <m:oMath xmlns:m="http://schemas.openxmlformats.org/officeDocument/2006/math">
                    <m:r>
                      <a:rPr lang="en-US" altLang="zh-CN" i="1">
                        <a:latin typeface="Cambria Math" panose="02040503050406030204" pitchFamily="18" charset="0"/>
                      </a:rPr>
                      <m:t>𝒌</m:t>
                    </m:r>
                  </m:oMath>
                </a14:m>
                <a:r>
                  <a:rPr lang="zh-CN" altLang="en-US" dirty="0" smtClean="0"/>
                  <a:t>阶段末态记为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𝒔</m:t>
                        </m:r>
                      </m:e>
                      <m:sub>
                        <m:r>
                          <a:rPr lang="en-US" altLang="zh-CN" i="1">
                            <a:latin typeface="Cambria Math" panose="02040503050406030204" pitchFamily="18" charset="0"/>
                          </a:rPr>
                          <m:t>𝒌</m:t>
                        </m:r>
                      </m:sub>
                    </m:sSub>
                  </m:oMath>
                </a14:m>
                <a:r>
                  <a:rPr lang="zh-CN" altLang="en-US" dirty="0" smtClean="0"/>
                  <a:t>）</a:t>
                </a:r>
                <a:r>
                  <a:rPr lang="en-US" altLang="zh-CN" dirty="0" smtClean="0"/>
                  <a:t>:</a:t>
                </a:r>
              </a:p>
              <a:p>
                <a:pPr lvl="1"/>
                <a:endParaRPr lang="en-US" altLang="zh-CN" dirty="0"/>
              </a:p>
              <a:p>
                <a:pPr lvl="1"/>
                <a:endParaRPr lang="en-US" altLang="zh-CN" dirty="0" smtClean="0"/>
              </a:p>
              <a:p>
                <a:pPr lvl="1"/>
                <a:endParaRPr lang="en-US" altLang="zh-CN" dirty="0"/>
              </a:p>
              <a:p>
                <a:pPr lvl="1"/>
                <a:endParaRPr lang="en-US" altLang="zh-CN" dirty="0" smtClean="0"/>
              </a:p>
              <a:p>
                <a:pPr lvl="1"/>
                <a:r>
                  <a:rPr lang="zh-CN" altLang="en-US" dirty="0"/>
                  <a:t>过程</a:t>
                </a:r>
                <a:r>
                  <a:rPr lang="zh-CN" altLang="en-US" dirty="0" smtClean="0"/>
                  <a:t>：</a:t>
                </a:r>
                <a:endParaRPr lang="en-US" altLang="zh-CN" dirty="0" smtClean="0"/>
              </a:p>
              <a:p>
                <a:pPr lvl="1"/>
                <a:r>
                  <a:rPr lang="zh-CN" altLang="en-US" dirty="0" smtClean="0"/>
                  <a:t>示例：</a:t>
                </a:r>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539552" y="1337268"/>
                <a:ext cx="8280920" cy="3724096"/>
              </a:xfrm>
              <a:blipFill>
                <a:blip r:embed="rId2"/>
                <a:stretch>
                  <a:fillRect l="-368" t="-1800" r="-368" b="-1637"/>
                </a:stretch>
              </a:blipFill>
            </p:spPr>
            <p:txBody>
              <a:bodyPr/>
              <a:lstStyle/>
              <a:p>
                <a:r>
                  <a:rPr lang="zh-CN" altLang="en-US">
                    <a:noFill/>
                  </a:rPr>
                  <a:t> </a:t>
                </a:r>
              </a:p>
            </p:txBody>
          </p:sp>
        </mc:Fallback>
      </mc:AlternateContent>
      <p:sp>
        <p:nvSpPr>
          <p:cNvPr id="27651"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109096D-B28C-4571-8A1C-D11AB4B73E64}" type="slidenum">
              <a:rPr lang="en-US" altLang="zh-CN" sz="1000"/>
              <a:pPr>
                <a:spcBef>
                  <a:spcPct val="0"/>
                </a:spcBef>
                <a:buClrTx/>
                <a:buSzTx/>
                <a:buFontTx/>
                <a:buNone/>
              </a:pPr>
              <a:t>40</a:t>
            </a:fld>
            <a:endParaRPr lang="en-US" altLang="zh-CN" sz="1000"/>
          </a:p>
        </p:txBody>
      </p:sp>
      <p:sp>
        <p:nvSpPr>
          <p:cNvPr id="27653"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1036415918"/>
                  </p:ext>
                </p:extLst>
              </p:nvPr>
            </p:nvGraphicFramePr>
            <p:xfrm>
              <a:off x="755576" y="2845373"/>
              <a:ext cx="8271725" cy="1214565"/>
            </p:xfrm>
            <a:graphic>
              <a:graphicData uri="http://schemas.openxmlformats.org/drawingml/2006/table">
                <a:tbl>
                  <a:tblPr firstRow="1" bandRow="1">
                    <a:tableStyleId>{5C22544A-7EE6-4342-B048-85BDC9FD1C3A}</a:tableStyleId>
                  </a:tblPr>
                  <a:tblGrid>
                    <a:gridCol w="4081511">
                      <a:extLst>
                        <a:ext uri="{9D8B030D-6E8A-4147-A177-3AD203B41FA5}">
                          <a16:colId xmlns:a16="http://schemas.microsoft.com/office/drawing/2014/main" val="1705552234"/>
                        </a:ext>
                      </a:extLst>
                    </a:gridCol>
                    <a:gridCol w="4190214">
                      <a:extLst>
                        <a:ext uri="{9D8B030D-6E8A-4147-A177-3AD203B41FA5}">
                          <a16:colId xmlns:a16="http://schemas.microsoft.com/office/drawing/2014/main" val="889695860"/>
                        </a:ext>
                      </a:extLst>
                    </a:gridCol>
                  </a:tblGrid>
                  <a:tr h="9041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 </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rPr>
                                <m:t>)</m:t>
                              </m:r>
                            </m:oMath>
                          </a14:m>
                          <a:r>
                            <a:rPr lang="en-US" altLang="zh-CN" sz="1600" b="1" dirty="0">
                              <a:solidFill>
                                <a:schemeClr val="tx1"/>
                              </a:solidFill>
                            </a:rPr>
                            <a:t>=</a:t>
                          </a:r>
                          <a14:m>
                            <m:oMath xmlns:m="http://schemas.openxmlformats.org/officeDocument/2006/math">
                              <m:limLow>
                                <m:limLowPr>
                                  <m:ctrlPr>
                                    <a:rPr lang="en-US" altLang="zh-CN" sz="1600" b="1" i="1">
                                      <a:solidFill>
                                        <a:schemeClr val="tx1"/>
                                      </a:solidFill>
                                      <a:latin typeface="Cambria Math" panose="02040503050406030204" pitchFamily="18" charset="0"/>
                                    </a:rPr>
                                  </m:ctrlPr>
                                </m:limLowPr>
                                <m:e>
                                  <m:r>
                                    <a:rPr lang="en-US" altLang="zh-CN" sz="1600" b="1" i="1">
                                      <a:solidFill>
                                        <a:schemeClr val="tx1"/>
                                      </a:solidFill>
                                      <a:latin typeface="Cambria Math" panose="02040503050406030204" pitchFamily="18" charset="0"/>
                                    </a:rPr>
                                    <m:t>𝒐𝒑𝒕</m:t>
                                  </m:r>
                                </m:e>
                                <m:lim>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𝒙</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ea typeface="Cambria Math" panose="02040503050406030204" pitchFamily="18" charset="0"/>
                                    </a:rPr>
                                    <m:t>∈</m:t>
                                  </m:r>
                                  <m:sSub>
                                    <m:sSubPr>
                                      <m:ctrlPr>
                                        <a:rPr lang="en-US" altLang="zh-CN" sz="1600" b="1" i="1">
                                          <a:solidFill>
                                            <a:schemeClr val="tx1"/>
                                          </a:solidFill>
                                          <a:latin typeface="Cambria Math" panose="02040503050406030204" pitchFamily="18" charset="0"/>
                                          <a:ea typeface="Cambria Math" panose="02040503050406030204" pitchFamily="18" charset="0"/>
                                        </a:rPr>
                                      </m:ctrlPr>
                                    </m:sSubPr>
                                    <m:e>
                                      <m:r>
                                        <a:rPr lang="en-US" altLang="zh-CN" sz="1600" b="1" i="1">
                                          <a:solidFill>
                                            <a:schemeClr val="tx1"/>
                                          </a:solidFill>
                                          <a:latin typeface="Cambria Math" panose="02040503050406030204" pitchFamily="18" charset="0"/>
                                          <a:ea typeface="Cambria Math" panose="02040503050406030204" pitchFamily="18" charset="0"/>
                                        </a:rPr>
                                        <m:t>𝑫</m:t>
                                      </m:r>
                                    </m:e>
                                    <m:sub>
                                      <m:r>
                                        <a:rPr lang="en-US" altLang="zh-CN" sz="1600" b="1" i="1">
                                          <a:solidFill>
                                            <a:schemeClr val="tx1"/>
                                          </a:solidFill>
                                          <a:latin typeface="Cambria Math" panose="02040503050406030204" pitchFamily="18" charset="0"/>
                                          <a:ea typeface="Cambria Math" panose="02040503050406030204" pitchFamily="18" charset="0"/>
                                        </a:rPr>
                                        <m:t>𝒌</m:t>
                                      </m:r>
                                    </m:sub>
                                  </m:sSub>
                                  <m:r>
                                    <a:rPr lang="en-US" altLang="zh-CN" sz="1600" b="1" i="1">
                                      <a:solidFill>
                                        <a:schemeClr val="tx1"/>
                                      </a:solidFill>
                                      <a:latin typeface="Cambria Math" panose="02040503050406030204" pitchFamily="18" charset="0"/>
                                      <a:ea typeface="Cambria Math" panose="02040503050406030204" pitchFamily="18" charset="0"/>
                                    </a:rPr>
                                    <m:t>(</m:t>
                                  </m:r>
                                  <m:sSub>
                                    <m:sSubPr>
                                      <m:ctrlPr>
                                        <a:rPr lang="en-US" altLang="zh-CN" sz="1600" b="1" i="1">
                                          <a:solidFill>
                                            <a:schemeClr val="tx1"/>
                                          </a:solidFill>
                                          <a:latin typeface="Cambria Math" panose="02040503050406030204" pitchFamily="18" charset="0"/>
                                          <a:ea typeface="Cambria Math" panose="02040503050406030204" pitchFamily="18" charset="0"/>
                                        </a:rPr>
                                      </m:ctrlPr>
                                    </m:sSubPr>
                                    <m:e>
                                      <m:r>
                                        <a:rPr lang="en-US" altLang="zh-CN" sz="1600" b="1" i="1">
                                          <a:solidFill>
                                            <a:schemeClr val="tx1"/>
                                          </a:solidFill>
                                          <a:latin typeface="Cambria Math" panose="02040503050406030204" pitchFamily="18" charset="0"/>
                                          <a:ea typeface="Cambria Math" panose="02040503050406030204" pitchFamily="18" charset="0"/>
                                        </a:rPr>
                                        <m:t>𝒔</m:t>
                                      </m:r>
                                    </m:e>
                                    <m:sub>
                                      <m:r>
                                        <a:rPr lang="en-US" altLang="zh-CN" sz="1600" b="1" i="1">
                                          <a:solidFill>
                                            <a:schemeClr val="tx1"/>
                                          </a:solidFill>
                                          <a:latin typeface="Cambria Math" panose="02040503050406030204" pitchFamily="18" charset="0"/>
                                          <a:ea typeface="Cambria Math" panose="02040503050406030204" pitchFamily="18" charset="0"/>
                                        </a:rPr>
                                        <m:t>𝒌</m:t>
                                      </m:r>
                                    </m:sub>
                                  </m:sSub>
                                  <m:r>
                                    <a:rPr lang="en-US" altLang="zh-CN" sz="1600" b="1" i="1">
                                      <a:solidFill>
                                        <a:schemeClr val="tx1"/>
                                      </a:solidFill>
                                      <a:latin typeface="Cambria Math" panose="02040503050406030204" pitchFamily="18" charset="0"/>
                                      <a:ea typeface="Cambria Math" panose="02040503050406030204" pitchFamily="18" charset="0"/>
                                    </a:rPr>
                                    <m:t>)</m:t>
                                  </m:r>
                                </m:lim>
                              </m:limLow>
                              <m:r>
                                <a:rPr lang="en-US" altLang="zh-CN" sz="1600" b="1" i="0"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𝒗</m:t>
                                  </m:r>
                                </m:e>
                                <m:sub>
                                  <m:r>
                                    <a:rPr lang="en-US" altLang="zh-CN" sz="1600" b="1" i="1" smtClean="0">
                                      <a:solidFill>
                                        <a:schemeClr val="tx1"/>
                                      </a:solidFill>
                                      <a:latin typeface="Cambria Math" panose="02040503050406030204" pitchFamily="18" charset="0"/>
                                    </a:rPr>
                                    <m:t>𝒌</m:t>
                                  </m:r>
                                </m:sub>
                              </m:sSub>
                              <m:d>
                                <m:dPr>
                                  <m:ctrlPr>
                                    <a:rPr lang="en-US" altLang="zh-CN" sz="1600" b="1" i="1" smtClean="0">
                                      <a:solidFill>
                                        <a:schemeClr val="tx1"/>
                                      </a:solidFill>
                                      <a:latin typeface="Cambria Math" panose="02040503050406030204" pitchFamily="18" charset="0"/>
                                    </a:rPr>
                                  </m:ctrlPr>
                                </m:dPr>
                                <m:e>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𝒔</m:t>
                                      </m:r>
                                    </m:e>
                                    <m:sub>
                                      <m:r>
                                        <a:rPr lang="en-US" altLang="zh-CN" sz="1600" b="1" i="1" smtClean="0">
                                          <a:solidFill>
                                            <a:schemeClr val="tx1"/>
                                          </a:solidFill>
                                          <a:latin typeface="Cambria Math" panose="02040503050406030204" pitchFamily="18" charset="0"/>
                                        </a:rPr>
                                        <m:t>𝒌</m:t>
                                      </m:r>
                                    </m:sub>
                                  </m:sSub>
                                  <m:r>
                                    <a:rPr lang="en-US" altLang="zh-CN" sz="1600" b="1" i="1"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𝒙</m:t>
                                      </m:r>
                                    </m:e>
                                    <m:sub>
                                      <m:r>
                                        <a:rPr lang="en-US" altLang="zh-CN" sz="1600" b="1" i="1" smtClean="0">
                                          <a:solidFill>
                                            <a:schemeClr val="tx1"/>
                                          </a:solidFill>
                                          <a:latin typeface="Cambria Math" panose="02040503050406030204" pitchFamily="18" charset="0"/>
                                        </a:rPr>
                                        <m:t>𝒌</m:t>
                                      </m:r>
                                    </m:sub>
                                  </m:sSub>
                                </m:e>
                              </m:d>
                              <m:r>
                                <a:rPr lang="en-US" altLang="zh-CN" sz="1600" b="1" i="1"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r>
                                    <a:rPr lang="en-US" altLang="zh-CN" sz="1600" b="1" i="1" smtClean="0">
                                      <a:solidFill>
                                        <a:schemeClr val="tx1"/>
                                      </a:solidFill>
                                      <a:latin typeface="Cambria Math" panose="02040503050406030204" pitchFamily="18" charset="0"/>
                                    </a:rPr>
                                    <m:t> </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sub>
                              </m:sSub>
                              <m:r>
                                <a:rPr lang="en-US" altLang="zh-CN" sz="1600" b="1" i="1">
                                  <a:solidFill>
                                    <a:schemeClr val="tx1"/>
                                  </a:solidFill>
                                  <a:latin typeface="Cambria Math" panose="02040503050406030204" pitchFamily="18" charset="0"/>
                                </a:rPr>
                                <m:t>)</m:t>
                              </m:r>
                              <m:r>
                                <a:rPr lang="en-US" altLang="zh-CN" sz="1600" b="1" i="0" smtClean="0">
                                  <a:solidFill>
                                    <a:schemeClr val="tx1"/>
                                  </a:solidFill>
                                  <a:latin typeface="Cambria Math" panose="02040503050406030204" pitchFamily="18" charset="0"/>
                                </a:rPr>
                                <m:t>}</m:t>
                              </m:r>
                            </m:oMath>
                          </a14:m>
                          <a:r>
                            <a:rPr lang="en-US" altLang="zh-CN" sz="1600" b="1" dirty="0" smtClean="0">
                              <a:solidFill>
                                <a:schemeClr val="tx1"/>
                              </a:solidFill>
                            </a:rPr>
                            <a: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1600" b="1" i="1" dirty="0" smtClean="0">
                              <a:solidFill>
                                <a:schemeClr val="tx1"/>
                              </a:solidFill>
                              <a:latin typeface="Times New Roman" panose="02020603050405020304" pitchFamily="18" charset="0"/>
                              <a:cs typeface="Times New Roman" panose="02020603050405020304" pitchFamily="18" charset="0"/>
                            </a:rPr>
                            <a:t>k</a:t>
                          </a:r>
                          <a:r>
                            <a:rPr lang="en-US" altLang="zh-CN" sz="1600" b="1" dirty="0" smtClean="0">
                              <a:solidFill>
                                <a:schemeClr val="tx1"/>
                              </a:solidFill>
                              <a:latin typeface="Times New Roman" panose="02020603050405020304" pitchFamily="18" charset="0"/>
                              <a:cs typeface="Times New Roman" panose="02020603050405020304" pitchFamily="18" charset="0"/>
                            </a:rPr>
                            <a:t>=</a:t>
                          </a:r>
                          <a:r>
                            <a:rPr lang="en-US" altLang="zh-CN" sz="1600" b="1" i="1" dirty="0" smtClean="0">
                              <a:solidFill>
                                <a:schemeClr val="tx1"/>
                              </a:solidFill>
                              <a:latin typeface="Times New Roman" panose="02020603050405020304" pitchFamily="18" charset="0"/>
                              <a:cs typeface="Times New Roman" panose="02020603050405020304" pitchFamily="18" charset="0"/>
                            </a:rPr>
                            <a:t>1,2,</a:t>
                          </a:r>
                          <a:r>
                            <a:rPr lang="en-US" altLang="zh-CN" sz="1600" b="1" dirty="0" smtClean="0">
                              <a:solidFill>
                                <a:schemeClr val="tx1"/>
                              </a:solidFill>
                            </a:rPr>
                            <a:t> </a:t>
                          </a:r>
                          <a14:m>
                            <m:oMath xmlns:m="http://schemas.openxmlformats.org/officeDocument/2006/math">
                              <m:r>
                                <a:rPr lang="en-US" altLang="zh-CN" sz="1600" b="1" i="0">
                                  <a:solidFill>
                                    <a:schemeClr val="tx1"/>
                                  </a:solidFill>
                                  <a:latin typeface="Cambria Math" panose="02040503050406030204" pitchFamily="18" charset="0"/>
                                </a:rPr>
                                <m:t>…</m:t>
                              </m:r>
                            </m:oMath>
                          </a14:m>
                          <a:r>
                            <a:rPr lang="en-US" altLang="zh-CN" sz="1600" b="1" i="1" dirty="0" smtClean="0">
                              <a:solidFill>
                                <a:schemeClr val="tx1"/>
                              </a:solidFill>
                              <a:latin typeface="Times New Roman" panose="02020603050405020304" pitchFamily="18" charset="0"/>
                              <a:cs typeface="Times New Roman" panose="02020603050405020304" pitchFamily="18" charset="0"/>
                            </a:rPr>
                            <a:t>n</a:t>
                          </a:r>
                        </a:p>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smtClean="0">
                                      <a:solidFill>
                                        <a:schemeClr val="tx1"/>
                                      </a:solidFill>
                                      <a:latin typeface="Cambria Math" panose="02040503050406030204" pitchFamily="18" charset="0"/>
                                    </a:rPr>
                                    <m:t>𝟎</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smtClean="0">
                                      <a:solidFill>
                                        <a:schemeClr val="tx1"/>
                                      </a:solidFill>
                                      <a:latin typeface="Cambria Math" panose="02040503050406030204" pitchFamily="18" charset="0"/>
                                    </a:rPr>
                                    <m:t>𝟎</m:t>
                                  </m:r>
                                </m:sub>
                              </m:sSub>
                              <m:r>
                                <a:rPr lang="en-US" altLang="zh-CN" sz="1600" b="1" i="1">
                                  <a:solidFill>
                                    <a:schemeClr val="tx1"/>
                                  </a:solidFill>
                                  <a:latin typeface="Cambria Math" panose="02040503050406030204" pitchFamily="18" charset="0"/>
                                </a:rPr>
                                <m:t>)</m:t>
                              </m:r>
                            </m:oMath>
                          </a14:m>
                          <a:r>
                            <a:rPr lang="en-US" altLang="zh-CN" sz="1600" b="1" dirty="0">
                              <a:solidFill>
                                <a:schemeClr val="tx1"/>
                              </a:solidFill>
                            </a:rPr>
                            <a:t>=</a:t>
                          </a:r>
                          <a:r>
                            <a:rPr lang="en-US" altLang="zh-CN" sz="1600" b="1" dirty="0" smtClean="0">
                              <a:solidFill>
                                <a:schemeClr val="tx1"/>
                              </a:solidFill>
                            </a:rPr>
                            <a:t>0</a:t>
                          </a:r>
                        </a:p>
                        <a:p>
                          <a:pPr marL="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r>
                                      <a:rPr lang="en-US" altLang="zh-CN" sz="1600" b="1" i="1" smtClean="0">
                                        <a:solidFill>
                                          <a:schemeClr val="tx1"/>
                                        </a:solidFill>
                                        <a:latin typeface="Cambria Math" panose="02040503050406030204" pitchFamily="18" charset="0"/>
                                      </a:rPr>
                                      <m:t> </m:t>
                                    </m:r>
                                  </m:sub>
                                </m:sSub>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𝑻</m:t>
                                </m:r>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sub>
                                </m:sSub>
                                <m:r>
                                  <a:rPr lang="en-US" altLang="zh-CN" sz="1600" b="1" i="1"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𝒙</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rPr>
                                  <m:t>)</m:t>
                                </m:r>
                              </m:oMath>
                            </m:oMathPara>
                          </a14:m>
                          <a:endParaRPr lang="zh-CN" altLang="en-US" dirty="0">
                            <a:solidFill>
                              <a:schemeClr val="tx1"/>
                            </a:solidFill>
                          </a:endParaRPr>
                        </a:p>
                      </a:txBody>
                      <a:tcPr>
                        <a:solidFill>
                          <a:schemeClr val="tx1">
                            <a:lumMod val="10000"/>
                            <a:lumOff val="9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 </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rPr>
                                <m:t>)</m:t>
                              </m:r>
                            </m:oMath>
                          </a14:m>
                          <a:r>
                            <a:rPr lang="en-US" altLang="zh-CN" sz="1600" b="1" dirty="0">
                              <a:solidFill>
                                <a:schemeClr val="tx1"/>
                              </a:solidFill>
                            </a:rPr>
                            <a:t>=</a:t>
                          </a:r>
                          <a14:m>
                            <m:oMath xmlns:m="http://schemas.openxmlformats.org/officeDocument/2006/math">
                              <m:limLow>
                                <m:limLowPr>
                                  <m:ctrlPr>
                                    <a:rPr lang="en-US" altLang="zh-CN" sz="1600" b="1" i="1">
                                      <a:solidFill>
                                        <a:schemeClr val="tx1"/>
                                      </a:solidFill>
                                      <a:latin typeface="Cambria Math" panose="02040503050406030204" pitchFamily="18" charset="0"/>
                                    </a:rPr>
                                  </m:ctrlPr>
                                </m:limLowPr>
                                <m:e>
                                  <m:r>
                                    <a:rPr lang="en-US" altLang="zh-CN" sz="1600" b="1" i="1">
                                      <a:solidFill>
                                        <a:schemeClr val="tx1"/>
                                      </a:solidFill>
                                      <a:latin typeface="Cambria Math" panose="02040503050406030204" pitchFamily="18" charset="0"/>
                                    </a:rPr>
                                    <m:t>𝒐𝒑𝒕</m:t>
                                  </m:r>
                                </m:e>
                                <m:lim>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𝒙</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ea typeface="Cambria Math" panose="02040503050406030204" pitchFamily="18" charset="0"/>
                                    </a:rPr>
                                    <m:t>∈</m:t>
                                  </m:r>
                                  <m:sSub>
                                    <m:sSubPr>
                                      <m:ctrlPr>
                                        <a:rPr lang="en-US" altLang="zh-CN" sz="1600" b="1" i="1">
                                          <a:solidFill>
                                            <a:schemeClr val="tx1"/>
                                          </a:solidFill>
                                          <a:latin typeface="Cambria Math" panose="02040503050406030204" pitchFamily="18" charset="0"/>
                                          <a:ea typeface="Cambria Math" panose="02040503050406030204" pitchFamily="18" charset="0"/>
                                        </a:rPr>
                                      </m:ctrlPr>
                                    </m:sSubPr>
                                    <m:e>
                                      <m:r>
                                        <a:rPr lang="en-US" altLang="zh-CN" sz="1600" b="1" i="1">
                                          <a:solidFill>
                                            <a:schemeClr val="tx1"/>
                                          </a:solidFill>
                                          <a:latin typeface="Cambria Math" panose="02040503050406030204" pitchFamily="18" charset="0"/>
                                          <a:ea typeface="Cambria Math" panose="02040503050406030204" pitchFamily="18" charset="0"/>
                                        </a:rPr>
                                        <m:t>𝑫</m:t>
                                      </m:r>
                                    </m:e>
                                    <m:sub>
                                      <m:r>
                                        <a:rPr lang="en-US" altLang="zh-CN" sz="1600" b="1" i="1">
                                          <a:solidFill>
                                            <a:schemeClr val="tx1"/>
                                          </a:solidFill>
                                          <a:latin typeface="Cambria Math" panose="02040503050406030204" pitchFamily="18" charset="0"/>
                                          <a:ea typeface="Cambria Math" panose="02040503050406030204" pitchFamily="18" charset="0"/>
                                        </a:rPr>
                                        <m:t>𝒌</m:t>
                                      </m:r>
                                    </m:sub>
                                  </m:sSub>
                                  <m:r>
                                    <a:rPr lang="en-US" altLang="zh-CN" sz="1600" b="1" i="1">
                                      <a:solidFill>
                                        <a:schemeClr val="tx1"/>
                                      </a:solidFill>
                                      <a:latin typeface="Cambria Math" panose="02040503050406030204" pitchFamily="18" charset="0"/>
                                      <a:ea typeface="Cambria Math" panose="02040503050406030204" pitchFamily="18" charset="0"/>
                                    </a:rPr>
                                    <m:t>(</m:t>
                                  </m:r>
                                  <m:sSub>
                                    <m:sSubPr>
                                      <m:ctrlPr>
                                        <a:rPr lang="en-US" altLang="zh-CN" sz="1600" b="1" i="1">
                                          <a:solidFill>
                                            <a:schemeClr val="tx1"/>
                                          </a:solidFill>
                                          <a:latin typeface="Cambria Math" panose="02040503050406030204" pitchFamily="18" charset="0"/>
                                          <a:ea typeface="Cambria Math" panose="02040503050406030204" pitchFamily="18" charset="0"/>
                                        </a:rPr>
                                      </m:ctrlPr>
                                    </m:sSubPr>
                                    <m:e>
                                      <m:r>
                                        <a:rPr lang="en-US" altLang="zh-CN" sz="1600" b="1" i="1">
                                          <a:solidFill>
                                            <a:schemeClr val="tx1"/>
                                          </a:solidFill>
                                          <a:latin typeface="Cambria Math" panose="02040503050406030204" pitchFamily="18" charset="0"/>
                                          <a:ea typeface="Cambria Math" panose="02040503050406030204" pitchFamily="18" charset="0"/>
                                        </a:rPr>
                                        <m:t>𝒔</m:t>
                                      </m:r>
                                    </m:e>
                                    <m:sub>
                                      <m:r>
                                        <a:rPr lang="en-US" altLang="zh-CN" sz="1600" b="1" i="1">
                                          <a:solidFill>
                                            <a:schemeClr val="tx1"/>
                                          </a:solidFill>
                                          <a:latin typeface="Cambria Math" panose="02040503050406030204" pitchFamily="18" charset="0"/>
                                          <a:ea typeface="Cambria Math" panose="02040503050406030204" pitchFamily="18" charset="0"/>
                                        </a:rPr>
                                        <m:t>𝒌</m:t>
                                      </m:r>
                                    </m:sub>
                                  </m:sSub>
                                  <m:r>
                                    <a:rPr lang="en-US" altLang="zh-CN" sz="1600" b="1" i="1">
                                      <a:solidFill>
                                        <a:schemeClr val="tx1"/>
                                      </a:solidFill>
                                      <a:latin typeface="Cambria Math" panose="02040503050406030204" pitchFamily="18" charset="0"/>
                                      <a:ea typeface="Cambria Math" panose="02040503050406030204" pitchFamily="18" charset="0"/>
                                    </a:rPr>
                                    <m:t>)</m:t>
                                  </m:r>
                                </m:lim>
                              </m:limLow>
                              <m:r>
                                <a:rPr lang="en-US" altLang="zh-CN" sz="1600" b="1" i="0"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𝒗</m:t>
                                  </m:r>
                                </m:e>
                                <m:sub>
                                  <m:r>
                                    <a:rPr lang="en-US" altLang="zh-CN" sz="1600" b="1" i="1" smtClean="0">
                                      <a:solidFill>
                                        <a:schemeClr val="tx1"/>
                                      </a:solidFill>
                                      <a:latin typeface="Cambria Math" panose="02040503050406030204" pitchFamily="18" charset="0"/>
                                    </a:rPr>
                                    <m:t>𝒌</m:t>
                                  </m:r>
                                </m:sub>
                              </m:sSub>
                              <m:d>
                                <m:dPr>
                                  <m:ctrlPr>
                                    <a:rPr lang="en-US" altLang="zh-CN" sz="1600" b="1" i="1" smtClean="0">
                                      <a:solidFill>
                                        <a:schemeClr val="tx1"/>
                                      </a:solidFill>
                                      <a:latin typeface="Cambria Math" panose="02040503050406030204" pitchFamily="18" charset="0"/>
                                    </a:rPr>
                                  </m:ctrlPr>
                                </m:dPr>
                                <m:e>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𝒔</m:t>
                                      </m:r>
                                    </m:e>
                                    <m:sub>
                                      <m:r>
                                        <a:rPr lang="en-US" altLang="zh-CN" sz="1600" b="1" i="1" smtClean="0">
                                          <a:solidFill>
                                            <a:schemeClr val="tx1"/>
                                          </a:solidFill>
                                          <a:latin typeface="Cambria Math" panose="02040503050406030204" pitchFamily="18" charset="0"/>
                                        </a:rPr>
                                        <m:t>𝒌</m:t>
                                      </m:r>
                                    </m:sub>
                                  </m:sSub>
                                  <m:r>
                                    <a:rPr lang="en-US" altLang="zh-CN" sz="1600" b="1" i="1"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𝒙</m:t>
                                      </m:r>
                                    </m:e>
                                    <m:sub>
                                      <m:r>
                                        <a:rPr lang="en-US" altLang="zh-CN" sz="1600" b="1" i="1" smtClean="0">
                                          <a:solidFill>
                                            <a:schemeClr val="tx1"/>
                                          </a:solidFill>
                                          <a:latin typeface="Cambria Math" panose="02040503050406030204" pitchFamily="18" charset="0"/>
                                        </a:rPr>
                                        <m:t>𝒌</m:t>
                                      </m:r>
                                    </m:sub>
                                  </m:sSub>
                                </m:e>
                              </m:d>
                              <m:r>
                                <a:rPr lang="en-US" altLang="zh-CN" sz="1600" b="1" i="1" smtClean="0">
                                  <a:solidFill>
                                    <a:schemeClr val="tx1"/>
                                  </a:solidFill>
                                  <a:latin typeface="Cambria Math" panose="02040503050406030204" pitchFamily="18" charset="0"/>
                                  <a:ea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r>
                                    <a:rPr lang="en-US" altLang="zh-CN" sz="1600" b="1" i="1" smtClean="0">
                                      <a:solidFill>
                                        <a:schemeClr val="tx1"/>
                                      </a:solidFill>
                                      <a:latin typeface="Cambria Math" panose="02040503050406030204" pitchFamily="18" charset="0"/>
                                    </a:rPr>
                                    <m:t> </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sub>
                              </m:sSub>
                              <m:r>
                                <a:rPr lang="en-US" altLang="zh-CN" sz="1600" b="1" i="1">
                                  <a:solidFill>
                                    <a:schemeClr val="tx1"/>
                                  </a:solidFill>
                                  <a:latin typeface="Cambria Math" panose="02040503050406030204" pitchFamily="18" charset="0"/>
                                </a:rPr>
                                <m:t>)</m:t>
                              </m:r>
                              <m:r>
                                <a:rPr lang="en-US" altLang="zh-CN" sz="1600" b="1" i="0" smtClean="0">
                                  <a:solidFill>
                                    <a:schemeClr val="tx1"/>
                                  </a:solidFill>
                                  <a:latin typeface="Cambria Math" panose="02040503050406030204" pitchFamily="18" charset="0"/>
                                </a:rPr>
                                <m:t>}</m:t>
                              </m:r>
                            </m:oMath>
                          </a14:m>
                          <a:r>
                            <a:rPr lang="en-US" altLang="zh-CN" sz="1600" b="1" dirty="0" smtClean="0">
                              <a:solidFill>
                                <a:schemeClr val="tx1"/>
                              </a:solidFill>
                            </a:rPr>
                            <a: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1600" b="1" i="1" dirty="0" smtClean="0">
                              <a:solidFill>
                                <a:schemeClr val="tx1"/>
                              </a:solidFill>
                              <a:latin typeface="Times New Roman" panose="02020603050405020304" pitchFamily="18" charset="0"/>
                              <a:cs typeface="Times New Roman" panose="02020603050405020304" pitchFamily="18" charset="0"/>
                            </a:rPr>
                            <a:t>k</a:t>
                          </a:r>
                          <a:r>
                            <a:rPr lang="en-US" altLang="zh-CN" sz="1600" b="1" dirty="0" smtClean="0">
                              <a:solidFill>
                                <a:schemeClr val="tx1"/>
                              </a:solidFill>
                              <a:latin typeface="Times New Roman" panose="02020603050405020304" pitchFamily="18" charset="0"/>
                              <a:cs typeface="Times New Roman" panose="02020603050405020304" pitchFamily="18" charset="0"/>
                            </a:rPr>
                            <a:t>=</a:t>
                          </a:r>
                          <a:r>
                            <a:rPr lang="en-US" altLang="zh-CN" sz="1600" b="1" i="1" dirty="0" smtClean="0">
                              <a:solidFill>
                                <a:schemeClr val="tx1"/>
                              </a:solidFill>
                              <a:latin typeface="Times New Roman" panose="02020603050405020304" pitchFamily="18" charset="0"/>
                              <a:cs typeface="Times New Roman" panose="02020603050405020304" pitchFamily="18" charset="0"/>
                            </a:rPr>
                            <a:t>1,2,</a:t>
                          </a:r>
                          <a:r>
                            <a:rPr lang="en-US" altLang="zh-CN" sz="1600" b="1" dirty="0" smtClean="0">
                              <a:solidFill>
                                <a:schemeClr val="tx1"/>
                              </a:solidFill>
                            </a:rPr>
                            <a:t> </a:t>
                          </a:r>
                          <a14:m>
                            <m:oMath xmlns:m="http://schemas.openxmlformats.org/officeDocument/2006/math">
                              <m:r>
                                <a:rPr lang="en-US" altLang="zh-CN" sz="1600" b="1" i="0">
                                  <a:solidFill>
                                    <a:schemeClr val="tx1"/>
                                  </a:solidFill>
                                  <a:latin typeface="Cambria Math" panose="02040503050406030204" pitchFamily="18" charset="0"/>
                                </a:rPr>
                                <m:t>…</m:t>
                              </m:r>
                            </m:oMath>
                          </a14:m>
                          <a:r>
                            <a:rPr lang="en-US" altLang="zh-CN" sz="1600" b="1" i="1" dirty="0" smtClean="0">
                              <a:solidFill>
                                <a:schemeClr val="tx1"/>
                              </a:solidFill>
                              <a:latin typeface="Times New Roman" panose="02020603050405020304" pitchFamily="18" charset="0"/>
                              <a:cs typeface="Times New Roman" panose="02020603050405020304" pitchFamily="18" charset="0"/>
                            </a:rPr>
                            <a:t>n</a:t>
                          </a:r>
                        </a:p>
                        <a:p>
                          <a:pPr marL="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𝒇</m:t>
                                  </m:r>
                                </m:e>
                                <m:sub>
                                  <m:r>
                                    <a:rPr lang="en-US" altLang="zh-CN" sz="1600" b="1" i="1" smtClean="0">
                                      <a:solidFill>
                                        <a:schemeClr val="tx1"/>
                                      </a:solidFill>
                                      <a:latin typeface="Cambria Math" panose="02040503050406030204" pitchFamily="18" charset="0"/>
                                    </a:rPr>
                                    <m:t>𝟎</m:t>
                                  </m:r>
                                </m:sub>
                              </m:sSub>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smtClean="0">
                                      <a:solidFill>
                                        <a:schemeClr val="tx1"/>
                                      </a:solidFill>
                                      <a:latin typeface="Cambria Math" panose="02040503050406030204" pitchFamily="18" charset="0"/>
                                    </a:rPr>
                                    <m:t>𝟎</m:t>
                                  </m:r>
                                </m:sub>
                              </m:sSub>
                              <m:r>
                                <a:rPr lang="en-US" altLang="zh-CN" sz="1600" b="1" i="1">
                                  <a:solidFill>
                                    <a:schemeClr val="tx1"/>
                                  </a:solidFill>
                                  <a:latin typeface="Cambria Math" panose="02040503050406030204" pitchFamily="18" charset="0"/>
                                </a:rPr>
                                <m:t>)</m:t>
                              </m:r>
                            </m:oMath>
                          </a14:m>
                          <a:r>
                            <a:rPr lang="en-US" altLang="zh-CN" sz="1600" b="1" dirty="0">
                              <a:solidFill>
                                <a:schemeClr val="tx1"/>
                              </a:solidFill>
                            </a:rPr>
                            <a:t>=</a:t>
                          </a:r>
                          <a:r>
                            <a:rPr lang="en-US" altLang="zh-CN" sz="1600" b="1" dirty="0" smtClean="0">
                              <a:solidFill>
                                <a:schemeClr val="tx1"/>
                              </a:solidFill>
                            </a:rPr>
                            <a:t>1</a:t>
                          </a:r>
                        </a:p>
                        <a:p>
                          <a:pPr marL="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𝟏</m:t>
                                    </m:r>
                                    <m:r>
                                      <a:rPr lang="en-US" altLang="zh-CN" sz="1600" b="1" i="1" smtClean="0">
                                        <a:solidFill>
                                          <a:schemeClr val="tx1"/>
                                        </a:solidFill>
                                        <a:latin typeface="Cambria Math" panose="02040503050406030204" pitchFamily="18" charset="0"/>
                                      </a:rPr>
                                      <m:t> </m:t>
                                    </m:r>
                                  </m:sub>
                                </m:sSub>
                                <m:r>
                                  <a:rPr lang="en-US" altLang="zh-CN" sz="1600" b="1"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𝑻</m:t>
                                </m:r>
                                <m:r>
                                  <a:rPr lang="en-US" altLang="zh-CN" sz="1600" b="1" i="1">
                                    <a:solidFill>
                                      <a:schemeClr val="tx1"/>
                                    </a:solidFill>
                                    <a:latin typeface="Cambria Math" panose="02040503050406030204" pitchFamily="18" charset="0"/>
                                  </a:rPr>
                                  <m:t>(</m:t>
                                </m:r>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𝒔</m:t>
                                    </m:r>
                                  </m:e>
                                  <m:sub>
                                    <m:r>
                                      <a:rPr lang="en-US" altLang="zh-CN" sz="1600" b="1" i="1">
                                        <a:solidFill>
                                          <a:schemeClr val="tx1"/>
                                        </a:solidFill>
                                        <a:latin typeface="Cambria Math" panose="02040503050406030204" pitchFamily="18" charset="0"/>
                                      </a:rPr>
                                      <m:t>𝒌</m:t>
                                    </m:r>
                                  </m:sub>
                                </m:sSub>
                                <m:r>
                                  <a:rPr lang="en-US" altLang="zh-CN" sz="1600" b="1" i="1"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𝒙</m:t>
                                    </m:r>
                                  </m:e>
                                  <m:sub>
                                    <m:r>
                                      <a:rPr lang="en-US" altLang="zh-CN" sz="1600" b="1" i="1">
                                        <a:solidFill>
                                          <a:schemeClr val="tx1"/>
                                        </a:solidFill>
                                        <a:latin typeface="Cambria Math" panose="02040503050406030204" pitchFamily="18" charset="0"/>
                                      </a:rPr>
                                      <m:t>𝒌</m:t>
                                    </m:r>
                                  </m:sub>
                                </m:sSub>
                                <m:r>
                                  <a:rPr lang="en-US" altLang="zh-CN" sz="1600" b="1" i="1">
                                    <a:solidFill>
                                      <a:schemeClr val="tx1"/>
                                    </a:solidFill>
                                    <a:latin typeface="Cambria Math" panose="02040503050406030204" pitchFamily="18" charset="0"/>
                                  </a:rPr>
                                  <m:t>)</m:t>
                                </m:r>
                              </m:oMath>
                            </m:oMathPara>
                          </a14:m>
                          <a:endParaRPr lang="zh-CN" altLang="en-US" dirty="0">
                            <a:solidFill>
                              <a:schemeClr val="tx1"/>
                            </a:solidFill>
                          </a:endParaRPr>
                        </a:p>
                      </a:txBody>
                      <a:tcPr>
                        <a:solidFill>
                          <a:schemeClr val="tx1">
                            <a:lumMod val="10000"/>
                            <a:lumOff val="90000"/>
                          </a:schemeClr>
                        </a:solidFill>
                      </a:tcPr>
                    </a:tc>
                    <a:extLst>
                      <a:ext uri="{0D108BD9-81ED-4DB2-BD59-A6C34878D82A}">
                        <a16:rowId xmlns:a16="http://schemas.microsoft.com/office/drawing/2014/main" val="136665157"/>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1036415918"/>
                  </p:ext>
                </p:extLst>
              </p:nvPr>
            </p:nvGraphicFramePr>
            <p:xfrm>
              <a:off x="755576" y="2845373"/>
              <a:ext cx="8271725" cy="1214565"/>
            </p:xfrm>
            <a:graphic>
              <a:graphicData uri="http://schemas.openxmlformats.org/drawingml/2006/table">
                <a:tbl>
                  <a:tblPr firstRow="1" bandRow="1">
                    <a:tableStyleId>{5C22544A-7EE6-4342-B048-85BDC9FD1C3A}</a:tableStyleId>
                  </a:tblPr>
                  <a:tblGrid>
                    <a:gridCol w="4081511">
                      <a:extLst>
                        <a:ext uri="{9D8B030D-6E8A-4147-A177-3AD203B41FA5}">
                          <a16:colId xmlns:a16="http://schemas.microsoft.com/office/drawing/2014/main" val="1705552234"/>
                        </a:ext>
                      </a:extLst>
                    </a:gridCol>
                    <a:gridCol w="4190214">
                      <a:extLst>
                        <a:ext uri="{9D8B030D-6E8A-4147-A177-3AD203B41FA5}">
                          <a16:colId xmlns:a16="http://schemas.microsoft.com/office/drawing/2014/main" val="889695860"/>
                        </a:ext>
                      </a:extLst>
                    </a:gridCol>
                  </a:tblGrid>
                  <a:tr h="1214565">
                    <a:tc>
                      <a:txBody>
                        <a:bodyPr/>
                        <a:lstStyle/>
                        <a:p>
                          <a:endParaRPr lang="zh-CN"/>
                        </a:p>
                      </a:txBody>
                      <a:tcPr>
                        <a:blipFill>
                          <a:blip r:embed="rId3"/>
                          <a:stretch>
                            <a:fillRect l="-149" t="-995" r="-103433" b="-3483"/>
                          </a:stretch>
                        </a:blipFill>
                      </a:tcPr>
                    </a:tc>
                    <a:tc>
                      <a:txBody>
                        <a:bodyPr/>
                        <a:lstStyle/>
                        <a:p>
                          <a:endParaRPr lang="zh-CN"/>
                        </a:p>
                      </a:txBody>
                      <a:tcPr>
                        <a:blipFill>
                          <a:blip r:embed="rId3"/>
                          <a:stretch>
                            <a:fillRect l="-97529" t="-995" r="-727" b="-3483"/>
                          </a:stretch>
                        </a:blipFill>
                      </a:tcPr>
                    </a:tc>
                    <a:extLst>
                      <a:ext uri="{0D108BD9-81ED-4DB2-BD59-A6C34878D82A}">
                        <a16:rowId xmlns:a16="http://schemas.microsoft.com/office/drawing/2014/main" val="136665157"/>
                      </a:ext>
                    </a:extLst>
                  </a:tr>
                </a:tbl>
              </a:graphicData>
            </a:graphic>
          </p:graphicFrame>
        </mc:Fallback>
      </mc:AlternateContent>
      <mc:AlternateContent xmlns:mc="http://schemas.openxmlformats.org/markup-compatibility/2006" xmlns:a14="http://schemas.microsoft.com/office/drawing/2010/main">
        <mc:Choice Requires="a14">
          <p:sp>
            <p:nvSpPr>
              <p:cNvPr id="4" name="矩形 3"/>
              <p:cNvSpPr/>
              <p:nvPr/>
            </p:nvSpPr>
            <p:spPr>
              <a:xfrm>
                <a:off x="2339752" y="4343868"/>
                <a:ext cx="5966569" cy="338554"/>
              </a:xfrm>
              <a:prstGeom prst="rect">
                <a:avLst/>
              </a:prstGeom>
            </p:spPr>
            <p:txBody>
              <a:bodyPr wrap="none">
                <a:spAutoFit/>
              </a:bodyPr>
              <a:lstStyle/>
              <a:p>
                <a:pPr marL="0" lvl="1"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sSub>
                        <m:sSubPr>
                          <m:ctrlPr>
                            <a:rPr lang="en-US" altLang="zh-CN" sz="1600" b="1" i="1" smtClean="0">
                              <a:latin typeface="Cambria Math" panose="02040503050406030204" pitchFamily="18" charset="0"/>
                            </a:rPr>
                          </m:ctrlPr>
                        </m:sSubPr>
                        <m:e>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𝒇</m:t>
                              </m:r>
                            </m:e>
                            <m:sub>
                              <m:r>
                                <a:rPr lang="en-US" altLang="zh-CN" sz="1600" b="1" i="1" smtClean="0">
                                  <a:latin typeface="Cambria Math" panose="02040503050406030204" pitchFamily="18" charset="0"/>
                                </a:rPr>
                                <m:t>𝟎</m:t>
                              </m:r>
                              <m:r>
                                <a:rPr lang="en-US" altLang="zh-CN" sz="1600" b="1" i="1">
                                  <a:latin typeface="Cambria Math" panose="02040503050406030204" pitchFamily="18" charset="0"/>
                                </a:rPr>
                                <m:t> </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smtClean="0">
                                  <a:latin typeface="Cambria Math" panose="02040503050406030204" pitchFamily="18" charset="0"/>
                                </a:rPr>
                                <m:t>𝟎</m:t>
                              </m:r>
                            </m:sub>
                          </m:sSub>
                          <m:r>
                            <a:rPr lang="en-US" altLang="zh-CN" sz="1600" b="1" i="1">
                              <a:latin typeface="Cambria Math" panose="02040503050406030204" pitchFamily="18" charset="0"/>
                            </a:rPr>
                            <m:t>)</m:t>
                          </m:r>
                          <m:r>
                            <a:rPr lang="en-US" altLang="zh-CN" sz="1600" b="1" i="1" smtClean="0">
                              <a:latin typeface="Cambria Math" panose="02040503050406030204" pitchFamily="18" charset="0"/>
                              <a:ea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𝒇</m:t>
                              </m:r>
                            </m:e>
                            <m:sub>
                              <m:r>
                                <a:rPr lang="en-US" altLang="zh-CN" sz="1600" b="1" i="1" smtClean="0">
                                  <a:latin typeface="Cambria Math" panose="02040503050406030204" pitchFamily="18" charset="0"/>
                                </a:rPr>
                                <m:t>𝟏</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smtClean="0">
                                  <a:latin typeface="Cambria Math" panose="02040503050406030204" pitchFamily="18" charset="0"/>
                                </a:rPr>
                                <m:t>𝟏</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ea typeface="Cambria Math" panose="02040503050406030204" pitchFamily="18" charset="0"/>
                                </a:rPr>
                                <m:t>→</m:t>
                              </m:r>
                              <m:r>
                                <a:rPr lang="en-US" altLang="zh-CN" sz="1600" b="1" i="1">
                                  <a:latin typeface="Cambria Math" panose="02040503050406030204" pitchFamily="18" charset="0"/>
                                </a:rPr>
                                <m:t>…</m:t>
                              </m:r>
                              <m:r>
                                <a:rPr lang="en-US" altLang="zh-CN" sz="1600" b="1" i="1" smtClean="0">
                                  <a:latin typeface="Cambria Math" panose="02040503050406030204" pitchFamily="18" charset="0"/>
                                  <a:ea typeface="Cambria Math" panose="02040503050406030204" pitchFamily="18" charset="0"/>
                                </a:rPr>
                                <m:t>→</m:t>
                              </m:r>
                              <m:r>
                                <a:rPr lang="en-US" altLang="zh-CN" sz="1600" b="1" i="1">
                                  <a:latin typeface="Cambria Math" panose="02040503050406030204" pitchFamily="18" charset="0"/>
                                </a:rPr>
                                <m:t>𝒇</m:t>
                              </m:r>
                            </m:e>
                            <m:sub>
                              <m:r>
                                <a:rPr lang="en-US" altLang="zh-CN" sz="1600" b="1" i="1" smtClean="0">
                                  <a:latin typeface="Cambria Math" panose="02040503050406030204" pitchFamily="18" charset="0"/>
                                </a:rPr>
                                <m:t>𝒌</m:t>
                              </m:r>
                              <m:r>
                                <a:rPr lang="en-US" altLang="zh-CN" sz="1600" b="1" i="1" smtClean="0">
                                  <a:latin typeface="Cambria Math" panose="02040503050406030204" pitchFamily="18" charset="0"/>
                                </a:rPr>
                                <m:t>−</m:t>
                              </m:r>
                              <m:r>
                                <a:rPr lang="en-US" altLang="zh-CN" sz="1600" b="1" i="1">
                                  <a:latin typeface="Cambria Math" panose="02040503050406030204" pitchFamily="18" charset="0"/>
                                </a:rPr>
                                <m:t>𝟏</m:t>
                              </m:r>
                              <m:r>
                                <a:rPr lang="en-US" altLang="zh-CN" sz="1600" b="1" i="1">
                                  <a:latin typeface="Cambria Math" panose="02040503050406030204" pitchFamily="18" charset="0"/>
                                </a:rPr>
                                <m:t> </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smtClean="0">
                                  <a:latin typeface="Cambria Math" panose="02040503050406030204" pitchFamily="18" charset="0"/>
                                </a:rPr>
                                <m:t>𝒌</m:t>
                              </m:r>
                              <m:r>
                                <a:rPr lang="en-US" altLang="zh-CN" sz="1600" b="1" i="1" smtClean="0">
                                  <a:latin typeface="Cambria Math" panose="02040503050406030204" pitchFamily="18" charset="0"/>
                                </a:rPr>
                                <m:t>−</m:t>
                              </m:r>
                              <m:r>
                                <a:rPr lang="en-US" altLang="zh-CN" sz="1600" b="1" i="1">
                                  <a:latin typeface="Cambria Math" panose="02040503050406030204" pitchFamily="18" charset="0"/>
                                </a:rPr>
                                <m:t>𝟏</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ea typeface="Cambria Math" panose="02040503050406030204" pitchFamily="18" charset="0"/>
                                </a:rPr>
                                <m:t>→</m:t>
                              </m:r>
                              <m:r>
                                <a:rPr lang="en-US" altLang="zh-CN" sz="1600" b="1" i="1">
                                  <a:latin typeface="Cambria Math" panose="02040503050406030204" pitchFamily="18" charset="0"/>
                                </a:rPr>
                                <m:t>𝒇</m:t>
                              </m:r>
                            </m:e>
                            <m:sub>
                              <m:r>
                                <a:rPr lang="en-US" altLang="zh-CN" sz="1600" b="1" i="1" smtClean="0">
                                  <a:latin typeface="Cambria Math" panose="02040503050406030204" pitchFamily="18" charset="0"/>
                                </a:rPr>
                                <m:t>𝒌</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smtClean="0">
                                  <a:latin typeface="Cambria Math" panose="02040503050406030204" pitchFamily="18" charset="0"/>
                                </a:rPr>
                                <m:t>𝒌</m:t>
                              </m:r>
                            </m:sub>
                          </m:sSub>
                          <m:r>
                            <a:rPr lang="en-US" altLang="zh-CN" sz="1600" b="1" i="1">
                              <a:latin typeface="Cambria Math" panose="02040503050406030204" pitchFamily="18" charset="0"/>
                            </a:rPr>
                            <m:t>)</m:t>
                          </m:r>
                          <m:r>
                            <a:rPr lang="en-US" altLang="zh-CN" sz="1600" b="1" i="1" smtClean="0">
                              <a:latin typeface="Cambria Math" panose="02040503050406030204" pitchFamily="18" charset="0"/>
                              <a:ea typeface="Cambria Math" panose="02040503050406030204" pitchFamily="18" charset="0"/>
                            </a:rPr>
                            <m:t>→</m:t>
                          </m:r>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smtClean="0">
                                  <a:latin typeface="Cambria Math" panose="02040503050406030204" pitchFamily="18" charset="0"/>
                                  <a:ea typeface="Cambria Math" panose="02040503050406030204" pitchFamily="18" charset="0"/>
                                </a:rPr>
                                <m:t>→</m:t>
                              </m:r>
                              <m:r>
                                <a:rPr lang="en-US" altLang="zh-CN" sz="1600" b="1" i="1">
                                  <a:latin typeface="Cambria Math" panose="02040503050406030204" pitchFamily="18" charset="0"/>
                                </a:rPr>
                                <m:t>𝒇</m:t>
                              </m:r>
                            </m:e>
                            <m:sub>
                              <m:r>
                                <a:rPr lang="en-US" altLang="zh-CN" sz="1600" b="1" i="1">
                                  <a:latin typeface="Cambria Math" panose="02040503050406030204" pitchFamily="18" charset="0"/>
                                </a:rPr>
                                <m:t>𝒏</m:t>
                              </m:r>
                            </m:sub>
                          </m:sSub>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𝒔</m:t>
                              </m:r>
                            </m:e>
                            <m:sub>
                              <m:r>
                                <a:rPr lang="en-US" altLang="zh-CN" sz="1600" b="1" i="1">
                                  <a:latin typeface="Cambria Math" panose="02040503050406030204" pitchFamily="18" charset="0"/>
                                </a:rPr>
                                <m:t>𝒏</m:t>
                              </m:r>
                            </m:sub>
                          </m:sSub>
                          <m:r>
                            <a:rPr lang="en-US" altLang="zh-CN" sz="1600" b="1" i="1">
                              <a:latin typeface="Cambria Math" panose="02040503050406030204" pitchFamily="18" charset="0"/>
                            </a:rPr>
                            <m:t>)</m:t>
                          </m:r>
                          <m:r>
                            <a:rPr lang="en-US" altLang="zh-CN" sz="1600" b="1" i="1" smtClean="0">
                              <a:latin typeface="Cambria Math" panose="02040503050406030204" pitchFamily="18" charset="0"/>
                              <a:ea typeface="Cambria Math" panose="02040503050406030204" pitchFamily="18" charset="0"/>
                            </a:rPr>
                            <m:t> </m:t>
                          </m:r>
                        </m:e>
                        <m:sub>
                          <m:r>
                            <a:rPr lang="en-US" altLang="zh-CN" sz="1600" b="1" i="1">
                              <a:latin typeface="Cambria Math" panose="02040503050406030204" pitchFamily="18" charset="0"/>
                            </a:rPr>
                            <m:t> </m:t>
                          </m:r>
                        </m:sub>
                      </m:sSub>
                    </m:oMath>
                  </m:oMathPara>
                </a14:m>
                <a:endParaRPr lang="en-US" altLang="zh-CN" sz="1600" b="1" i="1" dirty="0">
                  <a:latin typeface="Times New Roman" panose="02020603050405020304" pitchFamily="18" charset="0"/>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2339752" y="4343868"/>
                <a:ext cx="5966569" cy="338554"/>
              </a:xfrm>
              <a:prstGeom prst="rect">
                <a:avLst/>
              </a:prstGeom>
              <a:blipFill>
                <a:blip r:embed="rId4"/>
                <a:stretch>
                  <a:fillRect b="-12727"/>
                </a:stretch>
              </a:blipFill>
            </p:spPr>
            <p:txBody>
              <a:bodyPr/>
              <a:lstStyle/>
              <a:p>
                <a:r>
                  <a:rPr lang="zh-CN" altLang="en-US">
                    <a:noFill/>
                  </a:rPr>
                  <a:t> </a:t>
                </a:r>
              </a:p>
            </p:txBody>
          </p:sp>
        </mc:Fallback>
      </mc:AlternateContent>
      <p:cxnSp>
        <p:nvCxnSpPr>
          <p:cNvPr id="8" name="直接连接符 7"/>
          <p:cNvCxnSpPr/>
          <p:nvPr/>
        </p:nvCxnSpPr>
        <p:spPr bwMode="auto">
          <a:xfrm>
            <a:off x="1115616" y="5445224"/>
            <a:ext cx="6802837"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8"/>
          <p:cNvCxnSpPr/>
          <p:nvPr/>
        </p:nvCxnSpPr>
        <p:spPr bwMode="auto">
          <a:xfrm>
            <a:off x="1111777" y="5373216"/>
            <a:ext cx="0" cy="7200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连接符 9"/>
          <p:cNvCxnSpPr/>
          <p:nvPr/>
        </p:nvCxnSpPr>
        <p:spPr bwMode="auto">
          <a:xfrm>
            <a:off x="2843808" y="5373216"/>
            <a:ext cx="0" cy="7200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0"/>
          <p:cNvCxnSpPr/>
          <p:nvPr/>
        </p:nvCxnSpPr>
        <p:spPr bwMode="auto">
          <a:xfrm>
            <a:off x="4496153" y="5373216"/>
            <a:ext cx="0" cy="7200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1"/>
          <p:cNvCxnSpPr/>
          <p:nvPr/>
        </p:nvCxnSpPr>
        <p:spPr bwMode="auto">
          <a:xfrm>
            <a:off x="6228184" y="5373216"/>
            <a:ext cx="0" cy="7200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13" name="矩形 12"/>
              <p:cNvSpPr/>
              <p:nvPr/>
            </p:nvSpPr>
            <p:spPr>
              <a:xfrm>
                <a:off x="895753" y="5045114"/>
                <a:ext cx="50789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a:latin typeface="Cambria Math" panose="02040503050406030204" pitchFamily="18" charset="0"/>
                            </a:rPr>
                            <m:t>𝒔</m:t>
                          </m:r>
                        </m:e>
                        <m:sub>
                          <m:r>
                            <a:rPr lang="en-US" altLang="zh-CN" b="1" i="1" smtClean="0">
                              <a:latin typeface="Cambria Math" panose="02040503050406030204" pitchFamily="18" charset="0"/>
                            </a:rPr>
                            <m:t>𝟎</m:t>
                          </m:r>
                        </m:sub>
                      </m:sSub>
                    </m:oMath>
                  </m:oMathPara>
                </a14:m>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895753" y="5045114"/>
                <a:ext cx="507895" cy="400110"/>
              </a:xfrm>
              <a:prstGeom prst="rect">
                <a:avLst/>
              </a:prstGeom>
              <a:blipFill>
                <a:blip r:embed="rId5"/>
                <a:stretch>
                  <a:fillRect b="-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2627784" y="5045114"/>
                <a:ext cx="50789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a:latin typeface="Cambria Math" panose="02040503050406030204" pitchFamily="18" charset="0"/>
                            </a:rPr>
                            <m:t>𝒔</m:t>
                          </m:r>
                        </m:e>
                        <m:sub>
                          <m:r>
                            <a:rPr lang="en-US" altLang="zh-CN" b="1" i="1" smtClean="0">
                              <a:latin typeface="Cambria Math" panose="02040503050406030204" pitchFamily="18" charset="0"/>
                            </a:rPr>
                            <m:t>𝟏</m:t>
                          </m:r>
                        </m:sub>
                      </m:sSub>
                    </m:oMath>
                  </m:oMathPara>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2627784" y="5045114"/>
                <a:ext cx="507895" cy="400110"/>
              </a:xfrm>
              <a:prstGeom prst="rect">
                <a:avLst/>
              </a:prstGeom>
              <a:blipFill>
                <a:blip r:embed="rId6"/>
                <a:stretch>
                  <a:fillRect b="-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4280129" y="5045114"/>
                <a:ext cx="50789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a:latin typeface="Cambria Math" panose="02040503050406030204" pitchFamily="18" charset="0"/>
                            </a:rPr>
                            <m:t>𝒔</m:t>
                          </m:r>
                        </m:e>
                        <m:sub>
                          <m:r>
                            <a:rPr lang="en-US" altLang="zh-CN" b="1" i="1" smtClean="0">
                              <a:latin typeface="Cambria Math" panose="02040503050406030204" pitchFamily="18" charset="0"/>
                            </a:rPr>
                            <m:t>𝟐</m:t>
                          </m:r>
                        </m:sub>
                      </m:sSub>
                    </m:oMath>
                  </m:oMathPara>
                </a14:m>
                <a:endParaRPr lang="zh-CN" altLang="en-US" dirty="0"/>
              </a:p>
            </p:txBody>
          </p:sp>
        </mc:Choice>
        <mc:Fallback xmlns="">
          <p:sp>
            <p:nvSpPr>
              <p:cNvPr id="15" name="矩形 14"/>
              <p:cNvSpPr>
                <a:spLocks noRot="1" noChangeAspect="1" noMove="1" noResize="1" noEditPoints="1" noAdjustHandles="1" noChangeArrowheads="1" noChangeShapeType="1" noTextEdit="1"/>
              </p:cNvSpPr>
              <p:nvPr/>
            </p:nvSpPr>
            <p:spPr>
              <a:xfrm>
                <a:off x="4280129" y="5045114"/>
                <a:ext cx="507895" cy="400110"/>
              </a:xfrm>
              <a:prstGeom prst="rect">
                <a:avLst/>
              </a:prstGeom>
              <a:blipFill>
                <a:blip r:embed="rId7"/>
                <a:stretch>
                  <a:fillRect b="-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6012160" y="5045114"/>
                <a:ext cx="50789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a:latin typeface="Cambria Math" panose="02040503050406030204" pitchFamily="18" charset="0"/>
                            </a:rPr>
                            <m:t>𝒔</m:t>
                          </m:r>
                        </m:e>
                        <m:sub>
                          <m:r>
                            <a:rPr lang="en-US" altLang="zh-CN" b="1" i="1" smtClean="0">
                              <a:latin typeface="Cambria Math" panose="02040503050406030204" pitchFamily="18" charset="0"/>
                            </a:rPr>
                            <m:t>𝟑</m:t>
                          </m:r>
                        </m:sub>
                      </m:sSub>
                    </m:oMath>
                  </m:oMathPara>
                </a14:m>
                <a:endParaRPr lang="zh-CN"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6012160" y="5045114"/>
                <a:ext cx="507895" cy="400110"/>
              </a:xfrm>
              <a:prstGeom prst="rect">
                <a:avLst/>
              </a:prstGeom>
              <a:blipFill>
                <a:blip r:embed="rId8"/>
                <a:stretch>
                  <a:fillRect b="-4615"/>
                </a:stretch>
              </a:blipFill>
            </p:spPr>
            <p:txBody>
              <a:bodyPr/>
              <a:lstStyle/>
              <a:p>
                <a:r>
                  <a:rPr lang="zh-CN" altLang="en-US">
                    <a:noFill/>
                  </a:rPr>
                  <a:t> </a:t>
                </a:r>
              </a:p>
            </p:txBody>
          </p:sp>
        </mc:Fallback>
      </mc:AlternateContent>
      <p:cxnSp>
        <p:nvCxnSpPr>
          <p:cNvPr id="17" name="直接连接符 16"/>
          <p:cNvCxnSpPr/>
          <p:nvPr/>
        </p:nvCxnSpPr>
        <p:spPr bwMode="auto">
          <a:xfrm>
            <a:off x="7926232" y="5373216"/>
            <a:ext cx="0" cy="7200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18" name="矩形 17"/>
              <p:cNvSpPr/>
              <p:nvPr/>
            </p:nvSpPr>
            <p:spPr>
              <a:xfrm>
                <a:off x="7706369" y="5045114"/>
                <a:ext cx="50789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a:latin typeface="Cambria Math" panose="02040503050406030204" pitchFamily="18" charset="0"/>
                            </a:rPr>
                            <m:t>𝒔</m:t>
                          </m:r>
                        </m:e>
                        <m:sub>
                          <m:r>
                            <a:rPr lang="en-US" altLang="zh-CN" b="1" i="1" smtClean="0">
                              <a:latin typeface="Cambria Math" panose="02040503050406030204" pitchFamily="18" charset="0"/>
                            </a:rPr>
                            <m:t>𝟒</m:t>
                          </m:r>
                        </m:sub>
                      </m:sSub>
                    </m:oMath>
                  </m:oMathPara>
                </a14:m>
                <a:endParaRPr lang="zh-CN" altLang="en-US" dirty="0"/>
              </a:p>
            </p:txBody>
          </p:sp>
        </mc:Choice>
        <mc:Fallback xmlns="">
          <p:sp>
            <p:nvSpPr>
              <p:cNvPr id="18" name="矩形 17"/>
              <p:cNvSpPr>
                <a:spLocks noRot="1" noChangeAspect="1" noMove="1" noResize="1" noEditPoints="1" noAdjustHandles="1" noChangeArrowheads="1" noChangeShapeType="1" noTextEdit="1"/>
              </p:cNvSpPr>
              <p:nvPr/>
            </p:nvSpPr>
            <p:spPr>
              <a:xfrm>
                <a:off x="7706369" y="5045114"/>
                <a:ext cx="507895" cy="400110"/>
              </a:xfrm>
              <a:prstGeom prst="rect">
                <a:avLst/>
              </a:prstGeom>
              <a:blipFill>
                <a:blip r:embed="rId9"/>
                <a:stretch>
                  <a:fillRect b="-4615"/>
                </a:stretch>
              </a:blipFill>
            </p:spPr>
            <p:txBody>
              <a:bodyPr/>
              <a:lstStyle/>
              <a:p>
                <a:r>
                  <a:rPr lang="zh-CN" altLang="en-US">
                    <a:noFill/>
                  </a:rPr>
                  <a:t> </a:t>
                </a:r>
              </a:p>
            </p:txBody>
          </p:sp>
        </mc:Fallback>
      </mc:AlternateContent>
      <p:sp>
        <p:nvSpPr>
          <p:cNvPr id="19" name="矩形 18"/>
          <p:cNvSpPr/>
          <p:nvPr/>
        </p:nvSpPr>
        <p:spPr>
          <a:xfrm>
            <a:off x="1688866" y="5197510"/>
            <a:ext cx="506870" cy="338554"/>
          </a:xfrm>
          <a:prstGeom prst="rect">
            <a:avLst/>
          </a:prstGeom>
        </p:spPr>
        <p:txBody>
          <a:bodyPr wrap="none">
            <a:spAutoFit/>
          </a:bodyPr>
          <a:lstStyle/>
          <a:p>
            <a:pPr marL="0" lvl="1" eaLnBrk="1" fontAlgn="auto" hangingPunct="1">
              <a:spcBef>
                <a:spcPts val="0"/>
              </a:spcBef>
              <a:spcAft>
                <a:spcPts val="0"/>
              </a:spcAft>
              <a:defRPr/>
            </a:pPr>
            <a:r>
              <a:rPr lang="en-US" altLang="zh-CN" sz="1600" b="1" i="1" dirty="0" smtClean="0">
                <a:latin typeface="Times New Roman" panose="02020603050405020304" pitchFamily="18" charset="0"/>
                <a:cs typeface="Times New Roman" panose="02020603050405020304" pitchFamily="18" charset="0"/>
              </a:rPr>
              <a:t>k</a:t>
            </a:r>
            <a:r>
              <a:rPr lang="en-US" altLang="zh-CN" sz="1600" b="1" dirty="0" smtClean="0">
                <a:latin typeface="Times New Roman" panose="02020603050405020304" pitchFamily="18" charset="0"/>
                <a:cs typeface="Times New Roman" panose="02020603050405020304" pitchFamily="18" charset="0"/>
              </a:rPr>
              <a:t>=1</a:t>
            </a:r>
            <a:endParaRPr lang="en-US" altLang="zh-CN" sz="1600" b="1" i="1" dirty="0">
              <a:latin typeface="Times New Roman" panose="02020603050405020304" pitchFamily="18" charset="0"/>
              <a:cs typeface="Times New Roman" panose="02020603050405020304" pitchFamily="18" charset="0"/>
            </a:endParaRPr>
          </a:p>
        </p:txBody>
      </p:sp>
      <p:sp>
        <p:nvSpPr>
          <p:cNvPr id="20" name="矩形 19"/>
          <p:cNvSpPr/>
          <p:nvPr/>
        </p:nvSpPr>
        <p:spPr>
          <a:xfrm>
            <a:off x="3419872" y="5197510"/>
            <a:ext cx="506870" cy="338554"/>
          </a:xfrm>
          <a:prstGeom prst="rect">
            <a:avLst/>
          </a:prstGeom>
        </p:spPr>
        <p:txBody>
          <a:bodyPr wrap="none">
            <a:spAutoFit/>
          </a:bodyPr>
          <a:lstStyle/>
          <a:p>
            <a:pPr marL="0" lvl="1" eaLnBrk="1" fontAlgn="auto" hangingPunct="1">
              <a:spcBef>
                <a:spcPts val="0"/>
              </a:spcBef>
              <a:spcAft>
                <a:spcPts val="0"/>
              </a:spcAft>
              <a:defRPr/>
            </a:pPr>
            <a:r>
              <a:rPr lang="en-US" altLang="zh-CN" sz="1600" b="1" i="1" dirty="0" smtClean="0">
                <a:latin typeface="Times New Roman" panose="02020603050405020304" pitchFamily="18" charset="0"/>
                <a:cs typeface="Times New Roman" panose="02020603050405020304" pitchFamily="18" charset="0"/>
              </a:rPr>
              <a:t>k</a:t>
            </a:r>
            <a:r>
              <a:rPr lang="en-US" altLang="zh-CN" sz="1600" b="1" dirty="0" smtClean="0">
                <a:latin typeface="Times New Roman" panose="02020603050405020304" pitchFamily="18" charset="0"/>
                <a:cs typeface="Times New Roman" panose="02020603050405020304" pitchFamily="18" charset="0"/>
              </a:rPr>
              <a:t>=2</a:t>
            </a:r>
            <a:endParaRPr lang="en-US" altLang="zh-CN" sz="1600" b="1" i="1" dirty="0">
              <a:latin typeface="Times New Roman" panose="02020603050405020304" pitchFamily="18" charset="0"/>
              <a:cs typeface="Times New Roman" panose="02020603050405020304" pitchFamily="18" charset="0"/>
            </a:endParaRPr>
          </a:p>
        </p:txBody>
      </p:sp>
      <p:sp>
        <p:nvSpPr>
          <p:cNvPr id="21" name="矩形 20"/>
          <p:cNvSpPr/>
          <p:nvPr/>
        </p:nvSpPr>
        <p:spPr>
          <a:xfrm>
            <a:off x="5073242" y="5197510"/>
            <a:ext cx="506870" cy="338554"/>
          </a:xfrm>
          <a:prstGeom prst="rect">
            <a:avLst/>
          </a:prstGeom>
        </p:spPr>
        <p:txBody>
          <a:bodyPr wrap="none">
            <a:spAutoFit/>
          </a:bodyPr>
          <a:lstStyle/>
          <a:p>
            <a:pPr marL="0" lvl="1" eaLnBrk="1" fontAlgn="auto" hangingPunct="1">
              <a:spcBef>
                <a:spcPts val="0"/>
              </a:spcBef>
              <a:spcAft>
                <a:spcPts val="0"/>
              </a:spcAft>
              <a:defRPr/>
            </a:pPr>
            <a:r>
              <a:rPr lang="en-US" altLang="zh-CN" sz="1600" b="1" i="1" dirty="0" smtClean="0">
                <a:latin typeface="Times New Roman" panose="02020603050405020304" pitchFamily="18" charset="0"/>
                <a:cs typeface="Times New Roman" panose="02020603050405020304" pitchFamily="18" charset="0"/>
              </a:rPr>
              <a:t>k</a:t>
            </a:r>
            <a:r>
              <a:rPr lang="en-US" altLang="zh-CN" sz="1600" b="1" dirty="0" smtClean="0">
                <a:latin typeface="Times New Roman" panose="02020603050405020304" pitchFamily="18" charset="0"/>
                <a:cs typeface="Times New Roman" panose="02020603050405020304" pitchFamily="18" charset="0"/>
              </a:rPr>
              <a:t>=3</a:t>
            </a:r>
            <a:endParaRPr lang="en-US" altLang="zh-CN" sz="1600" b="1" i="1" dirty="0">
              <a:latin typeface="Times New Roman" panose="02020603050405020304" pitchFamily="18" charset="0"/>
              <a:cs typeface="Times New Roman" panose="02020603050405020304" pitchFamily="18" charset="0"/>
            </a:endParaRPr>
          </a:p>
        </p:txBody>
      </p:sp>
      <p:sp>
        <p:nvSpPr>
          <p:cNvPr id="22" name="矩形 21"/>
          <p:cNvSpPr/>
          <p:nvPr/>
        </p:nvSpPr>
        <p:spPr>
          <a:xfrm>
            <a:off x="6801434" y="5197510"/>
            <a:ext cx="506870" cy="338554"/>
          </a:xfrm>
          <a:prstGeom prst="rect">
            <a:avLst/>
          </a:prstGeom>
        </p:spPr>
        <p:txBody>
          <a:bodyPr wrap="none">
            <a:spAutoFit/>
          </a:bodyPr>
          <a:lstStyle/>
          <a:p>
            <a:pPr marL="0" lvl="1" eaLnBrk="1" fontAlgn="auto" hangingPunct="1">
              <a:spcBef>
                <a:spcPts val="0"/>
              </a:spcBef>
              <a:spcAft>
                <a:spcPts val="0"/>
              </a:spcAft>
              <a:defRPr/>
            </a:pPr>
            <a:r>
              <a:rPr lang="en-US" altLang="zh-CN" sz="1600" b="1" i="1" dirty="0" smtClean="0">
                <a:latin typeface="Times New Roman" panose="02020603050405020304" pitchFamily="18" charset="0"/>
                <a:cs typeface="Times New Roman" panose="02020603050405020304" pitchFamily="18" charset="0"/>
              </a:rPr>
              <a:t>k</a:t>
            </a:r>
            <a:r>
              <a:rPr lang="en-US" altLang="zh-CN" sz="1600" b="1" dirty="0" smtClean="0">
                <a:latin typeface="Times New Roman" panose="02020603050405020304" pitchFamily="18" charset="0"/>
                <a:cs typeface="Times New Roman" panose="02020603050405020304" pitchFamily="18" charset="0"/>
              </a:rPr>
              <a:t>=4</a:t>
            </a:r>
            <a:endParaRPr lang="en-US" altLang="zh-CN" sz="1600" b="1" i="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矩形 4"/>
              <p:cNvSpPr/>
              <p:nvPr/>
            </p:nvSpPr>
            <p:spPr>
              <a:xfrm>
                <a:off x="168686" y="5517232"/>
                <a:ext cx="96109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b="0" i="1">
                              <a:latin typeface="Cambria Math" panose="02040503050406030204" pitchFamily="18" charset="0"/>
                            </a:rPr>
                            <m:t>𝑓</m:t>
                          </m:r>
                        </m:e>
                        <m:sub>
                          <m:r>
                            <a:rPr lang="en-US" altLang="zh-CN" b="0" i="1">
                              <a:latin typeface="Cambria Math" panose="02040503050406030204" pitchFamily="18" charset="0"/>
                            </a:rPr>
                            <m:t>0 </m:t>
                          </m:r>
                        </m:sub>
                      </m:sSub>
                      <m:r>
                        <a:rPr lang="en-US" altLang="zh-CN" b="0"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𝑠</m:t>
                          </m:r>
                        </m:e>
                        <m:sub>
                          <m:r>
                            <a:rPr lang="en-US" altLang="zh-CN" b="0" i="1">
                              <a:latin typeface="Cambria Math" panose="02040503050406030204" pitchFamily="18" charset="0"/>
                            </a:rPr>
                            <m:t>0</m:t>
                          </m:r>
                        </m:sub>
                      </m:sSub>
                      <m:r>
                        <a:rPr lang="en-US" altLang="zh-CN" b="0" i="1">
                          <a:latin typeface="Cambria Math" panose="02040503050406030204" pitchFamily="18" charset="0"/>
                        </a:rPr>
                        <m:t>)</m:t>
                      </m:r>
                    </m:oMath>
                  </m:oMathPara>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168686" y="5517232"/>
                <a:ext cx="961096" cy="400110"/>
              </a:xfrm>
              <a:prstGeom prst="rect">
                <a:avLst/>
              </a:prstGeom>
              <a:blipFill>
                <a:blip r:embed="rId10"/>
                <a:stretch>
                  <a:fillRect b="-18182"/>
                </a:stretch>
              </a:blipFill>
            </p:spPr>
            <p:txBody>
              <a:bodyPr/>
              <a:lstStyle/>
              <a:p>
                <a:r>
                  <a:rPr lang="zh-CN" altLang="en-US">
                    <a:noFill/>
                  </a:rPr>
                  <a:t> </a:t>
                </a:r>
              </a:p>
            </p:txBody>
          </p:sp>
        </mc:Fallback>
      </mc:AlternateContent>
      <p:sp>
        <p:nvSpPr>
          <p:cNvPr id="6" name="右大括号 5"/>
          <p:cNvSpPr/>
          <p:nvPr/>
        </p:nvSpPr>
        <p:spPr bwMode="auto">
          <a:xfrm rot="5400000">
            <a:off x="1881753" y="4699193"/>
            <a:ext cx="205622" cy="1718488"/>
          </a:xfrm>
          <a:prstGeom prst="rightBrace">
            <a:avLst>
              <a:gd name="adj1" fmla="val 8333"/>
              <a:gd name="adj2" fmla="val 46076"/>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7" name="矩形 6"/>
              <p:cNvSpPr/>
              <p:nvPr/>
            </p:nvSpPr>
            <p:spPr>
              <a:xfrm>
                <a:off x="1351236" y="5543967"/>
                <a:ext cx="133671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1</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Sub>
                        </m:e>
                      </m:d>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1351236" y="5543967"/>
                <a:ext cx="1336713" cy="400110"/>
              </a:xfrm>
              <a:prstGeom prst="rect">
                <a:avLst/>
              </a:prstGeom>
              <a:blipFill>
                <a:blip r:embed="rId11"/>
                <a:stretch>
                  <a:fillRect b="-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1070421" y="5989881"/>
                <a:ext cx="94917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a:latin typeface="Cambria Math" panose="02040503050406030204" pitchFamily="18" charset="0"/>
                            </a:rPr>
                            <m:t>𝑓</m:t>
                          </m:r>
                        </m:e>
                        <m:sub>
                          <m:r>
                            <a:rPr lang="en-US" altLang="zh-CN" b="0" i="1" smtClean="0">
                              <a:latin typeface="Cambria Math" panose="02040503050406030204" pitchFamily="18" charset="0"/>
                            </a:rPr>
                            <m:t>1</m:t>
                          </m:r>
                          <m:r>
                            <a:rPr lang="en-US" altLang="zh-CN" b="0" i="1">
                              <a:latin typeface="Cambria Math" panose="02040503050406030204" pitchFamily="18" charset="0"/>
                            </a:rPr>
                            <m:t> </m:t>
                          </m:r>
                        </m:sub>
                      </m:sSub>
                      <m:r>
                        <a:rPr lang="en-US" altLang="zh-CN" b="0"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𝑠</m:t>
                          </m:r>
                        </m:e>
                        <m:sub>
                          <m:r>
                            <a:rPr lang="en-US" altLang="zh-CN" b="0" i="1" smtClean="0">
                              <a:latin typeface="Cambria Math" panose="02040503050406030204" pitchFamily="18" charset="0"/>
                            </a:rPr>
                            <m:t>1</m:t>
                          </m:r>
                        </m:sub>
                      </m:sSub>
                      <m:r>
                        <a:rPr lang="en-US" altLang="zh-CN" b="0" i="1">
                          <a:latin typeface="Cambria Math" panose="02040503050406030204" pitchFamily="18" charset="0"/>
                        </a:rPr>
                        <m:t>)</m:t>
                      </m:r>
                    </m:oMath>
                  </m:oMathPara>
                </a14:m>
                <a:endParaRPr lang="zh-CN" altLang="en-US" dirty="0"/>
              </a:p>
            </p:txBody>
          </p:sp>
        </mc:Choice>
        <mc:Fallback xmlns="">
          <p:sp>
            <p:nvSpPr>
              <p:cNvPr id="26" name="矩形 25"/>
              <p:cNvSpPr>
                <a:spLocks noRot="1" noChangeAspect="1" noMove="1" noResize="1" noEditPoints="1" noAdjustHandles="1" noChangeArrowheads="1" noChangeShapeType="1" noTextEdit="1"/>
              </p:cNvSpPr>
              <p:nvPr/>
            </p:nvSpPr>
            <p:spPr>
              <a:xfrm>
                <a:off x="1070421" y="5989881"/>
                <a:ext cx="949171" cy="400110"/>
              </a:xfrm>
              <a:prstGeom prst="rect">
                <a:avLst/>
              </a:prstGeom>
              <a:blipFill>
                <a:blip r:embed="rId12"/>
                <a:stretch>
                  <a:fillRect b="-18462"/>
                </a:stretch>
              </a:blipFill>
            </p:spPr>
            <p:txBody>
              <a:bodyPr/>
              <a:lstStyle/>
              <a:p>
                <a:r>
                  <a:rPr lang="zh-CN" altLang="en-US">
                    <a:noFill/>
                  </a:rPr>
                  <a:t> </a:t>
                </a:r>
              </a:p>
            </p:txBody>
          </p:sp>
        </mc:Fallback>
      </mc:AlternateContent>
      <p:sp>
        <p:nvSpPr>
          <p:cNvPr id="27" name="右大括号 26"/>
          <p:cNvSpPr/>
          <p:nvPr/>
        </p:nvSpPr>
        <p:spPr bwMode="auto">
          <a:xfrm rot="5400000">
            <a:off x="3600241" y="5136444"/>
            <a:ext cx="205622" cy="1718488"/>
          </a:xfrm>
          <a:prstGeom prst="rightBrace">
            <a:avLst>
              <a:gd name="adj1" fmla="val 8333"/>
              <a:gd name="adj2" fmla="val 46076"/>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28" name="矩形 27"/>
              <p:cNvSpPr/>
              <p:nvPr/>
            </p:nvSpPr>
            <p:spPr>
              <a:xfrm>
                <a:off x="3069724" y="5981218"/>
                <a:ext cx="133671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2</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e>
                      </m:d>
                    </m:oMath>
                  </m:oMathPara>
                </a14:m>
                <a:endParaRPr lang="zh-CN" altLang="en-US" dirty="0"/>
              </a:p>
            </p:txBody>
          </p:sp>
        </mc:Choice>
        <mc:Fallback xmlns="">
          <p:sp>
            <p:nvSpPr>
              <p:cNvPr id="28" name="矩形 27"/>
              <p:cNvSpPr>
                <a:spLocks noRot="1" noChangeAspect="1" noMove="1" noResize="1" noEditPoints="1" noAdjustHandles="1" noChangeArrowheads="1" noChangeShapeType="1" noTextEdit="1"/>
              </p:cNvSpPr>
              <p:nvPr/>
            </p:nvSpPr>
            <p:spPr>
              <a:xfrm>
                <a:off x="3069724" y="5981218"/>
                <a:ext cx="1336713" cy="400110"/>
              </a:xfrm>
              <a:prstGeom prst="rect">
                <a:avLst/>
              </a:prstGeom>
              <a:blipFill>
                <a:blip r:embed="rId13"/>
                <a:stretch>
                  <a:fillRect b="-3030"/>
                </a:stretch>
              </a:blipFill>
            </p:spPr>
            <p:txBody>
              <a:bodyPr/>
              <a:lstStyle/>
              <a:p>
                <a:r>
                  <a:rPr lang="zh-CN" altLang="en-US">
                    <a:noFill/>
                  </a:rPr>
                  <a:t> </a:t>
                </a:r>
              </a:p>
            </p:txBody>
          </p:sp>
        </mc:Fallback>
      </mc:AlternateContent>
      <p:sp>
        <p:nvSpPr>
          <p:cNvPr id="29" name="右大括号 28"/>
          <p:cNvSpPr/>
          <p:nvPr/>
        </p:nvSpPr>
        <p:spPr bwMode="auto">
          <a:xfrm rot="5400000">
            <a:off x="1217859" y="5114068"/>
            <a:ext cx="205622" cy="1718488"/>
          </a:xfrm>
          <a:prstGeom prst="rightBrace">
            <a:avLst>
              <a:gd name="adj1" fmla="val 8333"/>
              <a:gd name="adj2" fmla="val 46076"/>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30" name="矩形 29"/>
              <p:cNvSpPr/>
              <p:nvPr/>
            </p:nvSpPr>
            <p:spPr>
              <a:xfrm>
                <a:off x="2310379" y="6485274"/>
                <a:ext cx="96109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a:latin typeface="Cambria Math" panose="02040503050406030204" pitchFamily="18" charset="0"/>
                            </a:rPr>
                            <m:t>𝑓</m:t>
                          </m:r>
                        </m:e>
                        <m:sub>
                          <m:r>
                            <a:rPr lang="en-US" altLang="zh-CN" b="0" i="1" smtClean="0">
                              <a:latin typeface="Cambria Math" panose="02040503050406030204" pitchFamily="18" charset="0"/>
                            </a:rPr>
                            <m:t>2</m:t>
                          </m:r>
                          <m:r>
                            <a:rPr lang="en-US" altLang="zh-CN" b="0" i="1">
                              <a:latin typeface="Cambria Math" panose="02040503050406030204" pitchFamily="18" charset="0"/>
                            </a:rPr>
                            <m:t> </m:t>
                          </m:r>
                        </m:sub>
                      </m:sSub>
                      <m:r>
                        <a:rPr lang="en-US" altLang="zh-CN" b="0"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𝑠</m:t>
                          </m:r>
                        </m:e>
                        <m:sub>
                          <m:r>
                            <a:rPr lang="en-US" altLang="zh-CN" b="0" i="1" smtClean="0">
                              <a:latin typeface="Cambria Math" panose="02040503050406030204" pitchFamily="18" charset="0"/>
                            </a:rPr>
                            <m:t>2</m:t>
                          </m:r>
                        </m:sub>
                      </m:sSub>
                      <m:r>
                        <a:rPr lang="en-US" altLang="zh-CN" b="0" i="1">
                          <a:latin typeface="Cambria Math" panose="02040503050406030204" pitchFamily="18" charset="0"/>
                        </a:rPr>
                        <m:t>)</m:t>
                      </m:r>
                    </m:oMath>
                  </m:oMathPara>
                </a14:m>
                <a:endParaRPr lang="zh-CN" altLang="en-US" dirty="0"/>
              </a:p>
            </p:txBody>
          </p:sp>
        </mc:Choice>
        <mc:Fallback xmlns="">
          <p:sp>
            <p:nvSpPr>
              <p:cNvPr id="30" name="矩形 29"/>
              <p:cNvSpPr>
                <a:spLocks noRot="1" noChangeAspect="1" noMove="1" noResize="1" noEditPoints="1" noAdjustHandles="1" noChangeArrowheads="1" noChangeShapeType="1" noTextEdit="1"/>
              </p:cNvSpPr>
              <p:nvPr/>
            </p:nvSpPr>
            <p:spPr>
              <a:xfrm>
                <a:off x="2310379" y="6485274"/>
                <a:ext cx="961097" cy="400110"/>
              </a:xfrm>
              <a:prstGeom prst="rect">
                <a:avLst/>
              </a:prstGeom>
              <a:blipFill>
                <a:blip r:embed="rId14"/>
                <a:stretch>
                  <a:fillRect b="-18462"/>
                </a:stretch>
              </a:blipFill>
            </p:spPr>
            <p:txBody>
              <a:bodyPr/>
              <a:lstStyle/>
              <a:p>
                <a:r>
                  <a:rPr lang="zh-CN" altLang="en-US">
                    <a:noFill/>
                  </a:rPr>
                  <a:t> </a:t>
                </a:r>
              </a:p>
            </p:txBody>
          </p:sp>
        </mc:Fallback>
      </mc:AlternateContent>
      <p:sp>
        <p:nvSpPr>
          <p:cNvPr id="31" name="右大括号 30"/>
          <p:cNvSpPr/>
          <p:nvPr/>
        </p:nvSpPr>
        <p:spPr bwMode="auto">
          <a:xfrm rot="5400000">
            <a:off x="2457817" y="5609461"/>
            <a:ext cx="205622" cy="1718488"/>
          </a:xfrm>
          <a:prstGeom prst="rightBrace">
            <a:avLst>
              <a:gd name="adj1" fmla="val 8333"/>
              <a:gd name="adj2" fmla="val 46076"/>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65297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26" grpId="0"/>
      <p:bldP spid="27" grpId="0" animBg="1"/>
      <p:bldP spid="28" grpId="0"/>
      <p:bldP spid="29" grpId="0" animBg="1"/>
      <p:bldP spid="30" grpId="0"/>
      <p:bldP spid="3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p:cNvSpPr>
            <a:spLocks noGrp="1" noChangeArrowheads="1"/>
          </p:cNvSpPr>
          <p:nvPr>
            <p:ph type="title"/>
          </p:nvPr>
        </p:nvSpPr>
        <p:spPr/>
        <p:txBody>
          <a:bodyPr/>
          <a:lstStyle/>
          <a:p>
            <a:pPr eaLnBrk="1" hangingPunct="1"/>
            <a:r>
              <a:rPr lang="en-US" altLang="zh-CN" dirty="0"/>
              <a:t>8.3.2  </a:t>
            </a:r>
            <a:r>
              <a:rPr lang="zh-CN" altLang="en-US" dirty="0"/>
              <a:t>顺推解法</a:t>
            </a:r>
          </a:p>
        </p:txBody>
      </p:sp>
      <p:sp>
        <p:nvSpPr>
          <p:cNvPr id="2" name="内容占位符 1"/>
          <p:cNvSpPr>
            <a:spLocks noGrp="1"/>
          </p:cNvSpPr>
          <p:nvPr>
            <p:ph idx="1"/>
          </p:nvPr>
        </p:nvSpPr>
        <p:spPr>
          <a:xfrm>
            <a:off x="539552" y="1337268"/>
            <a:ext cx="8280920" cy="1791260"/>
          </a:xfrm>
        </p:spPr>
        <p:txBody>
          <a:bodyPr/>
          <a:lstStyle/>
          <a:p>
            <a:pPr eaLnBrk="1" hangingPunct="1">
              <a:lnSpc>
                <a:spcPct val="120000"/>
              </a:lnSpc>
              <a:spcBef>
                <a:spcPct val="0"/>
              </a:spcBef>
              <a:buClrTx/>
              <a:buSzTx/>
            </a:pPr>
            <a:r>
              <a:rPr lang="zh-CN" altLang="en-US" dirty="0" smtClean="0">
                <a:latin typeface="Times New Roman" panose="02020603050405020304" pitchFamily="18" charset="0"/>
                <a:cs typeface="Times New Roman" panose="02020603050405020304" pitchFamily="18" charset="0"/>
              </a:rPr>
              <a:t>例</a:t>
            </a:r>
            <a:r>
              <a:rPr lang="en-US" altLang="zh-CN" dirty="0" smtClean="0">
                <a:latin typeface="Times New Roman" panose="02020603050405020304" pitchFamily="18" charset="0"/>
                <a:cs typeface="Times New Roman" panose="02020603050405020304" pitchFamily="18" charset="0"/>
              </a:rPr>
              <a:t>8-3</a:t>
            </a:r>
            <a:r>
              <a:rPr lang="zh-CN" altLang="en-US" dirty="0" smtClean="0">
                <a:latin typeface="Times New Roman" panose="02020603050405020304" pitchFamily="18" charset="0"/>
                <a:cs typeface="Times New Roman" panose="02020603050405020304" pitchFamily="18" charset="0"/>
              </a:rPr>
              <a:t>：将</a:t>
            </a:r>
            <a:r>
              <a:rPr lang="zh-CN" altLang="en-US" dirty="0">
                <a:latin typeface="Times New Roman" panose="02020603050405020304" pitchFamily="18" charset="0"/>
                <a:cs typeface="Times New Roman" panose="02020603050405020304" pitchFamily="18" charset="0"/>
              </a:rPr>
              <a:t>例</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用顺推解法解之。</a:t>
            </a:r>
            <a:endParaRPr lang="zh-CN" altLang="en-US" dirty="0"/>
          </a:p>
          <a:p>
            <a:pPr>
              <a:lnSpc>
                <a:spcPct val="120000"/>
              </a:lnSpc>
              <a:spcBef>
                <a:spcPct val="0"/>
              </a:spcBef>
              <a:buClrTx/>
              <a:buSzTx/>
              <a:buNone/>
            </a:pPr>
            <a:endParaRPr lang="en-US" altLang="zh-CN" sz="2000" dirty="0" smtClean="0">
              <a:latin typeface="Times New Roman" panose="02020603050405020304" pitchFamily="18" charset="0"/>
              <a:cs typeface="Times New Roman" panose="02020603050405020304" pitchFamily="18" charset="0"/>
            </a:endParaRPr>
          </a:p>
          <a:p>
            <a:pPr>
              <a:lnSpc>
                <a:spcPct val="120000"/>
              </a:lnSpc>
              <a:spcBef>
                <a:spcPct val="0"/>
              </a:spcBef>
              <a:buClrTx/>
              <a:buSzTx/>
              <a:buFontTx/>
              <a:buNone/>
            </a:pPr>
            <a:endParaRPr lang="zh-CN" altLang="en-US" dirty="0"/>
          </a:p>
          <a:p>
            <a:endParaRPr lang="zh-CN" altLang="en-US" dirty="0"/>
          </a:p>
        </p:txBody>
      </p:sp>
      <p:sp>
        <p:nvSpPr>
          <p:cNvPr id="50179"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DB44FC4-CC9B-45F8-BA8C-AEEA40B07C34}" type="slidenum">
              <a:rPr lang="en-US" altLang="zh-CN" sz="1000"/>
              <a:pPr>
                <a:spcBef>
                  <a:spcPct val="0"/>
                </a:spcBef>
                <a:buClrTx/>
                <a:buSzTx/>
                <a:buFontTx/>
                <a:buNone/>
              </a:pPr>
              <a:t>41</a:t>
            </a:fld>
            <a:endParaRPr lang="en-US" altLang="zh-CN" sz="1000"/>
          </a:p>
        </p:txBody>
      </p:sp>
      <p:graphicFrame>
        <p:nvGraphicFramePr>
          <p:cNvPr id="50182" name="Object 19"/>
          <p:cNvGraphicFramePr>
            <a:graphicFrameLocks noChangeAspect="1"/>
          </p:cNvGraphicFramePr>
          <p:nvPr>
            <p:extLst>
              <p:ext uri="{D42A27DB-BD31-4B8C-83A1-F6EECF244321}">
                <p14:modId xmlns:p14="http://schemas.microsoft.com/office/powerpoint/2010/main" val="3680665648"/>
              </p:ext>
            </p:extLst>
          </p:nvPr>
        </p:nvGraphicFramePr>
        <p:xfrm>
          <a:off x="1628834" y="2878034"/>
          <a:ext cx="7440092" cy="677376"/>
        </p:xfrm>
        <a:graphic>
          <a:graphicData uri="http://schemas.openxmlformats.org/presentationml/2006/ole">
            <mc:AlternateContent xmlns:mc="http://schemas.openxmlformats.org/markup-compatibility/2006">
              <mc:Choice xmlns:v="urn:schemas-microsoft-com:vml" Requires="v">
                <p:oleObj spid="_x0000_s184988" name="Equation" r:id="rId3" imgW="5016240" imgH="457200" progId="Equation.DSMT4">
                  <p:embed/>
                </p:oleObj>
              </mc:Choice>
              <mc:Fallback>
                <p:oleObj name="Equation" r:id="rId3" imgW="5016240" imgH="457200" progId="Equation.DSMT4">
                  <p:embed/>
                  <p:pic>
                    <p:nvPicPr>
                      <p:cNvPr id="50182" name="Object 19"/>
                      <p:cNvPicPr>
                        <a:picLocks noChangeAspect="1" noChangeArrowheads="1"/>
                      </p:cNvPicPr>
                      <p:nvPr/>
                    </p:nvPicPr>
                    <p:blipFill>
                      <a:blip r:embed="rId4"/>
                      <a:srcRect/>
                      <a:stretch>
                        <a:fillRect/>
                      </a:stretch>
                    </p:blipFill>
                    <p:spPr bwMode="auto">
                      <a:xfrm>
                        <a:off x="1628834" y="2878034"/>
                        <a:ext cx="7440092" cy="677376"/>
                      </a:xfrm>
                      <a:prstGeom prst="rect">
                        <a:avLst/>
                      </a:prstGeom>
                      <a:noFill/>
                      <a:ln>
                        <a:noFill/>
                      </a:ln>
                      <a:extLst/>
                    </p:spPr>
                  </p:pic>
                </p:oleObj>
              </mc:Fallback>
            </mc:AlternateContent>
          </a:graphicData>
        </a:graphic>
      </p:graphicFrame>
      <p:graphicFrame>
        <p:nvGraphicFramePr>
          <p:cNvPr id="50183" name="Object 18"/>
          <p:cNvGraphicFramePr>
            <a:graphicFrameLocks noChangeAspect="1"/>
          </p:cNvGraphicFramePr>
          <p:nvPr>
            <p:extLst>
              <p:ext uri="{D42A27DB-BD31-4B8C-83A1-F6EECF244321}">
                <p14:modId xmlns:p14="http://schemas.microsoft.com/office/powerpoint/2010/main" val="1891324478"/>
              </p:ext>
            </p:extLst>
          </p:nvPr>
        </p:nvGraphicFramePr>
        <p:xfrm>
          <a:off x="3616018" y="3436617"/>
          <a:ext cx="2792585" cy="357234"/>
        </p:xfrm>
        <a:graphic>
          <a:graphicData uri="http://schemas.openxmlformats.org/presentationml/2006/ole">
            <mc:AlternateContent xmlns:mc="http://schemas.openxmlformats.org/markup-compatibility/2006">
              <mc:Choice xmlns:v="urn:schemas-microsoft-com:vml" Requires="v">
                <p:oleObj spid="_x0000_s184989" r:id="rId5" imgW="1790700" imgH="228600" progId="Equation.DSMT4">
                  <p:embed/>
                </p:oleObj>
              </mc:Choice>
              <mc:Fallback>
                <p:oleObj r:id="rId5" imgW="1790700" imgH="228600" progId="Equation.DSMT4">
                  <p:embed/>
                  <p:pic>
                    <p:nvPicPr>
                      <p:cNvPr id="50183"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16018" y="3436617"/>
                        <a:ext cx="2792585" cy="357234"/>
                      </a:xfrm>
                      <a:prstGeom prst="rect">
                        <a:avLst/>
                      </a:prstGeom>
                      <a:noFill/>
                      <a:ln>
                        <a:noFill/>
                      </a:ln>
                      <a:extLst/>
                    </p:spPr>
                  </p:pic>
                </p:oleObj>
              </mc:Fallback>
            </mc:AlternateContent>
          </a:graphicData>
        </a:graphic>
      </p:graphicFrame>
      <p:sp>
        <p:nvSpPr>
          <p:cNvPr id="14" name="Rectangle 52"/>
          <p:cNvSpPr>
            <a:spLocks noChangeArrowheads="1"/>
          </p:cNvSpPr>
          <p:nvPr/>
        </p:nvSpPr>
        <p:spPr bwMode="auto">
          <a:xfrm>
            <a:off x="1043608" y="2852936"/>
            <a:ext cx="5147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smtClean="0">
                <a:latin typeface="Times New Roman" panose="02020603050405020304" pitchFamily="18" charset="0"/>
                <a:cs typeface="Times New Roman" panose="02020603050405020304" pitchFamily="18" charset="0"/>
              </a:rPr>
              <a:t>则：</a:t>
            </a:r>
            <a:endParaRPr lang="zh-CN" altLang="en-US" sz="2000" b="1" dirty="0"/>
          </a:p>
        </p:txBody>
      </p:sp>
      <p:sp>
        <p:nvSpPr>
          <p:cNvPr id="15" name="Rectangle 53"/>
          <p:cNvSpPr>
            <a:spLocks noChangeArrowheads="1"/>
          </p:cNvSpPr>
          <p:nvPr/>
        </p:nvSpPr>
        <p:spPr bwMode="auto">
          <a:xfrm>
            <a:off x="1043608" y="3432053"/>
            <a:ext cx="31006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smtClean="0">
                <a:latin typeface="Times New Roman" panose="02020603050405020304" pitchFamily="18" charset="0"/>
                <a:cs typeface="Times New Roman" panose="02020603050405020304" pitchFamily="18" charset="0"/>
              </a:rPr>
              <a:t>决策变量变化范围为：</a:t>
            </a:r>
            <a:endParaRPr lang="zh-CN" altLang="en-US" sz="2000" b="1" dirty="0"/>
          </a:p>
        </p:txBody>
      </p:sp>
      <p:sp>
        <p:nvSpPr>
          <p:cNvPr id="16" name="Rectangle 53"/>
          <p:cNvSpPr>
            <a:spLocks noChangeArrowheads="1"/>
          </p:cNvSpPr>
          <p:nvPr/>
        </p:nvSpPr>
        <p:spPr bwMode="auto">
          <a:xfrm>
            <a:off x="1043608" y="3720085"/>
            <a:ext cx="61923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smtClean="0">
                <a:latin typeface="Times New Roman" panose="02020603050405020304" pitchFamily="18" charset="0"/>
                <a:cs typeface="Times New Roman" panose="02020603050405020304" pitchFamily="18" charset="0"/>
              </a:rPr>
              <a:t>采用顺推解法</a:t>
            </a:r>
            <a:r>
              <a:rPr lang="zh-CN" altLang="en-US" sz="2000" b="1" dirty="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从前向后依次有：</a:t>
            </a:r>
            <a:endParaRPr lang="zh-CN" altLang="en-US" sz="2000" b="1" dirty="0"/>
          </a:p>
        </p:txBody>
      </p:sp>
      <p:graphicFrame>
        <p:nvGraphicFramePr>
          <p:cNvPr id="17" name="Object 35"/>
          <p:cNvGraphicFramePr>
            <a:graphicFrameLocks noChangeAspect="1"/>
          </p:cNvGraphicFramePr>
          <p:nvPr/>
        </p:nvGraphicFramePr>
        <p:xfrm>
          <a:off x="5796433" y="1098984"/>
          <a:ext cx="2879725" cy="1136650"/>
        </p:xfrm>
        <a:graphic>
          <a:graphicData uri="http://schemas.openxmlformats.org/presentationml/2006/ole">
            <mc:AlternateContent xmlns:mc="http://schemas.openxmlformats.org/markup-compatibility/2006">
              <mc:Choice xmlns:v="urn:schemas-microsoft-com:vml" Requires="v">
                <p:oleObj spid="_x0000_s184990" name="Microsoft 公式 3.0" r:id="rId7" imgW="1854200" imgH="736600" progId="Equation.3">
                  <p:embed/>
                </p:oleObj>
              </mc:Choice>
              <mc:Fallback>
                <p:oleObj name="Microsoft 公式 3.0" r:id="rId7" imgW="1854200" imgH="736600" progId="Equation.3">
                  <p:embed/>
                  <p:pic>
                    <p:nvPicPr>
                      <p:cNvPr id="17" name="Object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6433" y="1098984"/>
                        <a:ext cx="2879725"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p:cNvSpPr/>
          <p:nvPr/>
        </p:nvSpPr>
        <p:spPr>
          <a:xfrm>
            <a:off x="1080976" y="2132856"/>
            <a:ext cx="7811503" cy="830997"/>
          </a:xfrm>
          <a:prstGeom prst="rect">
            <a:avLst/>
          </a:prstGeom>
        </p:spPr>
        <p:txBody>
          <a:bodyPr wrap="square">
            <a:spAutoFit/>
          </a:bodyPr>
          <a:lstStyle/>
          <a:p>
            <a:pPr>
              <a:lnSpc>
                <a:spcPct val="120000"/>
              </a:lnSpc>
            </a:pPr>
            <a:r>
              <a:rPr lang="zh-CN" altLang="en-US" b="1" dirty="0">
                <a:latin typeface="Times New Roman" panose="02020603050405020304" pitchFamily="18" charset="0"/>
                <a:cs typeface="Times New Roman" panose="02020603050405020304" pitchFamily="18" charset="0"/>
              </a:rPr>
              <a:t>解： 阶段</a:t>
            </a:r>
            <a:r>
              <a:rPr lang="zh-CN" altLang="en-US" b="1" dirty="0" smtClean="0">
                <a:latin typeface="Times New Roman" panose="02020603050405020304" pitchFamily="18" charset="0"/>
                <a:cs typeface="Times New Roman" panose="02020603050405020304" pitchFamily="18" charset="0"/>
              </a:rPr>
              <a:t>划分，决策变量与状态变量保持不变，设</a:t>
            </a:r>
            <a:r>
              <a:rPr lang="en-US" altLang="zh-CN" b="1" dirty="0" smtClean="0">
                <a:solidFill>
                  <a:srgbClr val="FF0000"/>
                </a:solidFill>
                <a:latin typeface="Times New Roman" panose="02020603050405020304" pitchFamily="18" charset="0"/>
                <a:cs typeface="Times New Roman" panose="02020603050405020304" pitchFamily="18" charset="0"/>
              </a:rPr>
              <a:t>s</a:t>
            </a:r>
            <a:r>
              <a:rPr lang="en-US" altLang="zh-CN" b="1" baseline="-25000" dirty="0" smtClean="0">
                <a:solidFill>
                  <a:srgbClr val="FF0000"/>
                </a:solidFill>
                <a:latin typeface="Times New Roman" panose="02020603050405020304" pitchFamily="18" charset="0"/>
                <a:cs typeface="Times New Roman" panose="02020603050405020304" pitchFamily="18" charset="0"/>
              </a:rPr>
              <a:t>4</a:t>
            </a:r>
            <a:r>
              <a:rPr lang="en-US" altLang="zh-CN" b="1" dirty="0" smtClean="0">
                <a:solidFill>
                  <a:srgbClr val="FF0000"/>
                </a:solidFill>
                <a:latin typeface="Times New Roman" panose="02020603050405020304" pitchFamily="18" charset="0"/>
                <a:cs typeface="Times New Roman" panose="02020603050405020304" pitchFamily="18" charset="0"/>
              </a:rPr>
              <a:t>=c</a:t>
            </a:r>
            <a:r>
              <a:rPr lang="en-US" altLang="zh-CN" b="1" dirty="0" smtClean="0"/>
              <a:t>,</a:t>
            </a:r>
            <a:r>
              <a:rPr lang="zh-CN" altLang="en-US" b="1" dirty="0" smtClean="0"/>
              <a:t> 最优值函数</a:t>
            </a:r>
            <a:r>
              <a:rPr lang="en-US" altLang="zh-CN" b="1" i="1" dirty="0" err="1" smtClean="0">
                <a:latin typeface="Times New Roman" panose="02020603050405020304" pitchFamily="18" charset="0"/>
                <a:cs typeface="Times New Roman" panose="02020603050405020304" pitchFamily="18" charset="0"/>
              </a:rPr>
              <a:t>f</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k+1</a:t>
            </a:r>
            <a:r>
              <a:rPr lang="en-US" altLang="zh-CN" b="1" dirty="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表示</a:t>
            </a:r>
            <a:r>
              <a:rPr lang="en-US" altLang="zh-CN" b="1" i="1" dirty="0" smtClean="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阶段</a:t>
            </a:r>
            <a:r>
              <a:rPr lang="zh-CN" altLang="en-US" b="1" dirty="0" smtClean="0">
                <a:solidFill>
                  <a:srgbClr val="FF0000"/>
                </a:solidFill>
                <a:latin typeface="Times New Roman" panose="02020603050405020304" pitchFamily="18" charset="0"/>
                <a:cs typeface="Times New Roman" panose="02020603050405020304" pitchFamily="18" charset="0"/>
              </a:rPr>
              <a:t>末</a:t>
            </a:r>
            <a:r>
              <a:rPr lang="zh-CN" altLang="en-US" b="1" dirty="0" smtClean="0">
                <a:latin typeface="Times New Roman" panose="02020603050405020304" pitchFamily="18" charset="0"/>
                <a:cs typeface="Times New Roman" panose="02020603050405020304" pitchFamily="18" charset="0"/>
              </a:rPr>
              <a:t>状态</a:t>
            </a:r>
            <a:r>
              <a:rPr lang="zh-CN" altLang="en-US" b="1" dirty="0">
                <a:latin typeface="Times New Roman" panose="02020603050405020304" pitchFamily="18" charset="0"/>
                <a:cs typeface="Times New Roman" panose="02020603050405020304" pitchFamily="18" charset="0"/>
              </a:rPr>
              <a:t>为</a:t>
            </a:r>
            <a:r>
              <a:rPr lang="en-US" altLang="zh-CN" b="1" i="1" dirty="0">
                <a:latin typeface="Times New Roman" panose="02020603050405020304" pitchFamily="18" charset="0"/>
                <a:cs typeface="Times New Roman" panose="02020603050405020304" pitchFamily="18" charset="0"/>
              </a:rPr>
              <a:t>s</a:t>
            </a:r>
            <a:r>
              <a:rPr lang="en-US" altLang="zh-CN" b="1" i="1" baseline="-25000" dirty="0">
                <a:latin typeface="Times New Roman" panose="02020603050405020304" pitchFamily="18" charset="0"/>
                <a:cs typeface="Times New Roman" panose="02020603050405020304" pitchFamily="18" charset="0"/>
              </a:rPr>
              <a:t>k+1</a:t>
            </a:r>
            <a:r>
              <a:rPr lang="zh-CN" altLang="en-US" b="1" dirty="0">
                <a:latin typeface="Times New Roman" panose="02020603050405020304" pitchFamily="18" charset="0"/>
                <a:cs typeface="Times New Roman" panose="02020603050405020304" pitchFamily="18" charset="0"/>
              </a:rPr>
              <a:t>时从</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阶段到</a:t>
            </a:r>
            <a:r>
              <a:rPr lang="en-US" altLang="zh-CN" b="1" i="1" dirty="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阶段的</a:t>
            </a:r>
            <a:r>
              <a:rPr lang="zh-CN" altLang="en-US" b="1" dirty="0">
                <a:latin typeface="Times New Roman" panose="02020603050405020304" pitchFamily="18" charset="0"/>
                <a:cs typeface="Times New Roman" panose="02020603050405020304" pitchFamily="18" charset="0"/>
              </a:rPr>
              <a:t>最大值。</a:t>
            </a:r>
          </a:p>
        </p:txBody>
      </p:sp>
      <p:cxnSp>
        <p:nvCxnSpPr>
          <p:cNvPr id="19" name="直接连接符 18"/>
          <p:cNvCxnSpPr/>
          <p:nvPr/>
        </p:nvCxnSpPr>
        <p:spPr bwMode="auto">
          <a:xfrm flipV="1">
            <a:off x="395536" y="4174853"/>
            <a:ext cx="8424936" cy="71564"/>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Rectangle 24"/>
          <p:cNvSpPr>
            <a:spLocks noChangeArrowheads="1"/>
          </p:cNvSpPr>
          <p:nvPr/>
        </p:nvSpPr>
        <p:spPr bwMode="auto">
          <a:xfrm>
            <a:off x="3723964" y="6038600"/>
            <a:ext cx="12186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最大值</a:t>
            </a:r>
            <a:r>
              <a:rPr lang="zh-CN" altLang="en-US" sz="2000" b="1" dirty="0" smtClean="0">
                <a:latin typeface="Times New Roman" panose="02020603050405020304" pitchFamily="18" charset="0"/>
                <a:cs typeface="Times New Roman" panose="02020603050405020304" pitchFamily="18" charset="0"/>
              </a:rPr>
              <a:t>为</a:t>
            </a:r>
            <a:endParaRPr lang="zh-CN" altLang="en-US" sz="2000" b="1" dirty="0"/>
          </a:p>
        </p:txBody>
      </p:sp>
      <p:sp>
        <p:nvSpPr>
          <p:cNvPr id="43" name="Rectangle 53"/>
          <p:cNvSpPr>
            <a:spLocks noChangeArrowheads="1"/>
          </p:cNvSpPr>
          <p:nvPr/>
        </p:nvSpPr>
        <p:spPr bwMode="auto">
          <a:xfrm>
            <a:off x="1187624" y="4251895"/>
            <a:ext cx="61923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i="1" dirty="0" smtClean="0">
                <a:latin typeface="Times New Roman" panose="02020603050405020304" pitchFamily="18" charset="0"/>
                <a:cs typeface="Times New Roman" panose="02020603050405020304" pitchFamily="18" charset="0"/>
              </a:rPr>
              <a:t>k</a:t>
            </a:r>
            <a:r>
              <a:rPr lang="en-US" altLang="zh-CN" sz="2000" b="1" dirty="0" smtClean="0">
                <a:latin typeface="Times New Roman" panose="02020603050405020304" pitchFamily="18" charset="0"/>
                <a:cs typeface="Times New Roman" panose="02020603050405020304" pitchFamily="18" charset="0"/>
              </a:rPr>
              <a:t>=1:</a:t>
            </a:r>
            <a:endParaRPr lang="zh-CN" altLang="en-US" sz="2000" b="1" dirty="0"/>
          </a:p>
        </p:txBody>
      </p:sp>
      <p:sp>
        <p:nvSpPr>
          <p:cNvPr id="46" name="Rectangle 24"/>
          <p:cNvSpPr>
            <a:spLocks noChangeArrowheads="1"/>
          </p:cNvSpPr>
          <p:nvPr/>
        </p:nvSpPr>
        <p:spPr bwMode="auto">
          <a:xfrm>
            <a:off x="3912471" y="4239318"/>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000" b="1" dirty="0" smtClean="0">
                <a:latin typeface="Times New Roman" panose="02020603050405020304" pitchFamily="18" charset="0"/>
                <a:cs typeface="Times New Roman" panose="02020603050405020304" pitchFamily="18" charset="0"/>
              </a:rPr>
              <a:t>最优解</a:t>
            </a:r>
            <a:r>
              <a:rPr lang="zh-CN" altLang="en-US" sz="2000" b="1" dirty="0">
                <a:latin typeface="Times New Roman" panose="02020603050405020304" pitchFamily="18" charset="0"/>
                <a:cs typeface="Times New Roman" panose="02020603050405020304" pitchFamily="18" charset="0"/>
              </a:rPr>
              <a:t>为</a:t>
            </a:r>
            <a:endParaRPr lang="zh-CN" altLang="en-US" sz="2000" b="1" dirty="0"/>
          </a:p>
        </p:txBody>
      </p:sp>
      <p:sp>
        <p:nvSpPr>
          <p:cNvPr id="47" name="Rectangle 53"/>
          <p:cNvSpPr>
            <a:spLocks noChangeArrowheads="1"/>
          </p:cNvSpPr>
          <p:nvPr/>
        </p:nvSpPr>
        <p:spPr bwMode="auto">
          <a:xfrm>
            <a:off x="1189219" y="4734127"/>
            <a:ext cx="61923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i="1" dirty="0" smtClean="0">
                <a:latin typeface="Times New Roman" panose="02020603050405020304" pitchFamily="18" charset="0"/>
                <a:cs typeface="Times New Roman" panose="02020603050405020304" pitchFamily="18" charset="0"/>
              </a:rPr>
              <a:t>k</a:t>
            </a:r>
            <a:r>
              <a:rPr lang="en-US" altLang="zh-CN" sz="2000" b="1" dirty="0" smtClean="0">
                <a:latin typeface="Times New Roman" panose="02020603050405020304" pitchFamily="18" charset="0"/>
                <a:cs typeface="Times New Roman" panose="02020603050405020304" pitchFamily="18" charset="0"/>
              </a:rPr>
              <a:t>=2:</a:t>
            </a:r>
            <a:endParaRPr lang="zh-CN" altLang="en-US" sz="2000" b="1" dirty="0"/>
          </a:p>
        </p:txBody>
      </p:sp>
      <p:graphicFrame>
        <p:nvGraphicFramePr>
          <p:cNvPr id="64" name="Object 11"/>
          <p:cNvGraphicFramePr>
            <a:graphicFrameLocks noChangeAspect="1"/>
          </p:cNvGraphicFramePr>
          <p:nvPr>
            <p:extLst>
              <p:ext uri="{D42A27DB-BD31-4B8C-83A1-F6EECF244321}">
                <p14:modId xmlns:p14="http://schemas.microsoft.com/office/powerpoint/2010/main" val="2575748698"/>
              </p:ext>
            </p:extLst>
          </p:nvPr>
        </p:nvGraphicFramePr>
        <p:xfrm>
          <a:off x="7769225" y="4624388"/>
          <a:ext cx="947738" cy="563562"/>
        </p:xfrm>
        <a:graphic>
          <a:graphicData uri="http://schemas.openxmlformats.org/presentationml/2006/ole">
            <mc:AlternateContent xmlns:mc="http://schemas.openxmlformats.org/markup-compatibility/2006">
              <mc:Choice xmlns:v="urn:schemas-microsoft-com:vml" Requires="v">
                <p:oleObj spid="_x0000_s184991" name="Equation" r:id="rId9" imgW="558720" imgH="393480" progId="Equation.DSMT4">
                  <p:embed/>
                </p:oleObj>
              </mc:Choice>
              <mc:Fallback>
                <p:oleObj name="Equation" r:id="rId9" imgW="558720" imgH="393480" progId="Equation.DSMT4">
                  <p:embed/>
                  <p:pic>
                    <p:nvPicPr>
                      <p:cNvPr id="41" name="Object 11"/>
                      <p:cNvPicPr>
                        <a:picLocks noChangeAspect="1" noChangeArrowheads="1"/>
                      </p:cNvPicPr>
                      <p:nvPr/>
                    </p:nvPicPr>
                    <p:blipFill>
                      <a:blip r:embed="rId10"/>
                      <a:srcRect/>
                      <a:stretch>
                        <a:fillRect/>
                      </a:stretch>
                    </p:blipFill>
                    <p:spPr bwMode="auto">
                      <a:xfrm>
                        <a:off x="7769225" y="4624388"/>
                        <a:ext cx="947738" cy="563562"/>
                      </a:xfrm>
                      <a:prstGeom prst="rect">
                        <a:avLst/>
                      </a:prstGeom>
                      <a:noFill/>
                      <a:ln>
                        <a:noFill/>
                      </a:ln>
                      <a:extLst/>
                    </p:spPr>
                  </p:pic>
                </p:oleObj>
              </mc:Fallback>
            </mc:AlternateContent>
          </a:graphicData>
        </a:graphic>
      </p:graphicFrame>
      <p:sp>
        <p:nvSpPr>
          <p:cNvPr id="65" name="Rectangle 34"/>
          <p:cNvSpPr>
            <a:spLocks noChangeArrowheads="1"/>
          </p:cNvSpPr>
          <p:nvPr/>
        </p:nvSpPr>
        <p:spPr bwMode="auto">
          <a:xfrm>
            <a:off x="6644035" y="4726184"/>
            <a:ext cx="12300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smtClean="0">
                <a:cs typeface="Courier New" panose="02070309020205020404" pitchFamily="49" charset="0"/>
              </a:rPr>
              <a:t>最优解为</a:t>
            </a:r>
            <a:endParaRPr lang="zh-CN" altLang="en-US" sz="2000" b="1" dirty="0"/>
          </a:p>
        </p:txBody>
      </p:sp>
      <p:graphicFrame>
        <p:nvGraphicFramePr>
          <p:cNvPr id="72" name="Object 18"/>
          <p:cNvGraphicFramePr>
            <a:graphicFrameLocks noChangeAspect="1"/>
          </p:cNvGraphicFramePr>
          <p:nvPr>
            <p:extLst>
              <p:ext uri="{D42A27DB-BD31-4B8C-83A1-F6EECF244321}">
                <p14:modId xmlns:p14="http://schemas.microsoft.com/office/powerpoint/2010/main" val="2887208554"/>
              </p:ext>
            </p:extLst>
          </p:nvPr>
        </p:nvGraphicFramePr>
        <p:xfrm>
          <a:off x="1880364" y="4295442"/>
          <a:ext cx="1988030" cy="427619"/>
        </p:xfrm>
        <a:graphic>
          <a:graphicData uri="http://schemas.openxmlformats.org/presentationml/2006/ole">
            <mc:AlternateContent xmlns:mc="http://schemas.openxmlformats.org/markup-compatibility/2006">
              <mc:Choice xmlns:v="urn:schemas-microsoft-com:vml" Requires="v">
                <p:oleObj spid="_x0000_s184992" r:id="rId11" imgW="1371600" imgH="292100" progId="Equation.DSMT4">
                  <p:embed/>
                </p:oleObj>
              </mc:Choice>
              <mc:Fallback>
                <p:oleObj r:id="rId11" imgW="1371600" imgH="292100" progId="Equation.DSMT4">
                  <p:embed/>
                  <p:pic>
                    <p:nvPicPr>
                      <p:cNvPr id="51205"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80364" y="4295442"/>
                        <a:ext cx="1988030" cy="427619"/>
                      </a:xfrm>
                      <a:prstGeom prst="rect">
                        <a:avLst/>
                      </a:prstGeom>
                      <a:noFill/>
                      <a:ln>
                        <a:noFill/>
                      </a:ln>
                    </p:spPr>
                  </p:pic>
                </p:oleObj>
              </mc:Fallback>
            </mc:AlternateContent>
          </a:graphicData>
        </a:graphic>
      </p:graphicFrame>
      <p:graphicFrame>
        <p:nvGraphicFramePr>
          <p:cNvPr id="73" name="Object 17"/>
          <p:cNvGraphicFramePr>
            <a:graphicFrameLocks noChangeAspect="1"/>
          </p:cNvGraphicFramePr>
          <p:nvPr>
            <p:extLst>
              <p:ext uri="{D42A27DB-BD31-4B8C-83A1-F6EECF244321}">
                <p14:modId xmlns:p14="http://schemas.microsoft.com/office/powerpoint/2010/main" val="1004028437"/>
              </p:ext>
            </p:extLst>
          </p:nvPr>
        </p:nvGraphicFramePr>
        <p:xfrm>
          <a:off x="5097350" y="4215620"/>
          <a:ext cx="792163" cy="420687"/>
        </p:xfrm>
        <a:graphic>
          <a:graphicData uri="http://schemas.openxmlformats.org/presentationml/2006/ole">
            <mc:AlternateContent xmlns:mc="http://schemas.openxmlformats.org/markup-compatibility/2006">
              <mc:Choice xmlns:v="urn:schemas-microsoft-com:vml" Requires="v">
                <p:oleObj spid="_x0000_s184993" r:id="rId13" imgW="444307" imgH="241195" progId="Equation.DSMT4">
                  <p:embed/>
                </p:oleObj>
              </mc:Choice>
              <mc:Fallback>
                <p:oleObj r:id="rId13" imgW="444307" imgH="241195" progId="Equation.DSMT4">
                  <p:embed/>
                  <p:pic>
                    <p:nvPicPr>
                      <p:cNvPr id="51206"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97350" y="4215620"/>
                        <a:ext cx="792163"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 name="Object 16"/>
          <p:cNvGraphicFramePr>
            <a:graphicFrameLocks noChangeAspect="1"/>
          </p:cNvGraphicFramePr>
          <p:nvPr>
            <p:extLst>
              <p:ext uri="{D42A27DB-BD31-4B8C-83A1-F6EECF244321}">
                <p14:modId xmlns:p14="http://schemas.microsoft.com/office/powerpoint/2010/main" val="1741711822"/>
              </p:ext>
            </p:extLst>
          </p:nvPr>
        </p:nvGraphicFramePr>
        <p:xfrm>
          <a:off x="1860455" y="4606901"/>
          <a:ext cx="4632194" cy="544782"/>
        </p:xfrm>
        <a:graphic>
          <a:graphicData uri="http://schemas.openxmlformats.org/presentationml/2006/ole">
            <mc:AlternateContent xmlns:mc="http://schemas.openxmlformats.org/markup-compatibility/2006">
              <mc:Choice xmlns:v="urn:schemas-microsoft-com:vml" Requires="v">
                <p:oleObj spid="_x0000_s184994" r:id="rId15" imgW="3314700" imgH="393700" progId="Equation.DSMT4">
                  <p:embed/>
                </p:oleObj>
              </mc:Choice>
              <mc:Fallback>
                <p:oleObj r:id="rId15" imgW="3314700" imgH="393700" progId="Equation.DSMT4">
                  <p:embed/>
                  <p:pic>
                    <p:nvPicPr>
                      <p:cNvPr id="51207"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60455" y="4606901"/>
                        <a:ext cx="4632194" cy="544782"/>
                      </a:xfrm>
                      <a:prstGeom prst="rect">
                        <a:avLst/>
                      </a:prstGeom>
                      <a:noFill/>
                      <a:ln>
                        <a:noFill/>
                      </a:ln>
                    </p:spPr>
                  </p:pic>
                </p:oleObj>
              </mc:Fallback>
            </mc:AlternateContent>
          </a:graphicData>
        </a:graphic>
      </p:graphicFrame>
      <p:sp>
        <p:nvSpPr>
          <p:cNvPr id="75" name="Rectangle 53"/>
          <p:cNvSpPr>
            <a:spLocks noChangeArrowheads="1"/>
          </p:cNvSpPr>
          <p:nvPr/>
        </p:nvSpPr>
        <p:spPr bwMode="auto">
          <a:xfrm>
            <a:off x="1187624" y="5182474"/>
            <a:ext cx="61923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i="1" dirty="0" smtClean="0">
                <a:latin typeface="Times New Roman" panose="02020603050405020304" pitchFamily="18" charset="0"/>
                <a:cs typeface="Times New Roman" panose="02020603050405020304" pitchFamily="18" charset="0"/>
              </a:rPr>
              <a:t>k</a:t>
            </a:r>
            <a:r>
              <a:rPr lang="en-US" altLang="zh-CN" sz="2000" b="1" dirty="0" smtClean="0">
                <a:latin typeface="Times New Roman" panose="02020603050405020304" pitchFamily="18" charset="0"/>
                <a:cs typeface="Times New Roman" panose="02020603050405020304" pitchFamily="18" charset="0"/>
              </a:rPr>
              <a:t>=3:</a:t>
            </a:r>
            <a:endParaRPr lang="zh-CN" altLang="en-US" sz="2000" b="1" dirty="0"/>
          </a:p>
        </p:txBody>
      </p:sp>
      <p:sp>
        <p:nvSpPr>
          <p:cNvPr id="77" name="Rectangle 34"/>
          <p:cNvSpPr>
            <a:spLocks noChangeArrowheads="1"/>
          </p:cNvSpPr>
          <p:nvPr/>
        </p:nvSpPr>
        <p:spPr bwMode="auto">
          <a:xfrm>
            <a:off x="6642440" y="5174531"/>
            <a:ext cx="12300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smtClean="0">
                <a:cs typeface="Courier New" panose="02070309020205020404" pitchFamily="49" charset="0"/>
              </a:rPr>
              <a:t>最优解为</a:t>
            </a:r>
            <a:endParaRPr lang="zh-CN" altLang="en-US" sz="2000" b="1" dirty="0"/>
          </a:p>
        </p:txBody>
      </p:sp>
      <p:graphicFrame>
        <p:nvGraphicFramePr>
          <p:cNvPr id="79" name="Object 14"/>
          <p:cNvGraphicFramePr>
            <a:graphicFrameLocks noChangeAspect="1"/>
          </p:cNvGraphicFramePr>
          <p:nvPr>
            <p:extLst>
              <p:ext uri="{D42A27DB-BD31-4B8C-83A1-F6EECF244321}">
                <p14:modId xmlns:p14="http://schemas.microsoft.com/office/powerpoint/2010/main" val="3447648214"/>
              </p:ext>
            </p:extLst>
          </p:nvPr>
        </p:nvGraphicFramePr>
        <p:xfrm>
          <a:off x="1892559" y="5102483"/>
          <a:ext cx="4537075" cy="565150"/>
        </p:xfrm>
        <a:graphic>
          <a:graphicData uri="http://schemas.openxmlformats.org/presentationml/2006/ole">
            <mc:AlternateContent xmlns:mc="http://schemas.openxmlformats.org/markup-compatibility/2006">
              <mc:Choice xmlns:v="urn:schemas-microsoft-com:vml" Requires="v">
                <p:oleObj spid="_x0000_s184995" r:id="rId17" imgW="3492500" imgH="431800" progId="Equation.DSMT4">
                  <p:embed/>
                </p:oleObj>
              </mc:Choice>
              <mc:Fallback>
                <p:oleObj r:id="rId17" imgW="3492500" imgH="431800" progId="Equation.DSMT4">
                  <p:embed/>
                  <p:pic>
                    <p:nvPicPr>
                      <p:cNvPr id="51209" name="Object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92559" y="5102483"/>
                        <a:ext cx="4537075"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0" name="Object 13"/>
          <p:cNvGraphicFramePr>
            <a:graphicFrameLocks noChangeAspect="1"/>
          </p:cNvGraphicFramePr>
          <p:nvPr>
            <p:extLst>
              <p:ext uri="{D42A27DB-BD31-4B8C-83A1-F6EECF244321}">
                <p14:modId xmlns:p14="http://schemas.microsoft.com/office/powerpoint/2010/main" val="3003098570"/>
              </p:ext>
            </p:extLst>
          </p:nvPr>
        </p:nvGraphicFramePr>
        <p:xfrm>
          <a:off x="7823200" y="5118100"/>
          <a:ext cx="838200" cy="568325"/>
        </p:xfrm>
        <a:graphic>
          <a:graphicData uri="http://schemas.openxmlformats.org/presentationml/2006/ole">
            <mc:AlternateContent xmlns:mc="http://schemas.openxmlformats.org/markup-compatibility/2006">
              <mc:Choice xmlns:v="urn:schemas-microsoft-com:vml" Requires="v">
                <p:oleObj spid="_x0000_s184996" name="Equation" r:id="rId19" imgW="571320" imgH="393480" progId="Equation.DSMT4">
                  <p:embed/>
                </p:oleObj>
              </mc:Choice>
              <mc:Fallback>
                <p:oleObj name="Equation" r:id="rId19" imgW="571320" imgH="393480" progId="Equation.DSMT4">
                  <p:embed/>
                  <p:pic>
                    <p:nvPicPr>
                      <p:cNvPr id="51210" name="Object 13"/>
                      <p:cNvPicPr>
                        <a:picLocks noChangeAspect="1" noChangeArrowheads="1"/>
                      </p:cNvPicPr>
                      <p:nvPr/>
                    </p:nvPicPr>
                    <p:blipFill>
                      <a:blip r:embed="rId20"/>
                      <a:srcRect/>
                      <a:stretch>
                        <a:fillRect/>
                      </a:stretch>
                    </p:blipFill>
                    <p:spPr bwMode="auto">
                      <a:xfrm>
                        <a:off x="7823200" y="5118100"/>
                        <a:ext cx="838200" cy="568325"/>
                      </a:xfrm>
                      <a:prstGeom prst="rect">
                        <a:avLst/>
                      </a:prstGeom>
                      <a:noFill/>
                      <a:ln>
                        <a:noFill/>
                      </a:ln>
                    </p:spPr>
                  </p:pic>
                </p:oleObj>
              </mc:Fallback>
            </mc:AlternateContent>
          </a:graphicData>
        </a:graphic>
      </p:graphicFrame>
      <p:sp>
        <p:nvSpPr>
          <p:cNvPr id="81" name="Rectangle 34"/>
          <p:cNvSpPr>
            <a:spLocks noChangeArrowheads="1"/>
          </p:cNvSpPr>
          <p:nvPr/>
        </p:nvSpPr>
        <p:spPr bwMode="auto">
          <a:xfrm>
            <a:off x="1173251" y="5632039"/>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由于已知</a:t>
            </a:r>
            <a:endParaRPr lang="zh-CN" altLang="en-US" sz="2000" b="1" dirty="0"/>
          </a:p>
        </p:txBody>
      </p:sp>
      <p:sp>
        <p:nvSpPr>
          <p:cNvPr id="83" name="Rectangle 35"/>
          <p:cNvSpPr>
            <a:spLocks noChangeArrowheads="1"/>
          </p:cNvSpPr>
          <p:nvPr/>
        </p:nvSpPr>
        <p:spPr bwMode="auto">
          <a:xfrm>
            <a:off x="2907219" y="5632039"/>
            <a:ext cx="5674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smtClean="0">
                <a:latin typeface="Times New Roman" panose="02020603050405020304" pitchFamily="18" charset="0"/>
                <a:cs typeface="Times New Roman" panose="02020603050405020304" pitchFamily="18" charset="0"/>
              </a:rPr>
              <a:t>，反序推算</a:t>
            </a:r>
            <a:r>
              <a:rPr lang="zh-CN" altLang="en-US" sz="2000" b="1" dirty="0">
                <a:latin typeface="Times New Roman" panose="02020603050405020304" pitchFamily="18" charset="0"/>
                <a:cs typeface="Times New Roman" panose="02020603050405020304" pitchFamily="18" charset="0"/>
              </a:rPr>
              <a:t>，可得各阶段的最优决策和最优值。</a:t>
            </a:r>
            <a:r>
              <a:rPr lang="zh-CN" altLang="en-US" sz="2000" b="1" dirty="0"/>
              <a:t> </a:t>
            </a:r>
          </a:p>
        </p:txBody>
      </p:sp>
      <p:graphicFrame>
        <p:nvGraphicFramePr>
          <p:cNvPr id="86" name="Object 12"/>
          <p:cNvGraphicFramePr>
            <a:graphicFrameLocks noChangeAspect="1"/>
          </p:cNvGraphicFramePr>
          <p:nvPr>
            <p:extLst>
              <p:ext uri="{D42A27DB-BD31-4B8C-83A1-F6EECF244321}">
                <p14:modId xmlns:p14="http://schemas.microsoft.com/office/powerpoint/2010/main" val="2095105570"/>
              </p:ext>
            </p:extLst>
          </p:nvPr>
        </p:nvGraphicFramePr>
        <p:xfrm>
          <a:off x="2299582" y="5647915"/>
          <a:ext cx="647700" cy="379412"/>
        </p:xfrm>
        <a:graphic>
          <a:graphicData uri="http://schemas.openxmlformats.org/presentationml/2006/ole">
            <mc:AlternateContent xmlns:mc="http://schemas.openxmlformats.org/markup-compatibility/2006">
              <mc:Choice xmlns:v="urn:schemas-microsoft-com:vml" Requires="v">
                <p:oleObj spid="_x0000_s184997" r:id="rId21" imgW="393529" imgH="228501" progId="Equation.DSMT4">
                  <p:embed/>
                </p:oleObj>
              </mc:Choice>
              <mc:Fallback>
                <p:oleObj r:id="rId21" imgW="393529" imgH="228501" progId="Equation.DSMT4">
                  <p:embed/>
                  <p:pic>
                    <p:nvPicPr>
                      <p:cNvPr id="51211"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299582" y="5647915"/>
                        <a:ext cx="6477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 name="Object 10"/>
          <p:cNvGraphicFramePr>
            <a:graphicFrameLocks noChangeAspect="1"/>
          </p:cNvGraphicFramePr>
          <p:nvPr>
            <p:extLst>
              <p:ext uri="{D42A27DB-BD31-4B8C-83A1-F6EECF244321}">
                <p14:modId xmlns:p14="http://schemas.microsoft.com/office/powerpoint/2010/main" val="3178878850"/>
              </p:ext>
            </p:extLst>
          </p:nvPr>
        </p:nvGraphicFramePr>
        <p:xfrm>
          <a:off x="4942867" y="5996538"/>
          <a:ext cx="1203961" cy="520345"/>
        </p:xfrm>
        <a:graphic>
          <a:graphicData uri="http://schemas.openxmlformats.org/presentationml/2006/ole">
            <mc:AlternateContent xmlns:mc="http://schemas.openxmlformats.org/markup-compatibility/2006">
              <mc:Choice xmlns:v="urn:schemas-microsoft-com:vml" Requires="v">
                <p:oleObj spid="_x0000_s184998" r:id="rId23" imgW="901309" imgH="393529" progId="Equation.DSMT4">
                  <p:embed/>
                </p:oleObj>
              </mc:Choice>
              <mc:Fallback>
                <p:oleObj r:id="rId23" imgW="901309" imgH="393529" progId="Equation.DSMT4">
                  <p:embed/>
                  <p:pic>
                    <p:nvPicPr>
                      <p:cNvPr id="51213" name="Object 1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942867" y="5996538"/>
                        <a:ext cx="1203961" cy="520345"/>
                      </a:xfrm>
                      <a:prstGeom prst="rect">
                        <a:avLst/>
                      </a:prstGeom>
                      <a:noFill/>
                      <a:ln>
                        <a:noFill/>
                      </a:ln>
                    </p:spPr>
                  </p:pic>
                </p:oleObj>
              </mc:Fallback>
            </mc:AlternateContent>
          </a:graphicData>
        </a:graphic>
      </p:graphicFrame>
      <p:graphicFrame>
        <p:nvGraphicFramePr>
          <p:cNvPr id="88" name="Object 11"/>
          <p:cNvGraphicFramePr>
            <a:graphicFrameLocks noChangeAspect="1"/>
          </p:cNvGraphicFramePr>
          <p:nvPr>
            <p:extLst>
              <p:ext uri="{D42A27DB-BD31-4B8C-83A1-F6EECF244321}">
                <p14:modId xmlns:p14="http://schemas.microsoft.com/office/powerpoint/2010/main" val="2220887056"/>
              </p:ext>
            </p:extLst>
          </p:nvPr>
        </p:nvGraphicFramePr>
        <p:xfrm>
          <a:off x="1297389" y="5980280"/>
          <a:ext cx="2194491" cy="545064"/>
        </p:xfrm>
        <a:graphic>
          <a:graphicData uri="http://schemas.openxmlformats.org/presentationml/2006/ole">
            <mc:AlternateContent xmlns:mc="http://schemas.openxmlformats.org/markup-compatibility/2006">
              <mc:Choice xmlns:v="urn:schemas-microsoft-com:vml" Requires="v">
                <p:oleObj spid="_x0000_s184999" r:id="rId25" imgW="1574800" imgH="393700" progId="Equation.DSMT4">
                  <p:embed/>
                </p:oleObj>
              </mc:Choice>
              <mc:Fallback>
                <p:oleObj r:id="rId25" imgW="1574800" imgH="393700" progId="Equation.DSMT4">
                  <p:embed/>
                  <p:pic>
                    <p:nvPicPr>
                      <p:cNvPr id="51212" name="Object 1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297389" y="5980280"/>
                        <a:ext cx="2194491" cy="54506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2640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8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3" grpId="0"/>
      <p:bldP spid="40" grpId="0"/>
      <p:bldP spid="43" grpId="0"/>
      <p:bldP spid="46" grpId="0"/>
      <p:bldP spid="47" grpId="0"/>
      <p:bldP spid="65" grpId="0"/>
      <p:bldP spid="75" grpId="0"/>
      <p:bldP spid="77" grpId="0"/>
      <p:bldP spid="81" grpId="0"/>
      <p:bldP spid="8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p:nvPr>
        </p:nvSpPr>
        <p:spPr/>
        <p:txBody>
          <a:bodyPr/>
          <a:lstStyle/>
          <a:p>
            <a:pPr eaLnBrk="1" hangingPunct="1"/>
            <a:r>
              <a:rPr lang="en-US" altLang="zh-CN" dirty="0"/>
              <a:t>8.3.2  </a:t>
            </a:r>
            <a:r>
              <a:rPr lang="zh-CN" altLang="en-US" dirty="0"/>
              <a:t>顺推解法</a:t>
            </a:r>
          </a:p>
        </p:txBody>
      </p:sp>
      <p:sp>
        <p:nvSpPr>
          <p:cNvPr id="2" name="内容占位符 1"/>
          <p:cNvSpPr>
            <a:spLocks noGrp="1"/>
          </p:cNvSpPr>
          <p:nvPr>
            <p:ph idx="1"/>
          </p:nvPr>
        </p:nvSpPr>
        <p:spPr>
          <a:xfrm>
            <a:off x="539552" y="1337268"/>
            <a:ext cx="8280920" cy="904863"/>
          </a:xfrm>
        </p:spPr>
        <p:txBody>
          <a:bodyPr/>
          <a:lstStyle/>
          <a:p>
            <a:r>
              <a:rPr lang="zh-CN" altLang="en-US" dirty="0" smtClean="0"/>
              <a:t>增例</a:t>
            </a:r>
            <a:r>
              <a:rPr lang="en-US" altLang="zh-CN" dirty="0" smtClean="0"/>
              <a:t>1</a:t>
            </a:r>
            <a:r>
              <a:rPr lang="zh-CN" altLang="en-US" dirty="0" smtClean="0"/>
              <a:t>：用</a:t>
            </a:r>
            <a:r>
              <a:rPr lang="zh-CN" altLang="en-US" dirty="0"/>
              <a:t>动态规划方法解下面问题</a:t>
            </a:r>
          </a:p>
          <a:p>
            <a:endParaRPr lang="zh-CN" altLang="en-US" dirty="0"/>
          </a:p>
        </p:txBody>
      </p:sp>
      <p:sp>
        <p:nvSpPr>
          <p:cNvPr id="53251"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E748B31-8EFF-4B54-9E2A-C85278F47A4A}" type="slidenum">
              <a:rPr lang="en-US" altLang="zh-CN" sz="1000"/>
              <a:pPr>
                <a:spcBef>
                  <a:spcPct val="0"/>
                </a:spcBef>
                <a:buClrTx/>
                <a:buSzTx/>
                <a:buFontTx/>
                <a:buNone/>
              </a:pPr>
              <a:t>42</a:t>
            </a:fld>
            <a:endParaRPr lang="en-US" altLang="zh-CN" sz="1000"/>
          </a:p>
        </p:txBody>
      </p:sp>
      <p:graphicFrame>
        <p:nvGraphicFramePr>
          <p:cNvPr id="53253" name="Object 27"/>
          <p:cNvGraphicFramePr>
            <a:graphicFrameLocks noChangeAspect="1"/>
          </p:cNvGraphicFramePr>
          <p:nvPr>
            <p:extLst>
              <p:ext uri="{D42A27DB-BD31-4B8C-83A1-F6EECF244321}">
                <p14:modId xmlns:p14="http://schemas.microsoft.com/office/powerpoint/2010/main" val="4145144662"/>
              </p:ext>
            </p:extLst>
          </p:nvPr>
        </p:nvGraphicFramePr>
        <p:xfrm>
          <a:off x="1590922" y="1765073"/>
          <a:ext cx="3095625" cy="1289050"/>
        </p:xfrm>
        <a:graphic>
          <a:graphicData uri="http://schemas.openxmlformats.org/presentationml/2006/ole">
            <mc:AlternateContent xmlns:mc="http://schemas.openxmlformats.org/markup-compatibility/2006">
              <mc:Choice xmlns:v="urn:schemas-microsoft-com:vml" Requires="v">
                <p:oleObj spid="_x0000_s194715" r:id="rId3" imgW="1765300" imgH="736600" progId="Equation.DSMT4">
                  <p:embed/>
                </p:oleObj>
              </mc:Choice>
              <mc:Fallback>
                <p:oleObj r:id="rId3" imgW="1765300" imgH="736600" progId="Equation.DSMT4">
                  <p:embed/>
                  <p:pic>
                    <p:nvPicPr>
                      <p:cNvPr id="53253"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0922" y="1765073"/>
                        <a:ext cx="3095625"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5" name="Object 37"/>
          <p:cNvGraphicFramePr>
            <a:graphicFrameLocks noChangeAspect="1"/>
          </p:cNvGraphicFramePr>
          <p:nvPr>
            <p:extLst>
              <p:ext uri="{D42A27DB-BD31-4B8C-83A1-F6EECF244321}">
                <p14:modId xmlns:p14="http://schemas.microsoft.com/office/powerpoint/2010/main" val="774192165"/>
              </p:ext>
            </p:extLst>
          </p:nvPr>
        </p:nvGraphicFramePr>
        <p:xfrm>
          <a:off x="1474515" y="5371598"/>
          <a:ext cx="4465637" cy="436563"/>
        </p:xfrm>
        <a:graphic>
          <a:graphicData uri="http://schemas.openxmlformats.org/presentationml/2006/ole">
            <mc:AlternateContent xmlns:mc="http://schemas.openxmlformats.org/markup-compatibility/2006">
              <mc:Choice xmlns:v="urn:schemas-microsoft-com:vml" Requires="v">
                <p:oleObj spid="_x0000_s194716" r:id="rId5" imgW="2336800" imgH="228600" progId="Equation.DSMT4">
                  <p:embed/>
                </p:oleObj>
              </mc:Choice>
              <mc:Fallback>
                <p:oleObj r:id="rId5" imgW="2336800" imgH="228600" progId="Equation.DSMT4">
                  <p:embed/>
                  <p:pic>
                    <p:nvPicPr>
                      <p:cNvPr id="53265" name="Object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4515" y="5371598"/>
                        <a:ext cx="4465637"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66" name="Text Box 41"/>
          <p:cNvSpPr txBox="1">
            <a:spLocks noChangeArrowheads="1"/>
          </p:cNvSpPr>
          <p:nvPr/>
        </p:nvSpPr>
        <p:spPr bwMode="auto">
          <a:xfrm>
            <a:off x="683568" y="4852862"/>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2000" b="1" dirty="0" smtClean="0"/>
              <a:t>设</a:t>
            </a:r>
            <a:r>
              <a:rPr lang="zh-CN" altLang="en-US" sz="2000" b="1" dirty="0"/>
              <a:t>：</a:t>
            </a:r>
          </a:p>
        </p:txBody>
      </p:sp>
      <p:sp>
        <p:nvSpPr>
          <p:cNvPr id="53267" name="Text Box 42"/>
          <p:cNvSpPr txBox="1">
            <a:spLocks noChangeArrowheads="1"/>
          </p:cNvSpPr>
          <p:nvPr/>
        </p:nvSpPr>
        <p:spPr bwMode="auto">
          <a:xfrm>
            <a:off x="683567" y="5371598"/>
            <a:ext cx="9589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2000" b="1" dirty="0"/>
              <a:t>则</a:t>
            </a:r>
            <a:r>
              <a:rPr lang="zh-CN" altLang="en-US" sz="2000" b="1" dirty="0" smtClean="0"/>
              <a:t>有：</a:t>
            </a:r>
            <a:endParaRPr lang="zh-CN" altLang="en-US" sz="2000" b="1" dirty="0"/>
          </a:p>
        </p:txBody>
      </p:sp>
      <mc:AlternateContent xmlns:mc="http://schemas.openxmlformats.org/markup-compatibility/2006" xmlns:a14="http://schemas.microsoft.com/office/drawing/2010/main">
        <mc:Choice Requires="a14">
          <p:sp>
            <p:nvSpPr>
              <p:cNvPr id="20" name="Rectangle 37"/>
              <p:cNvSpPr>
                <a:spLocks noChangeArrowheads="1"/>
              </p:cNvSpPr>
              <p:nvPr/>
            </p:nvSpPr>
            <p:spPr bwMode="auto">
              <a:xfrm>
                <a:off x="654167" y="3010418"/>
                <a:ext cx="8064760" cy="1800225"/>
              </a:xfrm>
              <a:prstGeom prst="rect">
                <a:avLst/>
              </a:prstGeom>
              <a:noFill/>
              <a:ln>
                <a:noFill/>
              </a:ln>
              <a:effectLst/>
              <a:extLst>
                <a:ext uri="{909E8E84-426E-40DD-AFC4-6F175D3DCCD1}">
                  <a14:hiddenFill>
                    <a:solidFill>
                      <a:schemeClr val="accent1"/>
                    </a:solidFill>
                  </a14:hiddenFill>
                </a:ext>
                <a:ext uri="{91240B29-F687-4F45-9708-019B960494DF}">
                  <a14:hiddenLine w="9525" algn="ctr">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解 </a:t>
                </a:r>
                <a:r>
                  <a:rPr lang="en-US" altLang="zh-CN" sz="2000" b="1"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按</a:t>
                </a:r>
                <a:r>
                  <a:rPr lang="zh-CN" altLang="en-US" sz="2000" b="1" dirty="0">
                    <a:solidFill>
                      <a:srgbClr val="FF0000"/>
                    </a:solidFill>
                    <a:latin typeface="Times New Roman" panose="02020603050405020304" pitchFamily="18" charset="0"/>
                    <a:cs typeface="Times New Roman" panose="02020603050405020304" pitchFamily="18" charset="0"/>
                  </a:rPr>
                  <a:t>问题的变量个数</a:t>
                </a:r>
                <a:r>
                  <a:rPr lang="zh-CN" altLang="en-US" sz="2000" b="1" dirty="0">
                    <a:latin typeface="Times New Roman" panose="02020603050405020304" pitchFamily="18" charset="0"/>
                    <a:cs typeface="Times New Roman" panose="02020603050405020304" pitchFamily="18" charset="0"/>
                  </a:rPr>
                  <a:t>划分阶段，把它看作为一个三阶段决策问题。</a:t>
                </a:r>
              </a:p>
              <a:p>
                <a:pPr eaLnBrk="1" hangingPunct="1">
                  <a:lnSpc>
                    <a:spcPct val="140000"/>
                  </a:lnSpc>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设状态变量</a:t>
                </a:r>
                <a:r>
                  <a:rPr lang="zh-CN" altLang="en-US" sz="2000" b="1" dirty="0" smtClean="0">
                    <a:latin typeface="Times New Roman" panose="02020603050405020304" pitchFamily="18" charset="0"/>
                    <a:cs typeface="Times New Roman" panose="02020603050405020304" pitchFamily="18" charset="0"/>
                  </a:rPr>
                  <a:t>为</a:t>
                </a:r>
                <a:r>
                  <a:rPr lang="en-US" altLang="zh-CN" sz="2000" b="1" i="1" dirty="0">
                    <a:latin typeface="Times New Roman" panose="02020603050405020304" pitchFamily="18" charset="0"/>
                    <a:cs typeface="Times New Roman" panose="02020603050405020304" pitchFamily="18" charset="0"/>
                  </a:rPr>
                  <a:t>s</a:t>
                </a:r>
                <a:r>
                  <a:rPr lang="en-US" altLang="zh-CN" sz="2000" b="1" baseline="-25000" dirty="0">
                    <a:latin typeface="Times New Roman" panose="02020603050405020304" pitchFamily="18" charset="0"/>
                    <a:cs typeface="Times New Roman" panose="02020603050405020304" pitchFamily="18" charset="0"/>
                  </a:rPr>
                  <a:t>0</a:t>
                </a:r>
                <a:r>
                  <a:rPr lang="en-US" altLang="zh-CN" sz="2000" b="1" dirty="0" smtClean="0">
                    <a:latin typeface="Times New Roman" panose="02020603050405020304" pitchFamily="18" charset="0"/>
                    <a:cs typeface="Times New Roman" panose="02020603050405020304" pitchFamily="18" charset="0"/>
                  </a:rPr>
                  <a:t>,</a:t>
                </a:r>
                <a:r>
                  <a:rPr lang="en-US" altLang="zh-CN" sz="2000" b="1" i="1" dirty="0" smtClean="0">
                    <a:latin typeface="Times New Roman" panose="02020603050405020304" pitchFamily="18" charset="0"/>
                    <a:cs typeface="Times New Roman" panose="02020603050405020304" pitchFamily="18" charset="0"/>
                  </a:rPr>
                  <a:t>s</a:t>
                </a:r>
                <a:r>
                  <a:rPr lang="en-US" altLang="zh-CN" sz="2000" b="1" baseline="-25000" dirty="0" smtClean="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 </a:t>
                </a:r>
                <a:r>
                  <a:rPr lang="en-US" altLang="zh-CN" sz="2000" b="1" i="1" dirty="0" smtClean="0">
                    <a:latin typeface="Times New Roman" panose="02020603050405020304" pitchFamily="18" charset="0"/>
                    <a:cs typeface="Times New Roman" panose="02020603050405020304" pitchFamily="18" charset="0"/>
                  </a:rPr>
                  <a:t>s</a:t>
                </a:r>
                <a:r>
                  <a:rPr lang="en-US" altLang="zh-CN" sz="2000" b="1" baseline="-25000" dirty="0" smtClean="0">
                    <a:latin typeface="Times New Roman" panose="02020603050405020304" pitchFamily="18" charset="0"/>
                    <a:cs typeface="Times New Roman" panose="02020603050405020304" pitchFamily="18" charset="0"/>
                  </a:rPr>
                  <a:t>2</a:t>
                </a:r>
                <a:r>
                  <a:rPr lang="en-US" altLang="zh-CN" sz="2000" b="1" dirty="0" smtClean="0">
                    <a:latin typeface="Times New Roman" panose="02020603050405020304" pitchFamily="18" charset="0"/>
                    <a:cs typeface="Times New Roman" panose="02020603050405020304" pitchFamily="18" charset="0"/>
                  </a:rPr>
                  <a:t>,</a:t>
                </a:r>
                <a:r>
                  <a:rPr lang="en-US" altLang="zh-CN" sz="2000" b="1" i="1" dirty="0" smtClean="0">
                    <a:latin typeface="Times New Roman" panose="02020603050405020304" pitchFamily="18" charset="0"/>
                    <a:cs typeface="Times New Roman" panose="02020603050405020304" pitchFamily="18" charset="0"/>
                  </a:rPr>
                  <a:t>s</a:t>
                </a:r>
                <a:r>
                  <a:rPr lang="en-US" altLang="zh-CN" sz="2000" b="1" baseline="-25000" dirty="0" smtClean="0">
                    <a:latin typeface="Times New Roman" panose="02020603050405020304" pitchFamily="18" charset="0"/>
                    <a:cs typeface="Times New Roman" panose="02020603050405020304" pitchFamily="18" charset="0"/>
                  </a:rPr>
                  <a:t>3</a:t>
                </a:r>
                <a:r>
                  <a:rPr lang="zh-CN" altLang="en-US" sz="2000" b="1" dirty="0" smtClean="0">
                    <a:latin typeface="Times New Roman" panose="02020603050405020304" pitchFamily="18" charset="0"/>
                    <a:cs typeface="Times New Roman" panose="02020603050405020304" pitchFamily="18" charset="0"/>
                  </a:rPr>
                  <a:t>并</a:t>
                </a:r>
                <a:r>
                  <a:rPr lang="zh-CN" altLang="en-US" sz="2000" b="1" dirty="0">
                    <a:latin typeface="Times New Roman" panose="02020603050405020304" pitchFamily="18" charset="0"/>
                    <a:cs typeface="Times New Roman" panose="02020603050405020304" pitchFamily="18" charset="0"/>
                  </a:rPr>
                  <a:t>记</a:t>
                </a:r>
                <a:r>
                  <a:rPr lang="en-US" altLang="zh-CN" sz="2000" b="1" i="1" dirty="0" smtClean="0">
                    <a:solidFill>
                      <a:srgbClr val="FF0000"/>
                    </a:solidFill>
                    <a:latin typeface="Times New Roman" panose="02020603050405020304" pitchFamily="18" charset="0"/>
                    <a:cs typeface="Times New Roman" panose="02020603050405020304" pitchFamily="18" charset="0"/>
                  </a:rPr>
                  <a:t>s</a:t>
                </a:r>
                <a:r>
                  <a:rPr lang="en-US" altLang="zh-CN" sz="2000" b="1" baseline="-25000" dirty="0" smtClean="0">
                    <a:solidFill>
                      <a:srgbClr val="FF0000"/>
                    </a:solidFill>
                    <a:latin typeface="Times New Roman" panose="02020603050405020304" pitchFamily="18" charset="0"/>
                    <a:cs typeface="Times New Roman" panose="02020603050405020304" pitchFamily="18" charset="0"/>
                  </a:rPr>
                  <a:t>3</a:t>
                </a:r>
                <a14:m>
                  <m:oMath xmlns:m="http://schemas.openxmlformats.org/officeDocument/2006/math">
                    <m:r>
                      <a:rPr lang="en-US" altLang="zh-CN" sz="2000" b="1"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000" b="1" i="1" dirty="0" smtClean="0">
                    <a:solidFill>
                      <a:srgbClr val="FF0000"/>
                    </a:solidFill>
                    <a:latin typeface="Times New Roman" panose="02020603050405020304" pitchFamily="18" charset="0"/>
                    <a:cs typeface="Times New Roman" panose="02020603050405020304" pitchFamily="18" charset="0"/>
                  </a:rPr>
                  <a:t>9</a:t>
                </a:r>
                <a:r>
                  <a:rPr lang="zh-CN" altLang="en-US" sz="2000" b="1" dirty="0">
                    <a:latin typeface="Times New Roman" panose="02020603050405020304" pitchFamily="18" charset="0"/>
                    <a:cs typeface="Times New Roman" panose="02020603050405020304" pitchFamily="18" charset="0"/>
                  </a:rPr>
                  <a:t>；取问题中的变量</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3</a:t>
                </a:r>
                <a:r>
                  <a:rPr lang="zh-CN" altLang="en-US" sz="2000" b="1" dirty="0">
                    <a:latin typeface="Times New Roman" panose="02020603050405020304" pitchFamily="18" charset="0"/>
                    <a:cs typeface="Times New Roman" panose="02020603050405020304" pitchFamily="18" charset="0"/>
                  </a:rPr>
                  <a:t>为决策变量；各阶段指标函数</a:t>
                </a:r>
                <a:r>
                  <a:rPr lang="zh-CN" altLang="en-US" sz="2000" b="1" dirty="0" smtClean="0">
                    <a:latin typeface="Times New Roman" panose="02020603050405020304" pitchFamily="18" charset="0"/>
                    <a:cs typeface="Times New Roman" panose="02020603050405020304" pitchFamily="18" charset="0"/>
                  </a:rPr>
                  <a:t>按</a:t>
                </a:r>
                <a:r>
                  <a:rPr lang="zh-CN" altLang="en-US" sz="2000" b="1" dirty="0">
                    <a:latin typeface="Times New Roman" panose="02020603050405020304" pitchFamily="18" charset="0"/>
                    <a:cs typeface="Times New Roman" panose="02020603050405020304" pitchFamily="18" charset="0"/>
                  </a:rPr>
                  <a:t>加法</a:t>
                </a:r>
                <a:r>
                  <a:rPr lang="zh-CN" altLang="en-US" sz="2000" b="1" dirty="0" smtClean="0">
                    <a:latin typeface="Times New Roman" panose="02020603050405020304" pitchFamily="18" charset="0"/>
                    <a:cs typeface="Times New Roman" panose="02020603050405020304" pitchFamily="18" charset="0"/>
                  </a:rPr>
                  <a:t>方式</a:t>
                </a:r>
                <a:r>
                  <a:rPr lang="zh-CN" altLang="en-US" sz="2000" b="1" dirty="0">
                    <a:latin typeface="Times New Roman" panose="02020603050405020304" pitchFamily="18" charset="0"/>
                    <a:cs typeface="Times New Roman" panose="02020603050405020304" pitchFamily="18" charset="0"/>
                  </a:rPr>
                  <a:t>结合。令最优值函数</a:t>
                </a:r>
                <a:r>
                  <a:rPr lang="en-US" altLang="zh-CN" sz="2000" b="1" i="1" dirty="0" smtClean="0">
                    <a:latin typeface="Times New Roman" panose="02020603050405020304" pitchFamily="18" charset="0"/>
                    <a:cs typeface="Times New Roman" panose="02020603050405020304" pitchFamily="18" charset="0"/>
                  </a:rPr>
                  <a:t>f</a:t>
                </a:r>
                <a:r>
                  <a:rPr lang="en-US" altLang="zh-CN" sz="2000" b="1" i="1" baseline="-25000" dirty="0" smtClean="0">
                    <a:latin typeface="Times New Roman" panose="02020603050405020304" pitchFamily="18" charset="0"/>
                    <a:cs typeface="Times New Roman" panose="02020603050405020304" pitchFamily="18" charset="0"/>
                  </a:rPr>
                  <a:t>k</a:t>
                </a:r>
                <a:r>
                  <a:rPr lang="en-US" altLang="zh-CN" sz="2000" b="1" dirty="0" smtClean="0">
                    <a:latin typeface="Times New Roman" panose="02020603050405020304" pitchFamily="18" charset="0"/>
                    <a:cs typeface="Times New Roman" panose="02020603050405020304" pitchFamily="18" charset="0"/>
                  </a:rPr>
                  <a:t>(</a:t>
                </a:r>
                <a:r>
                  <a:rPr lang="en-US" altLang="zh-CN" sz="2000" b="1" i="1" dirty="0" err="1" smtClean="0">
                    <a:latin typeface="Times New Roman" panose="02020603050405020304" pitchFamily="18" charset="0"/>
                    <a:cs typeface="Times New Roman" panose="02020603050405020304" pitchFamily="18" charset="0"/>
                  </a:rPr>
                  <a:t>s</a:t>
                </a:r>
                <a:r>
                  <a:rPr lang="en-US" altLang="zh-CN" sz="2000" b="1" i="1" baseline="-25000" dirty="0" err="1" smtClean="0">
                    <a:latin typeface="Times New Roman" panose="02020603050405020304" pitchFamily="18" charset="0"/>
                    <a:cs typeface="Times New Roman" panose="02020603050405020304" pitchFamily="18" charset="0"/>
                  </a:rPr>
                  <a:t>k</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表示为第</a:t>
                </a:r>
                <a:r>
                  <a:rPr lang="en-US" altLang="zh-CN" sz="2000" b="1" i="1" dirty="0">
                    <a:latin typeface="Times New Roman" panose="02020603050405020304" pitchFamily="18" charset="0"/>
                    <a:cs typeface="Times New Roman" panose="02020603050405020304" pitchFamily="18" charset="0"/>
                  </a:rPr>
                  <a:t>k</a:t>
                </a:r>
                <a:r>
                  <a:rPr lang="zh-CN" altLang="en-US" sz="2000" b="1" dirty="0" smtClean="0">
                    <a:latin typeface="Times New Roman" panose="02020603050405020304" pitchFamily="18" charset="0"/>
                    <a:cs typeface="Times New Roman" panose="02020603050405020304" pitchFamily="18" charset="0"/>
                  </a:rPr>
                  <a:t>阶段</a:t>
                </a:r>
                <a:r>
                  <a:rPr lang="zh-CN" altLang="en-US" sz="2000" b="1" dirty="0">
                    <a:solidFill>
                      <a:srgbClr val="FF0000"/>
                    </a:solidFill>
                    <a:latin typeface="Times New Roman" panose="02020603050405020304" pitchFamily="18" charset="0"/>
                    <a:cs typeface="Times New Roman" panose="02020603050405020304" pitchFamily="18" charset="0"/>
                  </a:rPr>
                  <a:t>结束</a:t>
                </a:r>
                <a:r>
                  <a:rPr lang="zh-CN" altLang="en-US" sz="2000" b="1" dirty="0" smtClean="0">
                    <a:solidFill>
                      <a:srgbClr val="FF0000"/>
                    </a:solidFill>
                    <a:latin typeface="Times New Roman" panose="02020603050405020304" pitchFamily="18" charset="0"/>
                    <a:cs typeface="Times New Roman" panose="02020603050405020304" pitchFamily="18" charset="0"/>
                  </a:rPr>
                  <a:t>状态</a:t>
                </a:r>
                <a:r>
                  <a:rPr lang="zh-CN" altLang="en-US" sz="2000" b="1" dirty="0">
                    <a:solidFill>
                      <a:srgbClr val="FF0000"/>
                    </a:solidFill>
                    <a:latin typeface="Times New Roman" panose="02020603050405020304" pitchFamily="18" charset="0"/>
                    <a:cs typeface="Times New Roman" panose="02020603050405020304" pitchFamily="18" charset="0"/>
                  </a:rPr>
                  <a:t>为</a:t>
                </a:r>
                <a:r>
                  <a:rPr lang="en-US" altLang="zh-CN" sz="2000" b="1" i="1" dirty="0" err="1" smtClean="0">
                    <a:solidFill>
                      <a:srgbClr val="FF0000"/>
                    </a:solidFill>
                    <a:latin typeface="Times New Roman" panose="02020603050405020304" pitchFamily="18" charset="0"/>
                    <a:cs typeface="Times New Roman" panose="02020603050405020304" pitchFamily="18" charset="0"/>
                  </a:rPr>
                  <a:t>s</a:t>
                </a:r>
                <a:r>
                  <a:rPr lang="en-US" altLang="zh-CN" sz="2000" b="1" i="1" baseline="-25000" dirty="0" err="1" smtClean="0">
                    <a:solidFill>
                      <a:srgbClr val="FF0000"/>
                    </a:solidFill>
                    <a:latin typeface="Times New Roman" panose="02020603050405020304" pitchFamily="18" charset="0"/>
                    <a:cs typeface="Times New Roman" panose="02020603050405020304" pitchFamily="18" charset="0"/>
                  </a:rPr>
                  <a:t>k</a:t>
                </a:r>
                <a:r>
                  <a:rPr lang="zh-CN" altLang="en-US" sz="2000" b="1" dirty="0" smtClean="0">
                    <a:latin typeface="Times New Roman" panose="02020603050405020304" pitchFamily="18" charset="0"/>
                    <a:cs typeface="Times New Roman" panose="02020603050405020304" pitchFamily="18" charset="0"/>
                  </a:rPr>
                  <a:t>时从</a:t>
                </a:r>
                <a:r>
                  <a:rPr lang="en-US" altLang="zh-CN" sz="2000" b="1" dirty="0" smtClean="0">
                    <a:latin typeface="Times New Roman" panose="02020603050405020304" pitchFamily="18" charset="0"/>
                    <a:cs typeface="Times New Roman" panose="02020603050405020304" pitchFamily="18" charset="0"/>
                  </a:rPr>
                  <a:t>1</a:t>
                </a:r>
                <a:r>
                  <a:rPr lang="zh-CN" altLang="en-US" sz="2000" b="1" dirty="0" smtClean="0">
                    <a:latin typeface="Times New Roman" panose="02020603050405020304" pitchFamily="18" charset="0"/>
                    <a:cs typeface="Times New Roman" panose="02020603050405020304" pitchFamily="18" charset="0"/>
                  </a:rPr>
                  <a:t>阶段到</a:t>
                </a:r>
                <a:r>
                  <a:rPr lang="en-US" altLang="zh-CN" sz="2000" b="1" i="1" dirty="0" smtClean="0">
                    <a:latin typeface="Times New Roman" panose="02020603050405020304" pitchFamily="18" charset="0"/>
                    <a:cs typeface="Times New Roman" panose="02020603050405020304" pitchFamily="18" charset="0"/>
                  </a:rPr>
                  <a:t>k</a:t>
                </a:r>
                <a:r>
                  <a:rPr lang="zh-CN" altLang="en-US" sz="2000" b="1" dirty="0" smtClean="0">
                    <a:latin typeface="Times New Roman" panose="02020603050405020304" pitchFamily="18" charset="0"/>
                    <a:cs typeface="Times New Roman" panose="02020603050405020304" pitchFamily="18" charset="0"/>
                  </a:rPr>
                  <a:t>阶段的</a:t>
                </a:r>
                <a:r>
                  <a:rPr lang="zh-CN" altLang="en-US" sz="2000" b="1" dirty="0">
                    <a:latin typeface="Times New Roman" panose="02020603050405020304" pitchFamily="18" charset="0"/>
                    <a:cs typeface="Times New Roman" panose="02020603050405020304" pitchFamily="18" charset="0"/>
                  </a:rPr>
                  <a:t>最大值。</a:t>
                </a:r>
              </a:p>
            </p:txBody>
          </p:sp>
        </mc:Choice>
        <mc:Fallback xmlns="">
          <p:sp>
            <p:nvSpPr>
              <p:cNvPr id="20" name="Rectangle 37"/>
              <p:cNvSpPr>
                <a:spLocks noRot="1" noChangeAspect="1" noMove="1" noResize="1" noEditPoints="1" noAdjustHandles="1" noChangeArrowheads="1" noChangeShapeType="1" noTextEdit="1"/>
              </p:cNvSpPr>
              <p:nvPr/>
            </p:nvSpPr>
            <p:spPr bwMode="auto">
              <a:xfrm>
                <a:off x="654167" y="3010418"/>
                <a:ext cx="8064760" cy="1800225"/>
              </a:xfrm>
              <a:prstGeom prst="rect">
                <a:avLst/>
              </a:prstGeom>
              <a:blipFill>
                <a:blip r:embed="rId7"/>
                <a:stretch>
                  <a:fillRect l="-756" r="-831" b="-372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1" name="Rectangle 28"/>
          <p:cNvSpPr>
            <a:spLocks noChangeArrowheads="1"/>
          </p:cNvSpPr>
          <p:nvPr/>
        </p:nvSpPr>
        <p:spPr bwMode="auto">
          <a:xfrm>
            <a:off x="683567" y="5837202"/>
            <a:ext cx="37978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用顺推方法，从前向后依次</a:t>
            </a:r>
            <a:r>
              <a:rPr lang="zh-CN" altLang="en-US" sz="2000" b="1" dirty="0" smtClean="0">
                <a:latin typeface="Times New Roman" panose="02020603050405020304" pitchFamily="18" charset="0"/>
                <a:cs typeface="Times New Roman" panose="02020603050405020304" pitchFamily="18" charset="0"/>
              </a:rPr>
              <a:t>有：</a:t>
            </a:r>
            <a:endParaRPr lang="zh-CN" altLang="en-US" sz="2000" b="1" dirty="0"/>
          </a:p>
        </p:txBody>
      </p:sp>
      <p:graphicFrame>
        <p:nvGraphicFramePr>
          <p:cNvPr id="12" name="Object 38"/>
          <p:cNvGraphicFramePr>
            <a:graphicFrameLocks noChangeAspect="1"/>
          </p:cNvGraphicFramePr>
          <p:nvPr>
            <p:extLst>
              <p:ext uri="{D42A27DB-BD31-4B8C-83A1-F6EECF244321}">
                <p14:modId xmlns:p14="http://schemas.microsoft.com/office/powerpoint/2010/main" val="1794830781"/>
              </p:ext>
            </p:extLst>
          </p:nvPr>
        </p:nvGraphicFramePr>
        <p:xfrm>
          <a:off x="1438795" y="4876137"/>
          <a:ext cx="4537075" cy="420688"/>
        </p:xfrm>
        <a:graphic>
          <a:graphicData uri="http://schemas.openxmlformats.org/presentationml/2006/ole">
            <mc:AlternateContent xmlns:mc="http://schemas.openxmlformats.org/markup-compatibility/2006">
              <mc:Choice xmlns:v="urn:schemas-microsoft-com:vml" Requires="v">
                <p:oleObj spid="_x0000_s194717" r:id="rId8" imgW="2463800" imgH="228600" progId="Equation.DSMT4">
                  <p:embed/>
                </p:oleObj>
              </mc:Choice>
              <mc:Fallback>
                <p:oleObj r:id="rId8" imgW="2463800" imgH="228600" progId="Equation.DSMT4">
                  <p:embed/>
                  <p:pic>
                    <p:nvPicPr>
                      <p:cNvPr id="53264" name="Object 3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38795" y="4876137"/>
                        <a:ext cx="453707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24652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26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326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2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66" grpId="0"/>
      <p:bldP spid="53267" grpId="0"/>
      <p:bldP spid="20" grpId="0"/>
      <p:bldP spid="2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p:nvPr>
        </p:nvSpPr>
        <p:spPr/>
        <p:txBody>
          <a:bodyPr/>
          <a:lstStyle/>
          <a:p>
            <a:pPr eaLnBrk="1" hangingPunct="1"/>
            <a:r>
              <a:rPr lang="en-US" altLang="zh-CN" dirty="0"/>
              <a:t>8.3.2  </a:t>
            </a:r>
            <a:r>
              <a:rPr lang="zh-CN" altLang="en-US" dirty="0"/>
              <a:t>顺推解法</a:t>
            </a:r>
          </a:p>
        </p:txBody>
      </p:sp>
      <p:sp>
        <p:nvSpPr>
          <p:cNvPr id="2" name="内容占位符 1"/>
          <p:cNvSpPr>
            <a:spLocks noGrp="1"/>
          </p:cNvSpPr>
          <p:nvPr>
            <p:ph idx="1"/>
          </p:nvPr>
        </p:nvSpPr>
        <p:spPr>
          <a:xfrm>
            <a:off x="539552" y="1133709"/>
            <a:ext cx="8280920" cy="904863"/>
          </a:xfrm>
        </p:spPr>
        <p:txBody>
          <a:bodyPr/>
          <a:lstStyle/>
          <a:p>
            <a:r>
              <a:rPr lang="zh-CN" altLang="en-US" dirty="0"/>
              <a:t>增例</a:t>
            </a:r>
            <a:r>
              <a:rPr lang="en-US" altLang="zh-CN" dirty="0"/>
              <a:t>1</a:t>
            </a:r>
            <a:r>
              <a:rPr lang="zh-CN" altLang="en-US" dirty="0"/>
              <a:t>：用动态规划方法解下面问题</a:t>
            </a:r>
          </a:p>
          <a:p>
            <a:endParaRPr lang="zh-CN" altLang="en-US" dirty="0"/>
          </a:p>
        </p:txBody>
      </p:sp>
      <p:sp>
        <p:nvSpPr>
          <p:cNvPr id="53251"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E748B31-8EFF-4B54-9E2A-C85278F47A4A}" type="slidenum">
              <a:rPr lang="en-US" altLang="zh-CN" sz="1000"/>
              <a:pPr>
                <a:spcBef>
                  <a:spcPct val="0"/>
                </a:spcBef>
                <a:buClrTx/>
                <a:buSzTx/>
                <a:buFontTx/>
                <a:buNone/>
              </a:pPr>
              <a:t>43</a:t>
            </a:fld>
            <a:endParaRPr lang="en-US" altLang="zh-CN" sz="1000"/>
          </a:p>
        </p:txBody>
      </p:sp>
      <p:graphicFrame>
        <p:nvGraphicFramePr>
          <p:cNvPr id="53253" name="Object 27"/>
          <p:cNvGraphicFramePr>
            <a:graphicFrameLocks noChangeAspect="1"/>
          </p:cNvGraphicFramePr>
          <p:nvPr>
            <p:extLst>
              <p:ext uri="{D42A27DB-BD31-4B8C-83A1-F6EECF244321}">
                <p14:modId xmlns:p14="http://schemas.microsoft.com/office/powerpoint/2010/main" val="2390376399"/>
              </p:ext>
            </p:extLst>
          </p:nvPr>
        </p:nvGraphicFramePr>
        <p:xfrm>
          <a:off x="5982377" y="1133609"/>
          <a:ext cx="3095625" cy="1289050"/>
        </p:xfrm>
        <a:graphic>
          <a:graphicData uri="http://schemas.openxmlformats.org/presentationml/2006/ole">
            <mc:AlternateContent xmlns:mc="http://schemas.openxmlformats.org/markup-compatibility/2006">
              <mc:Choice xmlns:v="urn:schemas-microsoft-com:vml" Requires="v">
                <p:oleObj spid="_x0000_s54128" r:id="rId3" imgW="1765300" imgH="736600" progId="Equation.DSMT4">
                  <p:embed/>
                </p:oleObj>
              </mc:Choice>
              <mc:Fallback>
                <p:oleObj r:id="rId3" imgW="1765300" imgH="736600" progId="Equation.DSMT4">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2377" y="1133609"/>
                        <a:ext cx="3095625"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4" name="Object 38"/>
          <p:cNvGraphicFramePr>
            <a:graphicFrameLocks noChangeAspect="1"/>
          </p:cNvGraphicFramePr>
          <p:nvPr>
            <p:extLst>
              <p:ext uri="{D42A27DB-BD31-4B8C-83A1-F6EECF244321}">
                <p14:modId xmlns:p14="http://schemas.microsoft.com/office/powerpoint/2010/main" val="3528352032"/>
              </p:ext>
            </p:extLst>
          </p:nvPr>
        </p:nvGraphicFramePr>
        <p:xfrm>
          <a:off x="1445302" y="1692417"/>
          <a:ext cx="4537075" cy="420688"/>
        </p:xfrm>
        <a:graphic>
          <a:graphicData uri="http://schemas.openxmlformats.org/presentationml/2006/ole">
            <mc:AlternateContent xmlns:mc="http://schemas.openxmlformats.org/markup-compatibility/2006">
              <mc:Choice xmlns:v="urn:schemas-microsoft-com:vml" Requires="v">
                <p:oleObj spid="_x0000_s54129" r:id="rId5" imgW="2463800" imgH="228600" progId="Equation.DSMT4">
                  <p:embed/>
                </p:oleObj>
              </mc:Choice>
              <mc:Fallback>
                <p:oleObj r:id="rId5" imgW="2463800" imgH="228600" progId="Equation.DSMT4">
                  <p:embed/>
                  <p:pic>
                    <p:nvPicPr>
                      <p:cNvPr id="0" name="Object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5302" y="1692417"/>
                        <a:ext cx="453707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5" name="Object 37"/>
          <p:cNvGraphicFramePr>
            <a:graphicFrameLocks noChangeAspect="1"/>
          </p:cNvGraphicFramePr>
          <p:nvPr>
            <p:extLst>
              <p:ext uri="{D42A27DB-BD31-4B8C-83A1-F6EECF244321}">
                <p14:modId xmlns:p14="http://schemas.microsoft.com/office/powerpoint/2010/main" val="4157445451"/>
              </p:ext>
            </p:extLst>
          </p:nvPr>
        </p:nvGraphicFramePr>
        <p:xfrm>
          <a:off x="1676315" y="2132856"/>
          <a:ext cx="4465637" cy="436563"/>
        </p:xfrm>
        <a:graphic>
          <a:graphicData uri="http://schemas.openxmlformats.org/presentationml/2006/ole">
            <mc:AlternateContent xmlns:mc="http://schemas.openxmlformats.org/markup-compatibility/2006">
              <mc:Choice xmlns:v="urn:schemas-microsoft-com:vml" Requires="v">
                <p:oleObj spid="_x0000_s54130" r:id="rId7" imgW="2336800" imgH="228600" progId="Equation.DSMT4">
                  <p:embed/>
                </p:oleObj>
              </mc:Choice>
              <mc:Fallback>
                <p:oleObj r:id="rId7" imgW="2336800" imgH="228600" progId="Equation.DSMT4">
                  <p:embed/>
                  <p:pic>
                    <p:nvPicPr>
                      <p:cNvPr id="0"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315" y="2132856"/>
                        <a:ext cx="4465637"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66" name="Text Box 41"/>
          <p:cNvSpPr txBox="1">
            <a:spLocks noChangeArrowheads="1"/>
          </p:cNvSpPr>
          <p:nvPr/>
        </p:nvSpPr>
        <p:spPr bwMode="auto">
          <a:xfrm>
            <a:off x="885368" y="1692417"/>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2000" b="1" dirty="0" smtClean="0"/>
              <a:t>设</a:t>
            </a:r>
            <a:r>
              <a:rPr lang="zh-CN" altLang="en-US" sz="2000" b="1" dirty="0"/>
              <a:t>：</a:t>
            </a:r>
          </a:p>
        </p:txBody>
      </p:sp>
      <p:sp>
        <p:nvSpPr>
          <p:cNvPr id="53267" name="Text Box 42"/>
          <p:cNvSpPr txBox="1">
            <a:spLocks noChangeArrowheads="1"/>
          </p:cNvSpPr>
          <p:nvPr/>
        </p:nvSpPr>
        <p:spPr bwMode="auto">
          <a:xfrm>
            <a:off x="885367" y="2132856"/>
            <a:ext cx="9589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2000" b="1" dirty="0"/>
              <a:t>则</a:t>
            </a:r>
            <a:r>
              <a:rPr lang="zh-CN" altLang="en-US" sz="2000" b="1" dirty="0" smtClean="0"/>
              <a:t>有：</a:t>
            </a:r>
            <a:endParaRPr lang="zh-CN" altLang="en-US" sz="2000" b="1" dirty="0"/>
          </a:p>
        </p:txBody>
      </p:sp>
      <p:sp>
        <p:nvSpPr>
          <p:cNvPr id="21" name="Rectangle 28"/>
          <p:cNvSpPr>
            <a:spLocks noChangeArrowheads="1"/>
          </p:cNvSpPr>
          <p:nvPr/>
        </p:nvSpPr>
        <p:spPr bwMode="auto">
          <a:xfrm>
            <a:off x="885367" y="2492896"/>
            <a:ext cx="37978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用顺推方法，从前向后依次</a:t>
            </a:r>
            <a:r>
              <a:rPr lang="zh-CN" altLang="en-US" sz="2000" b="1" dirty="0" smtClean="0">
                <a:latin typeface="Times New Roman" panose="02020603050405020304" pitchFamily="18" charset="0"/>
                <a:cs typeface="Times New Roman" panose="02020603050405020304" pitchFamily="18" charset="0"/>
              </a:rPr>
              <a:t>有：</a:t>
            </a:r>
            <a:endParaRPr lang="zh-CN" altLang="en-US" sz="2000" b="1" dirty="0"/>
          </a:p>
        </p:txBody>
      </p:sp>
      <p:cxnSp>
        <p:nvCxnSpPr>
          <p:cNvPr id="22" name="直接连接符 21"/>
          <p:cNvCxnSpPr/>
          <p:nvPr/>
        </p:nvCxnSpPr>
        <p:spPr bwMode="auto">
          <a:xfrm flipV="1">
            <a:off x="395536" y="2852936"/>
            <a:ext cx="8424936" cy="71564"/>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46" name="Object 27"/>
          <p:cNvGraphicFramePr>
            <a:graphicFrameLocks noChangeAspect="1"/>
          </p:cNvGraphicFramePr>
          <p:nvPr>
            <p:extLst>
              <p:ext uri="{D42A27DB-BD31-4B8C-83A1-F6EECF244321}">
                <p14:modId xmlns:p14="http://schemas.microsoft.com/office/powerpoint/2010/main" val="2603362763"/>
              </p:ext>
            </p:extLst>
          </p:nvPr>
        </p:nvGraphicFramePr>
        <p:xfrm>
          <a:off x="1611313" y="2946400"/>
          <a:ext cx="3997325" cy="571500"/>
        </p:xfrm>
        <a:graphic>
          <a:graphicData uri="http://schemas.openxmlformats.org/presentationml/2006/ole">
            <mc:AlternateContent xmlns:mc="http://schemas.openxmlformats.org/markup-compatibility/2006">
              <mc:Choice xmlns:v="urn:schemas-microsoft-com:vml" Requires="v">
                <p:oleObj spid="_x0000_s54131" name="Equation" r:id="rId9" imgW="2730240" imgH="393480" progId="Equation.DSMT4">
                  <p:embed/>
                </p:oleObj>
              </mc:Choice>
              <mc:Fallback>
                <p:oleObj name="Equation" r:id="rId9" imgW="2730240" imgH="393480" progId="Equation.DSMT4">
                  <p:embed/>
                  <p:pic>
                    <p:nvPicPr>
                      <p:cNvPr id="54277" name="Object 27"/>
                      <p:cNvPicPr>
                        <a:picLocks noChangeAspect="1" noChangeArrowheads="1"/>
                      </p:cNvPicPr>
                      <p:nvPr/>
                    </p:nvPicPr>
                    <p:blipFill>
                      <a:blip r:embed="rId10"/>
                      <a:srcRect/>
                      <a:stretch>
                        <a:fillRect/>
                      </a:stretch>
                    </p:blipFill>
                    <p:spPr bwMode="auto">
                      <a:xfrm>
                        <a:off x="1611313" y="2946400"/>
                        <a:ext cx="39973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 name="Rectangle 53"/>
          <p:cNvSpPr>
            <a:spLocks noChangeArrowheads="1"/>
          </p:cNvSpPr>
          <p:nvPr/>
        </p:nvSpPr>
        <p:spPr bwMode="auto">
          <a:xfrm>
            <a:off x="911372" y="3007962"/>
            <a:ext cx="7181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i="1" dirty="0" smtClean="0">
                <a:latin typeface="Times New Roman" panose="02020603050405020304" pitchFamily="18" charset="0"/>
                <a:cs typeface="Times New Roman" panose="02020603050405020304" pitchFamily="18" charset="0"/>
              </a:rPr>
              <a:t>k</a:t>
            </a:r>
            <a:r>
              <a:rPr lang="en-US" altLang="zh-CN" sz="2000" b="1" dirty="0" smtClean="0">
                <a:latin typeface="Times New Roman" panose="02020603050405020304" pitchFamily="18" charset="0"/>
                <a:cs typeface="Times New Roman" panose="02020603050405020304" pitchFamily="18" charset="0"/>
              </a:rPr>
              <a:t>=1:</a:t>
            </a:r>
            <a:endParaRPr lang="zh-CN" altLang="en-US" sz="2000" b="1" dirty="0"/>
          </a:p>
        </p:txBody>
      </p:sp>
      <p:sp>
        <p:nvSpPr>
          <p:cNvPr id="48" name="Rectangle 53"/>
          <p:cNvSpPr>
            <a:spLocks noChangeArrowheads="1"/>
          </p:cNvSpPr>
          <p:nvPr/>
        </p:nvSpPr>
        <p:spPr bwMode="auto">
          <a:xfrm>
            <a:off x="912967" y="3490194"/>
            <a:ext cx="7181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i="1" dirty="0" smtClean="0">
                <a:latin typeface="Times New Roman" panose="02020603050405020304" pitchFamily="18" charset="0"/>
                <a:cs typeface="Times New Roman" panose="02020603050405020304" pitchFamily="18" charset="0"/>
              </a:rPr>
              <a:t>k</a:t>
            </a:r>
            <a:r>
              <a:rPr lang="en-US" altLang="zh-CN" sz="2000" b="1" dirty="0" smtClean="0">
                <a:latin typeface="Times New Roman" panose="02020603050405020304" pitchFamily="18" charset="0"/>
                <a:cs typeface="Times New Roman" panose="02020603050405020304" pitchFamily="18" charset="0"/>
              </a:rPr>
              <a:t>=2:</a:t>
            </a:r>
            <a:endParaRPr lang="zh-CN" altLang="en-US" sz="2000" b="1" dirty="0"/>
          </a:p>
        </p:txBody>
      </p:sp>
      <p:graphicFrame>
        <p:nvGraphicFramePr>
          <p:cNvPr id="50" name="Object 26"/>
          <p:cNvGraphicFramePr>
            <a:graphicFrameLocks noChangeAspect="1"/>
          </p:cNvGraphicFramePr>
          <p:nvPr>
            <p:extLst>
              <p:ext uri="{D42A27DB-BD31-4B8C-83A1-F6EECF244321}">
                <p14:modId xmlns:p14="http://schemas.microsoft.com/office/powerpoint/2010/main" val="2454336269"/>
              </p:ext>
            </p:extLst>
          </p:nvPr>
        </p:nvGraphicFramePr>
        <p:xfrm>
          <a:off x="1586202" y="3399692"/>
          <a:ext cx="7161544" cy="641012"/>
        </p:xfrm>
        <a:graphic>
          <a:graphicData uri="http://schemas.openxmlformats.org/presentationml/2006/ole">
            <mc:AlternateContent xmlns:mc="http://schemas.openxmlformats.org/markup-compatibility/2006">
              <mc:Choice xmlns:v="urn:schemas-microsoft-com:vml" Requires="v">
                <p:oleObj spid="_x0000_s54132" name="Equation" r:id="rId11" imgW="4800600" imgH="431640" progId="Equation.DSMT4">
                  <p:embed/>
                </p:oleObj>
              </mc:Choice>
              <mc:Fallback>
                <p:oleObj name="Equation" r:id="rId11" imgW="4800600" imgH="431640" progId="Equation.DSMT4">
                  <p:embed/>
                  <p:pic>
                    <p:nvPicPr>
                      <p:cNvPr id="54278" name="Object 26"/>
                      <p:cNvPicPr>
                        <a:picLocks noChangeAspect="1" noChangeArrowheads="1"/>
                      </p:cNvPicPr>
                      <p:nvPr/>
                    </p:nvPicPr>
                    <p:blipFill>
                      <a:blip r:embed="rId12"/>
                      <a:srcRect/>
                      <a:stretch>
                        <a:fillRect/>
                      </a:stretch>
                    </p:blipFill>
                    <p:spPr bwMode="auto">
                      <a:xfrm>
                        <a:off x="1586202" y="3399692"/>
                        <a:ext cx="7161544" cy="641012"/>
                      </a:xfrm>
                      <a:prstGeom prst="rect">
                        <a:avLst/>
                      </a:prstGeom>
                      <a:noFill/>
                      <a:ln>
                        <a:noFill/>
                      </a:ln>
                      <a:extLst/>
                    </p:spPr>
                  </p:pic>
                </p:oleObj>
              </mc:Fallback>
            </mc:AlternateContent>
          </a:graphicData>
        </a:graphic>
      </p:graphicFrame>
      <p:graphicFrame>
        <p:nvGraphicFramePr>
          <p:cNvPr id="51" name="Object 25"/>
          <p:cNvGraphicFramePr>
            <a:graphicFrameLocks noChangeAspect="1"/>
          </p:cNvGraphicFramePr>
          <p:nvPr>
            <p:extLst>
              <p:ext uri="{D42A27DB-BD31-4B8C-83A1-F6EECF244321}">
                <p14:modId xmlns:p14="http://schemas.microsoft.com/office/powerpoint/2010/main" val="2709340063"/>
              </p:ext>
            </p:extLst>
          </p:nvPr>
        </p:nvGraphicFramePr>
        <p:xfrm>
          <a:off x="1835696" y="4047733"/>
          <a:ext cx="1739206" cy="528151"/>
        </p:xfrm>
        <a:graphic>
          <a:graphicData uri="http://schemas.openxmlformats.org/presentationml/2006/ole">
            <mc:AlternateContent xmlns:mc="http://schemas.openxmlformats.org/markup-compatibility/2006">
              <mc:Choice xmlns:v="urn:schemas-microsoft-com:vml" Requires="v">
                <p:oleObj spid="_x0000_s54133" r:id="rId13" imgW="1409088" imgH="431613" progId="Equation.DSMT4">
                  <p:embed/>
                </p:oleObj>
              </mc:Choice>
              <mc:Fallback>
                <p:oleObj r:id="rId13" imgW="1409088" imgH="431613" progId="Equation.DSMT4">
                  <p:embed/>
                  <p:pic>
                    <p:nvPicPr>
                      <p:cNvPr id="54279" name="Object 2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35696" y="4047733"/>
                        <a:ext cx="1739206" cy="528151"/>
                      </a:xfrm>
                      <a:prstGeom prst="rect">
                        <a:avLst/>
                      </a:prstGeom>
                      <a:noFill/>
                      <a:ln>
                        <a:noFill/>
                      </a:ln>
                      <a:extLst/>
                    </p:spPr>
                  </p:pic>
                </p:oleObj>
              </mc:Fallback>
            </mc:AlternateContent>
          </a:graphicData>
        </a:graphic>
      </p:graphicFrame>
      <p:graphicFrame>
        <p:nvGraphicFramePr>
          <p:cNvPr id="52" name="Object 24"/>
          <p:cNvGraphicFramePr>
            <a:graphicFrameLocks noChangeAspect="1"/>
          </p:cNvGraphicFramePr>
          <p:nvPr>
            <p:extLst>
              <p:ext uri="{D42A27DB-BD31-4B8C-83A1-F6EECF244321}">
                <p14:modId xmlns:p14="http://schemas.microsoft.com/office/powerpoint/2010/main" val="2616012536"/>
              </p:ext>
            </p:extLst>
          </p:nvPr>
        </p:nvGraphicFramePr>
        <p:xfrm>
          <a:off x="4328046" y="4004305"/>
          <a:ext cx="802556" cy="557292"/>
        </p:xfrm>
        <a:graphic>
          <a:graphicData uri="http://schemas.openxmlformats.org/presentationml/2006/ole">
            <mc:AlternateContent xmlns:mc="http://schemas.openxmlformats.org/markup-compatibility/2006">
              <mc:Choice xmlns:v="urn:schemas-microsoft-com:vml" Requires="v">
                <p:oleObj spid="_x0000_s54134" r:id="rId15" imgW="558558" imgH="393529" progId="Equation.DSMT4">
                  <p:embed/>
                </p:oleObj>
              </mc:Choice>
              <mc:Fallback>
                <p:oleObj r:id="rId15" imgW="558558" imgH="393529" progId="Equation.DSMT4">
                  <p:embed/>
                  <p:pic>
                    <p:nvPicPr>
                      <p:cNvPr id="54280"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28046" y="4004305"/>
                        <a:ext cx="802556" cy="557292"/>
                      </a:xfrm>
                      <a:prstGeom prst="rect">
                        <a:avLst/>
                      </a:prstGeom>
                      <a:noFill/>
                      <a:ln>
                        <a:noFill/>
                      </a:ln>
                      <a:extLst/>
                    </p:spPr>
                  </p:pic>
                </p:oleObj>
              </mc:Fallback>
            </mc:AlternateContent>
          </a:graphicData>
        </a:graphic>
      </p:graphicFrame>
      <p:graphicFrame>
        <p:nvGraphicFramePr>
          <p:cNvPr id="53" name="Object 23"/>
          <p:cNvGraphicFramePr>
            <a:graphicFrameLocks noChangeAspect="1"/>
          </p:cNvGraphicFramePr>
          <p:nvPr>
            <p:extLst>
              <p:ext uri="{D42A27DB-BD31-4B8C-83A1-F6EECF244321}">
                <p14:modId xmlns:p14="http://schemas.microsoft.com/office/powerpoint/2010/main" val="2821273850"/>
              </p:ext>
            </p:extLst>
          </p:nvPr>
        </p:nvGraphicFramePr>
        <p:xfrm>
          <a:off x="2095798" y="5133586"/>
          <a:ext cx="881235" cy="335154"/>
        </p:xfrm>
        <a:graphic>
          <a:graphicData uri="http://schemas.openxmlformats.org/presentationml/2006/ole">
            <mc:AlternateContent xmlns:mc="http://schemas.openxmlformats.org/markup-compatibility/2006">
              <mc:Choice xmlns:v="urn:schemas-microsoft-com:vml" Requires="v">
                <p:oleObj spid="_x0000_s54135" r:id="rId17" imgW="596900" imgH="228600" progId="Equation.DSMT4">
                  <p:embed/>
                </p:oleObj>
              </mc:Choice>
              <mc:Fallback>
                <p:oleObj r:id="rId17" imgW="596900" imgH="228600" progId="Equation.DSMT4">
                  <p:embed/>
                  <p:pic>
                    <p:nvPicPr>
                      <p:cNvPr id="54281"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95798" y="5133586"/>
                        <a:ext cx="881235" cy="335154"/>
                      </a:xfrm>
                      <a:prstGeom prst="rect">
                        <a:avLst/>
                      </a:prstGeom>
                      <a:noFill/>
                      <a:ln>
                        <a:noFill/>
                      </a:ln>
                      <a:extLst/>
                    </p:spPr>
                  </p:pic>
                </p:oleObj>
              </mc:Fallback>
            </mc:AlternateContent>
          </a:graphicData>
        </a:graphic>
      </p:graphicFrame>
      <p:graphicFrame>
        <p:nvGraphicFramePr>
          <p:cNvPr id="54" name="Object 22"/>
          <p:cNvGraphicFramePr>
            <a:graphicFrameLocks noChangeAspect="1"/>
          </p:cNvGraphicFramePr>
          <p:nvPr>
            <p:extLst>
              <p:ext uri="{D42A27DB-BD31-4B8C-83A1-F6EECF244321}">
                <p14:modId xmlns:p14="http://schemas.microsoft.com/office/powerpoint/2010/main" val="2008292177"/>
              </p:ext>
            </p:extLst>
          </p:nvPr>
        </p:nvGraphicFramePr>
        <p:xfrm>
          <a:off x="6532700" y="5027265"/>
          <a:ext cx="2506663" cy="561975"/>
        </p:xfrm>
        <a:graphic>
          <a:graphicData uri="http://schemas.openxmlformats.org/presentationml/2006/ole">
            <mc:AlternateContent xmlns:mc="http://schemas.openxmlformats.org/markup-compatibility/2006">
              <mc:Choice xmlns:v="urn:schemas-microsoft-com:vml" Requires="v">
                <p:oleObj spid="_x0000_s54136" name="Equation" r:id="rId19" imgW="1739880" imgH="393480" progId="Equation.DSMT4">
                  <p:embed/>
                </p:oleObj>
              </mc:Choice>
              <mc:Fallback>
                <p:oleObj name="Equation" r:id="rId19" imgW="1739880" imgH="393480" progId="Equation.DSMT4">
                  <p:embed/>
                  <p:pic>
                    <p:nvPicPr>
                      <p:cNvPr id="54282" name="Object 22"/>
                      <p:cNvPicPr>
                        <a:picLocks noChangeAspect="1" noChangeArrowheads="1"/>
                      </p:cNvPicPr>
                      <p:nvPr/>
                    </p:nvPicPr>
                    <p:blipFill>
                      <a:blip r:embed="rId20"/>
                      <a:srcRect/>
                      <a:stretch>
                        <a:fillRect/>
                      </a:stretch>
                    </p:blipFill>
                    <p:spPr bwMode="auto">
                      <a:xfrm>
                        <a:off x="6532700" y="5027265"/>
                        <a:ext cx="2506663"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 name="Object 21"/>
          <p:cNvGraphicFramePr>
            <a:graphicFrameLocks noChangeAspect="1"/>
          </p:cNvGraphicFramePr>
          <p:nvPr>
            <p:extLst>
              <p:ext uri="{D42A27DB-BD31-4B8C-83A1-F6EECF244321}">
                <p14:modId xmlns:p14="http://schemas.microsoft.com/office/powerpoint/2010/main" val="863185382"/>
              </p:ext>
            </p:extLst>
          </p:nvPr>
        </p:nvGraphicFramePr>
        <p:xfrm>
          <a:off x="2144242" y="5704891"/>
          <a:ext cx="843581" cy="321704"/>
        </p:xfrm>
        <a:graphic>
          <a:graphicData uri="http://schemas.openxmlformats.org/presentationml/2006/ole">
            <mc:AlternateContent xmlns:mc="http://schemas.openxmlformats.org/markup-compatibility/2006">
              <mc:Choice xmlns:v="urn:schemas-microsoft-com:vml" Requires="v">
                <p:oleObj spid="_x0000_s54137" r:id="rId21" imgW="596900" imgH="228600" progId="Equation.DSMT4">
                  <p:embed/>
                </p:oleObj>
              </mc:Choice>
              <mc:Fallback>
                <p:oleObj r:id="rId21" imgW="596900" imgH="228600" progId="Equation.DSMT4">
                  <p:embed/>
                  <p:pic>
                    <p:nvPicPr>
                      <p:cNvPr id="54283"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44242" y="5704891"/>
                        <a:ext cx="843581" cy="321704"/>
                      </a:xfrm>
                      <a:prstGeom prst="rect">
                        <a:avLst/>
                      </a:prstGeom>
                      <a:noFill/>
                      <a:ln>
                        <a:noFill/>
                      </a:ln>
                      <a:extLst/>
                    </p:spPr>
                  </p:pic>
                </p:oleObj>
              </mc:Fallback>
            </mc:AlternateContent>
          </a:graphicData>
        </a:graphic>
      </p:graphicFrame>
      <p:graphicFrame>
        <p:nvGraphicFramePr>
          <p:cNvPr id="56" name="Object 20"/>
          <p:cNvGraphicFramePr>
            <a:graphicFrameLocks noChangeAspect="1"/>
          </p:cNvGraphicFramePr>
          <p:nvPr>
            <p:extLst>
              <p:ext uri="{D42A27DB-BD31-4B8C-83A1-F6EECF244321}">
                <p14:modId xmlns:p14="http://schemas.microsoft.com/office/powerpoint/2010/main" val="447002362"/>
              </p:ext>
            </p:extLst>
          </p:nvPr>
        </p:nvGraphicFramePr>
        <p:xfrm>
          <a:off x="4499992" y="5702981"/>
          <a:ext cx="647700" cy="361950"/>
        </p:xfrm>
        <a:graphic>
          <a:graphicData uri="http://schemas.openxmlformats.org/presentationml/2006/ole">
            <mc:AlternateContent xmlns:mc="http://schemas.openxmlformats.org/markup-compatibility/2006">
              <mc:Choice xmlns:v="urn:schemas-microsoft-com:vml" Requires="v">
                <p:oleObj spid="_x0000_s54138" r:id="rId22" imgW="406224" imgH="228501" progId="Equation.DSMT4">
                  <p:embed/>
                </p:oleObj>
              </mc:Choice>
              <mc:Fallback>
                <p:oleObj r:id="rId22" imgW="406224" imgH="228501" progId="Equation.DSMT4">
                  <p:embed/>
                  <p:pic>
                    <p:nvPicPr>
                      <p:cNvPr id="54284" name="Object 2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499992" y="5702981"/>
                        <a:ext cx="6477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 name="Object 19"/>
          <p:cNvGraphicFramePr>
            <a:graphicFrameLocks noChangeAspect="1"/>
          </p:cNvGraphicFramePr>
          <p:nvPr>
            <p:extLst>
              <p:ext uri="{D42A27DB-BD31-4B8C-83A1-F6EECF244321}">
                <p14:modId xmlns:p14="http://schemas.microsoft.com/office/powerpoint/2010/main" val="1789210188"/>
              </p:ext>
            </p:extLst>
          </p:nvPr>
        </p:nvGraphicFramePr>
        <p:xfrm>
          <a:off x="6444208" y="5560875"/>
          <a:ext cx="1223962" cy="596900"/>
        </p:xfrm>
        <a:graphic>
          <a:graphicData uri="http://schemas.openxmlformats.org/presentationml/2006/ole">
            <mc:AlternateContent xmlns:mc="http://schemas.openxmlformats.org/markup-compatibility/2006">
              <mc:Choice xmlns:v="urn:schemas-microsoft-com:vml" Requires="v">
                <p:oleObj spid="_x0000_s54139" r:id="rId24" imgW="799753" imgH="393529" progId="Equation.DSMT4">
                  <p:embed/>
                </p:oleObj>
              </mc:Choice>
              <mc:Fallback>
                <p:oleObj r:id="rId24" imgW="799753" imgH="393529" progId="Equation.DSMT4">
                  <p:embed/>
                  <p:pic>
                    <p:nvPicPr>
                      <p:cNvPr id="54285" name="Object 1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444208" y="5560875"/>
                        <a:ext cx="1223962"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 name="Rectangle 30"/>
          <p:cNvSpPr>
            <a:spLocks noChangeArrowheads="1"/>
          </p:cNvSpPr>
          <p:nvPr/>
        </p:nvSpPr>
        <p:spPr bwMode="auto">
          <a:xfrm>
            <a:off x="1475656" y="4056743"/>
            <a:ext cx="4427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由</a:t>
            </a:r>
            <a:endParaRPr lang="zh-CN" altLang="en-US" sz="2000" b="1" dirty="0"/>
          </a:p>
        </p:txBody>
      </p:sp>
      <p:sp>
        <p:nvSpPr>
          <p:cNvPr id="60" name="Rectangle 31"/>
          <p:cNvSpPr>
            <a:spLocks noChangeArrowheads="1"/>
          </p:cNvSpPr>
          <p:nvPr/>
        </p:nvSpPr>
        <p:spPr bwMode="auto">
          <a:xfrm>
            <a:off x="3635896" y="4056743"/>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解得</a:t>
            </a:r>
            <a:endParaRPr lang="zh-CN" altLang="en-US" sz="2000" b="1" dirty="0"/>
          </a:p>
        </p:txBody>
      </p:sp>
      <p:sp>
        <p:nvSpPr>
          <p:cNvPr id="61" name="Rectangle 32"/>
          <p:cNvSpPr>
            <a:spLocks noChangeArrowheads="1"/>
          </p:cNvSpPr>
          <p:nvPr/>
        </p:nvSpPr>
        <p:spPr bwMode="auto">
          <a:xfrm>
            <a:off x="1511300" y="4546968"/>
            <a:ext cx="50882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solidFill>
                  <a:srgbClr val="FF0000"/>
                </a:solidFill>
                <a:latin typeface="Times New Roman" panose="02020603050405020304" pitchFamily="18" charset="0"/>
                <a:cs typeface="Times New Roman" panose="02020603050405020304" pitchFamily="18" charset="0"/>
              </a:rPr>
              <a:t>因该点不在允许决策集合内，故无须判别</a:t>
            </a:r>
            <a:r>
              <a:rPr lang="zh-CN" altLang="en-US" sz="2000" b="1" dirty="0" smtClean="0">
                <a:latin typeface="Times New Roman" panose="02020603050405020304" pitchFamily="18" charset="0"/>
                <a:cs typeface="Times New Roman" panose="02020603050405020304" pitchFamily="18" charset="0"/>
              </a:rPr>
              <a:t>。</a:t>
            </a:r>
            <a:endParaRPr lang="zh-CN" altLang="en-US" sz="2000" b="1" dirty="0"/>
          </a:p>
        </p:txBody>
      </p:sp>
      <p:sp>
        <p:nvSpPr>
          <p:cNvPr id="62" name="Rectangle 33"/>
          <p:cNvSpPr>
            <a:spLocks noChangeArrowheads="1"/>
          </p:cNvSpPr>
          <p:nvPr/>
        </p:nvSpPr>
        <p:spPr bwMode="auto">
          <a:xfrm>
            <a:off x="1259632" y="5080854"/>
            <a:ext cx="53291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66700">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None/>
            </a:pPr>
            <a:r>
              <a:rPr lang="zh-CN" altLang="en-US" sz="2000" b="1" dirty="0" smtClean="0">
                <a:latin typeface="Times New Roman" panose="02020603050405020304" pitchFamily="18" charset="0"/>
                <a:cs typeface="Times New Roman" panose="02020603050405020304" pitchFamily="18" charset="0"/>
              </a:rPr>
              <a:t>因而             的</a:t>
            </a:r>
            <a:r>
              <a:rPr lang="zh-CN" altLang="en-US" sz="2000" b="1" dirty="0">
                <a:latin typeface="Times New Roman" panose="02020603050405020304" pitchFamily="18" charset="0"/>
                <a:cs typeface="Times New Roman" panose="02020603050405020304" pitchFamily="18" charset="0"/>
              </a:rPr>
              <a:t>最大值必在两个端点上选取</a:t>
            </a:r>
            <a:r>
              <a:rPr lang="zh-CN" altLang="en-US" sz="2000" b="1" dirty="0" smtClean="0">
                <a:latin typeface="Times New Roman" panose="02020603050405020304" pitchFamily="18" charset="0"/>
                <a:cs typeface="Times New Roman" panose="02020603050405020304" pitchFamily="18" charset="0"/>
              </a:rPr>
              <a:t>。</a:t>
            </a:r>
            <a:endParaRPr lang="zh-CN" altLang="en-US" sz="2000" b="1" dirty="0"/>
          </a:p>
        </p:txBody>
      </p:sp>
      <p:sp>
        <p:nvSpPr>
          <p:cNvPr id="63" name="Rectangle 34"/>
          <p:cNvSpPr>
            <a:spLocks noChangeArrowheads="1"/>
          </p:cNvSpPr>
          <p:nvPr/>
        </p:nvSpPr>
        <p:spPr bwMode="auto">
          <a:xfrm>
            <a:off x="1536452" y="5645077"/>
            <a:ext cx="706799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None/>
            </a:pPr>
            <a:r>
              <a:rPr lang="zh-CN" altLang="en-US" sz="2000" b="1" dirty="0" smtClean="0"/>
              <a:t>因此            的</a:t>
            </a:r>
            <a:r>
              <a:rPr lang="zh-CN" altLang="en-US" sz="2000" b="1" dirty="0">
                <a:latin typeface="Times New Roman" panose="02020603050405020304" pitchFamily="18" charset="0"/>
                <a:cs typeface="Times New Roman" panose="02020603050405020304" pitchFamily="18" charset="0"/>
              </a:rPr>
              <a:t>最大值点</a:t>
            </a:r>
            <a:r>
              <a:rPr lang="zh-CN" altLang="en-US" sz="2000" b="1" dirty="0" smtClean="0">
                <a:latin typeface="Times New Roman" panose="02020603050405020304" pitchFamily="18" charset="0"/>
                <a:cs typeface="Times New Roman" panose="02020603050405020304" pitchFamily="18" charset="0"/>
              </a:rPr>
              <a:t>在          处，故得到                     及相应的最优解</a:t>
            </a:r>
            <a:endParaRPr lang="zh-CN" altLang="en-US" sz="2000" b="1" dirty="0"/>
          </a:p>
        </p:txBody>
      </p:sp>
      <p:graphicFrame>
        <p:nvGraphicFramePr>
          <p:cNvPr id="67" name="Object 18"/>
          <p:cNvGraphicFramePr>
            <a:graphicFrameLocks noChangeAspect="1"/>
          </p:cNvGraphicFramePr>
          <p:nvPr>
            <p:extLst>
              <p:ext uri="{D42A27DB-BD31-4B8C-83A1-F6EECF244321}">
                <p14:modId xmlns:p14="http://schemas.microsoft.com/office/powerpoint/2010/main" val="1206127267"/>
              </p:ext>
            </p:extLst>
          </p:nvPr>
        </p:nvGraphicFramePr>
        <p:xfrm>
          <a:off x="2982317" y="6046366"/>
          <a:ext cx="576262" cy="334962"/>
        </p:xfrm>
        <a:graphic>
          <a:graphicData uri="http://schemas.openxmlformats.org/presentationml/2006/ole">
            <mc:AlternateContent xmlns:mc="http://schemas.openxmlformats.org/markup-compatibility/2006">
              <mc:Choice xmlns:v="urn:schemas-microsoft-com:vml" Requires="v">
                <p:oleObj spid="_x0000_s54140" name="Equation" r:id="rId26" imgW="406080" imgH="241200" progId="Equation.DSMT4">
                  <p:embed/>
                </p:oleObj>
              </mc:Choice>
              <mc:Fallback>
                <p:oleObj name="Equation" r:id="rId26" imgW="406080" imgH="241200" progId="Equation.DSMT4">
                  <p:embed/>
                  <p:pic>
                    <p:nvPicPr>
                      <p:cNvPr id="54286" name="Object 18"/>
                      <p:cNvPicPr>
                        <a:picLocks noChangeAspect="1" noChangeArrowheads="1"/>
                      </p:cNvPicPr>
                      <p:nvPr/>
                    </p:nvPicPr>
                    <p:blipFill>
                      <a:blip r:embed="rId27"/>
                      <a:srcRect/>
                      <a:stretch>
                        <a:fillRect/>
                      </a:stretch>
                    </p:blipFill>
                    <p:spPr bwMode="auto">
                      <a:xfrm>
                        <a:off x="2982317" y="6046366"/>
                        <a:ext cx="57626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59" grpId="0"/>
      <p:bldP spid="60" grpId="0"/>
      <p:bldP spid="61" grpId="0"/>
      <p:bldP spid="62" grpId="0"/>
      <p:bldP spid="6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p:nvPr>
        </p:nvSpPr>
        <p:spPr/>
        <p:txBody>
          <a:bodyPr/>
          <a:lstStyle/>
          <a:p>
            <a:pPr eaLnBrk="1" hangingPunct="1"/>
            <a:r>
              <a:rPr lang="en-US" altLang="zh-CN" dirty="0"/>
              <a:t>8.3.2  </a:t>
            </a:r>
            <a:r>
              <a:rPr lang="zh-CN" altLang="en-US" dirty="0"/>
              <a:t>顺推解法</a:t>
            </a:r>
          </a:p>
        </p:txBody>
      </p:sp>
      <p:sp>
        <p:nvSpPr>
          <p:cNvPr id="2" name="内容占位符 1"/>
          <p:cNvSpPr>
            <a:spLocks noGrp="1"/>
          </p:cNvSpPr>
          <p:nvPr>
            <p:ph idx="1"/>
          </p:nvPr>
        </p:nvSpPr>
        <p:spPr>
          <a:xfrm>
            <a:off x="539552" y="1133709"/>
            <a:ext cx="8280920" cy="904863"/>
          </a:xfrm>
        </p:spPr>
        <p:txBody>
          <a:bodyPr/>
          <a:lstStyle/>
          <a:p>
            <a:r>
              <a:rPr lang="zh-CN" altLang="en-US" dirty="0"/>
              <a:t>增例</a:t>
            </a:r>
            <a:r>
              <a:rPr lang="en-US" altLang="zh-CN" dirty="0"/>
              <a:t>1</a:t>
            </a:r>
            <a:r>
              <a:rPr lang="zh-CN" altLang="en-US" dirty="0"/>
              <a:t>：用动态规划方法解下面问题</a:t>
            </a:r>
          </a:p>
          <a:p>
            <a:endParaRPr lang="zh-CN" altLang="en-US" dirty="0"/>
          </a:p>
        </p:txBody>
      </p:sp>
      <p:sp>
        <p:nvSpPr>
          <p:cNvPr id="53251"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E748B31-8EFF-4B54-9E2A-C85278F47A4A}" type="slidenum">
              <a:rPr lang="en-US" altLang="zh-CN" sz="1000"/>
              <a:pPr>
                <a:spcBef>
                  <a:spcPct val="0"/>
                </a:spcBef>
                <a:buClrTx/>
                <a:buSzTx/>
                <a:buFontTx/>
                <a:buNone/>
              </a:pPr>
              <a:t>44</a:t>
            </a:fld>
            <a:endParaRPr lang="en-US" altLang="zh-CN" sz="1000"/>
          </a:p>
        </p:txBody>
      </p:sp>
      <p:graphicFrame>
        <p:nvGraphicFramePr>
          <p:cNvPr id="53253" name="Object 27"/>
          <p:cNvGraphicFramePr>
            <a:graphicFrameLocks noChangeAspect="1"/>
          </p:cNvGraphicFramePr>
          <p:nvPr>
            <p:extLst>
              <p:ext uri="{D42A27DB-BD31-4B8C-83A1-F6EECF244321}">
                <p14:modId xmlns:p14="http://schemas.microsoft.com/office/powerpoint/2010/main" val="3580256623"/>
              </p:ext>
            </p:extLst>
          </p:nvPr>
        </p:nvGraphicFramePr>
        <p:xfrm>
          <a:off x="6000999" y="1140127"/>
          <a:ext cx="3095625" cy="1289050"/>
        </p:xfrm>
        <a:graphic>
          <a:graphicData uri="http://schemas.openxmlformats.org/presentationml/2006/ole">
            <mc:AlternateContent xmlns:mc="http://schemas.openxmlformats.org/markup-compatibility/2006">
              <mc:Choice xmlns:v="urn:schemas-microsoft-com:vml" Requires="v">
                <p:oleObj spid="_x0000_s197436" r:id="rId3" imgW="1765300" imgH="736600" progId="Equation.DSMT4">
                  <p:embed/>
                </p:oleObj>
              </mc:Choice>
              <mc:Fallback>
                <p:oleObj r:id="rId3" imgW="1765300" imgH="736600" progId="Equation.DSMT4">
                  <p:embed/>
                  <p:pic>
                    <p:nvPicPr>
                      <p:cNvPr id="53253"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0999" y="1140127"/>
                        <a:ext cx="3095625"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4" name="Object 38"/>
          <p:cNvGraphicFramePr>
            <a:graphicFrameLocks noChangeAspect="1"/>
          </p:cNvGraphicFramePr>
          <p:nvPr/>
        </p:nvGraphicFramePr>
        <p:xfrm>
          <a:off x="1445302" y="1692417"/>
          <a:ext cx="4537075" cy="420688"/>
        </p:xfrm>
        <a:graphic>
          <a:graphicData uri="http://schemas.openxmlformats.org/presentationml/2006/ole">
            <mc:AlternateContent xmlns:mc="http://schemas.openxmlformats.org/markup-compatibility/2006">
              <mc:Choice xmlns:v="urn:schemas-microsoft-com:vml" Requires="v">
                <p:oleObj spid="_x0000_s197437" r:id="rId5" imgW="2463800" imgH="228600" progId="Equation.DSMT4">
                  <p:embed/>
                </p:oleObj>
              </mc:Choice>
              <mc:Fallback>
                <p:oleObj r:id="rId5" imgW="2463800" imgH="228600" progId="Equation.DSMT4">
                  <p:embed/>
                  <p:pic>
                    <p:nvPicPr>
                      <p:cNvPr id="53264" name="Object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5302" y="1692417"/>
                        <a:ext cx="453707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5" name="Object 37"/>
          <p:cNvGraphicFramePr>
            <a:graphicFrameLocks noChangeAspect="1"/>
          </p:cNvGraphicFramePr>
          <p:nvPr/>
        </p:nvGraphicFramePr>
        <p:xfrm>
          <a:off x="1676315" y="2132856"/>
          <a:ext cx="4465637" cy="436563"/>
        </p:xfrm>
        <a:graphic>
          <a:graphicData uri="http://schemas.openxmlformats.org/presentationml/2006/ole">
            <mc:AlternateContent xmlns:mc="http://schemas.openxmlformats.org/markup-compatibility/2006">
              <mc:Choice xmlns:v="urn:schemas-microsoft-com:vml" Requires="v">
                <p:oleObj spid="_x0000_s197438" r:id="rId7" imgW="2336800" imgH="228600" progId="Equation.DSMT4">
                  <p:embed/>
                </p:oleObj>
              </mc:Choice>
              <mc:Fallback>
                <p:oleObj r:id="rId7" imgW="2336800" imgH="228600" progId="Equation.DSMT4">
                  <p:embed/>
                  <p:pic>
                    <p:nvPicPr>
                      <p:cNvPr id="53265"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315" y="2132856"/>
                        <a:ext cx="4465637"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66" name="Text Box 41"/>
          <p:cNvSpPr txBox="1">
            <a:spLocks noChangeArrowheads="1"/>
          </p:cNvSpPr>
          <p:nvPr/>
        </p:nvSpPr>
        <p:spPr bwMode="auto">
          <a:xfrm>
            <a:off x="885368" y="1692417"/>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2000" b="1" dirty="0" smtClean="0"/>
              <a:t>设</a:t>
            </a:r>
            <a:r>
              <a:rPr lang="zh-CN" altLang="en-US" sz="2000" b="1" dirty="0"/>
              <a:t>：</a:t>
            </a:r>
          </a:p>
        </p:txBody>
      </p:sp>
      <p:sp>
        <p:nvSpPr>
          <p:cNvPr id="53267" name="Text Box 42"/>
          <p:cNvSpPr txBox="1">
            <a:spLocks noChangeArrowheads="1"/>
          </p:cNvSpPr>
          <p:nvPr/>
        </p:nvSpPr>
        <p:spPr bwMode="auto">
          <a:xfrm>
            <a:off x="885367" y="2132856"/>
            <a:ext cx="9589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2000" b="1" dirty="0"/>
              <a:t>则</a:t>
            </a:r>
            <a:r>
              <a:rPr lang="zh-CN" altLang="en-US" sz="2000" b="1" dirty="0" smtClean="0"/>
              <a:t>有：</a:t>
            </a:r>
            <a:endParaRPr lang="zh-CN" altLang="en-US" sz="2000" b="1" dirty="0"/>
          </a:p>
        </p:txBody>
      </p:sp>
      <p:sp>
        <p:nvSpPr>
          <p:cNvPr id="21" name="Rectangle 28"/>
          <p:cNvSpPr>
            <a:spLocks noChangeArrowheads="1"/>
          </p:cNvSpPr>
          <p:nvPr/>
        </p:nvSpPr>
        <p:spPr bwMode="auto">
          <a:xfrm>
            <a:off x="885367" y="2492896"/>
            <a:ext cx="37978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用顺推方法，从前向后依次</a:t>
            </a:r>
            <a:r>
              <a:rPr lang="zh-CN" altLang="en-US" sz="2000" b="1" dirty="0" smtClean="0">
                <a:latin typeface="Times New Roman" panose="02020603050405020304" pitchFamily="18" charset="0"/>
                <a:cs typeface="Times New Roman" panose="02020603050405020304" pitchFamily="18" charset="0"/>
              </a:rPr>
              <a:t>有：</a:t>
            </a:r>
            <a:endParaRPr lang="zh-CN" altLang="en-US" sz="2000" b="1" dirty="0"/>
          </a:p>
        </p:txBody>
      </p:sp>
      <p:cxnSp>
        <p:nvCxnSpPr>
          <p:cNvPr id="22" name="直接连接符 21"/>
          <p:cNvCxnSpPr/>
          <p:nvPr/>
        </p:nvCxnSpPr>
        <p:spPr bwMode="auto">
          <a:xfrm flipV="1">
            <a:off x="395536" y="2852936"/>
            <a:ext cx="8424936" cy="71564"/>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Rectangle 53"/>
          <p:cNvSpPr>
            <a:spLocks noChangeArrowheads="1"/>
          </p:cNvSpPr>
          <p:nvPr/>
        </p:nvSpPr>
        <p:spPr bwMode="auto">
          <a:xfrm>
            <a:off x="1043608" y="3058549"/>
            <a:ext cx="7406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i="1" dirty="0" smtClean="0">
                <a:latin typeface="Times New Roman" panose="02020603050405020304" pitchFamily="18" charset="0"/>
                <a:cs typeface="Times New Roman" panose="02020603050405020304" pitchFamily="18" charset="0"/>
              </a:rPr>
              <a:t>k</a:t>
            </a:r>
            <a:r>
              <a:rPr lang="en-US" altLang="zh-CN" sz="2000" b="1" dirty="0" smtClean="0">
                <a:latin typeface="Times New Roman" panose="02020603050405020304" pitchFamily="18" charset="0"/>
                <a:cs typeface="Times New Roman" panose="02020603050405020304" pitchFamily="18" charset="0"/>
              </a:rPr>
              <a:t>=3:</a:t>
            </a:r>
            <a:endParaRPr lang="zh-CN" altLang="en-US" sz="2000" b="1" dirty="0"/>
          </a:p>
        </p:txBody>
      </p:sp>
      <p:graphicFrame>
        <p:nvGraphicFramePr>
          <p:cNvPr id="46" name="Object 30"/>
          <p:cNvGraphicFramePr>
            <a:graphicFrameLocks noChangeAspect="1"/>
          </p:cNvGraphicFramePr>
          <p:nvPr>
            <p:extLst>
              <p:ext uri="{D42A27DB-BD31-4B8C-83A1-F6EECF244321}">
                <p14:modId xmlns:p14="http://schemas.microsoft.com/office/powerpoint/2010/main" val="740300403"/>
              </p:ext>
            </p:extLst>
          </p:nvPr>
        </p:nvGraphicFramePr>
        <p:xfrm>
          <a:off x="1710336" y="3006603"/>
          <a:ext cx="7182144" cy="601989"/>
        </p:xfrm>
        <a:graphic>
          <a:graphicData uri="http://schemas.openxmlformats.org/presentationml/2006/ole">
            <mc:AlternateContent xmlns:mc="http://schemas.openxmlformats.org/markup-compatibility/2006">
              <mc:Choice xmlns:v="urn:schemas-microsoft-com:vml" Requires="v">
                <p:oleObj spid="_x0000_s197439" name="Equation" r:id="rId9" imgW="4724280" imgH="393480" progId="Equation.DSMT4">
                  <p:embed/>
                </p:oleObj>
              </mc:Choice>
              <mc:Fallback>
                <p:oleObj name="Equation" r:id="rId9" imgW="4724280" imgH="393480" progId="Equation.DSMT4">
                  <p:embed/>
                  <p:pic>
                    <p:nvPicPr>
                      <p:cNvPr id="55301" name="Object 30"/>
                      <p:cNvPicPr>
                        <a:picLocks noChangeAspect="1" noChangeArrowheads="1"/>
                      </p:cNvPicPr>
                      <p:nvPr/>
                    </p:nvPicPr>
                    <p:blipFill>
                      <a:blip r:embed="rId10"/>
                      <a:srcRect/>
                      <a:stretch>
                        <a:fillRect/>
                      </a:stretch>
                    </p:blipFill>
                    <p:spPr bwMode="auto">
                      <a:xfrm>
                        <a:off x="1710336" y="3006603"/>
                        <a:ext cx="7182144" cy="601989"/>
                      </a:xfrm>
                      <a:prstGeom prst="rect">
                        <a:avLst/>
                      </a:prstGeom>
                      <a:noFill/>
                      <a:ln>
                        <a:noFill/>
                      </a:ln>
                      <a:extLst/>
                    </p:spPr>
                  </p:pic>
                </p:oleObj>
              </mc:Fallback>
            </mc:AlternateContent>
          </a:graphicData>
        </a:graphic>
      </p:graphicFrame>
      <p:graphicFrame>
        <p:nvGraphicFramePr>
          <p:cNvPr id="47" name="Object 29"/>
          <p:cNvGraphicFramePr>
            <a:graphicFrameLocks noChangeAspect="1"/>
          </p:cNvGraphicFramePr>
          <p:nvPr>
            <p:extLst>
              <p:ext uri="{D42A27DB-BD31-4B8C-83A1-F6EECF244321}">
                <p14:modId xmlns:p14="http://schemas.microsoft.com/office/powerpoint/2010/main" val="1297282823"/>
              </p:ext>
            </p:extLst>
          </p:nvPr>
        </p:nvGraphicFramePr>
        <p:xfrm>
          <a:off x="2078525" y="3643662"/>
          <a:ext cx="2016125" cy="617538"/>
        </p:xfrm>
        <a:graphic>
          <a:graphicData uri="http://schemas.openxmlformats.org/presentationml/2006/ole">
            <mc:AlternateContent xmlns:mc="http://schemas.openxmlformats.org/markup-compatibility/2006">
              <mc:Choice xmlns:v="urn:schemas-microsoft-com:vml" Requires="v">
                <p:oleObj spid="_x0000_s197440" r:id="rId11" imgW="1397000" imgH="431800" progId="Equation.DSMT4">
                  <p:embed/>
                </p:oleObj>
              </mc:Choice>
              <mc:Fallback>
                <p:oleObj r:id="rId11" imgW="1397000" imgH="431800" progId="Equation.DSMT4">
                  <p:embed/>
                  <p:pic>
                    <p:nvPicPr>
                      <p:cNvPr id="55302" name="Object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78525" y="3643662"/>
                        <a:ext cx="2016125"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 name="Object 28"/>
          <p:cNvGraphicFramePr>
            <a:graphicFrameLocks noChangeAspect="1"/>
          </p:cNvGraphicFramePr>
          <p:nvPr>
            <p:extLst>
              <p:ext uri="{D42A27DB-BD31-4B8C-83A1-F6EECF244321}">
                <p14:modId xmlns:p14="http://schemas.microsoft.com/office/powerpoint/2010/main" val="509618251"/>
              </p:ext>
            </p:extLst>
          </p:nvPr>
        </p:nvGraphicFramePr>
        <p:xfrm>
          <a:off x="5102713" y="3499200"/>
          <a:ext cx="1008062" cy="655637"/>
        </p:xfrm>
        <a:graphic>
          <a:graphicData uri="http://schemas.openxmlformats.org/presentationml/2006/ole">
            <mc:AlternateContent xmlns:mc="http://schemas.openxmlformats.org/markup-compatibility/2006">
              <mc:Choice xmlns:v="urn:schemas-microsoft-com:vml" Requires="v">
                <p:oleObj spid="_x0000_s197441" r:id="rId13" imgW="596641" imgH="393529" progId="Equation.DSMT4">
                  <p:embed/>
                </p:oleObj>
              </mc:Choice>
              <mc:Fallback>
                <p:oleObj r:id="rId13" imgW="596641" imgH="393529" progId="Equation.DSMT4">
                  <p:embed/>
                  <p:pic>
                    <p:nvPicPr>
                      <p:cNvPr id="55303"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02713" y="3499200"/>
                        <a:ext cx="1008062"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 name="Object 27"/>
          <p:cNvGraphicFramePr>
            <a:graphicFrameLocks noChangeAspect="1"/>
          </p:cNvGraphicFramePr>
          <p:nvPr>
            <p:extLst>
              <p:ext uri="{D42A27DB-BD31-4B8C-83A1-F6EECF244321}">
                <p14:modId xmlns:p14="http://schemas.microsoft.com/office/powerpoint/2010/main" val="951766403"/>
              </p:ext>
            </p:extLst>
          </p:nvPr>
        </p:nvGraphicFramePr>
        <p:xfrm>
          <a:off x="2078525" y="4221088"/>
          <a:ext cx="1212811" cy="612775"/>
        </p:xfrm>
        <a:graphic>
          <a:graphicData uri="http://schemas.openxmlformats.org/presentationml/2006/ole">
            <mc:AlternateContent xmlns:mc="http://schemas.openxmlformats.org/markup-compatibility/2006">
              <mc:Choice xmlns:v="urn:schemas-microsoft-com:vml" Requires="v">
                <p:oleObj spid="_x0000_s197442" r:id="rId15" imgW="901700" imgH="457200" progId="Equation.DSMT4">
                  <p:embed/>
                </p:oleObj>
              </mc:Choice>
              <mc:Fallback>
                <p:oleObj r:id="rId15" imgW="901700" imgH="457200" progId="Equation.DSMT4">
                  <p:embed/>
                  <p:pic>
                    <p:nvPicPr>
                      <p:cNvPr id="55304" name="Object 2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78525" y="4221088"/>
                        <a:ext cx="1212811" cy="612775"/>
                      </a:xfrm>
                      <a:prstGeom prst="rect">
                        <a:avLst/>
                      </a:prstGeom>
                      <a:noFill/>
                      <a:ln>
                        <a:noFill/>
                      </a:ln>
                      <a:extLst/>
                    </p:spPr>
                  </p:pic>
                </p:oleObj>
              </mc:Fallback>
            </mc:AlternateContent>
          </a:graphicData>
        </a:graphic>
      </p:graphicFrame>
      <p:graphicFrame>
        <p:nvGraphicFramePr>
          <p:cNvPr id="50" name="Object 26"/>
          <p:cNvGraphicFramePr>
            <a:graphicFrameLocks noChangeAspect="1"/>
          </p:cNvGraphicFramePr>
          <p:nvPr>
            <p:extLst>
              <p:ext uri="{D42A27DB-BD31-4B8C-83A1-F6EECF244321}">
                <p14:modId xmlns:p14="http://schemas.microsoft.com/office/powerpoint/2010/main" val="4065267254"/>
              </p:ext>
            </p:extLst>
          </p:nvPr>
        </p:nvGraphicFramePr>
        <p:xfrm>
          <a:off x="6167423" y="4299219"/>
          <a:ext cx="2941425" cy="526027"/>
        </p:xfrm>
        <a:graphic>
          <a:graphicData uri="http://schemas.openxmlformats.org/presentationml/2006/ole">
            <mc:AlternateContent xmlns:mc="http://schemas.openxmlformats.org/markup-compatibility/2006">
              <mc:Choice xmlns:v="urn:schemas-microsoft-com:vml" Requires="v">
                <p:oleObj spid="_x0000_s197443" r:id="rId17" imgW="2184400" imgH="393700" progId="Equation.DSMT4">
                  <p:embed/>
                </p:oleObj>
              </mc:Choice>
              <mc:Fallback>
                <p:oleObj r:id="rId17" imgW="2184400" imgH="393700" progId="Equation.DSMT4">
                  <p:embed/>
                  <p:pic>
                    <p:nvPicPr>
                      <p:cNvPr id="55305" name="Object 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167423" y="4299219"/>
                        <a:ext cx="2941425" cy="526027"/>
                      </a:xfrm>
                      <a:prstGeom prst="rect">
                        <a:avLst/>
                      </a:prstGeom>
                      <a:noFill/>
                      <a:ln>
                        <a:noFill/>
                      </a:ln>
                      <a:extLst/>
                    </p:spPr>
                  </p:pic>
                </p:oleObj>
              </mc:Fallback>
            </mc:AlternateContent>
          </a:graphicData>
        </a:graphic>
      </p:graphicFrame>
      <p:graphicFrame>
        <p:nvGraphicFramePr>
          <p:cNvPr id="51" name="Object 25"/>
          <p:cNvGraphicFramePr>
            <a:graphicFrameLocks noChangeAspect="1"/>
          </p:cNvGraphicFramePr>
          <p:nvPr>
            <p:extLst>
              <p:ext uri="{D42A27DB-BD31-4B8C-83A1-F6EECF244321}">
                <p14:modId xmlns:p14="http://schemas.microsoft.com/office/powerpoint/2010/main" val="4127702521"/>
              </p:ext>
            </p:extLst>
          </p:nvPr>
        </p:nvGraphicFramePr>
        <p:xfrm>
          <a:off x="2143731" y="4966503"/>
          <a:ext cx="1008063" cy="396875"/>
        </p:xfrm>
        <a:graphic>
          <a:graphicData uri="http://schemas.openxmlformats.org/presentationml/2006/ole">
            <mc:AlternateContent xmlns:mc="http://schemas.openxmlformats.org/markup-compatibility/2006">
              <mc:Choice xmlns:v="urn:schemas-microsoft-com:vml" Requires="v">
                <p:oleObj spid="_x0000_s197444" r:id="rId19" imgW="583947" imgH="228501" progId="Equation.DSMT4">
                  <p:embed/>
                </p:oleObj>
              </mc:Choice>
              <mc:Fallback>
                <p:oleObj r:id="rId19" imgW="583947" imgH="228501" progId="Equation.DSMT4">
                  <p:embed/>
                  <p:pic>
                    <p:nvPicPr>
                      <p:cNvPr id="55306" name="Object 2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43731" y="4966503"/>
                        <a:ext cx="1008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 name="Object 24"/>
          <p:cNvGraphicFramePr>
            <a:graphicFrameLocks noChangeAspect="1"/>
          </p:cNvGraphicFramePr>
          <p:nvPr>
            <p:extLst>
              <p:ext uri="{D42A27DB-BD31-4B8C-83A1-F6EECF244321}">
                <p14:modId xmlns:p14="http://schemas.microsoft.com/office/powerpoint/2010/main" val="2305886020"/>
              </p:ext>
            </p:extLst>
          </p:nvPr>
        </p:nvGraphicFramePr>
        <p:xfrm>
          <a:off x="4932065" y="4968185"/>
          <a:ext cx="649287" cy="346075"/>
        </p:xfrm>
        <a:graphic>
          <a:graphicData uri="http://schemas.openxmlformats.org/presentationml/2006/ole">
            <mc:AlternateContent xmlns:mc="http://schemas.openxmlformats.org/markup-compatibility/2006">
              <mc:Choice xmlns:v="urn:schemas-microsoft-com:vml" Requires="v">
                <p:oleObj spid="_x0000_s197445" r:id="rId21" imgW="431613" imgH="228501" progId="Equation.DSMT4">
                  <p:embed/>
                </p:oleObj>
              </mc:Choice>
              <mc:Fallback>
                <p:oleObj r:id="rId21" imgW="431613" imgH="228501" progId="Equation.DSMT4">
                  <p:embed/>
                  <p:pic>
                    <p:nvPicPr>
                      <p:cNvPr id="55307" name="Object 2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32065" y="4968185"/>
                        <a:ext cx="64928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 name="Object 23"/>
          <p:cNvGraphicFramePr>
            <a:graphicFrameLocks noChangeAspect="1"/>
          </p:cNvGraphicFramePr>
          <p:nvPr>
            <p:extLst>
              <p:ext uri="{D42A27DB-BD31-4B8C-83A1-F6EECF244321}">
                <p14:modId xmlns:p14="http://schemas.microsoft.com/office/powerpoint/2010/main" val="1151831913"/>
              </p:ext>
            </p:extLst>
          </p:nvPr>
        </p:nvGraphicFramePr>
        <p:xfrm>
          <a:off x="7075411" y="4931741"/>
          <a:ext cx="1673053" cy="376949"/>
        </p:xfrm>
        <a:graphic>
          <a:graphicData uri="http://schemas.openxmlformats.org/presentationml/2006/ole">
            <mc:AlternateContent xmlns:mc="http://schemas.openxmlformats.org/markup-compatibility/2006">
              <mc:Choice xmlns:v="urn:schemas-microsoft-com:vml" Requires="v">
                <p:oleObj spid="_x0000_s197446" r:id="rId23" imgW="1054100" imgH="241300" progId="Equation.DSMT4">
                  <p:embed/>
                </p:oleObj>
              </mc:Choice>
              <mc:Fallback>
                <p:oleObj r:id="rId23" imgW="1054100" imgH="241300" progId="Equation.DSMT4">
                  <p:embed/>
                  <p:pic>
                    <p:nvPicPr>
                      <p:cNvPr id="55308" name="Object 2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075411" y="4931741"/>
                        <a:ext cx="1673053" cy="376949"/>
                      </a:xfrm>
                      <a:prstGeom prst="rect">
                        <a:avLst/>
                      </a:prstGeom>
                      <a:noFill/>
                      <a:ln>
                        <a:noFill/>
                      </a:ln>
                      <a:extLst/>
                    </p:spPr>
                  </p:pic>
                </p:oleObj>
              </mc:Fallback>
            </mc:AlternateContent>
          </a:graphicData>
        </a:graphic>
      </p:graphicFrame>
      <p:graphicFrame>
        <p:nvGraphicFramePr>
          <p:cNvPr id="54" name="Object 22"/>
          <p:cNvGraphicFramePr>
            <a:graphicFrameLocks noChangeAspect="1"/>
          </p:cNvGraphicFramePr>
          <p:nvPr>
            <p:extLst>
              <p:ext uri="{D42A27DB-BD31-4B8C-83A1-F6EECF244321}">
                <p14:modId xmlns:p14="http://schemas.microsoft.com/office/powerpoint/2010/main" val="3151043598"/>
              </p:ext>
            </p:extLst>
          </p:nvPr>
        </p:nvGraphicFramePr>
        <p:xfrm>
          <a:off x="3617591" y="5341278"/>
          <a:ext cx="935038" cy="519113"/>
        </p:xfrm>
        <a:graphic>
          <a:graphicData uri="http://schemas.openxmlformats.org/presentationml/2006/ole">
            <mc:AlternateContent xmlns:mc="http://schemas.openxmlformats.org/markup-compatibility/2006">
              <mc:Choice xmlns:v="urn:schemas-microsoft-com:vml" Requires="v">
                <p:oleObj spid="_x0000_s197447" r:id="rId25" imgW="431613" imgH="241195" progId="Equation.DSMT4">
                  <p:embed/>
                </p:oleObj>
              </mc:Choice>
              <mc:Fallback>
                <p:oleObj r:id="rId25" imgW="431613" imgH="241195" progId="Equation.DSMT4">
                  <p:embed/>
                  <p:pic>
                    <p:nvPicPr>
                      <p:cNvPr id="55309" name="Object 2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617591" y="5341278"/>
                        <a:ext cx="9350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 name="Rectangle 32"/>
          <p:cNvSpPr>
            <a:spLocks noChangeArrowheads="1"/>
          </p:cNvSpPr>
          <p:nvPr/>
        </p:nvSpPr>
        <p:spPr bwMode="auto">
          <a:xfrm>
            <a:off x="1645138" y="3713483"/>
            <a:ext cx="4427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由</a:t>
            </a:r>
            <a:endParaRPr lang="zh-CN" altLang="en-US" sz="2000" b="1" dirty="0"/>
          </a:p>
        </p:txBody>
      </p:sp>
      <p:sp>
        <p:nvSpPr>
          <p:cNvPr id="56" name="Rectangle 33"/>
          <p:cNvSpPr>
            <a:spLocks noChangeArrowheads="1"/>
          </p:cNvSpPr>
          <p:nvPr/>
        </p:nvSpPr>
        <p:spPr bwMode="auto">
          <a:xfrm>
            <a:off x="4021625" y="3676970"/>
            <a:ext cx="10871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  解得</a:t>
            </a:r>
            <a:endParaRPr lang="zh-CN" altLang="en-US" sz="2000" b="1" dirty="0"/>
          </a:p>
        </p:txBody>
      </p:sp>
      <p:sp>
        <p:nvSpPr>
          <p:cNvPr id="57" name="Rectangle 34"/>
          <p:cNvSpPr>
            <a:spLocks noChangeArrowheads="1"/>
          </p:cNvSpPr>
          <p:nvPr/>
        </p:nvSpPr>
        <p:spPr bwMode="auto">
          <a:xfrm>
            <a:off x="1645138" y="4436988"/>
            <a:ext cx="475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又					</a:t>
            </a:r>
            <a:endParaRPr lang="zh-CN" altLang="en-US" sz="2000" b="1" dirty="0"/>
          </a:p>
        </p:txBody>
      </p:sp>
      <p:sp>
        <p:nvSpPr>
          <p:cNvPr id="58" name="Rectangle 35"/>
          <p:cNvSpPr>
            <a:spLocks noChangeArrowheads="1"/>
          </p:cNvSpPr>
          <p:nvPr/>
        </p:nvSpPr>
        <p:spPr bwMode="auto">
          <a:xfrm>
            <a:off x="3273039" y="4324275"/>
            <a:ext cx="475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，故</a:t>
            </a:r>
            <a:r>
              <a:rPr lang="zh-CN" altLang="en-US" sz="2000" b="1" dirty="0">
                <a:solidFill>
                  <a:srgbClr val="FF0000"/>
                </a:solidFill>
                <a:latin typeface="Times New Roman" panose="02020603050405020304" pitchFamily="18" charset="0"/>
                <a:cs typeface="Times New Roman" panose="02020603050405020304" pitchFamily="18" charset="0"/>
              </a:rPr>
              <a:t>该点为极小值点</a:t>
            </a:r>
            <a:r>
              <a:rPr lang="zh-CN" altLang="en-US" sz="2000" b="1" dirty="0">
                <a:latin typeface="Times New Roman" panose="02020603050405020304" pitchFamily="18" charset="0"/>
                <a:cs typeface="Times New Roman" panose="02020603050405020304" pitchFamily="18" charset="0"/>
              </a:rPr>
              <a:t>。而		</a:t>
            </a:r>
            <a:endParaRPr lang="zh-CN" altLang="en-US" sz="2000" b="1" dirty="0"/>
          </a:p>
        </p:txBody>
      </p:sp>
      <p:sp>
        <p:nvSpPr>
          <p:cNvPr id="59" name="Rectangle 36"/>
          <p:cNvSpPr>
            <a:spLocks noChangeArrowheads="1"/>
          </p:cNvSpPr>
          <p:nvPr/>
        </p:nvSpPr>
        <p:spPr bwMode="auto">
          <a:xfrm>
            <a:off x="1711931" y="4964886"/>
            <a:ext cx="4427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故</a:t>
            </a:r>
            <a:endParaRPr lang="zh-CN" altLang="en-US" sz="2000" b="1" dirty="0"/>
          </a:p>
        </p:txBody>
      </p:sp>
      <p:sp>
        <p:nvSpPr>
          <p:cNvPr id="60" name="Rectangle 37"/>
          <p:cNvSpPr>
            <a:spLocks noChangeArrowheads="1"/>
          </p:cNvSpPr>
          <p:nvPr/>
        </p:nvSpPr>
        <p:spPr bwMode="auto">
          <a:xfrm>
            <a:off x="3131840" y="4941168"/>
            <a:ext cx="17331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的最大值点在</a:t>
            </a:r>
            <a:endParaRPr lang="zh-CN" altLang="en-US" sz="2000" b="1" dirty="0"/>
          </a:p>
        </p:txBody>
      </p:sp>
      <p:sp>
        <p:nvSpPr>
          <p:cNvPr id="61" name="Rectangle 38"/>
          <p:cNvSpPr>
            <a:spLocks noChangeArrowheads="1"/>
          </p:cNvSpPr>
          <p:nvPr/>
        </p:nvSpPr>
        <p:spPr bwMode="auto">
          <a:xfrm>
            <a:off x="5652790" y="4941168"/>
            <a:ext cx="1475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a:latin typeface="Times New Roman" panose="02020603050405020304" pitchFamily="18" charset="0"/>
                <a:cs typeface="Times New Roman" panose="02020603050405020304" pitchFamily="18" charset="0"/>
              </a:rPr>
              <a:t>处，所以得</a:t>
            </a:r>
            <a:endParaRPr lang="zh-CN" altLang="en-US" sz="2000" b="1"/>
          </a:p>
        </p:txBody>
      </p:sp>
      <p:sp>
        <p:nvSpPr>
          <p:cNvPr id="62" name="Rectangle 39"/>
          <p:cNvSpPr>
            <a:spLocks noChangeArrowheads="1"/>
          </p:cNvSpPr>
          <p:nvPr/>
        </p:nvSpPr>
        <p:spPr bwMode="auto">
          <a:xfrm>
            <a:off x="1689304" y="5411289"/>
            <a:ext cx="19912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及相应的最优解</a:t>
            </a:r>
            <a:endParaRPr lang="zh-CN" altLang="en-US" sz="2000" b="1" dirty="0"/>
          </a:p>
        </p:txBody>
      </p:sp>
      <p:sp>
        <p:nvSpPr>
          <p:cNvPr id="63" name="Rectangle 29"/>
          <p:cNvSpPr>
            <a:spLocks noChangeArrowheads="1"/>
          </p:cNvSpPr>
          <p:nvPr/>
        </p:nvSpPr>
        <p:spPr bwMode="auto">
          <a:xfrm>
            <a:off x="1689304" y="5809722"/>
            <a:ext cx="63373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由于</a:t>
            </a:r>
            <a:r>
              <a:rPr lang="en-US" altLang="zh-CN" sz="2000" b="1" dirty="0">
                <a:latin typeface="Times New Roman" panose="02020603050405020304" pitchFamily="18" charset="0"/>
                <a:cs typeface="Times New Roman" panose="02020603050405020304" pitchFamily="18" charset="0"/>
              </a:rPr>
              <a:t>s</a:t>
            </a:r>
            <a:r>
              <a:rPr lang="en-US" altLang="zh-CN" sz="2000" b="1" baseline="-25000" dirty="0">
                <a:latin typeface="Times New Roman" panose="02020603050405020304" pitchFamily="18" charset="0"/>
                <a:cs typeface="Times New Roman" panose="02020603050405020304" pitchFamily="18" charset="0"/>
              </a:rPr>
              <a:t>3</a:t>
            </a:r>
            <a:r>
              <a:rPr lang="zh-CN" altLang="en-US" sz="2000" b="1" dirty="0">
                <a:latin typeface="Times New Roman" panose="02020603050405020304" pitchFamily="18" charset="0"/>
              </a:rPr>
              <a:t>不知道，故须再对</a:t>
            </a:r>
            <a:r>
              <a:rPr lang="en-US" altLang="zh-CN" sz="2000" b="1" dirty="0">
                <a:latin typeface="Times New Roman" panose="02020603050405020304" pitchFamily="18" charset="0"/>
              </a:rPr>
              <a:t>s</a:t>
            </a:r>
            <a:r>
              <a:rPr lang="en-US" altLang="zh-CN" sz="2000" b="1" baseline="-25000" dirty="0">
                <a:latin typeface="Times New Roman" panose="02020603050405020304" pitchFamily="18" charset="0"/>
              </a:rPr>
              <a:t>3</a:t>
            </a:r>
            <a:r>
              <a:rPr lang="zh-CN" altLang="en-US" sz="2000" b="1" dirty="0">
                <a:latin typeface="Times New Roman" panose="02020603050405020304" pitchFamily="18" charset="0"/>
              </a:rPr>
              <a:t>求一次极值，</a:t>
            </a:r>
            <a:r>
              <a:rPr lang="zh-CN" altLang="en-US" sz="2000" b="1" dirty="0" smtClean="0">
                <a:latin typeface="Times New Roman" panose="02020603050405020304" pitchFamily="18" charset="0"/>
              </a:rPr>
              <a:t>即</a:t>
            </a:r>
            <a:endParaRPr lang="en-US" altLang="zh-CN" sz="2000" b="1" dirty="0">
              <a:latin typeface="Times New Roman" panose="02020603050405020304" pitchFamily="18" charset="0"/>
            </a:endParaRPr>
          </a:p>
        </p:txBody>
      </p:sp>
      <p:graphicFrame>
        <p:nvGraphicFramePr>
          <p:cNvPr id="64" name="Object 26"/>
          <p:cNvGraphicFramePr>
            <a:graphicFrameLocks noChangeAspect="1"/>
          </p:cNvGraphicFramePr>
          <p:nvPr>
            <p:extLst>
              <p:ext uri="{D42A27DB-BD31-4B8C-83A1-F6EECF244321}">
                <p14:modId xmlns:p14="http://schemas.microsoft.com/office/powerpoint/2010/main" val="672724859"/>
              </p:ext>
            </p:extLst>
          </p:nvPr>
        </p:nvGraphicFramePr>
        <p:xfrm>
          <a:off x="6534924" y="5755777"/>
          <a:ext cx="2573924" cy="454055"/>
        </p:xfrm>
        <a:graphic>
          <a:graphicData uri="http://schemas.openxmlformats.org/presentationml/2006/ole">
            <mc:AlternateContent xmlns:mc="http://schemas.openxmlformats.org/markup-compatibility/2006">
              <mc:Choice xmlns:v="urn:schemas-microsoft-com:vml" Requires="v">
                <p:oleObj spid="_x0000_s197448" r:id="rId27" imgW="1777229" imgH="317362" progId="Equation.DSMT4">
                  <p:embed/>
                </p:oleObj>
              </mc:Choice>
              <mc:Fallback>
                <p:oleObj r:id="rId27" imgW="1777229" imgH="317362" progId="Equation.DSMT4">
                  <p:embed/>
                  <p:pic>
                    <p:nvPicPr>
                      <p:cNvPr id="56326" name="Object 2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534924" y="5755777"/>
                        <a:ext cx="2573924" cy="454055"/>
                      </a:xfrm>
                      <a:prstGeom prst="rect">
                        <a:avLst/>
                      </a:prstGeom>
                      <a:noFill/>
                      <a:ln>
                        <a:noFill/>
                      </a:ln>
                      <a:extLst/>
                    </p:spPr>
                  </p:pic>
                </p:oleObj>
              </mc:Fallback>
            </mc:AlternateContent>
          </a:graphicData>
        </a:graphic>
      </p:graphicFrame>
      <p:graphicFrame>
        <p:nvGraphicFramePr>
          <p:cNvPr id="65" name="Object 25"/>
          <p:cNvGraphicFramePr>
            <a:graphicFrameLocks noChangeAspect="1"/>
          </p:cNvGraphicFramePr>
          <p:nvPr>
            <p:extLst>
              <p:ext uri="{D42A27DB-BD31-4B8C-83A1-F6EECF244321}">
                <p14:modId xmlns:p14="http://schemas.microsoft.com/office/powerpoint/2010/main" val="147031797"/>
              </p:ext>
            </p:extLst>
          </p:nvPr>
        </p:nvGraphicFramePr>
        <p:xfrm>
          <a:off x="2797663" y="6211389"/>
          <a:ext cx="632185" cy="369935"/>
        </p:xfrm>
        <a:graphic>
          <a:graphicData uri="http://schemas.openxmlformats.org/presentationml/2006/ole">
            <mc:AlternateContent xmlns:mc="http://schemas.openxmlformats.org/markup-compatibility/2006">
              <mc:Choice xmlns:v="urn:schemas-microsoft-com:vml" Requires="v">
                <p:oleObj spid="_x0000_s197449" r:id="rId29" imgW="393529" imgH="228501" progId="Equation.DSMT4">
                  <p:embed/>
                </p:oleObj>
              </mc:Choice>
              <mc:Fallback>
                <p:oleObj r:id="rId29" imgW="393529" imgH="228501" progId="Equation.DSMT4">
                  <p:embed/>
                  <p:pic>
                    <p:nvPicPr>
                      <p:cNvPr id="56327" name="Object 2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797663" y="6211389"/>
                        <a:ext cx="632185" cy="369935"/>
                      </a:xfrm>
                      <a:prstGeom prst="rect">
                        <a:avLst/>
                      </a:prstGeom>
                      <a:noFill/>
                      <a:ln>
                        <a:noFill/>
                      </a:ln>
                      <a:extLst/>
                    </p:spPr>
                  </p:pic>
                </p:oleObj>
              </mc:Fallback>
            </mc:AlternateContent>
          </a:graphicData>
        </a:graphic>
      </p:graphicFrame>
      <p:graphicFrame>
        <p:nvGraphicFramePr>
          <p:cNvPr id="66" name="Object 24"/>
          <p:cNvGraphicFramePr>
            <a:graphicFrameLocks noChangeAspect="1"/>
          </p:cNvGraphicFramePr>
          <p:nvPr>
            <p:extLst>
              <p:ext uri="{D42A27DB-BD31-4B8C-83A1-F6EECF244321}">
                <p14:modId xmlns:p14="http://schemas.microsoft.com/office/powerpoint/2010/main" val="3455312603"/>
              </p:ext>
            </p:extLst>
          </p:nvPr>
        </p:nvGraphicFramePr>
        <p:xfrm>
          <a:off x="3635896" y="6211390"/>
          <a:ext cx="792162" cy="442912"/>
        </p:xfrm>
        <a:graphic>
          <a:graphicData uri="http://schemas.openxmlformats.org/presentationml/2006/ole">
            <mc:AlternateContent xmlns:mc="http://schemas.openxmlformats.org/markup-compatibility/2006">
              <mc:Choice xmlns:v="urn:schemas-microsoft-com:vml" Requires="v">
                <p:oleObj spid="_x0000_s197450" r:id="rId31" imgW="406224" imgH="228501" progId="Equation.DSMT4">
                  <p:embed/>
                </p:oleObj>
              </mc:Choice>
              <mc:Fallback>
                <p:oleObj r:id="rId31" imgW="406224" imgH="228501" progId="Equation.DSMT4">
                  <p:embed/>
                  <p:pic>
                    <p:nvPicPr>
                      <p:cNvPr id="56328" name="Object 24"/>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635896" y="6211390"/>
                        <a:ext cx="792162"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 name="Object 23"/>
          <p:cNvGraphicFramePr>
            <a:graphicFrameLocks noChangeAspect="1"/>
          </p:cNvGraphicFramePr>
          <p:nvPr>
            <p:extLst>
              <p:ext uri="{D42A27DB-BD31-4B8C-83A1-F6EECF244321}">
                <p14:modId xmlns:p14="http://schemas.microsoft.com/office/powerpoint/2010/main" val="871734853"/>
              </p:ext>
            </p:extLst>
          </p:nvPr>
        </p:nvGraphicFramePr>
        <p:xfrm>
          <a:off x="6948264" y="6260604"/>
          <a:ext cx="2030127" cy="327046"/>
        </p:xfrm>
        <a:graphic>
          <a:graphicData uri="http://schemas.openxmlformats.org/presentationml/2006/ole">
            <mc:AlternateContent xmlns:mc="http://schemas.openxmlformats.org/markup-compatibility/2006">
              <mc:Choice xmlns:v="urn:schemas-microsoft-com:vml" Requires="v">
                <p:oleObj spid="_x0000_s197451" r:id="rId33" imgW="1473200" imgH="241300" progId="Equation.DSMT4">
                  <p:embed/>
                </p:oleObj>
              </mc:Choice>
              <mc:Fallback>
                <p:oleObj r:id="rId33" imgW="1473200" imgH="241300" progId="Equation.DSMT4">
                  <p:embed/>
                  <p:pic>
                    <p:nvPicPr>
                      <p:cNvPr id="56329" name="Object 23"/>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948264" y="6260604"/>
                        <a:ext cx="2030127" cy="327046"/>
                      </a:xfrm>
                      <a:prstGeom prst="rect">
                        <a:avLst/>
                      </a:prstGeom>
                      <a:noFill/>
                      <a:ln>
                        <a:noFill/>
                      </a:ln>
                      <a:extLst/>
                    </p:spPr>
                  </p:pic>
                </p:oleObj>
              </mc:Fallback>
            </mc:AlternateContent>
          </a:graphicData>
        </a:graphic>
      </p:graphicFrame>
      <p:sp>
        <p:nvSpPr>
          <p:cNvPr id="68" name="Rectangle 32"/>
          <p:cNvSpPr>
            <a:spLocks noChangeArrowheads="1"/>
          </p:cNvSpPr>
          <p:nvPr/>
        </p:nvSpPr>
        <p:spPr bwMode="auto">
          <a:xfrm>
            <a:off x="1645138" y="6209773"/>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显然，当</a:t>
            </a:r>
            <a:endParaRPr lang="zh-CN" altLang="en-US" sz="2000" b="1" dirty="0"/>
          </a:p>
        </p:txBody>
      </p:sp>
      <p:sp>
        <p:nvSpPr>
          <p:cNvPr id="69" name="Rectangle 33"/>
          <p:cNvSpPr>
            <a:spLocks noChangeArrowheads="1"/>
          </p:cNvSpPr>
          <p:nvPr/>
        </p:nvSpPr>
        <p:spPr bwMode="auto">
          <a:xfrm>
            <a:off x="3347666" y="6211390"/>
            <a:ext cx="5762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时</a:t>
            </a:r>
            <a:endParaRPr lang="zh-CN" altLang="en-US" sz="2000" b="1" dirty="0"/>
          </a:p>
        </p:txBody>
      </p:sp>
      <p:sp>
        <p:nvSpPr>
          <p:cNvPr id="70" name="Rectangle 34"/>
          <p:cNvSpPr>
            <a:spLocks noChangeArrowheads="1"/>
          </p:cNvSpPr>
          <p:nvPr/>
        </p:nvSpPr>
        <p:spPr bwMode="auto">
          <a:xfrm>
            <a:off x="4283596" y="6209773"/>
            <a:ext cx="27655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才能达到最大值。所以</a:t>
            </a:r>
            <a:endParaRPr lang="zh-CN" altLang="en-US" sz="2000" b="1" dirty="0"/>
          </a:p>
        </p:txBody>
      </p:sp>
    </p:spTree>
    <p:extLst>
      <p:ext uri="{BB962C8B-B14F-4D97-AF65-F5344CB8AC3E}">
        <p14:creationId xmlns:p14="http://schemas.microsoft.com/office/powerpoint/2010/main" val="4098474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55" grpId="0"/>
      <p:bldP spid="56" grpId="0"/>
      <p:bldP spid="57" grpId="0"/>
      <p:bldP spid="58" grpId="0"/>
      <p:bldP spid="59" grpId="0"/>
      <p:bldP spid="60" grpId="0"/>
      <p:bldP spid="61" grpId="0"/>
      <p:bldP spid="62" grpId="0"/>
      <p:bldP spid="63" grpId="0"/>
      <p:bldP spid="68" grpId="0"/>
      <p:bldP spid="69" grpId="0"/>
      <p:bldP spid="7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p:nvPr>
        </p:nvSpPr>
        <p:spPr/>
        <p:txBody>
          <a:bodyPr/>
          <a:lstStyle/>
          <a:p>
            <a:pPr eaLnBrk="1" hangingPunct="1"/>
            <a:r>
              <a:rPr lang="en-US" altLang="zh-CN" dirty="0"/>
              <a:t>8.3.2  </a:t>
            </a:r>
            <a:r>
              <a:rPr lang="zh-CN" altLang="en-US" dirty="0"/>
              <a:t>顺推解法</a:t>
            </a:r>
          </a:p>
        </p:txBody>
      </p:sp>
      <p:sp>
        <p:nvSpPr>
          <p:cNvPr id="2" name="内容占位符 1"/>
          <p:cNvSpPr>
            <a:spLocks noGrp="1"/>
          </p:cNvSpPr>
          <p:nvPr>
            <p:ph idx="1"/>
          </p:nvPr>
        </p:nvSpPr>
        <p:spPr>
          <a:xfrm>
            <a:off x="539552" y="1133709"/>
            <a:ext cx="8280920" cy="904863"/>
          </a:xfrm>
        </p:spPr>
        <p:txBody>
          <a:bodyPr/>
          <a:lstStyle/>
          <a:p>
            <a:r>
              <a:rPr lang="zh-CN" altLang="en-US" dirty="0"/>
              <a:t>增例</a:t>
            </a:r>
            <a:r>
              <a:rPr lang="en-US" altLang="zh-CN" dirty="0"/>
              <a:t>1</a:t>
            </a:r>
            <a:r>
              <a:rPr lang="zh-CN" altLang="en-US" dirty="0"/>
              <a:t>：用动态规划方法解下面问题</a:t>
            </a:r>
          </a:p>
          <a:p>
            <a:endParaRPr lang="zh-CN" altLang="en-US" dirty="0"/>
          </a:p>
        </p:txBody>
      </p:sp>
      <p:sp>
        <p:nvSpPr>
          <p:cNvPr id="53251"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E748B31-8EFF-4B54-9E2A-C85278F47A4A}" type="slidenum">
              <a:rPr lang="en-US" altLang="zh-CN" sz="1000"/>
              <a:pPr>
                <a:spcBef>
                  <a:spcPct val="0"/>
                </a:spcBef>
                <a:buClrTx/>
                <a:buSzTx/>
                <a:buFontTx/>
                <a:buNone/>
              </a:pPr>
              <a:t>45</a:t>
            </a:fld>
            <a:endParaRPr lang="en-US" altLang="zh-CN" sz="1000"/>
          </a:p>
        </p:txBody>
      </p:sp>
      <p:graphicFrame>
        <p:nvGraphicFramePr>
          <p:cNvPr id="53253" name="Object 27"/>
          <p:cNvGraphicFramePr>
            <a:graphicFrameLocks noChangeAspect="1"/>
          </p:cNvGraphicFramePr>
          <p:nvPr>
            <p:extLst>
              <p:ext uri="{D42A27DB-BD31-4B8C-83A1-F6EECF244321}">
                <p14:modId xmlns:p14="http://schemas.microsoft.com/office/powerpoint/2010/main" val="3613139329"/>
              </p:ext>
            </p:extLst>
          </p:nvPr>
        </p:nvGraphicFramePr>
        <p:xfrm>
          <a:off x="6032207" y="1133709"/>
          <a:ext cx="3095625" cy="1289050"/>
        </p:xfrm>
        <a:graphic>
          <a:graphicData uri="http://schemas.openxmlformats.org/presentationml/2006/ole">
            <mc:AlternateContent xmlns:mc="http://schemas.openxmlformats.org/markup-compatibility/2006">
              <mc:Choice xmlns:v="urn:schemas-microsoft-com:vml" Requires="v">
                <p:oleObj spid="_x0000_s198017" r:id="rId3" imgW="1765300" imgH="736600" progId="Equation.DSMT4">
                  <p:embed/>
                </p:oleObj>
              </mc:Choice>
              <mc:Fallback>
                <p:oleObj r:id="rId3" imgW="1765300" imgH="736600" progId="Equation.DSMT4">
                  <p:embed/>
                  <p:pic>
                    <p:nvPicPr>
                      <p:cNvPr id="53253"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2207" y="1133709"/>
                        <a:ext cx="3095625"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4" name="Object 38"/>
          <p:cNvGraphicFramePr>
            <a:graphicFrameLocks noChangeAspect="1"/>
          </p:cNvGraphicFramePr>
          <p:nvPr/>
        </p:nvGraphicFramePr>
        <p:xfrm>
          <a:off x="1445302" y="1692417"/>
          <a:ext cx="4537075" cy="420688"/>
        </p:xfrm>
        <a:graphic>
          <a:graphicData uri="http://schemas.openxmlformats.org/presentationml/2006/ole">
            <mc:AlternateContent xmlns:mc="http://schemas.openxmlformats.org/markup-compatibility/2006">
              <mc:Choice xmlns:v="urn:schemas-microsoft-com:vml" Requires="v">
                <p:oleObj spid="_x0000_s198018" r:id="rId5" imgW="2463800" imgH="228600" progId="Equation.DSMT4">
                  <p:embed/>
                </p:oleObj>
              </mc:Choice>
              <mc:Fallback>
                <p:oleObj r:id="rId5" imgW="2463800" imgH="228600" progId="Equation.DSMT4">
                  <p:embed/>
                  <p:pic>
                    <p:nvPicPr>
                      <p:cNvPr id="53264" name="Object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5302" y="1692417"/>
                        <a:ext cx="453707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5" name="Object 37"/>
          <p:cNvGraphicFramePr>
            <a:graphicFrameLocks noChangeAspect="1"/>
          </p:cNvGraphicFramePr>
          <p:nvPr/>
        </p:nvGraphicFramePr>
        <p:xfrm>
          <a:off x="1676315" y="2132856"/>
          <a:ext cx="4465637" cy="436563"/>
        </p:xfrm>
        <a:graphic>
          <a:graphicData uri="http://schemas.openxmlformats.org/presentationml/2006/ole">
            <mc:AlternateContent xmlns:mc="http://schemas.openxmlformats.org/markup-compatibility/2006">
              <mc:Choice xmlns:v="urn:schemas-microsoft-com:vml" Requires="v">
                <p:oleObj spid="_x0000_s198019" r:id="rId7" imgW="2336800" imgH="228600" progId="Equation.DSMT4">
                  <p:embed/>
                </p:oleObj>
              </mc:Choice>
              <mc:Fallback>
                <p:oleObj r:id="rId7" imgW="2336800" imgH="228600" progId="Equation.DSMT4">
                  <p:embed/>
                  <p:pic>
                    <p:nvPicPr>
                      <p:cNvPr id="53265"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315" y="2132856"/>
                        <a:ext cx="4465637"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66" name="Text Box 41"/>
          <p:cNvSpPr txBox="1">
            <a:spLocks noChangeArrowheads="1"/>
          </p:cNvSpPr>
          <p:nvPr/>
        </p:nvSpPr>
        <p:spPr bwMode="auto">
          <a:xfrm>
            <a:off x="885368" y="1692417"/>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2000" b="1" dirty="0" smtClean="0"/>
              <a:t>设</a:t>
            </a:r>
            <a:r>
              <a:rPr lang="zh-CN" altLang="en-US" sz="2000" b="1" dirty="0"/>
              <a:t>：</a:t>
            </a:r>
          </a:p>
        </p:txBody>
      </p:sp>
      <p:sp>
        <p:nvSpPr>
          <p:cNvPr id="53267" name="Text Box 42"/>
          <p:cNvSpPr txBox="1">
            <a:spLocks noChangeArrowheads="1"/>
          </p:cNvSpPr>
          <p:nvPr/>
        </p:nvSpPr>
        <p:spPr bwMode="auto">
          <a:xfrm>
            <a:off x="885367" y="2132856"/>
            <a:ext cx="9589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2000" b="1" dirty="0"/>
              <a:t>则</a:t>
            </a:r>
            <a:r>
              <a:rPr lang="zh-CN" altLang="en-US" sz="2000" b="1" dirty="0" smtClean="0"/>
              <a:t>有：</a:t>
            </a:r>
            <a:endParaRPr lang="zh-CN" altLang="en-US" sz="2000" b="1" dirty="0"/>
          </a:p>
        </p:txBody>
      </p:sp>
      <p:sp>
        <p:nvSpPr>
          <p:cNvPr id="21" name="Rectangle 28"/>
          <p:cNvSpPr>
            <a:spLocks noChangeArrowheads="1"/>
          </p:cNvSpPr>
          <p:nvPr/>
        </p:nvSpPr>
        <p:spPr bwMode="auto">
          <a:xfrm>
            <a:off x="885367" y="2492896"/>
            <a:ext cx="37978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用顺推方法，从前向后依次</a:t>
            </a:r>
            <a:r>
              <a:rPr lang="zh-CN" altLang="en-US" sz="2000" b="1" dirty="0" smtClean="0">
                <a:latin typeface="Times New Roman" panose="02020603050405020304" pitchFamily="18" charset="0"/>
                <a:cs typeface="Times New Roman" panose="02020603050405020304" pitchFamily="18" charset="0"/>
              </a:rPr>
              <a:t>有：</a:t>
            </a:r>
            <a:endParaRPr lang="zh-CN" altLang="en-US" sz="2000" b="1" dirty="0"/>
          </a:p>
        </p:txBody>
      </p:sp>
      <p:cxnSp>
        <p:nvCxnSpPr>
          <p:cNvPr id="22" name="直接连接符 21"/>
          <p:cNvCxnSpPr/>
          <p:nvPr/>
        </p:nvCxnSpPr>
        <p:spPr bwMode="auto">
          <a:xfrm flipV="1">
            <a:off x="395536" y="2853380"/>
            <a:ext cx="8424936" cy="71564"/>
          </a:xfrm>
          <a:prstGeom prst="line">
            <a:avLst/>
          </a:pr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Rectangle 53"/>
          <p:cNvSpPr>
            <a:spLocks noChangeArrowheads="1"/>
          </p:cNvSpPr>
          <p:nvPr/>
        </p:nvSpPr>
        <p:spPr bwMode="auto">
          <a:xfrm>
            <a:off x="885367" y="2956882"/>
            <a:ext cx="7406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i="1" dirty="0" smtClean="0">
                <a:latin typeface="Times New Roman" panose="02020603050405020304" pitchFamily="18" charset="0"/>
                <a:cs typeface="Times New Roman" panose="02020603050405020304" pitchFamily="18" charset="0"/>
              </a:rPr>
              <a:t>k</a:t>
            </a:r>
            <a:r>
              <a:rPr lang="en-US" altLang="zh-CN" sz="2000" b="1" dirty="0" smtClean="0">
                <a:latin typeface="Times New Roman" panose="02020603050405020304" pitchFamily="18" charset="0"/>
                <a:cs typeface="Times New Roman" panose="02020603050405020304" pitchFamily="18" charset="0"/>
              </a:rPr>
              <a:t>=1:</a:t>
            </a:r>
            <a:endParaRPr lang="zh-CN" altLang="en-US" sz="2000" b="1" dirty="0"/>
          </a:p>
        </p:txBody>
      </p:sp>
      <p:sp>
        <p:nvSpPr>
          <p:cNvPr id="40" name="Rectangle 53"/>
          <p:cNvSpPr>
            <a:spLocks noChangeArrowheads="1"/>
          </p:cNvSpPr>
          <p:nvPr/>
        </p:nvSpPr>
        <p:spPr bwMode="auto">
          <a:xfrm>
            <a:off x="3081350" y="2924944"/>
            <a:ext cx="7786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i="1" dirty="0" smtClean="0">
                <a:latin typeface="Times New Roman" panose="02020603050405020304" pitchFamily="18" charset="0"/>
                <a:cs typeface="Times New Roman" panose="02020603050405020304" pitchFamily="18" charset="0"/>
              </a:rPr>
              <a:t>k</a:t>
            </a:r>
            <a:r>
              <a:rPr lang="en-US" altLang="zh-CN" sz="2000" b="1" dirty="0" smtClean="0">
                <a:latin typeface="Times New Roman" panose="02020603050405020304" pitchFamily="18" charset="0"/>
                <a:cs typeface="Times New Roman" panose="02020603050405020304" pitchFamily="18" charset="0"/>
              </a:rPr>
              <a:t>=2:</a:t>
            </a:r>
            <a:endParaRPr lang="zh-CN" altLang="en-US" sz="2000" b="1" dirty="0"/>
          </a:p>
        </p:txBody>
      </p:sp>
      <p:sp>
        <p:nvSpPr>
          <p:cNvPr id="41" name="Rectangle 53"/>
          <p:cNvSpPr>
            <a:spLocks noChangeArrowheads="1"/>
          </p:cNvSpPr>
          <p:nvPr/>
        </p:nvSpPr>
        <p:spPr bwMode="auto">
          <a:xfrm>
            <a:off x="5428160" y="2884874"/>
            <a:ext cx="7406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b="1" i="1" dirty="0" smtClean="0">
                <a:latin typeface="Times New Roman" panose="02020603050405020304" pitchFamily="18" charset="0"/>
                <a:cs typeface="Times New Roman" panose="02020603050405020304" pitchFamily="18" charset="0"/>
              </a:rPr>
              <a:t>k</a:t>
            </a:r>
            <a:r>
              <a:rPr lang="en-US" altLang="zh-CN" sz="2000" b="1" dirty="0" smtClean="0">
                <a:latin typeface="Times New Roman" panose="02020603050405020304" pitchFamily="18" charset="0"/>
                <a:cs typeface="Times New Roman" panose="02020603050405020304" pitchFamily="18" charset="0"/>
              </a:rPr>
              <a:t>=3:</a:t>
            </a:r>
            <a:endParaRPr lang="zh-CN" altLang="en-US" sz="2000" b="1" dirty="0"/>
          </a:p>
        </p:txBody>
      </p:sp>
      <p:sp>
        <p:nvSpPr>
          <p:cNvPr id="44" name="Rectangle 35"/>
          <p:cNvSpPr>
            <a:spLocks noChangeArrowheads="1"/>
          </p:cNvSpPr>
          <p:nvPr/>
        </p:nvSpPr>
        <p:spPr bwMode="auto">
          <a:xfrm>
            <a:off x="859262" y="3428941"/>
            <a:ext cx="53848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smtClean="0">
                <a:latin typeface="Times New Roman" panose="02020603050405020304" pitchFamily="18" charset="0"/>
                <a:cs typeface="Times New Roman" panose="02020603050405020304" pitchFamily="18" charset="0"/>
              </a:rPr>
              <a:t>反序推算</a:t>
            </a:r>
            <a:r>
              <a:rPr lang="zh-CN" altLang="en-US" sz="2000" b="1" dirty="0">
                <a:latin typeface="Times New Roman" panose="02020603050405020304" pitchFamily="18" charset="0"/>
                <a:cs typeface="Times New Roman" panose="02020603050405020304" pitchFamily="18" charset="0"/>
              </a:rPr>
              <a:t>，可得各阶段的最优决策和最优值。</a:t>
            </a:r>
            <a:r>
              <a:rPr lang="zh-CN" altLang="en-US" sz="2000" b="1" dirty="0"/>
              <a:t> </a:t>
            </a:r>
          </a:p>
        </p:txBody>
      </p:sp>
      <p:graphicFrame>
        <p:nvGraphicFramePr>
          <p:cNvPr id="84" name="Object 27"/>
          <p:cNvGraphicFramePr>
            <a:graphicFrameLocks noChangeAspect="1"/>
          </p:cNvGraphicFramePr>
          <p:nvPr>
            <p:extLst>
              <p:ext uri="{D42A27DB-BD31-4B8C-83A1-F6EECF244321}">
                <p14:modId xmlns:p14="http://schemas.microsoft.com/office/powerpoint/2010/main" val="2214476597"/>
              </p:ext>
            </p:extLst>
          </p:nvPr>
        </p:nvGraphicFramePr>
        <p:xfrm>
          <a:off x="1586201" y="2924944"/>
          <a:ext cx="687387" cy="571500"/>
        </p:xfrm>
        <a:graphic>
          <a:graphicData uri="http://schemas.openxmlformats.org/presentationml/2006/ole">
            <mc:AlternateContent xmlns:mc="http://schemas.openxmlformats.org/markup-compatibility/2006">
              <mc:Choice xmlns:v="urn:schemas-microsoft-com:vml" Requires="v">
                <p:oleObj spid="_x0000_s198020" name="Equation" r:id="rId9" imgW="469800" imgH="393480" progId="Equation.DSMT4">
                  <p:embed/>
                </p:oleObj>
              </mc:Choice>
              <mc:Fallback>
                <p:oleObj name="Equation" r:id="rId9" imgW="469800" imgH="393480" progId="Equation.DSMT4">
                  <p:embed/>
                  <p:pic>
                    <p:nvPicPr>
                      <p:cNvPr id="46" name="Object 27"/>
                      <p:cNvPicPr>
                        <a:picLocks noChangeAspect="1" noChangeArrowheads="1"/>
                      </p:cNvPicPr>
                      <p:nvPr/>
                    </p:nvPicPr>
                    <p:blipFill>
                      <a:blip r:embed="rId10"/>
                      <a:srcRect/>
                      <a:stretch>
                        <a:fillRect/>
                      </a:stretch>
                    </p:blipFill>
                    <p:spPr bwMode="auto">
                      <a:xfrm>
                        <a:off x="1586201" y="2924944"/>
                        <a:ext cx="6873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 name="Object 18"/>
          <p:cNvGraphicFramePr>
            <a:graphicFrameLocks noChangeAspect="1"/>
          </p:cNvGraphicFramePr>
          <p:nvPr>
            <p:extLst>
              <p:ext uri="{D42A27DB-BD31-4B8C-83A1-F6EECF244321}">
                <p14:modId xmlns:p14="http://schemas.microsoft.com/office/powerpoint/2010/main" val="2273840342"/>
              </p:ext>
            </p:extLst>
          </p:nvPr>
        </p:nvGraphicFramePr>
        <p:xfrm>
          <a:off x="3722158" y="2953248"/>
          <a:ext cx="576262" cy="334962"/>
        </p:xfrm>
        <a:graphic>
          <a:graphicData uri="http://schemas.openxmlformats.org/presentationml/2006/ole">
            <mc:AlternateContent xmlns:mc="http://schemas.openxmlformats.org/markup-compatibility/2006">
              <mc:Choice xmlns:v="urn:schemas-microsoft-com:vml" Requires="v">
                <p:oleObj spid="_x0000_s198021" name="Equation" r:id="rId11" imgW="406080" imgH="241200" progId="Equation.DSMT4">
                  <p:embed/>
                </p:oleObj>
              </mc:Choice>
              <mc:Fallback>
                <p:oleObj name="Equation" r:id="rId11" imgW="406080" imgH="241200" progId="Equation.DSMT4">
                  <p:embed/>
                  <p:pic>
                    <p:nvPicPr>
                      <p:cNvPr id="67" name="Object 18"/>
                      <p:cNvPicPr>
                        <a:picLocks noChangeAspect="1" noChangeArrowheads="1"/>
                      </p:cNvPicPr>
                      <p:nvPr/>
                    </p:nvPicPr>
                    <p:blipFill>
                      <a:blip r:embed="rId12"/>
                      <a:srcRect/>
                      <a:stretch>
                        <a:fillRect/>
                      </a:stretch>
                    </p:blipFill>
                    <p:spPr bwMode="auto">
                      <a:xfrm>
                        <a:off x="3722158" y="2953248"/>
                        <a:ext cx="57626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 name="Object 22"/>
          <p:cNvGraphicFramePr>
            <a:graphicFrameLocks noChangeAspect="1"/>
          </p:cNvGraphicFramePr>
          <p:nvPr>
            <p:extLst>
              <p:ext uri="{D42A27DB-BD31-4B8C-83A1-F6EECF244321}">
                <p14:modId xmlns:p14="http://schemas.microsoft.com/office/powerpoint/2010/main" val="2627684969"/>
              </p:ext>
            </p:extLst>
          </p:nvPr>
        </p:nvGraphicFramePr>
        <p:xfrm>
          <a:off x="6084168" y="2908653"/>
          <a:ext cx="677855" cy="376331"/>
        </p:xfrm>
        <a:graphic>
          <a:graphicData uri="http://schemas.openxmlformats.org/presentationml/2006/ole">
            <mc:AlternateContent xmlns:mc="http://schemas.openxmlformats.org/markup-compatibility/2006">
              <mc:Choice xmlns:v="urn:schemas-microsoft-com:vml" Requires="v">
                <p:oleObj spid="_x0000_s198022" r:id="rId13" imgW="431613" imgH="241195" progId="Equation.DSMT4">
                  <p:embed/>
                </p:oleObj>
              </mc:Choice>
              <mc:Fallback>
                <p:oleObj r:id="rId13" imgW="431613" imgH="241195" progId="Equation.DSMT4">
                  <p:embed/>
                  <p:pic>
                    <p:nvPicPr>
                      <p:cNvPr id="54"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84168" y="2908653"/>
                        <a:ext cx="677855" cy="376331"/>
                      </a:xfrm>
                      <a:prstGeom prst="rect">
                        <a:avLst/>
                      </a:prstGeom>
                      <a:noFill/>
                      <a:ln>
                        <a:noFill/>
                      </a:ln>
                      <a:extLst/>
                    </p:spPr>
                  </p:pic>
                </p:oleObj>
              </mc:Fallback>
            </mc:AlternateContent>
          </a:graphicData>
        </a:graphic>
      </p:graphicFrame>
      <p:graphicFrame>
        <p:nvGraphicFramePr>
          <p:cNvPr id="87" name="Object 22"/>
          <p:cNvGraphicFramePr>
            <a:graphicFrameLocks noChangeAspect="1"/>
          </p:cNvGraphicFramePr>
          <p:nvPr>
            <p:extLst>
              <p:ext uri="{D42A27DB-BD31-4B8C-83A1-F6EECF244321}">
                <p14:modId xmlns:p14="http://schemas.microsoft.com/office/powerpoint/2010/main" val="526014273"/>
              </p:ext>
            </p:extLst>
          </p:nvPr>
        </p:nvGraphicFramePr>
        <p:xfrm>
          <a:off x="2399140" y="3915346"/>
          <a:ext cx="2305050" cy="446087"/>
        </p:xfrm>
        <a:graphic>
          <a:graphicData uri="http://schemas.openxmlformats.org/presentationml/2006/ole">
            <mc:AlternateContent xmlns:mc="http://schemas.openxmlformats.org/markup-compatibility/2006">
              <mc:Choice xmlns:v="urn:schemas-microsoft-com:vml" Requires="v">
                <p:oleObj spid="_x0000_s198023" r:id="rId15" imgW="1231366" imgH="241195" progId="Equation.DSMT4">
                  <p:embed/>
                </p:oleObj>
              </mc:Choice>
              <mc:Fallback>
                <p:oleObj r:id="rId15" imgW="1231366" imgH="241195" progId="Equation.DSMT4">
                  <p:embed/>
                  <p:pic>
                    <p:nvPicPr>
                      <p:cNvPr id="5633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99140" y="3915346"/>
                        <a:ext cx="230505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8" name="Object 21"/>
          <p:cNvGraphicFramePr>
            <a:graphicFrameLocks noChangeAspect="1"/>
          </p:cNvGraphicFramePr>
          <p:nvPr>
            <p:extLst>
              <p:ext uri="{D42A27DB-BD31-4B8C-83A1-F6EECF244321}">
                <p14:modId xmlns:p14="http://schemas.microsoft.com/office/powerpoint/2010/main" val="494503644"/>
              </p:ext>
            </p:extLst>
          </p:nvPr>
        </p:nvGraphicFramePr>
        <p:xfrm>
          <a:off x="2093040" y="4456187"/>
          <a:ext cx="2376487" cy="419100"/>
        </p:xfrm>
        <a:graphic>
          <a:graphicData uri="http://schemas.openxmlformats.org/presentationml/2006/ole">
            <mc:AlternateContent xmlns:mc="http://schemas.openxmlformats.org/markup-compatibility/2006">
              <mc:Choice xmlns:v="urn:schemas-microsoft-com:vml" Requires="v">
                <p:oleObj spid="_x0000_s198024" r:id="rId17" imgW="1295400" imgH="228600" progId="Equation.DSMT4">
                  <p:embed/>
                </p:oleObj>
              </mc:Choice>
              <mc:Fallback>
                <p:oleObj r:id="rId17" imgW="1295400" imgH="228600" progId="Equation.DSMT4">
                  <p:embed/>
                  <p:pic>
                    <p:nvPicPr>
                      <p:cNvPr id="56331"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93040" y="4456187"/>
                        <a:ext cx="2376487"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 name="Rectangle 36"/>
          <p:cNvSpPr>
            <a:spLocks noChangeArrowheads="1"/>
          </p:cNvSpPr>
          <p:nvPr/>
        </p:nvSpPr>
        <p:spPr bwMode="auto">
          <a:xfrm>
            <a:off x="885367" y="4433168"/>
            <a:ext cx="2012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a:latin typeface="Times New Roman" panose="02020603050405020304" pitchFamily="18" charset="0"/>
                <a:cs typeface="Times New Roman" panose="02020603050405020304" pitchFamily="18" charset="0"/>
              </a:rPr>
              <a:t>最大值</a:t>
            </a:r>
            <a:r>
              <a:rPr lang="zh-CN" altLang="en-US" sz="2000" b="1" dirty="0" smtClean="0">
                <a:latin typeface="Times New Roman" panose="02020603050405020304" pitchFamily="18" charset="0"/>
                <a:cs typeface="Times New Roman" panose="02020603050405020304" pitchFamily="18" charset="0"/>
              </a:rPr>
              <a:t>为</a:t>
            </a:r>
            <a:r>
              <a:rPr lang="en-US" altLang="zh-CN" sz="2000" b="1" dirty="0" smtClean="0">
                <a:latin typeface="Times New Roman" panose="02020603050405020304" pitchFamily="18" charset="0"/>
                <a:cs typeface="Times New Roman" panose="02020603050405020304" pitchFamily="18" charset="0"/>
              </a:rPr>
              <a:t>:</a:t>
            </a:r>
            <a:r>
              <a:rPr lang="zh-CN" altLang="en-US" sz="2000" b="1" dirty="0">
                <a:cs typeface="Courier New" panose="02070309020205020404" pitchFamily="49" charset="0"/>
              </a:rPr>
              <a:t>	</a:t>
            </a:r>
            <a:endParaRPr lang="zh-CN" altLang="en-US" sz="2000" b="1" dirty="0"/>
          </a:p>
        </p:txBody>
      </p:sp>
      <p:sp>
        <p:nvSpPr>
          <p:cNvPr id="90" name="Rectangle 36"/>
          <p:cNvSpPr>
            <a:spLocks noChangeArrowheads="1"/>
          </p:cNvSpPr>
          <p:nvPr/>
        </p:nvSpPr>
        <p:spPr bwMode="auto">
          <a:xfrm>
            <a:off x="869078" y="3909020"/>
            <a:ext cx="20313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dirty="0" smtClean="0">
                <a:latin typeface="Times New Roman" panose="02020603050405020304" pitchFamily="18" charset="0"/>
                <a:cs typeface="Times New Roman" panose="02020603050405020304" pitchFamily="18" charset="0"/>
              </a:rPr>
              <a:t>最优决策为</a:t>
            </a:r>
            <a:r>
              <a:rPr lang="en-US" altLang="zh-CN" sz="2000" b="1" dirty="0" smtClean="0">
                <a:latin typeface="Times New Roman" panose="02020603050405020304" pitchFamily="18" charset="0"/>
                <a:cs typeface="Times New Roman" panose="02020603050405020304" pitchFamily="18" charset="0"/>
              </a:rPr>
              <a:t>:</a:t>
            </a:r>
            <a:r>
              <a:rPr lang="zh-CN" altLang="en-US" sz="2000" b="1" dirty="0">
                <a:cs typeface="Courier New" panose="02070309020205020404" pitchFamily="49" charset="0"/>
              </a:rPr>
              <a:t>	</a:t>
            </a:r>
            <a:endParaRPr lang="zh-CN" altLang="en-US" sz="2000" b="1" dirty="0"/>
          </a:p>
        </p:txBody>
      </p:sp>
    </p:spTree>
    <p:extLst>
      <p:ext uri="{BB962C8B-B14F-4D97-AF65-F5344CB8AC3E}">
        <p14:creationId xmlns:p14="http://schemas.microsoft.com/office/powerpoint/2010/main" val="2647561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noChangeArrowheads="1"/>
          </p:cNvSpPr>
          <p:nvPr>
            <p:ph type="title"/>
          </p:nvPr>
        </p:nvSpPr>
        <p:spPr/>
        <p:txBody>
          <a:bodyPr/>
          <a:lstStyle/>
          <a:p>
            <a:r>
              <a:rPr lang="en-US" altLang="zh-CN" dirty="0" smtClean="0"/>
              <a:t>8.4.1 </a:t>
            </a:r>
            <a:r>
              <a:rPr lang="zh-CN" altLang="en-US" dirty="0"/>
              <a:t>资源分配问题</a:t>
            </a:r>
          </a:p>
        </p:txBody>
      </p:sp>
      <p:sp>
        <p:nvSpPr>
          <p:cNvPr id="2" name="内容占位符 1"/>
          <p:cNvSpPr>
            <a:spLocks noGrp="1"/>
          </p:cNvSpPr>
          <p:nvPr>
            <p:ph idx="1"/>
          </p:nvPr>
        </p:nvSpPr>
        <p:spPr>
          <a:xfrm>
            <a:off x="539552" y="1337268"/>
            <a:ext cx="8424936" cy="5275290"/>
          </a:xfrm>
        </p:spPr>
        <p:txBody>
          <a:bodyPr/>
          <a:lstStyle/>
          <a:p>
            <a:r>
              <a:rPr lang="zh-CN" altLang="en-US" dirty="0"/>
              <a:t> 在应用动态规划方法处理这类“静态规划”问题时，</a:t>
            </a:r>
            <a:r>
              <a:rPr lang="zh-CN" altLang="en-US" dirty="0" smtClean="0"/>
              <a:t>通常</a:t>
            </a:r>
            <a:endParaRPr lang="en-US" altLang="zh-CN" dirty="0" smtClean="0"/>
          </a:p>
          <a:p>
            <a:pPr lvl="1"/>
            <a:r>
              <a:rPr lang="zh-CN" altLang="en-US" dirty="0" smtClean="0"/>
              <a:t>以</a:t>
            </a:r>
            <a:r>
              <a:rPr lang="zh-CN" altLang="en-US" dirty="0">
                <a:solidFill>
                  <a:srgbClr val="FF0000"/>
                </a:solidFill>
              </a:rPr>
              <a:t>把资源分配给一个或几个使用者的过程作为一个</a:t>
            </a:r>
            <a:r>
              <a:rPr lang="zh-CN" altLang="en-US" dirty="0" smtClean="0">
                <a:solidFill>
                  <a:srgbClr val="FF0000"/>
                </a:solidFill>
              </a:rPr>
              <a:t>阶段；</a:t>
            </a:r>
            <a:endParaRPr lang="en-US" altLang="zh-CN" dirty="0" smtClean="0"/>
          </a:p>
          <a:p>
            <a:pPr lvl="1"/>
            <a:r>
              <a:rPr lang="zh-CN" altLang="en-US" dirty="0" smtClean="0"/>
              <a:t>把</a:t>
            </a:r>
            <a:r>
              <a:rPr lang="zh-CN" altLang="en-US" dirty="0"/>
              <a:t>问题中的</a:t>
            </a:r>
            <a:r>
              <a:rPr lang="zh-CN" altLang="en-US" dirty="0">
                <a:solidFill>
                  <a:srgbClr val="FF0000"/>
                </a:solidFill>
              </a:rPr>
              <a:t>变量</a:t>
            </a:r>
            <a:r>
              <a:rPr lang="en-US" altLang="zh-CN" i="1" dirty="0">
                <a:solidFill>
                  <a:srgbClr val="FF0000"/>
                </a:solidFill>
                <a:latin typeface="Times New Roman" panose="02020603050405020304" pitchFamily="18" charset="0"/>
                <a:cs typeface="Times New Roman" panose="02020603050405020304" pitchFamily="18" charset="0"/>
              </a:rPr>
              <a:t>x</a:t>
            </a:r>
            <a:r>
              <a:rPr lang="en-US" altLang="zh-CN" i="1" baseline="-25000" dirty="0">
                <a:solidFill>
                  <a:srgbClr val="FF0000"/>
                </a:solidFill>
                <a:latin typeface="Times New Roman" panose="02020603050405020304" pitchFamily="18" charset="0"/>
                <a:cs typeface="Times New Roman" panose="02020603050405020304" pitchFamily="18" charset="0"/>
              </a:rPr>
              <a:t>i</a:t>
            </a:r>
            <a:r>
              <a:rPr lang="zh-CN" altLang="en-US" dirty="0">
                <a:solidFill>
                  <a:srgbClr val="FF0000"/>
                </a:solidFill>
              </a:rPr>
              <a:t>为</a:t>
            </a:r>
            <a:r>
              <a:rPr lang="zh-CN" altLang="en-US" dirty="0" smtClean="0">
                <a:solidFill>
                  <a:srgbClr val="FF0000"/>
                </a:solidFill>
              </a:rPr>
              <a:t>决策变量；</a:t>
            </a:r>
            <a:endParaRPr lang="en-US" altLang="zh-CN" dirty="0" smtClean="0">
              <a:solidFill>
                <a:srgbClr val="FF0000"/>
              </a:solidFill>
            </a:endParaRPr>
          </a:p>
          <a:p>
            <a:pPr lvl="1"/>
            <a:r>
              <a:rPr lang="zh-CN" altLang="en-US" dirty="0" smtClean="0"/>
              <a:t>将</a:t>
            </a:r>
            <a:r>
              <a:rPr lang="zh-CN" altLang="en-US" dirty="0">
                <a:solidFill>
                  <a:srgbClr val="FF0000"/>
                </a:solidFill>
              </a:rPr>
              <a:t>累计的量或随递推过程变化的量</a:t>
            </a:r>
            <a:r>
              <a:rPr lang="zh-CN" altLang="en-US" dirty="0"/>
              <a:t>选为状态变量</a:t>
            </a:r>
            <a:r>
              <a:rPr lang="zh-CN" altLang="en-US" dirty="0" smtClean="0"/>
              <a:t>。</a:t>
            </a:r>
            <a:endParaRPr lang="en-US" altLang="zh-CN" dirty="0" smtClean="0"/>
          </a:p>
          <a:p>
            <a:r>
              <a:rPr lang="zh-CN" altLang="en-US" dirty="0" smtClean="0"/>
              <a:t>动态模型创建：</a:t>
            </a:r>
            <a:endParaRPr lang="en-US" altLang="zh-CN" dirty="0" smtClean="0"/>
          </a:p>
          <a:p>
            <a:pPr lvl="1"/>
            <a:r>
              <a:rPr lang="zh-CN" altLang="en-US" dirty="0" smtClean="0">
                <a:latin typeface="Times New Roman" panose="02020603050405020304" pitchFamily="18" charset="0"/>
                <a:cs typeface="Times New Roman" panose="02020603050405020304" pitchFamily="18" charset="0"/>
              </a:rPr>
              <a:t>状态变量</a:t>
            </a:r>
            <a:r>
              <a:rPr lang="en-US" altLang="zh-CN" i="1" dirty="0" err="1">
                <a:latin typeface="Times New Roman" panose="02020603050405020304" pitchFamily="18" charset="0"/>
                <a:cs typeface="Times New Roman" panose="02020603050405020304" pitchFamily="18" charset="0"/>
              </a:rPr>
              <a:t>s</a:t>
            </a:r>
            <a:r>
              <a:rPr lang="en-US" altLang="zh-CN" i="1" baseline="-30000" dirty="0" err="1">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表示分配用于生产第</a:t>
            </a:r>
            <a:r>
              <a:rPr lang="en-US" altLang="zh-CN" i="1"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种产品至第</a:t>
            </a:r>
            <a:r>
              <a:rPr lang="en-US" altLang="zh-CN" i="1"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种产品的原料</a:t>
            </a:r>
            <a:r>
              <a:rPr lang="zh-CN" altLang="en-US" dirty="0" smtClean="0">
                <a:latin typeface="Times New Roman" panose="02020603050405020304" pitchFamily="18" charset="0"/>
                <a:cs typeface="Times New Roman" panose="02020603050405020304" pitchFamily="18" charset="0"/>
              </a:rPr>
              <a:t>数量</a:t>
            </a:r>
            <a:endParaRPr lang="zh-CN" altLang="en-US" dirty="0">
              <a:latin typeface="Times New Roman" panose="02020603050405020304" pitchFamily="18" charset="0"/>
              <a:cs typeface="Times New Roman" panose="02020603050405020304" pitchFamily="18" charset="0"/>
            </a:endParaRPr>
          </a:p>
          <a:p>
            <a:pPr lvl="1"/>
            <a:r>
              <a:rPr lang="zh-CN" altLang="en-US" dirty="0" smtClean="0">
                <a:latin typeface="Times New Roman" panose="02020603050405020304" pitchFamily="18" charset="0"/>
                <a:cs typeface="Times New Roman" panose="02020603050405020304" pitchFamily="18" charset="0"/>
              </a:rPr>
              <a:t>决策变量</a:t>
            </a:r>
            <a:r>
              <a:rPr lang="en-US" altLang="zh-CN" i="1" dirty="0" err="1" smtClean="0">
                <a:latin typeface="Times New Roman" panose="02020603050405020304" pitchFamily="18" charset="0"/>
                <a:cs typeface="Times New Roman" panose="02020603050405020304" pitchFamily="18" charset="0"/>
              </a:rPr>
              <a:t>x</a:t>
            </a:r>
            <a:r>
              <a:rPr lang="en-US" altLang="zh-CN" i="1" baseline="-30000" dirty="0" err="1" smtClean="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表示分配给生产第</a:t>
            </a:r>
            <a:r>
              <a:rPr lang="en-US" altLang="zh-CN" i="1"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种产品的原料</a:t>
            </a:r>
            <a:r>
              <a:rPr lang="zh-CN" altLang="en-US" dirty="0" smtClean="0">
                <a:latin typeface="Times New Roman" panose="02020603050405020304" pitchFamily="18" charset="0"/>
                <a:cs typeface="Times New Roman" panose="02020603050405020304" pitchFamily="18" charset="0"/>
              </a:rPr>
              <a:t>数</a:t>
            </a:r>
            <a:endParaRPr lang="en-US" altLang="zh-CN" dirty="0" smtClean="0">
              <a:latin typeface="Times New Roman" panose="02020603050405020304" pitchFamily="18" charset="0"/>
              <a:cs typeface="Times New Roman" panose="02020603050405020304" pitchFamily="18" charset="0"/>
            </a:endParaRPr>
          </a:p>
          <a:p>
            <a:pPr lvl="1"/>
            <a:r>
              <a:rPr lang="zh-CN" altLang="en-US" dirty="0" smtClean="0">
                <a:latin typeface="Times New Roman" panose="02020603050405020304" pitchFamily="18" charset="0"/>
                <a:cs typeface="Times New Roman" panose="02020603050405020304" pitchFamily="18" charset="0"/>
              </a:rPr>
              <a:t>状态</a:t>
            </a:r>
            <a:r>
              <a:rPr lang="zh-CN" altLang="en-US" dirty="0">
                <a:latin typeface="Times New Roman" panose="02020603050405020304" pitchFamily="18" charset="0"/>
                <a:cs typeface="Times New Roman" panose="02020603050405020304" pitchFamily="18" charset="0"/>
              </a:rPr>
              <a:t>转移方程：</a:t>
            </a:r>
          </a:p>
          <a:p>
            <a:pPr lvl="1"/>
            <a:r>
              <a:rPr lang="zh-CN" altLang="en-US" dirty="0">
                <a:cs typeface="Times New Roman" panose="02020603050405020304" pitchFamily="18" charset="0"/>
              </a:rPr>
              <a:t>允许决策集合</a:t>
            </a:r>
            <a:r>
              <a:rPr lang="zh-CN" altLang="en-US" dirty="0" smtClean="0">
                <a:cs typeface="Times New Roman" panose="02020603050405020304" pitchFamily="18" charset="0"/>
              </a:rPr>
              <a:t>：</a:t>
            </a:r>
            <a:endParaRPr lang="en-US" altLang="zh-CN" dirty="0" smtClean="0">
              <a:cs typeface="Times New Roman" panose="02020603050405020304" pitchFamily="18" charset="0"/>
            </a:endParaRPr>
          </a:p>
          <a:p>
            <a:pPr lvl="1"/>
            <a:r>
              <a:rPr lang="zh-CN" altLang="en-US" dirty="0" smtClean="0">
                <a:cs typeface="Times New Roman" panose="02020603050405020304" pitchFamily="18" charset="0"/>
              </a:rPr>
              <a:t>最优值函数：        </a:t>
            </a:r>
            <a:r>
              <a:rPr lang="zh-CN" altLang="en-US" dirty="0" smtClean="0">
                <a:latin typeface="Times New Roman" panose="02020603050405020304" pitchFamily="18" charset="0"/>
                <a:cs typeface="Times New Roman" panose="02020603050405020304" pitchFamily="18" charset="0"/>
              </a:rPr>
              <a:t>表示</a:t>
            </a:r>
            <a:r>
              <a:rPr lang="zh-CN" altLang="en-US" dirty="0">
                <a:latin typeface="Times New Roman" panose="02020603050405020304" pitchFamily="18" charset="0"/>
                <a:cs typeface="Times New Roman" panose="02020603050405020304" pitchFamily="18" charset="0"/>
              </a:rPr>
              <a:t>以数量为</a:t>
            </a:r>
            <a:r>
              <a:rPr lang="en-US" altLang="zh-CN" i="1" dirty="0" err="1">
                <a:latin typeface="Times New Roman" panose="02020603050405020304" pitchFamily="18" charset="0"/>
                <a:cs typeface="Times New Roman" panose="02020603050405020304" pitchFamily="18" charset="0"/>
              </a:rPr>
              <a:t>s</a:t>
            </a:r>
            <a:r>
              <a:rPr lang="en-US" altLang="zh-CN" i="1" baseline="-25000" dirty="0" err="1">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的原料分配给第</a:t>
            </a:r>
            <a:r>
              <a:rPr lang="en-US" altLang="zh-CN" i="1" dirty="0" smtClean="0">
                <a:latin typeface="Times New Roman" panose="02020603050405020304" pitchFamily="18" charset="0"/>
                <a:cs typeface="Times New Roman" panose="02020603050405020304" pitchFamily="18" charset="0"/>
              </a:rPr>
              <a:t>k</a:t>
            </a:r>
            <a:r>
              <a:rPr lang="zh-CN" altLang="en-US" dirty="0" smtClean="0">
                <a:latin typeface="Times New Roman" panose="02020603050405020304" pitchFamily="18" charset="0"/>
                <a:cs typeface="Times New Roman" panose="02020603050405020304" pitchFamily="18" charset="0"/>
              </a:rPr>
              <a:t>至</a:t>
            </a:r>
            <a:r>
              <a:rPr lang="zh-CN" altLang="en-US" dirty="0">
                <a:latin typeface="Times New Roman" panose="02020603050405020304" pitchFamily="18" charset="0"/>
                <a:cs typeface="Times New Roman" panose="02020603050405020304" pitchFamily="18" charset="0"/>
              </a:rPr>
              <a:t>第</a:t>
            </a:r>
            <a:r>
              <a:rPr lang="en-US" altLang="zh-CN" i="1"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种产品所得到的最大总收入。因而可写出动态规划的逆推关系式为：</a:t>
            </a:r>
          </a:p>
          <a:p>
            <a:pPr lvl="1"/>
            <a:endParaRPr lang="zh-CN" altLang="en-US" dirty="0"/>
          </a:p>
          <a:p>
            <a:pPr lvl="1"/>
            <a:endParaRPr lang="zh-CN" altLang="en-US" dirty="0"/>
          </a:p>
          <a:p>
            <a:pPr lvl="2"/>
            <a:endParaRPr lang="zh-CN" altLang="en-US" dirty="0"/>
          </a:p>
        </p:txBody>
      </p:sp>
      <p:sp>
        <p:nvSpPr>
          <p:cNvPr id="6144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9C47F846-7C74-4ACB-AB11-736C478C712D}" type="slidenum">
              <a:rPr lang="en-US" altLang="zh-CN" sz="1000"/>
              <a:pPr/>
              <a:t>46</a:t>
            </a:fld>
            <a:endParaRPr lang="en-US" altLang="zh-CN" sz="1000"/>
          </a:p>
        </p:txBody>
      </p:sp>
      <p:graphicFrame>
        <p:nvGraphicFramePr>
          <p:cNvPr id="6" name="Object 11"/>
          <p:cNvGraphicFramePr>
            <a:graphicFrameLocks noChangeAspect="1"/>
          </p:cNvGraphicFramePr>
          <p:nvPr>
            <p:extLst>
              <p:ext uri="{D42A27DB-BD31-4B8C-83A1-F6EECF244321}">
                <p14:modId xmlns:p14="http://schemas.microsoft.com/office/powerpoint/2010/main" val="86484003"/>
              </p:ext>
            </p:extLst>
          </p:nvPr>
        </p:nvGraphicFramePr>
        <p:xfrm>
          <a:off x="3275856" y="4005064"/>
          <a:ext cx="1370013" cy="392113"/>
        </p:xfrm>
        <a:graphic>
          <a:graphicData uri="http://schemas.openxmlformats.org/presentationml/2006/ole">
            <mc:AlternateContent xmlns:mc="http://schemas.openxmlformats.org/markup-compatibility/2006">
              <mc:Choice xmlns:v="urn:schemas-microsoft-com:vml" Requires="v">
                <p:oleObj spid="_x0000_s200899" name="Equation" r:id="rId3" imgW="799920" imgH="228600" progId="Equation.DSMT4">
                  <p:embed/>
                </p:oleObj>
              </mc:Choice>
              <mc:Fallback>
                <p:oleObj name="Equation" r:id="rId3" imgW="799920" imgH="228600" progId="Equation.DSMT4">
                  <p:embed/>
                  <p:pic>
                    <p:nvPicPr>
                      <p:cNvPr id="62469" name="Object 11"/>
                      <p:cNvPicPr>
                        <a:picLocks noChangeAspect="1" noChangeArrowheads="1"/>
                      </p:cNvPicPr>
                      <p:nvPr/>
                    </p:nvPicPr>
                    <p:blipFill>
                      <a:blip r:embed="rId4"/>
                      <a:srcRect/>
                      <a:stretch>
                        <a:fillRect/>
                      </a:stretch>
                    </p:blipFill>
                    <p:spPr bwMode="auto">
                      <a:xfrm>
                        <a:off x="3275856" y="4005064"/>
                        <a:ext cx="1370013"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0"/>
          <p:cNvGraphicFramePr>
            <a:graphicFrameLocks noChangeAspect="1"/>
          </p:cNvGraphicFramePr>
          <p:nvPr>
            <p:extLst>
              <p:ext uri="{D42A27DB-BD31-4B8C-83A1-F6EECF244321}">
                <p14:modId xmlns:p14="http://schemas.microsoft.com/office/powerpoint/2010/main" val="2927166588"/>
              </p:ext>
            </p:extLst>
          </p:nvPr>
        </p:nvGraphicFramePr>
        <p:xfrm>
          <a:off x="3303180" y="4373119"/>
          <a:ext cx="2359025" cy="423862"/>
        </p:xfrm>
        <a:graphic>
          <a:graphicData uri="http://schemas.openxmlformats.org/presentationml/2006/ole">
            <mc:AlternateContent xmlns:mc="http://schemas.openxmlformats.org/markup-compatibility/2006">
              <mc:Choice xmlns:v="urn:schemas-microsoft-com:vml" Requires="v">
                <p:oleObj spid="_x0000_s200900" name="Equation" r:id="rId5" imgW="1536480" imgH="279360" progId="Equation.DSMT4">
                  <p:embed/>
                </p:oleObj>
              </mc:Choice>
              <mc:Fallback>
                <p:oleObj name="Equation" r:id="rId5" imgW="1536480" imgH="279360" progId="Equation.DSMT4">
                  <p:embed/>
                  <p:pic>
                    <p:nvPicPr>
                      <p:cNvPr id="62470" name="Object 10"/>
                      <p:cNvPicPr>
                        <a:picLocks noChangeAspect="1" noChangeArrowheads="1"/>
                      </p:cNvPicPr>
                      <p:nvPr/>
                    </p:nvPicPr>
                    <p:blipFill>
                      <a:blip r:embed="rId6"/>
                      <a:srcRect/>
                      <a:stretch>
                        <a:fillRect/>
                      </a:stretch>
                    </p:blipFill>
                    <p:spPr bwMode="auto">
                      <a:xfrm>
                        <a:off x="3303180" y="4373119"/>
                        <a:ext cx="2359025"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9"/>
          <p:cNvGraphicFramePr>
            <a:graphicFrameLocks noChangeAspect="1"/>
          </p:cNvGraphicFramePr>
          <p:nvPr>
            <p:extLst>
              <p:ext uri="{D42A27DB-BD31-4B8C-83A1-F6EECF244321}">
                <p14:modId xmlns:p14="http://schemas.microsoft.com/office/powerpoint/2010/main" val="4185371843"/>
              </p:ext>
            </p:extLst>
          </p:nvPr>
        </p:nvGraphicFramePr>
        <p:xfrm>
          <a:off x="2898264" y="4796981"/>
          <a:ext cx="720725" cy="393700"/>
        </p:xfrm>
        <a:graphic>
          <a:graphicData uri="http://schemas.openxmlformats.org/presentationml/2006/ole">
            <mc:AlternateContent xmlns:mc="http://schemas.openxmlformats.org/markup-compatibility/2006">
              <mc:Choice xmlns:v="urn:schemas-microsoft-com:vml" Requires="v">
                <p:oleObj spid="_x0000_s200901" r:id="rId7" imgW="419100" imgH="228600" progId="Equation.DSMT4">
                  <p:embed/>
                </p:oleObj>
              </mc:Choice>
              <mc:Fallback>
                <p:oleObj r:id="rId7" imgW="419100" imgH="228600" progId="Equation.DSMT4">
                  <p:embed/>
                  <p:pic>
                    <p:nvPicPr>
                      <p:cNvPr id="62471"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98264" y="4796981"/>
                        <a:ext cx="7207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5"/>
          <p:cNvGraphicFramePr>
            <a:graphicFrameLocks noChangeAspect="1"/>
          </p:cNvGraphicFramePr>
          <p:nvPr>
            <p:extLst>
              <p:ext uri="{D42A27DB-BD31-4B8C-83A1-F6EECF244321}">
                <p14:modId xmlns:p14="http://schemas.microsoft.com/office/powerpoint/2010/main" val="3191007348"/>
              </p:ext>
            </p:extLst>
          </p:nvPr>
        </p:nvGraphicFramePr>
        <p:xfrm>
          <a:off x="1547664" y="5608204"/>
          <a:ext cx="4680520" cy="898634"/>
        </p:xfrm>
        <a:graphic>
          <a:graphicData uri="http://schemas.openxmlformats.org/presentationml/2006/ole">
            <mc:AlternateContent xmlns:mc="http://schemas.openxmlformats.org/markup-compatibility/2006">
              <mc:Choice xmlns:v="urn:schemas-microsoft-com:vml" Requires="v">
                <p:oleObj spid="_x0000_s200902" r:id="rId9" imgW="3327400" imgH="635000" progId="Equation.DSMT4">
                  <p:embed/>
                </p:oleObj>
              </mc:Choice>
              <mc:Fallback>
                <p:oleObj r:id="rId9" imgW="3327400" imgH="635000" progId="Equation.DSMT4">
                  <p:embed/>
                  <p:pic>
                    <p:nvPicPr>
                      <p:cNvPr id="62472"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7664" y="5608204"/>
                        <a:ext cx="4680520" cy="898634"/>
                      </a:xfrm>
                      <a:prstGeom prst="rect">
                        <a:avLst/>
                      </a:prstGeom>
                      <a:noFill/>
                      <a:ln>
                        <a:noFill/>
                      </a:ln>
                      <a:extLst/>
                    </p:spPr>
                  </p:pic>
                </p:oleObj>
              </mc:Fallback>
            </mc:AlternateContent>
          </a:graphicData>
        </a:graphic>
      </p:graphicFrame>
      <p:sp>
        <p:nvSpPr>
          <p:cNvPr id="12" name="Rectangle 19"/>
          <p:cNvSpPr>
            <a:spLocks noChangeArrowheads="1"/>
          </p:cNvSpPr>
          <p:nvPr/>
        </p:nvSpPr>
        <p:spPr bwMode="auto">
          <a:xfrm>
            <a:off x="6515967" y="5509660"/>
            <a:ext cx="216073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sz="1600" b="1" dirty="0">
                <a:latin typeface="Times New Roman" panose="02020603050405020304" pitchFamily="18" charset="0"/>
                <a:cs typeface="Times New Roman" panose="02020603050405020304" pitchFamily="18" charset="0"/>
              </a:rPr>
              <a:t>利用这个递推关系式进行逐段计算，最后求得         </a:t>
            </a:r>
            <a:r>
              <a:rPr lang="zh-CN" altLang="en-US" sz="1600" b="1" dirty="0"/>
              <a:t>即为所求问题的最大总收入。 </a:t>
            </a:r>
          </a:p>
        </p:txBody>
      </p:sp>
      <p:graphicFrame>
        <p:nvGraphicFramePr>
          <p:cNvPr id="13" name="Object 4"/>
          <p:cNvGraphicFramePr>
            <a:graphicFrameLocks noChangeAspect="1"/>
          </p:cNvGraphicFramePr>
          <p:nvPr>
            <p:extLst>
              <p:ext uri="{D42A27DB-BD31-4B8C-83A1-F6EECF244321}">
                <p14:modId xmlns:p14="http://schemas.microsoft.com/office/powerpoint/2010/main" val="8907549"/>
              </p:ext>
            </p:extLst>
          </p:nvPr>
        </p:nvGraphicFramePr>
        <p:xfrm>
          <a:off x="6978858" y="6021288"/>
          <a:ext cx="514875" cy="334416"/>
        </p:xfrm>
        <a:graphic>
          <a:graphicData uri="http://schemas.openxmlformats.org/presentationml/2006/ole">
            <mc:AlternateContent xmlns:mc="http://schemas.openxmlformats.org/markup-compatibility/2006">
              <mc:Choice xmlns:v="urn:schemas-microsoft-com:vml" Requires="v">
                <p:oleObj spid="_x0000_s200903" r:id="rId11" imgW="355446" imgH="228501" progId="Equation.DSMT4">
                  <p:embed/>
                </p:oleObj>
              </mc:Choice>
              <mc:Fallback>
                <p:oleObj r:id="rId11" imgW="355446" imgH="228501" progId="Equation.DSMT4">
                  <p:embed/>
                  <p:pic>
                    <p:nvPicPr>
                      <p:cNvPr id="62473"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78858" y="6021288"/>
                        <a:ext cx="514875" cy="334416"/>
                      </a:xfrm>
                      <a:prstGeom prst="rect">
                        <a:avLst/>
                      </a:prstGeom>
                      <a:noFill/>
                      <a:ln>
                        <a:noFill/>
                      </a:ln>
                      <a:extLst/>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C41E3412-B8F0-42F0-BB00-115E1DAF0063}" type="slidenum">
              <a:rPr lang="en-US" altLang="zh-CN" sz="1000"/>
              <a:pPr/>
              <a:t>47</a:t>
            </a:fld>
            <a:endParaRPr lang="en-US" altLang="zh-CN" sz="1000"/>
          </a:p>
        </p:txBody>
      </p:sp>
      <p:sp>
        <p:nvSpPr>
          <p:cNvPr id="63492" name="Rectangle 2"/>
          <p:cNvSpPr>
            <a:spLocks noGrp="1" noChangeArrowheads="1"/>
          </p:cNvSpPr>
          <p:nvPr>
            <p:ph type="title"/>
          </p:nvPr>
        </p:nvSpPr>
        <p:spPr/>
        <p:txBody>
          <a:bodyPr/>
          <a:lstStyle/>
          <a:p>
            <a:r>
              <a:rPr lang="en-US" altLang="zh-CN" dirty="0" smtClean="0"/>
              <a:t>8.4.1</a:t>
            </a:r>
            <a:r>
              <a:rPr lang="zh-CN" altLang="en-US" dirty="0"/>
              <a:t>资源分配问题</a:t>
            </a:r>
          </a:p>
        </p:txBody>
      </p:sp>
      <p:sp>
        <p:nvSpPr>
          <p:cNvPr id="63493" name="Rectangle 15"/>
          <p:cNvSpPr>
            <a:spLocks noChangeArrowheads="1"/>
          </p:cNvSpPr>
          <p:nvPr/>
        </p:nvSpPr>
        <p:spPr bwMode="auto">
          <a:xfrm>
            <a:off x="323528" y="1340768"/>
            <a:ext cx="842486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marL="342900" indent="-342900">
              <a:buFont typeface="Wingdings" panose="05000000000000000000" pitchFamily="2" charset="2"/>
              <a:buChar char="l"/>
            </a:pPr>
            <a:r>
              <a:rPr lang="zh-CN" altLang="en-US" b="1" dirty="0" smtClean="0">
                <a:cs typeface="Times New Roman" panose="02020603050405020304" pitchFamily="18" charset="0"/>
              </a:rPr>
              <a:t>例</a:t>
            </a:r>
            <a:r>
              <a:rPr lang="en-US" altLang="zh-CN" b="1" dirty="0" smtClean="0">
                <a:cs typeface="Times New Roman" panose="02020603050405020304" pitchFamily="18" charset="0"/>
              </a:rPr>
              <a:t>8-4</a:t>
            </a:r>
            <a:r>
              <a:rPr lang="zh-CN" altLang="en-US" b="1" dirty="0" smtClean="0">
                <a:cs typeface="Times New Roman" panose="02020603050405020304" pitchFamily="18" charset="0"/>
              </a:rPr>
              <a:t>：某</a:t>
            </a:r>
            <a:r>
              <a:rPr lang="zh-CN" altLang="en-US" b="1" dirty="0">
                <a:cs typeface="Times New Roman" panose="02020603050405020304" pitchFamily="18" charset="0"/>
              </a:rPr>
              <a:t>工业部门根据国家计划的安排，拟将某种高效率的设备五台，分配给所属的甲、乙、丙三个工厂，各工厂若获得这种设备之后，可以为国家提供的盈利如下表所示。</a:t>
            </a:r>
            <a:endParaRPr lang="zh-CN" altLang="en-US" b="1" dirty="0"/>
          </a:p>
        </p:txBody>
      </p:sp>
      <p:sp>
        <p:nvSpPr>
          <p:cNvPr id="63494" name="Rectangle 16"/>
          <p:cNvSpPr>
            <a:spLocks noChangeArrowheads="1"/>
          </p:cNvSpPr>
          <p:nvPr/>
        </p:nvSpPr>
        <p:spPr bwMode="auto">
          <a:xfrm>
            <a:off x="-376560" y="1434430"/>
            <a:ext cx="9413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3495" name="Rectangle 198"/>
          <p:cNvSpPr>
            <a:spLocks noChangeArrowheads="1"/>
          </p:cNvSpPr>
          <p:nvPr/>
        </p:nvSpPr>
        <p:spPr bwMode="auto">
          <a:xfrm>
            <a:off x="1115691" y="5515863"/>
            <a:ext cx="77989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a:solidFill>
                  <a:srgbClr val="006600"/>
                </a:solidFill>
                <a:latin typeface="楷体" panose="02010609060101010101" pitchFamily="49" charset="-122"/>
                <a:ea typeface="楷体" panose="02010609060101010101" pitchFamily="49" charset="-122"/>
                <a:cs typeface="Times New Roman" panose="02020603050405020304" pitchFamily="18" charset="0"/>
              </a:rPr>
              <a:t>问：这五台设备如何分配给各工厂，才能使国家得到的盈利最大。 </a:t>
            </a:r>
          </a:p>
        </p:txBody>
      </p:sp>
      <p:graphicFrame>
        <p:nvGraphicFramePr>
          <p:cNvPr id="63496" name="Object 205"/>
          <p:cNvGraphicFramePr>
            <a:graphicFrameLocks noGrp="1" noChangeAspect="1"/>
          </p:cNvGraphicFramePr>
          <p:nvPr>
            <p:ph idx="1"/>
            <p:extLst>
              <p:ext uri="{D42A27DB-BD31-4B8C-83A1-F6EECF244321}">
                <p14:modId xmlns:p14="http://schemas.microsoft.com/office/powerpoint/2010/main" val="234372851"/>
              </p:ext>
            </p:extLst>
          </p:nvPr>
        </p:nvGraphicFramePr>
        <p:xfrm>
          <a:off x="323528" y="2421855"/>
          <a:ext cx="8893175" cy="3598863"/>
        </p:xfrm>
        <a:graphic>
          <a:graphicData uri="http://schemas.openxmlformats.org/presentationml/2006/ole">
            <mc:AlternateContent xmlns:mc="http://schemas.openxmlformats.org/markup-compatibility/2006">
              <mc:Choice xmlns:v="urn:schemas-microsoft-com:vml" Requires="v">
                <p:oleObj spid="_x0000_s63571" name="文档" r:id="rId3" imgW="5914752" imgH="2394101" progId="Word.Document.8">
                  <p:embed/>
                </p:oleObj>
              </mc:Choice>
              <mc:Fallback>
                <p:oleObj name="文档" r:id="rId3" imgW="5914752" imgH="2394101" progId="Word.Document.8">
                  <p:embed/>
                  <p:pic>
                    <p:nvPicPr>
                      <p:cNvPr id="0" name="Object 2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2421855"/>
                        <a:ext cx="8893175" cy="3598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2"/>
          <p:cNvSpPr>
            <a:spLocks noGrp="1" noChangeArrowheads="1"/>
          </p:cNvSpPr>
          <p:nvPr>
            <p:ph type="title"/>
          </p:nvPr>
        </p:nvSpPr>
        <p:spPr/>
        <p:txBody>
          <a:bodyPr/>
          <a:lstStyle/>
          <a:p>
            <a:r>
              <a:rPr lang="en-US" altLang="zh-CN" dirty="0" smtClean="0"/>
              <a:t>8.4.1</a:t>
            </a:r>
            <a:r>
              <a:rPr lang="zh-CN" altLang="en-US" dirty="0"/>
              <a:t>资源分配问题</a:t>
            </a:r>
          </a:p>
        </p:txBody>
      </p:sp>
      <p:sp>
        <p:nvSpPr>
          <p:cNvPr id="2" name="内容占位符 1"/>
          <p:cNvSpPr>
            <a:spLocks noGrp="1"/>
          </p:cNvSpPr>
          <p:nvPr>
            <p:ph idx="1"/>
          </p:nvPr>
        </p:nvSpPr>
        <p:spPr>
          <a:xfrm>
            <a:off x="539552" y="1337268"/>
            <a:ext cx="8280920" cy="461665"/>
          </a:xfrm>
        </p:spPr>
        <p:txBody>
          <a:bodyPr/>
          <a:lstStyle/>
          <a:p>
            <a:r>
              <a:rPr lang="zh-CN" altLang="en-US" dirty="0">
                <a:cs typeface="Times New Roman" panose="02020603050405020304" pitchFamily="18" charset="0"/>
              </a:rPr>
              <a:t>例</a:t>
            </a:r>
            <a:r>
              <a:rPr lang="en-US" altLang="zh-CN" dirty="0" smtClean="0">
                <a:cs typeface="Times New Roman" panose="02020603050405020304" pitchFamily="18" charset="0"/>
              </a:rPr>
              <a:t>8-4</a:t>
            </a:r>
            <a:endParaRPr lang="zh-CN" altLang="en-US" dirty="0"/>
          </a:p>
        </p:txBody>
      </p:sp>
      <p:sp>
        <p:nvSpPr>
          <p:cNvPr id="6451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FD2E6818-7E49-4DA7-BCF4-E55DD05A4C4C}" type="slidenum">
              <a:rPr lang="en-US" altLang="zh-CN" sz="1000"/>
              <a:pPr/>
              <a:t>48</a:t>
            </a:fld>
            <a:endParaRPr lang="en-US" altLang="zh-CN" sz="1000"/>
          </a:p>
        </p:txBody>
      </p:sp>
      <mc:AlternateContent xmlns:mc="http://schemas.openxmlformats.org/markup-compatibility/2006" xmlns:a14="http://schemas.microsoft.com/office/drawing/2010/main">
        <mc:Choice Requires="a14">
          <p:sp>
            <p:nvSpPr>
              <p:cNvPr id="64521" name="Rectangle 36"/>
              <p:cNvSpPr>
                <a:spLocks noChangeArrowheads="1"/>
              </p:cNvSpPr>
              <p:nvPr/>
            </p:nvSpPr>
            <p:spPr bwMode="auto">
              <a:xfrm>
                <a:off x="-11229" y="2763524"/>
                <a:ext cx="9137310" cy="2915606"/>
              </a:xfrm>
              <a:prstGeom prst="rect">
                <a:avLst/>
              </a:prstGeom>
              <a:noFill/>
              <a:ln>
                <a:noFill/>
              </a:ln>
              <a:effectLst/>
              <a:extLst>
                <a:ext uri="{909E8E84-426E-40DD-AFC4-6F175D3DCCD1}">
                  <a14:hiddenFill>
                    <a:solidFill>
                      <a:schemeClr val="accent1"/>
                    </a:solidFill>
                  </a14:hiddenFill>
                </a:ext>
                <a:ext uri="{91240B29-F687-4F45-9708-019B960494DF}">
                  <a14:hiddenLine w="9525" algn="ctr">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sz="1800" b="1" dirty="0" smtClean="0">
                    <a:latin typeface="Times New Roman" panose="02020603050405020304" pitchFamily="18" charset="0"/>
                    <a:cs typeface="Times New Roman" panose="02020603050405020304" pitchFamily="18" charset="0"/>
                  </a:rPr>
                  <a:t>解</a:t>
                </a:r>
                <a:r>
                  <a:rPr lang="en-US" altLang="zh-CN" sz="1800" b="1" dirty="0">
                    <a:latin typeface="Times New Roman" panose="02020603050405020304" pitchFamily="18" charset="0"/>
                    <a:cs typeface="Times New Roman" panose="02020603050405020304" pitchFamily="18" charset="0"/>
                  </a:rPr>
                  <a:t>:  </a:t>
                </a:r>
                <a:r>
                  <a:rPr lang="zh-CN" altLang="en-US" sz="1800" b="1" dirty="0">
                    <a:latin typeface="Times New Roman" panose="02020603050405020304" pitchFamily="18" charset="0"/>
                    <a:cs typeface="Times New Roman" panose="02020603050405020304" pitchFamily="18" charset="0"/>
                  </a:rPr>
                  <a:t>将问题按工厂分为三个阶段，甲、乙、丙三个工厂分别编号为</a:t>
                </a:r>
                <a:r>
                  <a:rPr lang="en-US" altLang="zh-CN" sz="1800" b="1" dirty="0">
                    <a:latin typeface="Times New Roman" panose="02020603050405020304" pitchFamily="18" charset="0"/>
                    <a:cs typeface="Times New Roman" panose="02020603050405020304" pitchFamily="18" charset="0"/>
                  </a:rPr>
                  <a:t>1</a:t>
                </a:r>
                <a:r>
                  <a:rPr lang="zh-CN" altLang="en-US" sz="1800" b="1" dirty="0">
                    <a:latin typeface="Times New Roman" panose="02020603050405020304" pitchFamily="18" charset="0"/>
                    <a:cs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rPr>
                  <a:t>2</a:t>
                </a:r>
                <a:r>
                  <a:rPr lang="zh-CN" altLang="en-US" sz="1800" b="1" dirty="0">
                    <a:latin typeface="Times New Roman" panose="02020603050405020304" pitchFamily="18" charset="0"/>
                    <a:cs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rPr>
                  <a:t>3</a:t>
                </a:r>
              </a:p>
              <a:p>
                <a:r>
                  <a:rPr lang="zh-CN" altLang="en-US" sz="1800" b="1" dirty="0" smtClean="0">
                    <a:latin typeface="Times New Roman" panose="02020603050405020304" pitchFamily="18" charset="0"/>
                    <a:cs typeface="Times New Roman" panose="02020603050405020304" pitchFamily="18" charset="0"/>
                  </a:rPr>
                  <a:t>（</a:t>
                </a:r>
                <a:r>
                  <a:rPr lang="en-US" altLang="zh-CN" sz="1800" b="1" dirty="0" smtClean="0">
                    <a:latin typeface="Times New Roman" panose="02020603050405020304" pitchFamily="18" charset="0"/>
                    <a:cs typeface="Times New Roman" panose="02020603050405020304" pitchFamily="18" charset="0"/>
                  </a:rPr>
                  <a:t>1</a:t>
                </a:r>
                <a:r>
                  <a:rPr lang="zh-CN" altLang="en-US" sz="1800" b="1" dirty="0" smtClean="0">
                    <a:latin typeface="Times New Roman" panose="02020603050405020304" pitchFamily="18" charset="0"/>
                    <a:cs typeface="Times New Roman" panose="02020603050405020304" pitchFamily="18" charset="0"/>
                  </a:rPr>
                  <a:t>）状态变量</a:t>
                </a:r>
                <a:r>
                  <a:rPr lang="en-US" altLang="zh-CN" sz="1800" b="1" i="1" dirty="0" err="1" smtClean="0">
                    <a:latin typeface="Times New Roman" panose="02020603050405020304" pitchFamily="18" charset="0"/>
                    <a:cs typeface="Times New Roman" panose="02020603050405020304" pitchFamily="18" charset="0"/>
                  </a:rPr>
                  <a:t>s</a:t>
                </a:r>
                <a:r>
                  <a:rPr lang="en-US" altLang="zh-CN" sz="1800" b="1" i="1" baseline="-25000" dirty="0" err="1" smtClean="0">
                    <a:latin typeface="Times New Roman" panose="02020603050405020304" pitchFamily="18" charset="0"/>
                    <a:cs typeface="Times New Roman" panose="02020603050405020304" pitchFamily="18" charset="0"/>
                  </a:rPr>
                  <a:t>k</a:t>
                </a:r>
                <a:r>
                  <a:rPr lang="zh-CN" altLang="en-US" sz="1800" b="1" dirty="0" smtClean="0">
                    <a:latin typeface="Times New Roman" panose="02020603050405020304" pitchFamily="18" charset="0"/>
                    <a:cs typeface="Times New Roman" panose="02020603050405020304" pitchFamily="18" charset="0"/>
                  </a:rPr>
                  <a:t>：</a:t>
                </a:r>
                <a:r>
                  <a:rPr lang="zh-CN" altLang="en-US" sz="1800" b="1" dirty="0">
                    <a:latin typeface="Times New Roman" panose="02020603050405020304" pitchFamily="18" charset="0"/>
                    <a:cs typeface="Times New Roman" panose="02020603050405020304" pitchFamily="18" charset="0"/>
                  </a:rPr>
                  <a:t>分配给第</a:t>
                </a:r>
                <a:r>
                  <a:rPr lang="en-US" altLang="zh-CN" sz="1800" b="1" i="1" dirty="0" smtClean="0">
                    <a:latin typeface="Times New Roman" panose="02020603050405020304" pitchFamily="18" charset="0"/>
                    <a:cs typeface="Times New Roman" panose="02020603050405020304" pitchFamily="18" charset="0"/>
                  </a:rPr>
                  <a:t>k</a:t>
                </a:r>
                <a:r>
                  <a:rPr lang="zh-CN" altLang="en-US" sz="1800" b="1" dirty="0" smtClean="0">
                    <a:latin typeface="Times New Roman" panose="02020603050405020304" pitchFamily="18" charset="0"/>
                    <a:cs typeface="Times New Roman" panose="02020603050405020304" pitchFamily="18" charset="0"/>
                  </a:rPr>
                  <a:t>至</a:t>
                </a:r>
                <a:r>
                  <a:rPr lang="zh-CN" altLang="en-US" sz="1800" b="1" dirty="0">
                    <a:latin typeface="Times New Roman" panose="02020603050405020304" pitchFamily="18" charset="0"/>
                    <a:cs typeface="Times New Roman" panose="02020603050405020304" pitchFamily="18" charset="0"/>
                  </a:rPr>
                  <a:t>第</a:t>
                </a:r>
                <a:r>
                  <a:rPr lang="en-US" altLang="zh-CN" sz="1800" b="1" i="1" dirty="0">
                    <a:latin typeface="Times New Roman" panose="02020603050405020304" pitchFamily="18" charset="0"/>
                    <a:cs typeface="Times New Roman" panose="02020603050405020304" pitchFamily="18" charset="0"/>
                  </a:rPr>
                  <a:t>n</a:t>
                </a:r>
                <a:r>
                  <a:rPr lang="zh-CN" altLang="en-US" sz="1800" b="1" dirty="0">
                    <a:latin typeface="Times New Roman" panose="02020603050405020304" pitchFamily="18" charset="0"/>
                    <a:cs typeface="Times New Roman" panose="02020603050405020304" pitchFamily="18" charset="0"/>
                  </a:rPr>
                  <a:t>个工厂的设备台</a:t>
                </a:r>
                <a:r>
                  <a:rPr lang="zh-CN" altLang="en-US" sz="1800" b="1" dirty="0" smtClean="0">
                    <a:latin typeface="Times New Roman" panose="02020603050405020304" pitchFamily="18" charset="0"/>
                    <a:cs typeface="Times New Roman" panose="02020603050405020304" pitchFamily="18" charset="0"/>
                  </a:rPr>
                  <a:t>数</a:t>
                </a:r>
                <a:endParaRPr lang="en-US" altLang="zh-CN" sz="1800" b="1" dirty="0" smtClean="0">
                  <a:latin typeface="Times New Roman" panose="02020603050405020304" pitchFamily="18" charset="0"/>
                  <a:cs typeface="Times New Roman" panose="02020603050405020304" pitchFamily="18" charset="0"/>
                </a:endParaRPr>
              </a:p>
              <a:p>
                <a:r>
                  <a:rPr lang="zh-CN" altLang="en-US" sz="1800" b="1" dirty="0" smtClean="0">
                    <a:latin typeface="Times New Roman" panose="02020603050405020304" pitchFamily="18" charset="0"/>
                    <a:cs typeface="Times New Roman" panose="02020603050405020304" pitchFamily="18" charset="0"/>
                  </a:rPr>
                  <a:t>（</a:t>
                </a:r>
                <a:r>
                  <a:rPr lang="en-US" altLang="zh-CN" sz="1800" b="1" dirty="0" smtClean="0">
                    <a:latin typeface="Times New Roman" panose="02020603050405020304" pitchFamily="18" charset="0"/>
                    <a:cs typeface="Times New Roman" panose="02020603050405020304" pitchFamily="18" charset="0"/>
                  </a:rPr>
                  <a:t>2</a:t>
                </a:r>
                <a:r>
                  <a:rPr lang="zh-CN" altLang="en-US" sz="1800" b="1" dirty="0" smtClean="0">
                    <a:latin typeface="Times New Roman" panose="02020603050405020304" pitchFamily="18" charset="0"/>
                    <a:cs typeface="Times New Roman" panose="02020603050405020304" pitchFamily="18" charset="0"/>
                  </a:rPr>
                  <a:t>）决策变量</a:t>
                </a:r>
                <a:r>
                  <a:rPr lang="en-US" altLang="zh-CN" sz="1800" b="1" i="1" dirty="0" err="1" smtClean="0">
                    <a:latin typeface="Times New Roman" panose="02020603050405020304" pitchFamily="18" charset="0"/>
                    <a:cs typeface="Times New Roman" panose="02020603050405020304" pitchFamily="18" charset="0"/>
                  </a:rPr>
                  <a:t>x</a:t>
                </a:r>
                <a:r>
                  <a:rPr lang="en-US" altLang="zh-CN" sz="1800" b="1" i="1" baseline="-25000" dirty="0" err="1" smtClean="0">
                    <a:latin typeface="Times New Roman" panose="02020603050405020304" pitchFamily="18" charset="0"/>
                    <a:cs typeface="Times New Roman" panose="02020603050405020304" pitchFamily="18" charset="0"/>
                  </a:rPr>
                  <a:t>k</a:t>
                </a:r>
                <a:r>
                  <a:rPr lang="zh-CN" altLang="en-US" sz="1800" b="1" dirty="0" smtClean="0">
                    <a:latin typeface="Times New Roman" panose="02020603050405020304" pitchFamily="18" charset="0"/>
                    <a:cs typeface="Times New Roman" panose="02020603050405020304" pitchFamily="18" charset="0"/>
                  </a:rPr>
                  <a:t>：分</a:t>
                </a:r>
                <a:r>
                  <a:rPr lang="zh-CN" altLang="en-US" sz="1800" b="1" dirty="0">
                    <a:latin typeface="Times New Roman" panose="02020603050405020304" pitchFamily="18" charset="0"/>
                    <a:cs typeface="Times New Roman" panose="02020603050405020304" pitchFamily="18" charset="0"/>
                  </a:rPr>
                  <a:t>配给</a:t>
                </a:r>
                <a:r>
                  <a:rPr lang="zh-CN" altLang="en-US" sz="1800" b="1" dirty="0" smtClean="0">
                    <a:latin typeface="Times New Roman" panose="02020603050405020304" pitchFamily="18" charset="0"/>
                    <a:cs typeface="Times New Roman" panose="02020603050405020304" pitchFamily="18" charset="0"/>
                  </a:rPr>
                  <a:t>第</a:t>
                </a:r>
                <a:r>
                  <a:rPr lang="en-US" altLang="zh-CN" sz="1800" b="1" i="1" dirty="0">
                    <a:latin typeface="Times New Roman" panose="02020603050405020304" pitchFamily="18" charset="0"/>
                    <a:cs typeface="Times New Roman" panose="02020603050405020304" pitchFamily="18" charset="0"/>
                  </a:rPr>
                  <a:t>k</a:t>
                </a:r>
                <a:r>
                  <a:rPr lang="zh-CN" altLang="en-US" sz="1800" b="1" dirty="0">
                    <a:latin typeface="Times New Roman" panose="02020603050405020304" pitchFamily="18" charset="0"/>
                    <a:cs typeface="Times New Roman" panose="02020603050405020304" pitchFamily="18" charset="0"/>
                  </a:rPr>
                  <a:t>个工厂的设备台</a:t>
                </a:r>
                <a:r>
                  <a:rPr lang="zh-CN" altLang="en-US" sz="1800" b="1" dirty="0" smtClean="0">
                    <a:latin typeface="Times New Roman" panose="02020603050405020304" pitchFamily="18" charset="0"/>
                    <a:cs typeface="Times New Roman" panose="02020603050405020304" pitchFamily="18" charset="0"/>
                  </a:rPr>
                  <a:t>数</a:t>
                </a:r>
                <a:r>
                  <a:rPr lang="en-US" altLang="zh-CN" sz="1800" b="1" dirty="0" smtClean="0">
                    <a:latin typeface="Times New Roman" panose="02020603050405020304" pitchFamily="18" charset="0"/>
                    <a:cs typeface="Times New Roman" panose="02020603050405020304" pitchFamily="18" charset="0"/>
                  </a:rPr>
                  <a:t>;</a:t>
                </a:r>
                <a:r>
                  <a:rPr lang="zh-CN" altLang="en-US" sz="1800" b="1" dirty="0" smtClean="0">
                    <a:latin typeface="Times New Roman" panose="02020603050405020304" pitchFamily="18" charset="0"/>
                    <a:cs typeface="Times New Roman" panose="02020603050405020304" pitchFamily="18" charset="0"/>
                  </a:rPr>
                  <a:t> 允许决策集合：</a:t>
                </a:r>
                <a14:m>
                  <m:oMath xmlns:m="http://schemas.openxmlformats.org/officeDocument/2006/math">
                    <m:r>
                      <a:rPr lang="en-US" altLang="zh-CN" sz="1800" b="1" i="0" smtClean="0">
                        <a:latin typeface="Cambria Math" panose="02040503050406030204" pitchFamily="18" charset="0"/>
                        <a:ea typeface="Cambria Math" panose="02040503050406030204" pitchFamily="18" charset="0"/>
                        <a:cs typeface="Times New Roman" panose="02020603050405020304" pitchFamily="18" charset="0"/>
                      </a:rPr>
                      <m:t>𝟎</m:t>
                    </m:r>
                    <m:r>
                      <a:rPr lang="en-US" altLang="zh-CN" sz="1800"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1800" b="1" i="1" smtClean="0">
                            <a:latin typeface="Cambria Math" panose="02040503050406030204" pitchFamily="18" charset="0"/>
                            <a:cs typeface="Times New Roman" panose="02020603050405020304" pitchFamily="18" charset="0"/>
                          </a:rPr>
                        </m:ctrlPr>
                      </m:sSubPr>
                      <m:e>
                        <m:r>
                          <a:rPr lang="en-US" altLang="zh-CN" sz="1800" b="1" i="1" smtClean="0">
                            <a:latin typeface="Cambria Math" panose="02040503050406030204" pitchFamily="18" charset="0"/>
                            <a:cs typeface="Times New Roman" panose="02020603050405020304" pitchFamily="18" charset="0"/>
                          </a:rPr>
                          <m:t>𝒙</m:t>
                        </m:r>
                      </m:e>
                      <m:sub>
                        <m:r>
                          <a:rPr lang="en-US" altLang="zh-CN" sz="1800" b="1" i="1" smtClean="0">
                            <a:latin typeface="Cambria Math" panose="02040503050406030204" pitchFamily="18" charset="0"/>
                            <a:cs typeface="Times New Roman" panose="02020603050405020304" pitchFamily="18" charset="0"/>
                          </a:rPr>
                          <m:t>𝒌</m:t>
                        </m:r>
                      </m:sub>
                    </m:sSub>
                    <m:r>
                      <a:rPr lang="en-US" altLang="zh-CN" sz="1800"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smtClean="0">
                            <a:latin typeface="Cambria Math" panose="02040503050406030204" pitchFamily="18" charset="0"/>
                            <a:cs typeface="Times New Roman" panose="02020603050405020304" pitchFamily="18" charset="0"/>
                          </a:rPr>
                          <m:t>𝒔</m:t>
                        </m:r>
                      </m:e>
                      <m:sub>
                        <m:r>
                          <a:rPr lang="en-US" altLang="zh-CN" sz="1800" b="1" i="1">
                            <a:latin typeface="Cambria Math" panose="02040503050406030204" pitchFamily="18" charset="0"/>
                            <a:cs typeface="Times New Roman" panose="02020603050405020304" pitchFamily="18" charset="0"/>
                          </a:rPr>
                          <m:t>𝒌</m:t>
                        </m:r>
                      </m:sub>
                    </m:sSub>
                  </m:oMath>
                </a14:m>
                <a:endParaRPr lang="en-US" altLang="zh-CN" sz="1800" b="1" dirty="0" smtClean="0">
                  <a:latin typeface="Times New Roman" panose="02020603050405020304" pitchFamily="18" charset="0"/>
                  <a:cs typeface="Times New Roman" panose="02020603050405020304" pitchFamily="18" charset="0"/>
                </a:endParaRPr>
              </a:p>
              <a:p>
                <a:r>
                  <a:rPr lang="zh-CN" altLang="en-US" sz="1800" b="1" dirty="0" smtClean="0">
                    <a:latin typeface="Times New Roman" panose="02020603050405020304" pitchFamily="18" charset="0"/>
                    <a:cs typeface="Times New Roman" panose="02020603050405020304" pitchFamily="18" charset="0"/>
                  </a:rPr>
                  <a:t>（</a:t>
                </a:r>
                <a:r>
                  <a:rPr lang="en-US" altLang="zh-CN" sz="1800" b="1" dirty="0" smtClean="0">
                    <a:latin typeface="Times New Roman" panose="02020603050405020304" pitchFamily="18" charset="0"/>
                    <a:cs typeface="Times New Roman" panose="02020603050405020304" pitchFamily="18" charset="0"/>
                  </a:rPr>
                  <a:t>3</a:t>
                </a:r>
                <a:r>
                  <a:rPr lang="zh-CN" altLang="en-US" sz="1800" b="1" dirty="0" smtClean="0">
                    <a:latin typeface="Times New Roman" panose="02020603050405020304" pitchFamily="18" charset="0"/>
                    <a:cs typeface="Times New Roman" panose="02020603050405020304" pitchFamily="18" charset="0"/>
                  </a:rPr>
                  <a:t>）状态转移方程：</a:t>
                </a:r>
                <a14:m>
                  <m:oMath xmlns:m="http://schemas.openxmlformats.org/officeDocument/2006/math">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𝒔</m:t>
                        </m:r>
                      </m:e>
                      <m:sub>
                        <m:r>
                          <a:rPr lang="en-US" altLang="zh-CN" sz="1800" b="1" i="1">
                            <a:latin typeface="Cambria Math" panose="02040503050406030204" pitchFamily="18" charset="0"/>
                            <a:cs typeface="Times New Roman" panose="02020603050405020304" pitchFamily="18" charset="0"/>
                          </a:rPr>
                          <m:t>𝒌</m:t>
                        </m:r>
                        <m:r>
                          <a:rPr lang="en-US" altLang="zh-CN" sz="1800" b="1" i="1" smtClean="0">
                            <a:latin typeface="Cambria Math" panose="02040503050406030204" pitchFamily="18" charset="0"/>
                            <a:cs typeface="Times New Roman" panose="02020603050405020304" pitchFamily="18" charset="0"/>
                          </a:rPr>
                          <m:t>+</m:t>
                        </m:r>
                        <m:r>
                          <a:rPr lang="en-US" altLang="zh-CN" sz="1800" b="1" i="1" smtClean="0">
                            <a:latin typeface="Cambria Math" panose="02040503050406030204" pitchFamily="18" charset="0"/>
                            <a:cs typeface="Times New Roman" panose="02020603050405020304" pitchFamily="18" charset="0"/>
                          </a:rPr>
                          <m:t>𝟏</m:t>
                        </m:r>
                      </m:sub>
                    </m:sSub>
                    <m:r>
                      <a:rPr lang="en-US" altLang="zh-CN" sz="1800" b="1" i="1" smtClean="0">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𝒔</m:t>
                        </m:r>
                      </m:e>
                      <m:sub>
                        <m:r>
                          <a:rPr lang="en-US" altLang="zh-CN" sz="1800" b="1" i="1">
                            <a:latin typeface="Cambria Math" panose="02040503050406030204" pitchFamily="18" charset="0"/>
                            <a:cs typeface="Times New Roman" panose="02020603050405020304" pitchFamily="18" charset="0"/>
                          </a:rPr>
                          <m:t>𝒌</m:t>
                        </m:r>
                      </m:sub>
                    </m:sSub>
                  </m:oMath>
                </a14:m>
                <a:r>
                  <a:rPr lang="en-US" altLang="zh-CN" sz="1800" b="1" dirty="0" smtClean="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smtClean="0">
                            <a:latin typeface="Cambria Math" panose="02040503050406030204" pitchFamily="18" charset="0"/>
                            <a:cs typeface="Times New Roman" panose="02020603050405020304" pitchFamily="18" charset="0"/>
                          </a:rPr>
                          <m:t>𝒙</m:t>
                        </m:r>
                      </m:e>
                      <m:sub>
                        <m:r>
                          <a:rPr lang="en-US" altLang="zh-CN" sz="1800" b="1" i="1">
                            <a:latin typeface="Cambria Math" panose="02040503050406030204" pitchFamily="18" charset="0"/>
                            <a:cs typeface="Times New Roman" panose="02020603050405020304" pitchFamily="18" charset="0"/>
                          </a:rPr>
                          <m:t>𝒌</m:t>
                        </m:r>
                      </m:sub>
                    </m:sSub>
                  </m:oMath>
                </a14:m>
                <a:endParaRPr lang="en-US" altLang="zh-CN" sz="1800" b="1" dirty="0" smtClean="0">
                  <a:latin typeface="Times New Roman" panose="02020603050405020304" pitchFamily="18" charset="0"/>
                  <a:cs typeface="Times New Roman" panose="02020603050405020304" pitchFamily="18" charset="0"/>
                </a:endParaRPr>
              </a:p>
              <a:p>
                <a:r>
                  <a:rPr lang="zh-CN" altLang="en-US" sz="1800" b="1" dirty="0" smtClean="0">
                    <a:latin typeface="Times New Roman" panose="02020603050405020304" pitchFamily="18" charset="0"/>
                    <a:cs typeface="Times New Roman" panose="02020603050405020304" pitchFamily="18" charset="0"/>
                  </a:rPr>
                  <a:t>（</a:t>
                </a:r>
                <a:r>
                  <a:rPr lang="en-US" altLang="zh-CN" sz="1800" b="1" dirty="0" smtClean="0">
                    <a:latin typeface="Times New Roman" panose="02020603050405020304" pitchFamily="18" charset="0"/>
                    <a:cs typeface="Times New Roman" panose="02020603050405020304" pitchFamily="18" charset="0"/>
                  </a:rPr>
                  <a:t>4</a:t>
                </a:r>
                <a:r>
                  <a:rPr lang="zh-CN" altLang="en-US" sz="1800" b="1" dirty="0" smtClean="0">
                    <a:latin typeface="Times New Roman" panose="02020603050405020304" pitchFamily="18" charset="0"/>
                    <a:cs typeface="Times New Roman" panose="02020603050405020304" pitchFamily="18" charset="0"/>
                  </a:rPr>
                  <a:t>）阶段指标函数</a:t>
                </a:r>
                <a14:m>
                  <m:oMath xmlns:m="http://schemas.openxmlformats.org/officeDocument/2006/math">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smtClean="0">
                            <a:latin typeface="Cambria Math" panose="02040503050406030204" pitchFamily="18" charset="0"/>
                            <a:cs typeface="Times New Roman" panose="02020603050405020304" pitchFamily="18" charset="0"/>
                          </a:rPr>
                          <m:t>𝒗</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smtClean="0">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𝒔</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smtClean="0">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𝒙</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smtClean="0">
                        <a:latin typeface="Cambria Math" panose="02040503050406030204" pitchFamily="18" charset="0"/>
                        <a:cs typeface="Times New Roman" panose="02020603050405020304" pitchFamily="18" charset="0"/>
                      </a:rPr>
                      <m:t>)</m:t>
                    </m:r>
                  </m:oMath>
                </a14:m>
                <a:r>
                  <a:rPr lang="zh-CN" altLang="en-US" sz="1800" b="1" dirty="0">
                    <a:latin typeface="Times New Roman" panose="02020603050405020304" pitchFamily="18" charset="0"/>
                    <a:cs typeface="Times New Roman" panose="02020603050405020304" pitchFamily="18" charset="0"/>
                  </a:rPr>
                  <a:t> </a:t>
                </a:r>
                <a:r>
                  <a:rPr lang="zh-CN" altLang="en-US" sz="1800" b="1" dirty="0" smtClean="0">
                    <a:latin typeface="Times New Roman" panose="02020603050405020304" pitchFamily="18" charset="0"/>
                    <a:cs typeface="Times New Roman" panose="02020603050405020304" pitchFamily="18" charset="0"/>
                  </a:rPr>
                  <a:t>：</a:t>
                </a:r>
                <a:r>
                  <a:rPr lang="en-US" altLang="zh-CN" sz="1800" i="1" dirty="0">
                    <a:cs typeface="Times New Roman" panose="02020603050405020304" pitchFamily="18" charset="0"/>
                  </a:rPr>
                  <a:t>s</a:t>
                </a:r>
                <a:r>
                  <a:rPr lang="en-US" altLang="zh-CN" sz="1800" b="1" i="1" baseline="-25000" dirty="0">
                    <a:latin typeface="Times New Roman" panose="02020603050405020304" pitchFamily="18" charset="0"/>
                    <a:cs typeface="Times New Roman" panose="02020603050405020304" pitchFamily="18" charset="0"/>
                  </a:rPr>
                  <a:t>k</a:t>
                </a:r>
                <a:r>
                  <a:rPr lang="zh-CN" altLang="en-US" sz="1800" b="1" dirty="0"/>
                  <a:t>台设备分配到第</a:t>
                </a:r>
                <a:r>
                  <a:rPr lang="en-US" altLang="zh-CN" sz="1800" b="1" i="1" dirty="0">
                    <a:latin typeface="Times New Roman" panose="02020603050405020304" pitchFamily="18" charset="0"/>
                    <a:cs typeface="Times New Roman" panose="02020603050405020304" pitchFamily="18" charset="0"/>
                  </a:rPr>
                  <a:t>k</a:t>
                </a:r>
                <a:r>
                  <a:rPr lang="zh-CN" altLang="en-US" sz="1800" b="1" dirty="0"/>
                  <a:t>个工厂所得的盈利</a:t>
                </a:r>
                <a:r>
                  <a:rPr lang="zh-CN" altLang="en-US" sz="1800" b="1" dirty="0" smtClean="0"/>
                  <a:t>值</a:t>
                </a:r>
                <a:endParaRPr lang="en-US" altLang="zh-CN" sz="1800" b="1" dirty="0" smtClean="0"/>
              </a:p>
              <a:p>
                <a:r>
                  <a:rPr lang="zh-CN" altLang="en-US" sz="1800" b="1" dirty="0" smtClean="0">
                    <a:latin typeface="Times New Roman" panose="02020603050405020304" pitchFamily="18" charset="0"/>
                    <a:cs typeface="Times New Roman" panose="02020603050405020304" pitchFamily="18" charset="0"/>
                  </a:rPr>
                  <a:t>（</a:t>
                </a:r>
                <a:r>
                  <a:rPr lang="en-US" altLang="zh-CN" sz="1800" b="1" dirty="0" smtClean="0">
                    <a:latin typeface="Times New Roman" panose="02020603050405020304" pitchFamily="18" charset="0"/>
                    <a:cs typeface="Times New Roman" panose="02020603050405020304" pitchFamily="18" charset="0"/>
                  </a:rPr>
                  <a:t>5</a:t>
                </a:r>
                <a:r>
                  <a:rPr lang="zh-CN" altLang="en-US" sz="1800" b="1" dirty="0" smtClean="0">
                    <a:latin typeface="Times New Roman" panose="02020603050405020304" pitchFamily="18" charset="0"/>
                    <a:cs typeface="Times New Roman" panose="02020603050405020304" pitchFamily="18" charset="0"/>
                  </a:rPr>
                  <a:t>）最优指标函数</a:t>
                </a:r>
                <a14:m>
                  <m:oMath xmlns:m="http://schemas.openxmlformats.org/officeDocument/2006/math">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smtClean="0">
                            <a:latin typeface="Cambria Math" panose="02040503050406030204" pitchFamily="18" charset="0"/>
                            <a:cs typeface="Times New Roman" panose="02020603050405020304" pitchFamily="18" charset="0"/>
                          </a:rPr>
                          <m:t>𝒇</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𝒔</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a:latin typeface="Cambria Math" panose="02040503050406030204" pitchFamily="18" charset="0"/>
                        <a:cs typeface="Times New Roman" panose="02020603050405020304" pitchFamily="18" charset="0"/>
                      </a:rPr>
                      <m:t>)</m:t>
                    </m:r>
                  </m:oMath>
                </a14:m>
                <a:r>
                  <a:rPr lang="zh-CN" altLang="en-US" sz="1800" b="1" dirty="0">
                    <a:latin typeface="Times New Roman" panose="02020603050405020304" pitchFamily="18" charset="0"/>
                    <a:cs typeface="Times New Roman" panose="02020603050405020304" pitchFamily="18" charset="0"/>
                  </a:rPr>
                  <a:t> </a:t>
                </a:r>
                <a:r>
                  <a:rPr lang="zh-CN" altLang="en-US" sz="1800" b="1" dirty="0" smtClean="0">
                    <a:latin typeface="Times New Roman" panose="02020603050405020304" pitchFamily="18" charset="0"/>
                    <a:cs typeface="Times New Roman" panose="02020603050405020304" pitchFamily="18" charset="0"/>
                  </a:rPr>
                  <a:t>：</a:t>
                </a:r>
                <a:r>
                  <a:rPr lang="en-US" altLang="zh-CN" sz="1800" b="1" i="1" dirty="0" smtClean="0">
                    <a:latin typeface="Times New Roman" panose="02020603050405020304" pitchFamily="18" charset="0"/>
                    <a:cs typeface="Times New Roman" panose="02020603050405020304" pitchFamily="18" charset="0"/>
                  </a:rPr>
                  <a:t>s</a:t>
                </a:r>
                <a:r>
                  <a:rPr lang="en-US" altLang="zh-CN" sz="1800" b="1" i="1" baseline="-25000" dirty="0" smtClean="0">
                    <a:latin typeface="Times New Roman" panose="02020603050405020304" pitchFamily="18" charset="0"/>
                    <a:cs typeface="Times New Roman" panose="02020603050405020304" pitchFamily="18" charset="0"/>
                  </a:rPr>
                  <a:t>k</a:t>
                </a:r>
                <a:r>
                  <a:rPr lang="zh-CN" altLang="en-US" sz="1800" b="1" dirty="0">
                    <a:latin typeface="Times New Roman" panose="02020603050405020304" pitchFamily="18" charset="0"/>
                    <a:cs typeface="Times New Roman" panose="02020603050405020304" pitchFamily="18" charset="0"/>
                  </a:rPr>
                  <a:t>台设备分配给第</a:t>
                </a:r>
                <a:r>
                  <a:rPr lang="en-US" altLang="zh-CN" sz="1800" b="1" i="1" dirty="0" smtClean="0">
                    <a:latin typeface="Times New Roman" panose="02020603050405020304" pitchFamily="18" charset="0"/>
                    <a:cs typeface="Times New Roman" panose="02020603050405020304" pitchFamily="18" charset="0"/>
                  </a:rPr>
                  <a:t>k</a:t>
                </a:r>
                <a:r>
                  <a:rPr lang="zh-CN" altLang="en-US" sz="1800" b="1" dirty="0" smtClean="0">
                    <a:latin typeface="Times New Roman" panose="02020603050405020304" pitchFamily="18" charset="0"/>
                    <a:cs typeface="Times New Roman" panose="02020603050405020304" pitchFamily="18" charset="0"/>
                  </a:rPr>
                  <a:t>至</a:t>
                </a:r>
                <a:r>
                  <a:rPr lang="zh-CN" altLang="en-US" sz="1800" b="1" dirty="0">
                    <a:latin typeface="Times New Roman" panose="02020603050405020304" pitchFamily="18" charset="0"/>
                    <a:cs typeface="Times New Roman" panose="02020603050405020304" pitchFamily="18" charset="0"/>
                  </a:rPr>
                  <a:t>第</a:t>
                </a:r>
                <a:r>
                  <a:rPr lang="en-US" altLang="zh-CN" sz="1800" b="1" i="1" dirty="0">
                    <a:latin typeface="Times New Roman" panose="02020603050405020304" pitchFamily="18" charset="0"/>
                    <a:cs typeface="Times New Roman" panose="02020603050405020304" pitchFamily="18" charset="0"/>
                  </a:rPr>
                  <a:t>n</a:t>
                </a:r>
                <a:r>
                  <a:rPr lang="zh-CN" altLang="en-US" sz="1800" b="1" dirty="0">
                    <a:latin typeface="Times New Roman" panose="02020603050405020304" pitchFamily="18" charset="0"/>
                    <a:cs typeface="Times New Roman" panose="02020603050405020304" pitchFamily="18" charset="0"/>
                  </a:rPr>
                  <a:t>个工厂时所得到的最大盈利值</a:t>
                </a:r>
                <a:r>
                  <a:rPr lang="zh-CN" altLang="en-US" sz="1800" b="1" dirty="0" smtClean="0">
                    <a:latin typeface="Times New Roman" panose="02020603050405020304" pitchFamily="18" charset="0"/>
                    <a:cs typeface="Times New Roman" panose="02020603050405020304" pitchFamily="18" charset="0"/>
                  </a:rPr>
                  <a:t>。</a:t>
                </a:r>
                <a:endParaRPr lang="en-US" altLang="zh-CN" sz="1800" b="1" dirty="0" smtClean="0">
                  <a:latin typeface="Times New Roman" panose="02020603050405020304" pitchFamily="18" charset="0"/>
                  <a:cs typeface="Times New Roman" panose="02020603050405020304" pitchFamily="18" charset="0"/>
                </a:endParaRPr>
              </a:p>
              <a:p>
                <a:r>
                  <a:rPr lang="zh-CN" altLang="en-US" sz="1800" b="1" dirty="0" smtClean="0">
                    <a:latin typeface="Times New Roman" panose="02020603050405020304" pitchFamily="18" charset="0"/>
                    <a:cs typeface="Times New Roman" panose="02020603050405020304" pitchFamily="18" charset="0"/>
                  </a:rPr>
                  <a:t>（</a:t>
                </a:r>
                <a:r>
                  <a:rPr lang="en-US" altLang="zh-CN" sz="1800" b="1" dirty="0" smtClean="0">
                    <a:latin typeface="Times New Roman" panose="02020603050405020304" pitchFamily="18" charset="0"/>
                    <a:cs typeface="Times New Roman" panose="02020603050405020304" pitchFamily="18" charset="0"/>
                  </a:rPr>
                  <a:t>6</a:t>
                </a:r>
                <a:r>
                  <a:rPr lang="zh-CN" altLang="en-US" sz="1800" b="1" dirty="0" smtClean="0">
                    <a:latin typeface="Times New Roman" panose="02020603050405020304" pitchFamily="18" charset="0"/>
                    <a:cs typeface="Times New Roman" panose="02020603050405020304" pitchFamily="18" charset="0"/>
                  </a:rPr>
                  <a:t>）递推方程：</a:t>
                </a:r>
                <a14:m>
                  <m:oMath xmlns:m="http://schemas.openxmlformats.org/officeDocument/2006/math">
                    <m:d>
                      <m:dPr>
                        <m:begChr m:val="{"/>
                        <m:endChr m:val=""/>
                        <m:ctrlPr>
                          <a:rPr lang="en-US" altLang="zh-CN" sz="1800" b="1" i="1">
                            <a:latin typeface="Cambria Math" panose="02040503050406030204" pitchFamily="18" charset="0"/>
                            <a:cs typeface="Times New Roman" panose="02020603050405020304" pitchFamily="18" charset="0"/>
                          </a:rPr>
                        </m:ctrlPr>
                      </m:dPr>
                      <m:e>
                        <m:eqArr>
                          <m:eqArrPr>
                            <m:ctrlPr>
                              <a:rPr lang="en-US" altLang="zh-CN" sz="1800" b="1" i="1">
                                <a:latin typeface="Cambria Math" panose="02040503050406030204" pitchFamily="18" charset="0"/>
                                <a:cs typeface="Times New Roman" panose="02020603050405020304" pitchFamily="18" charset="0"/>
                              </a:rPr>
                            </m:ctrlPr>
                          </m:eqArrPr>
                          <m:e>
                            <m:r>
                              <m:rPr>
                                <m:nor/>
                              </m:rPr>
                              <a:rPr lang="en-US" altLang="zh-CN" sz="1800" b="1" i="1" dirty="0">
                                <a:latin typeface="Times New Roman" panose="02020603050405020304" pitchFamily="18" charset="0"/>
                                <a:cs typeface="Times New Roman" panose="02020603050405020304" pitchFamily="18" charset="0"/>
                              </a:rPr>
                              <m:t>f</m:t>
                            </m:r>
                            <m:r>
                              <m:rPr>
                                <m:nor/>
                              </m:rPr>
                              <a:rPr lang="en-US" altLang="zh-CN" sz="1800" b="1" i="1" baseline="-25000" dirty="0">
                                <a:latin typeface="Times New Roman" panose="02020603050405020304" pitchFamily="18" charset="0"/>
                                <a:cs typeface="Times New Roman" panose="02020603050405020304" pitchFamily="18" charset="0"/>
                              </a:rPr>
                              <m:t>k</m:t>
                            </m:r>
                            <m:r>
                              <m:rPr>
                                <m:nor/>
                              </m:rPr>
                              <a:rPr lang="en-US" altLang="zh-CN" sz="1800" b="1" dirty="0">
                                <a:latin typeface="Times New Roman" panose="02020603050405020304" pitchFamily="18" charset="0"/>
                                <a:cs typeface="Times New Roman" panose="02020603050405020304" pitchFamily="18" charset="0"/>
                              </a:rPr>
                              <m:t>(</m:t>
                            </m:r>
                            <m:r>
                              <m:rPr>
                                <m:nor/>
                              </m:rPr>
                              <a:rPr lang="en-US" altLang="zh-CN" sz="1800" b="1" i="1" dirty="0">
                                <a:latin typeface="Times New Roman" panose="02020603050405020304" pitchFamily="18" charset="0"/>
                                <a:cs typeface="Times New Roman" panose="02020603050405020304" pitchFamily="18" charset="0"/>
                              </a:rPr>
                              <m:t>s</m:t>
                            </m:r>
                            <m:r>
                              <m:rPr>
                                <m:nor/>
                              </m:rPr>
                              <a:rPr lang="en-US" altLang="zh-CN" sz="1800" b="1" i="1" baseline="-25000" dirty="0">
                                <a:latin typeface="Times New Roman" panose="02020603050405020304" pitchFamily="18" charset="0"/>
                                <a:cs typeface="Times New Roman" panose="02020603050405020304" pitchFamily="18" charset="0"/>
                              </a:rPr>
                              <m:t>k</m:t>
                            </m:r>
                            <m:r>
                              <m:rPr>
                                <m:nor/>
                              </m:rPr>
                              <a:rPr lang="en-US" altLang="zh-CN" sz="1800" b="1" dirty="0">
                                <a:latin typeface="Times New Roman" panose="02020603050405020304" pitchFamily="18" charset="0"/>
                                <a:cs typeface="Times New Roman" panose="02020603050405020304" pitchFamily="18" charset="0"/>
                              </a:rPr>
                              <m:t>)</m:t>
                            </m:r>
                            <m:r>
                              <a:rPr lang="en-US" altLang="zh-CN" sz="1800" b="1" i="1">
                                <a:latin typeface="Cambria Math" panose="02040503050406030204" pitchFamily="18" charset="0"/>
                                <a:cs typeface="Times New Roman" panose="02020603050405020304" pitchFamily="18" charset="0"/>
                              </a:rPr>
                              <m:t>=</m:t>
                            </m:r>
                            <m:func>
                              <m:funcPr>
                                <m:ctrlPr>
                                  <a:rPr lang="en-US" altLang="zh-CN" sz="1800" b="1" i="1">
                                    <a:latin typeface="Cambria Math" panose="02040503050406030204" pitchFamily="18" charset="0"/>
                                    <a:cs typeface="Times New Roman" panose="02020603050405020304" pitchFamily="18" charset="0"/>
                                  </a:rPr>
                                </m:ctrlPr>
                              </m:funcPr>
                              <m:fName>
                                <m:limLow>
                                  <m:limLowPr>
                                    <m:ctrlPr>
                                      <a:rPr lang="en-US" altLang="zh-CN" sz="1800" b="1" i="1">
                                        <a:latin typeface="Cambria Math" panose="02040503050406030204" pitchFamily="18" charset="0"/>
                                        <a:cs typeface="Times New Roman" panose="02020603050405020304" pitchFamily="18" charset="0"/>
                                      </a:rPr>
                                    </m:ctrlPr>
                                  </m:limLowPr>
                                  <m:e>
                                    <m:r>
                                      <m:rPr>
                                        <m:sty m:val="p"/>
                                      </m:rPr>
                                      <a:rPr lang="en-US" altLang="zh-CN" sz="1800">
                                        <a:latin typeface="Cambria Math" panose="02040503050406030204" pitchFamily="18" charset="0"/>
                                        <a:cs typeface="Times New Roman" panose="02020603050405020304" pitchFamily="18" charset="0"/>
                                      </a:rPr>
                                      <m:t>m</m:t>
                                    </m:r>
                                    <m:r>
                                      <m:rPr>
                                        <m:sty m:val="p"/>
                                      </m:rPr>
                                      <a:rPr lang="en-US" altLang="zh-CN" sz="1800" b="0" i="0" smtClean="0">
                                        <a:latin typeface="Cambria Math" panose="02040503050406030204" pitchFamily="18" charset="0"/>
                                        <a:cs typeface="Times New Roman" panose="02020603050405020304" pitchFamily="18" charset="0"/>
                                      </a:rPr>
                                      <m:t>ax</m:t>
                                    </m:r>
                                  </m:e>
                                  <m:lim>
                                    <m:r>
                                      <a:rPr lang="en-US" altLang="zh-CN" sz="1800" i="1">
                                        <a:latin typeface="Cambria Math" panose="02040503050406030204" pitchFamily="18" charset="0"/>
                                        <a:cs typeface="Times New Roman" panose="02020603050405020304" pitchFamily="18" charset="0"/>
                                      </a:rPr>
                                      <m:t>0</m:t>
                                    </m:r>
                                    <m:r>
                                      <a:rPr lang="en-US" altLang="zh-CN" sz="18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𝑘</m:t>
                                        </m:r>
                                      </m:sub>
                                    </m:sSub>
                                    <m:r>
                                      <a:rPr lang="en-US" altLang="zh-CN" sz="18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b="0" i="1" smtClean="0">
                                            <a:latin typeface="Cambria Math" panose="02040503050406030204" pitchFamily="18" charset="0"/>
                                            <a:ea typeface="Cambria Math" panose="02040503050406030204" pitchFamily="18" charset="0"/>
                                            <a:cs typeface="Times New Roman" panose="02020603050405020304" pitchFamily="18" charset="0"/>
                                          </a:rPr>
                                          <m:t>𝑠</m:t>
                                        </m:r>
                                      </m:e>
                                      <m:sub>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𝑘</m:t>
                                        </m:r>
                                      </m:sub>
                                    </m:sSub>
                                  </m:lim>
                                </m:limLow>
                              </m:fName>
                              <m:e>
                                <m:d>
                                  <m:dPr>
                                    <m:begChr m:val="{"/>
                                    <m:endChr m:val="}"/>
                                    <m:ctrlPr>
                                      <a:rPr lang="en-US" altLang="zh-CN" sz="1800" b="1" i="1">
                                        <a:latin typeface="Cambria Math" panose="02040503050406030204" pitchFamily="18" charset="0"/>
                                        <a:cs typeface="Times New Roman" panose="02020603050405020304" pitchFamily="18" charset="0"/>
                                      </a:rPr>
                                    </m:ctrlPr>
                                  </m:dPr>
                                  <m:e>
                                    <m:r>
                                      <m:rPr>
                                        <m:nor/>
                                      </m:rPr>
                                      <a:rPr lang="en-US" altLang="zh-CN" sz="1800" b="1" i="1" dirty="0">
                                        <a:latin typeface="Times New Roman" panose="02020603050405020304" pitchFamily="18" charset="0"/>
                                        <a:cs typeface="Times New Roman" panose="02020603050405020304" pitchFamily="18" charset="0"/>
                                      </a:rPr>
                                      <m:t>v</m:t>
                                    </m:r>
                                    <m:r>
                                      <m:rPr>
                                        <m:nor/>
                                      </m:rPr>
                                      <a:rPr lang="en-US" altLang="zh-CN" sz="1800" b="1" i="1" baseline="-25000" dirty="0">
                                        <a:latin typeface="Times New Roman" panose="02020603050405020304" pitchFamily="18" charset="0"/>
                                        <a:cs typeface="Times New Roman" panose="02020603050405020304" pitchFamily="18" charset="0"/>
                                      </a:rPr>
                                      <m:t>k</m:t>
                                    </m:r>
                                    <m:r>
                                      <m:rPr>
                                        <m:nor/>
                                      </m:rPr>
                                      <a:rPr lang="en-US" altLang="zh-CN" sz="1800" b="1" dirty="0">
                                        <a:latin typeface="Times New Roman" panose="02020603050405020304" pitchFamily="18" charset="0"/>
                                        <a:cs typeface="Times New Roman" panose="02020603050405020304" pitchFamily="18" charset="0"/>
                                      </a:rPr>
                                      <m:t>(</m:t>
                                    </m:r>
                                    <m:r>
                                      <m:rPr>
                                        <m:nor/>
                                      </m:rPr>
                                      <a:rPr lang="en-US" altLang="zh-CN" sz="1800" b="1" i="1" dirty="0">
                                        <a:latin typeface="Times New Roman" panose="02020603050405020304" pitchFamily="18" charset="0"/>
                                        <a:cs typeface="Times New Roman" panose="02020603050405020304" pitchFamily="18" charset="0"/>
                                      </a:rPr>
                                      <m:t>s</m:t>
                                    </m:r>
                                    <m:r>
                                      <m:rPr>
                                        <m:nor/>
                                      </m:rPr>
                                      <a:rPr lang="en-US" altLang="zh-CN" sz="1800" b="1" i="1" baseline="-25000" dirty="0">
                                        <a:latin typeface="Times New Roman" panose="02020603050405020304" pitchFamily="18" charset="0"/>
                                        <a:cs typeface="Times New Roman" panose="02020603050405020304" pitchFamily="18" charset="0"/>
                                      </a:rPr>
                                      <m:t>k</m:t>
                                    </m:r>
                                    <m:r>
                                      <m:rPr>
                                        <m:nor/>
                                      </m:rPr>
                                      <a:rPr lang="en-US" altLang="zh-CN" sz="1800" b="1" dirty="0">
                                        <a:latin typeface="Times New Roman" panose="02020603050405020304" pitchFamily="18" charset="0"/>
                                        <a:cs typeface="Times New Roman" panose="02020603050405020304" pitchFamily="18" charset="0"/>
                                      </a:rPr>
                                      <m:t>,</m:t>
                                    </m:r>
                                    <m:r>
                                      <m:rPr>
                                        <m:nor/>
                                      </m:rPr>
                                      <a:rPr lang="en-US" altLang="zh-CN" sz="1800" b="1" i="1" dirty="0">
                                        <a:latin typeface="Times New Roman" panose="02020603050405020304" pitchFamily="18" charset="0"/>
                                        <a:cs typeface="Times New Roman" panose="02020603050405020304" pitchFamily="18" charset="0"/>
                                      </a:rPr>
                                      <m:t> </m:t>
                                    </m:r>
                                    <m:sSub>
                                      <m:sSubPr>
                                        <m:ctrlPr>
                                          <a:rPr lang="en-US" altLang="zh-CN" sz="1800" b="1" i="1" dirty="0">
                                            <a:latin typeface="Cambria Math" panose="02040503050406030204" pitchFamily="18" charset="0"/>
                                            <a:cs typeface="Times New Roman" panose="02020603050405020304" pitchFamily="18" charset="0"/>
                                          </a:rPr>
                                        </m:ctrlPr>
                                      </m:sSubPr>
                                      <m:e>
                                        <m:r>
                                          <a:rPr lang="en-US" altLang="zh-CN" sz="1800" b="1" i="1" dirty="0">
                                            <a:latin typeface="Cambria Math" panose="02040503050406030204" pitchFamily="18" charset="0"/>
                                            <a:cs typeface="Times New Roman" panose="02020603050405020304" pitchFamily="18" charset="0"/>
                                          </a:rPr>
                                          <m:t>𝒙</m:t>
                                        </m:r>
                                      </m:e>
                                      <m:sub>
                                        <m:r>
                                          <a:rPr lang="en-US" altLang="zh-CN" sz="1800" b="1" i="1" dirty="0">
                                            <a:latin typeface="Cambria Math" panose="02040503050406030204" pitchFamily="18" charset="0"/>
                                            <a:cs typeface="Times New Roman" panose="02020603050405020304" pitchFamily="18" charset="0"/>
                                          </a:rPr>
                                          <m:t>𝒌</m:t>
                                        </m:r>
                                      </m:sub>
                                    </m:sSub>
                                    <m:r>
                                      <m:rPr>
                                        <m:nor/>
                                      </m:rPr>
                                      <a:rPr lang="en-US" altLang="zh-CN" sz="1800" b="1" dirty="0">
                                        <a:latin typeface="Times New Roman" panose="02020603050405020304" pitchFamily="18" charset="0"/>
                                        <a:cs typeface="Times New Roman" panose="02020603050405020304" pitchFamily="18" charset="0"/>
                                      </a:rPr>
                                      <m:t>)</m:t>
                                    </m:r>
                                    <m:r>
                                      <a:rPr lang="en-US" altLang="zh-CN" sz="1800" b="1" i="1">
                                        <a:latin typeface="Cambria Math" panose="02040503050406030204" pitchFamily="18" charset="0"/>
                                        <a:cs typeface="Times New Roman" panose="02020603050405020304" pitchFamily="18" charset="0"/>
                                      </a:rPr>
                                      <m:t>+</m:t>
                                    </m:r>
                                    <m:r>
                                      <m:rPr>
                                        <m:nor/>
                                      </m:rPr>
                                      <a:rPr lang="en-US" altLang="zh-CN" sz="1800" b="1" i="1" dirty="0">
                                        <a:latin typeface="Times New Roman" panose="02020603050405020304" pitchFamily="18" charset="0"/>
                                        <a:cs typeface="Times New Roman" panose="02020603050405020304" pitchFamily="18" charset="0"/>
                                      </a:rPr>
                                      <m:t>f</m:t>
                                    </m:r>
                                    <m:r>
                                      <m:rPr>
                                        <m:nor/>
                                      </m:rPr>
                                      <a:rPr lang="en-US" altLang="zh-CN" sz="1800" b="1" i="1" baseline="-25000" dirty="0">
                                        <a:latin typeface="Times New Roman" panose="02020603050405020304" pitchFamily="18" charset="0"/>
                                        <a:cs typeface="Times New Roman" panose="02020603050405020304" pitchFamily="18" charset="0"/>
                                      </a:rPr>
                                      <m:t>k</m:t>
                                    </m:r>
                                    <m:r>
                                      <m:rPr>
                                        <m:nor/>
                                      </m:rPr>
                                      <a:rPr lang="en-US" altLang="zh-CN" sz="1800" b="1" i="1" baseline="-25000" dirty="0" smtClean="0">
                                        <a:latin typeface="Times New Roman" panose="02020603050405020304" pitchFamily="18" charset="0"/>
                                        <a:cs typeface="Times New Roman" panose="02020603050405020304" pitchFamily="18" charset="0"/>
                                      </a:rPr>
                                      <m:t>+</m:t>
                                    </m:r>
                                    <m:r>
                                      <m:rPr>
                                        <m:nor/>
                                      </m:rPr>
                                      <a:rPr lang="en-US" altLang="zh-CN" sz="1800" b="1" i="1" baseline="-25000" dirty="0">
                                        <a:latin typeface="Times New Roman" panose="02020603050405020304" pitchFamily="18" charset="0"/>
                                        <a:cs typeface="Times New Roman" panose="02020603050405020304" pitchFamily="18" charset="0"/>
                                      </a:rPr>
                                      <m:t>1</m:t>
                                    </m:r>
                                    <m:r>
                                      <m:rPr>
                                        <m:nor/>
                                      </m:rPr>
                                      <a:rPr lang="en-US" altLang="zh-CN" sz="1800" b="1" dirty="0">
                                        <a:latin typeface="Times New Roman" panose="02020603050405020304" pitchFamily="18" charset="0"/>
                                        <a:cs typeface="Times New Roman" panose="02020603050405020304" pitchFamily="18" charset="0"/>
                                      </a:rPr>
                                      <m:t>(</m:t>
                                    </m:r>
                                    <m:r>
                                      <m:rPr>
                                        <m:nor/>
                                      </m:rPr>
                                      <a:rPr lang="en-US" altLang="zh-CN" sz="1800" b="1" i="1" dirty="0">
                                        <a:latin typeface="Times New Roman" panose="02020603050405020304" pitchFamily="18" charset="0"/>
                                        <a:cs typeface="Times New Roman" panose="02020603050405020304" pitchFamily="18" charset="0"/>
                                      </a:rPr>
                                      <m:t>s</m:t>
                                    </m:r>
                                    <m:r>
                                      <m:rPr>
                                        <m:nor/>
                                      </m:rPr>
                                      <a:rPr lang="en-US" altLang="zh-CN" sz="1800" b="1" i="1" baseline="-25000" dirty="0">
                                        <a:latin typeface="Times New Roman" panose="02020603050405020304" pitchFamily="18" charset="0"/>
                                        <a:cs typeface="Times New Roman" panose="02020603050405020304" pitchFamily="18" charset="0"/>
                                      </a:rPr>
                                      <m:t>k</m:t>
                                    </m:r>
                                    <m:r>
                                      <m:rPr>
                                        <m:nor/>
                                      </m:rPr>
                                      <a:rPr lang="en-US" altLang="zh-CN" sz="1800" b="1" i="1" baseline="-25000" dirty="0" smtClean="0">
                                        <a:latin typeface="Times New Roman" panose="02020603050405020304" pitchFamily="18" charset="0"/>
                                        <a:cs typeface="Times New Roman" panose="02020603050405020304" pitchFamily="18" charset="0"/>
                                      </a:rPr>
                                      <m:t>+</m:t>
                                    </m:r>
                                    <m:r>
                                      <m:rPr>
                                        <m:nor/>
                                      </m:rPr>
                                      <a:rPr lang="en-US" altLang="zh-CN" sz="1800" b="1" i="1" baseline="-25000" dirty="0">
                                        <a:latin typeface="Times New Roman" panose="02020603050405020304" pitchFamily="18" charset="0"/>
                                        <a:cs typeface="Times New Roman" panose="02020603050405020304" pitchFamily="18" charset="0"/>
                                      </a:rPr>
                                      <m:t>1</m:t>
                                    </m:r>
                                    <m:r>
                                      <m:rPr>
                                        <m:nor/>
                                      </m:rPr>
                                      <a:rPr lang="en-US" altLang="zh-CN" sz="1800" b="1" dirty="0">
                                        <a:latin typeface="Times New Roman" panose="02020603050405020304" pitchFamily="18" charset="0"/>
                                        <a:cs typeface="Times New Roman" panose="02020603050405020304" pitchFamily="18" charset="0"/>
                                      </a:rPr>
                                      <m:t>)</m:t>
                                    </m:r>
                                  </m:e>
                                </m:d>
                                <m:r>
                                  <a:rPr lang="zh-CN" altLang="en-US" sz="1800" b="1" i="1">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𝑘</m:t>
                                </m:r>
                                <m:r>
                                  <a:rPr lang="en-US" altLang="zh-CN" sz="1800" i="1">
                                    <a:latin typeface="Cambria Math" panose="02040503050406030204" pitchFamily="18" charset="0"/>
                                    <a:cs typeface="Times New Roman" panose="02020603050405020304" pitchFamily="18" charset="0"/>
                                  </a:rPr>
                                  <m:t>=3,2,1,</m:t>
                                </m:r>
                              </m:e>
                            </m:func>
                          </m:e>
                          <m:e>
                            <m:r>
                              <m:rPr>
                                <m:nor/>
                              </m:rPr>
                              <a:rPr lang="en-US" altLang="zh-CN" sz="1800" b="1" i="1" dirty="0">
                                <a:latin typeface="Times New Roman" panose="02020603050405020304" pitchFamily="18" charset="0"/>
                                <a:cs typeface="Times New Roman" panose="02020603050405020304" pitchFamily="18" charset="0"/>
                              </a:rPr>
                              <m:t>f</m:t>
                            </m:r>
                            <m:r>
                              <m:rPr>
                                <m:nor/>
                              </m:rPr>
                              <a:rPr lang="en-US" altLang="zh-CN" sz="1800" b="1" i="1" baseline="-25000" dirty="0" smtClean="0">
                                <a:latin typeface="Times New Roman" panose="02020603050405020304" pitchFamily="18" charset="0"/>
                                <a:cs typeface="Times New Roman" panose="02020603050405020304" pitchFamily="18" charset="0"/>
                              </a:rPr>
                              <m:t>4</m:t>
                            </m:r>
                            <m:r>
                              <m:rPr>
                                <m:nor/>
                              </m:rPr>
                              <a:rPr lang="en-US" altLang="zh-CN" sz="1800" b="1" dirty="0">
                                <a:latin typeface="Times New Roman" panose="02020603050405020304" pitchFamily="18" charset="0"/>
                                <a:cs typeface="Times New Roman" panose="02020603050405020304" pitchFamily="18" charset="0"/>
                              </a:rPr>
                              <m:t>(</m:t>
                            </m:r>
                            <m:r>
                              <m:rPr>
                                <m:nor/>
                              </m:rPr>
                              <a:rPr lang="en-US" altLang="zh-CN" sz="1800" b="1" i="1" dirty="0">
                                <a:latin typeface="Times New Roman" panose="02020603050405020304" pitchFamily="18" charset="0"/>
                                <a:cs typeface="Times New Roman" panose="02020603050405020304" pitchFamily="18" charset="0"/>
                              </a:rPr>
                              <m:t>s</m:t>
                            </m:r>
                            <m:r>
                              <m:rPr>
                                <m:nor/>
                              </m:rPr>
                              <a:rPr lang="en-US" altLang="zh-CN" sz="1800" b="1" i="0" baseline="-25000" dirty="0" smtClean="0">
                                <a:latin typeface="Times New Roman" panose="02020603050405020304" pitchFamily="18" charset="0"/>
                                <a:cs typeface="Times New Roman" panose="02020603050405020304" pitchFamily="18" charset="0"/>
                              </a:rPr>
                              <m:t>4</m:t>
                            </m:r>
                            <m:r>
                              <m:rPr>
                                <m:nor/>
                              </m:rPr>
                              <a:rPr lang="en-US" altLang="zh-CN" sz="1800" b="1" dirty="0">
                                <a:latin typeface="Times New Roman" panose="02020603050405020304" pitchFamily="18" charset="0"/>
                                <a:cs typeface="Times New Roman" panose="02020603050405020304" pitchFamily="18" charset="0"/>
                              </a:rPr>
                              <m:t>)</m:t>
                            </m:r>
                            <m:r>
                              <a:rPr lang="en-US" altLang="zh-CN" sz="1800" b="1" i="1" dirty="0">
                                <a:latin typeface="Cambria Math" panose="02040503050406030204" pitchFamily="18" charset="0"/>
                                <a:cs typeface="Times New Roman" panose="02020603050405020304" pitchFamily="18" charset="0"/>
                              </a:rPr>
                              <m:t>=</m:t>
                            </m:r>
                            <m:r>
                              <a:rPr lang="en-US" altLang="zh-CN" sz="1800" b="1" i="1" dirty="0">
                                <a:latin typeface="Cambria Math" panose="02040503050406030204" pitchFamily="18" charset="0"/>
                                <a:cs typeface="Times New Roman" panose="02020603050405020304" pitchFamily="18" charset="0"/>
                              </a:rPr>
                              <m:t>𝟎</m:t>
                            </m:r>
                            <m:r>
                              <a:rPr lang="en-US" altLang="zh-CN" sz="1800" b="1" i="1" dirty="0">
                                <a:latin typeface="Cambria Math" panose="02040503050406030204" pitchFamily="18" charset="0"/>
                                <a:cs typeface="Times New Roman" panose="02020603050405020304" pitchFamily="18" charset="0"/>
                              </a:rPr>
                              <m:t>                                                                             </m:t>
                            </m:r>
                          </m:e>
                        </m:eqArr>
                      </m:e>
                    </m:d>
                  </m:oMath>
                </a14:m>
                <a:endParaRPr lang="zh-CN" altLang="en-US" sz="1800" b="1" dirty="0">
                  <a:latin typeface="Times New Roman" panose="02020603050405020304" pitchFamily="18" charset="0"/>
                  <a:cs typeface="Times New Roman" panose="02020603050405020304" pitchFamily="18" charset="0"/>
                </a:endParaRPr>
              </a:p>
              <a:p>
                <a:endParaRPr lang="zh-CN" altLang="en-US" sz="1800" b="1" dirty="0">
                  <a:latin typeface="Times New Roman" panose="02020603050405020304" pitchFamily="18" charset="0"/>
                  <a:cs typeface="Times New Roman" panose="02020603050405020304" pitchFamily="18" charset="0"/>
                </a:endParaRPr>
              </a:p>
            </p:txBody>
          </p:sp>
        </mc:Choice>
        <mc:Fallback xmlns="">
          <p:sp>
            <p:nvSpPr>
              <p:cNvPr id="64521" name="Rectangle 36"/>
              <p:cNvSpPr>
                <a:spLocks noRot="1" noChangeAspect="1" noMove="1" noResize="1" noEditPoints="1" noAdjustHandles="1" noChangeArrowheads="1" noChangeShapeType="1" noTextEdit="1"/>
              </p:cNvSpPr>
              <p:nvPr/>
            </p:nvSpPr>
            <p:spPr bwMode="auto">
              <a:xfrm>
                <a:off x="-11229" y="2763524"/>
                <a:ext cx="9137310" cy="2915606"/>
              </a:xfrm>
              <a:prstGeom prst="rect">
                <a:avLst/>
              </a:prstGeom>
              <a:blipFill>
                <a:blip r:embed="rId3"/>
                <a:stretch>
                  <a:fillRect t="-104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64522" name="Rectangle 41"/>
          <p:cNvSpPr>
            <a:spLocks noChangeArrowheads="1"/>
          </p:cNvSpPr>
          <p:nvPr/>
        </p:nvSpPr>
        <p:spPr bwMode="auto">
          <a:xfrm>
            <a:off x="14729" y="4942620"/>
            <a:ext cx="4508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en-US" altLang="zh-CN" b="1"/>
          </a:p>
          <a:p>
            <a:endParaRPr lang="en-US" altLang="zh-CN" b="1"/>
          </a:p>
        </p:txBody>
      </p:sp>
      <p:graphicFrame>
        <p:nvGraphicFramePr>
          <p:cNvPr id="15" name="Object 205"/>
          <p:cNvGraphicFramePr>
            <a:graphicFrameLocks noChangeAspect="1"/>
          </p:cNvGraphicFramePr>
          <p:nvPr>
            <p:extLst>
              <p:ext uri="{D42A27DB-BD31-4B8C-83A1-F6EECF244321}">
                <p14:modId xmlns:p14="http://schemas.microsoft.com/office/powerpoint/2010/main" val="1218161455"/>
              </p:ext>
            </p:extLst>
          </p:nvPr>
        </p:nvGraphicFramePr>
        <p:xfrm>
          <a:off x="1619672" y="1124744"/>
          <a:ext cx="7657153" cy="2035565"/>
        </p:xfrm>
        <a:graphic>
          <a:graphicData uri="http://schemas.openxmlformats.org/presentationml/2006/ole">
            <mc:AlternateContent xmlns:mc="http://schemas.openxmlformats.org/markup-compatibility/2006">
              <mc:Choice xmlns:v="urn:schemas-microsoft-com:vml" Requires="v">
                <p:oleObj spid="_x0000_s64814" name="文档" r:id="rId4" imgW="5914752" imgH="2394101" progId="Word.Document.8">
                  <p:embed/>
                </p:oleObj>
              </mc:Choice>
              <mc:Fallback>
                <p:oleObj name="文档" r:id="rId4" imgW="5914752" imgH="2394101" progId="Word.Document.8">
                  <p:embed/>
                  <p:pic>
                    <p:nvPicPr>
                      <p:cNvPr id="63496" name="Object 20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672" y="1124744"/>
                        <a:ext cx="7657153" cy="2035565"/>
                      </a:xfrm>
                      <a:prstGeom prst="rect">
                        <a:avLst/>
                      </a:prstGeom>
                      <a:noFill/>
                      <a:ln>
                        <a:noFill/>
                      </a:ln>
                      <a:effectLst/>
                      <a:extLst/>
                    </p:spPr>
                  </p:pic>
                </p:oleObj>
              </mc:Fallback>
            </mc:AlternateContent>
          </a:graphicData>
        </a:graphic>
      </p:graphicFrame>
      <p:sp>
        <p:nvSpPr>
          <p:cNvPr id="3" name="矩形 2"/>
          <p:cNvSpPr/>
          <p:nvPr/>
        </p:nvSpPr>
        <p:spPr>
          <a:xfrm>
            <a:off x="447323" y="5516742"/>
            <a:ext cx="5410862" cy="400110"/>
          </a:xfrm>
          <a:prstGeom prst="rect">
            <a:avLst/>
          </a:prstGeom>
        </p:spPr>
        <p:txBody>
          <a:bodyPr wrap="square">
            <a:spAutoFit/>
          </a:bodyPr>
          <a:lstStyle/>
          <a:p>
            <a:r>
              <a:rPr lang="zh-CN" altLang="en-US" b="1" dirty="0">
                <a:latin typeface="Times New Roman" panose="02020603050405020304" pitchFamily="18" charset="0"/>
                <a:cs typeface="Times New Roman" panose="02020603050405020304" pitchFamily="18" charset="0"/>
              </a:rPr>
              <a:t>下面从最后一个阶段开始向前逆推计算。</a:t>
            </a:r>
          </a:p>
        </p:txBody>
      </p:sp>
    </p:spTree>
  </p:cSld>
  <p:clrMapOvr>
    <a:masterClrMapping/>
  </p:clrMapOvr>
  <p:transition spd="slow"/>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2"/>
          <p:cNvSpPr>
            <a:spLocks noGrp="1" noChangeArrowheads="1"/>
          </p:cNvSpPr>
          <p:nvPr>
            <p:ph type="title"/>
          </p:nvPr>
        </p:nvSpPr>
        <p:spPr/>
        <p:txBody>
          <a:bodyPr/>
          <a:lstStyle/>
          <a:p>
            <a:r>
              <a:rPr lang="en-US" altLang="zh-CN" dirty="0" smtClean="0"/>
              <a:t>8.4.1</a:t>
            </a:r>
            <a:r>
              <a:rPr lang="zh-CN" altLang="en-US" dirty="0"/>
              <a:t>资源分配问题</a:t>
            </a:r>
          </a:p>
        </p:txBody>
      </p:sp>
      <p:sp>
        <p:nvSpPr>
          <p:cNvPr id="2" name="内容占位符 1"/>
          <p:cNvSpPr>
            <a:spLocks noGrp="1"/>
          </p:cNvSpPr>
          <p:nvPr>
            <p:ph idx="1"/>
          </p:nvPr>
        </p:nvSpPr>
        <p:spPr>
          <a:xfrm>
            <a:off x="395536" y="1337268"/>
            <a:ext cx="8280920" cy="904863"/>
          </a:xfrm>
        </p:spPr>
        <p:txBody>
          <a:bodyPr/>
          <a:lstStyle/>
          <a:p>
            <a:r>
              <a:rPr lang="zh-CN" altLang="en-US" dirty="0">
                <a:cs typeface="Times New Roman" panose="02020603050405020304" pitchFamily="18" charset="0"/>
              </a:rPr>
              <a:t>例</a:t>
            </a:r>
            <a:r>
              <a:rPr lang="en-US" altLang="zh-CN" dirty="0" smtClean="0">
                <a:cs typeface="Times New Roman" panose="02020603050405020304" pitchFamily="18" charset="0"/>
              </a:rPr>
              <a:t>8-4</a:t>
            </a:r>
            <a:endParaRPr lang="zh-CN" altLang="en-US" dirty="0"/>
          </a:p>
          <a:p>
            <a:endParaRPr lang="zh-CN" altLang="en-US" dirty="0"/>
          </a:p>
        </p:txBody>
      </p:sp>
      <p:sp>
        <p:nvSpPr>
          <p:cNvPr id="6553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420B52F8-9155-425F-ABB8-CC5A2AB90F7F}" type="slidenum">
              <a:rPr lang="en-US" altLang="zh-CN" sz="1000"/>
              <a:pPr/>
              <a:t>49</a:t>
            </a:fld>
            <a:endParaRPr lang="en-US" altLang="zh-CN" sz="1000"/>
          </a:p>
        </p:txBody>
      </p:sp>
      <mc:AlternateContent xmlns:mc="http://schemas.openxmlformats.org/markup-compatibility/2006" xmlns:a14="http://schemas.microsoft.com/office/drawing/2010/main">
        <mc:Choice Requires="a14">
          <p:sp>
            <p:nvSpPr>
              <p:cNvPr id="65542" name="Rectangle 25"/>
              <p:cNvSpPr>
                <a:spLocks noChangeArrowheads="1"/>
              </p:cNvSpPr>
              <p:nvPr/>
            </p:nvSpPr>
            <p:spPr bwMode="auto">
              <a:xfrm>
                <a:off x="260370" y="2764792"/>
                <a:ext cx="8416086" cy="1456296"/>
              </a:xfrm>
              <a:prstGeom prst="rect">
                <a:avLst/>
              </a:prstGeom>
              <a:noFill/>
              <a:ln>
                <a:noFill/>
              </a:ln>
              <a:effectLst/>
              <a:extLst>
                <a:ext uri="{909E8E84-426E-40DD-AFC4-6F175D3DCCD1}">
                  <a14:hiddenFill>
                    <a:solidFill>
                      <a:schemeClr val="accent1"/>
                    </a:solidFill>
                  </a14:hiddenFill>
                </a:ext>
                <a:ext uri="{91240B29-F687-4F45-9708-019B960494DF}">
                  <a14:hiddenLine w="9525" algn="ctr">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indent="0"/>
                <a:r>
                  <a:rPr lang="en-US" altLang="zh-CN" b="1" i="1" dirty="0"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=3</a:t>
                </a:r>
                <a:r>
                  <a:rPr lang="zh-CN" altLang="en-US" b="1" dirty="0" smtClean="0">
                    <a:latin typeface="Times New Roman" panose="02020603050405020304" pitchFamily="18" charset="0"/>
                    <a:cs typeface="Times New Roman" panose="02020603050405020304" pitchFamily="18" charset="0"/>
                  </a:rPr>
                  <a:t>：将</a:t>
                </a:r>
                <a:r>
                  <a:rPr lang="en-US" altLang="zh-CN" b="1" dirty="0">
                    <a:latin typeface="Times New Roman" panose="02020603050405020304" pitchFamily="18" charset="0"/>
                    <a:cs typeface="Times New Roman" panose="02020603050405020304" pitchFamily="18" charset="0"/>
                  </a:rPr>
                  <a:t>s</a:t>
                </a:r>
                <a:r>
                  <a:rPr lang="en-US" altLang="zh-CN" b="1" baseline="-25000" dirty="0">
                    <a:latin typeface="Times New Roman" panose="02020603050405020304" pitchFamily="18" charset="0"/>
                    <a:cs typeface="Times New Roman" panose="02020603050405020304" pitchFamily="18" charset="0"/>
                  </a:rPr>
                  <a:t>3</a:t>
                </a:r>
                <a:r>
                  <a:rPr lang="zh-CN" altLang="en-US" b="1" dirty="0">
                    <a:latin typeface="Times New Roman" panose="02020603050405020304" pitchFamily="18" charset="0"/>
                    <a:cs typeface="Times New Roman" panose="02020603050405020304" pitchFamily="18" charset="0"/>
                  </a:rPr>
                  <a:t>台设备</a:t>
                </a:r>
                <a:r>
                  <a:rPr lang="en-US" altLang="zh-CN" b="1" dirty="0">
                    <a:latin typeface="Times New Roman" panose="02020603050405020304" pitchFamily="18" charset="0"/>
                    <a:cs typeface="Times New Roman" panose="02020603050405020304" pitchFamily="18" charset="0"/>
                  </a:rPr>
                  <a:t>(s</a:t>
                </a:r>
                <a:r>
                  <a:rPr lang="en-US" altLang="zh-CN" b="1" baseline="-25000" dirty="0">
                    <a:latin typeface="Times New Roman" panose="02020603050405020304" pitchFamily="18" charset="0"/>
                    <a:cs typeface="Times New Roman" panose="02020603050405020304" pitchFamily="18" charset="0"/>
                  </a:rPr>
                  <a:t>3</a:t>
                </a:r>
                <a:r>
                  <a:rPr lang="en-US" altLang="zh-CN" b="1" dirty="0">
                    <a:latin typeface="Times New Roman" panose="02020603050405020304" pitchFamily="18" charset="0"/>
                    <a:cs typeface="Times New Roman" panose="02020603050405020304" pitchFamily="18" charset="0"/>
                  </a:rPr>
                  <a:t>=0,1,2,3,4,5)</a:t>
                </a:r>
                <a:r>
                  <a:rPr lang="zh-CN" altLang="en-US" b="1" dirty="0">
                    <a:latin typeface="Times New Roman" panose="02020603050405020304" pitchFamily="18" charset="0"/>
                    <a:cs typeface="Times New Roman" panose="02020603050405020304" pitchFamily="18" charset="0"/>
                  </a:rPr>
                  <a:t>全部分配给工厂丙时，则最大盈利值为</a:t>
                </a:r>
                <a:endParaRPr lang="en-US" altLang="zh-CN" b="1" dirty="0" smtClean="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a:latin typeface="Times New Roman" panose="02020603050405020304" pitchFamily="18" charset="0"/>
                          <a:cs typeface="Times New Roman" panose="02020603050405020304" pitchFamily="18" charset="0"/>
                        </a:rPr>
                        <m:t>3</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a:latin typeface="Times New Roman" panose="02020603050405020304" pitchFamily="18" charset="0"/>
                          <a:cs typeface="Times New Roman" panose="02020603050405020304" pitchFamily="18" charset="0"/>
                        </a:rPr>
                        <m:t>3</m:t>
                      </m:r>
                      <m:r>
                        <m:rPr>
                          <m:nor/>
                        </m:rPr>
                        <a:rPr lang="en-US" altLang="zh-CN" b="1" dirty="0">
                          <a:latin typeface="Times New Roman" panose="020206030504050203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m:t>
                      </m:r>
                      <m:func>
                        <m:funcPr>
                          <m:ctrlPr>
                            <a:rPr lang="en-US" altLang="zh-CN" b="1" i="1">
                              <a:latin typeface="Cambria Math" panose="02040503050406030204" pitchFamily="18" charset="0"/>
                              <a:cs typeface="Times New Roman" panose="02020603050405020304" pitchFamily="18" charset="0"/>
                            </a:rPr>
                          </m:ctrlPr>
                        </m:funcPr>
                        <m:fName>
                          <m:limLow>
                            <m:limLowPr>
                              <m:ctrlPr>
                                <a:rPr lang="en-US" altLang="zh-CN" b="1" i="1">
                                  <a:latin typeface="Cambria Math" panose="02040503050406030204" pitchFamily="18" charset="0"/>
                                  <a:cs typeface="Times New Roman" panose="02020603050405020304" pitchFamily="18" charset="0"/>
                                </a:rPr>
                              </m:ctrlPr>
                            </m:limLowPr>
                            <m:e>
                              <m:r>
                                <m:rPr>
                                  <m:sty m:val="p"/>
                                </m:rPr>
                                <a:rPr lang="en-US" altLang="zh-CN">
                                  <a:latin typeface="Cambria Math" panose="02040503050406030204" pitchFamily="18" charset="0"/>
                                  <a:cs typeface="Times New Roman" panose="02020603050405020304" pitchFamily="18" charset="0"/>
                                </a:rPr>
                                <m:t>max</m:t>
                              </m:r>
                            </m:e>
                            <m:lim>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i="1">
                                      <a:latin typeface="Cambria Math" panose="02040503050406030204" pitchFamily="18" charset="0"/>
                                      <a:ea typeface="Cambria Math" panose="02040503050406030204" pitchFamily="18" charset="0"/>
                                      <a:cs typeface="Times New Roman" panose="02020603050405020304" pitchFamily="18" charset="0"/>
                                    </a:rPr>
                                    <m:t>3</m:t>
                                  </m:r>
                                </m:sub>
                              </m:s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Cambria Math" panose="02040503050406030204" pitchFamily="18" charset="0"/>
                                      <a:cs typeface="Times New Roman" panose="02020603050405020304" pitchFamily="18" charset="0"/>
                                    </a:rPr>
                                    <m:t>𝑠</m:t>
                                  </m:r>
                                </m:e>
                                <m:sub>
                                  <m:r>
                                    <a:rPr lang="en-US" altLang="zh-CN" i="1">
                                      <a:latin typeface="Cambria Math" panose="02040503050406030204" pitchFamily="18" charset="0"/>
                                      <a:ea typeface="Cambria Math" panose="02040503050406030204" pitchFamily="18" charset="0"/>
                                      <a:cs typeface="Times New Roman" panose="02020603050405020304" pitchFamily="18" charset="0"/>
                                    </a:rPr>
                                    <m:t>3</m:t>
                                  </m:r>
                                </m:sub>
                              </m:sSub>
                            </m:lim>
                          </m:limLow>
                        </m:fName>
                        <m:e>
                          <m:d>
                            <m:dPr>
                              <m:begChr m:val="{"/>
                              <m:endChr m:val="}"/>
                              <m:ctrlPr>
                                <a:rPr lang="en-US" altLang="zh-CN" b="1" i="1">
                                  <a:latin typeface="Cambria Math" panose="02040503050406030204" pitchFamily="18" charset="0"/>
                                  <a:cs typeface="Times New Roman" panose="02020603050405020304" pitchFamily="18" charset="0"/>
                                </a:rPr>
                              </m:ctrlPr>
                            </m:dPr>
                            <m:e>
                              <m:r>
                                <m:rPr>
                                  <m:nor/>
                                </m:rPr>
                                <a:rPr lang="en-US" altLang="zh-CN" b="1" i="1" dirty="0">
                                  <a:latin typeface="Times New Roman" panose="02020603050405020304" pitchFamily="18" charset="0"/>
                                  <a:cs typeface="Times New Roman" panose="02020603050405020304" pitchFamily="18" charset="0"/>
                                </a:rPr>
                                <m:t>v</m:t>
                              </m:r>
                              <m:r>
                                <m:rPr>
                                  <m:nor/>
                                </m:rPr>
                                <a:rPr lang="en-US" altLang="zh-CN" b="1" i="1" baseline="-25000" dirty="0">
                                  <a:latin typeface="Times New Roman" panose="02020603050405020304" pitchFamily="18" charset="0"/>
                                  <a:cs typeface="Times New Roman" panose="02020603050405020304" pitchFamily="18" charset="0"/>
                                </a:rPr>
                                <m:t>3</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a:latin typeface="Times New Roman" panose="02020603050405020304" pitchFamily="18" charset="0"/>
                                  <a:cs typeface="Times New Roman" panose="02020603050405020304" pitchFamily="18" charset="0"/>
                                </a:rPr>
                                <m:t>3</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 </m:t>
                              </m:r>
                              <m:sSub>
                                <m:sSubPr>
                                  <m:ctrlPr>
                                    <a:rPr lang="en-US" altLang="zh-CN" b="1" i="1" dirty="0">
                                      <a:latin typeface="Cambria Math" panose="02040503050406030204" pitchFamily="18" charset="0"/>
                                      <a:cs typeface="Times New Roman" panose="02020603050405020304" pitchFamily="18" charset="0"/>
                                    </a:rPr>
                                  </m:ctrlPr>
                                </m:sSubPr>
                                <m:e>
                                  <m:r>
                                    <a:rPr lang="en-US" altLang="zh-CN" b="1" i="1" dirty="0">
                                      <a:latin typeface="Cambria Math" panose="02040503050406030204" pitchFamily="18" charset="0"/>
                                      <a:cs typeface="Times New Roman" panose="02020603050405020304" pitchFamily="18" charset="0"/>
                                    </a:rPr>
                                    <m:t>𝒙</m:t>
                                  </m:r>
                                </m:e>
                                <m:sub>
                                  <m:r>
                                    <a:rPr lang="en-US" altLang="zh-CN" b="1" i="1" dirty="0">
                                      <a:latin typeface="Cambria Math" panose="02040503050406030204" pitchFamily="18" charset="0"/>
                                      <a:cs typeface="Times New Roman" panose="02020603050405020304" pitchFamily="18" charset="0"/>
                                    </a:rPr>
                                    <m:t>𝟑</m:t>
                                  </m:r>
                                </m:sub>
                              </m:sSub>
                              <m:r>
                                <m:rPr>
                                  <m:nor/>
                                </m:rPr>
                                <a:rPr lang="en-US" altLang="zh-CN" b="1" dirty="0">
                                  <a:latin typeface="Times New Roman" panose="020206030504050203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a:latin typeface="Times New Roman" panose="02020603050405020304" pitchFamily="18" charset="0"/>
                                  <a:cs typeface="Times New Roman" panose="02020603050405020304" pitchFamily="18" charset="0"/>
                                </a:rPr>
                                <m:t>4</m:t>
                              </m:r>
                              <m:r>
                                <a:rPr lang="en-US" altLang="zh-CN" b="1" i="1" baseline="-25000" dirty="0">
                                  <a:latin typeface="Cambria Math" panose="02040503050406030204" pitchFamily="18" charset="0"/>
                                  <a:cs typeface="Times New Roman" panose="02020603050405020304" pitchFamily="18" charset="0"/>
                                </a:rPr>
                                <m:t> </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a:latin typeface="Times New Roman" panose="02020603050405020304" pitchFamily="18" charset="0"/>
                                  <a:cs typeface="Times New Roman" panose="02020603050405020304" pitchFamily="18" charset="0"/>
                                </a:rPr>
                                <m:t>4</m:t>
                              </m:r>
                              <m:r>
                                <m:rPr>
                                  <m:nor/>
                                </m:rPr>
                                <a:rPr lang="en-US" altLang="zh-CN" b="1" dirty="0">
                                  <a:latin typeface="Times New Roman" panose="02020603050405020304" pitchFamily="18" charset="0"/>
                                  <a:cs typeface="Times New Roman" panose="02020603050405020304" pitchFamily="18" charset="0"/>
                                </a:rPr>
                                <m:t>)</m:t>
                              </m:r>
                            </m:e>
                          </m:d>
                        </m:e>
                      </m:func>
                    </m:oMath>
                  </m:oMathPara>
                </a14:m>
                <a:endParaRPr lang="zh-CN" altLang="en-US" dirty="0"/>
              </a:p>
              <a:p>
                <a:pPr indent="0"/>
                <a:r>
                  <a:rPr lang="zh-CN" altLang="en-US" b="1" dirty="0">
                    <a:latin typeface="Times New Roman" panose="02020603050405020304" pitchFamily="18" charset="0"/>
                    <a:cs typeface="Times New Roman" panose="02020603050405020304" pitchFamily="18" charset="0"/>
                  </a:rPr>
                  <a:t>此时只有一个工厂，有多少台设备就全部分配给工厂丙，</a:t>
                </a:r>
                <a:r>
                  <a:rPr lang="en-US" altLang="zh-CN" b="1" i="1" dirty="0">
                    <a:latin typeface="Times New Roman" panose="02020603050405020304" pitchFamily="18" charset="0"/>
                    <a:cs typeface="Times New Roman" panose="02020603050405020304" pitchFamily="18" charset="0"/>
                  </a:rPr>
                  <a:t>x</a:t>
                </a:r>
                <a:r>
                  <a:rPr lang="en-US" altLang="zh-CN" b="1" baseline="-25000" dirty="0">
                    <a:latin typeface="Times New Roman" panose="02020603050405020304" pitchFamily="18" charset="0"/>
                    <a:cs typeface="Times New Roman" panose="02020603050405020304" pitchFamily="18" charset="0"/>
                  </a:rPr>
                  <a:t>3</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s</a:t>
                </a:r>
                <a:r>
                  <a:rPr lang="en-US" altLang="zh-CN" b="1" baseline="-25000" dirty="0">
                    <a:latin typeface="Times New Roman" panose="02020603050405020304" pitchFamily="18" charset="0"/>
                    <a:cs typeface="Times New Roman" panose="02020603050405020304" pitchFamily="18" charset="0"/>
                  </a:rPr>
                  <a:t>3</a:t>
                </a:r>
                <a:r>
                  <a:rPr lang="en-US" altLang="zh-CN" b="1" dirty="0">
                    <a:latin typeface="Times New Roman" panose="02020603050405020304" pitchFamily="18" charset="0"/>
                    <a:cs typeface="Times New Roman" panose="02020603050405020304" pitchFamily="18" charset="0"/>
                  </a:rPr>
                  <a:t>=0,1,2,3,4,5</a:t>
                </a:r>
              </a:p>
              <a:p>
                <a:pPr indent="0"/>
                <a:r>
                  <a:rPr lang="zh-CN" altLang="en-US" b="1" dirty="0">
                    <a:latin typeface="Times New Roman" panose="02020603050405020304" pitchFamily="18" charset="0"/>
                    <a:cs typeface="Times New Roman" panose="02020603050405020304" pitchFamily="18" charset="0"/>
                  </a:rPr>
                  <a:t>故它的盈利值就是该段的最大盈利值</a:t>
                </a:r>
                <a:r>
                  <a:rPr lang="zh-CN" altLang="en-US" b="1" dirty="0" smtClean="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mc:Choice>
        <mc:Fallback xmlns="">
          <p:sp>
            <p:nvSpPr>
              <p:cNvPr id="65542" name="Rectangle 25"/>
              <p:cNvSpPr>
                <a:spLocks noRot="1" noChangeAspect="1" noMove="1" noResize="1" noEditPoints="1" noAdjustHandles="1" noChangeArrowheads="1" noChangeShapeType="1" noTextEdit="1"/>
              </p:cNvSpPr>
              <p:nvPr/>
            </p:nvSpPr>
            <p:spPr bwMode="auto">
              <a:xfrm>
                <a:off x="260370" y="2764792"/>
                <a:ext cx="8416086" cy="1456296"/>
              </a:xfrm>
              <a:prstGeom prst="rect">
                <a:avLst/>
              </a:prstGeom>
              <a:blipFill>
                <a:blip r:embed="rId3"/>
                <a:stretch>
                  <a:fillRect l="-797" t="-2941" b="-630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65545" name="Rectangle 30"/>
          <p:cNvSpPr>
            <a:spLocks noChangeArrowheads="1"/>
          </p:cNvSpPr>
          <p:nvPr/>
        </p:nvSpPr>
        <p:spPr bwMode="auto">
          <a:xfrm>
            <a:off x="827088" y="1543050"/>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sp>
        <p:nvSpPr>
          <p:cNvPr id="65546" name="Rectangle 31"/>
          <p:cNvSpPr>
            <a:spLocks noChangeArrowheads="1"/>
          </p:cNvSpPr>
          <p:nvPr/>
        </p:nvSpPr>
        <p:spPr bwMode="auto">
          <a:xfrm>
            <a:off x="827088" y="1543050"/>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sp>
        <p:nvSpPr>
          <p:cNvPr id="65547" name="Rectangle 33"/>
          <p:cNvSpPr>
            <a:spLocks noChangeArrowheads="1"/>
          </p:cNvSpPr>
          <p:nvPr/>
        </p:nvSpPr>
        <p:spPr bwMode="auto">
          <a:xfrm>
            <a:off x="827088" y="134299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sp>
        <p:nvSpPr>
          <p:cNvPr id="65548" name="Rectangle 35"/>
          <p:cNvSpPr>
            <a:spLocks noChangeArrowheads="1"/>
          </p:cNvSpPr>
          <p:nvPr/>
        </p:nvSpPr>
        <p:spPr bwMode="auto">
          <a:xfrm>
            <a:off x="827088" y="134299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sp>
        <p:nvSpPr>
          <p:cNvPr id="65549" name="Rectangle 37"/>
          <p:cNvSpPr>
            <a:spLocks noChangeArrowheads="1"/>
          </p:cNvSpPr>
          <p:nvPr/>
        </p:nvSpPr>
        <p:spPr bwMode="auto">
          <a:xfrm>
            <a:off x="827088" y="134299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graphicFrame>
        <p:nvGraphicFramePr>
          <p:cNvPr id="17" name="Object 205"/>
          <p:cNvGraphicFramePr>
            <a:graphicFrameLocks noChangeAspect="1"/>
          </p:cNvGraphicFramePr>
          <p:nvPr>
            <p:extLst>
              <p:ext uri="{D42A27DB-BD31-4B8C-83A1-F6EECF244321}">
                <p14:modId xmlns:p14="http://schemas.microsoft.com/office/powerpoint/2010/main" val="1980020983"/>
              </p:ext>
            </p:extLst>
          </p:nvPr>
        </p:nvGraphicFramePr>
        <p:xfrm>
          <a:off x="1486847" y="1125783"/>
          <a:ext cx="7657153" cy="2035565"/>
        </p:xfrm>
        <a:graphic>
          <a:graphicData uri="http://schemas.openxmlformats.org/presentationml/2006/ole">
            <mc:AlternateContent xmlns:mc="http://schemas.openxmlformats.org/markup-compatibility/2006">
              <mc:Choice xmlns:v="urn:schemas-microsoft-com:vml" Requires="v">
                <p:oleObj spid="_x0000_s65753" name="文档" r:id="rId4" imgW="5914752" imgH="2394101" progId="Word.Document.8">
                  <p:embed/>
                </p:oleObj>
              </mc:Choice>
              <mc:Fallback>
                <p:oleObj name="文档" r:id="rId4" imgW="5914752" imgH="2394101" progId="Word.Document.8">
                  <p:embed/>
                  <p:pic>
                    <p:nvPicPr>
                      <p:cNvPr id="15" name="Object 20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6847" y="1125783"/>
                        <a:ext cx="7657153" cy="2035565"/>
                      </a:xfrm>
                      <a:prstGeom prst="rect">
                        <a:avLst/>
                      </a:prstGeom>
                      <a:noFill/>
                      <a:ln>
                        <a:noFill/>
                      </a:ln>
                      <a:effectLst/>
                      <a:extLst/>
                    </p:spPr>
                  </p:pic>
                </p:oleObj>
              </mc:Fallback>
            </mc:AlternateContent>
          </a:graphicData>
        </a:graphic>
      </p:graphicFrame>
      <mc:AlternateContent xmlns:mc="http://schemas.openxmlformats.org/markup-compatibility/2006" xmlns:a14="http://schemas.microsoft.com/office/drawing/2010/main">
        <mc:Choice Requires="a14">
          <p:graphicFrame>
            <p:nvGraphicFramePr>
              <p:cNvPr id="20" name="表格 19"/>
              <p:cNvGraphicFramePr>
                <a:graphicFrameLocks noGrp="1"/>
              </p:cNvGraphicFramePr>
              <p:nvPr>
                <p:extLst>
                  <p:ext uri="{D42A27DB-BD31-4B8C-83A1-F6EECF244321}">
                    <p14:modId xmlns:p14="http://schemas.microsoft.com/office/powerpoint/2010/main" val="4110791083"/>
                  </p:ext>
                </p:extLst>
              </p:nvPr>
            </p:nvGraphicFramePr>
            <p:xfrm>
              <a:off x="1341188" y="4268942"/>
              <a:ext cx="6389616" cy="2560320"/>
            </p:xfrm>
            <a:graphic>
              <a:graphicData uri="http://schemas.openxmlformats.org/drawingml/2006/table">
                <a:tbl>
                  <a:tblPr firstRow="1" bandRow="1">
                    <a:tableStyleId>{5C22544A-7EE6-4342-B048-85BDC9FD1C3A}</a:tableStyleId>
                  </a:tblPr>
                  <a:tblGrid>
                    <a:gridCol w="453453">
                      <a:extLst>
                        <a:ext uri="{9D8B030D-6E8A-4147-A177-3AD203B41FA5}">
                          <a16:colId xmlns:a16="http://schemas.microsoft.com/office/drawing/2014/main" val="1816936163"/>
                        </a:ext>
                      </a:extLst>
                    </a:gridCol>
                    <a:gridCol w="551117">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576064">
                      <a:extLst>
                        <a:ext uri="{9D8B030D-6E8A-4147-A177-3AD203B41FA5}">
                          <a16:colId xmlns:a16="http://schemas.microsoft.com/office/drawing/2014/main" val="2765978471"/>
                        </a:ext>
                      </a:extLst>
                    </a:gridCol>
                  </a:tblGrid>
                  <a:tr h="333745">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0" i="1" smtClean="0">
                                        <a:latin typeface="Cambria Math" panose="02040503050406030204" pitchFamily="18" charset="0"/>
                                      </a:rPr>
                                      <m:t>3</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1" i="1" smtClean="0">
                                        <a:latin typeface="Cambria Math" panose="02040503050406030204" pitchFamily="18" charset="0"/>
                                      </a:rPr>
                                      <m:t>𝒙</m:t>
                                    </m:r>
                                  </m:e>
                                  <m:sub>
                                    <m:r>
                                      <a:rPr lang="en-US" altLang="zh-CN" sz="1800" b="1" i="1" smtClean="0">
                                        <a:latin typeface="Cambria Math" panose="02040503050406030204" pitchFamily="18" charset="0"/>
                                      </a:rPr>
                                      <m:t>𝟑</m:t>
                                    </m:r>
                                  </m:sub>
                                </m:sSub>
                                <m:r>
                                  <m:rPr>
                                    <m:nor/>
                                  </m:rPr>
                                  <a:rPr lang="zh-CN" altLang="en-US" sz="1800" dirty="0"/>
                                  <m:t> </m:t>
                                </m:r>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𝟑</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𝟑</m:t>
                                        </m:r>
                                      </m:sub>
                                    </m:sSub>
                                  </m:e>
                                </m:d>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𝟒</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𝟒</m:t>
                                        </m:r>
                                      </m:sub>
                                    </m:sSub>
                                  </m:e>
                                </m:d>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𝟑</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𝟑</m:t>
                                      </m:r>
                                    </m:sub>
                                  </m:sSub>
                                </m:e>
                              </m:d>
                            </m:oMath>
                          </a14:m>
                          <a:r>
                            <a:rPr lang="en-US" altLang="zh-CN" dirty="0" smtClean="0"/>
                            <a: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𝟒</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𝟒</m:t>
                                      </m:r>
                                    </m:sub>
                                  </m:sSub>
                                </m:e>
                              </m:d>
                            </m:oMath>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𝟑</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𝟑</m:t>
                                        </m:r>
                                      </m:sub>
                                    </m:sSub>
                                  </m:e>
                                </m:d>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sub>
                                  <m:sup>
                                    <m:r>
                                      <a:rPr lang="en-US" altLang="zh-CN" b="1" i="1" smtClean="0">
                                        <a:latin typeface="Cambria Math" panose="02040503050406030204" pitchFamily="18" charset="0"/>
                                      </a:rPr>
                                      <m:t>∗</m:t>
                                    </m:r>
                                  </m:sup>
                                </m:sSubSup>
                              </m:oMath>
                            </m:oMathPara>
                          </a14:m>
                          <a:endParaRPr lang="zh-CN" altLang="en-US" dirty="0"/>
                        </a:p>
                      </a:txBody>
                      <a:tcPr/>
                    </a:tc>
                    <a:extLst>
                      <a:ext uri="{0D108BD9-81ED-4DB2-BD59-A6C34878D82A}">
                        <a16:rowId xmlns:a16="http://schemas.microsoft.com/office/drawing/2014/main" val="37799757"/>
                      </a:ext>
                    </a:extLst>
                  </a:tr>
                  <a:tr h="333745">
                    <a:tc>
                      <a:txBody>
                        <a:bodyPr/>
                        <a:lstStyle/>
                        <a:p>
                          <a:r>
                            <a:rPr lang="en-US" altLang="zh-CN" dirty="0" smtClean="0"/>
                            <a:t>0</a:t>
                          </a:r>
                          <a:endParaRPr lang="zh-CN" altLang="en-US" dirty="0"/>
                        </a:p>
                      </a:txBody>
                      <a:tcPr/>
                    </a:tc>
                    <a:tc>
                      <a:txBody>
                        <a:bodyPr/>
                        <a:lstStyle/>
                        <a:p>
                          <a:pPr/>
                          <a14:m>
                            <m:oMathPara xmlns:m="http://schemas.openxmlformats.org/officeDocument/2006/math">
                              <m:oMathParaPr>
                                <m:jc m:val="left"/>
                              </m:oMathParaPr>
                              <m:oMath xmlns:m="http://schemas.openxmlformats.org/officeDocument/2006/math">
                                <m:r>
                                  <a:rPr lang="en-US" altLang="zh-CN" sz="1800" i="1" smtClean="0">
                                    <a:latin typeface="Cambria Math" panose="02040503050406030204" pitchFamily="18" charset="0"/>
                                  </a:rPr>
                                  <m:t>0</m:t>
                                </m:r>
                              </m:oMath>
                            </m:oMathPara>
                          </a14:m>
                          <a:endParaRPr lang="zh-CN" altLang="en-US" dirty="0"/>
                        </a:p>
                      </a:txBody>
                      <a:tcPr/>
                    </a:tc>
                    <a:tc>
                      <a:txBody>
                        <a:bodyPr/>
                        <a:lstStyle/>
                        <a:p>
                          <a:pPr algn="l"/>
                          <a:r>
                            <a:rPr lang="en-US" altLang="zh-CN" dirty="0" smtClean="0"/>
                            <a:t>0</a:t>
                          </a:r>
                          <a:endParaRPr lang="zh-CN" altLang="en-US" dirty="0"/>
                        </a:p>
                      </a:txBody>
                      <a:tcPr/>
                    </a:tc>
                    <a:tc>
                      <a:txBody>
                        <a:bodyPr/>
                        <a:lstStyle/>
                        <a:p>
                          <a:r>
                            <a:rPr lang="en-US" altLang="zh-CN" dirty="0" smtClean="0"/>
                            <a:t>0</a:t>
                          </a:r>
                          <a:endParaRPr lang="zh-CN" altLang="en-US" dirty="0"/>
                        </a:p>
                      </a:txBody>
                      <a:tcPr/>
                    </a:tc>
                    <a:tc>
                      <a:txBody>
                        <a:bodyPr/>
                        <a:lstStyle/>
                        <a:p>
                          <a:pPr algn="l"/>
                          <a:r>
                            <a:rPr lang="en-US" altLang="zh-CN" dirty="0" smtClean="0"/>
                            <a:t>0</a:t>
                          </a:r>
                          <a:endParaRPr lang="zh-CN" altLang="en-US" dirty="0"/>
                        </a:p>
                      </a:txBody>
                      <a:tcPr/>
                    </a:tc>
                    <a:tc>
                      <a:txBody>
                        <a:bodyPr/>
                        <a:lstStyle/>
                        <a:p>
                          <a:pPr algn="l"/>
                          <a:r>
                            <a:rPr lang="en-US" altLang="zh-CN" dirty="0" smtClean="0"/>
                            <a:t>0</a:t>
                          </a:r>
                          <a:endParaRPr lang="zh-CN" altLang="en-US" dirty="0"/>
                        </a:p>
                      </a:txBody>
                      <a:tcPr/>
                    </a:tc>
                    <a:tc>
                      <a:txBody>
                        <a:bodyPr/>
                        <a:lstStyle/>
                        <a:p>
                          <a:pPr/>
                          <a14:m>
                            <m:oMathPara xmlns:m="http://schemas.openxmlformats.org/officeDocument/2006/math">
                              <m:oMathParaPr>
                                <m:jc m:val="left"/>
                              </m:oMathParaPr>
                              <m:oMath xmlns:m="http://schemas.openxmlformats.org/officeDocument/2006/math">
                                <m:r>
                                  <a:rPr lang="en-US" altLang="zh-CN" sz="1800" i="1" smtClean="0">
                                    <a:latin typeface="Cambria Math" panose="02040503050406030204" pitchFamily="18" charset="0"/>
                                  </a:rPr>
                                  <m:t>0</m:t>
                                </m:r>
                              </m:oMath>
                            </m:oMathPara>
                          </a14:m>
                          <a:endParaRPr lang="zh-CN" altLang="en-US" dirty="0"/>
                        </a:p>
                      </a:txBody>
                      <a:tcPr/>
                    </a:tc>
                    <a:extLst>
                      <a:ext uri="{0D108BD9-81ED-4DB2-BD59-A6C34878D82A}">
                        <a16:rowId xmlns:a16="http://schemas.microsoft.com/office/drawing/2014/main" val="3736361684"/>
                      </a:ext>
                    </a:extLst>
                  </a:tr>
                  <a:tr h="333745">
                    <a:tc>
                      <a:txBody>
                        <a:bodyPr/>
                        <a:lstStyle/>
                        <a:p>
                          <a:r>
                            <a:rPr lang="en-US" altLang="zh-CN" dirty="0" smtClean="0"/>
                            <a:t>1</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1</a:t>
                          </a:r>
                          <a:endParaRPr lang="zh-CN" altLang="en-US" dirty="0"/>
                        </a:p>
                      </a:txBody>
                      <a:tcPr/>
                    </a:tc>
                    <a:tc>
                      <a:txBody>
                        <a:bodyPr/>
                        <a:lstStyle/>
                        <a:p>
                          <a:pPr algn="l"/>
                          <a:r>
                            <a:rPr lang="en-US" altLang="zh-CN" dirty="0" smtClean="0"/>
                            <a:t>4</a:t>
                          </a:r>
                          <a:endParaRPr lang="zh-CN" altLang="en-US" dirty="0"/>
                        </a:p>
                      </a:txBody>
                      <a:tcPr/>
                    </a:tc>
                    <a:tc>
                      <a:txBody>
                        <a:bodyPr/>
                        <a:lstStyle/>
                        <a:p>
                          <a:r>
                            <a:rPr lang="en-US" altLang="zh-CN" dirty="0" smtClean="0"/>
                            <a:t>0</a:t>
                          </a:r>
                          <a:endParaRPr lang="zh-CN" altLang="en-US" dirty="0"/>
                        </a:p>
                      </a:txBody>
                      <a:tcPr/>
                    </a:tc>
                    <a:tc>
                      <a:txBody>
                        <a:bodyPr/>
                        <a:lstStyle/>
                        <a:p>
                          <a:pPr algn="l"/>
                          <a:r>
                            <a:rPr lang="en-US" altLang="zh-CN" dirty="0" smtClean="0"/>
                            <a:t>4</a:t>
                          </a:r>
                          <a:endParaRPr lang="zh-CN" altLang="en-US" dirty="0"/>
                        </a:p>
                      </a:txBody>
                      <a:tcPr/>
                    </a:tc>
                    <a:tc>
                      <a:txBody>
                        <a:bodyPr/>
                        <a:lstStyle/>
                        <a:p>
                          <a:pPr algn="l"/>
                          <a:r>
                            <a:rPr lang="en-US" altLang="zh-CN" dirty="0" smtClean="0"/>
                            <a:t>4</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1</a:t>
                          </a:r>
                          <a:endParaRPr lang="zh-CN" altLang="en-US" dirty="0"/>
                        </a:p>
                      </a:txBody>
                      <a:tcPr/>
                    </a:tc>
                    <a:extLst>
                      <a:ext uri="{0D108BD9-81ED-4DB2-BD59-A6C34878D82A}">
                        <a16:rowId xmlns:a16="http://schemas.microsoft.com/office/drawing/2014/main" val="1091311635"/>
                      </a:ext>
                    </a:extLst>
                  </a:tr>
                  <a:tr h="333745">
                    <a:tc>
                      <a:txBody>
                        <a:bodyPr/>
                        <a:lstStyle/>
                        <a:p>
                          <a:r>
                            <a:rPr lang="en-US" altLang="zh-CN" dirty="0" smtClean="0"/>
                            <a:t>2</a:t>
                          </a:r>
                          <a:endParaRPr lang="zh-CN" altLang="en-US" dirty="0"/>
                        </a:p>
                      </a:txBody>
                      <a:tcPr/>
                    </a:tc>
                    <a:tc>
                      <a:txBody>
                        <a:bodyPr/>
                        <a:lstStyle/>
                        <a:p>
                          <a:r>
                            <a:rPr lang="en-US" altLang="zh-CN" dirty="0" smtClean="0"/>
                            <a:t>2</a:t>
                          </a:r>
                          <a:endParaRPr lang="zh-CN" altLang="en-US" dirty="0"/>
                        </a:p>
                      </a:txBody>
                      <a:tcPr/>
                    </a:tc>
                    <a:tc>
                      <a:txBody>
                        <a:bodyPr/>
                        <a:lstStyle/>
                        <a:p>
                          <a:pPr algn="l"/>
                          <a:r>
                            <a:rPr lang="en-US" altLang="zh-CN" dirty="0" smtClean="0"/>
                            <a:t>6</a:t>
                          </a:r>
                          <a:endParaRPr lang="zh-CN" altLang="en-US" dirty="0"/>
                        </a:p>
                      </a:txBody>
                      <a:tcPr/>
                    </a:tc>
                    <a:tc>
                      <a:txBody>
                        <a:bodyPr/>
                        <a:lstStyle/>
                        <a:p>
                          <a:r>
                            <a:rPr lang="en-US" altLang="zh-CN" dirty="0" smtClean="0"/>
                            <a:t>0</a:t>
                          </a:r>
                          <a:endParaRPr lang="zh-CN" altLang="en-US" dirty="0"/>
                        </a:p>
                      </a:txBody>
                      <a:tcPr/>
                    </a:tc>
                    <a:tc>
                      <a:txBody>
                        <a:bodyPr/>
                        <a:lstStyle/>
                        <a:p>
                          <a:pPr algn="l"/>
                          <a:r>
                            <a:rPr lang="en-US" altLang="zh-CN" dirty="0" smtClean="0"/>
                            <a:t>6</a:t>
                          </a:r>
                          <a:endParaRPr lang="zh-CN" altLang="en-US" dirty="0"/>
                        </a:p>
                      </a:txBody>
                      <a:tcPr/>
                    </a:tc>
                    <a:tc>
                      <a:txBody>
                        <a:bodyPr/>
                        <a:lstStyle/>
                        <a:p>
                          <a:pPr algn="l"/>
                          <a:r>
                            <a:rPr lang="en-US" altLang="zh-CN" dirty="0" smtClean="0"/>
                            <a:t>6</a:t>
                          </a:r>
                          <a:endParaRPr lang="zh-CN" altLang="en-US" dirty="0"/>
                        </a:p>
                      </a:txBody>
                      <a:tcPr/>
                    </a:tc>
                    <a:tc>
                      <a:txBody>
                        <a:bodyPr/>
                        <a:lstStyle/>
                        <a:p>
                          <a:r>
                            <a:rPr lang="en-US" altLang="zh-CN" dirty="0" smtClean="0"/>
                            <a:t>2</a:t>
                          </a:r>
                          <a:endParaRPr lang="zh-CN" altLang="en-US" dirty="0"/>
                        </a:p>
                      </a:txBody>
                      <a:tcPr/>
                    </a:tc>
                    <a:extLst>
                      <a:ext uri="{0D108BD9-81ED-4DB2-BD59-A6C34878D82A}">
                        <a16:rowId xmlns:a16="http://schemas.microsoft.com/office/drawing/2014/main" val="752238598"/>
                      </a:ext>
                    </a:extLst>
                  </a:tr>
                  <a:tr h="333745">
                    <a:tc>
                      <a:txBody>
                        <a:bodyPr/>
                        <a:lstStyle/>
                        <a:p>
                          <a:r>
                            <a:rPr lang="en-US" altLang="zh-CN" dirty="0" smtClean="0"/>
                            <a:t>3</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3</a:t>
                          </a:r>
                          <a:endParaRPr lang="zh-CN" altLang="en-US" dirty="0"/>
                        </a:p>
                      </a:txBody>
                      <a:tcPr/>
                    </a:tc>
                    <a:tc>
                      <a:txBody>
                        <a:bodyPr/>
                        <a:lstStyle/>
                        <a:p>
                          <a:pPr algn="l"/>
                          <a:r>
                            <a:rPr lang="en-US" altLang="zh-CN" dirty="0" smtClean="0"/>
                            <a:t>11</a:t>
                          </a:r>
                          <a:endParaRPr lang="zh-CN" altLang="en-US" dirty="0"/>
                        </a:p>
                      </a:txBody>
                      <a:tcPr/>
                    </a:tc>
                    <a:tc>
                      <a:txBody>
                        <a:bodyPr/>
                        <a:lstStyle/>
                        <a:p>
                          <a:r>
                            <a:rPr lang="en-US" altLang="zh-CN" dirty="0" smtClean="0"/>
                            <a:t>0</a:t>
                          </a:r>
                          <a:endParaRPr lang="zh-CN" altLang="en-US" dirty="0"/>
                        </a:p>
                      </a:txBody>
                      <a:tcPr/>
                    </a:tc>
                    <a:tc>
                      <a:txBody>
                        <a:bodyPr/>
                        <a:lstStyle/>
                        <a:p>
                          <a:pPr algn="l"/>
                          <a:r>
                            <a:rPr lang="en-US" altLang="zh-CN" dirty="0" smtClean="0"/>
                            <a:t>11</a:t>
                          </a:r>
                          <a:endParaRPr lang="zh-CN" altLang="en-US" dirty="0"/>
                        </a:p>
                      </a:txBody>
                      <a:tcPr/>
                    </a:tc>
                    <a:tc>
                      <a:txBody>
                        <a:bodyPr/>
                        <a:lstStyle/>
                        <a:p>
                          <a:pPr algn="l"/>
                          <a:r>
                            <a:rPr lang="en-US" altLang="zh-CN" dirty="0" smtClean="0"/>
                            <a:t>11</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3</a:t>
                          </a:r>
                          <a:endParaRPr lang="zh-CN" altLang="en-US" dirty="0"/>
                        </a:p>
                      </a:txBody>
                      <a:tcPr/>
                    </a:tc>
                    <a:extLst>
                      <a:ext uri="{0D108BD9-81ED-4DB2-BD59-A6C34878D82A}">
                        <a16:rowId xmlns:a16="http://schemas.microsoft.com/office/drawing/2014/main" val="2944060997"/>
                      </a:ext>
                    </a:extLst>
                  </a:tr>
                  <a:tr h="333745">
                    <a:tc>
                      <a:txBody>
                        <a:bodyPr/>
                        <a:lstStyle/>
                        <a:p>
                          <a:r>
                            <a:rPr lang="en-US" altLang="zh-CN" dirty="0" smtClean="0"/>
                            <a:t>4</a:t>
                          </a:r>
                          <a:endParaRPr lang="zh-CN" altLang="en-US" dirty="0"/>
                        </a:p>
                      </a:txBody>
                      <a:tcPr/>
                    </a:tc>
                    <a:tc>
                      <a:txBody>
                        <a:bodyPr/>
                        <a:lstStyle/>
                        <a:p>
                          <a:r>
                            <a:rPr lang="en-US" altLang="zh-CN" dirty="0" smtClean="0"/>
                            <a:t>4</a:t>
                          </a:r>
                          <a:endParaRPr lang="zh-CN" altLang="en-US" dirty="0"/>
                        </a:p>
                      </a:txBody>
                      <a:tcPr/>
                    </a:tc>
                    <a:tc>
                      <a:txBody>
                        <a:bodyPr/>
                        <a:lstStyle/>
                        <a:p>
                          <a:pPr algn="l"/>
                          <a:r>
                            <a:rPr lang="en-US" altLang="zh-CN" dirty="0" smtClean="0"/>
                            <a:t>12</a:t>
                          </a:r>
                          <a:endParaRPr lang="zh-CN" altLang="en-US" dirty="0"/>
                        </a:p>
                      </a:txBody>
                      <a:tcPr/>
                    </a:tc>
                    <a:tc>
                      <a:txBody>
                        <a:bodyPr/>
                        <a:lstStyle/>
                        <a:p>
                          <a:r>
                            <a:rPr lang="en-US" altLang="zh-CN" dirty="0" smtClean="0"/>
                            <a:t>0</a:t>
                          </a:r>
                          <a:endParaRPr lang="zh-CN" altLang="en-US" dirty="0"/>
                        </a:p>
                      </a:txBody>
                      <a:tcPr/>
                    </a:tc>
                    <a:tc>
                      <a:txBody>
                        <a:bodyPr/>
                        <a:lstStyle/>
                        <a:p>
                          <a:pPr algn="l"/>
                          <a:r>
                            <a:rPr lang="en-US" altLang="zh-CN" dirty="0" smtClean="0"/>
                            <a:t>12</a:t>
                          </a:r>
                          <a:endParaRPr lang="zh-CN" altLang="en-US" dirty="0"/>
                        </a:p>
                      </a:txBody>
                      <a:tcPr/>
                    </a:tc>
                    <a:tc>
                      <a:txBody>
                        <a:bodyPr/>
                        <a:lstStyle/>
                        <a:p>
                          <a:pPr algn="l"/>
                          <a:r>
                            <a:rPr lang="en-US" altLang="zh-CN" dirty="0" smtClean="0"/>
                            <a:t>12</a:t>
                          </a:r>
                          <a:endParaRPr lang="zh-CN" altLang="en-US" dirty="0"/>
                        </a:p>
                      </a:txBody>
                      <a:tcPr/>
                    </a:tc>
                    <a:tc>
                      <a:txBody>
                        <a:bodyPr/>
                        <a:lstStyle/>
                        <a:p>
                          <a:r>
                            <a:rPr lang="en-US" altLang="zh-CN" dirty="0" smtClean="0"/>
                            <a:t>4</a:t>
                          </a:r>
                          <a:endParaRPr lang="zh-CN" altLang="en-US" dirty="0"/>
                        </a:p>
                      </a:txBody>
                      <a:tcPr/>
                    </a:tc>
                    <a:extLst>
                      <a:ext uri="{0D108BD9-81ED-4DB2-BD59-A6C34878D82A}">
                        <a16:rowId xmlns:a16="http://schemas.microsoft.com/office/drawing/2014/main" val="3280564706"/>
                      </a:ext>
                    </a:extLst>
                  </a:tr>
                  <a:tr h="333745">
                    <a:tc>
                      <a:txBody>
                        <a:bodyPr/>
                        <a:lstStyle/>
                        <a:p>
                          <a:r>
                            <a:rPr lang="en-US" altLang="zh-CN" dirty="0" smtClean="0"/>
                            <a:t>5</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5</a:t>
                          </a:r>
                          <a:endParaRPr lang="zh-CN" altLang="en-US" dirty="0"/>
                        </a:p>
                      </a:txBody>
                      <a:tcPr/>
                    </a:tc>
                    <a:tc>
                      <a:txBody>
                        <a:bodyPr/>
                        <a:lstStyle/>
                        <a:p>
                          <a:pPr algn="l"/>
                          <a:r>
                            <a:rPr lang="en-US" altLang="zh-CN" dirty="0" smtClean="0"/>
                            <a:t>12</a:t>
                          </a:r>
                          <a:endParaRPr lang="zh-CN" altLang="en-US" dirty="0"/>
                        </a:p>
                      </a:txBody>
                      <a:tcPr/>
                    </a:tc>
                    <a:tc>
                      <a:txBody>
                        <a:bodyPr/>
                        <a:lstStyle/>
                        <a:p>
                          <a:r>
                            <a:rPr lang="en-US" altLang="zh-CN" dirty="0" smtClean="0"/>
                            <a:t>0</a:t>
                          </a:r>
                          <a:endParaRPr lang="zh-CN" altLang="en-US" dirty="0"/>
                        </a:p>
                      </a:txBody>
                      <a:tcPr/>
                    </a:tc>
                    <a:tc>
                      <a:txBody>
                        <a:bodyPr/>
                        <a:lstStyle/>
                        <a:p>
                          <a:pPr algn="l"/>
                          <a:r>
                            <a:rPr lang="en-US" altLang="zh-CN" dirty="0" smtClean="0"/>
                            <a:t>12</a:t>
                          </a:r>
                          <a:endParaRPr lang="zh-CN" altLang="en-US" dirty="0"/>
                        </a:p>
                      </a:txBody>
                      <a:tcPr/>
                    </a:tc>
                    <a:tc>
                      <a:txBody>
                        <a:bodyPr/>
                        <a:lstStyle/>
                        <a:p>
                          <a:pPr algn="l"/>
                          <a:r>
                            <a:rPr lang="en-US" altLang="zh-CN" dirty="0" smtClean="0"/>
                            <a:t>12</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5</a:t>
                          </a:r>
                          <a:endParaRPr lang="zh-CN" altLang="en-US" dirty="0"/>
                        </a:p>
                      </a:txBody>
                      <a:tcPr/>
                    </a:tc>
                    <a:extLst>
                      <a:ext uri="{0D108BD9-81ED-4DB2-BD59-A6C34878D82A}">
                        <a16:rowId xmlns:a16="http://schemas.microsoft.com/office/drawing/2014/main" val="3274687360"/>
                      </a:ext>
                    </a:extLst>
                  </a:tr>
                </a:tbl>
              </a:graphicData>
            </a:graphic>
          </p:graphicFrame>
        </mc:Choice>
        <mc:Fallback xmlns="">
          <p:graphicFrame>
            <p:nvGraphicFramePr>
              <p:cNvPr id="20" name="表格 19"/>
              <p:cNvGraphicFramePr>
                <a:graphicFrameLocks noGrp="1"/>
              </p:cNvGraphicFramePr>
              <p:nvPr>
                <p:extLst>
                  <p:ext uri="{D42A27DB-BD31-4B8C-83A1-F6EECF244321}">
                    <p14:modId xmlns:p14="http://schemas.microsoft.com/office/powerpoint/2010/main" val="4110791083"/>
                  </p:ext>
                </p:extLst>
              </p:nvPr>
            </p:nvGraphicFramePr>
            <p:xfrm>
              <a:off x="1341188" y="4268942"/>
              <a:ext cx="6389616" cy="2560320"/>
            </p:xfrm>
            <a:graphic>
              <a:graphicData uri="http://schemas.openxmlformats.org/drawingml/2006/table">
                <a:tbl>
                  <a:tblPr firstRow="1" bandRow="1">
                    <a:tableStyleId>{5C22544A-7EE6-4342-B048-85BDC9FD1C3A}</a:tableStyleId>
                  </a:tblPr>
                  <a:tblGrid>
                    <a:gridCol w="453453">
                      <a:extLst>
                        <a:ext uri="{9D8B030D-6E8A-4147-A177-3AD203B41FA5}">
                          <a16:colId xmlns:a16="http://schemas.microsoft.com/office/drawing/2014/main" val="1816936163"/>
                        </a:ext>
                      </a:extLst>
                    </a:gridCol>
                    <a:gridCol w="551117">
                      <a:extLst>
                        <a:ext uri="{9D8B030D-6E8A-4147-A177-3AD203B41FA5}">
                          <a16:colId xmlns:a16="http://schemas.microsoft.com/office/drawing/2014/main" val="1250546864"/>
                        </a:ext>
                      </a:extLst>
                    </a:gridCol>
                    <a:gridCol w="1192657">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576064">
                      <a:extLst>
                        <a:ext uri="{9D8B030D-6E8A-4147-A177-3AD203B41FA5}">
                          <a16:colId xmlns:a16="http://schemas.microsoft.com/office/drawing/2014/main" val="2765978471"/>
                        </a:ext>
                      </a:extLst>
                    </a:gridCol>
                  </a:tblGrid>
                  <a:tr h="365760">
                    <a:tc>
                      <a:txBody>
                        <a:bodyPr/>
                        <a:lstStyle/>
                        <a:p>
                          <a:endParaRPr lang="zh-CN"/>
                        </a:p>
                      </a:txBody>
                      <a:tcPr>
                        <a:blipFill>
                          <a:blip r:embed="rId6"/>
                          <a:stretch>
                            <a:fillRect l="-2703" t="-8333" r="-1322973" b="-626667"/>
                          </a:stretch>
                        </a:blipFill>
                      </a:tcPr>
                    </a:tc>
                    <a:tc>
                      <a:txBody>
                        <a:bodyPr/>
                        <a:lstStyle/>
                        <a:p>
                          <a:endParaRPr lang="zh-CN"/>
                        </a:p>
                      </a:txBody>
                      <a:tcPr>
                        <a:blipFill>
                          <a:blip r:embed="rId6"/>
                          <a:stretch>
                            <a:fillRect l="-83516" t="-8333" r="-975824" b="-626667"/>
                          </a:stretch>
                        </a:blipFill>
                      </a:tcPr>
                    </a:tc>
                    <a:tc>
                      <a:txBody>
                        <a:bodyPr/>
                        <a:lstStyle/>
                        <a:p>
                          <a:endParaRPr lang="zh-CN"/>
                        </a:p>
                      </a:txBody>
                      <a:tcPr>
                        <a:blipFill>
                          <a:blip r:embed="rId6"/>
                          <a:stretch>
                            <a:fillRect l="-85204" t="-8333" r="-353061" b="-626667"/>
                          </a:stretch>
                        </a:blipFill>
                      </a:tcPr>
                    </a:tc>
                    <a:tc>
                      <a:txBody>
                        <a:bodyPr/>
                        <a:lstStyle/>
                        <a:p>
                          <a:endParaRPr lang="zh-CN"/>
                        </a:p>
                      </a:txBody>
                      <a:tcPr>
                        <a:blipFill>
                          <a:blip r:embed="rId6"/>
                          <a:stretch>
                            <a:fillRect l="-261151" t="-8333" r="-397842" b="-626667"/>
                          </a:stretch>
                        </a:blipFill>
                      </a:tcPr>
                    </a:tc>
                    <a:tc>
                      <a:txBody>
                        <a:bodyPr/>
                        <a:lstStyle/>
                        <a:p>
                          <a:endParaRPr lang="zh-CN"/>
                        </a:p>
                      </a:txBody>
                      <a:tcPr>
                        <a:blipFill>
                          <a:blip r:embed="rId6"/>
                          <a:stretch>
                            <a:fillRect l="-158861" t="-8333" r="-75000" b="-626667"/>
                          </a:stretch>
                        </a:blipFill>
                      </a:tcPr>
                    </a:tc>
                    <a:tc>
                      <a:txBody>
                        <a:bodyPr/>
                        <a:lstStyle/>
                        <a:p>
                          <a:endParaRPr lang="zh-CN"/>
                        </a:p>
                      </a:txBody>
                      <a:tcPr>
                        <a:blipFill>
                          <a:blip r:embed="rId6"/>
                          <a:stretch>
                            <a:fillRect l="-592754" t="-8333" r="-71739" b="-626667"/>
                          </a:stretch>
                        </a:blipFill>
                      </a:tcPr>
                    </a:tc>
                    <a:tc>
                      <a:txBody>
                        <a:bodyPr/>
                        <a:lstStyle/>
                        <a:p>
                          <a:endParaRPr lang="zh-CN"/>
                        </a:p>
                      </a:txBody>
                      <a:tcPr>
                        <a:blipFill>
                          <a:blip r:embed="rId6"/>
                          <a:stretch>
                            <a:fillRect l="-1006316" t="-8333" r="-4211" b="-626667"/>
                          </a:stretch>
                        </a:blipFill>
                      </a:tcPr>
                    </a:tc>
                    <a:extLst>
                      <a:ext uri="{0D108BD9-81ED-4DB2-BD59-A6C34878D82A}">
                        <a16:rowId xmlns:a16="http://schemas.microsoft.com/office/drawing/2014/main" val="37799757"/>
                      </a:ext>
                    </a:extLst>
                  </a:tr>
                  <a:tr h="365760">
                    <a:tc>
                      <a:txBody>
                        <a:bodyPr/>
                        <a:lstStyle/>
                        <a:p>
                          <a:pPr/>
                          <a:r>
                            <a:rPr lang="en-US" altLang="zh-CN" dirty="0" smtClean="0"/>
                            <a:t>0</a:t>
                          </a:r>
                          <a:endParaRPr lang="zh-CN" altLang="en-US" dirty="0"/>
                        </a:p>
                      </a:txBody>
                      <a:tcPr/>
                    </a:tc>
                    <a:tc>
                      <a:txBody>
                        <a:bodyPr/>
                        <a:lstStyle/>
                        <a:p>
                          <a:endParaRPr lang="zh-CN"/>
                        </a:p>
                      </a:txBody>
                      <a:tcPr>
                        <a:blipFill>
                          <a:blip r:embed="rId6"/>
                          <a:stretch>
                            <a:fillRect l="-83516" t="-108333" r="-975824" b="-526667"/>
                          </a:stretch>
                        </a:blipFill>
                      </a:tcPr>
                    </a:tc>
                    <a:tc>
                      <a:txBody>
                        <a:bodyPr/>
                        <a:lstStyle/>
                        <a:p>
                          <a:pPr algn="l"/>
                          <a:r>
                            <a:rPr lang="en-US" altLang="zh-CN" dirty="0" smtClean="0"/>
                            <a:t>0</a:t>
                          </a:r>
                          <a:endParaRPr lang="zh-CN" altLang="en-US" dirty="0"/>
                        </a:p>
                      </a:txBody>
                      <a:tcPr/>
                    </a:tc>
                    <a:tc>
                      <a:txBody>
                        <a:bodyPr/>
                        <a:lstStyle/>
                        <a:p>
                          <a:r>
                            <a:rPr lang="en-US" altLang="zh-CN" dirty="0" smtClean="0"/>
                            <a:t>0</a:t>
                          </a:r>
                          <a:endParaRPr lang="zh-CN" altLang="en-US" dirty="0"/>
                        </a:p>
                      </a:txBody>
                      <a:tcPr/>
                    </a:tc>
                    <a:tc>
                      <a:txBody>
                        <a:bodyPr/>
                        <a:lstStyle/>
                        <a:p>
                          <a:pPr algn="l"/>
                          <a:r>
                            <a:rPr lang="en-US" altLang="zh-CN" dirty="0" smtClean="0"/>
                            <a:t>0</a:t>
                          </a:r>
                          <a:endParaRPr lang="zh-CN" altLang="en-US" dirty="0"/>
                        </a:p>
                      </a:txBody>
                      <a:tcPr/>
                    </a:tc>
                    <a:tc>
                      <a:txBody>
                        <a:bodyPr/>
                        <a:lstStyle/>
                        <a:p>
                          <a:pPr algn="l"/>
                          <a:r>
                            <a:rPr lang="en-US" altLang="zh-CN" dirty="0" smtClean="0"/>
                            <a:t>0</a:t>
                          </a:r>
                          <a:endParaRPr lang="zh-CN" altLang="en-US" dirty="0"/>
                        </a:p>
                      </a:txBody>
                      <a:tcPr/>
                    </a:tc>
                    <a:tc>
                      <a:txBody>
                        <a:bodyPr/>
                        <a:lstStyle/>
                        <a:p>
                          <a:endParaRPr lang="zh-CN"/>
                        </a:p>
                      </a:txBody>
                      <a:tcPr>
                        <a:blipFill>
                          <a:blip r:embed="rId6"/>
                          <a:stretch>
                            <a:fillRect l="-1006316" t="-108333" r="-4211" b="-526667"/>
                          </a:stretch>
                        </a:blipFill>
                      </a:tcPr>
                    </a:tc>
                    <a:extLst>
                      <a:ext uri="{0D108BD9-81ED-4DB2-BD59-A6C34878D82A}">
                        <a16:rowId xmlns:a16="http://schemas.microsoft.com/office/drawing/2014/main" val="3736361684"/>
                      </a:ext>
                    </a:extLst>
                  </a:tr>
                  <a:tr h="365760">
                    <a:tc>
                      <a:txBody>
                        <a:bodyPr/>
                        <a:lstStyle/>
                        <a:p>
                          <a:pPr/>
                          <a:r>
                            <a:rPr lang="en-US" altLang="zh-CN" dirty="0" smtClean="0"/>
                            <a:t>1</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1</a:t>
                          </a:r>
                          <a:endParaRPr lang="zh-CN" altLang="en-US" dirty="0"/>
                        </a:p>
                      </a:txBody>
                      <a:tcPr/>
                    </a:tc>
                    <a:tc>
                      <a:txBody>
                        <a:bodyPr/>
                        <a:lstStyle/>
                        <a:p>
                          <a:pPr algn="l"/>
                          <a:r>
                            <a:rPr lang="en-US" altLang="zh-CN" dirty="0" smtClean="0"/>
                            <a:t>4</a:t>
                          </a:r>
                          <a:endParaRPr lang="zh-CN" altLang="en-US" dirty="0"/>
                        </a:p>
                      </a:txBody>
                      <a:tcPr/>
                    </a:tc>
                    <a:tc>
                      <a:txBody>
                        <a:bodyPr/>
                        <a:lstStyle/>
                        <a:p>
                          <a:r>
                            <a:rPr lang="en-US" altLang="zh-CN" dirty="0" smtClean="0"/>
                            <a:t>0</a:t>
                          </a:r>
                          <a:endParaRPr lang="zh-CN" altLang="en-US" dirty="0"/>
                        </a:p>
                      </a:txBody>
                      <a:tcPr/>
                    </a:tc>
                    <a:tc>
                      <a:txBody>
                        <a:bodyPr/>
                        <a:lstStyle/>
                        <a:p>
                          <a:pPr algn="l"/>
                          <a:r>
                            <a:rPr lang="en-US" altLang="zh-CN" dirty="0" smtClean="0"/>
                            <a:t>4</a:t>
                          </a:r>
                          <a:endParaRPr lang="zh-CN" altLang="en-US" dirty="0"/>
                        </a:p>
                      </a:txBody>
                      <a:tcPr/>
                    </a:tc>
                    <a:tc>
                      <a:txBody>
                        <a:bodyPr/>
                        <a:lstStyle/>
                        <a:p>
                          <a:pPr algn="l"/>
                          <a:r>
                            <a:rPr lang="en-US" altLang="zh-CN" dirty="0" smtClean="0"/>
                            <a:t>4</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1</a:t>
                          </a:r>
                          <a:endParaRPr lang="zh-CN" altLang="en-US" dirty="0"/>
                        </a:p>
                      </a:txBody>
                      <a:tcPr/>
                    </a:tc>
                    <a:extLst>
                      <a:ext uri="{0D108BD9-81ED-4DB2-BD59-A6C34878D82A}">
                        <a16:rowId xmlns:a16="http://schemas.microsoft.com/office/drawing/2014/main" val="1091311635"/>
                      </a:ext>
                    </a:extLst>
                  </a:tr>
                  <a:tr h="365760">
                    <a:tc>
                      <a:txBody>
                        <a:bodyPr/>
                        <a:lstStyle/>
                        <a:p>
                          <a:pPr/>
                          <a:r>
                            <a:rPr lang="en-US" altLang="zh-CN" dirty="0" smtClean="0"/>
                            <a:t>2</a:t>
                          </a:r>
                          <a:endParaRPr lang="zh-CN" altLang="en-US" dirty="0"/>
                        </a:p>
                      </a:txBody>
                      <a:tcPr/>
                    </a:tc>
                    <a:tc>
                      <a:txBody>
                        <a:bodyPr/>
                        <a:lstStyle/>
                        <a:p>
                          <a:r>
                            <a:rPr lang="en-US" altLang="zh-CN" dirty="0" smtClean="0"/>
                            <a:t>2</a:t>
                          </a:r>
                          <a:endParaRPr lang="zh-CN" altLang="en-US" dirty="0"/>
                        </a:p>
                      </a:txBody>
                      <a:tcPr/>
                    </a:tc>
                    <a:tc>
                      <a:txBody>
                        <a:bodyPr/>
                        <a:lstStyle/>
                        <a:p>
                          <a:pPr algn="l"/>
                          <a:r>
                            <a:rPr lang="en-US" altLang="zh-CN" dirty="0" smtClean="0"/>
                            <a:t>6</a:t>
                          </a:r>
                          <a:endParaRPr lang="zh-CN" altLang="en-US" dirty="0"/>
                        </a:p>
                      </a:txBody>
                      <a:tcPr/>
                    </a:tc>
                    <a:tc>
                      <a:txBody>
                        <a:bodyPr/>
                        <a:lstStyle/>
                        <a:p>
                          <a:r>
                            <a:rPr lang="en-US" altLang="zh-CN" dirty="0" smtClean="0"/>
                            <a:t>0</a:t>
                          </a:r>
                          <a:endParaRPr lang="zh-CN" altLang="en-US" dirty="0"/>
                        </a:p>
                      </a:txBody>
                      <a:tcPr/>
                    </a:tc>
                    <a:tc>
                      <a:txBody>
                        <a:bodyPr/>
                        <a:lstStyle/>
                        <a:p>
                          <a:pPr algn="l"/>
                          <a:r>
                            <a:rPr lang="en-US" altLang="zh-CN" dirty="0" smtClean="0"/>
                            <a:t>6</a:t>
                          </a:r>
                          <a:endParaRPr lang="zh-CN" altLang="en-US" dirty="0"/>
                        </a:p>
                      </a:txBody>
                      <a:tcPr/>
                    </a:tc>
                    <a:tc>
                      <a:txBody>
                        <a:bodyPr/>
                        <a:lstStyle/>
                        <a:p>
                          <a:pPr algn="l"/>
                          <a:r>
                            <a:rPr lang="en-US" altLang="zh-CN" dirty="0" smtClean="0"/>
                            <a:t>6</a:t>
                          </a:r>
                          <a:endParaRPr lang="zh-CN" altLang="en-US" dirty="0"/>
                        </a:p>
                      </a:txBody>
                      <a:tcPr/>
                    </a:tc>
                    <a:tc>
                      <a:txBody>
                        <a:bodyPr/>
                        <a:lstStyle/>
                        <a:p>
                          <a:r>
                            <a:rPr lang="en-US" altLang="zh-CN" dirty="0" smtClean="0"/>
                            <a:t>2</a:t>
                          </a:r>
                          <a:endParaRPr lang="zh-CN" altLang="en-US" dirty="0"/>
                        </a:p>
                      </a:txBody>
                      <a:tcPr/>
                    </a:tc>
                    <a:extLst>
                      <a:ext uri="{0D108BD9-81ED-4DB2-BD59-A6C34878D82A}">
                        <a16:rowId xmlns:a16="http://schemas.microsoft.com/office/drawing/2014/main" val="752238598"/>
                      </a:ext>
                    </a:extLst>
                  </a:tr>
                  <a:tr h="365760">
                    <a:tc>
                      <a:txBody>
                        <a:bodyPr/>
                        <a:lstStyle/>
                        <a:p>
                          <a:pPr/>
                          <a:r>
                            <a:rPr lang="en-US" altLang="zh-CN" dirty="0" smtClean="0"/>
                            <a:t>3</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3</a:t>
                          </a:r>
                          <a:endParaRPr lang="zh-CN" altLang="en-US" dirty="0"/>
                        </a:p>
                      </a:txBody>
                      <a:tcPr/>
                    </a:tc>
                    <a:tc>
                      <a:txBody>
                        <a:bodyPr/>
                        <a:lstStyle/>
                        <a:p>
                          <a:pPr algn="l"/>
                          <a:r>
                            <a:rPr lang="en-US" altLang="zh-CN" dirty="0" smtClean="0"/>
                            <a:t>11</a:t>
                          </a:r>
                          <a:endParaRPr lang="zh-CN" altLang="en-US" dirty="0"/>
                        </a:p>
                      </a:txBody>
                      <a:tcPr/>
                    </a:tc>
                    <a:tc>
                      <a:txBody>
                        <a:bodyPr/>
                        <a:lstStyle/>
                        <a:p>
                          <a:r>
                            <a:rPr lang="en-US" altLang="zh-CN" dirty="0" smtClean="0"/>
                            <a:t>0</a:t>
                          </a:r>
                          <a:endParaRPr lang="zh-CN" altLang="en-US" dirty="0"/>
                        </a:p>
                      </a:txBody>
                      <a:tcPr/>
                    </a:tc>
                    <a:tc>
                      <a:txBody>
                        <a:bodyPr/>
                        <a:lstStyle/>
                        <a:p>
                          <a:pPr algn="l"/>
                          <a:r>
                            <a:rPr lang="en-US" altLang="zh-CN" dirty="0" smtClean="0"/>
                            <a:t>11</a:t>
                          </a:r>
                          <a:endParaRPr lang="zh-CN" altLang="en-US" dirty="0"/>
                        </a:p>
                      </a:txBody>
                      <a:tcPr/>
                    </a:tc>
                    <a:tc>
                      <a:txBody>
                        <a:bodyPr/>
                        <a:lstStyle/>
                        <a:p>
                          <a:pPr algn="l"/>
                          <a:r>
                            <a:rPr lang="en-US" altLang="zh-CN" dirty="0" smtClean="0"/>
                            <a:t>11</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3</a:t>
                          </a:r>
                          <a:endParaRPr lang="zh-CN" altLang="en-US" dirty="0"/>
                        </a:p>
                      </a:txBody>
                      <a:tcPr/>
                    </a:tc>
                    <a:extLst>
                      <a:ext uri="{0D108BD9-81ED-4DB2-BD59-A6C34878D82A}">
                        <a16:rowId xmlns:a16="http://schemas.microsoft.com/office/drawing/2014/main" val="2944060997"/>
                      </a:ext>
                    </a:extLst>
                  </a:tr>
                  <a:tr h="365760">
                    <a:tc>
                      <a:txBody>
                        <a:bodyPr/>
                        <a:lstStyle/>
                        <a:p>
                          <a:pPr/>
                          <a:r>
                            <a:rPr lang="en-US" altLang="zh-CN" dirty="0" smtClean="0"/>
                            <a:t>4</a:t>
                          </a:r>
                          <a:endParaRPr lang="zh-CN" altLang="en-US" dirty="0"/>
                        </a:p>
                      </a:txBody>
                      <a:tcPr/>
                    </a:tc>
                    <a:tc>
                      <a:txBody>
                        <a:bodyPr/>
                        <a:lstStyle/>
                        <a:p>
                          <a:r>
                            <a:rPr lang="en-US" altLang="zh-CN" dirty="0" smtClean="0"/>
                            <a:t>4</a:t>
                          </a:r>
                          <a:endParaRPr lang="zh-CN" altLang="en-US" dirty="0"/>
                        </a:p>
                      </a:txBody>
                      <a:tcPr/>
                    </a:tc>
                    <a:tc>
                      <a:txBody>
                        <a:bodyPr/>
                        <a:lstStyle/>
                        <a:p>
                          <a:pPr algn="l"/>
                          <a:r>
                            <a:rPr lang="en-US" altLang="zh-CN" dirty="0" smtClean="0"/>
                            <a:t>12</a:t>
                          </a:r>
                          <a:endParaRPr lang="zh-CN" altLang="en-US" dirty="0"/>
                        </a:p>
                      </a:txBody>
                      <a:tcPr/>
                    </a:tc>
                    <a:tc>
                      <a:txBody>
                        <a:bodyPr/>
                        <a:lstStyle/>
                        <a:p>
                          <a:r>
                            <a:rPr lang="en-US" altLang="zh-CN" dirty="0" smtClean="0"/>
                            <a:t>0</a:t>
                          </a:r>
                          <a:endParaRPr lang="zh-CN" altLang="en-US" dirty="0"/>
                        </a:p>
                      </a:txBody>
                      <a:tcPr/>
                    </a:tc>
                    <a:tc>
                      <a:txBody>
                        <a:bodyPr/>
                        <a:lstStyle/>
                        <a:p>
                          <a:pPr algn="l"/>
                          <a:r>
                            <a:rPr lang="en-US" altLang="zh-CN" dirty="0" smtClean="0"/>
                            <a:t>12</a:t>
                          </a:r>
                          <a:endParaRPr lang="zh-CN" altLang="en-US" dirty="0"/>
                        </a:p>
                      </a:txBody>
                      <a:tcPr/>
                    </a:tc>
                    <a:tc>
                      <a:txBody>
                        <a:bodyPr/>
                        <a:lstStyle/>
                        <a:p>
                          <a:pPr algn="l"/>
                          <a:r>
                            <a:rPr lang="en-US" altLang="zh-CN" dirty="0" smtClean="0"/>
                            <a:t>12</a:t>
                          </a:r>
                          <a:endParaRPr lang="zh-CN" altLang="en-US" dirty="0"/>
                        </a:p>
                      </a:txBody>
                      <a:tcPr/>
                    </a:tc>
                    <a:tc>
                      <a:txBody>
                        <a:bodyPr/>
                        <a:lstStyle/>
                        <a:p>
                          <a:r>
                            <a:rPr lang="en-US" altLang="zh-CN" dirty="0" smtClean="0"/>
                            <a:t>4</a:t>
                          </a:r>
                          <a:endParaRPr lang="zh-CN" altLang="en-US" dirty="0"/>
                        </a:p>
                      </a:txBody>
                      <a:tcPr/>
                    </a:tc>
                    <a:extLst>
                      <a:ext uri="{0D108BD9-81ED-4DB2-BD59-A6C34878D82A}">
                        <a16:rowId xmlns:a16="http://schemas.microsoft.com/office/drawing/2014/main" val="3280564706"/>
                      </a:ext>
                    </a:extLst>
                  </a:tr>
                  <a:tr h="365760">
                    <a:tc>
                      <a:txBody>
                        <a:bodyPr/>
                        <a:lstStyle/>
                        <a:p>
                          <a:pPr/>
                          <a:r>
                            <a:rPr lang="en-US" altLang="zh-CN" dirty="0" smtClean="0"/>
                            <a:t>5</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5</a:t>
                          </a:r>
                          <a:endParaRPr lang="zh-CN" altLang="en-US" dirty="0"/>
                        </a:p>
                      </a:txBody>
                      <a:tcPr/>
                    </a:tc>
                    <a:tc>
                      <a:txBody>
                        <a:bodyPr/>
                        <a:lstStyle/>
                        <a:p>
                          <a:pPr algn="l"/>
                          <a:r>
                            <a:rPr lang="en-US" altLang="zh-CN" dirty="0" smtClean="0"/>
                            <a:t>12</a:t>
                          </a:r>
                          <a:endParaRPr lang="zh-CN" altLang="en-US" dirty="0"/>
                        </a:p>
                      </a:txBody>
                      <a:tcPr/>
                    </a:tc>
                    <a:tc>
                      <a:txBody>
                        <a:bodyPr/>
                        <a:lstStyle/>
                        <a:p>
                          <a:r>
                            <a:rPr lang="en-US" altLang="zh-CN" dirty="0" smtClean="0"/>
                            <a:t>0</a:t>
                          </a:r>
                          <a:endParaRPr lang="zh-CN" altLang="en-US" dirty="0"/>
                        </a:p>
                      </a:txBody>
                      <a:tcPr/>
                    </a:tc>
                    <a:tc>
                      <a:txBody>
                        <a:bodyPr/>
                        <a:lstStyle/>
                        <a:p>
                          <a:pPr algn="l"/>
                          <a:r>
                            <a:rPr lang="en-US" altLang="zh-CN" dirty="0" smtClean="0"/>
                            <a:t>12</a:t>
                          </a:r>
                          <a:endParaRPr lang="zh-CN" altLang="en-US" dirty="0"/>
                        </a:p>
                      </a:txBody>
                      <a:tcPr/>
                    </a:tc>
                    <a:tc>
                      <a:txBody>
                        <a:bodyPr/>
                        <a:lstStyle/>
                        <a:p>
                          <a:pPr algn="l"/>
                          <a:r>
                            <a:rPr lang="en-US" altLang="zh-CN" dirty="0" smtClean="0"/>
                            <a:t>12</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5</a:t>
                          </a:r>
                          <a:endParaRPr lang="zh-CN" altLang="en-US" dirty="0"/>
                        </a:p>
                      </a:txBody>
                      <a:tcPr/>
                    </a:tc>
                    <a:extLst>
                      <a:ext uri="{0D108BD9-81ED-4DB2-BD59-A6C34878D82A}">
                        <a16:rowId xmlns:a16="http://schemas.microsoft.com/office/drawing/2014/main" val="3274687360"/>
                      </a:ext>
                    </a:extLst>
                  </a:tr>
                </a:tbl>
              </a:graphicData>
            </a:graphic>
          </p:graphicFrame>
        </mc:Fallback>
      </mc:AlternateContent>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2"/>
          <p:cNvSpPr>
            <a:spLocks noGrp="1" noChangeArrowheads="1"/>
          </p:cNvSpPr>
          <p:nvPr>
            <p:ph type="title"/>
          </p:nvPr>
        </p:nvSpPr>
        <p:spPr/>
        <p:txBody>
          <a:bodyPr/>
          <a:lstStyle/>
          <a:p>
            <a:r>
              <a:rPr lang="en-US" altLang="zh-CN" dirty="0" smtClean="0"/>
              <a:t>8.4.1</a:t>
            </a:r>
            <a:r>
              <a:rPr lang="zh-CN" altLang="en-US" dirty="0"/>
              <a:t>资源分配问题</a:t>
            </a:r>
          </a:p>
        </p:txBody>
      </p:sp>
      <p:sp>
        <p:nvSpPr>
          <p:cNvPr id="2" name="内容占位符 1"/>
          <p:cNvSpPr>
            <a:spLocks noGrp="1"/>
          </p:cNvSpPr>
          <p:nvPr>
            <p:ph idx="1"/>
          </p:nvPr>
        </p:nvSpPr>
        <p:spPr>
          <a:xfrm>
            <a:off x="395536" y="1337268"/>
            <a:ext cx="8280920" cy="904863"/>
          </a:xfrm>
        </p:spPr>
        <p:txBody>
          <a:bodyPr/>
          <a:lstStyle/>
          <a:p>
            <a:r>
              <a:rPr lang="zh-CN" altLang="en-US" dirty="0">
                <a:cs typeface="Times New Roman" panose="02020603050405020304" pitchFamily="18" charset="0"/>
              </a:rPr>
              <a:t>例</a:t>
            </a:r>
            <a:r>
              <a:rPr lang="en-US" altLang="zh-CN" dirty="0" smtClean="0">
                <a:cs typeface="Times New Roman" panose="02020603050405020304" pitchFamily="18" charset="0"/>
              </a:rPr>
              <a:t>8-4</a:t>
            </a:r>
            <a:endParaRPr lang="zh-CN" altLang="en-US" dirty="0"/>
          </a:p>
          <a:p>
            <a:endParaRPr lang="zh-CN" altLang="en-US" dirty="0"/>
          </a:p>
        </p:txBody>
      </p:sp>
      <p:sp>
        <p:nvSpPr>
          <p:cNvPr id="6553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420B52F8-9155-425F-ABB8-CC5A2AB90F7F}" type="slidenum">
              <a:rPr lang="en-US" altLang="zh-CN" sz="1000"/>
              <a:pPr/>
              <a:t>50</a:t>
            </a:fld>
            <a:endParaRPr lang="en-US" altLang="zh-CN" sz="1000"/>
          </a:p>
        </p:txBody>
      </p:sp>
      <mc:AlternateContent xmlns:mc="http://schemas.openxmlformats.org/markup-compatibility/2006" xmlns:a14="http://schemas.microsoft.com/office/drawing/2010/main">
        <mc:Choice Requires="a14">
          <p:sp>
            <p:nvSpPr>
              <p:cNvPr id="65542" name="Rectangle 25"/>
              <p:cNvSpPr>
                <a:spLocks noChangeArrowheads="1"/>
              </p:cNvSpPr>
              <p:nvPr/>
            </p:nvSpPr>
            <p:spPr bwMode="auto">
              <a:xfrm>
                <a:off x="0" y="3160712"/>
                <a:ext cx="4093937" cy="1454885"/>
              </a:xfrm>
              <a:prstGeom prst="rect">
                <a:avLst/>
              </a:prstGeom>
              <a:noFill/>
              <a:ln>
                <a:noFill/>
              </a:ln>
              <a:effectLst/>
              <a:extLst>
                <a:ext uri="{909E8E84-426E-40DD-AFC4-6F175D3DCCD1}">
                  <a14:hiddenFill>
                    <a:solidFill>
                      <a:schemeClr val="accent1"/>
                    </a:solidFill>
                  </a14:hiddenFill>
                </a:ext>
                <a:ext uri="{91240B29-F687-4F45-9708-019B960494DF}">
                  <a14:hiddenLine w="9525" algn="ctr">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indent="0"/>
                <a:r>
                  <a:rPr lang="en-US" altLang="zh-CN" b="1" i="1" dirty="0" smtClean="0">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：将</a:t>
                </a:r>
                <a:r>
                  <a:rPr lang="en-US" altLang="zh-CN" b="1" dirty="0">
                    <a:latin typeface="Times New Roman" panose="02020603050405020304" pitchFamily="18" charset="0"/>
                    <a:cs typeface="Times New Roman" panose="02020603050405020304" pitchFamily="18" charset="0"/>
                  </a:rPr>
                  <a:t>s</a:t>
                </a:r>
                <a:r>
                  <a:rPr lang="en-US" altLang="zh-CN" b="1" baseline="-25000"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台设备</a:t>
                </a:r>
                <a:r>
                  <a:rPr lang="en-US" altLang="zh-CN" b="1" dirty="0">
                    <a:latin typeface="Times New Roman" panose="02020603050405020304" pitchFamily="18" charset="0"/>
                    <a:cs typeface="Times New Roman" panose="02020603050405020304" pitchFamily="18" charset="0"/>
                  </a:rPr>
                  <a:t>(s</a:t>
                </a:r>
                <a:r>
                  <a:rPr lang="en-US" altLang="zh-CN" b="1" baseline="-25000" dirty="0">
                    <a:latin typeface="Times New Roman" panose="02020603050405020304" pitchFamily="18" charset="0"/>
                    <a:cs typeface="Times New Roman" panose="02020603050405020304" pitchFamily="18" charset="0"/>
                  </a:rPr>
                  <a:t>2</a:t>
                </a:r>
                <a:r>
                  <a:rPr lang="en-US" altLang="zh-CN" b="1" dirty="0">
                    <a:latin typeface="Times New Roman" panose="02020603050405020304" pitchFamily="18" charset="0"/>
                    <a:cs typeface="Times New Roman" panose="02020603050405020304" pitchFamily="18" charset="0"/>
                  </a:rPr>
                  <a:t>=0,1,2,3,4,5)</a:t>
                </a:r>
                <a:r>
                  <a:rPr lang="zh-CN" altLang="en-US" b="1" dirty="0">
                    <a:latin typeface="Times New Roman" panose="02020603050405020304" pitchFamily="18" charset="0"/>
                    <a:cs typeface="Times New Roman" panose="02020603050405020304" pitchFamily="18" charset="0"/>
                  </a:rPr>
                  <a:t>分配给工厂乙和工厂丙时</a:t>
                </a:r>
                <a:r>
                  <a:rPr lang="zh-CN" altLang="en-US" b="1" dirty="0" smtClean="0">
                    <a:latin typeface="Times New Roman" panose="02020603050405020304" pitchFamily="18" charset="0"/>
                    <a:cs typeface="Times New Roman" panose="02020603050405020304" pitchFamily="18" charset="0"/>
                  </a:rPr>
                  <a:t>，则</a:t>
                </a:r>
                <a:r>
                  <a:rPr lang="zh-CN" altLang="en-US" b="1" dirty="0">
                    <a:latin typeface="Times New Roman" panose="02020603050405020304" pitchFamily="18" charset="0"/>
                    <a:cs typeface="Times New Roman" panose="02020603050405020304" pitchFamily="18" charset="0"/>
                  </a:rPr>
                  <a:t>最大盈利值为</a:t>
                </a:r>
                <a:endParaRPr lang="en-US" altLang="zh-CN" b="1" dirty="0" smtClean="0">
                  <a:latin typeface="Times New Roman" panose="02020603050405020304" pitchFamily="18" charset="0"/>
                  <a:cs typeface="Times New Roman" panose="02020603050405020304" pitchFamily="18" charset="0"/>
                </a:endParaRPr>
              </a:p>
              <a:p>
                <a:pPr indent="0"/>
                <a14:m>
                  <m:oMathPara xmlns:m="http://schemas.openxmlformats.org/officeDocument/2006/math">
                    <m:oMathParaPr>
                      <m:jc m:val="centerGroup"/>
                    </m:oMathParaPr>
                    <m:oMath xmlns:m="http://schemas.openxmlformats.org/officeDocument/2006/math">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smtClean="0">
                          <a:latin typeface="Times New Roman" panose="02020603050405020304" pitchFamily="18" charset="0"/>
                          <a:cs typeface="Times New Roman" panose="02020603050405020304" pitchFamily="18" charset="0"/>
                        </a:rPr>
                        <m:t>2</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smtClean="0">
                          <a:latin typeface="Times New Roman" panose="02020603050405020304" pitchFamily="18" charset="0"/>
                          <a:cs typeface="Times New Roman" panose="02020603050405020304" pitchFamily="18" charset="0"/>
                        </a:rPr>
                        <m:t>2</m:t>
                      </m:r>
                      <m:r>
                        <m:rPr>
                          <m:nor/>
                        </m:rPr>
                        <a:rPr lang="en-US" altLang="zh-CN" b="1" dirty="0">
                          <a:latin typeface="Times New Roman" panose="020206030504050203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m:t>
                      </m:r>
                      <m:func>
                        <m:funcPr>
                          <m:ctrlPr>
                            <a:rPr lang="en-US" altLang="zh-CN" b="1" i="1">
                              <a:latin typeface="Cambria Math" panose="02040503050406030204" pitchFamily="18" charset="0"/>
                              <a:cs typeface="Times New Roman" panose="02020603050405020304" pitchFamily="18" charset="0"/>
                            </a:rPr>
                          </m:ctrlPr>
                        </m:funcPr>
                        <m:fName>
                          <m:limLow>
                            <m:limLowPr>
                              <m:ctrlPr>
                                <a:rPr lang="en-US" altLang="zh-CN" b="1" i="1">
                                  <a:latin typeface="Cambria Math" panose="02040503050406030204" pitchFamily="18" charset="0"/>
                                  <a:cs typeface="Times New Roman" panose="02020603050405020304" pitchFamily="18" charset="0"/>
                                </a:rPr>
                              </m:ctrlPr>
                            </m:limLowPr>
                            <m:e>
                              <m:r>
                                <m:rPr>
                                  <m:sty m:val="p"/>
                                </m:rPr>
                                <a:rPr lang="en-US" altLang="zh-CN">
                                  <a:latin typeface="Cambria Math" panose="02040503050406030204" pitchFamily="18" charset="0"/>
                                  <a:cs typeface="Times New Roman" panose="02020603050405020304" pitchFamily="18" charset="0"/>
                                </a:rPr>
                                <m:t>max</m:t>
                              </m:r>
                            </m:e>
                            <m:lim>
                              <m:r>
                                <a:rPr lang="en-US" altLang="zh-CN" i="1">
                                  <a:latin typeface="Cambria Math" panose="02040503050406030204" pitchFamily="18" charset="0"/>
                                  <a:cs typeface="Times New Roman" panose="02020603050405020304" pitchFamily="18" charset="0"/>
                                </a:rPr>
                                <m:t>0</m:t>
                              </m:r>
                              <m:r>
                                <a:rPr lang="en-US" altLang="zh-CN"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2</m:t>
                                  </m:r>
                                </m:sub>
                              </m:sSub>
                              <m:r>
                                <a:rPr lang="en-US" altLang="zh-CN"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Cambria Math" panose="02040503050406030204" pitchFamily="18" charset="0"/>
                                      <a:cs typeface="Times New Roman" panose="02020603050405020304" pitchFamily="18" charset="0"/>
                                    </a:rPr>
                                    <m:t>𝑠</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2</m:t>
                                  </m:r>
                                </m:sub>
                              </m:sSub>
                            </m:lim>
                          </m:limLow>
                        </m:fName>
                        <m:e>
                          <m:d>
                            <m:dPr>
                              <m:begChr m:val="{"/>
                              <m:endChr m:val="}"/>
                              <m:ctrlPr>
                                <a:rPr lang="en-US" altLang="zh-CN" b="1" i="1">
                                  <a:latin typeface="Cambria Math" panose="02040503050406030204" pitchFamily="18" charset="0"/>
                                  <a:cs typeface="Times New Roman" panose="02020603050405020304" pitchFamily="18" charset="0"/>
                                </a:rPr>
                              </m:ctrlPr>
                            </m:dPr>
                            <m:e>
                              <m:r>
                                <m:rPr>
                                  <m:nor/>
                                </m:rPr>
                                <a:rPr lang="en-US" altLang="zh-CN" b="1" i="1" dirty="0">
                                  <a:latin typeface="Times New Roman" panose="02020603050405020304" pitchFamily="18" charset="0"/>
                                  <a:cs typeface="Times New Roman" panose="02020603050405020304" pitchFamily="18" charset="0"/>
                                </a:rPr>
                                <m:t>v</m:t>
                              </m:r>
                              <m:r>
                                <m:rPr>
                                  <m:nor/>
                                </m:rPr>
                                <a:rPr lang="en-US" altLang="zh-CN" b="1" i="1" baseline="-25000" dirty="0" smtClean="0">
                                  <a:latin typeface="Times New Roman" panose="02020603050405020304" pitchFamily="18" charset="0"/>
                                  <a:cs typeface="Times New Roman" panose="02020603050405020304" pitchFamily="18" charset="0"/>
                                </a:rPr>
                                <m:t>2</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smtClean="0">
                                  <a:latin typeface="Times New Roman" panose="02020603050405020304" pitchFamily="18" charset="0"/>
                                  <a:cs typeface="Times New Roman" panose="02020603050405020304" pitchFamily="18" charset="0"/>
                                </a:rPr>
                                <m:t>2</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 </m:t>
                              </m:r>
                              <m:sSub>
                                <m:sSubPr>
                                  <m:ctrlPr>
                                    <a:rPr lang="en-US" altLang="zh-CN" b="1" i="1" dirty="0">
                                      <a:latin typeface="Cambria Math" panose="02040503050406030204" pitchFamily="18" charset="0"/>
                                      <a:cs typeface="Times New Roman" panose="02020603050405020304" pitchFamily="18" charset="0"/>
                                    </a:rPr>
                                  </m:ctrlPr>
                                </m:sSubPr>
                                <m:e>
                                  <m:r>
                                    <a:rPr lang="en-US" altLang="zh-CN" b="1" i="1" dirty="0">
                                      <a:latin typeface="Cambria Math" panose="02040503050406030204" pitchFamily="18" charset="0"/>
                                      <a:cs typeface="Times New Roman" panose="02020603050405020304" pitchFamily="18" charset="0"/>
                                    </a:rPr>
                                    <m:t>𝒙</m:t>
                                  </m:r>
                                </m:e>
                                <m:sub>
                                  <m:r>
                                    <a:rPr lang="en-US" altLang="zh-CN" b="1" i="1" dirty="0" smtClean="0">
                                      <a:latin typeface="Cambria Math" panose="02040503050406030204" pitchFamily="18" charset="0"/>
                                      <a:cs typeface="Times New Roman" panose="02020603050405020304" pitchFamily="18" charset="0"/>
                                    </a:rPr>
                                    <m:t>𝟐</m:t>
                                  </m:r>
                                </m:sub>
                              </m:sSub>
                              <m:r>
                                <m:rPr>
                                  <m:nor/>
                                </m:rPr>
                                <a:rPr lang="en-US" altLang="zh-CN" b="1" dirty="0">
                                  <a:latin typeface="Times New Roman" panose="020206030504050203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smtClean="0">
                                  <a:latin typeface="Times New Roman" panose="02020603050405020304" pitchFamily="18" charset="0"/>
                                  <a:cs typeface="Times New Roman" panose="02020603050405020304" pitchFamily="18" charset="0"/>
                                </a:rPr>
                                <m:t>3</m:t>
                              </m:r>
                              <m:r>
                                <a:rPr lang="en-US" altLang="zh-CN" b="1" i="1" baseline="-25000" dirty="0">
                                  <a:latin typeface="Cambria Math" panose="02040503050406030204" pitchFamily="18" charset="0"/>
                                  <a:cs typeface="Times New Roman" panose="02020603050405020304" pitchFamily="18" charset="0"/>
                                </a:rPr>
                                <m:t> </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smtClean="0">
                                  <a:latin typeface="Times New Roman" panose="02020603050405020304" pitchFamily="18" charset="0"/>
                                  <a:cs typeface="Times New Roman" panose="02020603050405020304" pitchFamily="18" charset="0"/>
                                </a:rPr>
                                <m:t>3</m:t>
                              </m:r>
                              <m:r>
                                <m:rPr>
                                  <m:nor/>
                                </m:rPr>
                                <a:rPr lang="en-US" altLang="zh-CN" b="1" dirty="0">
                                  <a:latin typeface="Times New Roman" panose="02020603050405020304" pitchFamily="18" charset="0"/>
                                  <a:cs typeface="Times New Roman" panose="02020603050405020304" pitchFamily="18" charset="0"/>
                                </a:rPr>
                                <m:t>)</m:t>
                              </m:r>
                            </m:e>
                          </m:d>
                        </m:e>
                      </m:func>
                    </m:oMath>
                  </m:oMathPara>
                </a14:m>
                <a:endParaRPr lang="zh-CN" altLang="en-US" dirty="0"/>
              </a:p>
            </p:txBody>
          </p:sp>
        </mc:Choice>
        <mc:Fallback xmlns="">
          <p:sp>
            <p:nvSpPr>
              <p:cNvPr id="65542" name="Rectangle 25"/>
              <p:cNvSpPr>
                <a:spLocks noRot="1" noChangeAspect="1" noMove="1" noResize="1" noEditPoints="1" noAdjustHandles="1" noChangeArrowheads="1" noChangeShapeType="1" noTextEdit="1"/>
              </p:cNvSpPr>
              <p:nvPr/>
            </p:nvSpPr>
            <p:spPr bwMode="auto">
              <a:xfrm>
                <a:off x="0" y="3160712"/>
                <a:ext cx="4093937" cy="1454885"/>
              </a:xfrm>
              <a:prstGeom prst="rect">
                <a:avLst/>
              </a:prstGeom>
              <a:blipFill>
                <a:blip r:embed="rId3"/>
                <a:stretch>
                  <a:fillRect l="-1488" t="-251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65545" name="Rectangle 30"/>
          <p:cNvSpPr>
            <a:spLocks noChangeArrowheads="1"/>
          </p:cNvSpPr>
          <p:nvPr/>
        </p:nvSpPr>
        <p:spPr bwMode="auto">
          <a:xfrm>
            <a:off x="827088" y="1543050"/>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sp>
        <p:nvSpPr>
          <p:cNvPr id="65546" name="Rectangle 31"/>
          <p:cNvSpPr>
            <a:spLocks noChangeArrowheads="1"/>
          </p:cNvSpPr>
          <p:nvPr/>
        </p:nvSpPr>
        <p:spPr bwMode="auto">
          <a:xfrm>
            <a:off x="827088" y="1543050"/>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sp>
        <p:nvSpPr>
          <p:cNvPr id="65547" name="Rectangle 33"/>
          <p:cNvSpPr>
            <a:spLocks noChangeArrowheads="1"/>
          </p:cNvSpPr>
          <p:nvPr/>
        </p:nvSpPr>
        <p:spPr bwMode="auto">
          <a:xfrm>
            <a:off x="827088" y="134299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sp>
        <p:nvSpPr>
          <p:cNvPr id="65548" name="Rectangle 35"/>
          <p:cNvSpPr>
            <a:spLocks noChangeArrowheads="1"/>
          </p:cNvSpPr>
          <p:nvPr/>
        </p:nvSpPr>
        <p:spPr bwMode="auto">
          <a:xfrm>
            <a:off x="827088" y="134299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sp>
        <p:nvSpPr>
          <p:cNvPr id="65549" name="Rectangle 37"/>
          <p:cNvSpPr>
            <a:spLocks noChangeArrowheads="1"/>
          </p:cNvSpPr>
          <p:nvPr/>
        </p:nvSpPr>
        <p:spPr bwMode="auto">
          <a:xfrm>
            <a:off x="827088" y="134299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graphicFrame>
        <p:nvGraphicFramePr>
          <p:cNvPr id="17" name="Object 205"/>
          <p:cNvGraphicFramePr>
            <a:graphicFrameLocks noChangeAspect="1"/>
          </p:cNvGraphicFramePr>
          <p:nvPr>
            <p:extLst/>
          </p:nvPr>
        </p:nvGraphicFramePr>
        <p:xfrm>
          <a:off x="1486847" y="1125783"/>
          <a:ext cx="7657153" cy="2035565"/>
        </p:xfrm>
        <a:graphic>
          <a:graphicData uri="http://schemas.openxmlformats.org/presentationml/2006/ole">
            <mc:AlternateContent xmlns:mc="http://schemas.openxmlformats.org/markup-compatibility/2006">
              <mc:Choice xmlns:v="urn:schemas-microsoft-com:vml" Requires="v">
                <p:oleObj spid="_x0000_s226325" name="文档" r:id="rId4" imgW="5914752" imgH="2394101" progId="Word.Document.8">
                  <p:embed/>
                </p:oleObj>
              </mc:Choice>
              <mc:Fallback>
                <p:oleObj name="文档" r:id="rId4" imgW="5914752" imgH="2394101" progId="Word.Document.8">
                  <p:embed/>
                  <p:pic>
                    <p:nvPicPr>
                      <p:cNvPr id="17" name="Object 20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6847" y="1125783"/>
                        <a:ext cx="7657153" cy="2035565"/>
                      </a:xfrm>
                      <a:prstGeom prst="rect">
                        <a:avLst/>
                      </a:prstGeom>
                      <a:noFill/>
                      <a:ln>
                        <a:noFill/>
                      </a:ln>
                      <a:effectLst/>
                      <a:extLst/>
                    </p:spPr>
                  </p:pic>
                </p:oleObj>
              </mc:Fallback>
            </mc:AlternateContent>
          </a:graphicData>
        </a:graphic>
      </p:graphicFrame>
      <mc:AlternateContent xmlns:mc="http://schemas.openxmlformats.org/markup-compatibility/2006" xmlns:a14="http://schemas.microsoft.com/office/drawing/2010/main">
        <mc:Choice Requires="a14">
          <p:graphicFrame>
            <p:nvGraphicFramePr>
              <p:cNvPr id="20" name="表格 19"/>
              <p:cNvGraphicFramePr>
                <a:graphicFrameLocks noGrp="1"/>
              </p:cNvGraphicFramePr>
              <p:nvPr>
                <p:extLst>
                  <p:ext uri="{D42A27DB-BD31-4B8C-83A1-F6EECF244321}">
                    <p14:modId xmlns:p14="http://schemas.microsoft.com/office/powerpoint/2010/main" val="4025123832"/>
                  </p:ext>
                </p:extLst>
              </p:nvPr>
            </p:nvGraphicFramePr>
            <p:xfrm>
              <a:off x="4096641" y="0"/>
              <a:ext cx="5044655" cy="6918960"/>
            </p:xfrm>
            <a:graphic>
              <a:graphicData uri="http://schemas.openxmlformats.org/drawingml/2006/table">
                <a:tbl>
                  <a:tblPr firstRow="1" bandRow="1">
                    <a:tableStyleId>{5C22544A-7EE6-4342-B048-85BDC9FD1C3A}</a:tableStyleId>
                  </a:tblPr>
                  <a:tblGrid>
                    <a:gridCol w="392303">
                      <a:extLst>
                        <a:ext uri="{9D8B030D-6E8A-4147-A177-3AD203B41FA5}">
                          <a16:colId xmlns:a16="http://schemas.microsoft.com/office/drawing/2014/main" val="1816936163"/>
                        </a:ext>
                      </a:extLst>
                    </a:gridCol>
                    <a:gridCol w="469646">
                      <a:extLst>
                        <a:ext uri="{9D8B030D-6E8A-4147-A177-3AD203B41FA5}">
                          <a16:colId xmlns:a16="http://schemas.microsoft.com/office/drawing/2014/main" val="1250546864"/>
                        </a:ext>
                      </a:extLst>
                    </a:gridCol>
                    <a:gridCol w="395478">
                      <a:extLst>
                        <a:ext uri="{9D8B030D-6E8A-4147-A177-3AD203B41FA5}">
                          <a16:colId xmlns:a16="http://schemas.microsoft.com/office/drawing/2014/main" val="3166245595"/>
                        </a:ext>
                      </a:extLst>
                    </a:gridCol>
                    <a:gridCol w="968185">
                      <a:extLst>
                        <a:ext uri="{9D8B030D-6E8A-4147-A177-3AD203B41FA5}">
                          <a16:colId xmlns:a16="http://schemas.microsoft.com/office/drawing/2014/main" val="3148481169"/>
                        </a:ext>
                      </a:extLst>
                    </a:gridCol>
                    <a:gridCol w="698881">
                      <a:extLst>
                        <a:ext uri="{9D8B030D-6E8A-4147-A177-3AD203B41FA5}">
                          <a16:colId xmlns:a16="http://schemas.microsoft.com/office/drawing/2014/main" val="644265878"/>
                        </a:ext>
                      </a:extLst>
                    </a:gridCol>
                    <a:gridCol w="1143879">
                      <a:extLst>
                        <a:ext uri="{9D8B030D-6E8A-4147-A177-3AD203B41FA5}">
                          <a16:colId xmlns:a16="http://schemas.microsoft.com/office/drawing/2014/main" val="938889560"/>
                        </a:ext>
                      </a:extLst>
                    </a:gridCol>
                    <a:gridCol w="557877">
                      <a:extLst>
                        <a:ext uri="{9D8B030D-6E8A-4147-A177-3AD203B41FA5}">
                          <a16:colId xmlns:a16="http://schemas.microsoft.com/office/drawing/2014/main" val="1613744912"/>
                        </a:ext>
                      </a:extLst>
                    </a:gridCol>
                    <a:gridCol w="418406">
                      <a:extLst>
                        <a:ext uri="{9D8B030D-6E8A-4147-A177-3AD203B41FA5}">
                          <a16:colId xmlns:a16="http://schemas.microsoft.com/office/drawing/2014/main" val="2765978471"/>
                        </a:ext>
                      </a:extLst>
                    </a:gridCol>
                  </a:tblGrid>
                  <a:tr h="387921">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0" i="1" smtClean="0">
                                        <a:latin typeface="Cambria Math" panose="02040503050406030204" pitchFamily="18" charset="0"/>
                                      </a:rPr>
                                      <m:t>2</m:t>
                                    </m:r>
                                  </m:sub>
                                </m:sSub>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1" i="1" smtClean="0">
                                        <a:latin typeface="Cambria Math" panose="02040503050406030204" pitchFamily="18" charset="0"/>
                                      </a:rPr>
                                      <m:t>𝒙</m:t>
                                    </m:r>
                                  </m:e>
                                  <m:sub>
                                    <m:r>
                                      <a:rPr lang="en-US" altLang="zh-CN" sz="1400" b="1" i="1" smtClean="0">
                                        <a:latin typeface="Cambria Math" panose="02040503050406030204" pitchFamily="18" charset="0"/>
                                      </a:rPr>
                                      <m:t>𝟐</m:t>
                                    </m:r>
                                  </m:sub>
                                </m:sSub>
                                <m:r>
                                  <m:rPr>
                                    <m:nor/>
                                  </m:rPr>
                                  <a:rPr lang="zh-CN" altLang="en-US" sz="1400" dirty="0"/>
                                  <m:t> </m:t>
                                </m:r>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𝟑</m:t>
                                    </m:r>
                                  </m:sub>
                                </m:sSub>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i="1">
                                        <a:latin typeface="Cambria Math" panose="02040503050406030204" pitchFamily="18" charset="0"/>
                                      </a:rPr>
                                      <m:t>𝑣</m:t>
                                    </m:r>
                                  </m:e>
                                  <m:sub>
                                    <m:r>
                                      <a:rPr lang="en-US" altLang="zh-CN" sz="1400" b="1" i="1" smtClean="0">
                                        <a:latin typeface="Cambria Math" panose="02040503050406030204" pitchFamily="18" charset="0"/>
                                      </a:rPr>
                                      <m:t>𝟐</m:t>
                                    </m:r>
                                  </m:sub>
                                </m:sSub>
                                <m:d>
                                  <m:dPr>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𝟐</m:t>
                                        </m:r>
                                      </m:sub>
                                    </m:sSub>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b="1" i="1" smtClean="0">
                                            <a:latin typeface="Cambria Math" panose="02040503050406030204" pitchFamily="18" charset="0"/>
                                          </a:rPr>
                                          <m:t>𝟐</m:t>
                                        </m:r>
                                      </m:sub>
                                    </m:sSub>
                                  </m:e>
                                </m:d>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𝑓</m:t>
                                    </m:r>
                                  </m:e>
                                  <m:sub>
                                    <m:r>
                                      <a:rPr lang="en-US" altLang="zh-CN" sz="1400" b="1" i="1" smtClean="0">
                                        <a:latin typeface="Cambria Math" panose="02040503050406030204" pitchFamily="18" charset="0"/>
                                      </a:rPr>
                                      <m:t>𝟑</m:t>
                                    </m:r>
                                  </m:sub>
                                </m:sSub>
                                <m:d>
                                  <m:dPr>
                                    <m:ctrlPr>
                                      <a:rPr lang="en-US" altLang="zh-CN" sz="1400" b="0" i="1" smtClean="0">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𝟑</m:t>
                                        </m:r>
                                      </m:sub>
                                    </m:sSub>
                                  </m:e>
                                </m:d>
                              </m:oMath>
                            </m:oMathPara>
                          </a14:m>
                          <a:endParaRPr lang="zh-CN" altLang="en-US" sz="1400" dirty="0"/>
                        </a:p>
                      </a:txBody>
                      <a:tcPr/>
                    </a:tc>
                    <a:tc>
                      <a:txBody>
                        <a:bodyPr/>
                        <a:lstStyle/>
                        <a:p>
                          <a14:m>
                            <m:oMath xmlns:m="http://schemas.openxmlformats.org/officeDocument/2006/math">
                              <m:sSub>
                                <m:sSubPr>
                                  <m:ctrlPr>
                                    <a:rPr lang="en-US" altLang="zh-CN" sz="1400" i="1" smtClean="0">
                                      <a:latin typeface="Cambria Math" panose="02040503050406030204" pitchFamily="18" charset="0"/>
                                    </a:rPr>
                                  </m:ctrlPr>
                                </m:sSubPr>
                                <m:e>
                                  <m:r>
                                    <a:rPr lang="en-US" altLang="zh-CN" sz="1400" i="1">
                                      <a:latin typeface="Cambria Math" panose="02040503050406030204" pitchFamily="18" charset="0"/>
                                    </a:rPr>
                                    <m:t>𝑣</m:t>
                                  </m:r>
                                </m:e>
                                <m:sub>
                                  <m:r>
                                    <a:rPr lang="en-US" altLang="zh-CN" sz="1400" b="1" i="1" smtClean="0">
                                      <a:latin typeface="Cambria Math" panose="02040503050406030204" pitchFamily="18" charset="0"/>
                                    </a:rPr>
                                    <m:t>𝟐</m:t>
                                  </m:r>
                                </m:sub>
                              </m:sSub>
                              <m:d>
                                <m:dPr>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𝟐</m:t>
                                      </m:r>
                                    </m:sub>
                                  </m:sSub>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b="1" i="1" smtClean="0">
                                          <a:latin typeface="Cambria Math" panose="02040503050406030204" pitchFamily="18" charset="0"/>
                                        </a:rPr>
                                        <m:t>𝟐</m:t>
                                      </m:r>
                                    </m:sub>
                                  </m:sSub>
                                </m:e>
                              </m:d>
                            </m:oMath>
                          </a14:m>
                          <a:r>
                            <a:rPr lang="en-US" altLang="zh-CN" sz="1400" dirty="0" smtClean="0"/>
                            <a:t>+</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𝑓</m:t>
                                  </m:r>
                                </m:e>
                                <m:sub>
                                  <m:r>
                                    <a:rPr lang="en-US" altLang="zh-CN" sz="1400" b="1" i="1" smtClean="0">
                                      <a:latin typeface="Cambria Math" panose="02040503050406030204" pitchFamily="18" charset="0"/>
                                    </a:rPr>
                                    <m:t>𝟑</m:t>
                                  </m:r>
                                </m:sub>
                              </m:sSub>
                              <m:d>
                                <m:dPr>
                                  <m:ctrlPr>
                                    <a:rPr lang="en-US" altLang="zh-CN" sz="1400" b="0" i="1" smtClean="0">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𝟑</m:t>
                                      </m:r>
                                    </m:sub>
                                  </m:sSub>
                                </m:e>
                              </m:d>
                            </m:oMath>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𝑓</m:t>
                                    </m:r>
                                  </m:e>
                                  <m:sub>
                                    <m:r>
                                      <a:rPr lang="en-US" altLang="zh-CN" sz="1400" b="1" i="1" smtClean="0">
                                        <a:latin typeface="Cambria Math" panose="02040503050406030204" pitchFamily="18" charset="0"/>
                                      </a:rPr>
                                      <m:t>𝟐</m:t>
                                    </m:r>
                                  </m:sub>
                                </m:sSub>
                                <m:d>
                                  <m:dPr>
                                    <m:ctrlPr>
                                      <a:rPr lang="en-US" altLang="zh-CN" sz="1400" b="0" i="1" smtClean="0">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𝟐</m:t>
                                        </m:r>
                                      </m:sub>
                                    </m:sSub>
                                  </m:e>
                                </m:d>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CN" sz="1400" i="1" smtClean="0">
                                        <a:latin typeface="Cambria Math" panose="02040503050406030204" pitchFamily="18" charset="0"/>
                                      </a:rPr>
                                    </m:ctrlPr>
                                  </m:sSubSupPr>
                                  <m:e>
                                    <m:r>
                                      <a:rPr lang="en-US" altLang="zh-CN" sz="1400" b="1" i="1" smtClean="0">
                                        <a:latin typeface="Cambria Math" panose="02040503050406030204" pitchFamily="18" charset="0"/>
                                      </a:rPr>
                                      <m:t>𝒙</m:t>
                                    </m:r>
                                  </m:e>
                                  <m:sub>
                                    <m:r>
                                      <a:rPr lang="en-US" altLang="zh-CN" sz="1400" b="1" i="1" smtClean="0">
                                        <a:latin typeface="Cambria Math" panose="02040503050406030204" pitchFamily="18" charset="0"/>
                                      </a:rPr>
                                      <m:t>𝟐</m:t>
                                    </m:r>
                                  </m:sub>
                                  <m:sup>
                                    <m:r>
                                      <a:rPr lang="en-US" altLang="zh-CN" sz="1400" b="1" i="1" smtClean="0">
                                        <a:latin typeface="Cambria Math" panose="02040503050406030204" pitchFamily="18" charset="0"/>
                                      </a:rPr>
                                      <m:t>∗</m:t>
                                    </m:r>
                                  </m:sup>
                                </m:sSubSup>
                              </m:oMath>
                            </m:oMathPara>
                          </a14:m>
                          <a:endParaRPr lang="zh-CN" altLang="en-US" sz="1400" dirty="0"/>
                        </a:p>
                      </a:txBody>
                      <a:tcPr/>
                    </a:tc>
                    <a:extLst>
                      <a:ext uri="{0D108BD9-81ED-4DB2-BD59-A6C34878D82A}">
                        <a16:rowId xmlns:a16="http://schemas.microsoft.com/office/drawing/2014/main" val="37799757"/>
                      </a:ext>
                    </a:extLst>
                  </a:tr>
                  <a:tr h="273826">
                    <a:tc>
                      <a:txBody>
                        <a:bodyPr/>
                        <a:lstStyle/>
                        <a:p>
                          <a:r>
                            <a:rPr lang="en-US" altLang="zh-CN" sz="1400" dirty="0" smtClean="0"/>
                            <a:t>0</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smtClean="0"/>
                            <a:t>0</a:t>
                          </a:r>
                          <a:endParaRPr lang="zh-CN" altLang="en-US" sz="1400" dirty="0"/>
                        </a:p>
                      </a:txBody>
                      <a:tcPr/>
                    </a:tc>
                    <a:extLst>
                      <a:ext uri="{0D108BD9-81ED-4DB2-BD59-A6C34878D82A}">
                        <a16:rowId xmlns:a16="http://schemas.microsoft.com/office/drawing/2014/main" val="699033535"/>
                      </a:ext>
                    </a:extLst>
                  </a:tr>
                  <a:tr h="273826">
                    <a:tc rowSpan="2">
                      <a:txBody>
                        <a:bodyPr/>
                        <a:lstStyle/>
                        <a:p>
                          <a:r>
                            <a:rPr lang="en-US" altLang="zh-CN" sz="1400" dirty="0" smtClean="0"/>
                            <a:t>1</a:t>
                          </a:r>
                          <a:endParaRPr lang="zh-CN" altLang="en-US" sz="1400" dirty="0"/>
                        </a:p>
                      </a:txBody>
                      <a:tcPr/>
                    </a:tc>
                    <a:tc>
                      <a:txBody>
                        <a:bodyPr/>
                        <a:lstStyle/>
                        <a:p>
                          <a:pPr/>
                          <a14:m>
                            <m:oMathPara xmlns:m="http://schemas.openxmlformats.org/officeDocument/2006/math">
                              <m:oMathParaPr>
                                <m:jc m:val="left"/>
                              </m:oMathParaPr>
                              <m:oMath xmlns:m="http://schemas.openxmlformats.org/officeDocument/2006/math">
                                <m:r>
                                  <a:rPr lang="en-US" altLang="zh-CN" sz="1400" i="1" smtClean="0">
                                    <a:latin typeface="Cambria Math" panose="02040503050406030204" pitchFamily="18" charset="0"/>
                                  </a:rPr>
                                  <m:t>0</m:t>
                                </m:r>
                              </m:oMath>
                            </m:oMathPara>
                          </a14:m>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4</a:t>
                          </a:r>
                          <a:endParaRPr lang="zh-CN" altLang="en-US" sz="1400" dirty="0"/>
                        </a:p>
                      </a:txBody>
                      <a:tcPr/>
                    </a:tc>
                    <a:tc rowSpan="2">
                      <a:txBody>
                        <a:bodyPr/>
                        <a:lstStyle/>
                        <a:p>
                          <a:pPr algn="l"/>
                          <a:r>
                            <a:rPr lang="en-US" altLang="zh-CN" sz="1400" dirty="0" smtClean="0"/>
                            <a:t>5</a:t>
                          </a:r>
                          <a:endParaRPr lang="zh-CN" altLang="en-US" sz="1400" dirty="0"/>
                        </a:p>
                      </a:txBody>
                      <a:tcPr/>
                    </a:tc>
                    <a:tc rowSpan="2">
                      <a:txBody>
                        <a:bodyPr/>
                        <a:lstStyle/>
                        <a:p>
                          <a:pPr/>
                          <a14:m>
                            <m:oMathPara xmlns:m="http://schemas.openxmlformats.org/officeDocument/2006/math">
                              <m:oMathParaPr>
                                <m:jc m:val="left"/>
                              </m:oMathParaPr>
                              <m:oMath xmlns:m="http://schemas.openxmlformats.org/officeDocument/2006/math">
                                <m:r>
                                  <a:rPr lang="en-US" altLang="zh-CN" sz="1400" b="0" i="1" smtClean="0">
                                    <a:latin typeface="Cambria Math" panose="02040503050406030204" pitchFamily="18" charset="0"/>
                                  </a:rPr>
                                  <m:t>1</m:t>
                                </m:r>
                              </m:oMath>
                            </m:oMathPara>
                          </a14:m>
                          <a:endParaRPr lang="zh-CN" altLang="en-US" sz="1400" dirty="0"/>
                        </a:p>
                      </a:txBody>
                      <a:tcPr/>
                    </a:tc>
                    <a:extLst>
                      <a:ext uri="{0D108BD9-81ED-4DB2-BD59-A6C34878D82A}">
                        <a16:rowId xmlns:a16="http://schemas.microsoft.com/office/drawing/2014/main" val="3736361684"/>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5</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091311635"/>
                      </a:ext>
                    </a:extLst>
                  </a:tr>
                  <a:tr h="273826">
                    <a:tc rowSpan="3">
                      <a:txBody>
                        <a:bodyPr/>
                        <a:lstStyle/>
                        <a:p>
                          <a:r>
                            <a:rPr lang="en-US" altLang="zh-CN" sz="1400" dirty="0" smtClean="0"/>
                            <a:t>2</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6</a:t>
                          </a:r>
                          <a:endParaRPr lang="zh-CN" altLang="en-US" sz="1400" dirty="0"/>
                        </a:p>
                      </a:txBody>
                      <a:tcPr/>
                    </a:tc>
                    <a:tc rowSpan="3">
                      <a:txBody>
                        <a:bodyPr/>
                        <a:lstStyle/>
                        <a:p>
                          <a:pPr algn="l"/>
                          <a:r>
                            <a:rPr lang="en-US" altLang="zh-CN" sz="1400" dirty="0" smtClean="0"/>
                            <a:t>10</a:t>
                          </a:r>
                          <a:endParaRPr lang="zh-CN" altLang="en-US" sz="1400" dirty="0"/>
                        </a:p>
                      </a:txBody>
                      <a:tcPr/>
                    </a:tc>
                    <a:tc rowSpan="3">
                      <a:txBody>
                        <a:bodyPr/>
                        <a:lstStyle/>
                        <a:p>
                          <a:r>
                            <a:rPr lang="en-US" altLang="zh-CN" sz="1400" dirty="0" smtClean="0"/>
                            <a:t>2</a:t>
                          </a:r>
                          <a:endParaRPr lang="zh-CN" altLang="en-US" sz="1400" dirty="0"/>
                        </a:p>
                      </a:txBody>
                      <a:tcPr/>
                    </a:tc>
                    <a:extLst>
                      <a:ext uri="{0D108BD9-81ED-4DB2-BD59-A6C34878D82A}">
                        <a16:rowId xmlns:a16="http://schemas.microsoft.com/office/drawing/2014/main" val="752238598"/>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9</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2944060997"/>
                      </a:ext>
                    </a:extLst>
                  </a:tr>
                  <a:tr h="273826">
                    <a:tc vMerge="1">
                      <a:txBody>
                        <a:bodyPr/>
                        <a:lstStyle/>
                        <a:p>
                          <a:endParaRPr lang="zh-CN" altLang="en-US" sz="1000" dirty="0"/>
                        </a:p>
                      </a:txBody>
                      <a:tcPr/>
                    </a:tc>
                    <a:tc>
                      <a:txBody>
                        <a:bodyPr/>
                        <a:lstStyle/>
                        <a:p>
                          <a:r>
                            <a:rPr lang="en-US" altLang="zh-CN" sz="1400" dirty="0" smtClean="0"/>
                            <a:t>2</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10</a:t>
                          </a:r>
                          <a:endParaRPr lang="zh-CN" altLang="en-US" sz="1400" dirty="0"/>
                        </a:p>
                      </a:txBody>
                      <a:tcPr/>
                    </a:tc>
                    <a:tc vMerge="1">
                      <a:txBody>
                        <a:bodyPr/>
                        <a:lstStyle/>
                        <a:p>
                          <a:pPr algn="l"/>
                          <a:endParaRPr lang="zh-CN" altLang="en-US" sz="1400" dirty="0"/>
                        </a:p>
                      </a:txBody>
                      <a:tcPr/>
                    </a:tc>
                    <a:tc vMerge="1">
                      <a:txBody>
                        <a:bodyPr/>
                        <a:lstStyle/>
                        <a:p>
                          <a:endParaRPr lang="zh-CN" altLang="en-US" sz="1400" dirty="0"/>
                        </a:p>
                      </a:txBody>
                      <a:tcPr/>
                    </a:tc>
                    <a:extLst>
                      <a:ext uri="{0D108BD9-81ED-4DB2-BD59-A6C34878D82A}">
                        <a16:rowId xmlns:a16="http://schemas.microsoft.com/office/drawing/2014/main" val="3280564706"/>
                      </a:ext>
                    </a:extLst>
                  </a:tr>
                  <a:tr h="273826">
                    <a:tc rowSpan="4">
                      <a:txBody>
                        <a:bodyPr/>
                        <a:lstStyle/>
                        <a:p>
                          <a:r>
                            <a:rPr lang="en-US" altLang="zh-CN" sz="1400" dirty="0" smtClean="0"/>
                            <a:t>3</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0</a:t>
                          </a:r>
                          <a:endParaRPr lang="zh-CN" altLang="en-US" sz="1400" dirty="0"/>
                        </a:p>
                      </a:txBody>
                      <a:tcPr/>
                    </a:tc>
                    <a:tc>
                      <a:txBody>
                        <a:bodyPr/>
                        <a:lstStyle/>
                        <a:p>
                          <a:pPr algn="l"/>
                          <a:r>
                            <a:rPr lang="en-US" altLang="zh-CN" sz="1400" dirty="0" smtClean="0"/>
                            <a:t>3</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pPr algn="l"/>
                          <a:r>
                            <a:rPr lang="en-US" altLang="zh-CN" sz="1400" dirty="0" smtClean="0"/>
                            <a:t>11</a:t>
                          </a:r>
                          <a:endParaRPr lang="zh-CN" altLang="en-US" sz="1400" dirty="0"/>
                        </a:p>
                      </a:txBody>
                      <a:tcPr/>
                    </a:tc>
                    <a:tc rowSpan="4">
                      <a:txBody>
                        <a:bodyPr/>
                        <a:lstStyle/>
                        <a:p>
                          <a:pPr algn="l"/>
                          <a:r>
                            <a:rPr lang="en-US" altLang="zh-CN" sz="1400" dirty="0" smtClean="0"/>
                            <a:t>14</a:t>
                          </a:r>
                          <a:endParaRPr lang="zh-CN" altLang="en-US" sz="1400" dirty="0"/>
                        </a:p>
                      </a:txBody>
                      <a:tcPr/>
                    </a:tc>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extLst>
                      <a:ext uri="{0D108BD9-81ED-4DB2-BD59-A6C34878D82A}">
                        <a16:rowId xmlns:a16="http://schemas.microsoft.com/office/drawing/2014/main" val="3274687360"/>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11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398809992"/>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10</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14</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83290608"/>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431018056"/>
                      </a:ext>
                    </a:extLst>
                  </a:tr>
                  <a:tr h="273826">
                    <a:tc rowSpan="5">
                      <a:txBody>
                        <a:bodyPr/>
                        <a:lstStyle/>
                        <a:p>
                          <a:r>
                            <a:rPr lang="en-US" altLang="zh-CN" sz="1400" dirty="0" smtClean="0"/>
                            <a:t>4</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0</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algn="l"/>
                          <a:r>
                            <a:rPr lang="en-US" altLang="zh-CN" sz="1400" dirty="0" smtClean="0"/>
                            <a:t>12</a:t>
                          </a:r>
                          <a:endParaRPr lang="zh-CN" altLang="en-US" sz="1400" dirty="0"/>
                        </a:p>
                      </a:txBody>
                      <a:tcPr/>
                    </a:tc>
                    <a:tc rowSpan="5">
                      <a:txBody>
                        <a:bodyPr/>
                        <a:lstStyle/>
                        <a:p>
                          <a:pPr algn="l"/>
                          <a:r>
                            <a:rPr lang="en-US" altLang="zh-CN" sz="1400" dirty="0" smtClean="0"/>
                            <a:t>16</a:t>
                          </a:r>
                          <a:endParaRPr lang="zh-CN" altLang="en-US" sz="1400" dirty="0"/>
                        </a:p>
                      </a:txBody>
                      <a:tcPr/>
                    </a:tc>
                    <a:tc rowSpan="5">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1,2</a:t>
                          </a:r>
                          <a:endParaRPr lang="zh-CN" altLang="en-US" sz="1400" dirty="0"/>
                        </a:p>
                      </a:txBody>
                      <a:tcPr/>
                    </a:tc>
                    <a:extLst>
                      <a:ext uri="{0D108BD9-81ED-4DB2-BD59-A6C34878D82A}">
                        <a16:rowId xmlns:a16="http://schemas.microsoft.com/office/drawing/2014/main" val="3492239771"/>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3</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pPr algn="l"/>
                          <a:r>
                            <a:rPr lang="en-US" altLang="zh-CN" sz="1400" dirty="0" smtClean="0"/>
                            <a:t>16</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669469633"/>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10</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16</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229726497"/>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15</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109707333"/>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4</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229460570"/>
                      </a:ext>
                    </a:extLst>
                  </a:tr>
                  <a:tr h="273826">
                    <a:tc rowSpan="6">
                      <a:txBody>
                        <a:bodyPr/>
                        <a:lstStyle/>
                        <a:p>
                          <a:r>
                            <a:rPr lang="en-US" altLang="zh-CN" sz="1400" dirty="0" smtClean="0"/>
                            <a:t>5</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0</a:t>
                          </a:r>
                          <a:endParaRPr lang="zh-CN" altLang="en-US" sz="1400" dirty="0"/>
                        </a:p>
                      </a:txBody>
                      <a:tcPr/>
                    </a:tc>
                    <a:tc>
                      <a:txBody>
                        <a:bodyPr/>
                        <a:lstStyle/>
                        <a:p>
                          <a:pPr algn="l"/>
                          <a:r>
                            <a:rPr lang="en-US" altLang="zh-CN" sz="1400" dirty="0" smtClean="0"/>
                            <a:t>5</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algn="l"/>
                          <a:r>
                            <a:rPr lang="en-US" altLang="zh-CN" sz="1400" dirty="0" smtClean="0"/>
                            <a:t>12</a:t>
                          </a:r>
                          <a:endParaRPr lang="zh-CN" altLang="en-US" sz="1400" dirty="0"/>
                        </a:p>
                      </a:txBody>
                      <a:tcPr/>
                    </a:tc>
                    <a:tc rowSpan="6">
                      <a:txBody>
                        <a:bodyPr/>
                        <a:lstStyle/>
                        <a:p>
                          <a:pPr algn="l"/>
                          <a:r>
                            <a:rPr lang="en-US" altLang="zh-CN" sz="1400" dirty="0" smtClean="0"/>
                            <a:t>21</a:t>
                          </a:r>
                          <a:endParaRPr lang="zh-CN" altLang="en-US" sz="1400" dirty="0"/>
                        </a:p>
                      </a:txBody>
                      <a:tcPr/>
                    </a:tc>
                    <a:tc rowSpan="6">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extLst>
                      <a:ext uri="{0D108BD9-81ED-4DB2-BD59-A6C34878D82A}">
                        <a16:rowId xmlns:a16="http://schemas.microsoft.com/office/drawing/2014/main" val="2837520744"/>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algn="l"/>
                          <a:r>
                            <a:rPr lang="en-US" altLang="zh-CN" sz="1400" dirty="0" smtClean="0"/>
                            <a:t>17</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944048361"/>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tc>
                      <a:txBody>
                        <a:bodyPr/>
                        <a:lstStyle/>
                        <a:p>
                          <a:pPr algn="l"/>
                          <a:r>
                            <a:rPr lang="en-US" altLang="zh-CN" sz="1400" dirty="0" smtClean="0"/>
                            <a:t>3</a:t>
                          </a:r>
                          <a:endParaRPr lang="zh-CN" altLang="en-US" sz="1400" dirty="0"/>
                        </a:p>
                      </a:txBody>
                      <a:tcPr/>
                    </a:tc>
                    <a:tc>
                      <a:txBody>
                        <a:bodyPr/>
                        <a:lstStyle/>
                        <a:p>
                          <a:r>
                            <a:rPr lang="en-US" altLang="zh-CN" sz="1400" dirty="0" smtClean="0"/>
                            <a:t>10</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pPr algn="l"/>
                          <a:r>
                            <a:rPr lang="en-US" altLang="zh-CN" sz="1400" dirty="0" smtClean="0"/>
                            <a:t>21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070078167"/>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17</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703505372"/>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4</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15</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772623321"/>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5</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993121255"/>
                      </a:ext>
                    </a:extLst>
                  </a:tr>
                </a:tbl>
              </a:graphicData>
            </a:graphic>
          </p:graphicFrame>
        </mc:Choice>
        <mc:Fallback xmlns="">
          <p:graphicFrame>
            <p:nvGraphicFramePr>
              <p:cNvPr id="20" name="表格 19"/>
              <p:cNvGraphicFramePr>
                <a:graphicFrameLocks noGrp="1"/>
              </p:cNvGraphicFramePr>
              <p:nvPr>
                <p:extLst>
                  <p:ext uri="{D42A27DB-BD31-4B8C-83A1-F6EECF244321}">
                    <p14:modId xmlns:p14="http://schemas.microsoft.com/office/powerpoint/2010/main" val="4025123832"/>
                  </p:ext>
                </p:extLst>
              </p:nvPr>
            </p:nvGraphicFramePr>
            <p:xfrm>
              <a:off x="4096641" y="0"/>
              <a:ext cx="5044655" cy="6918960"/>
            </p:xfrm>
            <a:graphic>
              <a:graphicData uri="http://schemas.openxmlformats.org/drawingml/2006/table">
                <a:tbl>
                  <a:tblPr firstRow="1" bandRow="1">
                    <a:tableStyleId>{5C22544A-7EE6-4342-B048-85BDC9FD1C3A}</a:tableStyleId>
                  </a:tblPr>
                  <a:tblGrid>
                    <a:gridCol w="392303">
                      <a:extLst>
                        <a:ext uri="{9D8B030D-6E8A-4147-A177-3AD203B41FA5}">
                          <a16:colId xmlns:a16="http://schemas.microsoft.com/office/drawing/2014/main" val="1816936163"/>
                        </a:ext>
                      </a:extLst>
                    </a:gridCol>
                    <a:gridCol w="469646">
                      <a:extLst>
                        <a:ext uri="{9D8B030D-6E8A-4147-A177-3AD203B41FA5}">
                          <a16:colId xmlns:a16="http://schemas.microsoft.com/office/drawing/2014/main" val="1250546864"/>
                        </a:ext>
                      </a:extLst>
                    </a:gridCol>
                    <a:gridCol w="395478">
                      <a:extLst>
                        <a:ext uri="{9D8B030D-6E8A-4147-A177-3AD203B41FA5}">
                          <a16:colId xmlns:a16="http://schemas.microsoft.com/office/drawing/2014/main" val="3166245595"/>
                        </a:ext>
                      </a:extLst>
                    </a:gridCol>
                    <a:gridCol w="968185">
                      <a:extLst>
                        <a:ext uri="{9D8B030D-6E8A-4147-A177-3AD203B41FA5}">
                          <a16:colId xmlns:a16="http://schemas.microsoft.com/office/drawing/2014/main" val="3148481169"/>
                        </a:ext>
                      </a:extLst>
                    </a:gridCol>
                    <a:gridCol w="698881">
                      <a:extLst>
                        <a:ext uri="{9D8B030D-6E8A-4147-A177-3AD203B41FA5}">
                          <a16:colId xmlns:a16="http://schemas.microsoft.com/office/drawing/2014/main" val="644265878"/>
                        </a:ext>
                      </a:extLst>
                    </a:gridCol>
                    <a:gridCol w="1143879">
                      <a:extLst>
                        <a:ext uri="{9D8B030D-6E8A-4147-A177-3AD203B41FA5}">
                          <a16:colId xmlns:a16="http://schemas.microsoft.com/office/drawing/2014/main" val="938889560"/>
                        </a:ext>
                      </a:extLst>
                    </a:gridCol>
                    <a:gridCol w="557877">
                      <a:extLst>
                        <a:ext uri="{9D8B030D-6E8A-4147-A177-3AD203B41FA5}">
                          <a16:colId xmlns:a16="http://schemas.microsoft.com/office/drawing/2014/main" val="1613744912"/>
                        </a:ext>
                      </a:extLst>
                    </a:gridCol>
                    <a:gridCol w="418406">
                      <a:extLst>
                        <a:ext uri="{9D8B030D-6E8A-4147-A177-3AD203B41FA5}">
                          <a16:colId xmlns:a16="http://schemas.microsoft.com/office/drawing/2014/main" val="2765978471"/>
                        </a:ext>
                      </a:extLst>
                    </a:gridCol>
                  </a:tblGrid>
                  <a:tr h="518160">
                    <a:tc>
                      <a:txBody>
                        <a:bodyPr/>
                        <a:lstStyle/>
                        <a:p>
                          <a:endParaRPr lang="zh-CN"/>
                        </a:p>
                      </a:txBody>
                      <a:tcPr>
                        <a:blipFill>
                          <a:blip r:embed="rId6"/>
                          <a:stretch>
                            <a:fillRect l="-3125" t="-2353" r="-1200000" b="-1247059"/>
                          </a:stretch>
                        </a:blipFill>
                      </a:tcPr>
                    </a:tc>
                    <a:tc>
                      <a:txBody>
                        <a:bodyPr/>
                        <a:lstStyle/>
                        <a:p>
                          <a:endParaRPr lang="zh-CN"/>
                        </a:p>
                      </a:txBody>
                      <a:tcPr>
                        <a:blipFill>
                          <a:blip r:embed="rId6"/>
                          <a:stretch>
                            <a:fillRect l="-85714" t="-2353" r="-897403" b="-1247059"/>
                          </a:stretch>
                        </a:blipFill>
                      </a:tcPr>
                    </a:tc>
                    <a:tc>
                      <a:txBody>
                        <a:bodyPr/>
                        <a:lstStyle/>
                        <a:p>
                          <a:endParaRPr lang="zh-CN"/>
                        </a:p>
                      </a:txBody>
                      <a:tcPr>
                        <a:blipFill>
                          <a:blip r:embed="rId6"/>
                          <a:stretch>
                            <a:fillRect l="-220000" t="-2353" r="-963077" b="-1247059"/>
                          </a:stretch>
                        </a:blipFill>
                      </a:tcPr>
                    </a:tc>
                    <a:tc>
                      <a:txBody>
                        <a:bodyPr/>
                        <a:lstStyle/>
                        <a:p>
                          <a:endParaRPr lang="zh-CN"/>
                        </a:p>
                      </a:txBody>
                      <a:tcPr>
                        <a:blipFill>
                          <a:blip r:embed="rId6"/>
                          <a:stretch>
                            <a:fillRect l="-130818" t="-2353" r="-293711" b="-1247059"/>
                          </a:stretch>
                        </a:blipFill>
                      </a:tcPr>
                    </a:tc>
                    <a:tc>
                      <a:txBody>
                        <a:bodyPr/>
                        <a:lstStyle/>
                        <a:p>
                          <a:endParaRPr lang="zh-CN"/>
                        </a:p>
                      </a:txBody>
                      <a:tcPr>
                        <a:blipFill>
                          <a:blip r:embed="rId6"/>
                          <a:stretch>
                            <a:fillRect l="-319130" t="-2353" r="-306087" b="-1247059"/>
                          </a:stretch>
                        </a:blipFill>
                      </a:tcPr>
                    </a:tc>
                    <a:tc>
                      <a:txBody>
                        <a:bodyPr/>
                        <a:lstStyle/>
                        <a:p>
                          <a:endParaRPr lang="zh-CN"/>
                        </a:p>
                      </a:txBody>
                      <a:tcPr>
                        <a:blipFill>
                          <a:blip r:embed="rId6"/>
                          <a:stretch>
                            <a:fillRect l="-256383" t="-2353" r="-87234" b="-1247059"/>
                          </a:stretch>
                        </a:blipFill>
                      </a:tcPr>
                    </a:tc>
                    <a:tc>
                      <a:txBody>
                        <a:bodyPr/>
                        <a:lstStyle/>
                        <a:p>
                          <a:endParaRPr lang="zh-CN"/>
                        </a:p>
                      </a:txBody>
                      <a:tcPr>
                        <a:blipFill>
                          <a:blip r:embed="rId6"/>
                          <a:stretch>
                            <a:fillRect l="-736264" t="-2353" r="-80220" b="-1247059"/>
                          </a:stretch>
                        </a:blipFill>
                      </a:tcPr>
                    </a:tc>
                    <a:tc>
                      <a:txBody>
                        <a:bodyPr/>
                        <a:lstStyle/>
                        <a:p>
                          <a:endParaRPr lang="zh-CN"/>
                        </a:p>
                      </a:txBody>
                      <a:tcPr>
                        <a:blipFill>
                          <a:blip r:embed="rId6"/>
                          <a:stretch>
                            <a:fillRect l="-1102899" t="-2353" r="-5797" b="-1247059"/>
                          </a:stretch>
                        </a:blipFill>
                      </a:tcPr>
                    </a:tc>
                    <a:extLst>
                      <a:ext uri="{0D108BD9-81ED-4DB2-BD59-A6C34878D82A}">
                        <a16:rowId xmlns:a16="http://schemas.microsoft.com/office/drawing/2014/main" val="37799757"/>
                      </a:ext>
                    </a:extLst>
                  </a:tr>
                  <a:tr h="304800">
                    <a:tc>
                      <a:txBody>
                        <a:bodyPr/>
                        <a:lstStyle/>
                        <a:p>
                          <a:pPr/>
                          <a:r>
                            <a:rPr lang="en-US" altLang="zh-CN" sz="1400" dirty="0" smtClean="0"/>
                            <a:t>0</a:t>
                          </a:r>
                          <a:endParaRPr lang="zh-CN" altLang="en-US" sz="1400" dirty="0"/>
                        </a:p>
                      </a:txBody>
                      <a:tcPr/>
                    </a:tc>
                    <a:tc>
                      <a:txBody>
                        <a:bodyPr/>
                        <a:lstStyle/>
                        <a:p>
                          <a:pPr/>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r>
                            <a:rPr lang="en-US" altLang="zh-CN" sz="1400" smtClean="0"/>
                            <a:t>0</a:t>
                          </a:r>
                          <a:endParaRPr lang="zh-CN" altLang="en-US" sz="1400" dirty="0"/>
                        </a:p>
                      </a:txBody>
                      <a:tcPr/>
                    </a:tc>
                    <a:extLst>
                      <a:ext uri="{0D108BD9-81ED-4DB2-BD59-A6C34878D82A}">
                        <a16:rowId xmlns:a16="http://schemas.microsoft.com/office/drawing/2014/main" val="699033535"/>
                      </a:ext>
                    </a:extLst>
                  </a:tr>
                  <a:tr h="304800">
                    <a:tc rowSpan="2">
                      <a:txBody>
                        <a:bodyPr/>
                        <a:lstStyle/>
                        <a:p>
                          <a:pPr/>
                          <a:r>
                            <a:rPr lang="en-US" altLang="zh-CN" sz="1400" dirty="0" smtClean="0"/>
                            <a:t>1</a:t>
                          </a:r>
                          <a:endParaRPr lang="zh-CN" altLang="en-US" sz="1400" dirty="0"/>
                        </a:p>
                      </a:txBody>
                      <a:tcPr/>
                    </a:tc>
                    <a:tc>
                      <a:txBody>
                        <a:bodyPr/>
                        <a:lstStyle/>
                        <a:p>
                          <a:endParaRPr lang="zh-CN"/>
                        </a:p>
                      </a:txBody>
                      <a:tcPr>
                        <a:blipFill>
                          <a:blip r:embed="rId6"/>
                          <a:stretch>
                            <a:fillRect l="-85714" t="-274000" r="-897403" b="-1920000"/>
                          </a:stretch>
                        </a:blipFill>
                      </a:tcPr>
                    </a:tc>
                    <a:tc>
                      <a:txBody>
                        <a:bodyPr/>
                        <a:lstStyle/>
                        <a:p>
                          <a:pPr algn="l"/>
                          <a:r>
                            <a:rPr lang="en-US" altLang="zh-CN" sz="1400" dirty="0" smtClean="0"/>
                            <a:t>1</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4</a:t>
                          </a:r>
                          <a:endParaRPr lang="zh-CN" altLang="en-US" sz="1400" dirty="0"/>
                        </a:p>
                      </a:txBody>
                      <a:tcPr/>
                    </a:tc>
                    <a:tc rowSpan="2">
                      <a:txBody>
                        <a:bodyPr/>
                        <a:lstStyle/>
                        <a:p>
                          <a:pPr algn="l"/>
                          <a:r>
                            <a:rPr lang="en-US" altLang="zh-CN" sz="1400" dirty="0" smtClean="0"/>
                            <a:t>5</a:t>
                          </a:r>
                          <a:endParaRPr lang="zh-CN" altLang="en-US" sz="1400" dirty="0"/>
                        </a:p>
                      </a:txBody>
                      <a:tcPr/>
                    </a:tc>
                    <a:tc rowSpan="2">
                      <a:txBody>
                        <a:bodyPr/>
                        <a:lstStyle/>
                        <a:p>
                          <a:endParaRPr lang="zh-CN"/>
                        </a:p>
                      </a:txBody>
                      <a:tcPr>
                        <a:blipFill>
                          <a:blip r:embed="rId6"/>
                          <a:stretch>
                            <a:fillRect l="-1102899" t="-137000" r="-5797" b="-910000"/>
                          </a:stretch>
                        </a:blipFill>
                      </a:tcPr>
                    </a:tc>
                    <a:extLst>
                      <a:ext uri="{0D108BD9-81ED-4DB2-BD59-A6C34878D82A}">
                        <a16:rowId xmlns:a16="http://schemas.microsoft.com/office/drawing/2014/main" val="3736361684"/>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5</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091311635"/>
                      </a:ext>
                    </a:extLst>
                  </a:tr>
                  <a:tr h="304800">
                    <a:tc rowSpan="3">
                      <a:txBody>
                        <a:bodyPr/>
                        <a:lstStyle/>
                        <a:p>
                          <a:pPr/>
                          <a:r>
                            <a:rPr lang="en-US" altLang="zh-CN" sz="1400" dirty="0" smtClean="0"/>
                            <a:t>2</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6</a:t>
                          </a:r>
                          <a:endParaRPr lang="zh-CN" altLang="en-US" sz="1400" dirty="0"/>
                        </a:p>
                      </a:txBody>
                      <a:tcPr/>
                    </a:tc>
                    <a:tc rowSpan="3">
                      <a:txBody>
                        <a:bodyPr/>
                        <a:lstStyle/>
                        <a:p>
                          <a:pPr algn="l"/>
                          <a:r>
                            <a:rPr lang="en-US" altLang="zh-CN" sz="1400" dirty="0" smtClean="0"/>
                            <a:t>10</a:t>
                          </a:r>
                          <a:endParaRPr lang="zh-CN" altLang="en-US" sz="1400" dirty="0"/>
                        </a:p>
                      </a:txBody>
                      <a:tcPr/>
                    </a:tc>
                    <a:tc rowSpan="3">
                      <a:txBody>
                        <a:bodyPr/>
                        <a:lstStyle/>
                        <a:p>
                          <a:r>
                            <a:rPr lang="en-US" altLang="zh-CN" sz="1400" dirty="0" smtClean="0"/>
                            <a:t>2</a:t>
                          </a:r>
                          <a:endParaRPr lang="zh-CN" altLang="en-US" sz="1400" dirty="0"/>
                        </a:p>
                      </a:txBody>
                      <a:tcPr/>
                    </a:tc>
                    <a:extLst>
                      <a:ext uri="{0D108BD9-81ED-4DB2-BD59-A6C34878D82A}">
                        <a16:rowId xmlns:a16="http://schemas.microsoft.com/office/drawing/2014/main" val="752238598"/>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9</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2944060997"/>
                      </a:ext>
                    </a:extLst>
                  </a:tr>
                  <a:tr h="304800">
                    <a:tc vMerge="1">
                      <a:txBody>
                        <a:bodyPr/>
                        <a:lstStyle/>
                        <a:p>
                          <a:pPr/>
                          <a:endParaRPr lang="zh-CN" altLang="en-US" sz="1000" dirty="0"/>
                        </a:p>
                      </a:txBody>
                      <a:tcPr/>
                    </a:tc>
                    <a:tc>
                      <a:txBody>
                        <a:bodyPr/>
                        <a:lstStyle/>
                        <a:p>
                          <a:r>
                            <a:rPr lang="en-US" altLang="zh-CN" sz="1400" dirty="0" smtClean="0"/>
                            <a:t>2</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10</a:t>
                          </a:r>
                          <a:endParaRPr lang="zh-CN" altLang="en-US" sz="1400" dirty="0"/>
                        </a:p>
                      </a:txBody>
                      <a:tcPr/>
                    </a:tc>
                    <a:tc vMerge="1">
                      <a:txBody>
                        <a:bodyPr/>
                        <a:lstStyle/>
                        <a:p>
                          <a:pPr algn="l"/>
                          <a:endParaRPr lang="zh-CN" altLang="en-US" sz="1400" dirty="0"/>
                        </a:p>
                      </a:txBody>
                      <a:tcPr/>
                    </a:tc>
                    <a:tc vMerge="1">
                      <a:txBody>
                        <a:bodyPr/>
                        <a:lstStyle/>
                        <a:p>
                          <a:endParaRPr lang="zh-CN" altLang="en-US" sz="1400" dirty="0"/>
                        </a:p>
                      </a:txBody>
                      <a:tcPr/>
                    </a:tc>
                    <a:extLst>
                      <a:ext uri="{0D108BD9-81ED-4DB2-BD59-A6C34878D82A}">
                        <a16:rowId xmlns:a16="http://schemas.microsoft.com/office/drawing/2014/main" val="3280564706"/>
                      </a:ext>
                    </a:extLst>
                  </a:tr>
                  <a:tr h="304800">
                    <a:tc rowSpan="4">
                      <a:txBody>
                        <a:bodyPr/>
                        <a:lstStyle/>
                        <a:p>
                          <a:pPr/>
                          <a:r>
                            <a:rPr lang="en-US" altLang="zh-CN" sz="1400" dirty="0" smtClean="0"/>
                            <a:t>3</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0</a:t>
                          </a:r>
                          <a:endParaRPr lang="zh-CN" altLang="en-US" sz="1400" dirty="0"/>
                        </a:p>
                      </a:txBody>
                      <a:tcPr/>
                    </a:tc>
                    <a:tc>
                      <a:txBody>
                        <a:bodyPr/>
                        <a:lstStyle/>
                        <a:p>
                          <a:pPr algn="l"/>
                          <a:r>
                            <a:rPr lang="en-US" altLang="zh-CN" sz="1400" dirty="0" smtClean="0"/>
                            <a:t>3</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pPr algn="l"/>
                          <a:r>
                            <a:rPr lang="en-US" altLang="zh-CN" sz="1400" dirty="0" smtClean="0"/>
                            <a:t>11</a:t>
                          </a:r>
                          <a:endParaRPr lang="zh-CN" altLang="en-US" sz="1400" dirty="0"/>
                        </a:p>
                      </a:txBody>
                      <a:tcPr/>
                    </a:tc>
                    <a:tc rowSpan="4">
                      <a:txBody>
                        <a:bodyPr/>
                        <a:lstStyle/>
                        <a:p>
                          <a:pPr algn="l"/>
                          <a:r>
                            <a:rPr lang="en-US" altLang="zh-CN" sz="1400" dirty="0" smtClean="0"/>
                            <a:t>14</a:t>
                          </a:r>
                          <a:endParaRPr lang="zh-CN" altLang="en-US" sz="1400" dirty="0"/>
                        </a:p>
                      </a:txBody>
                      <a:tcPr/>
                    </a:tc>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extLst>
                      <a:ext uri="{0D108BD9-81ED-4DB2-BD59-A6C34878D82A}">
                        <a16:rowId xmlns:a16="http://schemas.microsoft.com/office/drawing/2014/main" val="3274687360"/>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11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398809992"/>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10</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14</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83290608"/>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431018056"/>
                      </a:ext>
                    </a:extLst>
                  </a:tr>
                  <a:tr h="304800">
                    <a:tc rowSpan="5">
                      <a:txBody>
                        <a:bodyPr/>
                        <a:lstStyle/>
                        <a:p>
                          <a:pPr/>
                          <a:r>
                            <a:rPr lang="en-US" altLang="zh-CN" sz="1400" dirty="0" smtClean="0"/>
                            <a:t>4</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0</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algn="l"/>
                          <a:r>
                            <a:rPr lang="en-US" altLang="zh-CN" sz="1400" dirty="0" smtClean="0"/>
                            <a:t>12</a:t>
                          </a:r>
                          <a:endParaRPr lang="zh-CN" altLang="en-US" sz="1400" dirty="0"/>
                        </a:p>
                      </a:txBody>
                      <a:tcPr/>
                    </a:tc>
                    <a:tc rowSpan="5">
                      <a:txBody>
                        <a:bodyPr/>
                        <a:lstStyle/>
                        <a:p>
                          <a:pPr algn="l"/>
                          <a:r>
                            <a:rPr lang="en-US" altLang="zh-CN" sz="1400" dirty="0" smtClean="0"/>
                            <a:t>16</a:t>
                          </a:r>
                          <a:endParaRPr lang="zh-CN" altLang="en-US" sz="1400" dirty="0"/>
                        </a:p>
                      </a:txBody>
                      <a:tcPr/>
                    </a:tc>
                    <a:tc rowSpan="5">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1,2</a:t>
                          </a:r>
                          <a:endParaRPr lang="zh-CN" altLang="en-US" sz="1400" dirty="0"/>
                        </a:p>
                      </a:txBody>
                      <a:tcPr/>
                    </a:tc>
                    <a:extLst>
                      <a:ext uri="{0D108BD9-81ED-4DB2-BD59-A6C34878D82A}">
                        <a16:rowId xmlns:a16="http://schemas.microsoft.com/office/drawing/2014/main" val="3492239771"/>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3</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pPr algn="l"/>
                          <a:r>
                            <a:rPr lang="en-US" altLang="zh-CN" sz="1400" dirty="0" smtClean="0"/>
                            <a:t>16</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669469633"/>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10</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16</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229726497"/>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15</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109707333"/>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4</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229460570"/>
                      </a:ext>
                    </a:extLst>
                  </a:tr>
                  <a:tr h="304800">
                    <a:tc rowSpan="6">
                      <a:txBody>
                        <a:bodyPr/>
                        <a:lstStyle/>
                        <a:p>
                          <a:pPr/>
                          <a:r>
                            <a:rPr lang="en-US" altLang="zh-CN" sz="1400" dirty="0" smtClean="0"/>
                            <a:t>5</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0</a:t>
                          </a:r>
                          <a:endParaRPr lang="zh-CN" altLang="en-US" sz="1400" dirty="0"/>
                        </a:p>
                      </a:txBody>
                      <a:tcPr/>
                    </a:tc>
                    <a:tc>
                      <a:txBody>
                        <a:bodyPr/>
                        <a:lstStyle/>
                        <a:p>
                          <a:pPr algn="l"/>
                          <a:r>
                            <a:rPr lang="en-US" altLang="zh-CN" sz="1400" dirty="0" smtClean="0"/>
                            <a:t>5</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algn="l"/>
                          <a:r>
                            <a:rPr lang="en-US" altLang="zh-CN" sz="1400" dirty="0" smtClean="0"/>
                            <a:t>12</a:t>
                          </a:r>
                          <a:endParaRPr lang="zh-CN" altLang="en-US" sz="1400" dirty="0"/>
                        </a:p>
                      </a:txBody>
                      <a:tcPr/>
                    </a:tc>
                    <a:tc rowSpan="6">
                      <a:txBody>
                        <a:bodyPr/>
                        <a:lstStyle/>
                        <a:p>
                          <a:pPr algn="l"/>
                          <a:r>
                            <a:rPr lang="en-US" altLang="zh-CN" sz="1400" dirty="0" smtClean="0"/>
                            <a:t>21</a:t>
                          </a:r>
                          <a:endParaRPr lang="zh-CN" altLang="en-US" sz="1400" dirty="0"/>
                        </a:p>
                      </a:txBody>
                      <a:tcPr/>
                    </a:tc>
                    <a:tc rowSpan="6">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extLst>
                      <a:ext uri="{0D108BD9-81ED-4DB2-BD59-A6C34878D82A}">
                        <a16:rowId xmlns:a16="http://schemas.microsoft.com/office/drawing/2014/main" val="2837520744"/>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algn="l"/>
                          <a:r>
                            <a:rPr lang="en-US" altLang="zh-CN" sz="1400" dirty="0" smtClean="0"/>
                            <a:t>17</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944048361"/>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tc>
                      <a:txBody>
                        <a:bodyPr/>
                        <a:lstStyle/>
                        <a:p>
                          <a:pPr algn="l"/>
                          <a:r>
                            <a:rPr lang="en-US" altLang="zh-CN" sz="1400" dirty="0" smtClean="0"/>
                            <a:t>3</a:t>
                          </a:r>
                          <a:endParaRPr lang="zh-CN" altLang="en-US" sz="1400" dirty="0"/>
                        </a:p>
                      </a:txBody>
                      <a:tcPr/>
                    </a:tc>
                    <a:tc>
                      <a:txBody>
                        <a:bodyPr/>
                        <a:lstStyle/>
                        <a:p>
                          <a:r>
                            <a:rPr lang="en-US" altLang="zh-CN" sz="1400" dirty="0" smtClean="0"/>
                            <a:t>10</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pPr algn="l"/>
                          <a:r>
                            <a:rPr lang="en-US" altLang="zh-CN" sz="1400" dirty="0" smtClean="0"/>
                            <a:t>21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070078167"/>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17</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703505372"/>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4</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15</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772623321"/>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5</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993121255"/>
                      </a:ext>
                    </a:extLst>
                  </a:tr>
                </a:tbl>
              </a:graphicData>
            </a:graphic>
          </p:graphicFrame>
        </mc:Fallback>
      </mc:AlternateContent>
    </p:spTree>
    <p:extLst>
      <p:ext uri="{BB962C8B-B14F-4D97-AF65-F5344CB8AC3E}">
        <p14:creationId xmlns:p14="http://schemas.microsoft.com/office/powerpoint/2010/main" val="423232916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2"/>
          <p:cNvSpPr>
            <a:spLocks noGrp="1" noChangeArrowheads="1"/>
          </p:cNvSpPr>
          <p:nvPr>
            <p:ph type="title"/>
          </p:nvPr>
        </p:nvSpPr>
        <p:spPr/>
        <p:txBody>
          <a:bodyPr/>
          <a:lstStyle/>
          <a:p>
            <a:r>
              <a:rPr lang="en-US" altLang="zh-CN" dirty="0" smtClean="0"/>
              <a:t>8.4.1</a:t>
            </a:r>
            <a:r>
              <a:rPr lang="zh-CN" altLang="en-US" dirty="0"/>
              <a:t>资源分配问题</a:t>
            </a:r>
          </a:p>
        </p:txBody>
      </p:sp>
      <p:sp>
        <p:nvSpPr>
          <p:cNvPr id="2" name="内容占位符 1"/>
          <p:cNvSpPr>
            <a:spLocks noGrp="1"/>
          </p:cNvSpPr>
          <p:nvPr>
            <p:ph idx="1"/>
          </p:nvPr>
        </p:nvSpPr>
        <p:spPr>
          <a:xfrm>
            <a:off x="395536" y="1337268"/>
            <a:ext cx="8280920" cy="904863"/>
          </a:xfrm>
        </p:spPr>
        <p:txBody>
          <a:bodyPr/>
          <a:lstStyle/>
          <a:p>
            <a:r>
              <a:rPr lang="zh-CN" altLang="en-US" dirty="0">
                <a:cs typeface="Times New Roman" panose="02020603050405020304" pitchFamily="18" charset="0"/>
              </a:rPr>
              <a:t>例</a:t>
            </a:r>
            <a:r>
              <a:rPr lang="en-US" altLang="zh-CN" dirty="0" smtClean="0">
                <a:cs typeface="Times New Roman" panose="02020603050405020304" pitchFamily="18" charset="0"/>
              </a:rPr>
              <a:t>8-4</a:t>
            </a:r>
            <a:endParaRPr lang="zh-CN" altLang="en-US" dirty="0"/>
          </a:p>
          <a:p>
            <a:endParaRPr lang="zh-CN" altLang="en-US" dirty="0"/>
          </a:p>
        </p:txBody>
      </p:sp>
      <p:sp>
        <p:nvSpPr>
          <p:cNvPr id="6553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420B52F8-9155-425F-ABB8-CC5A2AB90F7F}" type="slidenum">
              <a:rPr lang="en-US" altLang="zh-CN" sz="1000"/>
              <a:pPr/>
              <a:t>51</a:t>
            </a:fld>
            <a:endParaRPr lang="en-US" altLang="zh-CN" sz="1000"/>
          </a:p>
        </p:txBody>
      </p:sp>
      <mc:AlternateContent xmlns:mc="http://schemas.openxmlformats.org/markup-compatibility/2006" xmlns:a14="http://schemas.microsoft.com/office/drawing/2010/main">
        <mc:Choice Requires="a14">
          <p:sp>
            <p:nvSpPr>
              <p:cNvPr id="65542" name="Rectangle 25"/>
              <p:cNvSpPr>
                <a:spLocks noChangeArrowheads="1"/>
              </p:cNvSpPr>
              <p:nvPr/>
            </p:nvSpPr>
            <p:spPr bwMode="auto">
              <a:xfrm>
                <a:off x="208664" y="2837786"/>
                <a:ext cx="8964488" cy="839332"/>
              </a:xfrm>
              <a:prstGeom prst="rect">
                <a:avLst/>
              </a:prstGeom>
              <a:noFill/>
              <a:ln>
                <a:noFill/>
              </a:ln>
              <a:effectLst/>
              <a:extLst>
                <a:ext uri="{909E8E84-426E-40DD-AFC4-6F175D3DCCD1}">
                  <a14:hiddenFill>
                    <a:solidFill>
                      <a:schemeClr val="accent1"/>
                    </a:solidFill>
                  </a14:hiddenFill>
                </a:ext>
                <a:ext uri="{91240B29-F687-4F45-9708-019B960494DF}">
                  <a14:hiddenLine w="9525" algn="ctr">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indent="0"/>
                <a:r>
                  <a:rPr lang="en-US" altLang="zh-CN" b="1" i="1" dirty="0"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=1</a:t>
                </a:r>
                <a:r>
                  <a:rPr lang="zh-CN" altLang="en-US" b="1" dirty="0" smtClean="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将</a:t>
                </a:r>
                <a:r>
                  <a:rPr lang="en-US" altLang="zh-CN" b="1" dirty="0" smtClean="0">
                    <a:latin typeface="Times New Roman" panose="02020603050405020304" pitchFamily="18" charset="0"/>
                    <a:cs typeface="Times New Roman" panose="02020603050405020304" pitchFamily="18" charset="0"/>
                  </a:rPr>
                  <a:t>s</a:t>
                </a:r>
                <a:r>
                  <a:rPr lang="en-US" altLang="zh-CN" b="1" baseline="-25000" dirty="0" smtClean="0">
                    <a:latin typeface="Times New Roman" panose="02020603050405020304" pitchFamily="18" charset="0"/>
                    <a:cs typeface="Times New Roman" panose="02020603050405020304" pitchFamily="18" charset="0"/>
                  </a:rPr>
                  <a:t>1</a:t>
                </a:r>
                <a:r>
                  <a:rPr lang="zh-CN" altLang="en-US" b="1" dirty="0" smtClean="0">
                    <a:latin typeface="Times New Roman" panose="02020603050405020304" pitchFamily="18" charset="0"/>
                    <a:cs typeface="Times New Roman" panose="02020603050405020304" pitchFamily="18" charset="0"/>
                  </a:rPr>
                  <a:t>台</a:t>
                </a:r>
                <a:r>
                  <a:rPr lang="zh-CN" altLang="en-US" b="1" dirty="0">
                    <a:latin typeface="Times New Roman" panose="02020603050405020304" pitchFamily="18" charset="0"/>
                    <a:cs typeface="Times New Roman" panose="02020603050405020304" pitchFamily="18" charset="0"/>
                  </a:rPr>
                  <a:t>设备</a:t>
                </a:r>
                <a:r>
                  <a:rPr lang="en-US" altLang="zh-CN" b="1" dirty="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s</a:t>
                </a:r>
                <a:r>
                  <a:rPr lang="en-US" altLang="zh-CN" b="1" baseline="-25000" dirty="0" smtClean="0">
                    <a:latin typeface="Times New Roman" panose="02020603050405020304" pitchFamily="18" charset="0"/>
                    <a:cs typeface="Times New Roman" panose="02020603050405020304" pitchFamily="18" charset="0"/>
                  </a:rPr>
                  <a:t>1</a:t>
                </a:r>
                <a:r>
                  <a:rPr lang="en-US" altLang="zh-CN" b="1" dirty="0" smtClean="0">
                    <a:latin typeface="Times New Roman" panose="02020603050405020304" pitchFamily="18" charset="0"/>
                    <a:cs typeface="Times New Roman" panose="02020603050405020304" pitchFamily="18" charset="0"/>
                  </a:rPr>
                  <a:t>=0,1,2,3,4,5</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分配给</a:t>
                </a:r>
                <a:r>
                  <a:rPr lang="zh-CN" altLang="en-US" b="1" dirty="0" smtClean="0">
                    <a:latin typeface="Times New Roman" panose="02020603050405020304" pitchFamily="18" charset="0"/>
                    <a:cs typeface="Times New Roman" panose="02020603050405020304" pitchFamily="18" charset="0"/>
                  </a:rPr>
                  <a:t>工厂甲、乙和丙</a:t>
                </a:r>
                <a:r>
                  <a:rPr lang="zh-CN" altLang="en-US" b="1" dirty="0">
                    <a:latin typeface="Times New Roman" panose="02020603050405020304" pitchFamily="18" charset="0"/>
                    <a:cs typeface="Times New Roman" panose="02020603050405020304" pitchFamily="18" charset="0"/>
                  </a:rPr>
                  <a:t>时</a:t>
                </a:r>
                <a:r>
                  <a:rPr lang="zh-CN" altLang="en-US" b="1" dirty="0" smtClean="0">
                    <a:latin typeface="Times New Roman" panose="02020603050405020304" pitchFamily="18" charset="0"/>
                    <a:cs typeface="Times New Roman" panose="02020603050405020304" pitchFamily="18" charset="0"/>
                  </a:rPr>
                  <a:t>，则</a:t>
                </a:r>
                <a:r>
                  <a:rPr lang="zh-CN" altLang="en-US" b="1" dirty="0">
                    <a:latin typeface="Times New Roman" panose="02020603050405020304" pitchFamily="18" charset="0"/>
                    <a:cs typeface="Times New Roman" panose="02020603050405020304" pitchFamily="18" charset="0"/>
                  </a:rPr>
                  <a:t>最大盈利值为</a:t>
                </a:r>
                <a:endParaRPr lang="en-US" altLang="zh-CN" b="1" dirty="0" smtClean="0">
                  <a:latin typeface="Times New Roman" panose="02020603050405020304" pitchFamily="18" charset="0"/>
                  <a:cs typeface="Times New Roman" panose="02020603050405020304" pitchFamily="18" charset="0"/>
                </a:endParaRPr>
              </a:p>
              <a:p>
                <a:pPr indent="0"/>
                <a14:m>
                  <m:oMathPara xmlns:m="http://schemas.openxmlformats.org/officeDocument/2006/math">
                    <m:oMathParaPr>
                      <m:jc m:val="centerGroup"/>
                    </m:oMathParaPr>
                    <m:oMath xmlns:m="http://schemas.openxmlformats.org/officeDocument/2006/math">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smtClean="0">
                          <a:latin typeface="Times New Roman" panose="02020603050405020304" pitchFamily="18" charset="0"/>
                          <a:cs typeface="Times New Roman" panose="02020603050405020304" pitchFamily="18" charset="0"/>
                        </a:rPr>
                        <m:t>1</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smtClean="0">
                          <a:latin typeface="Times New Roman" panose="02020603050405020304" pitchFamily="18" charset="0"/>
                          <a:cs typeface="Times New Roman" panose="02020603050405020304" pitchFamily="18" charset="0"/>
                        </a:rPr>
                        <m:t>1</m:t>
                      </m:r>
                      <m:r>
                        <m:rPr>
                          <m:nor/>
                        </m:rPr>
                        <a:rPr lang="en-US" altLang="zh-CN" b="1" dirty="0">
                          <a:latin typeface="Times New Roman" panose="020206030504050203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m:t>
                      </m:r>
                      <m:func>
                        <m:funcPr>
                          <m:ctrlPr>
                            <a:rPr lang="en-US" altLang="zh-CN" b="1" i="1">
                              <a:latin typeface="Cambria Math" panose="02040503050406030204" pitchFamily="18" charset="0"/>
                              <a:cs typeface="Times New Roman" panose="02020603050405020304" pitchFamily="18" charset="0"/>
                            </a:rPr>
                          </m:ctrlPr>
                        </m:funcPr>
                        <m:fName>
                          <m:limLow>
                            <m:limLowPr>
                              <m:ctrlPr>
                                <a:rPr lang="en-US" altLang="zh-CN" b="1" i="1">
                                  <a:latin typeface="Cambria Math" panose="02040503050406030204" pitchFamily="18" charset="0"/>
                                  <a:cs typeface="Times New Roman" panose="02020603050405020304" pitchFamily="18" charset="0"/>
                                </a:rPr>
                              </m:ctrlPr>
                            </m:limLowPr>
                            <m:e>
                              <m:r>
                                <m:rPr>
                                  <m:sty m:val="p"/>
                                </m:rPr>
                                <a:rPr lang="en-US" altLang="zh-CN">
                                  <a:latin typeface="Cambria Math" panose="02040503050406030204" pitchFamily="18" charset="0"/>
                                  <a:cs typeface="Times New Roman" panose="02020603050405020304" pitchFamily="18" charset="0"/>
                                </a:rPr>
                                <m:t>max</m:t>
                              </m:r>
                            </m:e>
                            <m:lim>
                              <m:r>
                                <a:rPr lang="en-US" altLang="zh-CN" i="1">
                                  <a:latin typeface="Cambria Math" panose="02040503050406030204" pitchFamily="18" charset="0"/>
                                  <a:cs typeface="Times New Roman" panose="02020603050405020304" pitchFamily="18" charset="0"/>
                                </a:rPr>
                                <m:t>0</m:t>
                              </m:r>
                              <m:r>
                                <a:rPr lang="en-US" altLang="zh-CN"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2</m:t>
                                  </m:r>
                                </m:sub>
                              </m:sSub>
                              <m:r>
                                <a:rPr lang="en-US" altLang="zh-CN"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Cambria Math" panose="02040503050406030204" pitchFamily="18" charset="0"/>
                                      <a:cs typeface="Times New Roman" panose="02020603050405020304" pitchFamily="18" charset="0"/>
                                    </a:rPr>
                                    <m:t>𝑠</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2</m:t>
                                  </m:r>
                                </m:sub>
                              </m:sSub>
                            </m:lim>
                          </m:limLow>
                        </m:fName>
                        <m:e>
                          <m:d>
                            <m:dPr>
                              <m:begChr m:val="{"/>
                              <m:endChr m:val="}"/>
                              <m:ctrlPr>
                                <a:rPr lang="en-US" altLang="zh-CN" b="1" i="1">
                                  <a:latin typeface="Cambria Math" panose="02040503050406030204" pitchFamily="18" charset="0"/>
                                  <a:cs typeface="Times New Roman" panose="02020603050405020304" pitchFamily="18" charset="0"/>
                                </a:rPr>
                              </m:ctrlPr>
                            </m:dPr>
                            <m:e>
                              <m:r>
                                <m:rPr>
                                  <m:nor/>
                                </m:rPr>
                                <a:rPr lang="en-US" altLang="zh-CN" b="1" i="1" dirty="0">
                                  <a:latin typeface="Times New Roman" panose="02020603050405020304" pitchFamily="18" charset="0"/>
                                  <a:cs typeface="Times New Roman" panose="02020603050405020304" pitchFamily="18" charset="0"/>
                                </a:rPr>
                                <m:t>v</m:t>
                              </m:r>
                              <m:r>
                                <m:rPr>
                                  <m:nor/>
                                </m:rPr>
                                <a:rPr lang="en-US" altLang="zh-CN" b="1" i="1" baseline="-25000" dirty="0" smtClean="0">
                                  <a:latin typeface="Times New Roman" panose="02020603050405020304" pitchFamily="18" charset="0"/>
                                  <a:cs typeface="Times New Roman" panose="02020603050405020304" pitchFamily="18" charset="0"/>
                                </a:rPr>
                                <m:t>1</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smtClean="0">
                                  <a:latin typeface="Times New Roman" panose="02020603050405020304" pitchFamily="18" charset="0"/>
                                  <a:cs typeface="Times New Roman" panose="02020603050405020304" pitchFamily="18" charset="0"/>
                                </a:rPr>
                                <m:t>1</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 </m:t>
                              </m:r>
                              <m:sSub>
                                <m:sSubPr>
                                  <m:ctrlPr>
                                    <a:rPr lang="en-US" altLang="zh-CN" b="1" i="1" dirty="0">
                                      <a:latin typeface="Cambria Math" panose="02040503050406030204" pitchFamily="18" charset="0"/>
                                      <a:cs typeface="Times New Roman" panose="02020603050405020304" pitchFamily="18" charset="0"/>
                                    </a:rPr>
                                  </m:ctrlPr>
                                </m:sSubPr>
                                <m:e>
                                  <m:r>
                                    <a:rPr lang="en-US" altLang="zh-CN" b="1" i="1" dirty="0">
                                      <a:latin typeface="Cambria Math" panose="02040503050406030204" pitchFamily="18" charset="0"/>
                                      <a:cs typeface="Times New Roman" panose="02020603050405020304" pitchFamily="18" charset="0"/>
                                    </a:rPr>
                                    <m:t>𝒙</m:t>
                                  </m:r>
                                </m:e>
                                <m:sub>
                                  <m:r>
                                    <a:rPr lang="en-US" altLang="zh-CN" b="1" i="1" dirty="0" smtClean="0">
                                      <a:latin typeface="Cambria Math" panose="02040503050406030204" pitchFamily="18" charset="0"/>
                                      <a:cs typeface="Times New Roman" panose="02020603050405020304" pitchFamily="18" charset="0"/>
                                    </a:rPr>
                                    <m:t>𝟏</m:t>
                                  </m:r>
                                </m:sub>
                              </m:sSub>
                              <m:r>
                                <m:rPr>
                                  <m:nor/>
                                </m:rPr>
                                <a:rPr lang="en-US" altLang="zh-CN" b="1" dirty="0">
                                  <a:latin typeface="Times New Roman" panose="020206030504050203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smtClean="0">
                                  <a:latin typeface="Times New Roman" panose="02020603050405020304" pitchFamily="18" charset="0"/>
                                  <a:cs typeface="Times New Roman" panose="02020603050405020304" pitchFamily="18" charset="0"/>
                                </a:rPr>
                                <m:t>2</m:t>
                              </m:r>
                              <m:r>
                                <a:rPr lang="en-US" altLang="zh-CN" b="1" i="1" baseline="-25000" dirty="0">
                                  <a:latin typeface="Cambria Math" panose="02040503050406030204" pitchFamily="18" charset="0"/>
                                  <a:cs typeface="Times New Roman" panose="02020603050405020304" pitchFamily="18" charset="0"/>
                                </a:rPr>
                                <m:t> </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smtClean="0">
                                  <a:latin typeface="Times New Roman" panose="02020603050405020304" pitchFamily="18" charset="0"/>
                                  <a:cs typeface="Times New Roman" panose="02020603050405020304" pitchFamily="18" charset="0"/>
                                </a:rPr>
                                <m:t>2</m:t>
                              </m:r>
                              <m:r>
                                <m:rPr>
                                  <m:nor/>
                                </m:rPr>
                                <a:rPr lang="en-US" altLang="zh-CN" b="1" dirty="0">
                                  <a:latin typeface="Times New Roman" panose="02020603050405020304" pitchFamily="18" charset="0"/>
                                  <a:cs typeface="Times New Roman" panose="02020603050405020304" pitchFamily="18" charset="0"/>
                                </a:rPr>
                                <m:t>)</m:t>
                              </m:r>
                            </m:e>
                          </m:d>
                        </m:e>
                      </m:func>
                    </m:oMath>
                  </m:oMathPara>
                </a14:m>
                <a:endParaRPr lang="zh-CN" altLang="en-US" dirty="0"/>
              </a:p>
            </p:txBody>
          </p:sp>
        </mc:Choice>
        <mc:Fallback xmlns="">
          <p:sp>
            <p:nvSpPr>
              <p:cNvPr id="65542" name="Rectangle 25"/>
              <p:cNvSpPr>
                <a:spLocks noRot="1" noChangeAspect="1" noMove="1" noResize="1" noEditPoints="1" noAdjustHandles="1" noChangeArrowheads="1" noChangeShapeType="1" noTextEdit="1"/>
              </p:cNvSpPr>
              <p:nvPr/>
            </p:nvSpPr>
            <p:spPr bwMode="auto">
              <a:xfrm>
                <a:off x="208664" y="2837786"/>
                <a:ext cx="8964488" cy="839332"/>
              </a:xfrm>
              <a:prstGeom prst="rect">
                <a:avLst/>
              </a:prstGeom>
              <a:blipFill>
                <a:blip r:embed="rId3"/>
                <a:stretch>
                  <a:fillRect l="-680" t="-510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65545" name="Rectangle 30"/>
          <p:cNvSpPr>
            <a:spLocks noChangeArrowheads="1"/>
          </p:cNvSpPr>
          <p:nvPr/>
        </p:nvSpPr>
        <p:spPr bwMode="auto">
          <a:xfrm>
            <a:off x="827088" y="1543050"/>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sp>
        <p:nvSpPr>
          <p:cNvPr id="65546" name="Rectangle 31"/>
          <p:cNvSpPr>
            <a:spLocks noChangeArrowheads="1"/>
          </p:cNvSpPr>
          <p:nvPr/>
        </p:nvSpPr>
        <p:spPr bwMode="auto">
          <a:xfrm>
            <a:off x="827088" y="1543050"/>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sp>
        <p:nvSpPr>
          <p:cNvPr id="65547" name="Rectangle 33"/>
          <p:cNvSpPr>
            <a:spLocks noChangeArrowheads="1"/>
          </p:cNvSpPr>
          <p:nvPr/>
        </p:nvSpPr>
        <p:spPr bwMode="auto">
          <a:xfrm>
            <a:off x="827088" y="134299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sp>
        <p:nvSpPr>
          <p:cNvPr id="65548" name="Rectangle 35"/>
          <p:cNvSpPr>
            <a:spLocks noChangeArrowheads="1"/>
          </p:cNvSpPr>
          <p:nvPr/>
        </p:nvSpPr>
        <p:spPr bwMode="auto">
          <a:xfrm>
            <a:off x="827088" y="134299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sp>
        <p:nvSpPr>
          <p:cNvPr id="65549" name="Rectangle 37"/>
          <p:cNvSpPr>
            <a:spLocks noChangeArrowheads="1"/>
          </p:cNvSpPr>
          <p:nvPr/>
        </p:nvSpPr>
        <p:spPr bwMode="auto">
          <a:xfrm>
            <a:off x="827088" y="134299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graphicFrame>
        <p:nvGraphicFramePr>
          <p:cNvPr id="17" name="Object 205"/>
          <p:cNvGraphicFramePr>
            <a:graphicFrameLocks noChangeAspect="1"/>
          </p:cNvGraphicFramePr>
          <p:nvPr>
            <p:extLst/>
          </p:nvPr>
        </p:nvGraphicFramePr>
        <p:xfrm>
          <a:off x="1486847" y="1125783"/>
          <a:ext cx="7657153" cy="2035565"/>
        </p:xfrm>
        <a:graphic>
          <a:graphicData uri="http://schemas.openxmlformats.org/presentationml/2006/ole">
            <mc:AlternateContent xmlns:mc="http://schemas.openxmlformats.org/markup-compatibility/2006">
              <mc:Choice xmlns:v="urn:schemas-microsoft-com:vml" Requires="v">
                <p:oleObj spid="_x0000_s227346" name="文档" r:id="rId4" imgW="5914752" imgH="2394101" progId="Word.Document.8">
                  <p:embed/>
                </p:oleObj>
              </mc:Choice>
              <mc:Fallback>
                <p:oleObj name="文档" r:id="rId4" imgW="5914752" imgH="2394101" progId="Word.Document.8">
                  <p:embed/>
                  <p:pic>
                    <p:nvPicPr>
                      <p:cNvPr id="17" name="Object 20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6847" y="1125783"/>
                        <a:ext cx="7657153" cy="2035565"/>
                      </a:xfrm>
                      <a:prstGeom prst="rect">
                        <a:avLst/>
                      </a:prstGeom>
                      <a:noFill/>
                      <a:ln>
                        <a:noFill/>
                      </a:ln>
                      <a:effectLst/>
                      <a:extLst/>
                    </p:spPr>
                  </p:pic>
                </p:oleObj>
              </mc:Fallback>
            </mc:AlternateContent>
          </a:graphicData>
        </a:graphic>
      </p:graphicFrame>
      <mc:AlternateContent xmlns:mc="http://schemas.openxmlformats.org/markup-compatibility/2006" xmlns:a14="http://schemas.microsoft.com/office/drawing/2010/main">
        <mc:Choice Requires="a14">
          <p:graphicFrame>
            <p:nvGraphicFramePr>
              <p:cNvPr id="20" name="表格 19"/>
              <p:cNvGraphicFramePr>
                <a:graphicFrameLocks noGrp="1"/>
              </p:cNvGraphicFramePr>
              <p:nvPr>
                <p:extLst>
                  <p:ext uri="{D42A27DB-BD31-4B8C-83A1-F6EECF244321}">
                    <p14:modId xmlns:p14="http://schemas.microsoft.com/office/powerpoint/2010/main" val="1581126252"/>
                  </p:ext>
                </p:extLst>
              </p:nvPr>
            </p:nvGraphicFramePr>
            <p:xfrm>
              <a:off x="1486847" y="3638520"/>
              <a:ext cx="6829571" cy="2560320"/>
            </p:xfrm>
            <a:graphic>
              <a:graphicData uri="http://schemas.openxmlformats.org/drawingml/2006/table">
                <a:tbl>
                  <a:tblPr firstRow="1" bandRow="1">
                    <a:tableStyleId>{5C22544A-7EE6-4342-B048-85BDC9FD1C3A}</a:tableStyleId>
                  </a:tblPr>
                  <a:tblGrid>
                    <a:gridCol w="450450">
                      <a:extLst>
                        <a:ext uri="{9D8B030D-6E8A-4147-A177-3AD203B41FA5}">
                          <a16:colId xmlns:a16="http://schemas.microsoft.com/office/drawing/2014/main" val="1816936163"/>
                        </a:ext>
                      </a:extLst>
                    </a:gridCol>
                    <a:gridCol w="557947">
                      <a:extLst>
                        <a:ext uri="{9D8B030D-6E8A-4147-A177-3AD203B41FA5}">
                          <a16:colId xmlns:a16="http://schemas.microsoft.com/office/drawing/2014/main" val="1250546864"/>
                        </a:ext>
                      </a:extLst>
                    </a:gridCol>
                    <a:gridCol w="459034">
                      <a:extLst>
                        <a:ext uri="{9D8B030D-6E8A-4147-A177-3AD203B41FA5}">
                          <a16:colId xmlns:a16="http://schemas.microsoft.com/office/drawing/2014/main" val="3166245595"/>
                        </a:ext>
                      </a:extLst>
                    </a:gridCol>
                    <a:gridCol w="1231252">
                      <a:extLst>
                        <a:ext uri="{9D8B030D-6E8A-4147-A177-3AD203B41FA5}">
                          <a16:colId xmlns:a16="http://schemas.microsoft.com/office/drawing/2014/main" val="3148481169"/>
                        </a:ext>
                      </a:extLst>
                    </a:gridCol>
                    <a:gridCol w="867831">
                      <a:extLst>
                        <a:ext uri="{9D8B030D-6E8A-4147-A177-3AD203B41FA5}">
                          <a16:colId xmlns:a16="http://schemas.microsoft.com/office/drawing/2014/main" val="644265878"/>
                        </a:ext>
                      </a:extLst>
                    </a:gridCol>
                    <a:gridCol w="1999749">
                      <a:extLst>
                        <a:ext uri="{9D8B030D-6E8A-4147-A177-3AD203B41FA5}">
                          <a16:colId xmlns:a16="http://schemas.microsoft.com/office/drawing/2014/main" val="938889560"/>
                        </a:ext>
                      </a:extLst>
                    </a:gridCol>
                    <a:gridCol w="867831">
                      <a:extLst>
                        <a:ext uri="{9D8B030D-6E8A-4147-A177-3AD203B41FA5}">
                          <a16:colId xmlns:a16="http://schemas.microsoft.com/office/drawing/2014/main" val="1613744912"/>
                        </a:ext>
                      </a:extLst>
                    </a:gridCol>
                    <a:gridCol w="395477">
                      <a:extLst>
                        <a:ext uri="{9D8B030D-6E8A-4147-A177-3AD203B41FA5}">
                          <a16:colId xmlns:a16="http://schemas.microsoft.com/office/drawing/2014/main" val="2765978471"/>
                        </a:ext>
                      </a:extLst>
                    </a:gridCol>
                  </a:tblGrid>
                  <a:tr h="309892">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0" i="1" smtClean="0">
                                        <a:latin typeface="Cambria Math" panose="02040503050406030204" pitchFamily="18" charset="0"/>
                                      </a:rPr>
                                      <m:t>1</m:t>
                                    </m:r>
                                  </m:sub>
                                </m:sSub>
                              </m:oMath>
                            </m:oMathPara>
                          </a14:m>
                          <a:endParaRPr lang="zh-CN" altLang="en-U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1" i="1" smtClean="0">
                                        <a:latin typeface="Cambria Math" panose="02040503050406030204" pitchFamily="18" charset="0"/>
                                      </a:rPr>
                                      <m:t>𝒙</m:t>
                                    </m:r>
                                  </m:e>
                                  <m:sub>
                                    <m:r>
                                      <a:rPr lang="en-US" altLang="zh-CN" sz="1800" b="1" i="1" smtClean="0">
                                        <a:latin typeface="Cambria Math" panose="02040503050406030204" pitchFamily="18" charset="0"/>
                                      </a:rPr>
                                      <m:t>𝟏</m:t>
                                    </m:r>
                                  </m:sub>
                                </m:sSub>
                                <m:r>
                                  <m:rPr>
                                    <m:nor/>
                                  </m:rPr>
                                  <a:rPr lang="zh-CN" altLang="en-US" sz="1800" dirty="0"/>
                                  <m:t> </m:t>
                                </m:r>
                              </m:oMath>
                            </m:oMathPara>
                          </a14:m>
                          <a:endParaRPr lang="zh-CN" altLang="en-U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𝟐</m:t>
                                    </m:r>
                                  </m:sub>
                                </m:sSub>
                              </m:oMath>
                            </m:oMathPara>
                          </a14:m>
                          <a:endParaRPr lang="zh-CN" altLang="en-U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𝟏</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𝟏</m:t>
                                        </m:r>
                                      </m:sub>
                                    </m:sSub>
                                  </m:e>
                                </m:d>
                              </m:oMath>
                            </m:oMathPara>
                          </a14:m>
                          <a:endParaRPr lang="zh-CN" altLang="en-U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𝟐</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𝟐</m:t>
                                        </m:r>
                                      </m:sub>
                                    </m:sSub>
                                  </m:e>
                                </m:d>
                              </m:oMath>
                            </m:oMathPara>
                          </a14:m>
                          <a:endParaRPr lang="zh-CN" altLang="en-US" sz="1800"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𝟏</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𝟏</m:t>
                                      </m:r>
                                    </m:sub>
                                  </m:sSub>
                                </m:e>
                              </m:d>
                            </m:oMath>
                          </a14:m>
                          <a:r>
                            <a:rPr lang="en-US" altLang="zh-CN" sz="1800" dirty="0" smtClean="0"/>
                            <a: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𝟐</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𝟐</m:t>
                                      </m:r>
                                    </m:sub>
                                  </m:sSub>
                                </m:e>
                              </m:d>
                            </m:oMath>
                          </a14:m>
                          <a:endParaRPr lang="zh-CN" altLang="en-U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𝟏</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𝟏</m:t>
                                        </m:r>
                                      </m:sub>
                                    </m:sSub>
                                  </m:e>
                                </m:d>
                              </m:oMath>
                            </m:oMathPara>
                          </a14:m>
                          <a:endParaRPr lang="zh-CN" altLang="en-US" sz="1800" dirty="0"/>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CN" sz="1800" i="1" smtClean="0">
                                        <a:latin typeface="Cambria Math" panose="02040503050406030204" pitchFamily="18" charset="0"/>
                                      </a:rPr>
                                    </m:ctrlPr>
                                  </m:sSubSupPr>
                                  <m:e>
                                    <m:r>
                                      <a:rPr lang="en-US" altLang="zh-CN" sz="1800" b="1" i="1" smtClean="0">
                                        <a:latin typeface="Cambria Math" panose="02040503050406030204" pitchFamily="18" charset="0"/>
                                      </a:rPr>
                                      <m:t>𝒙</m:t>
                                    </m:r>
                                  </m:e>
                                  <m:sub>
                                    <m:r>
                                      <a:rPr lang="en-US" altLang="zh-CN" sz="1800" b="1" i="1" smtClean="0">
                                        <a:latin typeface="Cambria Math" panose="02040503050406030204" pitchFamily="18" charset="0"/>
                                      </a:rPr>
                                      <m:t>𝟏</m:t>
                                    </m:r>
                                  </m:sub>
                                  <m:sup>
                                    <m:r>
                                      <a:rPr lang="en-US" altLang="zh-CN" sz="1800" b="1" i="1" smtClean="0">
                                        <a:latin typeface="Cambria Math" panose="02040503050406030204" pitchFamily="18" charset="0"/>
                                      </a:rPr>
                                      <m:t>∗</m:t>
                                    </m:r>
                                  </m:sup>
                                </m:sSubSup>
                              </m:oMath>
                            </m:oMathPara>
                          </a14:m>
                          <a:endParaRPr lang="zh-CN" altLang="en-US" sz="1800" dirty="0"/>
                        </a:p>
                      </a:txBody>
                      <a:tcPr/>
                    </a:tc>
                    <a:extLst>
                      <a:ext uri="{0D108BD9-81ED-4DB2-BD59-A6C34878D82A}">
                        <a16:rowId xmlns:a16="http://schemas.microsoft.com/office/drawing/2014/main" val="37799757"/>
                      </a:ext>
                    </a:extLst>
                  </a:tr>
                  <a:tr h="309892">
                    <a:tc rowSpan="6">
                      <a:txBody>
                        <a:bodyPr/>
                        <a:lstStyle/>
                        <a:p>
                          <a:r>
                            <a:rPr lang="en-US" altLang="zh-CN" sz="1800" dirty="0" smtClean="0"/>
                            <a:t>5</a:t>
                          </a:r>
                          <a:endParaRPr lang="zh-CN" altLang="en-US" sz="1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0</a:t>
                          </a:r>
                          <a:endParaRPr lang="zh-CN" altLang="en-US" sz="1800" dirty="0"/>
                        </a:p>
                      </a:txBody>
                      <a:tcPr/>
                    </a:tc>
                    <a:tc>
                      <a:txBody>
                        <a:bodyPr/>
                        <a:lstStyle/>
                        <a:p>
                          <a:pPr algn="l"/>
                          <a:r>
                            <a:rPr lang="en-US" altLang="zh-CN" sz="1800" dirty="0" smtClean="0"/>
                            <a:t>5</a:t>
                          </a:r>
                          <a:endParaRPr lang="zh-CN" altLang="en-US" sz="1800" dirty="0"/>
                        </a:p>
                      </a:txBody>
                      <a:tcPr/>
                    </a:tc>
                    <a:tc>
                      <a:txBody>
                        <a:bodyPr/>
                        <a:lstStyle/>
                        <a:p>
                          <a:r>
                            <a:rPr lang="en-US" altLang="zh-CN" sz="1800" dirty="0" smtClean="0"/>
                            <a:t>0</a:t>
                          </a:r>
                          <a:endParaRPr lang="zh-CN" altLang="en-US" sz="1800" dirty="0"/>
                        </a:p>
                      </a:txBody>
                      <a:tcPr/>
                    </a:tc>
                    <a:tc>
                      <a:txBody>
                        <a:bodyPr/>
                        <a:lstStyle/>
                        <a:p>
                          <a:pPr algn="l"/>
                          <a:r>
                            <a:rPr lang="en-US" altLang="zh-CN" sz="1800" dirty="0" smtClean="0"/>
                            <a:t>21</a:t>
                          </a:r>
                          <a:endParaRPr lang="zh-CN" altLang="en-US" sz="1800" dirty="0"/>
                        </a:p>
                      </a:txBody>
                      <a:tcPr/>
                    </a:tc>
                    <a:tc>
                      <a:txBody>
                        <a:bodyPr/>
                        <a:lstStyle/>
                        <a:p>
                          <a:pPr algn="l"/>
                          <a:r>
                            <a:rPr lang="en-US" altLang="zh-CN" sz="1800" dirty="0" smtClean="0"/>
                            <a:t>21</a:t>
                          </a:r>
                          <a:endParaRPr lang="zh-CN" altLang="en-US" sz="1800" dirty="0"/>
                        </a:p>
                      </a:txBody>
                      <a:tcPr/>
                    </a:tc>
                    <a:tc rowSpan="6">
                      <a:txBody>
                        <a:bodyPr/>
                        <a:lstStyle/>
                        <a:p>
                          <a:pPr algn="l"/>
                          <a:r>
                            <a:rPr lang="en-US" altLang="zh-CN" sz="1800" dirty="0" smtClean="0"/>
                            <a:t>21</a:t>
                          </a:r>
                          <a:endParaRPr lang="zh-CN" altLang="en-US" sz="1800" dirty="0"/>
                        </a:p>
                      </a:txBody>
                      <a:tcPr/>
                    </a:tc>
                    <a:tc rowSpan="6">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0,2</a:t>
                          </a:r>
                          <a:endParaRPr lang="zh-CN" altLang="en-US" sz="1800" dirty="0"/>
                        </a:p>
                      </a:txBody>
                      <a:tcPr/>
                    </a:tc>
                    <a:extLst>
                      <a:ext uri="{0D108BD9-81ED-4DB2-BD59-A6C34878D82A}">
                        <a16:rowId xmlns:a16="http://schemas.microsoft.com/office/drawing/2014/main" val="2837520744"/>
                      </a:ext>
                    </a:extLst>
                  </a:tr>
                  <a:tr h="309892">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1</a:t>
                          </a:r>
                          <a:endParaRPr lang="zh-CN" altLang="en-US" sz="1800" dirty="0"/>
                        </a:p>
                      </a:txBody>
                      <a:tcPr/>
                    </a:tc>
                    <a:tc>
                      <a:txBody>
                        <a:bodyPr/>
                        <a:lstStyle/>
                        <a:p>
                          <a:pPr algn="l"/>
                          <a:r>
                            <a:rPr lang="en-US" altLang="zh-CN" sz="1800" dirty="0" smtClean="0"/>
                            <a:t>4</a:t>
                          </a:r>
                          <a:endParaRPr lang="zh-CN" altLang="en-US" sz="1800" dirty="0"/>
                        </a:p>
                      </a:txBody>
                      <a:tcPr/>
                    </a:tc>
                    <a:tc>
                      <a:txBody>
                        <a:bodyPr/>
                        <a:lstStyle/>
                        <a:p>
                          <a:r>
                            <a:rPr lang="en-US" altLang="zh-CN" sz="1800" dirty="0" smtClean="0"/>
                            <a:t>3</a:t>
                          </a:r>
                          <a:endParaRPr lang="zh-CN" altLang="en-US" sz="1800" dirty="0"/>
                        </a:p>
                      </a:txBody>
                      <a:tcPr/>
                    </a:tc>
                    <a:tc>
                      <a:txBody>
                        <a:bodyPr/>
                        <a:lstStyle/>
                        <a:p>
                          <a:pPr algn="l"/>
                          <a:r>
                            <a:rPr lang="en-US" altLang="zh-CN" sz="1800" dirty="0" smtClean="0"/>
                            <a:t>16</a:t>
                          </a:r>
                          <a:endParaRPr lang="zh-CN" altLang="en-US" sz="1800" dirty="0"/>
                        </a:p>
                      </a:txBody>
                      <a:tcPr/>
                    </a:tc>
                    <a:tc>
                      <a:txBody>
                        <a:bodyPr/>
                        <a:lstStyle/>
                        <a:p>
                          <a:pPr algn="l"/>
                          <a:r>
                            <a:rPr lang="en-US" altLang="zh-CN" sz="1800" dirty="0" smtClean="0"/>
                            <a:t>19</a:t>
                          </a:r>
                          <a:endParaRPr lang="zh-CN" altLang="en-US" sz="18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944048361"/>
                      </a:ext>
                    </a:extLst>
                  </a:tr>
                  <a:tr h="309892">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2</a:t>
                          </a:r>
                          <a:endParaRPr lang="zh-CN" altLang="en-US" sz="1800" dirty="0"/>
                        </a:p>
                      </a:txBody>
                      <a:tcPr/>
                    </a:tc>
                    <a:tc>
                      <a:txBody>
                        <a:bodyPr/>
                        <a:lstStyle/>
                        <a:p>
                          <a:pPr algn="l"/>
                          <a:r>
                            <a:rPr lang="en-US" altLang="zh-CN" sz="1800" dirty="0" smtClean="0"/>
                            <a:t>3</a:t>
                          </a:r>
                          <a:endParaRPr lang="zh-CN" altLang="en-US" sz="1800" dirty="0"/>
                        </a:p>
                      </a:txBody>
                      <a:tcPr/>
                    </a:tc>
                    <a:tc>
                      <a:txBody>
                        <a:bodyPr/>
                        <a:lstStyle/>
                        <a:p>
                          <a:r>
                            <a:rPr lang="en-US" altLang="zh-CN" sz="1800" dirty="0" smtClean="0"/>
                            <a:t>7</a:t>
                          </a:r>
                          <a:endParaRPr lang="zh-CN" altLang="en-US" sz="1800" dirty="0"/>
                        </a:p>
                      </a:txBody>
                      <a:tcPr/>
                    </a:tc>
                    <a:tc>
                      <a:txBody>
                        <a:bodyPr/>
                        <a:lstStyle/>
                        <a:p>
                          <a:pPr algn="l"/>
                          <a:r>
                            <a:rPr lang="en-US" altLang="zh-CN" sz="1800" dirty="0" smtClean="0"/>
                            <a:t>14</a:t>
                          </a:r>
                          <a:endParaRPr lang="zh-CN" altLang="en-US" sz="1800" dirty="0"/>
                        </a:p>
                      </a:txBody>
                      <a:tcPr/>
                    </a:tc>
                    <a:tc>
                      <a:txBody>
                        <a:bodyPr/>
                        <a:lstStyle/>
                        <a:p>
                          <a:pPr algn="l"/>
                          <a:r>
                            <a:rPr lang="en-US" altLang="zh-CN" sz="1800" dirty="0" smtClean="0"/>
                            <a:t>21</a:t>
                          </a:r>
                          <a:endParaRPr lang="zh-CN" altLang="en-US" sz="18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070078167"/>
                      </a:ext>
                    </a:extLst>
                  </a:tr>
                  <a:tr h="309892">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3</a:t>
                          </a:r>
                          <a:endParaRPr lang="zh-CN" altLang="en-US" sz="1800" dirty="0"/>
                        </a:p>
                      </a:txBody>
                      <a:tcPr/>
                    </a:tc>
                    <a:tc>
                      <a:txBody>
                        <a:bodyPr/>
                        <a:lstStyle/>
                        <a:p>
                          <a:pPr algn="l"/>
                          <a:r>
                            <a:rPr lang="en-US" altLang="zh-CN" sz="1800" dirty="0" smtClean="0"/>
                            <a:t>2</a:t>
                          </a:r>
                          <a:endParaRPr lang="zh-CN" altLang="en-US" sz="1800" dirty="0"/>
                        </a:p>
                      </a:txBody>
                      <a:tcPr/>
                    </a:tc>
                    <a:tc>
                      <a:txBody>
                        <a:bodyPr/>
                        <a:lstStyle/>
                        <a:p>
                          <a:r>
                            <a:rPr lang="en-US" altLang="zh-CN" sz="1800" dirty="0" smtClean="0"/>
                            <a:t>9</a:t>
                          </a:r>
                          <a:endParaRPr lang="zh-CN" altLang="en-US" sz="1800" dirty="0"/>
                        </a:p>
                      </a:txBody>
                      <a:tcPr/>
                    </a:tc>
                    <a:tc>
                      <a:txBody>
                        <a:bodyPr/>
                        <a:lstStyle/>
                        <a:p>
                          <a:pPr algn="l"/>
                          <a:r>
                            <a:rPr lang="en-US" altLang="zh-CN" sz="1800" dirty="0" smtClean="0"/>
                            <a:t>10</a:t>
                          </a:r>
                          <a:endParaRPr lang="zh-CN" altLang="en-US" sz="1800" dirty="0"/>
                        </a:p>
                      </a:txBody>
                      <a:tcPr/>
                    </a:tc>
                    <a:tc>
                      <a:txBody>
                        <a:bodyPr/>
                        <a:lstStyle/>
                        <a:p>
                          <a:pPr algn="l"/>
                          <a:r>
                            <a:rPr lang="en-US" altLang="zh-CN" sz="1800" dirty="0" smtClean="0"/>
                            <a:t>19</a:t>
                          </a:r>
                          <a:endParaRPr lang="zh-CN" altLang="en-US" sz="18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703505372"/>
                      </a:ext>
                    </a:extLst>
                  </a:tr>
                  <a:tr h="309892">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4</a:t>
                          </a:r>
                          <a:endParaRPr lang="zh-CN" altLang="en-US" sz="1800" dirty="0"/>
                        </a:p>
                      </a:txBody>
                      <a:tcPr/>
                    </a:tc>
                    <a:tc>
                      <a:txBody>
                        <a:bodyPr/>
                        <a:lstStyle/>
                        <a:p>
                          <a:pPr algn="l"/>
                          <a:r>
                            <a:rPr lang="en-US" altLang="zh-CN" sz="1800" dirty="0" smtClean="0"/>
                            <a:t>1</a:t>
                          </a:r>
                          <a:endParaRPr lang="zh-CN" altLang="en-US" sz="1800" dirty="0"/>
                        </a:p>
                      </a:txBody>
                      <a:tcPr/>
                    </a:tc>
                    <a:tc>
                      <a:txBody>
                        <a:bodyPr/>
                        <a:lstStyle/>
                        <a:p>
                          <a:r>
                            <a:rPr lang="en-US" altLang="zh-CN" sz="1800" dirty="0" smtClean="0"/>
                            <a:t>12</a:t>
                          </a:r>
                          <a:endParaRPr lang="zh-CN" altLang="en-US" sz="1800" dirty="0"/>
                        </a:p>
                      </a:txBody>
                      <a:tcPr/>
                    </a:tc>
                    <a:tc>
                      <a:txBody>
                        <a:bodyPr/>
                        <a:lstStyle/>
                        <a:p>
                          <a:pPr algn="l"/>
                          <a:r>
                            <a:rPr lang="en-US" altLang="zh-CN" sz="1800" dirty="0" smtClean="0"/>
                            <a:t>5</a:t>
                          </a:r>
                          <a:endParaRPr lang="zh-CN" altLang="en-US" sz="1800" dirty="0"/>
                        </a:p>
                      </a:txBody>
                      <a:tcPr/>
                    </a:tc>
                    <a:tc>
                      <a:txBody>
                        <a:bodyPr/>
                        <a:lstStyle/>
                        <a:p>
                          <a:pPr algn="l"/>
                          <a:r>
                            <a:rPr lang="en-US" altLang="zh-CN" sz="1800" dirty="0" smtClean="0"/>
                            <a:t>17</a:t>
                          </a:r>
                          <a:endParaRPr lang="zh-CN" altLang="en-US" sz="18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772623321"/>
                      </a:ext>
                    </a:extLst>
                  </a:tr>
                  <a:tr h="309892">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5</a:t>
                          </a:r>
                          <a:endParaRPr lang="zh-CN" altLang="en-US" sz="1800" dirty="0"/>
                        </a:p>
                      </a:txBody>
                      <a:tcPr/>
                    </a:tc>
                    <a:tc>
                      <a:txBody>
                        <a:bodyPr/>
                        <a:lstStyle/>
                        <a:p>
                          <a:pPr algn="l"/>
                          <a:r>
                            <a:rPr lang="en-US" altLang="zh-CN" sz="1800" dirty="0" smtClean="0"/>
                            <a:t>0</a:t>
                          </a:r>
                          <a:endParaRPr lang="zh-CN" altLang="en-US" sz="1800" dirty="0"/>
                        </a:p>
                      </a:txBody>
                      <a:tcPr/>
                    </a:tc>
                    <a:tc>
                      <a:txBody>
                        <a:bodyPr/>
                        <a:lstStyle/>
                        <a:p>
                          <a:r>
                            <a:rPr lang="en-US" altLang="zh-CN" sz="1800" dirty="0" smtClean="0"/>
                            <a:t>13</a:t>
                          </a:r>
                          <a:endParaRPr lang="zh-CN" altLang="en-US" sz="1800" dirty="0"/>
                        </a:p>
                      </a:txBody>
                      <a:tcPr/>
                    </a:tc>
                    <a:tc>
                      <a:txBody>
                        <a:bodyPr/>
                        <a:lstStyle/>
                        <a:p>
                          <a:pPr algn="l"/>
                          <a:r>
                            <a:rPr lang="en-US" altLang="zh-CN" sz="1800" dirty="0" smtClean="0"/>
                            <a:t>0</a:t>
                          </a:r>
                          <a:endParaRPr lang="zh-CN" altLang="en-US" sz="1800" dirty="0"/>
                        </a:p>
                      </a:txBody>
                      <a:tcPr/>
                    </a:tc>
                    <a:tc>
                      <a:txBody>
                        <a:bodyPr/>
                        <a:lstStyle/>
                        <a:p>
                          <a:pPr algn="l"/>
                          <a:r>
                            <a:rPr lang="en-US" altLang="zh-CN" sz="1800" dirty="0" smtClean="0"/>
                            <a:t>13</a:t>
                          </a:r>
                          <a:endParaRPr lang="zh-CN" altLang="en-US" sz="18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993121255"/>
                      </a:ext>
                    </a:extLst>
                  </a:tr>
                </a:tbl>
              </a:graphicData>
            </a:graphic>
          </p:graphicFrame>
        </mc:Choice>
        <mc:Fallback xmlns="">
          <p:graphicFrame>
            <p:nvGraphicFramePr>
              <p:cNvPr id="20" name="表格 19"/>
              <p:cNvGraphicFramePr>
                <a:graphicFrameLocks noGrp="1"/>
              </p:cNvGraphicFramePr>
              <p:nvPr>
                <p:extLst>
                  <p:ext uri="{D42A27DB-BD31-4B8C-83A1-F6EECF244321}">
                    <p14:modId xmlns:p14="http://schemas.microsoft.com/office/powerpoint/2010/main" val="1581126252"/>
                  </p:ext>
                </p:extLst>
              </p:nvPr>
            </p:nvGraphicFramePr>
            <p:xfrm>
              <a:off x="1486847" y="3638520"/>
              <a:ext cx="6829571" cy="2560320"/>
            </p:xfrm>
            <a:graphic>
              <a:graphicData uri="http://schemas.openxmlformats.org/drawingml/2006/table">
                <a:tbl>
                  <a:tblPr firstRow="1" bandRow="1">
                    <a:tableStyleId>{5C22544A-7EE6-4342-B048-85BDC9FD1C3A}</a:tableStyleId>
                  </a:tblPr>
                  <a:tblGrid>
                    <a:gridCol w="450450">
                      <a:extLst>
                        <a:ext uri="{9D8B030D-6E8A-4147-A177-3AD203B41FA5}">
                          <a16:colId xmlns:a16="http://schemas.microsoft.com/office/drawing/2014/main" val="1816936163"/>
                        </a:ext>
                      </a:extLst>
                    </a:gridCol>
                    <a:gridCol w="557947">
                      <a:extLst>
                        <a:ext uri="{9D8B030D-6E8A-4147-A177-3AD203B41FA5}">
                          <a16:colId xmlns:a16="http://schemas.microsoft.com/office/drawing/2014/main" val="1250546864"/>
                        </a:ext>
                      </a:extLst>
                    </a:gridCol>
                    <a:gridCol w="459034">
                      <a:extLst>
                        <a:ext uri="{9D8B030D-6E8A-4147-A177-3AD203B41FA5}">
                          <a16:colId xmlns:a16="http://schemas.microsoft.com/office/drawing/2014/main" val="3166245595"/>
                        </a:ext>
                      </a:extLst>
                    </a:gridCol>
                    <a:gridCol w="1231252">
                      <a:extLst>
                        <a:ext uri="{9D8B030D-6E8A-4147-A177-3AD203B41FA5}">
                          <a16:colId xmlns:a16="http://schemas.microsoft.com/office/drawing/2014/main" val="3148481169"/>
                        </a:ext>
                      </a:extLst>
                    </a:gridCol>
                    <a:gridCol w="867831">
                      <a:extLst>
                        <a:ext uri="{9D8B030D-6E8A-4147-A177-3AD203B41FA5}">
                          <a16:colId xmlns:a16="http://schemas.microsoft.com/office/drawing/2014/main" val="644265878"/>
                        </a:ext>
                      </a:extLst>
                    </a:gridCol>
                    <a:gridCol w="1999749">
                      <a:extLst>
                        <a:ext uri="{9D8B030D-6E8A-4147-A177-3AD203B41FA5}">
                          <a16:colId xmlns:a16="http://schemas.microsoft.com/office/drawing/2014/main" val="938889560"/>
                        </a:ext>
                      </a:extLst>
                    </a:gridCol>
                    <a:gridCol w="867831">
                      <a:extLst>
                        <a:ext uri="{9D8B030D-6E8A-4147-A177-3AD203B41FA5}">
                          <a16:colId xmlns:a16="http://schemas.microsoft.com/office/drawing/2014/main" val="1613744912"/>
                        </a:ext>
                      </a:extLst>
                    </a:gridCol>
                    <a:gridCol w="395477">
                      <a:extLst>
                        <a:ext uri="{9D8B030D-6E8A-4147-A177-3AD203B41FA5}">
                          <a16:colId xmlns:a16="http://schemas.microsoft.com/office/drawing/2014/main" val="2765978471"/>
                        </a:ext>
                      </a:extLst>
                    </a:gridCol>
                  </a:tblGrid>
                  <a:tr h="365760">
                    <a:tc>
                      <a:txBody>
                        <a:bodyPr/>
                        <a:lstStyle/>
                        <a:p>
                          <a:endParaRPr lang="zh-CN"/>
                        </a:p>
                      </a:txBody>
                      <a:tcPr>
                        <a:blipFill>
                          <a:blip r:embed="rId6"/>
                          <a:stretch>
                            <a:fillRect l="-1351" t="-8333" r="-1421622" b="-628333"/>
                          </a:stretch>
                        </a:blipFill>
                      </a:tcPr>
                    </a:tc>
                    <a:tc>
                      <a:txBody>
                        <a:bodyPr/>
                        <a:lstStyle/>
                        <a:p>
                          <a:endParaRPr lang="zh-CN"/>
                        </a:p>
                      </a:txBody>
                      <a:tcPr>
                        <a:blipFill>
                          <a:blip r:embed="rId6"/>
                          <a:stretch>
                            <a:fillRect l="-81522" t="-8333" r="-1043478" b="-628333"/>
                          </a:stretch>
                        </a:blipFill>
                      </a:tcPr>
                    </a:tc>
                    <a:tc>
                      <a:txBody>
                        <a:bodyPr/>
                        <a:lstStyle/>
                        <a:p>
                          <a:endParaRPr lang="zh-CN"/>
                        </a:p>
                      </a:txBody>
                      <a:tcPr>
                        <a:blipFill>
                          <a:blip r:embed="rId6"/>
                          <a:stretch>
                            <a:fillRect l="-222667" t="-8333" r="-1180000" b="-628333"/>
                          </a:stretch>
                        </a:blipFill>
                      </a:tcPr>
                    </a:tc>
                    <a:tc>
                      <a:txBody>
                        <a:bodyPr/>
                        <a:lstStyle/>
                        <a:p>
                          <a:endParaRPr lang="zh-CN"/>
                        </a:p>
                      </a:txBody>
                      <a:tcPr>
                        <a:blipFill>
                          <a:blip r:embed="rId6"/>
                          <a:stretch>
                            <a:fillRect l="-119802" t="-8333" r="-338119" b="-628333"/>
                          </a:stretch>
                        </a:blipFill>
                      </a:tcPr>
                    </a:tc>
                    <a:tc>
                      <a:txBody>
                        <a:bodyPr/>
                        <a:lstStyle/>
                        <a:p>
                          <a:endParaRPr lang="zh-CN"/>
                        </a:p>
                      </a:txBody>
                      <a:tcPr>
                        <a:blipFill>
                          <a:blip r:embed="rId6"/>
                          <a:stretch>
                            <a:fillRect l="-310490" t="-8333" r="-377622" b="-628333"/>
                          </a:stretch>
                        </a:blipFill>
                      </a:tcPr>
                    </a:tc>
                    <a:tc>
                      <a:txBody>
                        <a:bodyPr/>
                        <a:lstStyle/>
                        <a:p>
                          <a:endParaRPr lang="zh-CN"/>
                        </a:p>
                      </a:txBody>
                      <a:tcPr>
                        <a:blipFill>
                          <a:blip r:embed="rId6"/>
                          <a:stretch>
                            <a:fillRect l="-178963" t="-8333" r="-64634" b="-628333"/>
                          </a:stretch>
                        </a:blipFill>
                      </a:tcPr>
                    </a:tc>
                    <a:tc>
                      <a:txBody>
                        <a:bodyPr/>
                        <a:lstStyle/>
                        <a:p>
                          <a:endParaRPr lang="zh-CN"/>
                        </a:p>
                      </a:txBody>
                      <a:tcPr>
                        <a:blipFill>
                          <a:blip r:embed="rId6"/>
                          <a:stretch>
                            <a:fillRect l="-639860" t="-8333" r="-48252" b="-628333"/>
                          </a:stretch>
                        </a:blipFill>
                      </a:tcPr>
                    </a:tc>
                    <a:tc>
                      <a:txBody>
                        <a:bodyPr/>
                        <a:lstStyle/>
                        <a:p>
                          <a:endParaRPr lang="zh-CN"/>
                        </a:p>
                      </a:txBody>
                      <a:tcPr>
                        <a:blipFill>
                          <a:blip r:embed="rId6"/>
                          <a:stretch>
                            <a:fillRect l="-1627692" t="-8333" r="-6154" b="-628333"/>
                          </a:stretch>
                        </a:blipFill>
                      </a:tcPr>
                    </a:tc>
                    <a:extLst>
                      <a:ext uri="{0D108BD9-81ED-4DB2-BD59-A6C34878D82A}">
                        <a16:rowId xmlns:a16="http://schemas.microsoft.com/office/drawing/2014/main" val="37799757"/>
                      </a:ext>
                    </a:extLst>
                  </a:tr>
                  <a:tr h="365760">
                    <a:tc rowSpan="6">
                      <a:txBody>
                        <a:bodyPr/>
                        <a:lstStyle/>
                        <a:p>
                          <a:pPr/>
                          <a:r>
                            <a:rPr lang="en-US" altLang="zh-CN" sz="1800" dirty="0" smtClean="0"/>
                            <a:t>5</a:t>
                          </a:r>
                          <a:endParaRPr lang="zh-CN" altLang="en-US" sz="1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0</a:t>
                          </a:r>
                          <a:endParaRPr lang="zh-CN" altLang="en-US" sz="1800" dirty="0"/>
                        </a:p>
                      </a:txBody>
                      <a:tcPr/>
                    </a:tc>
                    <a:tc>
                      <a:txBody>
                        <a:bodyPr/>
                        <a:lstStyle/>
                        <a:p>
                          <a:pPr algn="l"/>
                          <a:r>
                            <a:rPr lang="en-US" altLang="zh-CN" sz="1800" dirty="0" smtClean="0"/>
                            <a:t>5</a:t>
                          </a:r>
                          <a:endParaRPr lang="zh-CN" altLang="en-US" sz="1800" dirty="0"/>
                        </a:p>
                      </a:txBody>
                      <a:tcPr/>
                    </a:tc>
                    <a:tc>
                      <a:txBody>
                        <a:bodyPr/>
                        <a:lstStyle/>
                        <a:p>
                          <a:r>
                            <a:rPr lang="en-US" altLang="zh-CN" sz="1800" dirty="0" smtClean="0"/>
                            <a:t>0</a:t>
                          </a:r>
                          <a:endParaRPr lang="zh-CN" altLang="en-US" sz="1800" dirty="0"/>
                        </a:p>
                      </a:txBody>
                      <a:tcPr/>
                    </a:tc>
                    <a:tc>
                      <a:txBody>
                        <a:bodyPr/>
                        <a:lstStyle/>
                        <a:p>
                          <a:pPr algn="l"/>
                          <a:r>
                            <a:rPr lang="en-US" altLang="zh-CN" sz="1800" dirty="0" smtClean="0"/>
                            <a:t>21</a:t>
                          </a:r>
                          <a:endParaRPr lang="zh-CN" altLang="en-US" sz="1800" dirty="0"/>
                        </a:p>
                      </a:txBody>
                      <a:tcPr/>
                    </a:tc>
                    <a:tc>
                      <a:txBody>
                        <a:bodyPr/>
                        <a:lstStyle/>
                        <a:p>
                          <a:pPr algn="l"/>
                          <a:r>
                            <a:rPr lang="en-US" altLang="zh-CN" sz="1800" dirty="0" smtClean="0"/>
                            <a:t>21</a:t>
                          </a:r>
                          <a:endParaRPr lang="zh-CN" altLang="en-US" sz="1800" dirty="0"/>
                        </a:p>
                      </a:txBody>
                      <a:tcPr/>
                    </a:tc>
                    <a:tc rowSpan="6">
                      <a:txBody>
                        <a:bodyPr/>
                        <a:lstStyle/>
                        <a:p>
                          <a:pPr algn="l"/>
                          <a:r>
                            <a:rPr lang="en-US" altLang="zh-CN" sz="1800" dirty="0" smtClean="0"/>
                            <a:t>21</a:t>
                          </a:r>
                          <a:endParaRPr lang="zh-CN" altLang="en-US" sz="1800" dirty="0"/>
                        </a:p>
                      </a:txBody>
                      <a:tcPr/>
                    </a:tc>
                    <a:tc rowSpan="6">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0,2</a:t>
                          </a:r>
                          <a:endParaRPr lang="zh-CN" altLang="en-US" sz="1800" dirty="0"/>
                        </a:p>
                      </a:txBody>
                      <a:tcPr/>
                    </a:tc>
                    <a:extLst>
                      <a:ext uri="{0D108BD9-81ED-4DB2-BD59-A6C34878D82A}">
                        <a16:rowId xmlns:a16="http://schemas.microsoft.com/office/drawing/2014/main" val="2837520744"/>
                      </a:ext>
                    </a:extLst>
                  </a:tr>
                  <a:tr h="36576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1</a:t>
                          </a:r>
                          <a:endParaRPr lang="zh-CN" altLang="en-US" sz="1800" dirty="0"/>
                        </a:p>
                      </a:txBody>
                      <a:tcPr/>
                    </a:tc>
                    <a:tc>
                      <a:txBody>
                        <a:bodyPr/>
                        <a:lstStyle/>
                        <a:p>
                          <a:pPr algn="l"/>
                          <a:r>
                            <a:rPr lang="en-US" altLang="zh-CN" sz="1800" dirty="0" smtClean="0"/>
                            <a:t>4</a:t>
                          </a:r>
                          <a:endParaRPr lang="zh-CN" altLang="en-US" sz="1800" dirty="0"/>
                        </a:p>
                      </a:txBody>
                      <a:tcPr/>
                    </a:tc>
                    <a:tc>
                      <a:txBody>
                        <a:bodyPr/>
                        <a:lstStyle/>
                        <a:p>
                          <a:r>
                            <a:rPr lang="en-US" altLang="zh-CN" sz="1800" dirty="0" smtClean="0"/>
                            <a:t>3</a:t>
                          </a:r>
                          <a:endParaRPr lang="zh-CN" altLang="en-US" sz="1800" dirty="0"/>
                        </a:p>
                      </a:txBody>
                      <a:tcPr/>
                    </a:tc>
                    <a:tc>
                      <a:txBody>
                        <a:bodyPr/>
                        <a:lstStyle/>
                        <a:p>
                          <a:pPr algn="l"/>
                          <a:r>
                            <a:rPr lang="en-US" altLang="zh-CN" sz="1800" dirty="0" smtClean="0"/>
                            <a:t>16</a:t>
                          </a:r>
                          <a:endParaRPr lang="zh-CN" altLang="en-US" sz="1800" dirty="0"/>
                        </a:p>
                      </a:txBody>
                      <a:tcPr/>
                    </a:tc>
                    <a:tc>
                      <a:txBody>
                        <a:bodyPr/>
                        <a:lstStyle/>
                        <a:p>
                          <a:pPr algn="l"/>
                          <a:r>
                            <a:rPr lang="en-US" altLang="zh-CN" sz="1800" dirty="0" smtClean="0"/>
                            <a:t>19</a:t>
                          </a:r>
                          <a:endParaRPr lang="zh-CN" altLang="en-US" sz="18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944048361"/>
                      </a:ext>
                    </a:extLst>
                  </a:tr>
                  <a:tr h="36576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2</a:t>
                          </a:r>
                          <a:endParaRPr lang="zh-CN" altLang="en-US" sz="1800" dirty="0"/>
                        </a:p>
                      </a:txBody>
                      <a:tcPr/>
                    </a:tc>
                    <a:tc>
                      <a:txBody>
                        <a:bodyPr/>
                        <a:lstStyle/>
                        <a:p>
                          <a:pPr algn="l"/>
                          <a:r>
                            <a:rPr lang="en-US" altLang="zh-CN" sz="1800" dirty="0" smtClean="0"/>
                            <a:t>3</a:t>
                          </a:r>
                          <a:endParaRPr lang="zh-CN" altLang="en-US" sz="1800" dirty="0"/>
                        </a:p>
                      </a:txBody>
                      <a:tcPr/>
                    </a:tc>
                    <a:tc>
                      <a:txBody>
                        <a:bodyPr/>
                        <a:lstStyle/>
                        <a:p>
                          <a:r>
                            <a:rPr lang="en-US" altLang="zh-CN" sz="1800" dirty="0" smtClean="0"/>
                            <a:t>7</a:t>
                          </a:r>
                          <a:endParaRPr lang="zh-CN" altLang="en-US" sz="1800" dirty="0"/>
                        </a:p>
                      </a:txBody>
                      <a:tcPr/>
                    </a:tc>
                    <a:tc>
                      <a:txBody>
                        <a:bodyPr/>
                        <a:lstStyle/>
                        <a:p>
                          <a:pPr algn="l"/>
                          <a:r>
                            <a:rPr lang="en-US" altLang="zh-CN" sz="1800" dirty="0" smtClean="0"/>
                            <a:t>14</a:t>
                          </a:r>
                          <a:endParaRPr lang="zh-CN" altLang="en-US" sz="1800" dirty="0"/>
                        </a:p>
                      </a:txBody>
                      <a:tcPr/>
                    </a:tc>
                    <a:tc>
                      <a:txBody>
                        <a:bodyPr/>
                        <a:lstStyle/>
                        <a:p>
                          <a:pPr algn="l"/>
                          <a:r>
                            <a:rPr lang="en-US" altLang="zh-CN" sz="1800" dirty="0" smtClean="0"/>
                            <a:t>21</a:t>
                          </a:r>
                          <a:endParaRPr lang="zh-CN" altLang="en-US" sz="18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070078167"/>
                      </a:ext>
                    </a:extLst>
                  </a:tr>
                  <a:tr h="36576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3</a:t>
                          </a:r>
                          <a:endParaRPr lang="zh-CN" altLang="en-US" sz="1800" dirty="0"/>
                        </a:p>
                      </a:txBody>
                      <a:tcPr/>
                    </a:tc>
                    <a:tc>
                      <a:txBody>
                        <a:bodyPr/>
                        <a:lstStyle/>
                        <a:p>
                          <a:pPr algn="l"/>
                          <a:r>
                            <a:rPr lang="en-US" altLang="zh-CN" sz="1800" dirty="0" smtClean="0"/>
                            <a:t>2</a:t>
                          </a:r>
                          <a:endParaRPr lang="zh-CN" altLang="en-US" sz="1800" dirty="0"/>
                        </a:p>
                      </a:txBody>
                      <a:tcPr/>
                    </a:tc>
                    <a:tc>
                      <a:txBody>
                        <a:bodyPr/>
                        <a:lstStyle/>
                        <a:p>
                          <a:r>
                            <a:rPr lang="en-US" altLang="zh-CN" sz="1800" dirty="0" smtClean="0"/>
                            <a:t>9</a:t>
                          </a:r>
                          <a:endParaRPr lang="zh-CN" altLang="en-US" sz="1800" dirty="0"/>
                        </a:p>
                      </a:txBody>
                      <a:tcPr/>
                    </a:tc>
                    <a:tc>
                      <a:txBody>
                        <a:bodyPr/>
                        <a:lstStyle/>
                        <a:p>
                          <a:pPr algn="l"/>
                          <a:r>
                            <a:rPr lang="en-US" altLang="zh-CN" sz="1800" dirty="0" smtClean="0"/>
                            <a:t>10</a:t>
                          </a:r>
                          <a:endParaRPr lang="zh-CN" altLang="en-US" sz="1800" dirty="0"/>
                        </a:p>
                      </a:txBody>
                      <a:tcPr/>
                    </a:tc>
                    <a:tc>
                      <a:txBody>
                        <a:bodyPr/>
                        <a:lstStyle/>
                        <a:p>
                          <a:pPr algn="l"/>
                          <a:r>
                            <a:rPr lang="en-US" altLang="zh-CN" sz="1800" dirty="0" smtClean="0"/>
                            <a:t>19</a:t>
                          </a:r>
                          <a:endParaRPr lang="zh-CN" altLang="en-US" sz="18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703505372"/>
                      </a:ext>
                    </a:extLst>
                  </a:tr>
                  <a:tr h="36576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4</a:t>
                          </a:r>
                          <a:endParaRPr lang="zh-CN" altLang="en-US" sz="1800" dirty="0"/>
                        </a:p>
                      </a:txBody>
                      <a:tcPr/>
                    </a:tc>
                    <a:tc>
                      <a:txBody>
                        <a:bodyPr/>
                        <a:lstStyle/>
                        <a:p>
                          <a:pPr algn="l"/>
                          <a:r>
                            <a:rPr lang="en-US" altLang="zh-CN" sz="1800" dirty="0" smtClean="0"/>
                            <a:t>1</a:t>
                          </a:r>
                          <a:endParaRPr lang="zh-CN" altLang="en-US" sz="1800" dirty="0"/>
                        </a:p>
                      </a:txBody>
                      <a:tcPr/>
                    </a:tc>
                    <a:tc>
                      <a:txBody>
                        <a:bodyPr/>
                        <a:lstStyle/>
                        <a:p>
                          <a:r>
                            <a:rPr lang="en-US" altLang="zh-CN" sz="1800" dirty="0" smtClean="0"/>
                            <a:t>12</a:t>
                          </a:r>
                          <a:endParaRPr lang="zh-CN" altLang="en-US" sz="1800" dirty="0"/>
                        </a:p>
                      </a:txBody>
                      <a:tcPr/>
                    </a:tc>
                    <a:tc>
                      <a:txBody>
                        <a:bodyPr/>
                        <a:lstStyle/>
                        <a:p>
                          <a:pPr algn="l"/>
                          <a:r>
                            <a:rPr lang="en-US" altLang="zh-CN" sz="1800" dirty="0" smtClean="0"/>
                            <a:t>5</a:t>
                          </a:r>
                          <a:endParaRPr lang="zh-CN" altLang="en-US" sz="1800" dirty="0"/>
                        </a:p>
                      </a:txBody>
                      <a:tcPr/>
                    </a:tc>
                    <a:tc>
                      <a:txBody>
                        <a:bodyPr/>
                        <a:lstStyle/>
                        <a:p>
                          <a:pPr algn="l"/>
                          <a:r>
                            <a:rPr lang="en-US" altLang="zh-CN" sz="1800" dirty="0" smtClean="0"/>
                            <a:t>17</a:t>
                          </a:r>
                          <a:endParaRPr lang="zh-CN" altLang="en-US" sz="18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772623321"/>
                      </a:ext>
                    </a:extLst>
                  </a:tr>
                  <a:tr h="36576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5</a:t>
                          </a:r>
                          <a:endParaRPr lang="zh-CN" altLang="en-US" sz="1800" dirty="0"/>
                        </a:p>
                      </a:txBody>
                      <a:tcPr/>
                    </a:tc>
                    <a:tc>
                      <a:txBody>
                        <a:bodyPr/>
                        <a:lstStyle/>
                        <a:p>
                          <a:pPr algn="l"/>
                          <a:r>
                            <a:rPr lang="en-US" altLang="zh-CN" sz="1800" dirty="0" smtClean="0"/>
                            <a:t>0</a:t>
                          </a:r>
                          <a:endParaRPr lang="zh-CN" altLang="en-US" sz="1800" dirty="0"/>
                        </a:p>
                      </a:txBody>
                      <a:tcPr/>
                    </a:tc>
                    <a:tc>
                      <a:txBody>
                        <a:bodyPr/>
                        <a:lstStyle/>
                        <a:p>
                          <a:r>
                            <a:rPr lang="en-US" altLang="zh-CN" sz="1800" dirty="0" smtClean="0"/>
                            <a:t>13</a:t>
                          </a:r>
                          <a:endParaRPr lang="zh-CN" altLang="en-US" sz="1800" dirty="0"/>
                        </a:p>
                      </a:txBody>
                      <a:tcPr/>
                    </a:tc>
                    <a:tc>
                      <a:txBody>
                        <a:bodyPr/>
                        <a:lstStyle/>
                        <a:p>
                          <a:pPr algn="l"/>
                          <a:r>
                            <a:rPr lang="en-US" altLang="zh-CN" sz="1800" dirty="0" smtClean="0"/>
                            <a:t>0</a:t>
                          </a:r>
                          <a:endParaRPr lang="zh-CN" altLang="en-US" sz="1800" dirty="0"/>
                        </a:p>
                      </a:txBody>
                      <a:tcPr/>
                    </a:tc>
                    <a:tc>
                      <a:txBody>
                        <a:bodyPr/>
                        <a:lstStyle/>
                        <a:p>
                          <a:pPr algn="l"/>
                          <a:r>
                            <a:rPr lang="en-US" altLang="zh-CN" sz="1800" dirty="0" smtClean="0"/>
                            <a:t>13</a:t>
                          </a:r>
                          <a:endParaRPr lang="zh-CN" altLang="en-US" sz="18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993121255"/>
                      </a:ext>
                    </a:extLst>
                  </a:tr>
                </a:tbl>
              </a:graphicData>
            </a:graphic>
          </p:graphicFrame>
        </mc:Fallback>
      </mc:AlternateContent>
      <p:pic>
        <p:nvPicPr>
          <p:cNvPr id="13" name="图片 12"/>
          <p:cNvPicPr>
            <a:picLocks noChangeAspect="1"/>
          </p:cNvPicPr>
          <p:nvPr/>
        </p:nvPicPr>
        <p:blipFill>
          <a:blip r:embed="rId7"/>
          <a:stretch>
            <a:fillRect/>
          </a:stretch>
        </p:blipFill>
        <p:spPr>
          <a:xfrm>
            <a:off x="7978849" y="970470"/>
            <a:ext cx="1182658" cy="1813102"/>
          </a:xfrm>
          <a:prstGeom prst="rect">
            <a:avLst/>
          </a:prstGeom>
        </p:spPr>
      </p:pic>
      <p:sp>
        <p:nvSpPr>
          <p:cNvPr id="14" name="矩形 13"/>
          <p:cNvSpPr/>
          <p:nvPr/>
        </p:nvSpPr>
        <p:spPr>
          <a:xfrm>
            <a:off x="208664" y="6150800"/>
            <a:ext cx="5604419" cy="400110"/>
          </a:xfrm>
          <a:prstGeom prst="rect">
            <a:avLst/>
          </a:prstGeom>
        </p:spPr>
        <p:txBody>
          <a:bodyPr wrap="none">
            <a:spAutoFit/>
          </a:bodyPr>
          <a:lstStyle/>
          <a:p>
            <a:r>
              <a:rPr lang="zh-CN" altLang="en-US" b="1" dirty="0">
                <a:latin typeface="Times New Roman" panose="02020603050405020304" pitchFamily="18" charset="0"/>
                <a:cs typeface="Times New Roman" panose="02020603050405020304" pitchFamily="18" charset="0"/>
              </a:rPr>
              <a:t>然后按计算表格的顺序反推算</a:t>
            </a:r>
            <a:r>
              <a:rPr lang="zh-CN" altLang="en-US" b="1" dirty="0" smtClean="0">
                <a:latin typeface="Times New Roman" panose="02020603050405020304" pitchFamily="18" charset="0"/>
                <a:cs typeface="Times New Roman" panose="02020603050405020304" pitchFamily="18" charset="0"/>
              </a:rPr>
              <a:t>，得到最优方案。</a:t>
            </a:r>
            <a:endParaRPr lang="zh-CN" altLang="en-US" dirty="0"/>
          </a:p>
        </p:txBody>
      </p:sp>
    </p:spTree>
    <p:extLst>
      <p:ext uri="{BB962C8B-B14F-4D97-AF65-F5344CB8AC3E}">
        <p14:creationId xmlns:p14="http://schemas.microsoft.com/office/powerpoint/2010/main" val="128042536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2"/>
          <p:cNvSpPr>
            <a:spLocks noGrp="1" noChangeArrowheads="1"/>
          </p:cNvSpPr>
          <p:nvPr>
            <p:ph type="title"/>
          </p:nvPr>
        </p:nvSpPr>
        <p:spPr/>
        <p:txBody>
          <a:bodyPr/>
          <a:lstStyle/>
          <a:p>
            <a:r>
              <a:rPr lang="en-US" altLang="zh-CN" dirty="0" smtClean="0"/>
              <a:t>8.4.1</a:t>
            </a:r>
            <a:r>
              <a:rPr lang="zh-CN" altLang="en-US" dirty="0"/>
              <a:t>资源分配问题</a:t>
            </a:r>
          </a:p>
        </p:txBody>
      </p:sp>
      <p:sp>
        <p:nvSpPr>
          <p:cNvPr id="2" name="内容占位符 1"/>
          <p:cNvSpPr>
            <a:spLocks noGrp="1"/>
          </p:cNvSpPr>
          <p:nvPr>
            <p:ph idx="1"/>
          </p:nvPr>
        </p:nvSpPr>
        <p:spPr>
          <a:xfrm>
            <a:off x="395536" y="1337268"/>
            <a:ext cx="8280920" cy="904863"/>
          </a:xfrm>
        </p:spPr>
        <p:txBody>
          <a:bodyPr/>
          <a:lstStyle/>
          <a:p>
            <a:r>
              <a:rPr lang="zh-CN" altLang="en-US" dirty="0">
                <a:cs typeface="Times New Roman" panose="02020603050405020304" pitchFamily="18" charset="0"/>
              </a:rPr>
              <a:t>例</a:t>
            </a:r>
            <a:r>
              <a:rPr lang="en-US" altLang="zh-CN" dirty="0" smtClean="0">
                <a:cs typeface="Times New Roman" panose="02020603050405020304" pitchFamily="18" charset="0"/>
              </a:rPr>
              <a:t>8-4</a:t>
            </a:r>
            <a:endParaRPr lang="zh-CN" altLang="en-US" dirty="0"/>
          </a:p>
          <a:p>
            <a:endParaRPr lang="zh-CN" altLang="en-US" dirty="0"/>
          </a:p>
        </p:txBody>
      </p:sp>
      <p:sp>
        <p:nvSpPr>
          <p:cNvPr id="6553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420B52F8-9155-425F-ABB8-CC5A2AB90F7F}" type="slidenum">
              <a:rPr lang="en-US" altLang="zh-CN" sz="1000"/>
              <a:pPr/>
              <a:t>52</a:t>
            </a:fld>
            <a:endParaRPr lang="en-US" altLang="zh-CN" sz="1000"/>
          </a:p>
        </p:txBody>
      </p:sp>
      <p:sp>
        <p:nvSpPr>
          <p:cNvPr id="65545" name="Rectangle 30"/>
          <p:cNvSpPr>
            <a:spLocks noChangeArrowheads="1"/>
          </p:cNvSpPr>
          <p:nvPr/>
        </p:nvSpPr>
        <p:spPr bwMode="auto">
          <a:xfrm>
            <a:off x="827088" y="1543050"/>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sp>
        <p:nvSpPr>
          <p:cNvPr id="65546" name="Rectangle 31"/>
          <p:cNvSpPr>
            <a:spLocks noChangeArrowheads="1"/>
          </p:cNvSpPr>
          <p:nvPr/>
        </p:nvSpPr>
        <p:spPr bwMode="auto">
          <a:xfrm>
            <a:off x="827088" y="1543050"/>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sp>
        <p:nvSpPr>
          <p:cNvPr id="65547" name="Rectangle 33"/>
          <p:cNvSpPr>
            <a:spLocks noChangeArrowheads="1"/>
          </p:cNvSpPr>
          <p:nvPr/>
        </p:nvSpPr>
        <p:spPr bwMode="auto">
          <a:xfrm>
            <a:off x="827088" y="134299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sp>
        <p:nvSpPr>
          <p:cNvPr id="65548" name="Rectangle 35"/>
          <p:cNvSpPr>
            <a:spLocks noChangeArrowheads="1"/>
          </p:cNvSpPr>
          <p:nvPr/>
        </p:nvSpPr>
        <p:spPr bwMode="auto">
          <a:xfrm>
            <a:off x="827088" y="134299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p:sp>
        <p:nvSpPr>
          <p:cNvPr id="65549" name="Rectangle 37"/>
          <p:cNvSpPr>
            <a:spLocks noChangeArrowheads="1"/>
          </p:cNvSpPr>
          <p:nvPr/>
        </p:nvSpPr>
        <p:spPr bwMode="auto">
          <a:xfrm>
            <a:off x="827088" y="134299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b="1"/>
          </a:p>
        </p:txBody>
      </p:sp>
      <mc:AlternateContent xmlns:mc="http://schemas.openxmlformats.org/markup-compatibility/2006" xmlns:a14="http://schemas.microsoft.com/office/drawing/2010/main">
        <mc:Choice Requires="a14">
          <p:graphicFrame>
            <p:nvGraphicFramePr>
              <p:cNvPr id="15" name="表格 14"/>
              <p:cNvGraphicFramePr>
                <a:graphicFrameLocks noGrp="1"/>
              </p:cNvGraphicFramePr>
              <p:nvPr>
                <p:extLst>
                  <p:ext uri="{D42A27DB-BD31-4B8C-83A1-F6EECF244321}">
                    <p14:modId xmlns:p14="http://schemas.microsoft.com/office/powerpoint/2010/main" val="2306868379"/>
                  </p:ext>
                </p:extLst>
              </p:nvPr>
            </p:nvGraphicFramePr>
            <p:xfrm>
              <a:off x="4099345" y="-30381"/>
              <a:ext cx="5044655" cy="6918960"/>
            </p:xfrm>
            <a:graphic>
              <a:graphicData uri="http://schemas.openxmlformats.org/drawingml/2006/table">
                <a:tbl>
                  <a:tblPr firstRow="1" bandRow="1">
                    <a:tableStyleId>{5C22544A-7EE6-4342-B048-85BDC9FD1C3A}</a:tableStyleId>
                  </a:tblPr>
                  <a:tblGrid>
                    <a:gridCol w="392303">
                      <a:extLst>
                        <a:ext uri="{9D8B030D-6E8A-4147-A177-3AD203B41FA5}">
                          <a16:colId xmlns:a16="http://schemas.microsoft.com/office/drawing/2014/main" val="1816936163"/>
                        </a:ext>
                      </a:extLst>
                    </a:gridCol>
                    <a:gridCol w="469646">
                      <a:extLst>
                        <a:ext uri="{9D8B030D-6E8A-4147-A177-3AD203B41FA5}">
                          <a16:colId xmlns:a16="http://schemas.microsoft.com/office/drawing/2014/main" val="1250546864"/>
                        </a:ext>
                      </a:extLst>
                    </a:gridCol>
                    <a:gridCol w="395478">
                      <a:extLst>
                        <a:ext uri="{9D8B030D-6E8A-4147-A177-3AD203B41FA5}">
                          <a16:colId xmlns:a16="http://schemas.microsoft.com/office/drawing/2014/main" val="3166245595"/>
                        </a:ext>
                      </a:extLst>
                    </a:gridCol>
                    <a:gridCol w="968185">
                      <a:extLst>
                        <a:ext uri="{9D8B030D-6E8A-4147-A177-3AD203B41FA5}">
                          <a16:colId xmlns:a16="http://schemas.microsoft.com/office/drawing/2014/main" val="3148481169"/>
                        </a:ext>
                      </a:extLst>
                    </a:gridCol>
                    <a:gridCol w="698881">
                      <a:extLst>
                        <a:ext uri="{9D8B030D-6E8A-4147-A177-3AD203B41FA5}">
                          <a16:colId xmlns:a16="http://schemas.microsoft.com/office/drawing/2014/main" val="644265878"/>
                        </a:ext>
                      </a:extLst>
                    </a:gridCol>
                    <a:gridCol w="1143879">
                      <a:extLst>
                        <a:ext uri="{9D8B030D-6E8A-4147-A177-3AD203B41FA5}">
                          <a16:colId xmlns:a16="http://schemas.microsoft.com/office/drawing/2014/main" val="938889560"/>
                        </a:ext>
                      </a:extLst>
                    </a:gridCol>
                    <a:gridCol w="557877">
                      <a:extLst>
                        <a:ext uri="{9D8B030D-6E8A-4147-A177-3AD203B41FA5}">
                          <a16:colId xmlns:a16="http://schemas.microsoft.com/office/drawing/2014/main" val="1613744912"/>
                        </a:ext>
                      </a:extLst>
                    </a:gridCol>
                    <a:gridCol w="418406">
                      <a:extLst>
                        <a:ext uri="{9D8B030D-6E8A-4147-A177-3AD203B41FA5}">
                          <a16:colId xmlns:a16="http://schemas.microsoft.com/office/drawing/2014/main" val="2765978471"/>
                        </a:ext>
                      </a:extLst>
                    </a:gridCol>
                  </a:tblGrid>
                  <a:tr h="387921">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0" i="1" smtClean="0">
                                        <a:latin typeface="Cambria Math" panose="02040503050406030204" pitchFamily="18" charset="0"/>
                                      </a:rPr>
                                      <m:t>2</m:t>
                                    </m:r>
                                  </m:sub>
                                </m:sSub>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1" i="1" smtClean="0">
                                        <a:latin typeface="Cambria Math" panose="02040503050406030204" pitchFamily="18" charset="0"/>
                                      </a:rPr>
                                      <m:t>𝒙</m:t>
                                    </m:r>
                                  </m:e>
                                  <m:sub>
                                    <m:r>
                                      <a:rPr lang="en-US" altLang="zh-CN" sz="1400" b="1" i="1" smtClean="0">
                                        <a:latin typeface="Cambria Math" panose="02040503050406030204" pitchFamily="18" charset="0"/>
                                      </a:rPr>
                                      <m:t>𝟐</m:t>
                                    </m:r>
                                  </m:sub>
                                </m:sSub>
                                <m:r>
                                  <m:rPr>
                                    <m:nor/>
                                  </m:rPr>
                                  <a:rPr lang="zh-CN" altLang="en-US" sz="1400" dirty="0"/>
                                  <m:t> </m:t>
                                </m:r>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𝟑</m:t>
                                    </m:r>
                                  </m:sub>
                                </m:sSub>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i="1">
                                        <a:latin typeface="Cambria Math" panose="02040503050406030204" pitchFamily="18" charset="0"/>
                                      </a:rPr>
                                      <m:t>𝑣</m:t>
                                    </m:r>
                                  </m:e>
                                  <m:sub>
                                    <m:r>
                                      <a:rPr lang="en-US" altLang="zh-CN" sz="1400" b="1" i="1" smtClean="0">
                                        <a:latin typeface="Cambria Math" panose="02040503050406030204" pitchFamily="18" charset="0"/>
                                      </a:rPr>
                                      <m:t>𝟐</m:t>
                                    </m:r>
                                  </m:sub>
                                </m:sSub>
                                <m:d>
                                  <m:dPr>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𝟐</m:t>
                                        </m:r>
                                      </m:sub>
                                    </m:sSub>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b="1" i="1" smtClean="0">
                                            <a:latin typeface="Cambria Math" panose="02040503050406030204" pitchFamily="18" charset="0"/>
                                          </a:rPr>
                                          <m:t>𝟐</m:t>
                                        </m:r>
                                      </m:sub>
                                    </m:sSub>
                                  </m:e>
                                </m:d>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𝑓</m:t>
                                    </m:r>
                                  </m:e>
                                  <m:sub>
                                    <m:r>
                                      <a:rPr lang="en-US" altLang="zh-CN" sz="1400" b="1" i="1" smtClean="0">
                                        <a:latin typeface="Cambria Math" panose="02040503050406030204" pitchFamily="18" charset="0"/>
                                      </a:rPr>
                                      <m:t>𝟑</m:t>
                                    </m:r>
                                  </m:sub>
                                </m:sSub>
                                <m:d>
                                  <m:dPr>
                                    <m:ctrlPr>
                                      <a:rPr lang="en-US" altLang="zh-CN" sz="1400" b="0" i="1" smtClean="0">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𝟑</m:t>
                                        </m:r>
                                      </m:sub>
                                    </m:sSub>
                                  </m:e>
                                </m:d>
                              </m:oMath>
                            </m:oMathPara>
                          </a14:m>
                          <a:endParaRPr lang="zh-CN" altLang="en-US" sz="1400" dirty="0"/>
                        </a:p>
                      </a:txBody>
                      <a:tcPr/>
                    </a:tc>
                    <a:tc>
                      <a:txBody>
                        <a:bodyPr/>
                        <a:lstStyle/>
                        <a:p>
                          <a14:m>
                            <m:oMath xmlns:m="http://schemas.openxmlformats.org/officeDocument/2006/math">
                              <m:sSub>
                                <m:sSubPr>
                                  <m:ctrlPr>
                                    <a:rPr lang="en-US" altLang="zh-CN" sz="1400" i="1" smtClean="0">
                                      <a:latin typeface="Cambria Math" panose="02040503050406030204" pitchFamily="18" charset="0"/>
                                    </a:rPr>
                                  </m:ctrlPr>
                                </m:sSubPr>
                                <m:e>
                                  <m:r>
                                    <a:rPr lang="en-US" altLang="zh-CN" sz="1400" i="1">
                                      <a:latin typeface="Cambria Math" panose="02040503050406030204" pitchFamily="18" charset="0"/>
                                    </a:rPr>
                                    <m:t>𝑣</m:t>
                                  </m:r>
                                </m:e>
                                <m:sub>
                                  <m:r>
                                    <a:rPr lang="en-US" altLang="zh-CN" sz="1400" b="1" i="1" smtClean="0">
                                      <a:latin typeface="Cambria Math" panose="02040503050406030204" pitchFamily="18" charset="0"/>
                                    </a:rPr>
                                    <m:t>𝟐</m:t>
                                  </m:r>
                                </m:sub>
                              </m:sSub>
                              <m:d>
                                <m:dPr>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𝟐</m:t>
                                      </m:r>
                                    </m:sub>
                                  </m:sSub>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b="1" i="1" smtClean="0">
                                          <a:latin typeface="Cambria Math" panose="02040503050406030204" pitchFamily="18" charset="0"/>
                                        </a:rPr>
                                        <m:t>𝟐</m:t>
                                      </m:r>
                                    </m:sub>
                                  </m:sSub>
                                </m:e>
                              </m:d>
                            </m:oMath>
                          </a14:m>
                          <a:r>
                            <a:rPr lang="en-US" altLang="zh-CN" sz="1400" dirty="0" smtClean="0"/>
                            <a:t>+</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𝑓</m:t>
                                  </m:r>
                                </m:e>
                                <m:sub>
                                  <m:r>
                                    <a:rPr lang="en-US" altLang="zh-CN" sz="1400" b="1" i="1" smtClean="0">
                                      <a:latin typeface="Cambria Math" panose="02040503050406030204" pitchFamily="18" charset="0"/>
                                    </a:rPr>
                                    <m:t>𝟑</m:t>
                                  </m:r>
                                </m:sub>
                              </m:sSub>
                              <m:d>
                                <m:dPr>
                                  <m:ctrlPr>
                                    <a:rPr lang="en-US" altLang="zh-CN" sz="1400" b="0" i="1" smtClean="0">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𝟑</m:t>
                                      </m:r>
                                    </m:sub>
                                  </m:sSub>
                                </m:e>
                              </m:d>
                            </m:oMath>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𝑓</m:t>
                                    </m:r>
                                  </m:e>
                                  <m:sub>
                                    <m:r>
                                      <a:rPr lang="en-US" altLang="zh-CN" sz="1400" b="1" i="1" smtClean="0">
                                        <a:latin typeface="Cambria Math" panose="02040503050406030204" pitchFamily="18" charset="0"/>
                                      </a:rPr>
                                      <m:t>𝟐</m:t>
                                    </m:r>
                                  </m:sub>
                                </m:sSub>
                                <m:d>
                                  <m:dPr>
                                    <m:ctrlPr>
                                      <a:rPr lang="en-US" altLang="zh-CN" sz="1400" b="0" i="1" smtClean="0">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𝟐</m:t>
                                        </m:r>
                                      </m:sub>
                                    </m:sSub>
                                  </m:e>
                                </m:d>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CN" sz="1400" i="1" smtClean="0">
                                        <a:latin typeface="Cambria Math" panose="02040503050406030204" pitchFamily="18" charset="0"/>
                                      </a:rPr>
                                    </m:ctrlPr>
                                  </m:sSubSupPr>
                                  <m:e>
                                    <m:r>
                                      <a:rPr lang="en-US" altLang="zh-CN" sz="1400" b="1" i="1" smtClean="0">
                                        <a:latin typeface="Cambria Math" panose="02040503050406030204" pitchFamily="18" charset="0"/>
                                      </a:rPr>
                                      <m:t>𝒙</m:t>
                                    </m:r>
                                  </m:e>
                                  <m:sub>
                                    <m:r>
                                      <a:rPr lang="en-US" altLang="zh-CN" sz="1400" b="1" i="1" smtClean="0">
                                        <a:latin typeface="Cambria Math" panose="02040503050406030204" pitchFamily="18" charset="0"/>
                                      </a:rPr>
                                      <m:t>𝟐</m:t>
                                    </m:r>
                                  </m:sub>
                                  <m:sup>
                                    <m:r>
                                      <a:rPr lang="en-US" altLang="zh-CN" sz="1400" b="1" i="1" smtClean="0">
                                        <a:latin typeface="Cambria Math" panose="02040503050406030204" pitchFamily="18" charset="0"/>
                                      </a:rPr>
                                      <m:t>∗</m:t>
                                    </m:r>
                                  </m:sup>
                                </m:sSubSup>
                              </m:oMath>
                            </m:oMathPara>
                          </a14:m>
                          <a:endParaRPr lang="zh-CN" altLang="en-US" sz="1400" dirty="0"/>
                        </a:p>
                      </a:txBody>
                      <a:tcPr/>
                    </a:tc>
                    <a:extLst>
                      <a:ext uri="{0D108BD9-81ED-4DB2-BD59-A6C34878D82A}">
                        <a16:rowId xmlns:a16="http://schemas.microsoft.com/office/drawing/2014/main" val="37799757"/>
                      </a:ext>
                    </a:extLst>
                  </a:tr>
                  <a:tr h="273826">
                    <a:tc>
                      <a:txBody>
                        <a:bodyPr/>
                        <a:lstStyle/>
                        <a:p>
                          <a:r>
                            <a:rPr lang="en-US" altLang="zh-CN" sz="1400" dirty="0" smtClean="0"/>
                            <a:t>0</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smtClean="0"/>
                            <a:t>0</a:t>
                          </a:r>
                          <a:endParaRPr lang="zh-CN" altLang="en-US" sz="1400" dirty="0"/>
                        </a:p>
                      </a:txBody>
                      <a:tcPr/>
                    </a:tc>
                    <a:extLst>
                      <a:ext uri="{0D108BD9-81ED-4DB2-BD59-A6C34878D82A}">
                        <a16:rowId xmlns:a16="http://schemas.microsoft.com/office/drawing/2014/main" val="699033535"/>
                      </a:ext>
                    </a:extLst>
                  </a:tr>
                  <a:tr h="273826">
                    <a:tc rowSpan="2">
                      <a:txBody>
                        <a:bodyPr/>
                        <a:lstStyle/>
                        <a:p>
                          <a:r>
                            <a:rPr lang="en-US" altLang="zh-CN" sz="1400" dirty="0" smtClean="0"/>
                            <a:t>1</a:t>
                          </a:r>
                          <a:endParaRPr lang="zh-CN" altLang="en-US" sz="1400" dirty="0"/>
                        </a:p>
                      </a:txBody>
                      <a:tcPr/>
                    </a:tc>
                    <a:tc>
                      <a:txBody>
                        <a:bodyPr/>
                        <a:lstStyle/>
                        <a:p>
                          <a:pPr/>
                          <a14:m>
                            <m:oMathPara xmlns:m="http://schemas.openxmlformats.org/officeDocument/2006/math">
                              <m:oMathParaPr>
                                <m:jc m:val="left"/>
                              </m:oMathParaPr>
                              <m:oMath xmlns:m="http://schemas.openxmlformats.org/officeDocument/2006/math">
                                <m:r>
                                  <a:rPr lang="en-US" altLang="zh-CN" sz="1400" i="1" smtClean="0">
                                    <a:latin typeface="Cambria Math" panose="02040503050406030204" pitchFamily="18" charset="0"/>
                                  </a:rPr>
                                  <m:t>0</m:t>
                                </m:r>
                              </m:oMath>
                            </m:oMathPara>
                          </a14:m>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4</a:t>
                          </a:r>
                          <a:endParaRPr lang="zh-CN" altLang="en-US" sz="1400" dirty="0"/>
                        </a:p>
                      </a:txBody>
                      <a:tcPr/>
                    </a:tc>
                    <a:tc rowSpan="2">
                      <a:txBody>
                        <a:bodyPr/>
                        <a:lstStyle/>
                        <a:p>
                          <a:pPr algn="l"/>
                          <a:r>
                            <a:rPr lang="en-US" altLang="zh-CN" sz="1400" dirty="0" smtClean="0"/>
                            <a:t>5</a:t>
                          </a:r>
                          <a:endParaRPr lang="zh-CN" altLang="en-US" sz="1400" dirty="0"/>
                        </a:p>
                      </a:txBody>
                      <a:tcPr/>
                    </a:tc>
                    <a:tc rowSpan="2">
                      <a:txBody>
                        <a:bodyPr/>
                        <a:lstStyle/>
                        <a:p>
                          <a:pPr/>
                          <a14:m>
                            <m:oMathPara xmlns:m="http://schemas.openxmlformats.org/officeDocument/2006/math">
                              <m:oMathParaPr>
                                <m:jc m:val="left"/>
                              </m:oMathParaPr>
                              <m:oMath xmlns:m="http://schemas.openxmlformats.org/officeDocument/2006/math">
                                <m:r>
                                  <a:rPr lang="en-US" altLang="zh-CN" sz="1400" b="0" i="1" smtClean="0">
                                    <a:latin typeface="Cambria Math" panose="02040503050406030204" pitchFamily="18" charset="0"/>
                                  </a:rPr>
                                  <m:t>1</m:t>
                                </m:r>
                              </m:oMath>
                            </m:oMathPara>
                          </a14:m>
                          <a:endParaRPr lang="zh-CN" altLang="en-US" sz="1400" dirty="0"/>
                        </a:p>
                      </a:txBody>
                      <a:tcPr/>
                    </a:tc>
                    <a:extLst>
                      <a:ext uri="{0D108BD9-81ED-4DB2-BD59-A6C34878D82A}">
                        <a16:rowId xmlns:a16="http://schemas.microsoft.com/office/drawing/2014/main" val="3736361684"/>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5</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091311635"/>
                      </a:ext>
                    </a:extLst>
                  </a:tr>
                  <a:tr h="273826">
                    <a:tc rowSpan="3">
                      <a:txBody>
                        <a:bodyPr/>
                        <a:lstStyle/>
                        <a:p>
                          <a:r>
                            <a:rPr lang="en-US" altLang="zh-CN" sz="1400" dirty="0" smtClean="0"/>
                            <a:t>2</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6</a:t>
                          </a:r>
                          <a:endParaRPr lang="zh-CN" altLang="en-US" sz="1400" dirty="0"/>
                        </a:p>
                      </a:txBody>
                      <a:tcPr/>
                    </a:tc>
                    <a:tc rowSpan="3">
                      <a:txBody>
                        <a:bodyPr/>
                        <a:lstStyle/>
                        <a:p>
                          <a:pPr algn="l"/>
                          <a:r>
                            <a:rPr lang="en-US" altLang="zh-CN" sz="1400" dirty="0" smtClean="0"/>
                            <a:t>10</a:t>
                          </a:r>
                          <a:endParaRPr lang="zh-CN" altLang="en-US" sz="1400" dirty="0"/>
                        </a:p>
                      </a:txBody>
                      <a:tcPr/>
                    </a:tc>
                    <a:tc rowSpan="3">
                      <a:txBody>
                        <a:bodyPr/>
                        <a:lstStyle/>
                        <a:p>
                          <a:r>
                            <a:rPr lang="en-US" altLang="zh-CN" sz="1400" dirty="0" smtClean="0"/>
                            <a:t>2</a:t>
                          </a:r>
                          <a:endParaRPr lang="zh-CN" altLang="en-US" sz="1400" dirty="0"/>
                        </a:p>
                      </a:txBody>
                      <a:tcPr/>
                    </a:tc>
                    <a:extLst>
                      <a:ext uri="{0D108BD9-81ED-4DB2-BD59-A6C34878D82A}">
                        <a16:rowId xmlns:a16="http://schemas.microsoft.com/office/drawing/2014/main" val="752238598"/>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9</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2944060997"/>
                      </a:ext>
                    </a:extLst>
                  </a:tr>
                  <a:tr h="273826">
                    <a:tc vMerge="1">
                      <a:txBody>
                        <a:bodyPr/>
                        <a:lstStyle/>
                        <a:p>
                          <a:endParaRPr lang="zh-CN" altLang="en-US" sz="1000" dirty="0"/>
                        </a:p>
                      </a:txBody>
                      <a:tcPr/>
                    </a:tc>
                    <a:tc>
                      <a:txBody>
                        <a:bodyPr/>
                        <a:lstStyle/>
                        <a:p>
                          <a:r>
                            <a:rPr lang="en-US" altLang="zh-CN" sz="1400" dirty="0" smtClean="0"/>
                            <a:t>2</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10</a:t>
                          </a:r>
                          <a:endParaRPr lang="zh-CN" altLang="en-US" sz="1400" dirty="0"/>
                        </a:p>
                      </a:txBody>
                      <a:tcPr/>
                    </a:tc>
                    <a:tc vMerge="1">
                      <a:txBody>
                        <a:bodyPr/>
                        <a:lstStyle/>
                        <a:p>
                          <a:pPr algn="l"/>
                          <a:endParaRPr lang="zh-CN" altLang="en-US" sz="1400" dirty="0"/>
                        </a:p>
                      </a:txBody>
                      <a:tcPr/>
                    </a:tc>
                    <a:tc vMerge="1">
                      <a:txBody>
                        <a:bodyPr/>
                        <a:lstStyle/>
                        <a:p>
                          <a:endParaRPr lang="zh-CN" altLang="en-US" sz="1400" dirty="0"/>
                        </a:p>
                      </a:txBody>
                      <a:tcPr/>
                    </a:tc>
                    <a:extLst>
                      <a:ext uri="{0D108BD9-81ED-4DB2-BD59-A6C34878D82A}">
                        <a16:rowId xmlns:a16="http://schemas.microsoft.com/office/drawing/2014/main" val="3280564706"/>
                      </a:ext>
                    </a:extLst>
                  </a:tr>
                  <a:tr h="273826">
                    <a:tc rowSpan="4">
                      <a:txBody>
                        <a:bodyPr/>
                        <a:lstStyle/>
                        <a:p>
                          <a:r>
                            <a:rPr lang="en-US" altLang="zh-CN" sz="1400" dirty="0" smtClean="0"/>
                            <a:t>3</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0</a:t>
                          </a:r>
                          <a:endParaRPr lang="zh-CN" altLang="en-US" sz="1400" dirty="0"/>
                        </a:p>
                      </a:txBody>
                      <a:tcPr/>
                    </a:tc>
                    <a:tc>
                      <a:txBody>
                        <a:bodyPr/>
                        <a:lstStyle/>
                        <a:p>
                          <a:pPr algn="l"/>
                          <a:r>
                            <a:rPr lang="en-US" altLang="zh-CN" sz="1400" dirty="0" smtClean="0"/>
                            <a:t>3</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pPr algn="l"/>
                          <a:r>
                            <a:rPr lang="en-US" altLang="zh-CN" sz="1400" dirty="0" smtClean="0"/>
                            <a:t>11</a:t>
                          </a:r>
                          <a:endParaRPr lang="zh-CN" altLang="en-US" sz="1400" dirty="0"/>
                        </a:p>
                      </a:txBody>
                      <a:tcPr/>
                    </a:tc>
                    <a:tc rowSpan="4">
                      <a:txBody>
                        <a:bodyPr/>
                        <a:lstStyle/>
                        <a:p>
                          <a:pPr algn="l"/>
                          <a:r>
                            <a:rPr lang="en-US" altLang="zh-CN" sz="1400" dirty="0" smtClean="0"/>
                            <a:t>14</a:t>
                          </a:r>
                          <a:endParaRPr lang="zh-CN" altLang="en-US" sz="1400" dirty="0"/>
                        </a:p>
                      </a:txBody>
                      <a:tcPr/>
                    </a:tc>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extLst>
                      <a:ext uri="{0D108BD9-81ED-4DB2-BD59-A6C34878D82A}">
                        <a16:rowId xmlns:a16="http://schemas.microsoft.com/office/drawing/2014/main" val="3274687360"/>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11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398809992"/>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10</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14</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83290608"/>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431018056"/>
                      </a:ext>
                    </a:extLst>
                  </a:tr>
                  <a:tr h="273826">
                    <a:tc rowSpan="5">
                      <a:txBody>
                        <a:bodyPr/>
                        <a:lstStyle/>
                        <a:p>
                          <a:r>
                            <a:rPr lang="en-US" altLang="zh-CN" sz="1400" dirty="0" smtClean="0"/>
                            <a:t>4</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0</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algn="l"/>
                          <a:r>
                            <a:rPr lang="en-US" altLang="zh-CN" sz="1400" dirty="0" smtClean="0"/>
                            <a:t>12</a:t>
                          </a:r>
                          <a:endParaRPr lang="zh-CN" altLang="en-US" sz="1400" dirty="0"/>
                        </a:p>
                      </a:txBody>
                      <a:tcPr/>
                    </a:tc>
                    <a:tc rowSpan="5">
                      <a:txBody>
                        <a:bodyPr/>
                        <a:lstStyle/>
                        <a:p>
                          <a:pPr algn="l"/>
                          <a:r>
                            <a:rPr lang="en-US" altLang="zh-CN" sz="1400" dirty="0" smtClean="0"/>
                            <a:t>16</a:t>
                          </a:r>
                          <a:endParaRPr lang="zh-CN" altLang="en-US" sz="1400" dirty="0"/>
                        </a:p>
                      </a:txBody>
                      <a:tcPr/>
                    </a:tc>
                    <a:tc rowSpan="5">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1,2</a:t>
                          </a:r>
                          <a:endParaRPr lang="zh-CN" altLang="en-US" sz="1400" dirty="0"/>
                        </a:p>
                      </a:txBody>
                      <a:tcPr/>
                    </a:tc>
                    <a:extLst>
                      <a:ext uri="{0D108BD9-81ED-4DB2-BD59-A6C34878D82A}">
                        <a16:rowId xmlns:a16="http://schemas.microsoft.com/office/drawing/2014/main" val="3492239771"/>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3</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pPr algn="l"/>
                          <a:r>
                            <a:rPr lang="en-US" altLang="zh-CN" sz="1400" dirty="0" smtClean="0"/>
                            <a:t>16</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669469633"/>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10</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16</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229726497"/>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15</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109707333"/>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4</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229460570"/>
                      </a:ext>
                    </a:extLst>
                  </a:tr>
                  <a:tr h="273826">
                    <a:tc rowSpan="6">
                      <a:txBody>
                        <a:bodyPr/>
                        <a:lstStyle/>
                        <a:p>
                          <a:r>
                            <a:rPr lang="en-US" altLang="zh-CN" sz="1400" dirty="0" smtClean="0"/>
                            <a:t>5</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0</a:t>
                          </a:r>
                          <a:endParaRPr lang="zh-CN" altLang="en-US" sz="1400" dirty="0"/>
                        </a:p>
                      </a:txBody>
                      <a:tcPr/>
                    </a:tc>
                    <a:tc>
                      <a:txBody>
                        <a:bodyPr/>
                        <a:lstStyle/>
                        <a:p>
                          <a:pPr algn="l"/>
                          <a:r>
                            <a:rPr lang="en-US" altLang="zh-CN" sz="1400" dirty="0" smtClean="0"/>
                            <a:t>5</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algn="l"/>
                          <a:r>
                            <a:rPr lang="en-US" altLang="zh-CN" sz="1400" dirty="0" smtClean="0"/>
                            <a:t>12</a:t>
                          </a:r>
                          <a:endParaRPr lang="zh-CN" altLang="en-US" sz="1400" dirty="0"/>
                        </a:p>
                      </a:txBody>
                      <a:tcPr/>
                    </a:tc>
                    <a:tc rowSpan="6">
                      <a:txBody>
                        <a:bodyPr/>
                        <a:lstStyle/>
                        <a:p>
                          <a:pPr algn="l"/>
                          <a:r>
                            <a:rPr lang="en-US" altLang="zh-CN" sz="1400" dirty="0" smtClean="0"/>
                            <a:t>21</a:t>
                          </a:r>
                          <a:endParaRPr lang="zh-CN" altLang="en-US" sz="1400" dirty="0"/>
                        </a:p>
                      </a:txBody>
                      <a:tcPr/>
                    </a:tc>
                    <a:tc rowSpan="6">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extLst>
                      <a:ext uri="{0D108BD9-81ED-4DB2-BD59-A6C34878D82A}">
                        <a16:rowId xmlns:a16="http://schemas.microsoft.com/office/drawing/2014/main" val="2837520744"/>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algn="l"/>
                          <a:r>
                            <a:rPr lang="en-US" altLang="zh-CN" sz="1400" dirty="0" smtClean="0"/>
                            <a:t>17</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944048361"/>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tc>
                      <a:txBody>
                        <a:bodyPr/>
                        <a:lstStyle/>
                        <a:p>
                          <a:pPr algn="l"/>
                          <a:r>
                            <a:rPr lang="en-US" altLang="zh-CN" sz="1400" dirty="0" smtClean="0"/>
                            <a:t>3</a:t>
                          </a:r>
                          <a:endParaRPr lang="zh-CN" altLang="en-US" sz="1400" dirty="0"/>
                        </a:p>
                      </a:txBody>
                      <a:tcPr/>
                    </a:tc>
                    <a:tc>
                      <a:txBody>
                        <a:bodyPr/>
                        <a:lstStyle/>
                        <a:p>
                          <a:r>
                            <a:rPr lang="en-US" altLang="zh-CN" sz="1400" dirty="0" smtClean="0"/>
                            <a:t>10</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pPr algn="l"/>
                          <a:r>
                            <a:rPr lang="en-US" altLang="zh-CN" sz="1400" dirty="0" smtClean="0"/>
                            <a:t>21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070078167"/>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17</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703505372"/>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4</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15</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772623321"/>
                      </a:ext>
                    </a:extLst>
                  </a:tr>
                  <a:tr h="273826">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5</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993121255"/>
                      </a:ext>
                    </a:extLst>
                  </a:tr>
                </a:tbl>
              </a:graphicData>
            </a:graphic>
          </p:graphicFrame>
        </mc:Choice>
        <mc:Fallback xmlns="">
          <p:graphicFrame>
            <p:nvGraphicFramePr>
              <p:cNvPr id="15" name="表格 14"/>
              <p:cNvGraphicFramePr>
                <a:graphicFrameLocks noGrp="1"/>
              </p:cNvGraphicFramePr>
              <p:nvPr>
                <p:extLst>
                  <p:ext uri="{D42A27DB-BD31-4B8C-83A1-F6EECF244321}">
                    <p14:modId xmlns:p14="http://schemas.microsoft.com/office/powerpoint/2010/main" val="2306868379"/>
                  </p:ext>
                </p:extLst>
              </p:nvPr>
            </p:nvGraphicFramePr>
            <p:xfrm>
              <a:off x="4099345" y="-30381"/>
              <a:ext cx="5044655" cy="6918960"/>
            </p:xfrm>
            <a:graphic>
              <a:graphicData uri="http://schemas.openxmlformats.org/drawingml/2006/table">
                <a:tbl>
                  <a:tblPr firstRow="1" bandRow="1">
                    <a:tableStyleId>{5C22544A-7EE6-4342-B048-85BDC9FD1C3A}</a:tableStyleId>
                  </a:tblPr>
                  <a:tblGrid>
                    <a:gridCol w="392303">
                      <a:extLst>
                        <a:ext uri="{9D8B030D-6E8A-4147-A177-3AD203B41FA5}">
                          <a16:colId xmlns:a16="http://schemas.microsoft.com/office/drawing/2014/main" val="1816936163"/>
                        </a:ext>
                      </a:extLst>
                    </a:gridCol>
                    <a:gridCol w="469646">
                      <a:extLst>
                        <a:ext uri="{9D8B030D-6E8A-4147-A177-3AD203B41FA5}">
                          <a16:colId xmlns:a16="http://schemas.microsoft.com/office/drawing/2014/main" val="1250546864"/>
                        </a:ext>
                      </a:extLst>
                    </a:gridCol>
                    <a:gridCol w="395478">
                      <a:extLst>
                        <a:ext uri="{9D8B030D-6E8A-4147-A177-3AD203B41FA5}">
                          <a16:colId xmlns:a16="http://schemas.microsoft.com/office/drawing/2014/main" val="3166245595"/>
                        </a:ext>
                      </a:extLst>
                    </a:gridCol>
                    <a:gridCol w="968185">
                      <a:extLst>
                        <a:ext uri="{9D8B030D-6E8A-4147-A177-3AD203B41FA5}">
                          <a16:colId xmlns:a16="http://schemas.microsoft.com/office/drawing/2014/main" val="3148481169"/>
                        </a:ext>
                      </a:extLst>
                    </a:gridCol>
                    <a:gridCol w="698881">
                      <a:extLst>
                        <a:ext uri="{9D8B030D-6E8A-4147-A177-3AD203B41FA5}">
                          <a16:colId xmlns:a16="http://schemas.microsoft.com/office/drawing/2014/main" val="644265878"/>
                        </a:ext>
                      </a:extLst>
                    </a:gridCol>
                    <a:gridCol w="1143879">
                      <a:extLst>
                        <a:ext uri="{9D8B030D-6E8A-4147-A177-3AD203B41FA5}">
                          <a16:colId xmlns:a16="http://schemas.microsoft.com/office/drawing/2014/main" val="938889560"/>
                        </a:ext>
                      </a:extLst>
                    </a:gridCol>
                    <a:gridCol w="557877">
                      <a:extLst>
                        <a:ext uri="{9D8B030D-6E8A-4147-A177-3AD203B41FA5}">
                          <a16:colId xmlns:a16="http://schemas.microsoft.com/office/drawing/2014/main" val="1613744912"/>
                        </a:ext>
                      </a:extLst>
                    </a:gridCol>
                    <a:gridCol w="418406">
                      <a:extLst>
                        <a:ext uri="{9D8B030D-6E8A-4147-A177-3AD203B41FA5}">
                          <a16:colId xmlns:a16="http://schemas.microsoft.com/office/drawing/2014/main" val="2765978471"/>
                        </a:ext>
                      </a:extLst>
                    </a:gridCol>
                  </a:tblGrid>
                  <a:tr h="518160">
                    <a:tc>
                      <a:txBody>
                        <a:bodyPr/>
                        <a:lstStyle/>
                        <a:p>
                          <a:endParaRPr lang="zh-CN"/>
                        </a:p>
                      </a:txBody>
                      <a:tcPr>
                        <a:blipFill>
                          <a:blip r:embed="rId2"/>
                          <a:stretch>
                            <a:fillRect l="-1563" t="-2353" r="-1201563" b="-1248235"/>
                          </a:stretch>
                        </a:blipFill>
                      </a:tcPr>
                    </a:tc>
                    <a:tc>
                      <a:txBody>
                        <a:bodyPr/>
                        <a:lstStyle/>
                        <a:p>
                          <a:endParaRPr lang="zh-CN"/>
                        </a:p>
                      </a:txBody>
                      <a:tcPr>
                        <a:blipFill>
                          <a:blip r:embed="rId2"/>
                          <a:stretch>
                            <a:fillRect l="-84416" t="-2353" r="-898701" b="-1248235"/>
                          </a:stretch>
                        </a:blipFill>
                      </a:tcPr>
                    </a:tc>
                    <a:tc>
                      <a:txBody>
                        <a:bodyPr/>
                        <a:lstStyle/>
                        <a:p>
                          <a:endParaRPr lang="zh-CN"/>
                        </a:p>
                      </a:txBody>
                      <a:tcPr>
                        <a:blipFill>
                          <a:blip r:embed="rId2"/>
                          <a:stretch>
                            <a:fillRect l="-218462" t="-2353" r="-964615" b="-1248235"/>
                          </a:stretch>
                        </a:blipFill>
                      </a:tcPr>
                    </a:tc>
                    <a:tc>
                      <a:txBody>
                        <a:bodyPr/>
                        <a:lstStyle/>
                        <a:p>
                          <a:endParaRPr lang="zh-CN"/>
                        </a:p>
                      </a:txBody>
                      <a:tcPr>
                        <a:blipFill>
                          <a:blip r:embed="rId2"/>
                          <a:stretch>
                            <a:fillRect l="-130189" t="-2353" r="-294340" b="-1248235"/>
                          </a:stretch>
                        </a:blipFill>
                      </a:tcPr>
                    </a:tc>
                    <a:tc>
                      <a:txBody>
                        <a:bodyPr/>
                        <a:lstStyle/>
                        <a:p>
                          <a:endParaRPr lang="zh-CN"/>
                        </a:p>
                      </a:txBody>
                      <a:tcPr>
                        <a:blipFill>
                          <a:blip r:embed="rId2"/>
                          <a:stretch>
                            <a:fillRect l="-318261" t="-2353" r="-306957" b="-1248235"/>
                          </a:stretch>
                        </a:blipFill>
                      </a:tcPr>
                    </a:tc>
                    <a:tc>
                      <a:txBody>
                        <a:bodyPr/>
                        <a:lstStyle/>
                        <a:p>
                          <a:endParaRPr lang="zh-CN"/>
                        </a:p>
                      </a:txBody>
                      <a:tcPr>
                        <a:blipFill>
                          <a:blip r:embed="rId2"/>
                          <a:stretch>
                            <a:fillRect l="-255851" t="-2353" r="-87766" b="-1248235"/>
                          </a:stretch>
                        </a:blipFill>
                      </a:tcPr>
                    </a:tc>
                    <a:tc>
                      <a:txBody>
                        <a:bodyPr/>
                        <a:lstStyle/>
                        <a:p>
                          <a:endParaRPr lang="zh-CN"/>
                        </a:p>
                      </a:txBody>
                      <a:tcPr>
                        <a:blipFill>
                          <a:blip r:embed="rId2"/>
                          <a:stretch>
                            <a:fillRect l="-735165" t="-2353" r="-81319" b="-1248235"/>
                          </a:stretch>
                        </a:blipFill>
                      </a:tcPr>
                    </a:tc>
                    <a:tc>
                      <a:txBody>
                        <a:bodyPr/>
                        <a:lstStyle/>
                        <a:p>
                          <a:endParaRPr lang="zh-CN"/>
                        </a:p>
                      </a:txBody>
                      <a:tcPr>
                        <a:blipFill>
                          <a:blip r:embed="rId2"/>
                          <a:stretch>
                            <a:fillRect l="-1101449" t="-2353" r="-7246" b="-1248235"/>
                          </a:stretch>
                        </a:blipFill>
                      </a:tcPr>
                    </a:tc>
                    <a:extLst>
                      <a:ext uri="{0D108BD9-81ED-4DB2-BD59-A6C34878D82A}">
                        <a16:rowId xmlns:a16="http://schemas.microsoft.com/office/drawing/2014/main" val="37799757"/>
                      </a:ext>
                    </a:extLst>
                  </a:tr>
                  <a:tr h="304800">
                    <a:tc>
                      <a:txBody>
                        <a:bodyPr/>
                        <a:lstStyle/>
                        <a:p>
                          <a:pPr/>
                          <a:r>
                            <a:rPr lang="en-US" altLang="zh-CN" sz="1400" dirty="0" smtClean="0"/>
                            <a:t>0</a:t>
                          </a:r>
                          <a:endParaRPr lang="zh-CN" altLang="en-US" sz="1400" dirty="0"/>
                        </a:p>
                      </a:txBody>
                      <a:tcPr/>
                    </a:tc>
                    <a:tc>
                      <a:txBody>
                        <a:bodyPr/>
                        <a:lstStyle/>
                        <a:p>
                          <a:pPr/>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r>
                            <a:rPr lang="en-US" altLang="zh-CN" sz="1400" smtClean="0"/>
                            <a:t>0</a:t>
                          </a:r>
                          <a:endParaRPr lang="zh-CN" altLang="en-US" sz="1400" dirty="0"/>
                        </a:p>
                      </a:txBody>
                      <a:tcPr/>
                    </a:tc>
                    <a:extLst>
                      <a:ext uri="{0D108BD9-81ED-4DB2-BD59-A6C34878D82A}">
                        <a16:rowId xmlns:a16="http://schemas.microsoft.com/office/drawing/2014/main" val="699033535"/>
                      </a:ext>
                    </a:extLst>
                  </a:tr>
                  <a:tr h="304800">
                    <a:tc rowSpan="2">
                      <a:txBody>
                        <a:bodyPr/>
                        <a:lstStyle/>
                        <a:p>
                          <a:pPr/>
                          <a:r>
                            <a:rPr lang="en-US" altLang="zh-CN" sz="1400" dirty="0" smtClean="0"/>
                            <a:t>1</a:t>
                          </a:r>
                          <a:endParaRPr lang="zh-CN" altLang="en-US" sz="1400" dirty="0"/>
                        </a:p>
                      </a:txBody>
                      <a:tcPr/>
                    </a:tc>
                    <a:tc>
                      <a:txBody>
                        <a:bodyPr/>
                        <a:lstStyle/>
                        <a:p>
                          <a:endParaRPr lang="zh-CN"/>
                        </a:p>
                      </a:txBody>
                      <a:tcPr>
                        <a:blipFill>
                          <a:blip r:embed="rId2"/>
                          <a:stretch>
                            <a:fillRect l="-84416" t="-274000" r="-898701" b="-1922000"/>
                          </a:stretch>
                        </a:blipFill>
                      </a:tcPr>
                    </a:tc>
                    <a:tc>
                      <a:txBody>
                        <a:bodyPr/>
                        <a:lstStyle/>
                        <a:p>
                          <a:pPr algn="l"/>
                          <a:r>
                            <a:rPr lang="en-US" altLang="zh-CN" sz="1400" dirty="0" smtClean="0"/>
                            <a:t>1</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4</a:t>
                          </a:r>
                          <a:endParaRPr lang="zh-CN" altLang="en-US" sz="1400" dirty="0"/>
                        </a:p>
                      </a:txBody>
                      <a:tcPr/>
                    </a:tc>
                    <a:tc rowSpan="2">
                      <a:txBody>
                        <a:bodyPr/>
                        <a:lstStyle/>
                        <a:p>
                          <a:pPr algn="l"/>
                          <a:r>
                            <a:rPr lang="en-US" altLang="zh-CN" sz="1400" dirty="0" smtClean="0"/>
                            <a:t>5</a:t>
                          </a:r>
                          <a:endParaRPr lang="zh-CN" altLang="en-US" sz="1400" dirty="0"/>
                        </a:p>
                      </a:txBody>
                      <a:tcPr/>
                    </a:tc>
                    <a:tc rowSpan="2">
                      <a:txBody>
                        <a:bodyPr/>
                        <a:lstStyle/>
                        <a:p>
                          <a:endParaRPr lang="zh-CN"/>
                        </a:p>
                      </a:txBody>
                      <a:tcPr>
                        <a:blipFill>
                          <a:blip r:embed="rId2"/>
                          <a:stretch>
                            <a:fillRect l="-1101449" t="-137000" r="-7246" b="-911000"/>
                          </a:stretch>
                        </a:blipFill>
                      </a:tcPr>
                    </a:tc>
                    <a:extLst>
                      <a:ext uri="{0D108BD9-81ED-4DB2-BD59-A6C34878D82A}">
                        <a16:rowId xmlns:a16="http://schemas.microsoft.com/office/drawing/2014/main" val="3736361684"/>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5</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091311635"/>
                      </a:ext>
                    </a:extLst>
                  </a:tr>
                  <a:tr h="304800">
                    <a:tc rowSpan="3">
                      <a:txBody>
                        <a:bodyPr/>
                        <a:lstStyle/>
                        <a:p>
                          <a:pPr/>
                          <a:r>
                            <a:rPr lang="en-US" altLang="zh-CN" sz="1400" dirty="0" smtClean="0"/>
                            <a:t>2</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6</a:t>
                          </a:r>
                          <a:endParaRPr lang="zh-CN" altLang="en-US" sz="1400" dirty="0"/>
                        </a:p>
                      </a:txBody>
                      <a:tcPr/>
                    </a:tc>
                    <a:tc rowSpan="3">
                      <a:txBody>
                        <a:bodyPr/>
                        <a:lstStyle/>
                        <a:p>
                          <a:pPr algn="l"/>
                          <a:r>
                            <a:rPr lang="en-US" altLang="zh-CN" sz="1400" dirty="0" smtClean="0"/>
                            <a:t>10</a:t>
                          </a:r>
                          <a:endParaRPr lang="zh-CN" altLang="en-US" sz="1400" dirty="0"/>
                        </a:p>
                      </a:txBody>
                      <a:tcPr/>
                    </a:tc>
                    <a:tc rowSpan="3">
                      <a:txBody>
                        <a:bodyPr/>
                        <a:lstStyle/>
                        <a:p>
                          <a:r>
                            <a:rPr lang="en-US" altLang="zh-CN" sz="1400" dirty="0" smtClean="0"/>
                            <a:t>2</a:t>
                          </a:r>
                          <a:endParaRPr lang="zh-CN" altLang="en-US" sz="1400" dirty="0"/>
                        </a:p>
                      </a:txBody>
                      <a:tcPr/>
                    </a:tc>
                    <a:extLst>
                      <a:ext uri="{0D108BD9-81ED-4DB2-BD59-A6C34878D82A}">
                        <a16:rowId xmlns:a16="http://schemas.microsoft.com/office/drawing/2014/main" val="752238598"/>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9</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2944060997"/>
                      </a:ext>
                    </a:extLst>
                  </a:tr>
                  <a:tr h="304800">
                    <a:tc vMerge="1">
                      <a:txBody>
                        <a:bodyPr/>
                        <a:lstStyle/>
                        <a:p>
                          <a:pPr/>
                          <a:endParaRPr lang="zh-CN" altLang="en-US" sz="1000" dirty="0"/>
                        </a:p>
                      </a:txBody>
                      <a:tcPr/>
                    </a:tc>
                    <a:tc>
                      <a:txBody>
                        <a:bodyPr/>
                        <a:lstStyle/>
                        <a:p>
                          <a:r>
                            <a:rPr lang="en-US" altLang="zh-CN" sz="1400" dirty="0" smtClean="0"/>
                            <a:t>2</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10</a:t>
                          </a:r>
                          <a:endParaRPr lang="zh-CN" altLang="en-US" sz="1400" dirty="0"/>
                        </a:p>
                      </a:txBody>
                      <a:tcPr/>
                    </a:tc>
                    <a:tc vMerge="1">
                      <a:txBody>
                        <a:bodyPr/>
                        <a:lstStyle/>
                        <a:p>
                          <a:pPr algn="l"/>
                          <a:endParaRPr lang="zh-CN" altLang="en-US" sz="1400" dirty="0"/>
                        </a:p>
                      </a:txBody>
                      <a:tcPr/>
                    </a:tc>
                    <a:tc vMerge="1">
                      <a:txBody>
                        <a:bodyPr/>
                        <a:lstStyle/>
                        <a:p>
                          <a:endParaRPr lang="zh-CN" altLang="en-US" sz="1400" dirty="0"/>
                        </a:p>
                      </a:txBody>
                      <a:tcPr/>
                    </a:tc>
                    <a:extLst>
                      <a:ext uri="{0D108BD9-81ED-4DB2-BD59-A6C34878D82A}">
                        <a16:rowId xmlns:a16="http://schemas.microsoft.com/office/drawing/2014/main" val="3280564706"/>
                      </a:ext>
                    </a:extLst>
                  </a:tr>
                  <a:tr h="304800">
                    <a:tc rowSpan="4">
                      <a:txBody>
                        <a:bodyPr/>
                        <a:lstStyle/>
                        <a:p>
                          <a:pPr/>
                          <a:r>
                            <a:rPr lang="en-US" altLang="zh-CN" sz="1400" dirty="0" smtClean="0"/>
                            <a:t>3</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0</a:t>
                          </a:r>
                          <a:endParaRPr lang="zh-CN" altLang="en-US" sz="1400" dirty="0"/>
                        </a:p>
                      </a:txBody>
                      <a:tcPr/>
                    </a:tc>
                    <a:tc>
                      <a:txBody>
                        <a:bodyPr/>
                        <a:lstStyle/>
                        <a:p>
                          <a:pPr algn="l"/>
                          <a:r>
                            <a:rPr lang="en-US" altLang="zh-CN" sz="1400" dirty="0" smtClean="0"/>
                            <a:t>3</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pPr algn="l"/>
                          <a:r>
                            <a:rPr lang="en-US" altLang="zh-CN" sz="1400" dirty="0" smtClean="0"/>
                            <a:t>11</a:t>
                          </a:r>
                          <a:endParaRPr lang="zh-CN" altLang="en-US" sz="1400" dirty="0"/>
                        </a:p>
                      </a:txBody>
                      <a:tcPr/>
                    </a:tc>
                    <a:tc rowSpan="4">
                      <a:txBody>
                        <a:bodyPr/>
                        <a:lstStyle/>
                        <a:p>
                          <a:pPr algn="l"/>
                          <a:r>
                            <a:rPr lang="en-US" altLang="zh-CN" sz="1400" dirty="0" smtClean="0"/>
                            <a:t>14</a:t>
                          </a:r>
                          <a:endParaRPr lang="zh-CN" altLang="en-US" sz="1400" dirty="0"/>
                        </a:p>
                      </a:txBody>
                      <a:tcPr/>
                    </a:tc>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extLst>
                      <a:ext uri="{0D108BD9-81ED-4DB2-BD59-A6C34878D82A}">
                        <a16:rowId xmlns:a16="http://schemas.microsoft.com/office/drawing/2014/main" val="3274687360"/>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11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398809992"/>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10</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14</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83290608"/>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431018056"/>
                      </a:ext>
                    </a:extLst>
                  </a:tr>
                  <a:tr h="304800">
                    <a:tc rowSpan="5">
                      <a:txBody>
                        <a:bodyPr/>
                        <a:lstStyle/>
                        <a:p>
                          <a:pPr/>
                          <a:r>
                            <a:rPr lang="en-US" altLang="zh-CN" sz="1400" dirty="0" smtClean="0"/>
                            <a:t>4</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0</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algn="l"/>
                          <a:r>
                            <a:rPr lang="en-US" altLang="zh-CN" sz="1400" dirty="0" smtClean="0"/>
                            <a:t>12</a:t>
                          </a:r>
                          <a:endParaRPr lang="zh-CN" altLang="en-US" sz="1400" dirty="0"/>
                        </a:p>
                      </a:txBody>
                      <a:tcPr/>
                    </a:tc>
                    <a:tc rowSpan="5">
                      <a:txBody>
                        <a:bodyPr/>
                        <a:lstStyle/>
                        <a:p>
                          <a:pPr algn="l"/>
                          <a:r>
                            <a:rPr lang="en-US" altLang="zh-CN" sz="1400" dirty="0" smtClean="0"/>
                            <a:t>16</a:t>
                          </a:r>
                          <a:endParaRPr lang="zh-CN" altLang="en-US" sz="1400" dirty="0"/>
                        </a:p>
                      </a:txBody>
                      <a:tcPr/>
                    </a:tc>
                    <a:tc rowSpan="5">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1,2</a:t>
                          </a:r>
                          <a:endParaRPr lang="zh-CN" altLang="en-US" sz="1400" dirty="0"/>
                        </a:p>
                      </a:txBody>
                      <a:tcPr/>
                    </a:tc>
                    <a:extLst>
                      <a:ext uri="{0D108BD9-81ED-4DB2-BD59-A6C34878D82A}">
                        <a16:rowId xmlns:a16="http://schemas.microsoft.com/office/drawing/2014/main" val="3492239771"/>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3</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pPr algn="l"/>
                          <a:r>
                            <a:rPr lang="en-US" altLang="zh-CN" sz="1400" dirty="0" smtClean="0"/>
                            <a:t>16</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669469633"/>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10</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16</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229726497"/>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15</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109707333"/>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4</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229460570"/>
                      </a:ext>
                    </a:extLst>
                  </a:tr>
                  <a:tr h="304800">
                    <a:tc rowSpan="6">
                      <a:txBody>
                        <a:bodyPr/>
                        <a:lstStyle/>
                        <a:p>
                          <a:pPr/>
                          <a:r>
                            <a:rPr lang="en-US" altLang="zh-CN" sz="1400" dirty="0" smtClean="0"/>
                            <a:t>5</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0</a:t>
                          </a:r>
                          <a:endParaRPr lang="zh-CN" altLang="en-US" sz="1400" dirty="0"/>
                        </a:p>
                      </a:txBody>
                      <a:tcPr/>
                    </a:tc>
                    <a:tc>
                      <a:txBody>
                        <a:bodyPr/>
                        <a:lstStyle/>
                        <a:p>
                          <a:pPr algn="l"/>
                          <a:r>
                            <a:rPr lang="en-US" altLang="zh-CN" sz="1400" dirty="0" smtClean="0"/>
                            <a:t>5</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algn="l"/>
                          <a:r>
                            <a:rPr lang="en-US" altLang="zh-CN" sz="1400" dirty="0" smtClean="0"/>
                            <a:t>12</a:t>
                          </a:r>
                          <a:endParaRPr lang="zh-CN" altLang="en-US" sz="1400" dirty="0"/>
                        </a:p>
                      </a:txBody>
                      <a:tcPr/>
                    </a:tc>
                    <a:tc rowSpan="6">
                      <a:txBody>
                        <a:bodyPr/>
                        <a:lstStyle/>
                        <a:p>
                          <a:pPr algn="l"/>
                          <a:r>
                            <a:rPr lang="en-US" altLang="zh-CN" sz="1400" dirty="0" smtClean="0"/>
                            <a:t>21</a:t>
                          </a:r>
                          <a:endParaRPr lang="zh-CN" altLang="en-US" sz="1400" dirty="0"/>
                        </a:p>
                      </a:txBody>
                      <a:tcPr/>
                    </a:tc>
                    <a:tc rowSpan="6">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extLst>
                      <a:ext uri="{0D108BD9-81ED-4DB2-BD59-A6C34878D82A}">
                        <a16:rowId xmlns:a16="http://schemas.microsoft.com/office/drawing/2014/main" val="2837520744"/>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r>
                            <a:rPr lang="en-US" altLang="zh-CN" sz="1400" dirty="0" smtClean="0"/>
                            <a:t>5</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algn="l"/>
                          <a:r>
                            <a:rPr lang="en-US" altLang="zh-CN" sz="1400" dirty="0" smtClean="0"/>
                            <a:t>17</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944048361"/>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tc>
                      <a:txBody>
                        <a:bodyPr/>
                        <a:lstStyle/>
                        <a:p>
                          <a:pPr algn="l"/>
                          <a:r>
                            <a:rPr lang="en-US" altLang="zh-CN" sz="1400" dirty="0" smtClean="0"/>
                            <a:t>3</a:t>
                          </a:r>
                          <a:endParaRPr lang="zh-CN" altLang="en-US" sz="1400" dirty="0"/>
                        </a:p>
                      </a:txBody>
                      <a:tcPr/>
                    </a:tc>
                    <a:tc>
                      <a:txBody>
                        <a:bodyPr/>
                        <a:lstStyle/>
                        <a:p>
                          <a:r>
                            <a:rPr lang="en-US" altLang="zh-CN" sz="1400" dirty="0" smtClean="0"/>
                            <a:t>10</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pPr algn="l"/>
                          <a:r>
                            <a:rPr lang="en-US" altLang="zh-CN" sz="1400" dirty="0" smtClean="0"/>
                            <a:t>21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070078167"/>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17</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703505372"/>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4</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15</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772623321"/>
                      </a:ext>
                    </a:extLst>
                  </a:tr>
                  <a:tr h="304800">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5</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11</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99312125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0" name="表格 19"/>
              <p:cNvGraphicFramePr>
                <a:graphicFrameLocks noGrp="1"/>
              </p:cNvGraphicFramePr>
              <p:nvPr>
                <p:extLst>
                  <p:ext uri="{D42A27DB-BD31-4B8C-83A1-F6EECF244321}">
                    <p14:modId xmlns:p14="http://schemas.microsoft.com/office/powerpoint/2010/main" val="2149681887"/>
                  </p:ext>
                </p:extLst>
              </p:nvPr>
            </p:nvGraphicFramePr>
            <p:xfrm>
              <a:off x="-9421" y="-30382"/>
              <a:ext cx="4108766" cy="2379261"/>
            </p:xfrm>
            <a:graphic>
              <a:graphicData uri="http://schemas.openxmlformats.org/drawingml/2006/table">
                <a:tbl>
                  <a:tblPr firstRow="1" bandRow="1">
                    <a:tableStyleId>{5C22544A-7EE6-4342-B048-85BDC9FD1C3A}</a:tableStyleId>
                  </a:tblPr>
                  <a:tblGrid>
                    <a:gridCol w="270997">
                      <a:extLst>
                        <a:ext uri="{9D8B030D-6E8A-4147-A177-3AD203B41FA5}">
                          <a16:colId xmlns:a16="http://schemas.microsoft.com/office/drawing/2014/main" val="1816936163"/>
                        </a:ext>
                      </a:extLst>
                    </a:gridCol>
                    <a:gridCol w="335669">
                      <a:extLst>
                        <a:ext uri="{9D8B030D-6E8A-4147-A177-3AD203B41FA5}">
                          <a16:colId xmlns:a16="http://schemas.microsoft.com/office/drawing/2014/main" val="1250546864"/>
                        </a:ext>
                      </a:extLst>
                    </a:gridCol>
                    <a:gridCol w="276161">
                      <a:extLst>
                        <a:ext uri="{9D8B030D-6E8A-4147-A177-3AD203B41FA5}">
                          <a16:colId xmlns:a16="http://schemas.microsoft.com/office/drawing/2014/main" val="3166245595"/>
                        </a:ext>
                      </a:extLst>
                    </a:gridCol>
                    <a:gridCol w="740739">
                      <a:extLst>
                        <a:ext uri="{9D8B030D-6E8A-4147-A177-3AD203B41FA5}">
                          <a16:colId xmlns:a16="http://schemas.microsoft.com/office/drawing/2014/main" val="3148481169"/>
                        </a:ext>
                      </a:extLst>
                    </a:gridCol>
                    <a:gridCol w="522099">
                      <a:extLst>
                        <a:ext uri="{9D8B030D-6E8A-4147-A177-3AD203B41FA5}">
                          <a16:colId xmlns:a16="http://schemas.microsoft.com/office/drawing/2014/main" val="644265878"/>
                        </a:ext>
                      </a:extLst>
                    </a:gridCol>
                    <a:gridCol w="1203077">
                      <a:extLst>
                        <a:ext uri="{9D8B030D-6E8A-4147-A177-3AD203B41FA5}">
                          <a16:colId xmlns:a16="http://schemas.microsoft.com/office/drawing/2014/main" val="938889560"/>
                        </a:ext>
                      </a:extLst>
                    </a:gridCol>
                    <a:gridCol w="440591">
                      <a:extLst>
                        <a:ext uri="{9D8B030D-6E8A-4147-A177-3AD203B41FA5}">
                          <a16:colId xmlns:a16="http://schemas.microsoft.com/office/drawing/2014/main" val="1613744912"/>
                        </a:ext>
                      </a:extLst>
                    </a:gridCol>
                    <a:gridCol w="319433">
                      <a:extLst>
                        <a:ext uri="{9D8B030D-6E8A-4147-A177-3AD203B41FA5}">
                          <a16:colId xmlns:a16="http://schemas.microsoft.com/office/drawing/2014/main" val="2765978471"/>
                        </a:ext>
                      </a:extLst>
                    </a:gridCol>
                  </a:tblGrid>
                  <a:tr h="525291">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0" i="1" smtClean="0">
                                        <a:latin typeface="Cambria Math" panose="02040503050406030204" pitchFamily="18" charset="0"/>
                                      </a:rPr>
                                      <m:t>1</m:t>
                                    </m:r>
                                  </m:sub>
                                </m:sSub>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1" i="1" smtClean="0">
                                        <a:latin typeface="Cambria Math" panose="02040503050406030204" pitchFamily="18" charset="0"/>
                                      </a:rPr>
                                      <m:t>𝒙</m:t>
                                    </m:r>
                                  </m:e>
                                  <m:sub>
                                    <m:r>
                                      <a:rPr lang="en-US" altLang="zh-CN" sz="1400" b="1" i="1" smtClean="0">
                                        <a:latin typeface="Cambria Math" panose="02040503050406030204" pitchFamily="18" charset="0"/>
                                      </a:rPr>
                                      <m:t>𝟏</m:t>
                                    </m:r>
                                  </m:sub>
                                </m:sSub>
                                <m:r>
                                  <m:rPr>
                                    <m:nor/>
                                  </m:rPr>
                                  <a:rPr lang="zh-CN" altLang="en-US" sz="1400" dirty="0"/>
                                  <m:t> </m:t>
                                </m:r>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𝟐</m:t>
                                    </m:r>
                                  </m:sub>
                                </m:sSub>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i="1">
                                        <a:latin typeface="Cambria Math" panose="02040503050406030204" pitchFamily="18" charset="0"/>
                                      </a:rPr>
                                      <m:t>𝑣</m:t>
                                    </m:r>
                                  </m:e>
                                  <m:sub>
                                    <m:r>
                                      <a:rPr lang="en-US" altLang="zh-CN" sz="1400" b="1" i="1" smtClean="0">
                                        <a:latin typeface="Cambria Math" panose="02040503050406030204" pitchFamily="18" charset="0"/>
                                      </a:rPr>
                                      <m:t>𝟏</m:t>
                                    </m:r>
                                  </m:sub>
                                </m:sSub>
                                <m:d>
                                  <m:dPr>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𝟏</m:t>
                                        </m:r>
                                      </m:sub>
                                    </m:sSub>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b="1" i="1" smtClean="0">
                                            <a:latin typeface="Cambria Math" panose="02040503050406030204" pitchFamily="18" charset="0"/>
                                          </a:rPr>
                                          <m:t>𝟏</m:t>
                                        </m:r>
                                      </m:sub>
                                    </m:sSub>
                                  </m:e>
                                </m:d>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𝑓</m:t>
                                    </m:r>
                                  </m:e>
                                  <m:sub>
                                    <m:r>
                                      <a:rPr lang="en-US" altLang="zh-CN" sz="1400" b="1" i="1" smtClean="0">
                                        <a:latin typeface="Cambria Math" panose="02040503050406030204" pitchFamily="18" charset="0"/>
                                      </a:rPr>
                                      <m:t>𝟐</m:t>
                                    </m:r>
                                  </m:sub>
                                </m:sSub>
                                <m:d>
                                  <m:dPr>
                                    <m:ctrlPr>
                                      <a:rPr lang="en-US" altLang="zh-CN" sz="1400" b="0" i="1" smtClean="0">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𝟐</m:t>
                                        </m:r>
                                      </m:sub>
                                    </m:sSub>
                                  </m:e>
                                </m:d>
                              </m:oMath>
                            </m:oMathPara>
                          </a14:m>
                          <a:endParaRPr lang="zh-CN" altLang="en-US" sz="1400" dirty="0"/>
                        </a:p>
                      </a:txBody>
                      <a:tcPr/>
                    </a:tc>
                    <a:tc>
                      <a:txBody>
                        <a:bodyPr/>
                        <a:lstStyle/>
                        <a:p>
                          <a14:m>
                            <m:oMath xmlns:m="http://schemas.openxmlformats.org/officeDocument/2006/math">
                              <m:sSub>
                                <m:sSubPr>
                                  <m:ctrlPr>
                                    <a:rPr lang="en-US" altLang="zh-CN" sz="1400" i="1" smtClean="0">
                                      <a:latin typeface="Cambria Math" panose="02040503050406030204" pitchFamily="18" charset="0"/>
                                    </a:rPr>
                                  </m:ctrlPr>
                                </m:sSubPr>
                                <m:e>
                                  <m:r>
                                    <a:rPr lang="en-US" altLang="zh-CN" sz="1400" i="1">
                                      <a:latin typeface="Cambria Math" panose="02040503050406030204" pitchFamily="18" charset="0"/>
                                    </a:rPr>
                                    <m:t>𝑣</m:t>
                                  </m:r>
                                </m:e>
                                <m:sub>
                                  <m:r>
                                    <a:rPr lang="en-US" altLang="zh-CN" sz="1400" b="1" i="1" smtClean="0">
                                      <a:latin typeface="Cambria Math" panose="02040503050406030204" pitchFamily="18" charset="0"/>
                                    </a:rPr>
                                    <m:t>𝟏</m:t>
                                  </m:r>
                                </m:sub>
                              </m:sSub>
                              <m:d>
                                <m:dPr>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𝟏</m:t>
                                      </m:r>
                                    </m:sub>
                                  </m:sSub>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b="1" i="1" smtClean="0">
                                          <a:latin typeface="Cambria Math" panose="02040503050406030204" pitchFamily="18" charset="0"/>
                                        </a:rPr>
                                        <m:t>𝟏</m:t>
                                      </m:r>
                                    </m:sub>
                                  </m:sSub>
                                </m:e>
                              </m:d>
                            </m:oMath>
                          </a14:m>
                          <a:r>
                            <a:rPr lang="en-US" altLang="zh-CN" sz="1400" dirty="0" smtClean="0"/>
                            <a:t>+</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𝑓</m:t>
                                  </m:r>
                                </m:e>
                                <m:sub>
                                  <m:r>
                                    <a:rPr lang="en-US" altLang="zh-CN" sz="1400" b="1" i="1" smtClean="0">
                                      <a:latin typeface="Cambria Math" panose="02040503050406030204" pitchFamily="18" charset="0"/>
                                    </a:rPr>
                                    <m:t>𝟐</m:t>
                                  </m:r>
                                </m:sub>
                              </m:sSub>
                              <m:d>
                                <m:dPr>
                                  <m:ctrlPr>
                                    <a:rPr lang="en-US" altLang="zh-CN" sz="1400" b="0" i="1" smtClean="0">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𝟐</m:t>
                                      </m:r>
                                    </m:sub>
                                  </m:sSub>
                                </m:e>
                              </m:d>
                            </m:oMath>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𝑓</m:t>
                                    </m:r>
                                  </m:e>
                                  <m:sub>
                                    <m:r>
                                      <a:rPr lang="en-US" altLang="zh-CN" sz="1400" b="1" i="1" smtClean="0">
                                        <a:latin typeface="Cambria Math" panose="02040503050406030204" pitchFamily="18" charset="0"/>
                                      </a:rPr>
                                      <m:t>𝟏</m:t>
                                    </m:r>
                                  </m:sub>
                                </m:sSub>
                                <m:d>
                                  <m:dPr>
                                    <m:ctrlPr>
                                      <a:rPr lang="en-US" altLang="zh-CN" sz="1400" b="0" i="1" smtClean="0">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𝟏</m:t>
                                        </m:r>
                                      </m:sub>
                                    </m:sSub>
                                  </m:e>
                                </m:d>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CN" sz="1400" i="1" smtClean="0">
                                        <a:latin typeface="Cambria Math" panose="02040503050406030204" pitchFamily="18" charset="0"/>
                                      </a:rPr>
                                    </m:ctrlPr>
                                  </m:sSubSupPr>
                                  <m:e>
                                    <m:r>
                                      <a:rPr lang="en-US" altLang="zh-CN" sz="1400" b="1" i="1" smtClean="0">
                                        <a:latin typeface="Cambria Math" panose="02040503050406030204" pitchFamily="18" charset="0"/>
                                      </a:rPr>
                                      <m:t>𝒙</m:t>
                                    </m:r>
                                  </m:e>
                                  <m:sub>
                                    <m:r>
                                      <a:rPr lang="en-US" altLang="zh-CN" sz="1400" b="1" i="1" smtClean="0">
                                        <a:latin typeface="Cambria Math" panose="02040503050406030204" pitchFamily="18" charset="0"/>
                                      </a:rPr>
                                      <m:t>𝟏</m:t>
                                    </m:r>
                                  </m:sub>
                                  <m:sup>
                                    <m:r>
                                      <a:rPr lang="en-US" altLang="zh-CN" sz="1400" b="1" i="1" smtClean="0">
                                        <a:latin typeface="Cambria Math" panose="02040503050406030204" pitchFamily="18" charset="0"/>
                                      </a:rPr>
                                      <m:t>∗</m:t>
                                    </m:r>
                                  </m:sup>
                                </m:sSubSup>
                              </m:oMath>
                            </m:oMathPara>
                          </a14:m>
                          <a:endParaRPr lang="zh-CN" altLang="en-US" sz="1400" dirty="0"/>
                        </a:p>
                      </a:txBody>
                      <a:tcPr/>
                    </a:tc>
                    <a:extLst>
                      <a:ext uri="{0D108BD9-81ED-4DB2-BD59-A6C34878D82A}">
                        <a16:rowId xmlns:a16="http://schemas.microsoft.com/office/drawing/2014/main" val="37799757"/>
                      </a:ext>
                    </a:extLst>
                  </a:tr>
                  <a:tr h="308995">
                    <a:tc rowSpan="6">
                      <a:txBody>
                        <a:bodyPr/>
                        <a:lstStyle/>
                        <a:p>
                          <a:r>
                            <a:rPr lang="en-US" altLang="zh-CN" sz="1400" dirty="0" smtClean="0"/>
                            <a:t>5</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0</a:t>
                          </a:r>
                          <a:endParaRPr lang="zh-CN" altLang="en-US" sz="1400" dirty="0"/>
                        </a:p>
                      </a:txBody>
                      <a:tcPr/>
                    </a:tc>
                    <a:tc>
                      <a:txBody>
                        <a:bodyPr/>
                        <a:lstStyle/>
                        <a:p>
                          <a:pPr algn="l"/>
                          <a:r>
                            <a:rPr lang="en-US" altLang="zh-CN" sz="1400" dirty="0" smtClean="0"/>
                            <a:t>5</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21</a:t>
                          </a:r>
                          <a:endParaRPr lang="zh-CN" altLang="en-US" sz="1400" dirty="0"/>
                        </a:p>
                      </a:txBody>
                      <a:tcPr/>
                    </a:tc>
                    <a:tc>
                      <a:txBody>
                        <a:bodyPr/>
                        <a:lstStyle/>
                        <a:p>
                          <a:pPr algn="l"/>
                          <a:r>
                            <a:rPr lang="en-US" altLang="zh-CN" sz="1400" dirty="0" smtClean="0"/>
                            <a:t>21</a:t>
                          </a:r>
                          <a:endParaRPr lang="zh-CN" altLang="en-US" sz="1400" dirty="0"/>
                        </a:p>
                      </a:txBody>
                      <a:tcPr/>
                    </a:tc>
                    <a:tc rowSpan="6">
                      <a:txBody>
                        <a:bodyPr/>
                        <a:lstStyle/>
                        <a:p>
                          <a:pPr algn="l"/>
                          <a:r>
                            <a:rPr lang="en-US" altLang="zh-CN" sz="1400" dirty="0" smtClean="0"/>
                            <a:t>21</a:t>
                          </a:r>
                          <a:endParaRPr lang="zh-CN" altLang="en-US" sz="1400" dirty="0"/>
                        </a:p>
                      </a:txBody>
                      <a:tcPr/>
                    </a:tc>
                    <a:tc rowSpan="6">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0,2</a:t>
                          </a:r>
                          <a:endParaRPr lang="zh-CN" altLang="en-US" sz="1400" dirty="0"/>
                        </a:p>
                      </a:txBody>
                      <a:tcPr/>
                    </a:tc>
                    <a:extLst>
                      <a:ext uri="{0D108BD9-81ED-4DB2-BD59-A6C34878D82A}">
                        <a16:rowId xmlns:a16="http://schemas.microsoft.com/office/drawing/2014/main" val="2837520744"/>
                      </a:ext>
                    </a:extLst>
                  </a:tr>
                  <a:tr h="308995">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r>
                            <a:rPr lang="en-US" altLang="zh-CN" sz="1400" dirty="0" smtClean="0"/>
                            <a:t>3</a:t>
                          </a:r>
                          <a:endParaRPr lang="zh-CN" altLang="en-US" sz="1400" dirty="0"/>
                        </a:p>
                      </a:txBody>
                      <a:tcPr/>
                    </a:tc>
                    <a:tc>
                      <a:txBody>
                        <a:bodyPr/>
                        <a:lstStyle/>
                        <a:p>
                          <a:pPr algn="l"/>
                          <a:r>
                            <a:rPr lang="en-US" altLang="zh-CN" sz="1400" dirty="0" smtClean="0"/>
                            <a:t>16</a:t>
                          </a:r>
                          <a:endParaRPr lang="zh-CN" altLang="en-US" sz="1400" dirty="0"/>
                        </a:p>
                      </a:txBody>
                      <a:tcPr/>
                    </a:tc>
                    <a:tc>
                      <a:txBody>
                        <a:bodyPr/>
                        <a:lstStyle/>
                        <a:p>
                          <a:pPr algn="l"/>
                          <a:r>
                            <a:rPr lang="en-US" altLang="zh-CN" sz="1400" dirty="0" smtClean="0"/>
                            <a:t>19</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944048361"/>
                      </a:ext>
                    </a:extLst>
                  </a:tr>
                  <a:tr h="308995">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tc>
                      <a:txBody>
                        <a:bodyPr/>
                        <a:lstStyle/>
                        <a:p>
                          <a:pPr algn="l"/>
                          <a:r>
                            <a:rPr lang="en-US" altLang="zh-CN" sz="1400" dirty="0" smtClean="0"/>
                            <a:t>3</a:t>
                          </a:r>
                          <a:endParaRPr lang="zh-CN" altLang="en-US" sz="1400" dirty="0"/>
                        </a:p>
                      </a:txBody>
                      <a:tcPr/>
                    </a:tc>
                    <a:tc>
                      <a:txBody>
                        <a:bodyPr/>
                        <a:lstStyle/>
                        <a:p>
                          <a:r>
                            <a:rPr lang="en-US" altLang="zh-CN" sz="1400" dirty="0" smtClean="0"/>
                            <a:t>7</a:t>
                          </a:r>
                          <a:endParaRPr lang="zh-CN" altLang="en-US" sz="1400" dirty="0"/>
                        </a:p>
                      </a:txBody>
                      <a:tcPr/>
                    </a:tc>
                    <a:tc>
                      <a:txBody>
                        <a:bodyPr/>
                        <a:lstStyle/>
                        <a:p>
                          <a:pPr algn="l"/>
                          <a:r>
                            <a:rPr lang="en-US" altLang="zh-CN" sz="1400" dirty="0" smtClean="0"/>
                            <a:t>14</a:t>
                          </a:r>
                          <a:endParaRPr lang="zh-CN" altLang="en-US" sz="1400" dirty="0"/>
                        </a:p>
                      </a:txBody>
                      <a:tcPr/>
                    </a:tc>
                    <a:tc>
                      <a:txBody>
                        <a:bodyPr/>
                        <a:lstStyle/>
                        <a:p>
                          <a:pPr algn="l"/>
                          <a:r>
                            <a:rPr lang="en-US" altLang="zh-CN" sz="1400" dirty="0" smtClean="0"/>
                            <a:t>21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070078167"/>
                      </a:ext>
                    </a:extLst>
                  </a:tr>
                  <a:tr h="308995">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9</a:t>
                          </a:r>
                          <a:endParaRPr lang="zh-CN" altLang="en-US" sz="1400" dirty="0"/>
                        </a:p>
                      </a:txBody>
                      <a:tcPr/>
                    </a:tc>
                    <a:tc>
                      <a:txBody>
                        <a:bodyPr/>
                        <a:lstStyle/>
                        <a:p>
                          <a:pPr algn="l"/>
                          <a:r>
                            <a:rPr lang="en-US" altLang="zh-CN" sz="1400" dirty="0" smtClean="0"/>
                            <a:t>10</a:t>
                          </a:r>
                          <a:endParaRPr lang="zh-CN" altLang="en-US" sz="1400" dirty="0"/>
                        </a:p>
                      </a:txBody>
                      <a:tcPr/>
                    </a:tc>
                    <a:tc>
                      <a:txBody>
                        <a:bodyPr/>
                        <a:lstStyle/>
                        <a:p>
                          <a:pPr algn="l"/>
                          <a:r>
                            <a:rPr lang="en-US" altLang="zh-CN" sz="1400" dirty="0" smtClean="0"/>
                            <a:t>19</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703505372"/>
                      </a:ext>
                    </a:extLst>
                  </a:tr>
                  <a:tr h="308995">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4</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12</a:t>
                          </a:r>
                          <a:endParaRPr lang="zh-CN" altLang="en-US" sz="1400" dirty="0"/>
                        </a:p>
                      </a:txBody>
                      <a:tcPr/>
                    </a:tc>
                    <a:tc>
                      <a:txBody>
                        <a:bodyPr/>
                        <a:lstStyle/>
                        <a:p>
                          <a:pPr algn="l"/>
                          <a:r>
                            <a:rPr lang="en-US" altLang="zh-CN" sz="1400" dirty="0" smtClean="0"/>
                            <a:t>5</a:t>
                          </a:r>
                          <a:endParaRPr lang="zh-CN" altLang="en-US" sz="1400" dirty="0"/>
                        </a:p>
                      </a:txBody>
                      <a:tcPr/>
                    </a:tc>
                    <a:tc>
                      <a:txBody>
                        <a:bodyPr/>
                        <a:lstStyle/>
                        <a:p>
                          <a:pPr algn="l"/>
                          <a:r>
                            <a:rPr lang="en-US" altLang="zh-CN" sz="1400" dirty="0" smtClean="0"/>
                            <a:t>17</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772623321"/>
                      </a:ext>
                    </a:extLst>
                  </a:tr>
                  <a:tr h="308995">
                    <a:tc vMerge="1">
                      <a:txBody>
                        <a:bodyPr/>
                        <a:lstStyle/>
                        <a:p>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5</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13</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13</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993121255"/>
                      </a:ext>
                    </a:extLst>
                  </a:tr>
                </a:tbl>
              </a:graphicData>
            </a:graphic>
          </p:graphicFrame>
        </mc:Choice>
        <mc:Fallback xmlns="">
          <p:graphicFrame>
            <p:nvGraphicFramePr>
              <p:cNvPr id="20" name="表格 19"/>
              <p:cNvGraphicFramePr>
                <a:graphicFrameLocks noGrp="1"/>
              </p:cNvGraphicFramePr>
              <p:nvPr>
                <p:extLst>
                  <p:ext uri="{D42A27DB-BD31-4B8C-83A1-F6EECF244321}">
                    <p14:modId xmlns:p14="http://schemas.microsoft.com/office/powerpoint/2010/main" val="2149681887"/>
                  </p:ext>
                </p:extLst>
              </p:nvPr>
            </p:nvGraphicFramePr>
            <p:xfrm>
              <a:off x="-9421" y="-30382"/>
              <a:ext cx="4108766" cy="2379261"/>
            </p:xfrm>
            <a:graphic>
              <a:graphicData uri="http://schemas.openxmlformats.org/drawingml/2006/table">
                <a:tbl>
                  <a:tblPr firstRow="1" bandRow="1">
                    <a:tableStyleId>{5C22544A-7EE6-4342-B048-85BDC9FD1C3A}</a:tableStyleId>
                  </a:tblPr>
                  <a:tblGrid>
                    <a:gridCol w="270997">
                      <a:extLst>
                        <a:ext uri="{9D8B030D-6E8A-4147-A177-3AD203B41FA5}">
                          <a16:colId xmlns:a16="http://schemas.microsoft.com/office/drawing/2014/main" val="1816936163"/>
                        </a:ext>
                      </a:extLst>
                    </a:gridCol>
                    <a:gridCol w="335669">
                      <a:extLst>
                        <a:ext uri="{9D8B030D-6E8A-4147-A177-3AD203B41FA5}">
                          <a16:colId xmlns:a16="http://schemas.microsoft.com/office/drawing/2014/main" val="1250546864"/>
                        </a:ext>
                      </a:extLst>
                    </a:gridCol>
                    <a:gridCol w="276161">
                      <a:extLst>
                        <a:ext uri="{9D8B030D-6E8A-4147-A177-3AD203B41FA5}">
                          <a16:colId xmlns:a16="http://schemas.microsoft.com/office/drawing/2014/main" val="3166245595"/>
                        </a:ext>
                      </a:extLst>
                    </a:gridCol>
                    <a:gridCol w="740739">
                      <a:extLst>
                        <a:ext uri="{9D8B030D-6E8A-4147-A177-3AD203B41FA5}">
                          <a16:colId xmlns:a16="http://schemas.microsoft.com/office/drawing/2014/main" val="3148481169"/>
                        </a:ext>
                      </a:extLst>
                    </a:gridCol>
                    <a:gridCol w="522099">
                      <a:extLst>
                        <a:ext uri="{9D8B030D-6E8A-4147-A177-3AD203B41FA5}">
                          <a16:colId xmlns:a16="http://schemas.microsoft.com/office/drawing/2014/main" val="644265878"/>
                        </a:ext>
                      </a:extLst>
                    </a:gridCol>
                    <a:gridCol w="1203077">
                      <a:extLst>
                        <a:ext uri="{9D8B030D-6E8A-4147-A177-3AD203B41FA5}">
                          <a16:colId xmlns:a16="http://schemas.microsoft.com/office/drawing/2014/main" val="938889560"/>
                        </a:ext>
                      </a:extLst>
                    </a:gridCol>
                    <a:gridCol w="440591">
                      <a:extLst>
                        <a:ext uri="{9D8B030D-6E8A-4147-A177-3AD203B41FA5}">
                          <a16:colId xmlns:a16="http://schemas.microsoft.com/office/drawing/2014/main" val="1613744912"/>
                        </a:ext>
                      </a:extLst>
                    </a:gridCol>
                    <a:gridCol w="319433">
                      <a:extLst>
                        <a:ext uri="{9D8B030D-6E8A-4147-A177-3AD203B41FA5}">
                          <a16:colId xmlns:a16="http://schemas.microsoft.com/office/drawing/2014/main" val="2765978471"/>
                        </a:ext>
                      </a:extLst>
                    </a:gridCol>
                  </a:tblGrid>
                  <a:tr h="525291">
                    <a:tc>
                      <a:txBody>
                        <a:bodyPr/>
                        <a:lstStyle/>
                        <a:p>
                          <a:endParaRPr lang="zh-CN"/>
                        </a:p>
                      </a:txBody>
                      <a:tcPr>
                        <a:blipFill>
                          <a:blip r:embed="rId3"/>
                          <a:stretch>
                            <a:fillRect l="-2222" t="-2326" r="-1408889" b="-365116"/>
                          </a:stretch>
                        </a:blipFill>
                      </a:tcPr>
                    </a:tc>
                    <a:tc>
                      <a:txBody>
                        <a:bodyPr/>
                        <a:lstStyle/>
                        <a:p>
                          <a:endParaRPr lang="zh-CN"/>
                        </a:p>
                      </a:txBody>
                      <a:tcPr>
                        <a:blipFill>
                          <a:blip r:embed="rId3"/>
                          <a:stretch>
                            <a:fillRect l="-83636" t="-2326" r="-1052727" b="-365116"/>
                          </a:stretch>
                        </a:blipFill>
                      </a:tcPr>
                    </a:tc>
                    <a:tc>
                      <a:txBody>
                        <a:bodyPr/>
                        <a:lstStyle/>
                        <a:p>
                          <a:endParaRPr lang="zh-CN"/>
                        </a:p>
                      </a:txBody>
                      <a:tcPr>
                        <a:blipFill>
                          <a:blip r:embed="rId3"/>
                          <a:stretch>
                            <a:fillRect l="-224444" t="-2326" r="-1186667" b="-365116"/>
                          </a:stretch>
                        </a:blipFill>
                      </a:tcPr>
                    </a:tc>
                    <a:tc>
                      <a:txBody>
                        <a:bodyPr/>
                        <a:lstStyle/>
                        <a:p>
                          <a:endParaRPr lang="zh-CN"/>
                        </a:p>
                      </a:txBody>
                      <a:tcPr>
                        <a:blipFill>
                          <a:blip r:embed="rId3"/>
                          <a:stretch>
                            <a:fillRect l="-119672" t="-2326" r="-337705" b="-365116"/>
                          </a:stretch>
                        </a:blipFill>
                      </a:tcPr>
                    </a:tc>
                    <a:tc>
                      <a:txBody>
                        <a:bodyPr/>
                        <a:lstStyle/>
                        <a:p>
                          <a:endParaRPr lang="zh-CN"/>
                        </a:p>
                      </a:txBody>
                      <a:tcPr>
                        <a:blipFill>
                          <a:blip r:embed="rId3"/>
                          <a:stretch>
                            <a:fillRect l="-315294" t="-2326" r="-384706" b="-365116"/>
                          </a:stretch>
                        </a:blipFill>
                      </a:tcPr>
                    </a:tc>
                    <a:tc>
                      <a:txBody>
                        <a:bodyPr/>
                        <a:lstStyle/>
                        <a:p>
                          <a:endParaRPr lang="zh-CN"/>
                        </a:p>
                      </a:txBody>
                      <a:tcPr>
                        <a:blipFill>
                          <a:blip r:embed="rId3"/>
                          <a:stretch>
                            <a:fillRect l="-178283" t="-2326" r="-65152" b="-365116"/>
                          </a:stretch>
                        </a:blipFill>
                      </a:tcPr>
                    </a:tc>
                    <a:tc>
                      <a:txBody>
                        <a:bodyPr/>
                        <a:lstStyle/>
                        <a:p>
                          <a:endParaRPr lang="zh-CN"/>
                        </a:p>
                      </a:txBody>
                      <a:tcPr>
                        <a:blipFill>
                          <a:blip r:embed="rId3"/>
                          <a:stretch>
                            <a:fillRect l="-754795" t="-2326" r="-76712" b="-365116"/>
                          </a:stretch>
                        </a:blipFill>
                      </a:tcPr>
                    </a:tc>
                    <a:tc>
                      <a:txBody>
                        <a:bodyPr/>
                        <a:lstStyle/>
                        <a:p>
                          <a:endParaRPr lang="zh-CN"/>
                        </a:p>
                      </a:txBody>
                      <a:tcPr>
                        <a:blipFill>
                          <a:blip r:embed="rId3"/>
                          <a:stretch>
                            <a:fillRect l="-1200000" t="-2326" r="-7692" b="-365116"/>
                          </a:stretch>
                        </a:blipFill>
                      </a:tcPr>
                    </a:tc>
                    <a:extLst>
                      <a:ext uri="{0D108BD9-81ED-4DB2-BD59-A6C34878D82A}">
                        <a16:rowId xmlns:a16="http://schemas.microsoft.com/office/drawing/2014/main" val="37799757"/>
                      </a:ext>
                    </a:extLst>
                  </a:tr>
                  <a:tr h="308995">
                    <a:tc rowSpan="6">
                      <a:txBody>
                        <a:bodyPr/>
                        <a:lstStyle/>
                        <a:p>
                          <a:pPr/>
                          <a:r>
                            <a:rPr lang="en-US" altLang="zh-CN" sz="1400" dirty="0" smtClean="0"/>
                            <a:t>5</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0</a:t>
                          </a:r>
                          <a:endParaRPr lang="zh-CN" altLang="en-US" sz="1400" dirty="0"/>
                        </a:p>
                      </a:txBody>
                      <a:tcPr/>
                    </a:tc>
                    <a:tc>
                      <a:txBody>
                        <a:bodyPr/>
                        <a:lstStyle/>
                        <a:p>
                          <a:pPr algn="l"/>
                          <a:r>
                            <a:rPr lang="en-US" altLang="zh-CN" sz="1400" dirty="0" smtClean="0"/>
                            <a:t>5</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21</a:t>
                          </a:r>
                          <a:endParaRPr lang="zh-CN" altLang="en-US" sz="1400" dirty="0"/>
                        </a:p>
                      </a:txBody>
                      <a:tcPr/>
                    </a:tc>
                    <a:tc>
                      <a:txBody>
                        <a:bodyPr/>
                        <a:lstStyle/>
                        <a:p>
                          <a:pPr algn="l"/>
                          <a:r>
                            <a:rPr lang="en-US" altLang="zh-CN" sz="1400" dirty="0" smtClean="0"/>
                            <a:t>21</a:t>
                          </a:r>
                          <a:endParaRPr lang="zh-CN" altLang="en-US" sz="1400" dirty="0"/>
                        </a:p>
                      </a:txBody>
                      <a:tcPr/>
                    </a:tc>
                    <a:tc rowSpan="6">
                      <a:txBody>
                        <a:bodyPr/>
                        <a:lstStyle/>
                        <a:p>
                          <a:pPr algn="l"/>
                          <a:r>
                            <a:rPr lang="en-US" altLang="zh-CN" sz="1400" dirty="0" smtClean="0"/>
                            <a:t>21</a:t>
                          </a:r>
                          <a:endParaRPr lang="zh-CN" altLang="en-US" sz="1400" dirty="0"/>
                        </a:p>
                      </a:txBody>
                      <a:tcPr/>
                    </a:tc>
                    <a:tc rowSpan="6">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0,2</a:t>
                          </a:r>
                          <a:endParaRPr lang="zh-CN" altLang="en-US" sz="1400" dirty="0"/>
                        </a:p>
                      </a:txBody>
                      <a:tcPr/>
                    </a:tc>
                    <a:extLst>
                      <a:ext uri="{0D108BD9-81ED-4DB2-BD59-A6C34878D82A}">
                        <a16:rowId xmlns:a16="http://schemas.microsoft.com/office/drawing/2014/main" val="2837520744"/>
                      </a:ext>
                    </a:extLst>
                  </a:tr>
                  <a:tr h="308995">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r>
                            <a:rPr lang="en-US" altLang="zh-CN" sz="1400" dirty="0" smtClean="0"/>
                            <a:t>3</a:t>
                          </a:r>
                          <a:endParaRPr lang="zh-CN" altLang="en-US" sz="1400" dirty="0"/>
                        </a:p>
                      </a:txBody>
                      <a:tcPr/>
                    </a:tc>
                    <a:tc>
                      <a:txBody>
                        <a:bodyPr/>
                        <a:lstStyle/>
                        <a:p>
                          <a:pPr algn="l"/>
                          <a:r>
                            <a:rPr lang="en-US" altLang="zh-CN" sz="1400" dirty="0" smtClean="0"/>
                            <a:t>16</a:t>
                          </a:r>
                          <a:endParaRPr lang="zh-CN" altLang="en-US" sz="1400" dirty="0"/>
                        </a:p>
                      </a:txBody>
                      <a:tcPr/>
                    </a:tc>
                    <a:tc>
                      <a:txBody>
                        <a:bodyPr/>
                        <a:lstStyle/>
                        <a:p>
                          <a:pPr algn="l"/>
                          <a:r>
                            <a:rPr lang="en-US" altLang="zh-CN" sz="1400" dirty="0" smtClean="0"/>
                            <a:t>19</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944048361"/>
                      </a:ext>
                    </a:extLst>
                  </a:tr>
                  <a:tr h="308995">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2</a:t>
                          </a:r>
                          <a:endParaRPr lang="zh-CN" altLang="en-US" sz="1400" dirty="0"/>
                        </a:p>
                      </a:txBody>
                      <a:tcPr/>
                    </a:tc>
                    <a:tc>
                      <a:txBody>
                        <a:bodyPr/>
                        <a:lstStyle/>
                        <a:p>
                          <a:pPr algn="l"/>
                          <a:r>
                            <a:rPr lang="en-US" altLang="zh-CN" sz="1400" dirty="0" smtClean="0"/>
                            <a:t>3</a:t>
                          </a:r>
                          <a:endParaRPr lang="zh-CN" altLang="en-US" sz="1400" dirty="0"/>
                        </a:p>
                      </a:txBody>
                      <a:tcPr/>
                    </a:tc>
                    <a:tc>
                      <a:txBody>
                        <a:bodyPr/>
                        <a:lstStyle/>
                        <a:p>
                          <a:r>
                            <a:rPr lang="en-US" altLang="zh-CN" sz="1400" dirty="0" smtClean="0"/>
                            <a:t>7</a:t>
                          </a:r>
                          <a:endParaRPr lang="zh-CN" altLang="en-US" sz="1400" dirty="0"/>
                        </a:p>
                      </a:txBody>
                      <a:tcPr/>
                    </a:tc>
                    <a:tc>
                      <a:txBody>
                        <a:bodyPr/>
                        <a:lstStyle/>
                        <a:p>
                          <a:pPr algn="l"/>
                          <a:r>
                            <a:rPr lang="en-US" altLang="zh-CN" sz="1400" dirty="0" smtClean="0"/>
                            <a:t>14</a:t>
                          </a:r>
                          <a:endParaRPr lang="zh-CN" altLang="en-US" sz="1400" dirty="0"/>
                        </a:p>
                      </a:txBody>
                      <a:tcPr/>
                    </a:tc>
                    <a:tc>
                      <a:txBody>
                        <a:bodyPr/>
                        <a:lstStyle/>
                        <a:p>
                          <a:pPr algn="l"/>
                          <a:r>
                            <a:rPr lang="en-US" altLang="zh-CN" sz="1400" dirty="0" smtClean="0"/>
                            <a:t>21</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070078167"/>
                      </a:ext>
                    </a:extLst>
                  </a:tr>
                  <a:tr h="308995">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tc>
                      <a:txBody>
                        <a:bodyPr/>
                        <a:lstStyle/>
                        <a:p>
                          <a:pPr algn="l"/>
                          <a:r>
                            <a:rPr lang="en-US" altLang="zh-CN" sz="1400" dirty="0" smtClean="0"/>
                            <a:t>2</a:t>
                          </a:r>
                          <a:endParaRPr lang="zh-CN" altLang="en-US" sz="1400" dirty="0"/>
                        </a:p>
                      </a:txBody>
                      <a:tcPr/>
                    </a:tc>
                    <a:tc>
                      <a:txBody>
                        <a:bodyPr/>
                        <a:lstStyle/>
                        <a:p>
                          <a:r>
                            <a:rPr lang="en-US" altLang="zh-CN" sz="1400" dirty="0" smtClean="0"/>
                            <a:t>9</a:t>
                          </a:r>
                          <a:endParaRPr lang="zh-CN" altLang="en-US" sz="1400" dirty="0"/>
                        </a:p>
                      </a:txBody>
                      <a:tcPr/>
                    </a:tc>
                    <a:tc>
                      <a:txBody>
                        <a:bodyPr/>
                        <a:lstStyle/>
                        <a:p>
                          <a:pPr algn="l"/>
                          <a:r>
                            <a:rPr lang="en-US" altLang="zh-CN" sz="1400" dirty="0" smtClean="0"/>
                            <a:t>10</a:t>
                          </a:r>
                          <a:endParaRPr lang="zh-CN" altLang="en-US" sz="1400" dirty="0"/>
                        </a:p>
                      </a:txBody>
                      <a:tcPr/>
                    </a:tc>
                    <a:tc>
                      <a:txBody>
                        <a:bodyPr/>
                        <a:lstStyle/>
                        <a:p>
                          <a:pPr algn="l"/>
                          <a:r>
                            <a:rPr lang="en-US" altLang="zh-CN" sz="1400" dirty="0" smtClean="0"/>
                            <a:t>19</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1703505372"/>
                      </a:ext>
                    </a:extLst>
                  </a:tr>
                  <a:tr h="308995">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4</a:t>
                          </a:r>
                          <a:endParaRPr lang="zh-CN" altLang="en-US" sz="1400" dirty="0"/>
                        </a:p>
                      </a:txBody>
                      <a:tcPr/>
                    </a:tc>
                    <a:tc>
                      <a:txBody>
                        <a:bodyPr/>
                        <a:lstStyle/>
                        <a:p>
                          <a:pPr algn="l"/>
                          <a:r>
                            <a:rPr lang="en-US" altLang="zh-CN" sz="1400" dirty="0" smtClean="0"/>
                            <a:t>1</a:t>
                          </a:r>
                          <a:endParaRPr lang="zh-CN" altLang="en-US" sz="1400" dirty="0"/>
                        </a:p>
                      </a:txBody>
                      <a:tcPr/>
                    </a:tc>
                    <a:tc>
                      <a:txBody>
                        <a:bodyPr/>
                        <a:lstStyle/>
                        <a:p>
                          <a:r>
                            <a:rPr lang="en-US" altLang="zh-CN" sz="1400" dirty="0" smtClean="0"/>
                            <a:t>12</a:t>
                          </a:r>
                          <a:endParaRPr lang="zh-CN" altLang="en-US" sz="1400" dirty="0"/>
                        </a:p>
                      </a:txBody>
                      <a:tcPr/>
                    </a:tc>
                    <a:tc>
                      <a:txBody>
                        <a:bodyPr/>
                        <a:lstStyle/>
                        <a:p>
                          <a:pPr algn="l"/>
                          <a:r>
                            <a:rPr lang="en-US" altLang="zh-CN" sz="1400" dirty="0" smtClean="0"/>
                            <a:t>5</a:t>
                          </a:r>
                          <a:endParaRPr lang="zh-CN" altLang="en-US" sz="1400" dirty="0"/>
                        </a:p>
                      </a:txBody>
                      <a:tcPr/>
                    </a:tc>
                    <a:tc>
                      <a:txBody>
                        <a:bodyPr/>
                        <a:lstStyle/>
                        <a:p>
                          <a:pPr algn="l"/>
                          <a:r>
                            <a:rPr lang="en-US" altLang="zh-CN" sz="1400" dirty="0" smtClean="0"/>
                            <a:t>17</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772623321"/>
                      </a:ext>
                    </a:extLst>
                  </a:tr>
                  <a:tr h="308995">
                    <a:tc vMerge="1">
                      <a:txBody>
                        <a:bodyPr/>
                        <a:lstStyle/>
                        <a:p>
                          <a:pPr/>
                          <a:endParaRPr lang="zh-CN" alt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5</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13</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13</a:t>
                          </a:r>
                          <a:endParaRPr lang="zh-CN" altLang="en-US" sz="1400" dirty="0"/>
                        </a:p>
                      </a:txBody>
                      <a:tcPr/>
                    </a:tc>
                    <a:tc vMerge="1">
                      <a:txBody>
                        <a:bodyPr/>
                        <a:lstStyle/>
                        <a:p>
                          <a:pPr algn="l"/>
                          <a:endParaRPr lang="zh-CN" altLang="en-US" sz="14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tc>
                    <a:extLst>
                      <a:ext uri="{0D108BD9-81ED-4DB2-BD59-A6C34878D82A}">
                        <a16:rowId xmlns:a16="http://schemas.microsoft.com/office/drawing/2014/main" val="399312125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6" name="表格 15"/>
              <p:cNvGraphicFramePr>
                <a:graphicFrameLocks noGrp="1"/>
              </p:cNvGraphicFramePr>
              <p:nvPr>
                <p:extLst>
                  <p:ext uri="{D42A27DB-BD31-4B8C-83A1-F6EECF244321}">
                    <p14:modId xmlns:p14="http://schemas.microsoft.com/office/powerpoint/2010/main" val="3732271958"/>
                  </p:ext>
                </p:extLst>
              </p:nvPr>
            </p:nvGraphicFramePr>
            <p:xfrm>
              <a:off x="14728" y="3857271"/>
              <a:ext cx="4099345" cy="2346960"/>
            </p:xfrm>
            <a:graphic>
              <a:graphicData uri="http://schemas.openxmlformats.org/drawingml/2006/table">
                <a:tbl>
                  <a:tblPr firstRow="1" bandRow="1">
                    <a:tableStyleId>{5C22544A-7EE6-4342-B048-85BDC9FD1C3A}</a:tableStyleId>
                  </a:tblPr>
                  <a:tblGrid>
                    <a:gridCol w="290919">
                      <a:extLst>
                        <a:ext uri="{9D8B030D-6E8A-4147-A177-3AD203B41FA5}">
                          <a16:colId xmlns:a16="http://schemas.microsoft.com/office/drawing/2014/main" val="1816936163"/>
                        </a:ext>
                      </a:extLst>
                    </a:gridCol>
                    <a:gridCol w="353577">
                      <a:extLst>
                        <a:ext uri="{9D8B030D-6E8A-4147-A177-3AD203B41FA5}">
                          <a16:colId xmlns:a16="http://schemas.microsoft.com/office/drawing/2014/main" val="1250546864"/>
                        </a:ext>
                      </a:extLst>
                    </a:gridCol>
                    <a:gridCol w="765165">
                      <a:extLst>
                        <a:ext uri="{9D8B030D-6E8A-4147-A177-3AD203B41FA5}">
                          <a16:colId xmlns:a16="http://schemas.microsoft.com/office/drawing/2014/main" val="3148481169"/>
                        </a:ext>
                      </a:extLst>
                    </a:gridCol>
                    <a:gridCol w="542484">
                      <a:extLst>
                        <a:ext uri="{9D8B030D-6E8A-4147-A177-3AD203B41FA5}">
                          <a16:colId xmlns:a16="http://schemas.microsoft.com/office/drawing/2014/main" val="644265878"/>
                        </a:ext>
                      </a:extLst>
                    </a:gridCol>
                    <a:gridCol w="1235134">
                      <a:extLst>
                        <a:ext uri="{9D8B030D-6E8A-4147-A177-3AD203B41FA5}">
                          <a16:colId xmlns:a16="http://schemas.microsoft.com/office/drawing/2014/main" val="938889560"/>
                        </a:ext>
                      </a:extLst>
                    </a:gridCol>
                    <a:gridCol w="542484">
                      <a:extLst>
                        <a:ext uri="{9D8B030D-6E8A-4147-A177-3AD203B41FA5}">
                          <a16:colId xmlns:a16="http://schemas.microsoft.com/office/drawing/2014/main" val="1613744912"/>
                        </a:ext>
                      </a:extLst>
                    </a:gridCol>
                    <a:gridCol w="369582">
                      <a:extLst>
                        <a:ext uri="{9D8B030D-6E8A-4147-A177-3AD203B41FA5}">
                          <a16:colId xmlns:a16="http://schemas.microsoft.com/office/drawing/2014/main" val="2765978471"/>
                        </a:ext>
                      </a:extLst>
                    </a:gridCol>
                  </a:tblGrid>
                  <a:tr h="270827">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0" i="1" smtClean="0">
                                        <a:latin typeface="Cambria Math" panose="02040503050406030204" pitchFamily="18" charset="0"/>
                                      </a:rPr>
                                      <m:t>3</m:t>
                                    </m:r>
                                  </m:sub>
                                </m:sSub>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1" i="1" smtClean="0">
                                        <a:latin typeface="Cambria Math" panose="02040503050406030204" pitchFamily="18" charset="0"/>
                                      </a:rPr>
                                      <m:t>𝒙</m:t>
                                    </m:r>
                                  </m:e>
                                  <m:sub>
                                    <m:r>
                                      <a:rPr lang="en-US" altLang="zh-CN" sz="1400" b="1" i="1" smtClean="0">
                                        <a:latin typeface="Cambria Math" panose="02040503050406030204" pitchFamily="18" charset="0"/>
                                      </a:rPr>
                                      <m:t>𝟑</m:t>
                                    </m:r>
                                  </m:sub>
                                </m:sSub>
                                <m:r>
                                  <m:rPr>
                                    <m:nor/>
                                  </m:rPr>
                                  <a:rPr lang="zh-CN" altLang="en-US" sz="1400" dirty="0"/>
                                  <m:t> </m:t>
                                </m:r>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i="1">
                                        <a:latin typeface="Cambria Math" panose="02040503050406030204" pitchFamily="18" charset="0"/>
                                      </a:rPr>
                                      <m:t>𝑣</m:t>
                                    </m:r>
                                  </m:e>
                                  <m:sub>
                                    <m:r>
                                      <a:rPr lang="en-US" altLang="zh-CN" sz="1400" b="1" i="1" smtClean="0">
                                        <a:latin typeface="Cambria Math" panose="02040503050406030204" pitchFamily="18" charset="0"/>
                                      </a:rPr>
                                      <m:t>𝟑</m:t>
                                    </m:r>
                                  </m:sub>
                                </m:sSub>
                                <m:d>
                                  <m:dPr>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𝟑</m:t>
                                        </m:r>
                                      </m:sub>
                                    </m:sSub>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b="1" i="1" smtClean="0">
                                            <a:latin typeface="Cambria Math" panose="02040503050406030204" pitchFamily="18" charset="0"/>
                                          </a:rPr>
                                          <m:t>𝟑</m:t>
                                        </m:r>
                                      </m:sub>
                                    </m:sSub>
                                  </m:e>
                                </m:d>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𝑓</m:t>
                                    </m:r>
                                  </m:e>
                                  <m:sub>
                                    <m:r>
                                      <a:rPr lang="en-US" altLang="zh-CN" sz="1400" b="1" i="1" smtClean="0">
                                        <a:latin typeface="Cambria Math" panose="02040503050406030204" pitchFamily="18" charset="0"/>
                                      </a:rPr>
                                      <m:t>𝟒</m:t>
                                    </m:r>
                                  </m:sub>
                                </m:sSub>
                                <m:d>
                                  <m:dPr>
                                    <m:ctrlPr>
                                      <a:rPr lang="en-US" altLang="zh-CN" sz="1400" b="0" i="1" smtClean="0">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𝟒</m:t>
                                        </m:r>
                                      </m:sub>
                                    </m:sSub>
                                  </m:e>
                                </m:d>
                              </m:oMath>
                            </m:oMathPara>
                          </a14:m>
                          <a:endParaRPr lang="zh-CN" altLang="en-US" sz="1400" dirty="0"/>
                        </a:p>
                      </a:txBody>
                      <a:tcPr/>
                    </a:tc>
                    <a:tc>
                      <a:txBody>
                        <a:bodyPr/>
                        <a:lstStyle/>
                        <a:p>
                          <a14:m>
                            <m:oMath xmlns:m="http://schemas.openxmlformats.org/officeDocument/2006/math">
                              <m:sSub>
                                <m:sSubPr>
                                  <m:ctrlPr>
                                    <a:rPr lang="en-US" altLang="zh-CN" sz="1400" i="1" smtClean="0">
                                      <a:latin typeface="Cambria Math" panose="02040503050406030204" pitchFamily="18" charset="0"/>
                                    </a:rPr>
                                  </m:ctrlPr>
                                </m:sSubPr>
                                <m:e>
                                  <m:r>
                                    <a:rPr lang="en-US" altLang="zh-CN" sz="1400" i="1">
                                      <a:latin typeface="Cambria Math" panose="02040503050406030204" pitchFamily="18" charset="0"/>
                                    </a:rPr>
                                    <m:t>𝑣</m:t>
                                  </m:r>
                                </m:e>
                                <m:sub>
                                  <m:r>
                                    <a:rPr lang="en-US" altLang="zh-CN" sz="1400" b="1" i="1" smtClean="0">
                                      <a:latin typeface="Cambria Math" panose="02040503050406030204" pitchFamily="18" charset="0"/>
                                    </a:rPr>
                                    <m:t>𝟑</m:t>
                                  </m:r>
                                </m:sub>
                              </m:sSub>
                              <m:d>
                                <m:dPr>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𝟑</m:t>
                                      </m:r>
                                    </m:sub>
                                  </m:sSub>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b="1" i="1" smtClean="0">
                                          <a:latin typeface="Cambria Math" panose="02040503050406030204" pitchFamily="18" charset="0"/>
                                        </a:rPr>
                                        <m:t>𝟑</m:t>
                                      </m:r>
                                    </m:sub>
                                  </m:sSub>
                                </m:e>
                              </m:d>
                            </m:oMath>
                          </a14:m>
                          <a:r>
                            <a:rPr lang="en-US" altLang="zh-CN" sz="1400" dirty="0" smtClean="0"/>
                            <a:t>+</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𝑓</m:t>
                                  </m:r>
                                </m:e>
                                <m:sub>
                                  <m:r>
                                    <a:rPr lang="en-US" altLang="zh-CN" sz="1400" b="1" i="1" smtClean="0">
                                      <a:latin typeface="Cambria Math" panose="02040503050406030204" pitchFamily="18" charset="0"/>
                                    </a:rPr>
                                    <m:t>𝟒</m:t>
                                  </m:r>
                                </m:sub>
                              </m:sSub>
                              <m:d>
                                <m:dPr>
                                  <m:ctrlPr>
                                    <a:rPr lang="en-US" altLang="zh-CN" sz="1400" b="0" i="1" smtClean="0">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𝟒</m:t>
                                      </m:r>
                                    </m:sub>
                                  </m:sSub>
                                </m:e>
                              </m:d>
                            </m:oMath>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𝑓</m:t>
                                    </m:r>
                                  </m:e>
                                  <m:sub>
                                    <m:r>
                                      <a:rPr lang="en-US" altLang="zh-CN" sz="1400" b="1" i="1" smtClean="0">
                                        <a:latin typeface="Cambria Math" panose="02040503050406030204" pitchFamily="18" charset="0"/>
                                      </a:rPr>
                                      <m:t>𝟑</m:t>
                                    </m:r>
                                  </m:sub>
                                </m:sSub>
                                <m:d>
                                  <m:dPr>
                                    <m:ctrlPr>
                                      <a:rPr lang="en-US" altLang="zh-CN" sz="1400" b="0" i="1" smtClean="0">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b="1" i="1" smtClean="0">
                                            <a:latin typeface="Cambria Math" panose="02040503050406030204" pitchFamily="18" charset="0"/>
                                          </a:rPr>
                                          <m:t>𝟑</m:t>
                                        </m:r>
                                      </m:sub>
                                    </m:sSub>
                                  </m:e>
                                </m:d>
                              </m:oMath>
                            </m:oMathPara>
                          </a14:m>
                          <a:endParaRPr lang="zh-CN" altLang="en-US" sz="1400" dirty="0"/>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CN" sz="1400" i="1" smtClean="0">
                                        <a:latin typeface="Cambria Math" panose="02040503050406030204" pitchFamily="18" charset="0"/>
                                      </a:rPr>
                                    </m:ctrlPr>
                                  </m:sSubSupPr>
                                  <m:e>
                                    <m:r>
                                      <a:rPr lang="en-US" altLang="zh-CN" sz="1400" b="1" i="1" smtClean="0">
                                        <a:latin typeface="Cambria Math" panose="02040503050406030204" pitchFamily="18" charset="0"/>
                                      </a:rPr>
                                      <m:t>𝒙</m:t>
                                    </m:r>
                                  </m:e>
                                  <m:sub>
                                    <m:r>
                                      <a:rPr lang="en-US" altLang="zh-CN" sz="1400" b="1" i="1" smtClean="0">
                                        <a:latin typeface="Cambria Math" panose="02040503050406030204" pitchFamily="18" charset="0"/>
                                      </a:rPr>
                                      <m:t>𝟑</m:t>
                                    </m:r>
                                  </m:sub>
                                  <m:sup>
                                    <m:r>
                                      <a:rPr lang="en-US" altLang="zh-CN" sz="1400" b="1" i="1" smtClean="0">
                                        <a:latin typeface="Cambria Math" panose="02040503050406030204" pitchFamily="18" charset="0"/>
                                      </a:rPr>
                                      <m:t>∗</m:t>
                                    </m:r>
                                  </m:sup>
                                </m:sSubSup>
                              </m:oMath>
                            </m:oMathPara>
                          </a14:m>
                          <a:endParaRPr lang="zh-CN" altLang="en-US" sz="1400" dirty="0"/>
                        </a:p>
                      </a:txBody>
                      <a:tcPr/>
                    </a:tc>
                    <a:extLst>
                      <a:ext uri="{0D108BD9-81ED-4DB2-BD59-A6C34878D82A}">
                        <a16:rowId xmlns:a16="http://schemas.microsoft.com/office/drawing/2014/main" val="37799757"/>
                      </a:ext>
                    </a:extLst>
                  </a:tr>
                  <a:tr h="270827">
                    <a:tc>
                      <a:txBody>
                        <a:bodyPr/>
                        <a:lstStyle/>
                        <a:p>
                          <a:r>
                            <a:rPr lang="en-US" altLang="zh-CN" sz="1400" dirty="0" smtClean="0"/>
                            <a:t>0</a:t>
                          </a:r>
                          <a:endParaRPr lang="zh-CN" altLang="en-US" sz="1400" dirty="0"/>
                        </a:p>
                      </a:txBody>
                      <a:tcPr/>
                    </a:tc>
                    <a:tc>
                      <a:txBody>
                        <a:bodyPr/>
                        <a:lstStyle/>
                        <a:p>
                          <a:pPr/>
                          <a14:m>
                            <m:oMathPara xmlns:m="http://schemas.openxmlformats.org/officeDocument/2006/math">
                              <m:oMathParaPr>
                                <m:jc m:val="left"/>
                              </m:oMathParaPr>
                              <m:oMath xmlns:m="http://schemas.openxmlformats.org/officeDocument/2006/math">
                                <m:r>
                                  <a:rPr lang="en-US" altLang="zh-CN" sz="1400" i="1" smtClean="0">
                                    <a:latin typeface="Cambria Math" panose="02040503050406030204" pitchFamily="18" charset="0"/>
                                  </a:rPr>
                                  <m:t>0</m:t>
                                </m:r>
                              </m:oMath>
                            </m:oMathPara>
                          </a14:m>
                          <a:endParaRPr lang="zh-CN" altLang="en-US" sz="1400" dirty="0"/>
                        </a:p>
                      </a:txBody>
                      <a:tcPr/>
                    </a:tc>
                    <a:tc>
                      <a:txBody>
                        <a:bodyPr/>
                        <a:lstStyle/>
                        <a:p>
                          <a:pPr algn="l"/>
                          <a:r>
                            <a:rPr lang="en-US" altLang="zh-CN" sz="1400" dirty="0" smtClean="0"/>
                            <a:t>0</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14:m>
                            <m:oMathPara xmlns:m="http://schemas.openxmlformats.org/officeDocument/2006/math">
                              <m:oMathParaPr>
                                <m:jc m:val="left"/>
                              </m:oMathParaPr>
                              <m:oMath xmlns:m="http://schemas.openxmlformats.org/officeDocument/2006/math">
                                <m:r>
                                  <a:rPr lang="en-US" altLang="zh-CN" sz="1400" i="1" smtClean="0">
                                    <a:latin typeface="Cambria Math" panose="02040503050406030204" pitchFamily="18" charset="0"/>
                                  </a:rPr>
                                  <m:t>0</m:t>
                                </m:r>
                              </m:oMath>
                            </m:oMathPara>
                          </a14:m>
                          <a:endParaRPr lang="zh-CN" altLang="en-US" sz="1400" dirty="0"/>
                        </a:p>
                      </a:txBody>
                      <a:tcPr/>
                    </a:tc>
                    <a:extLst>
                      <a:ext uri="{0D108BD9-81ED-4DB2-BD59-A6C34878D82A}">
                        <a16:rowId xmlns:a16="http://schemas.microsoft.com/office/drawing/2014/main" val="3736361684"/>
                      </a:ext>
                    </a:extLst>
                  </a:tr>
                  <a:tr h="270827">
                    <a:tc>
                      <a:txBody>
                        <a:bodyPr/>
                        <a:lstStyle/>
                        <a:p>
                          <a:r>
                            <a:rPr lang="en-US" altLang="zh-CN" sz="1400" dirty="0" smtClean="0"/>
                            <a:t>1</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extLst>
                      <a:ext uri="{0D108BD9-81ED-4DB2-BD59-A6C34878D82A}">
                        <a16:rowId xmlns:a16="http://schemas.microsoft.com/office/drawing/2014/main" val="1091311635"/>
                      </a:ext>
                    </a:extLst>
                  </a:tr>
                  <a:tr h="270827">
                    <a:tc>
                      <a:txBody>
                        <a:bodyPr/>
                        <a:lstStyle/>
                        <a:p>
                          <a:r>
                            <a:rPr lang="en-US" altLang="zh-CN" sz="1400" dirty="0" smtClean="0"/>
                            <a:t>2</a:t>
                          </a:r>
                          <a:endParaRPr lang="zh-CN" altLang="en-US" sz="1400" dirty="0"/>
                        </a:p>
                      </a:txBody>
                      <a:tcPr/>
                    </a:tc>
                    <a:tc>
                      <a:txBody>
                        <a:bodyPr/>
                        <a:lstStyle/>
                        <a:p>
                          <a:r>
                            <a:rPr lang="en-US" altLang="zh-CN" sz="1400" dirty="0" smtClean="0"/>
                            <a:t>2</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r>
                            <a:rPr lang="en-US" altLang="zh-CN" sz="1400" dirty="0" smtClean="0"/>
                            <a:t>2</a:t>
                          </a:r>
                          <a:endParaRPr lang="zh-CN" altLang="en-US" sz="1400" dirty="0"/>
                        </a:p>
                      </a:txBody>
                      <a:tcPr/>
                    </a:tc>
                    <a:extLst>
                      <a:ext uri="{0D108BD9-81ED-4DB2-BD59-A6C34878D82A}">
                        <a16:rowId xmlns:a16="http://schemas.microsoft.com/office/drawing/2014/main" val="752238598"/>
                      </a:ext>
                    </a:extLst>
                  </a:tr>
                  <a:tr h="270827">
                    <a:tc>
                      <a:txBody>
                        <a:bodyPr/>
                        <a:lstStyle/>
                        <a:p>
                          <a:r>
                            <a:rPr lang="en-US" altLang="zh-CN" sz="1400" dirty="0" smtClean="0"/>
                            <a:t>3</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extLst>
                      <a:ext uri="{0D108BD9-81ED-4DB2-BD59-A6C34878D82A}">
                        <a16:rowId xmlns:a16="http://schemas.microsoft.com/office/drawing/2014/main" val="2944060997"/>
                      </a:ext>
                    </a:extLst>
                  </a:tr>
                  <a:tr h="270827">
                    <a:tc>
                      <a:txBody>
                        <a:bodyPr/>
                        <a:lstStyle/>
                        <a:p>
                          <a:r>
                            <a:rPr lang="en-US" altLang="zh-CN" sz="1400" dirty="0" smtClean="0"/>
                            <a:t>4</a:t>
                          </a:r>
                          <a:endParaRPr lang="zh-CN" altLang="en-US" sz="1400" dirty="0"/>
                        </a:p>
                      </a:txBody>
                      <a:tcPr/>
                    </a:tc>
                    <a:tc>
                      <a:txBody>
                        <a:bodyPr/>
                        <a:lstStyle/>
                        <a:p>
                          <a:r>
                            <a:rPr lang="en-US" altLang="zh-CN" sz="1400" dirty="0" smtClean="0"/>
                            <a:t>4</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r>
                            <a:rPr lang="en-US" altLang="zh-CN" sz="1400" dirty="0" smtClean="0"/>
                            <a:t>4</a:t>
                          </a:r>
                          <a:endParaRPr lang="zh-CN" altLang="en-US" sz="1400" dirty="0"/>
                        </a:p>
                      </a:txBody>
                      <a:tcPr/>
                    </a:tc>
                    <a:extLst>
                      <a:ext uri="{0D108BD9-81ED-4DB2-BD59-A6C34878D82A}">
                        <a16:rowId xmlns:a16="http://schemas.microsoft.com/office/drawing/2014/main" val="3280564706"/>
                      </a:ext>
                    </a:extLst>
                  </a:tr>
                  <a:tr h="270827">
                    <a:tc>
                      <a:txBody>
                        <a:bodyPr/>
                        <a:lstStyle/>
                        <a:p>
                          <a:r>
                            <a:rPr lang="en-US" altLang="zh-CN" sz="1400" dirty="0" smtClean="0"/>
                            <a:t>5</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5</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5</a:t>
                          </a:r>
                          <a:endParaRPr lang="zh-CN" altLang="en-US" sz="1400" dirty="0"/>
                        </a:p>
                      </a:txBody>
                      <a:tcPr/>
                    </a:tc>
                    <a:extLst>
                      <a:ext uri="{0D108BD9-81ED-4DB2-BD59-A6C34878D82A}">
                        <a16:rowId xmlns:a16="http://schemas.microsoft.com/office/drawing/2014/main" val="3274687360"/>
                      </a:ext>
                    </a:extLst>
                  </a:tr>
                </a:tbl>
              </a:graphicData>
            </a:graphic>
          </p:graphicFrame>
        </mc:Choice>
        <mc:Fallback xmlns="">
          <p:graphicFrame>
            <p:nvGraphicFramePr>
              <p:cNvPr id="16" name="表格 15"/>
              <p:cNvGraphicFramePr>
                <a:graphicFrameLocks noGrp="1"/>
              </p:cNvGraphicFramePr>
              <p:nvPr>
                <p:extLst>
                  <p:ext uri="{D42A27DB-BD31-4B8C-83A1-F6EECF244321}">
                    <p14:modId xmlns:p14="http://schemas.microsoft.com/office/powerpoint/2010/main" val="3732271958"/>
                  </p:ext>
                </p:extLst>
              </p:nvPr>
            </p:nvGraphicFramePr>
            <p:xfrm>
              <a:off x="14728" y="3857271"/>
              <a:ext cx="4099345" cy="2346960"/>
            </p:xfrm>
            <a:graphic>
              <a:graphicData uri="http://schemas.openxmlformats.org/drawingml/2006/table">
                <a:tbl>
                  <a:tblPr firstRow="1" bandRow="1">
                    <a:tableStyleId>{5C22544A-7EE6-4342-B048-85BDC9FD1C3A}</a:tableStyleId>
                  </a:tblPr>
                  <a:tblGrid>
                    <a:gridCol w="290919">
                      <a:extLst>
                        <a:ext uri="{9D8B030D-6E8A-4147-A177-3AD203B41FA5}">
                          <a16:colId xmlns:a16="http://schemas.microsoft.com/office/drawing/2014/main" val="1816936163"/>
                        </a:ext>
                      </a:extLst>
                    </a:gridCol>
                    <a:gridCol w="353577">
                      <a:extLst>
                        <a:ext uri="{9D8B030D-6E8A-4147-A177-3AD203B41FA5}">
                          <a16:colId xmlns:a16="http://schemas.microsoft.com/office/drawing/2014/main" val="1250546864"/>
                        </a:ext>
                      </a:extLst>
                    </a:gridCol>
                    <a:gridCol w="765165">
                      <a:extLst>
                        <a:ext uri="{9D8B030D-6E8A-4147-A177-3AD203B41FA5}">
                          <a16:colId xmlns:a16="http://schemas.microsoft.com/office/drawing/2014/main" val="3148481169"/>
                        </a:ext>
                      </a:extLst>
                    </a:gridCol>
                    <a:gridCol w="542484">
                      <a:extLst>
                        <a:ext uri="{9D8B030D-6E8A-4147-A177-3AD203B41FA5}">
                          <a16:colId xmlns:a16="http://schemas.microsoft.com/office/drawing/2014/main" val="644265878"/>
                        </a:ext>
                      </a:extLst>
                    </a:gridCol>
                    <a:gridCol w="1235134">
                      <a:extLst>
                        <a:ext uri="{9D8B030D-6E8A-4147-A177-3AD203B41FA5}">
                          <a16:colId xmlns:a16="http://schemas.microsoft.com/office/drawing/2014/main" val="938889560"/>
                        </a:ext>
                      </a:extLst>
                    </a:gridCol>
                    <a:gridCol w="542484">
                      <a:extLst>
                        <a:ext uri="{9D8B030D-6E8A-4147-A177-3AD203B41FA5}">
                          <a16:colId xmlns:a16="http://schemas.microsoft.com/office/drawing/2014/main" val="1613744912"/>
                        </a:ext>
                      </a:extLst>
                    </a:gridCol>
                    <a:gridCol w="369582">
                      <a:extLst>
                        <a:ext uri="{9D8B030D-6E8A-4147-A177-3AD203B41FA5}">
                          <a16:colId xmlns:a16="http://schemas.microsoft.com/office/drawing/2014/main" val="2765978471"/>
                        </a:ext>
                      </a:extLst>
                    </a:gridCol>
                  </a:tblGrid>
                  <a:tr h="518160">
                    <a:tc>
                      <a:txBody>
                        <a:bodyPr/>
                        <a:lstStyle/>
                        <a:p>
                          <a:endParaRPr lang="zh-CN"/>
                        </a:p>
                      </a:txBody>
                      <a:tcPr>
                        <a:blipFill>
                          <a:blip r:embed="rId4"/>
                          <a:stretch>
                            <a:fillRect l="-2083" t="-1176" r="-1312500" b="-365882"/>
                          </a:stretch>
                        </a:blipFill>
                      </a:tcPr>
                    </a:tc>
                    <a:tc>
                      <a:txBody>
                        <a:bodyPr/>
                        <a:lstStyle/>
                        <a:p>
                          <a:endParaRPr lang="zh-CN"/>
                        </a:p>
                      </a:txBody>
                      <a:tcPr>
                        <a:blipFill>
                          <a:blip r:embed="rId4"/>
                          <a:stretch>
                            <a:fillRect l="-84483" t="-1176" r="-986207" b="-365882"/>
                          </a:stretch>
                        </a:blipFill>
                      </a:tcPr>
                    </a:tc>
                    <a:tc>
                      <a:txBody>
                        <a:bodyPr/>
                        <a:lstStyle/>
                        <a:p>
                          <a:endParaRPr lang="zh-CN"/>
                        </a:p>
                      </a:txBody>
                      <a:tcPr>
                        <a:blipFill>
                          <a:blip r:embed="rId4"/>
                          <a:stretch>
                            <a:fillRect l="-85600" t="-1176" r="-357600" b="-365882"/>
                          </a:stretch>
                        </a:blipFill>
                      </a:tcPr>
                    </a:tc>
                    <a:tc>
                      <a:txBody>
                        <a:bodyPr/>
                        <a:lstStyle/>
                        <a:p>
                          <a:endParaRPr lang="zh-CN"/>
                        </a:p>
                      </a:txBody>
                      <a:tcPr>
                        <a:blipFill>
                          <a:blip r:embed="rId4"/>
                          <a:stretch>
                            <a:fillRect l="-260674" t="-1176" r="-402247" b="-365882"/>
                          </a:stretch>
                        </a:blipFill>
                      </a:tcPr>
                    </a:tc>
                    <a:tc>
                      <a:txBody>
                        <a:bodyPr/>
                        <a:lstStyle/>
                        <a:p>
                          <a:endParaRPr lang="zh-CN"/>
                        </a:p>
                      </a:txBody>
                      <a:tcPr>
                        <a:blipFill>
                          <a:blip r:embed="rId4"/>
                          <a:stretch>
                            <a:fillRect l="-158128" t="-1176" r="-76355" b="-365882"/>
                          </a:stretch>
                        </a:blipFill>
                      </a:tcPr>
                    </a:tc>
                    <a:tc>
                      <a:txBody>
                        <a:bodyPr/>
                        <a:lstStyle/>
                        <a:p>
                          <a:endParaRPr lang="zh-CN"/>
                        </a:p>
                      </a:txBody>
                      <a:tcPr>
                        <a:blipFill>
                          <a:blip r:embed="rId4"/>
                          <a:stretch>
                            <a:fillRect l="-588764" t="-1176" r="-74157" b="-365882"/>
                          </a:stretch>
                        </a:blipFill>
                      </a:tcPr>
                    </a:tc>
                    <a:tc>
                      <a:txBody>
                        <a:bodyPr/>
                        <a:lstStyle/>
                        <a:p>
                          <a:endParaRPr lang="zh-CN"/>
                        </a:p>
                      </a:txBody>
                      <a:tcPr>
                        <a:blipFill>
                          <a:blip r:embed="rId4"/>
                          <a:stretch>
                            <a:fillRect l="-1004918" t="-1176" r="-8197" b="-365882"/>
                          </a:stretch>
                        </a:blipFill>
                      </a:tcPr>
                    </a:tc>
                    <a:extLst>
                      <a:ext uri="{0D108BD9-81ED-4DB2-BD59-A6C34878D82A}">
                        <a16:rowId xmlns:a16="http://schemas.microsoft.com/office/drawing/2014/main" val="37799757"/>
                      </a:ext>
                    </a:extLst>
                  </a:tr>
                  <a:tr h="304800">
                    <a:tc>
                      <a:txBody>
                        <a:bodyPr/>
                        <a:lstStyle/>
                        <a:p>
                          <a:pPr/>
                          <a:r>
                            <a:rPr lang="en-US" altLang="zh-CN" sz="1400" dirty="0" smtClean="0"/>
                            <a:t>0</a:t>
                          </a:r>
                          <a:endParaRPr lang="zh-CN" altLang="en-US" sz="1400" dirty="0"/>
                        </a:p>
                      </a:txBody>
                      <a:tcPr/>
                    </a:tc>
                    <a:tc>
                      <a:txBody>
                        <a:bodyPr/>
                        <a:lstStyle/>
                        <a:p>
                          <a:endParaRPr lang="zh-CN"/>
                        </a:p>
                      </a:txBody>
                      <a:tcPr>
                        <a:blipFill>
                          <a:blip r:embed="rId4"/>
                          <a:stretch>
                            <a:fillRect l="-84483" t="-172000" r="-986207" b="-522000"/>
                          </a:stretch>
                        </a:blipFill>
                      </a:tcPr>
                    </a:tc>
                    <a:tc>
                      <a:txBody>
                        <a:bodyPr/>
                        <a:lstStyle/>
                        <a:p>
                          <a:pPr algn="l"/>
                          <a:r>
                            <a:rPr lang="en-US" altLang="zh-CN" sz="1400" dirty="0" smtClean="0"/>
                            <a:t>0</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pPr algn="l"/>
                          <a:r>
                            <a:rPr lang="en-US" altLang="zh-CN" sz="1400" dirty="0" smtClean="0"/>
                            <a:t>0</a:t>
                          </a:r>
                          <a:endParaRPr lang="zh-CN" altLang="en-US" sz="1400" dirty="0"/>
                        </a:p>
                      </a:txBody>
                      <a:tcPr/>
                    </a:tc>
                    <a:tc>
                      <a:txBody>
                        <a:bodyPr/>
                        <a:lstStyle/>
                        <a:p>
                          <a:endParaRPr lang="zh-CN"/>
                        </a:p>
                      </a:txBody>
                      <a:tcPr>
                        <a:blipFill>
                          <a:blip r:embed="rId4"/>
                          <a:stretch>
                            <a:fillRect l="-1004918" t="-172000" r="-8197" b="-522000"/>
                          </a:stretch>
                        </a:blipFill>
                      </a:tcPr>
                    </a:tc>
                    <a:extLst>
                      <a:ext uri="{0D108BD9-81ED-4DB2-BD59-A6C34878D82A}">
                        <a16:rowId xmlns:a16="http://schemas.microsoft.com/office/drawing/2014/main" val="3736361684"/>
                      </a:ext>
                    </a:extLst>
                  </a:tr>
                  <a:tr h="304800">
                    <a:tc>
                      <a:txBody>
                        <a:bodyPr/>
                        <a:lstStyle/>
                        <a:p>
                          <a:pPr/>
                          <a:r>
                            <a:rPr lang="en-US" altLang="zh-CN" sz="1400" dirty="0" smtClean="0"/>
                            <a:t>1</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algn="l"/>
                          <a:r>
                            <a:rPr lang="en-US" altLang="zh-CN" sz="1400" dirty="0" smtClean="0"/>
                            <a:t>4</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1</a:t>
                          </a:r>
                          <a:endParaRPr lang="zh-CN" altLang="en-US" sz="1400" dirty="0"/>
                        </a:p>
                      </a:txBody>
                      <a:tcPr/>
                    </a:tc>
                    <a:extLst>
                      <a:ext uri="{0D108BD9-81ED-4DB2-BD59-A6C34878D82A}">
                        <a16:rowId xmlns:a16="http://schemas.microsoft.com/office/drawing/2014/main" val="1091311635"/>
                      </a:ext>
                    </a:extLst>
                  </a:tr>
                  <a:tr h="304800">
                    <a:tc>
                      <a:txBody>
                        <a:bodyPr/>
                        <a:lstStyle/>
                        <a:p>
                          <a:pPr/>
                          <a:r>
                            <a:rPr lang="en-US" altLang="zh-CN" sz="1400" dirty="0" smtClean="0"/>
                            <a:t>2</a:t>
                          </a:r>
                          <a:endParaRPr lang="zh-CN" altLang="en-US" sz="1400" dirty="0"/>
                        </a:p>
                      </a:txBody>
                      <a:tcPr/>
                    </a:tc>
                    <a:tc>
                      <a:txBody>
                        <a:bodyPr/>
                        <a:lstStyle/>
                        <a:p>
                          <a:r>
                            <a:rPr lang="en-US" altLang="zh-CN" sz="1400" dirty="0" smtClean="0"/>
                            <a:t>2</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pPr algn="l"/>
                          <a:r>
                            <a:rPr lang="en-US" altLang="zh-CN" sz="1400" dirty="0" smtClean="0"/>
                            <a:t>6</a:t>
                          </a:r>
                          <a:endParaRPr lang="zh-CN" altLang="en-US" sz="1400" dirty="0"/>
                        </a:p>
                      </a:txBody>
                      <a:tcPr/>
                    </a:tc>
                    <a:tc>
                      <a:txBody>
                        <a:bodyPr/>
                        <a:lstStyle/>
                        <a:p>
                          <a:r>
                            <a:rPr lang="en-US" altLang="zh-CN" sz="1400" dirty="0" smtClean="0"/>
                            <a:t>2</a:t>
                          </a:r>
                          <a:endParaRPr lang="zh-CN" altLang="en-US" sz="1400" dirty="0"/>
                        </a:p>
                      </a:txBody>
                      <a:tcPr/>
                    </a:tc>
                    <a:extLst>
                      <a:ext uri="{0D108BD9-81ED-4DB2-BD59-A6C34878D82A}">
                        <a16:rowId xmlns:a16="http://schemas.microsoft.com/office/drawing/2014/main" val="752238598"/>
                      </a:ext>
                    </a:extLst>
                  </a:tr>
                  <a:tr h="304800">
                    <a:tc>
                      <a:txBody>
                        <a:bodyPr/>
                        <a:lstStyle/>
                        <a:p>
                          <a:pPr/>
                          <a:r>
                            <a:rPr lang="en-US" altLang="zh-CN" sz="1400" dirty="0" smtClean="0"/>
                            <a:t>3</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pPr algn="l"/>
                          <a:r>
                            <a:rPr lang="en-US" altLang="zh-CN" sz="1400" dirty="0" smtClean="0"/>
                            <a:t>11</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3</a:t>
                          </a:r>
                          <a:endParaRPr lang="zh-CN" altLang="en-US" sz="1400" dirty="0"/>
                        </a:p>
                      </a:txBody>
                      <a:tcPr/>
                    </a:tc>
                    <a:extLst>
                      <a:ext uri="{0D108BD9-81ED-4DB2-BD59-A6C34878D82A}">
                        <a16:rowId xmlns:a16="http://schemas.microsoft.com/office/drawing/2014/main" val="2944060997"/>
                      </a:ext>
                    </a:extLst>
                  </a:tr>
                  <a:tr h="304800">
                    <a:tc>
                      <a:txBody>
                        <a:bodyPr/>
                        <a:lstStyle/>
                        <a:p>
                          <a:pPr/>
                          <a:r>
                            <a:rPr lang="en-US" altLang="zh-CN" sz="1400" dirty="0" smtClean="0"/>
                            <a:t>4</a:t>
                          </a:r>
                          <a:endParaRPr lang="zh-CN" altLang="en-US" sz="1400" dirty="0"/>
                        </a:p>
                      </a:txBody>
                      <a:tcPr/>
                    </a:tc>
                    <a:tc>
                      <a:txBody>
                        <a:bodyPr/>
                        <a:lstStyle/>
                        <a:p>
                          <a:r>
                            <a:rPr lang="en-US" altLang="zh-CN" sz="1400" dirty="0" smtClean="0"/>
                            <a:t>4</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r>
                            <a:rPr lang="en-US" altLang="zh-CN" sz="1400" dirty="0" smtClean="0"/>
                            <a:t>4</a:t>
                          </a:r>
                          <a:endParaRPr lang="zh-CN" altLang="en-US" sz="1400" dirty="0"/>
                        </a:p>
                      </a:txBody>
                      <a:tcPr/>
                    </a:tc>
                    <a:extLst>
                      <a:ext uri="{0D108BD9-81ED-4DB2-BD59-A6C34878D82A}">
                        <a16:rowId xmlns:a16="http://schemas.microsoft.com/office/drawing/2014/main" val="3280564706"/>
                      </a:ext>
                    </a:extLst>
                  </a:tr>
                  <a:tr h="304800">
                    <a:tc>
                      <a:txBody>
                        <a:bodyPr/>
                        <a:lstStyle/>
                        <a:p>
                          <a:pPr/>
                          <a:r>
                            <a:rPr lang="en-US" altLang="zh-CN" sz="1400" dirty="0" smtClean="0"/>
                            <a:t>5</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5</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r>
                            <a:rPr lang="en-US" altLang="zh-CN" sz="1400" dirty="0" smtClean="0"/>
                            <a:t>0</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algn="l"/>
                          <a:r>
                            <a:rPr lang="en-US" altLang="zh-CN" sz="1400" dirty="0" smtClean="0"/>
                            <a:t>12</a:t>
                          </a:r>
                          <a:endParaRPr lang="zh-CN"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5</a:t>
                          </a:r>
                          <a:endParaRPr lang="zh-CN" altLang="en-US" sz="1400" dirty="0"/>
                        </a:p>
                      </a:txBody>
                      <a:tcPr/>
                    </a:tc>
                    <a:extLst>
                      <a:ext uri="{0D108BD9-81ED-4DB2-BD59-A6C34878D82A}">
                        <a16:rowId xmlns:a16="http://schemas.microsoft.com/office/drawing/2014/main" val="3274687360"/>
                      </a:ext>
                    </a:extLst>
                  </a:tr>
                </a:tbl>
              </a:graphicData>
            </a:graphic>
          </p:graphicFrame>
        </mc:Fallback>
      </mc:AlternateContent>
      <p:sp>
        <p:nvSpPr>
          <p:cNvPr id="3" name="文本框 2"/>
          <p:cNvSpPr txBox="1"/>
          <p:nvPr/>
        </p:nvSpPr>
        <p:spPr bwMode="auto">
          <a:xfrm>
            <a:off x="1702099" y="2214766"/>
            <a:ext cx="545342" cy="374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k=1</a:t>
            </a:r>
            <a:endParaRPr lang="zh-CN" altLang="en-US" sz="1800" dirty="0">
              <a:latin typeface="Times New Roman" panose="02020603050405020304" pitchFamily="18" charset="0"/>
              <a:cs typeface="Courier New" panose="02070309020205020404" pitchFamily="49" charset="0"/>
            </a:endParaRPr>
          </a:p>
        </p:txBody>
      </p:sp>
      <p:sp>
        <p:nvSpPr>
          <p:cNvPr id="18" name="文本框 17"/>
          <p:cNvSpPr txBox="1"/>
          <p:nvPr/>
        </p:nvSpPr>
        <p:spPr bwMode="auto">
          <a:xfrm>
            <a:off x="3635896" y="2915588"/>
            <a:ext cx="545342" cy="374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k=2</a:t>
            </a:r>
            <a:endParaRPr lang="zh-CN" altLang="en-US" sz="1800" dirty="0">
              <a:latin typeface="Times New Roman" panose="02020603050405020304" pitchFamily="18" charset="0"/>
              <a:cs typeface="Courier New" panose="02070309020205020404" pitchFamily="49" charset="0"/>
            </a:endParaRPr>
          </a:p>
        </p:txBody>
      </p:sp>
      <p:sp>
        <p:nvSpPr>
          <p:cNvPr id="19" name="文本框 18"/>
          <p:cNvSpPr txBox="1"/>
          <p:nvPr/>
        </p:nvSpPr>
        <p:spPr bwMode="auto">
          <a:xfrm>
            <a:off x="1702099" y="6134344"/>
            <a:ext cx="545342" cy="374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spcBef>
                <a:spcPct val="0"/>
              </a:spcBef>
              <a:buClrTx/>
              <a:buSzTx/>
              <a:buFontTx/>
              <a:buNone/>
            </a:pPr>
            <a:r>
              <a:rPr lang="en-US" altLang="zh-CN" sz="1800" dirty="0" smtClean="0">
                <a:latin typeface="Times New Roman" panose="02020603050405020304" pitchFamily="18" charset="0"/>
                <a:cs typeface="Courier New" panose="02070309020205020404" pitchFamily="49" charset="0"/>
              </a:rPr>
              <a:t>k=3</a:t>
            </a:r>
            <a:endParaRPr lang="zh-CN" altLang="en-US" sz="1800" dirty="0">
              <a:latin typeface="Times New Roman" panose="02020603050405020304" pitchFamily="18" charset="0"/>
              <a:cs typeface="Courier New" panose="02070309020205020404" pitchFamily="49" charset="0"/>
            </a:endParaRPr>
          </a:p>
        </p:txBody>
      </p:sp>
      <p:sp>
        <p:nvSpPr>
          <p:cNvPr id="4" name="矩形 3"/>
          <p:cNvSpPr/>
          <p:nvPr/>
        </p:nvSpPr>
        <p:spPr bwMode="auto">
          <a:xfrm>
            <a:off x="3826042" y="516016"/>
            <a:ext cx="216024" cy="254543"/>
          </a:xfrm>
          <a:prstGeom prst="rect">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 name="矩形 20"/>
          <p:cNvSpPr/>
          <p:nvPr/>
        </p:nvSpPr>
        <p:spPr bwMode="auto">
          <a:xfrm>
            <a:off x="611560" y="510161"/>
            <a:ext cx="216024" cy="254543"/>
          </a:xfrm>
          <a:prstGeom prst="rect">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6" name="直接箭头连接符 5"/>
          <p:cNvCxnSpPr>
            <a:stCxn id="4" idx="1"/>
            <a:endCxn id="21" idx="3"/>
          </p:cNvCxnSpPr>
          <p:nvPr/>
        </p:nvCxnSpPr>
        <p:spPr bwMode="auto">
          <a:xfrm flipH="1" flipV="1">
            <a:off x="827584" y="637433"/>
            <a:ext cx="2998458" cy="5855"/>
          </a:xfrm>
          <a:prstGeom prst="straightConnector1">
            <a:avLst/>
          </a:prstGeom>
          <a:noFill/>
          <a:ln w="952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矩形 24"/>
          <p:cNvSpPr/>
          <p:nvPr/>
        </p:nvSpPr>
        <p:spPr bwMode="auto">
          <a:xfrm>
            <a:off x="4136230" y="5083564"/>
            <a:ext cx="216024" cy="254543"/>
          </a:xfrm>
          <a:prstGeom prst="rect">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26" name="直接箭头连接符 25"/>
          <p:cNvCxnSpPr>
            <a:stCxn id="21" idx="2"/>
            <a:endCxn id="25" idx="0"/>
          </p:cNvCxnSpPr>
          <p:nvPr/>
        </p:nvCxnSpPr>
        <p:spPr bwMode="auto">
          <a:xfrm>
            <a:off x="719572" y="764704"/>
            <a:ext cx="3524670" cy="4318860"/>
          </a:xfrm>
          <a:prstGeom prst="straightConnector1">
            <a:avLst/>
          </a:prstGeom>
          <a:noFill/>
          <a:ln w="952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矩形 31"/>
          <p:cNvSpPr/>
          <p:nvPr/>
        </p:nvSpPr>
        <p:spPr bwMode="auto">
          <a:xfrm>
            <a:off x="8733414" y="5083564"/>
            <a:ext cx="216024" cy="254543"/>
          </a:xfrm>
          <a:prstGeom prst="rect">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33" name="直接箭头连接符 32"/>
          <p:cNvCxnSpPr>
            <a:stCxn id="25" idx="3"/>
            <a:endCxn id="32" idx="1"/>
          </p:cNvCxnSpPr>
          <p:nvPr/>
        </p:nvCxnSpPr>
        <p:spPr bwMode="auto">
          <a:xfrm>
            <a:off x="4352254" y="5210836"/>
            <a:ext cx="4381160" cy="0"/>
          </a:xfrm>
          <a:prstGeom prst="straightConnector1">
            <a:avLst/>
          </a:prstGeom>
          <a:noFill/>
          <a:ln w="952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矩形 35"/>
          <p:cNvSpPr/>
          <p:nvPr/>
        </p:nvSpPr>
        <p:spPr bwMode="auto">
          <a:xfrm>
            <a:off x="4993381" y="5740392"/>
            <a:ext cx="216024" cy="254543"/>
          </a:xfrm>
          <a:prstGeom prst="rect">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37" name="直接箭头连接符 36"/>
          <p:cNvCxnSpPr>
            <a:stCxn id="32" idx="2"/>
            <a:endCxn id="36" idx="3"/>
          </p:cNvCxnSpPr>
          <p:nvPr/>
        </p:nvCxnSpPr>
        <p:spPr bwMode="auto">
          <a:xfrm flipH="1">
            <a:off x="5209405" y="5338107"/>
            <a:ext cx="3632021" cy="529557"/>
          </a:xfrm>
          <a:prstGeom prst="straightConnector1">
            <a:avLst/>
          </a:prstGeom>
          <a:noFill/>
          <a:ln w="952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矩形 38"/>
          <p:cNvSpPr/>
          <p:nvPr/>
        </p:nvSpPr>
        <p:spPr bwMode="auto">
          <a:xfrm>
            <a:off x="44809" y="5326462"/>
            <a:ext cx="216024" cy="254543"/>
          </a:xfrm>
          <a:prstGeom prst="rect">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40" name="直接箭头连接符 39"/>
          <p:cNvCxnSpPr>
            <a:stCxn id="36" idx="1"/>
            <a:endCxn id="39" idx="3"/>
          </p:cNvCxnSpPr>
          <p:nvPr/>
        </p:nvCxnSpPr>
        <p:spPr bwMode="auto">
          <a:xfrm flipH="1" flipV="1">
            <a:off x="260833" y="5453734"/>
            <a:ext cx="4732548" cy="413930"/>
          </a:xfrm>
          <a:prstGeom prst="straightConnector1">
            <a:avLst/>
          </a:prstGeom>
          <a:noFill/>
          <a:ln w="952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矩形 41"/>
          <p:cNvSpPr/>
          <p:nvPr/>
        </p:nvSpPr>
        <p:spPr bwMode="auto">
          <a:xfrm>
            <a:off x="3784842" y="5331390"/>
            <a:ext cx="216024" cy="254543"/>
          </a:xfrm>
          <a:prstGeom prst="rect">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43" name="直接箭头连接符 42"/>
          <p:cNvCxnSpPr>
            <a:stCxn id="39" idx="3"/>
            <a:endCxn id="42" idx="1"/>
          </p:cNvCxnSpPr>
          <p:nvPr/>
        </p:nvCxnSpPr>
        <p:spPr bwMode="auto">
          <a:xfrm>
            <a:off x="260833" y="5453734"/>
            <a:ext cx="3524009" cy="4928"/>
          </a:xfrm>
          <a:prstGeom prst="straightConnector1">
            <a:avLst/>
          </a:prstGeom>
          <a:noFill/>
          <a:ln w="952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矩形 45"/>
          <p:cNvSpPr/>
          <p:nvPr/>
        </p:nvSpPr>
        <p:spPr bwMode="auto">
          <a:xfrm>
            <a:off x="3841092" y="957165"/>
            <a:ext cx="216024" cy="254543"/>
          </a:xfrm>
          <a:prstGeom prst="rect">
            <a:avLst/>
          </a:prstGeom>
          <a:noFill/>
          <a:ln w="9525"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7" name="矩形 46"/>
          <p:cNvSpPr/>
          <p:nvPr/>
        </p:nvSpPr>
        <p:spPr bwMode="auto">
          <a:xfrm>
            <a:off x="626610" y="1149607"/>
            <a:ext cx="216024" cy="254543"/>
          </a:xfrm>
          <a:prstGeom prst="rect">
            <a:avLst/>
          </a:prstGeom>
          <a:noFill/>
          <a:ln w="9525"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48" name="直接箭头连接符 47"/>
          <p:cNvCxnSpPr>
            <a:stCxn id="46" idx="1"/>
            <a:endCxn id="47" idx="3"/>
          </p:cNvCxnSpPr>
          <p:nvPr/>
        </p:nvCxnSpPr>
        <p:spPr bwMode="auto">
          <a:xfrm flipH="1">
            <a:off x="842634" y="1084437"/>
            <a:ext cx="2998458" cy="192442"/>
          </a:xfrm>
          <a:prstGeom prst="straightConnector1">
            <a:avLst/>
          </a:prstGeom>
          <a:noFill/>
          <a:ln w="9525" cap="flat" cmpd="sng" algn="ctr">
            <a:solidFill>
              <a:srgbClr val="0000FF"/>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矩形 48"/>
          <p:cNvSpPr/>
          <p:nvPr/>
        </p:nvSpPr>
        <p:spPr bwMode="auto">
          <a:xfrm>
            <a:off x="4151280" y="2348880"/>
            <a:ext cx="216024" cy="254543"/>
          </a:xfrm>
          <a:prstGeom prst="rect">
            <a:avLst/>
          </a:prstGeom>
          <a:noFill/>
          <a:ln w="9525"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50" name="直接箭头连接符 49"/>
          <p:cNvCxnSpPr>
            <a:stCxn id="47" idx="2"/>
            <a:endCxn id="49" idx="0"/>
          </p:cNvCxnSpPr>
          <p:nvPr/>
        </p:nvCxnSpPr>
        <p:spPr bwMode="auto">
          <a:xfrm>
            <a:off x="734622" y="1404150"/>
            <a:ext cx="3524670" cy="944730"/>
          </a:xfrm>
          <a:prstGeom prst="straightConnector1">
            <a:avLst/>
          </a:prstGeom>
          <a:noFill/>
          <a:ln w="9525" cap="flat" cmpd="sng" algn="ctr">
            <a:solidFill>
              <a:srgbClr val="0000FF"/>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矩形 50"/>
          <p:cNvSpPr/>
          <p:nvPr/>
        </p:nvSpPr>
        <p:spPr bwMode="auto">
          <a:xfrm>
            <a:off x="8748464" y="2348880"/>
            <a:ext cx="216024" cy="254543"/>
          </a:xfrm>
          <a:prstGeom prst="rect">
            <a:avLst/>
          </a:prstGeom>
          <a:noFill/>
          <a:ln w="9525"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52" name="直接箭头连接符 51"/>
          <p:cNvCxnSpPr>
            <a:stCxn id="49" idx="3"/>
            <a:endCxn id="51" idx="1"/>
          </p:cNvCxnSpPr>
          <p:nvPr/>
        </p:nvCxnSpPr>
        <p:spPr bwMode="auto">
          <a:xfrm>
            <a:off x="4367304" y="2476152"/>
            <a:ext cx="4381160" cy="0"/>
          </a:xfrm>
          <a:prstGeom prst="straightConnector1">
            <a:avLst/>
          </a:prstGeom>
          <a:noFill/>
          <a:ln w="9525" cap="flat" cmpd="sng" algn="ctr">
            <a:solidFill>
              <a:srgbClr val="0000FF"/>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矩形 52"/>
          <p:cNvSpPr/>
          <p:nvPr/>
        </p:nvSpPr>
        <p:spPr bwMode="auto">
          <a:xfrm>
            <a:off x="5008431" y="2950822"/>
            <a:ext cx="216024" cy="254543"/>
          </a:xfrm>
          <a:prstGeom prst="rect">
            <a:avLst/>
          </a:prstGeom>
          <a:noFill/>
          <a:ln w="9525"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54" name="直接箭头连接符 53"/>
          <p:cNvCxnSpPr>
            <a:stCxn id="51" idx="2"/>
            <a:endCxn id="53" idx="3"/>
          </p:cNvCxnSpPr>
          <p:nvPr/>
        </p:nvCxnSpPr>
        <p:spPr bwMode="auto">
          <a:xfrm flipH="1">
            <a:off x="5224455" y="2603423"/>
            <a:ext cx="3632021" cy="474671"/>
          </a:xfrm>
          <a:prstGeom prst="straightConnector1">
            <a:avLst/>
          </a:prstGeom>
          <a:noFill/>
          <a:ln w="9525" cap="flat" cmpd="sng" algn="ctr">
            <a:solidFill>
              <a:srgbClr val="0000FF"/>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矩形 54"/>
          <p:cNvSpPr/>
          <p:nvPr/>
        </p:nvSpPr>
        <p:spPr bwMode="auto">
          <a:xfrm>
            <a:off x="59859" y="4725144"/>
            <a:ext cx="216024" cy="254543"/>
          </a:xfrm>
          <a:prstGeom prst="rect">
            <a:avLst/>
          </a:prstGeom>
          <a:noFill/>
          <a:ln w="9525"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56" name="直接箭头连接符 55"/>
          <p:cNvCxnSpPr>
            <a:stCxn id="53" idx="1"/>
            <a:endCxn id="55" idx="3"/>
          </p:cNvCxnSpPr>
          <p:nvPr/>
        </p:nvCxnSpPr>
        <p:spPr bwMode="auto">
          <a:xfrm flipH="1">
            <a:off x="275883" y="3078094"/>
            <a:ext cx="4732548" cy="1774322"/>
          </a:xfrm>
          <a:prstGeom prst="straightConnector1">
            <a:avLst/>
          </a:prstGeom>
          <a:noFill/>
          <a:ln w="9525" cap="flat" cmpd="sng" algn="ctr">
            <a:solidFill>
              <a:srgbClr val="0000FF"/>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矩形 56"/>
          <p:cNvSpPr/>
          <p:nvPr/>
        </p:nvSpPr>
        <p:spPr bwMode="auto">
          <a:xfrm>
            <a:off x="3799892" y="4725144"/>
            <a:ext cx="216024" cy="254543"/>
          </a:xfrm>
          <a:prstGeom prst="rect">
            <a:avLst/>
          </a:prstGeom>
          <a:noFill/>
          <a:ln w="9525"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58" name="直接箭头连接符 57"/>
          <p:cNvCxnSpPr>
            <a:stCxn id="55" idx="3"/>
            <a:endCxn id="57" idx="1"/>
          </p:cNvCxnSpPr>
          <p:nvPr/>
        </p:nvCxnSpPr>
        <p:spPr bwMode="auto">
          <a:xfrm>
            <a:off x="275883" y="4852416"/>
            <a:ext cx="3524009" cy="0"/>
          </a:xfrm>
          <a:prstGeom prst="straightConnector1">
            <a:avLst/>
          </a:prstGeom>
          <a:noFill/>
          <a:ln w="9525" cap="flat" cmpd="sng" algn="ctr">
            <a:solidFill>
              <a:srgbClr val="0000FF"/>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44106211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5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57"/>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 grpId="0" animBg="1"/>
      <p:bldP spid="25" grpId="0" animBg="1"/>
      <p:bldP spid="32" grpId="0" animBg="1"/>
      <p:bldP spid="36" grpId="0" animBg="1"/>
      <p:bldP spid="39" grpId="0" animBg="1"/>
      <p:bldP spid="42" grpId="0" animBg="1"/>
      <p:bldP spid="46" grpId="0" animBg="1"/>
      <p:bldP spid="47" grpId="0" animBg="1"/>
      <p:bldP spid="49" grpId="0" animBg="1"/>
      <p:bldP spid="51" grpId="0" animBg="1"/>
      <p:bldP spid="53" grpId="0" animBg="1"/>
      <p:bldP spid="55" grpId="0" animBg="1"/>
      <p:bldP spid="5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2"/>
          <p:cNvSpPr>
            <a:spLocks noGrp="1" noChangeArrowheads="1"/>
          </p:cNvSpPr>
          <p:nvPr>
            <p:ph type="title"/>
          </p:nvPr>
        </p:nvSpPr>
        <p:spPr/>
        <p:txBody>
          <a:bodyPr/>
          <a:lstStyle/>
          <a:p>
            <a:r>
              <a:rPr lang="en-US" altLang="zh-CN" dirty="0" smtClean="0"/>
              <a:t>8.4.2 </a:t>
            </a:r>
            <a:r>
              <a:rPr lang="zh-CN" altLang="en-US" dirty="0"/>
              <a:t>生产与存储问题</a:t>
            </a:r>
          </a:p>
        </p:txBody>
      </p:sp>
      <p:sp>
        <p:nvSpPr>
          <p:cNvPr id="2" name="内容占位符 1"/>
          <p:cNvSpPr>
            <a:spLocks noGrp="1"/>
          </p:cNvSpPr>
          <p:nvPr>
            <p:ph idx="1"/>
          </p:nvPr>
        </p:nvSpPr>
        <p:spPr>
          <a:xfrm>
            <a:off x="539552" y="1337268"/>
            <a:ext cx="8280920" cy="5041380"/>
          </a:xfrm>
        </p:spPr>
        <p:txBody>
          <a:bodyPr/>
          <a:lstStyle/>
          <a:p>
            <a:r>
              <a:rPr lang="zh-CN" altLang="en-US" dirty="0"/>
              <a:t> 在生产和经营管理中，经常遇到要</a:t>
            </a:r>
            <a:r>
              <a:rPr lang="zh-CN" altLang="en-US" dirty="0">
                <a:solidFill>
                  <a:srgbClr val="FF0000"/>
                </a:solidFill>
              </a:rPr>
              <a:t>合理地安排生产</a:t>
            </a:r>
            <a:r>
              <a:rPr lang="en-US" altLang="zh-CN" dirty="0">
                <a:solidFill>
                  <a:srgbClr val="FF0000"/>
                </a:solidFill>
              </a:rPr>
              <a:t>(</a:t>
            </a:r>
            <a:r>
              <a:rPr lang="zh-CN" altLang="en-US" dirty="0">
                <a:solidFill>
                  <a:srgbClr val="FF0000"/>
                </a:solidFill>
              </a:rPr>
              <a:t>或购买</a:t>
            </a:r>
            <a:r>
              <a:rPr lang="en-US" altLang="zh-CN" dirty="0">
                <a:solidFill>
                  <a:srgbClr val="FF0000"/>
                </a:solidFill>
              </a:rPr>
              <a:t>)</a:t>
            </a:r>
            <a:r>
              <a:rPr lang="zh-CN" altLang="en-US" dirty="0">
                <a:solidFill>
                  <a:srgbClr val="FF0000"/>
                </a:solidFill>
              </a:rPr>
              <a:t>与库存的问题</a:t>
            </a:r>
            <a:r>
              <a:rPr lang="zh-CN" altLang="en-US" dirty="0"/>
              <a:t>，达到既要满足社会的需要，又要尽量降低成本费用。因此，正确制定生产</a:t>
            </a:r>
            <a:r>
              <a:rPr lang="en-US" altLang="zh-CN" dirty="0"/>
              <a:t>(</a:t>
            </a:r>
            <a:r>
              <a:rPr lang="zh-CN" altLang="en-US" dirty="0"/>
              <a:t>或采购</a:t>
            </a:r>
            <a:r>
              <a:rPr lang="en-US" altLang="zh-CN" dirty="0"/>
              <a:t>)</a:t>
            </a:r>
            <a:r>
              <a:rPr lang="zh-CN" altLang="en-US" dirty="0"/>
              <a:t>策略，确定不同时期的生产量</a:t>
            </a:r>
            <a:r>
              <a:rPr lang="en-US" altLang="zh-CN" dirty="0"/>
              <a:t>(</a:t>
            </a:r>
            <a:r>
              <a:rPr lang="zh-CN" altLang="en-US" dirty="0"/>
              <a:t>或采购量</a:t>
            </a:r>
            <a:r>
              <a:rPr lang="en-US" altLang="zh-CN" dirty="0"/>
              <a:t>)</a:t>
            </a:r>
            <a:r>
              <a:rPr lang="zh-CN" altLang="en-US" dirty="0"/>
              <a:t>和库存量，以使总的生产成本费用和库存费用之和最小，这就是生产与存储问题的最优化目标</a:t>
            </a:r>
            <a:r>
              <a:rPr lang="zh-CN" altLang="en-US" dirty="0" smtClean="0"/>
              <a:t>。</a:t>
            </a:r>
            <a:endParaRPr lang="en-US" altLang="zh-CN" dirty="0" smtClean="0"/>
          </a:p>
          <a:p>
            <a:endParaRPr lang="en-US" altLang="zh-CN" dirty="0"/>
          </a:p>
          <a:p>
            <a:r>
              <a:rPr lang="zh-CN" altLang="en-US" dirty="0" smtClean="0">
                <a:latin typeface="Times New Roman" panose="02020603050405020304" pitchFamily="18" charset="0"/>
                <a:cs typeface="Times New Roman" panose="02020603050405020304" pitchFamily="18" charset="0"/>
              </a:rPr>
              <a:t>问题描述：设</a:t>
            </a:r>
            <a:r>
              <a:rPr lang="zh-CN" altLang="en-US" dirty="0">
                <a:latin typeface="Times New Roman" panose="02020603050405020304" pitchFamily="18" charset="0"/>
                <a:cs typeface="Times New Roman" panose="02020603050405020304" pitchFamily="18" charset="0"/>
              </a:rPr>
              <a:t>某公司对某种产品要制定一</a:t>
            </a:r>
            <a:r>
              <a:rPr lang="zh-CN" altLang="en-US" dirty="0" smtClean="0">
                <a:latin typeface="Times New Roman" panose="02020603050405020304" pitchFamily="18" charset="0"/>
                <a:cs typeface="Times New Roman" panose="02020603050405020304" pitchFamily="18" charset="0"/>
              </a:rPr>
              <a:t>项</a:t>
            </a:r>
            <a:r>
              <a:rPr lang="en-US" altLang="zh-CN" i="1" dirty="0">
                <a:latin typeface="Times New Roman" panose="02020603050405020304" pitchFamily="18" charset="0"/>
                <a:cs typeface="Times New Roman" panose="02020603050405020304" pitchFamily="18" charset="0"/>
              </a:rPr>
              <a:t>n</a:t>
            </a:r>
            <a:r>
              <a:rPr lang="zh-CN" altLang="en-US" dirty="0" smtClean="0">
                <a:latin typeface="Times New Roman" panose="02020603050405020304" pitchFamily="18" charset="0"/>
                <a:cs typeface="Times New Roman" panose="02020603050405020304" pitchFamily="18" charset="0"/>
              </a:rPr>
              <a:t>个</a:t>
            </a:r>
            <a:r>
              <a:rPr lang="zh-CN" altLang="en-US" dirty="0">
                <a:latin typeface="Times New Roman" panose="02020603050405020304" pitchFamily="18" charset="0"/>
                <a:cs typeface="Times New Roman" panose="02020603050405020304" pitchFamily="18" charset="0"/>
              </a:rPr>
              <a:t>阶段的生产</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或购买</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计划。已知它的</a:t>
            </a:r>
            <a:r>
              <a:rPr lang="zh-CN" altLang="en-US" dirty="0">
                <a:solidFill>
                  <a:srgbClr val="FF0000"/>
                </a:solidFill>
                <a:latin typeface="Times New Roman" panose="02020603050405020304" pitchFamily="18" charset="0"/>
                <a:cs typeface="Times New Roman" panose="02020603050405020304" pitchFamily="18" charset="0"/>
              </a:rPr>
              <a:t>初始库存量</a:t>
            </a:r>
            <a:r>
              <a:rPr lang="zh-CN" altLang="en-US" dirty="0" smtClean="0">
                <a:solidFill>
                  <a:srgbClr val="FF0000"/>
                </a:solidFill>
                <a:latin typeface="Times New Roman" panose="02020603050405020304" pitchFamily="18" charset="0"/>
                <a:cs typeface="Times New Roman" panose="02020603050405020304" pitchFamily="18" charset="0"/>
              </a:rPr>
              <a:t>为</a:t>
            </a:r>
            <a:r>
              <a:rPr lang="en-US" altLang="zh-CN" dirty="0" smtClean="0">
                <a:solidFill>
                  <a:srgbClr val="FF0000"/>
                </a:solidFill>
                <a:latin typeface="Times New Roman" panose="02020603050405020304" pitchFamily="18" charset="0"/>
                <a:cs typeface="Times New Roman" panose="02020603050405020304" pitchFamily="18" charset="0"/>
              </a:rPr>
              <a:t>0</a:t>
            </a:r>
            <a:r>
              <a:rPr lang="zh-CN" altLang="en-US" dirty="0" smtClean="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每阶段生产</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或购买</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该产品的数量</a:t>
            </a:r>
            <a:r>
              <a:rPr lang="zh-CN" altLang="en-US" dirty="0">
                <a:solidFill>
                  <a:srgbClr val="FF0000"/>
                </a:solidFill>
                <a:latin typeface="Times New Roman" panose="02020603050405020304" pitchFamily="18" charset="0"/>
                <a:cs typeface="Times New Roman" panose="02020603050405020304" pitchFamily="18" charset="0"/>
              </a:rPr>
              <a:t>有上限的限制</a:t>
            </a:r>
            <a:r>
              <a:rPr lang="zh-CN" altLang="en-US" dirty="0">
                <a:latin typeface="Times New Roman" panose="02020603050405020304" pitchFamily="18" charset="0"/>
                <a:cs typeface="Times New Roman" panose="02020603050405020304" pitchFamily="18" charset="0"/>
              </a:rPr>
              <a:t>；每阶段社会对该产品的</a:t>
            </a:r>
            <a:r>
              <a:rPr lang="zh-CN" altLang="en-US" dirty="0">
                <a:solidFill>
                  <a:srgbClr val="FF0000"/>
                </a:solidFill>
                <a:latin typeface="Times New Roman" panose="02020603050405020304" pitchFamily="18" charset="0"/>
                <a:cs typeface="Times New Roman" panose="02020603050405020304" pitchFamily="18" charset="0"/>
              </a:rPr>
              <a:t>需求量是已知的</a:t>
            </a:r>
            <a:r>
              <a:rPr lang="zh-CN" altLang="en-US" dirty="0">
                <a:latin typeface="Times New Roman" panose="02020603050405020304" pitchFamily="18" charset="0"/>
                <a:cs typeface="Times New Roman" panose="02020603050405020304" pitchFamily="18" charset="0"/>
              </a:rPr>
              <a:t>，</a:t>
            </a:r>
            <a:r>
              <a:rPr lang="zh-CN" altLang="en-US" dirty="0" smtClean="0">
                <a:latin typeface="Times New Roman" panose="02020603050405020304" pitchFamily="18" charset="0"/>
                <a:cs typeface="Times New Roman" panose="02020603050405020304" pitchFamily="18" charset="0"/>
              </a:rPr>
              <a:t>公司</a:t>
            </a:r>
            <a:r>
              <a:rPr lang="zh-CN" altLang="en-US" dirty="0">
                <a:latin typeface="Times New Roman" panose="02020603050405020304" pitchFamily="18" charset="0"/>
                <a:cs typeface="Times New Roman" panose="02020603050405020304" pitchFamily="18" charset="0"/>
              </a:rPr>
              <a:t>需要</a:t>
            </a:r>
            <a:r>
              <a:rPr lang="zh-CN" altLang="en-US" dirty="0" smtClean="0">
                <a:solidFill>
                  <a:srgbClr val="FF0000"/>
                </a:solidFill>
                <a:latin typeface="Times New Roman" panose="02020603050405020304" pitchFamily="18" charset="0"/>
                <a:cs typeface="Times New Roman" panose="02020603050405020304" pitchFamily="18" charset="0"/>
              </a:rPr>
              <a:t>保证供应</a:t>
            </a:r>
            <a:r>
              <a:rPr lang="zh-CN" altLang="en-US" dirty="0">
                <a:latin typeface="Times New Roman" panose="02020603050405020304" pitchFamily="18" charset="0"/>
                <a:cs typeface="Times New Roman" panose="02020603050405020304" pitchFamily="18" charset="0"/>
              </a:rPr>
              <a:t>；在</a:t>
            </a:r>
            <a:r>
              <a:rPr lang="en-US" altLang="zh-CN" i="1"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阶段末的</a:t>
            </a:r>
            <a:r>
              <a:rPr lang="zh-CN" altLang="en-US" dirty="0">
                <a:solidFill>
                  <a:srgbClr val="FF0000"/>
                </a:solidFill>
                <a:latin typeface="Times New Roman" panose="02020603050405020304" pitchFamily="18" charset="0"/>
                <a:cs typeface="Times New Roman" panose="02020603050405020304" pitchFamily="18" charset="0"/>
              </a:rPr>
              <a:t>终结库存量</a:t>
            </a:r>
            <a:r>
              <a:rPr lang="zh-CN" altLang="en-US" dirty="0" smtClean="0">
                <a:solidFill>
                  <a:srgbClr val="FF0000"/>
                </a:solidFill>
                <a:latin typeface="Times New Roman" panose="02020603050405020304" pitchFamily="18" charset="0"/>
                <a:cs typeface="Times New Roman" panose="02020603050405020304" pitchFamily="18" charset="0"/>
              </a:rPr>
              <a:t>为</a:t>
            </a:r>
            <a:r>
              <a:rPr lang="en-US" altLang="zh-CN" dirty="0" smtClean="0">
                <a:solidFill>
                  <a:srgbClr val="FF0000"/>
                </a:solidFill>
                <a:latin typeface="Times New Roman" panose="02020603050405020304" pitchFamily="18" charset="0"/>
                <a:cs typeface="Times New Roman" panose="02020603050405020304" pitchFamily="18" charset="0"/>
              </a:rPr>
              <a:t>0</a:t>
            </a:r>
            <a:r>
              <a:rPr lang="zh-CN" altLang="en-US" dirty="0" smtClean="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问该公司如何制定每个阶段的生产</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或采购</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计划，从而使总成本最小</a:t>
            </a:r>
            <a:r>
              <a:rPr lang="zh-CN" altLang="en-US" dirty="0" smtClean="0">
                <a:latin typeface="Times New Roman" panose="02020603050405020304" pitchFamily="18" charset="0"/>
                <a:cs typeface="Times New Roman" panose="02020603050405020304" pitchFamily="18" charset="0"/>
              </a:rPr>
              <a:t>。</a:t>
            </a:r>
            <a:endParaRPr lang="zh-CN" altLang="en-US" dirty="0"/>
          </a:p>
        </p:txBody>
      </p:sp>
      <p:sp>
        <p:nvSpPr>
          <p:cNvPr id="8909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9B7343EB-90A4-435A-AA87-5214C39C285B}" type="slidenum">
              <a:rPr lang="en-US" altLang="zh-CN" sz="1000"/>
              <a:pPr/>
              <a:t>53</a:t>
            </a:fld>
            <a:endParaRPr lang="en-US" altLang="zh-CN" sz="1000"/>
          </a:p>
        </p:txBody>
      </p:sp>
    </p:spTree>
  </p:cSld>
  <p:clrMapOvr>
    <a:masterClrMapping/>
  </p:clrMapOvr>
  <p:transition spd="slow"/>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2"/>
          <p:cNvSpPr>
            <a:spLocks noGrp="1" noChangeArrowheads="1"/>
          </p:cNvSpPr>
          <p:nvPr>
            <p:ph type="title"/>
          </p:nvPr>
        </p:nvSpPr>
        <p:spPr/>
        <p:txBody>
          <a:bodyPr/>
          <a:lstStyle/>
          <a:p>
            <a:r>
              <a:rPr lang="en-US" altLang="zh-CN" dirty="0" smtClean="0"/>
              <a:t>8.4.2.1  </a:t>
            </a:r>
            <a:r>
              <a:rPr lang="zh-CN" altLang="en-US" dirty="0"/>
              <a:t>生产计划问题 </a:t>
            </a:r>
          </a:p>
        </p:txBody>
      </p:sp>
      <p:sp>
        <p:nvSpPr>
          <p:cNvPr id="67587" name="Rectangle 3"/>
          <p:cNvSpPr>
            <a:spLocks noGrp="1" noChangeArrowheads="1"/>
          </p:cNvSpPr>
          <p:nvPr>
            <p:ph idx="1"/>
          </p:nvPr>
        </p:nvSpPr>
        <p:spPr/>
        <p:txBody>
          <a:bodyPr/>
          <a:lstStyle/>
          <a:p>
            <a:pPr algn="justLow">
              <a:lnSpc>
                <a:spcPct val="110000"/>
              </a:lnSpc>
              <a:buFont typeface="Wingdings" panose="05000000000000000000" pitchFamily="2" charset="2"/>
              <a:buNone/>
            </a:pPr>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p:txBody>
      </p:sp>
      <p:sp>
        <p:nvSpPr>
          <p:cNvPr id="9011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B63B559D-10BD-4794-A82D-49EAE651ABBD}" type="slidenum">
              <a:rPr lang="en-US" altLang="zh-CN" sz="1000"/>
              <a:pPr/>
              <a:t>54</a:t>
            </a:fld>
            <a:endParaRPr lang="en-US" altLang="zh-CN" sz="1000"/>
          </a:p>
        </p:txBody>
      </p:sp>
      <p:sp>
        <p:nvSpPr>
          <p:cNvPr id="5" name="内容占位符 1"/>
          <p:cNvSpPr txBox="1">
            <a:spLocks/>
          </p:cNvSpPr>
          <p:nvPr/>
        </p:nvSpPr>
        <p:spPr bwMode="auto">
          <a:xfrm>
            <a:off x="539552" y="1337268"/>
            <a:ext cx="82809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marL="457200" indent="-457200" algn="l" rtl="0" eaLnBrk="0" fontAlgn="base" hangingPunct="0">
              <a:spcBef>
                <a:spcPct val="20000"/>
              </a:spcBef>
              <a:spcAft>
                <a:spcPct val="0"/>
              </a:spcAft>
              <a:buClr>
                <a:schemeClr val="tx1"/>
              </a:buClr>
              <a:buSzPct val="70000"/>
              <a:buFont typeface="Wingdings" panose="05000000000000000000" pitchFamily="2" charset="2"/>
              <a:buChar char="l"/>
              <a:defRPr sz="2400" b="1" kern="1200">
                <a:solidFill>
                  <a:schemeClr val="tx1"/>
                </a:solidFill>
                <a:latin typeface="+mn-lt"/>
                <a:ea typeface="+mn-ea"/>
                <a:cs typeface="+mn-cs"/>
              </a:defRPr>
            </a:lvl1pPr>
            <a:lvl2pPr marL="889000" indent="-439738" algn="l" rtl="0" eaLnBrk="0" fontAlgn="base" hangingPunct="0">
              <a:spcBef>
                <a:spcPct val="20000"/>
              </a:spcBef>
              <a:spcAft>
                <a:spcPct val="0"/>
              </a:spcAft>
              <a:buClr>
                <a:schemeClr val="tx1"/>
              </a:buClr>
              <a:buSzPct val="65000"/>
              <a:buFont typeface="Wingdings" panose="05000000000000000000" pitchFamily="2" charset="2"/>
              <a:buChar char="Ø"/>
              <a:defRPr sz="2000" b="1" kern="1200">
                <a:solidFill>
                  <a:schemeClr val="tx1"/>
                </a:solidFill>
                <a:latin typeface="+mn-lt"/>
                <a:ea typeface="+mn-ea"/>
                <a:cs typeface="+mn-cs"/>
              </a:defRPr>
            </a:lvl2pPr>
            <a:lvl3pPr marL="1293813" indent="-403225" algn="l" rtl="0" eaLnBrk="0" fontAlgn="base" hangingPunct="0">
              <a:spcBef>
                <a:spcPct val="20000"/>
              </a:spcBef>
              <a:spcAft>
                <a:spcPct val="0"/>
              </a:spcAft>
              <a:buClr>
                <a:schemeClr val="tx1"/>
              </a:buClr>
              <a:buSzPct val="70000"/>
              <a:buFont typeface="Arial" panose="020B0604020202020204" pitchFamily="34" charset="0"/>
              <a:buChar char="•"/>
              <a:defRPr sz="2000" b="1" kern="1200">
                <a:solidFill>
                  <a:schemeClr val="tx1"/>
                </a:solidFill>
                <a:latin typeface="楷体" panose="02010609060101010101" pitchFamily="49" charset="-122"/>
                <a:ea typeface="楷体" panose="02010609060101010101" pitchFamily="49" charset="-122"/>
                <a:cs typeface="+mn-cs"/>
              </a:defRPr>
            </a:lvl3pPr>
            <a:lvl4pPr marL="1681163" indent="-385763" algn="l" rtl="0" eaLnBrk="0" fontAlgn="base" hangingPunct="0">
              <a:spcBef>
                <a:spcPct val="20000"/>
              </a:spcBef>
              <a:spcAft>
                <a:spcPct val="0"/>
              </a:spcAft>
              <a:buClr>
                <a:srgbClr val="0051C8"/>
              </a:buClr>
              <a:buSzPct val="75000"/>
              <a:buFont typeface="Arial" panose="020B0604020202020204" pitchFamily="34" charset="0"/>
              <a:buChar char="•"/>
              <a:defRPr sz="2000" kern="1200">
                <a:solidFill>
                  <a:schemeClr val="tx1"/>
                </a:solidFill>
                <a:latin typeface="+mn-lt"/>
                <a:ea typeface="+mn-ea"/>
                <a:cs typeface="+mn-cs"/>
              </a:defRPr>
            </a:lvl4pPr>
            <a:lvl5pPr marL="2070100" indent="-387350" algn="l" rtl="0" eaLnBrk="0" fontAlgn="base" hangingPunct="0">
              <a:spcBef>
                <a:spcPct val="20000"/>
              </a:spcBef>
              <a:spcAft>
                <a:spcPct val="0"/>
              </a:spcAft>
              <a:buClr>
                <a:srgbClr val="0064F6"/>
              </a:buClr>
              <a:buSzPct val="7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latin typeface="Times New Roman" panose="02020603050405020304" pitchFamily="18" charset="0"/>
                <a:cs typeface="Times New Roman" panose="02020603050405020304" pitchFamily="18" charset="0"/>
              </a:rPr>
              <a:t>问题建模</a:t>
            </a:r>
            <a:r>
              <a:rPr lang="zh-CN" altLang="en-US" dirty="0">
                <a:latin typeface="Times New Roman" panose="02020603050405020304" pitchFamily="18" charset="0"/>
                <a:cs typeface="Times New Roman" panose="02020603050405020304" pitchFamily="18" charset="0"/>
              </a:rPr>
              <a:t>：</a:t>
            </a:r>
            <a:endParaRPr lang="en-US" altLang="zh-CN" dirty="0"/>
          </a:p>
        </p:txBody>
      </p:sp>
      <p:graphicFrame>
        <p:nvGraphicFramePr>
          <p:cNvPr id="7" name="Object 11"/>
          <p:cNvGraphicFramePr>
            <a:graphicFrameLocks noChangeAspect="1"/>
          </p:cNvGraphicFramePr>
          <p:nvPr>
            <p:extLst>
              <p:ext uri="{D42A27DB-BD31-4B8C-83A1-F6EECF244321}">
                <p14:modId xmlns:p14="http://schemas.microsoft.com/office/powerpoint/2010/main" val="2298372317"/>
              </p:ext>
            </p:extLst>
          </p:nvPr>
        </p:nvGraphicFramePr>
        <p:xfrm>
          <a:off x="5857246" y="2857764"/>
          <a:ext cx="3138487" cy="1030288"/>
        </p:xfrm>
        <a:graphic>
          <a:graphicData uri="http://schemas.openxmlformats.org/presentationml/2006/ole">
            <mc:AlternateContent xmlns:mc="http://schemas.openxmlformats.org/markup-compatibility/2006">
              <mc:Choice xmlns:v="urn:schemas-microsoft-com:vml" Requires="v">
                <p:oleObj spid="_x0000_s212071" name="Equation" r:id="rId4" imgW="2234880" imgH="736560" progId="Equation.DSMT4">
                  <p:embed/>
                </p:oleObj>
              </mc:Choice>
              <mc:Fallback>
                <p:oleObj name="Equation" r:id="rId4" imgW="2234880" imgH="736560" progId="Equation.DSMT4">
                  <p:embed/>
                  <p:pic>
                    <p:nvPicPr>
                      <p:cNvPr id="91142" name="Object 11"/>
                      <p:cNvPicPr>
                        <a:picLocks noChangeAspect="1" noChangeArrowheads="1"/>
                      </p:cNvPicPr>
                      <p:nvPr/>
                    </p:nvPicPr>
                    <p:blipFill>
                      <a:blip r:embed="rId5"/>
                      <a:srcRect/>
                      <a:stretch>
                        <a:fillRect/>
                      </a:stretch>
                    </p:blipFill>
                    <p:spPr bwMode="auto">
                      <a:xfrm>
                        <a:off x="5857246" y="2857764"/>
                        <a:ext cx="3138487"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25"/>
          <p:cNvSpPr>
            <a:spLocks noChangeArrowheads="1"/>
          </p:cNvSpPr>
          <p:nvPr/>
        </p:nvSpPr>
        <p:spPr bwMode="auto">
          <a:xfrm>
            <a:off x="757113" y="1772816"/>
            <a:ext cx="82073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latin typeface="Times New Roman" panose="02020603050405020304" pitchFamily="18" charset="0"/>
                <a:cs typeface="Times New Roman" panose="02020603050405020304" pitchFamily="18" charset="0"/>
              </a:rPr>
              <a:t>设</a:t>
            </a:r>
            <a:r>
              <a:rPr lang="en-US" altLang="zh-CN" b="1" i="1" dirty="0" err="1" smtClean="0">
                <a:latin typeface="Times New Roman" panose="02020603050405020304" pitchFamily="18" charset="0"/>
                <a:cs typeface="Times New Roman" panose="02020603050405020304" pitchFamily="18" charset="0"/>
              </a:rPr>
              <a:t>d</a:t>
            </a:r>
            <a:r>
              <a:rPr lang="en-US" altLang="zh-CN" b="1" i="1" baseline="-25000" dirty="0" err="1"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第</a:t>
            </a:r>
            <a:r>
              <a:rPr lang="en-US" altLang="zh-CN" b="1" i="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阶段对产品的</a:t>
            </a:r>
            <a:r>
              <a:rPr lang="zh-CN" altLang="en-US" b="1" dirty="0">
                <a:solidFill>
                  <a:srgbClr val="FF0000"/>
                </a:solidFill>
                <a:latin typeface="Times New Roman" panose="02020603050405020304" pitchFamily="18" charset="0"/>
                <a:cs typeface="Times New Roman" panose="02020603050405020304" pitchFamily="18" charset="0"/>
              </a:rPr>
              <a:t>需求量</a:t>
            </a:r>
            <a:r>
              <a:rPr lang="zh-CN" altLang="en-US" b="1" dirty="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x</a:t>
            </a:r>
            <a:r>
              <a:rPr lang="en-US" altLang="zh-CN" b="1" i="1" baseline="-25000" dirty="0" err="1"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第</a:t>
            </a:r>
            <a:r>
              <a:rPr lang="en-US" altLang="zh-CN" b="1" i="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阶段该产品的</a:t>
            </a:r>
            <a:r>
              <a:rPr lang="zh-CN" altLang="en-US" b="1" dirty="0">
                <a:solidFill>
                  <a:srgbClr val="FF0000"/>
                </a:solidFill>
                <a:latin typeface="Times New Roman" panose="02020603050405020304" pitchFamily="18" charset="0"/>
                <a:cs typeface="Times New Roman" panose="02020603050405020304" pitchFamily="18" charset="0"/>
              </a:rPr>
              <a:t>生产量</a:t>
            </a:r>
            <a:r>
              <a:rPr lang="en-US" altLang="zh-CN" b="1" dirty="0">
                <a:solidFill>
                  <a:srgbClr val="FF0000"/>
                </a:solidFill>
                <a:latin typeface="Times New Roman" panose="02020603050405020304" pitchFamily="18" charset="0"/>
                <a:cs typeface="Times New Roman" panose="02020603050405020304" pitchFamily="18" charset="0"/>
              </a:rPr>
              <a:t>(</a:t>
            </a:r>
            <a:r>
              <a:rPr lang="zh-CN" altLang="en-US" b="1" dirty="0">
                <a:solidFill>
                  <a:srgbClr val="FF0000"/>
                </a:solidFill>
                <a:latin typeface="Times New Roman" panose="02020603050405020304" pitchFamily="18" charset="0"/>
                <a:cs typeface="Times New Roman" panose="02020603050405020304" pitchFamily="18" charset="0"/>
              </a:rPr>
              <a:t>或采购量</a:t>
            </a:r>
            <a:r>
              <a:rPr lang="en-US" altLang="zh-CN" b="1" dirty="0">
                <a:solidFill>
                  <a:srgbClr val="FF0000"/>
                </a:solidFill>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zh-CN" altLang="en-US" b="1" dirty="0" smtClean="0">
                <a:solidFill>
                  <a:srgbClr val="FF0000"/>
                </a:solidFill>
                <a:latin typeface="Times New Roman" panose="02020603050405020304" pitchFamily="18" charset="0"/>
                <a:cs typeface="Times New Roman" panose="02020603050405020304" pitchFamily="18" charset="0"/>
              </a:rPr>
              <a:t>第</a:t>
            </a:r>
            <a:r>
              <a:rPr lang="en-US" altLang="zh-CN" b="1" i="1" dirty="0">
                <a:solidFill>
                  <a:srgbClr val="FF0000"/>
                </a:solidFill>
                <a:latin typeface="Times New Roman" panose="02020603050405020304" pitchFamily="18" charset="0"/>
                <a:cs typeface="Times New Roman" panose="02020603050405020304" pitchFamily="18" charset="0"/>
              </a:rPr>
              <a:t>k</a:t>
            </a:r>
            <a:r>
              <a:rPr lang="zh-CN" altLang="en-US" b="1" dirty="0">
                <a:solidFill>
                  <a:srgbClr val="FF0000"/>
                </a:solidFill>
                <a:latin typeface="Times New Roman" panose="02020603050405020304" pitchFamily="18" charset="0"/>
                <a:cs typeface="Times New Roman" panose="02020603050405020304" pitchFamily="18" charset="0"/>
              </a:rPr>
              <a:t>阶段结束时</a:t>
            </a:r>
            <a:r>
              <a:rPr lang="zh-CN" altLang="en-US" b="1" dirty="0">
                <a:latin typeface="Times New Roman" panose="02020603050405020304" pitchFamily="18" charset="0"/>
                <a:cs typeface="Times New Roman" panose="02020603050405020304" pitchFamily="18" charset="0"/>
              </a:rPr>
              <a:t>的产品</a:t>
            </a:r>
            <a:r>
              <a:rPr lang="zh-CN" altLang="en-US" b="1" dirty="0">
                <a:solidFill>
                  <a:srgbClr val="FF0000"/>
                </a:solidFill>
                <a:latin typeface="Times New Roman" panose="02020603050405020304" pitchFamily="18" charset="0"/>
                <a:cs typeface="Times New Roman" panose="02020603050405020304" pitchFamily="18" charset="0"/>
              </a:rPr>
              <a:t>库存量</a:t>
            </a:r>
            <a:r>
              <a:rPr lang="zh-CN" altLang="en-US" b="1" dirty="0">
                <a:latin typeface="Times New Roman" panose="02020603050405020304" pitchFamily="18" charset="0"/>
                <a:cs typeface="Times New Roman" panose="02020603050405020304" pitchFamily="18" charset="0"/>
              </a:rPr>
              <a:t>。则</a:t>
            </a:r>
            <a:r>
              <a:rPr lang="zh-CN" altLang="en-US" b="1" dirty="0" smtClean="0">
                <a:latin typeface="Times New Roman" panose="02020603050405020304" pitchFamily="18" charset="0"/>
                <a:cs typeface="Times New Roman" panose="02020603050405020304" pitchFamily="18" charset="0"/>
              </a:rPr>
              <a:t>有</a:t>
            </a:r>
            <a:r>
              <a:rPr lang="en-US" altLang="zh-CN" b="1" i="1" dirty="0" err="1">
                <a:latin typeface="Times New Roman" panose="02020603050405020304" pitchFamily="18" charset="0"/>
                <a:cs typeface="Times New Roman" panose="02020603050405020304" pitchFamily="18" charset="0"/>
              </a:rPr>
              <a:t>s</a:t>
            </a:r>
            <a:r>
              <a:rPr lang="en-US" altLang="zh-CN" b="1" i="1" baseline="-25000" dirty="0" err="1">
                <a:latin typeface="Times New Roman" panose="02020603050405020304" pitchFamily="18" charset="0"/>
                <a:cs typeface="Times New Roman" panose="02020603050405020304" pitchFamily="18" charset="0"/>
              </a:rPr>
              <a:t>k</a:t>
            </a:r>
            <a:r>
              <a:rPr lang="en-US" altLang="zh-CN" b="1" i="1" baseline="-25000"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s</a:t>
            </a:r>
            <a:r>
              <a:rPr lang="en-US" altLang="zh-CN" b="1" i="1" baseline="-25000" dirty="0">
                <a:latin typeface="Times New Roman" panose="02020603050405020304" pitchFamily="18" charset="0"/>
                <a:cs typeface="Times New Roman" panose="02020603050405020304" pitchFamily="18" charset="0"/>
              </a:rPr>
              <a:t>k-1</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x</a:t>
            </a:r>
            <a:r>
              <a:rPr lang="en-US" altLang="zh-CN" b="1" i="1" baseline="-25000" dirty="0" err="1">
                <a:latin typeface="Times New Roman" panose="02020603050405020304" pitchFamily="18" charset="0"/>
                <a:cs typeface="Times New Roman" panose="02020603050405020304" pitchFamily="18" charset="0"/>
              </a:rPr>
              <a:t>k</a:t>
            </a:r>
            <a:r>
              <a:rPr lang="en-US" altLang="zh-CN" b="1" i="1" baseline="-25000"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d</a:t>
            </a:r>
            <a:r>
              <a:rPr lang="en-US" altLang="zh-CN" b="1" i="1" baseline="-25000" dirty="0" err="1">
                <a:latin typeface="Times New Roman" panose="02020603050405020304" pitchFamily="18" charset="0"/>
                <a:cs typeface="Times New Roman" panose="02020603050405020304" pitchFamily="18" charset="0"/>
              </a:rPr>
              <a:t>k</a:t>
            </a:r>
            <a:endParaRPr lang="zh-CN" altLang="en-US" b="1" dirty="0">
              <a:latin typeface="Times New Roman" panose="02020603050405020304" pitchFamily="18" charset="0"/>
              <a:cs typeface="Times New Roman" panose="02020603050405020304" pitchFamily="18" charset="0"/>
            </a:endParaRPr>
          </a:p>
        </p:txBody>
      </p:sp>
      <p:sp>
        <p:nvSpPr>
          <p:cNvPr id="10" name="Rectangle 33"/>
          <p:cNvSpPr>
            <a:spLocks noChangeArrowheads="1"/>
          </p:cNvSpPr>
          <p:nvPr/>
        </p:nvSpPr>
        <p:spPr bwMode="auto">
          <a:xfrm>
            <a:off x="757113" y="2486004"/>
            <a:ext cx="77755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b="1" i="1" dirty="0" err="1">
                <a:latin typeface="Times New Roman" panose="02020603050405020304" pitchFamily="18" charset="0"/>
                <a:cs typeface="Times New Roman" panose="02020603050405020304" pitchFamily="18" charset="0"/>
              </a:rPr>
              <a:t>c</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x</a:t>
            </a:r>
            <a:r>
              <a:rPr lang="en-US" altLang="zh-CN" b="1" i="1" baseline="-25000" dirty="0" err="1">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 第</a:t>
            </a:r>
            <a:r>
              <a:rPr lang="en-US" altLang="zh-CN" b="1" i="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阶段生产</a:t>
            </a:r>
            <a:r>
              <a:rPr lang="zh-CN" altLang="en-US" b="1" dirty="0" smtClean="0">
                <a:latin typeface="Times New Roman" panose="02020603050405020304" pitchFamily="18" charset="0"/>
                <a:cs typeface="Times New Roman" panose="02020603050405020304" pitchFamily="18" charset="0"/>
              </a:rPr>
              <a:t>产品</a:t>
            </a:r>
            <a:r>
              <a:rPr lang="en-US" altLang="zh-CN" b="1" i="1" dirty="0" err="1">
                <a:latin typeface="Times New Roman" panose="02020603050405020304" pitchFamily="18" charset="0"/>
                <a:cs typeface="Times New Roman" panose="02020603050405020304" pitchFamily="18" charset="0"/>
              </a:rPr>
              <a:t>x</a:t>
            </a:r>
            <a:r>
              <a:rPr lang="en-US" altLang="zh-CN" b="1" i="1" baseline="-25000" dirty="0" err="1">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时</a:t>
            </a:r>
            <a:r>
              <a:rPr lang="zh-CN" altLang="en-US" b="1" dirty="0">
                <a:latin typeface="Times New Roman" panose="02020603050405020304" pitchFamily="18" charset="0"/>
                <a:cs typeface="Times New Roman" panose="02020603050405020304" pitchFamily="18" charset="0"/>
              </a:rPr>
              <a:t>的成本费用，它包括生产准备成本</a:t>
            </a:r>
            <a:r>
              <a:rPr lang="en-US" altLang="zh-CN" b="1" i="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和产品成本</a:t>
            </a:r>
            <a:r>
              <a:rPr lang="en-US" altLang="zh-CN" b="1" i="1" dirty="0" err="1">
                <a:latin typeface="Times New Roman" panose="02020603050405020304" pitchFamily="18" charset="0"/>
                <a:cs typeface="Times New Roman" panose="02020603050405020304" pitchFamily="18" charset="0"/>
              </a:rPr>
              <a:t>ax</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其中</a:t>
            </a:r>
            <a:r>
              <a:rPr lang="en-US" altLang="zh-CN" b="1" i="1" dirty="0">
                <a:latin typeface="Times New Roman" panose="02020603050405020304" pitchFamily="18" charset="0"/>
                <a:cs typeface="Times New Roman" panose="02020603050405020304" pitchFamily="18" charset="0"/>
              </a:rPr>
              <a:t>a</a:t>
            </a:r>
            <a:r>
              <a:rPr lang="zh-CN" altLang="en-US" b="1" dirty="0">
                <a:latin typeface="Times New Roman" panose="02020603050405020304" pitchFamily="18" charset="0"/>
                <a:cs typeface="Times New Roman" panose="02020603050405020304" pitchFamily="18" charset="0"/>
              </a:rPr>
              <a:t>是单位产品成本</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两项费用。即</a:t>
            </a:r>
          </a:p>
        </p:txBody>
      </p:sp>
      <p:sp>
        <p:nvSpPr>
          <p:cNvPr id="12" name="Rectangle 40"/>
          <p:cNvSpPr>
            <a:spLocks noChangeArrowheads="1"/>
          </p:cNvSpPr>
          <p:nvPr/>
        </p:nvSpPr>
        <p:spPr bwMode="auto">
          <a:xfrm>
            <a:off x="764185" y="3820978"/>
            <a:ext cx="581761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b="1" i="1" dirty="0" err="1" smtClean="0">
                <a:latin typeface="Times New Roman" panose="02020603050405020304" pitchFamily="18" charset="0"/>
                <a:cs typeface="Times New Roman" panose="02020603050405020304" pitchFamily="18" charset="0"/>
              </a:rPr>
              <a:t>h</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 第</a:t>
            </a:r>
            <a:r>
              <a:rPr lang="en-US" altLang="zh-CN" b="1" i="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阶段结束时有</a:t>
            </a:r>
            <a:r>
              <a:rPr lang="zh-CN" altLang="en-US" b="1" dirty="0" smtClean="0">
                <a:latin typeface="Times New Roman" panose="02020603050405020304" pitchFamily="18" charset="0"/>
                <a:cs typeface="Times New Roman" panose="02020603050405020304" pitchFamily="18" charset="0"/>
              </a:rPr>
              <a:t>库存量</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所需的存储费用。</a:t>
            </a:r>
          </a:p>
        </p:txBody>
      </p:sp>
      <p:sp>
        <p:nvSpPr>
          <p:cNvPr id="13" name="Rectangle 43"/>
          <p:cNvSpPr>
            <a:spLocks noChangeArrowheads="1"/>
          </p:cNvSpPr>
          <p:nvPr/>
        </p:nvSpPr>
        <p:spPr bwMode="auto">
          <a:xfrm>
            <a:off x="764185" y="4242533"/>
            <a:ext cx="398378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b="1" i="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阶段的成本费用</a:t>
            </a:r>
            <a:r>
              <a:rPr lang="zh-CN" altLang="en-US" b="1" dirty="0" smtClean="0">
                <a:latin typeface="Times New Roman" panose="02020603050405020304" pitchFamily="18" charset="0"/>
                <a:cs typeface="Times New Roman" panose="02020603050405020304" pitchFamily="18" charset="0"/>
              </a:rPr>
              <a:t>为</a:t>
            </a:r>
            <a:r>
              <a:rPr lang="en-US" altLang="zh-CN" b="1" i="1" dirty="0" err="1" smtClean="0">
                <a:latin typeface="Times New Roman" panose="02020603050405020304" pitchFamily="18" charset="0"/>
                <a:cs typeface="Times New Roman" panose="02020603050405020304" pitchFamily="18" charset="0"/>
              </a:rPr>
              <a:t>c</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i="1" baseline="-25000"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x</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h</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s</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p>
        </p:txBody>
      </p:sp>
      <p:sp>
        <p:nvSpPr>
          <p:cNvPr id="14" name="Rectangle 45"/>
          <p:cNvSpPr>
            <a:spLocks noChangeArrowheads="1"/>
          </p:cNvSpPr>
          <p:nvPr/>
        </p:nvSpPr>
        <p:spPr bwMode="auto">
          <a:xfrm>
            <a:off x="764185" y="4685074"/>
            <a:ext cx="38026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b="1" i="1" dirty="0" smtClean="0">
                <a:latin typeface="Times New Roman" panose="02020603050405020304" pitchFamily="18" charset="0"/>
                <a:cs typeface="Times New Roman" panose="02020603050405020304" pitchFamily="18" charset="0"/>
              </a:rPr>
              <a:t>m</a:t>
            </a:r>
            <a:r>
              <a:rPr lang="zh-CN" altLang="en-US" b="1" dirty="0" smtClean="0">
                <a:latin typeface="Times New Roman" panose="02020603050405020304" pitchFamily="18" charset="0"/>
                <a:cs typeface="Times New Roman" panose="02020603050405020304" pitchFamily="18" charset="0"/>
              </a:rPr>
              <a:t>每阶段生产</a:t>
            </a:r>
            <a:r>
              <a:rPr lang="zh-CN" altLang="en-US" b="1" dirty="0">
                <a:latin typeface="Times New Roman" panose="02020603050405020304" pitchFamily="18" charset="0"/>
                <a:cs typeface="Times New Roman" panose="02020603050405020304" pitchFamily="18" charset="0"/>
              </a:rPr>
              <a:t>该产品的上限数。 </a:t>
            </a:r>
          </a:p>
        </p:txBody>
      </p:sp>
      <p:graphicFrame>
        <p:nvGraphicFramePr>
          <p:cNvPr id="15" name="Object 18"/>
          <p:cNvGraphicFramePr>
            <a:graphicFrameLocks noChangeAspect="1"/>
          </p:cNvGraphicFramePr>
          <p:nvPr>
            <p:extLst>
              <p:ext uri="{D42A27DB-BD31-4B8C-83A1-F6EECF244321}">
                <p14:modId xmlns:p14="http://schemas.microsoft.com/office/powerpoint/2010/main" val="545217254"/>
              </p:ext>
            </p:extLst>
          </p:nvPr>
        </p:nvGraphicFramePr>
        <p:xfrm>
          <a:off x="5470525" y="4376738"/>
          <a:ext cx="3190875" cy="2124075"/>
        </p:xfrm>
        <a:graphic>
          <a:graphicData uri="http://schemas.openxmlformats.org/presentationml/2006/ole">
            <mc:AlternateContent xmlns:mc="http://schemas.openxmlformats.org/markup-compatibility/2006">
              <mc:Choice xmlns:v="urn:schemas-microsoft-com:vml" Requires="v">
                <p:oleObj spid="_x0000_s212072" name="Equation" r:id="rId6" imgW="2450880" imgH="1625400" progId="Equation.DSMT4">
                  <p:embed/>
                </p:oleObj>
              </mc:Choice>
              <mc:Fallback>
                <p:oleObj name="Equation" r:id="rId6" imgW="2450880" imgH="1625400" progId="Equation.DSMT4">
                  <p:embed/>
                  <p:pic>
                    <p:nvPicPr>
                      <p:cNvPr id="15" name="Object 18"/>
                      <p:cNvPicPr>
                        <a:picLocks noChangeAspect="1" noChangeArrowheads="1"/>
                      </p:cNvPicPr>
                      <p:nvPr/>
                    </p:nvPicPr>
                    <p:blipFill>
                      <a:blip r:embed="rId7"/>
                      <a:srcRect/>
                      <a:stretch>
                        <a:fillRect/>
                      </a:stretch>
                    </p:blipFill>
                    <p:spPr bwMode="auto">
                      <a:xfrm>
                        <a:off x="5470525" y="4376738"/>
                        <a:ext cx="3190875" cy="2124075"/>
                      </a:xfrm>
                      <a:prstGeom prst="rect">
                        <a:avLst/>
                      </a:prstGeom>
                      <a:noFill/>
                      <a:ln>
                        <a:noFill/>
                      </a:ln>
                      <a:extLst/>
                    </p:spPr>
                  </p:pic>
                </p:oleObj>
              </mc:Fallback>
            </mc:AlternateContent>
          </a:graphicData>
        </a:graphic>
      </p:graphicFrame>
      <p:sp>
        <p:nvSpPr>
          <p:cNvPr id="16" name="Rectangle 19"/>
          <p:cNvSpPr>
            <a:spLocks noChangeArrowheads="1"/>
          </p:cNvSpPr>
          <p:nvPr/>
        </p:nvSpPr>
        <p:spPr bwMode="auto">
          <a:xfrm>
            <a:off x="683568" y="5070838"/>
            <a:ext cx="30235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Times New Roman" panose="02020603050405020304" pitchFamily="18" charset="0"/>
              </a:rPr>
              <a:t>上述问题的数学模型</a:t>
            </a:r>
            <a:r>
              <a:rPr lang="zh-CN" altLang="en-US" b="1" dirty="0" smtClean="0">
                <a:cs typeface="Times New Roman" panose="02020603050405020304" pitchFamily="18" charset="0"/>
              </a:rPr>
              <a:t>为：</a:t>
            </a:r>
            <a:endParaRPr lang="zh-CN" altLang="en-US"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Effect transition="in" filter="dissolve">
                                      <p:cBhvr>
                                        <p:cTn id="7" dur="500"/>
                                        <p:tgtEl>
                                          <p:spTgt spid="675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2"/>
          <p:cNvSpPr>
            <a:spLocks noGrp="1" noChangeArrowheads="1"/>
          </p:cNvSpPr>
          <p:nvPr>
            <p:ph type="title"/>
          </p:nvPr>
        </p:nvSpPr>
        <p:spPr/>
        <p:txBody>
          <a:bodyPr/>
          <a:lstStyle/>
          <a:p>
            <a:r>
              <a:rPr lang="en-US" altLang="zh-CN" dirty="0" smtClean="0"/>
              <a:t>8.4.2.1  </a:t>
            </a:r>
            <a:r>
              <a:rPr lang="zh-CN" altLang="en-US" dirty="0"/>
              <a:t>生产计划问题 </a:t>
            </a:r>
          </a:p>
        </p:txBody>
      </p:sp>
      <p:sp>
        <p:nvSpPr>
          <p:cNvPr id="67587" name="Rectangle 3"/>
          <p:cNvSpPr>
            <a:spLocks noGrp="1" noChangeArrowheads="1"/>
          </p:cNvSpPr>
          <p:nvPr>
            <p:ph idx="1"/>
          </p:nvPr>
        </p:nvSpPr>
        <p:spPr>
          <a:xfrm>
            <a:off x="539552" y="1124744"/>
            <a:ext cx="8280920" cy="1200329"/>
          </a:xfrm>
        </p:spPr>
        <p:txBody>
          <a:bodyPr/>
          <a:lstStyle/>
          <a:p>
            <a:pPr algn="justLow">
              <a:lnSpc>
                <a:spcPct val="110000"/>
              </a:lnSpc>
              <a:buFont typeface="Wingdings" panose="05000000000000000000" pitchFamily="2" charset="2"/>
              <a:buNone/>
            </a:pPr>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p:txBody>
      </p:sp>
      <p:sp>
        <p:nvSpPr>
          <p:cNvPr id="9011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B63B559D-10BD-4794-A82D-49EAE651ABBD}" type="slidenum">
              <a:rPr lang="en-US" altLang="zh-CN" sz="1000"/>
              <a:pPr/>
              <a:t>55</a:t>
            </a:fld>
            <a:endParaRPr lang="en-US" altLang="zh-CN" sz="1000"/>
          </a:p>
        </p:txBody>
      </p:sp>
      <p:sp>
        <p:nvSpPr>
          <p:cNvPr id="5" name="内容占位符 1"/>
          <p:cNvSpPr txBox="1">
            <a:spLocks/>
          </p:cNvSpPr>
          <p:nvPr/>
        </p:nvSpPr>
        <p:spPr bwMode="auto">
          <a:xfrm>
            <a:off x="539552" y="1124744"/>
            <a:ext cx="82809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marL="457200" indent="-457200" algn="l" rtl="0" eaLnBrk="0" fontAlgn="base" hangingPunct="0">
              <a:spcBef>
                <a:spcPct val="20000"/>
              </a:spcBef>
              <a:spcAft>
                <a:spcPct val="0"/>
              </a:spcAft>
              <a:buClr>
                <a:schemeClr val="tx1"/>
              </a:buClr>
              <a:buSzPct val="70000"/>
              <a:buFont typeface="Wingdings" panose="05000000000000000000" pitchFamily="2" charset="2"/>
              <a:buChar char="l"/>
              <a:defRPr sz="2400" b="1" kern="1200">
                <a:solidFill>
                  <a:schemeClr val="tx1"/>
                </a:solidFill>
                <a:latin typeface="+mn-lt"/>
                <a:ea typeface="+mn-ea"/>
                <a:cs typeface="+mn-cs"/>
              </a:defRPr>
            </a:lvl1pPr>
            <a:lvl2pPr marL="889000" indent="-439738" algn="l" rtl="0" eaLnBrk="0" fontAlgn="base" hangingPunct="0">
              <a:spcBef>
                <a:spcPct val="20000"/>
              </a:spcBef>
              <a:spcAft>
                <a:spcPct val="0"/>
              </a:spcAft>
              <a:buClr>
                <a:schemeClr val="tx1"/>
              </a:buClr>
              <a:buSzPct val="65000"/>
              <a:buFont typeface="Wingdings" panose="05000000000000000000" pitchFamily="2" charset="2"/>
              <a:buChar char="Ø"/>
              <a:defRPr sz="2000" b="1" kern="1200">
                <a:solidFill>
                  <a:schemeClr val="tx1"/>
                </a:solidFill>
                <a:latin typeface="+mn-lt"/>
                <a:ea typeface="+mn-ea"/>
                <a:cs typeface="+mn-cs"/>
              </a:defRPr>
            </a:lvl2pPr>
            <a:lvl3pPr marL="1293813" indent="-403225" algn="l" rtl="0" eaLnBrk="0" fontAlgn="base" hangingPunct="0">
              <a:spcBef>
                <a:spcPct val="20000"/>
              </a:spcBef>
              <a:spcAft>
                <a:spcPct val="0"/>
              </a:spcAft>
              <a:buClr>
                <a:schemeClr val="tx1"/>
              </a:buClr>
              <a:buSzPct val="70000"/>
              <a:buFont typeface="Arial" panose="020B0604020202020204" pitchFamily="34" charset="0"/>
              <a:buChar char="•"/>
              <a:defRPr sz="2000" b="1" kern="1200">
                <a:solidFill>
                  <a:schemeClr val="tx1"/>
                </a:solidFill>
                <a:latin typeface="楷体" panose="02010609060101010101" pitchFamily="49" charset="-122"/>
                <a:ea typeface="楷体" panose="02010609060101010101" pitchFamily="49" charset="-122"/>
                <a:cs typeface="+mn-cs"/>
              </a:defRPr>
            </a:lvl3pPr>
            <a:lvl4pPr marL="1681163" indent="-385763" algn="l" rtl="0" eaLnBrk="0" fontAlgn="base" hangingPunct="0">
              <a:spcBef>
                <a:spcPct val="20000"/>
              </a:spcBef>
              <a:spcAft>
                <a:spcPct val="0"/>
              </a:spcAft>
              <a:buClr>
                <a:srgbClr val="0051C8"/>
              </a:buClr>
              <a:buSzPct val="75000"/>
              <a:buFont typeface="Arial" panose="020B0604020202020204" pitchFamily="34" charset="0"/>
              <a:buChar char="•"/>
              <a:defRPr sz="2000" kern="1200">
                <a:solidFill>
                  <a:schemeClr val="tx1"/>
                </a:solidFill>
                <a:latin typeface="+mn-lt"/>
                <a:ea typeface="+mn-ea"/>
                <a:cs typeface="+mn-cs"/>
              </a:defRPr>
            </a:lvl4pPr>
            <a:lvl5pPr marL="2070100" indent="-387350" algn="l" rtl="0" eaLnBrk="0" fontAlgn="base" hangingPunct="0">
              <a:spcBef>
                <a:spcPct val="20000"/>
              </a:spcBef>
              <a:spcAft>
                <a:spcPct val="0"/>
              </a:spcAft>
              <a:buClr>
                <a:srgbClr val="0064F6"/>
              </a:buClr>
              <a:buSzPct val="7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动态模型</a:t>
            </a:r>
            <a:r>
              <a:rPr lang="zh-CN" altLang="en-US" dirty="0" smtClean="0"/>
              <a:t>创建：</a:t>
            </a:r>
            <a:endParaRPr lang="zh-CN" altLang="en-US" dirty="0"/>
          </a:p>
        </p:txBody>
      </p:sp>
      <mc:AlternateContent xmlns:mc="http://schemas.openxmlformats.org/markup-compatibility/2006" xmlns:a14="http://schemas.microsoft.com/office/drawing/2010/main">
        <mc:Choice Requires="a14">
          <p:sp>
            <p:nvSpPr>
              <p:cNvPr id="18" name="Rectangle 20"/>
              <p:cNvSpPr>
                <a:spLocks noChangeArrowheads="1"/>
              </p:cNvSpPr>
              <p:nvPr/>
            </p:nvSpPr>
            <p:spPr bwMode="auto">
              <a:xfrm>
                <a:off x="723152" y="1495798"/>
                <a:ext cx="8064896" cy="3229346"/>
              </a:xfrm>
              <a:prstGeom prst="rect">
                <a:avLst/>
              </a:prstGeom>
              <a:noFill/>
              <a:ln>
                <a:noFill/>
              </a:ln>
              <a:effectLst/>
              <a:extLst>
                <a:ext uri="{909E8E84-426E-40DD-AFC4-6F175D3DCCD1}">
                  <a14:hiddenFill>
                    <a:solidFill>
                      <a:schemeClr val="accent1"/>
                    </a:solidFill>
                  </a14:hiddenFill>
                </a:ext>
                <a:ext uri="{91240B29-F687-4F45-9708-019B960494DF}">
                  <a14:hiddenLine w="9525" algn="ctr">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r>
                  <a:rPr lang="zh-CN" altLang="en-US" b="1" dirty="0" smtClean="0">
                    <a:latin typeface="Times New Roman" panose="02020603050405020304" pitchFamily="18" charset="0"/>
                    <a:cs typeface="Times New Roman" panose="02020603050405020304" pitchFamily="18" charset="0"/>
                  </a:rPr>
                  <a:t>用动态规划方法来求解，可看作一个</a:t>
                </a:r>
                <a:r>
                  <a:rPr lang="en-US" altLang="zh-CN" b="1" i="1" dirty="0">
                    <a:latin typeface="Times New Roman" panose="02020603050405020304" pitchFamily="18" charset="0"/>
                    <a:cs typeface="Times New Roman" panose="02020603050405020304" pitchFamily="18" charset="0"/>
                  </a:rPr>
                  <a:t>n</a:t>
                </a:r>
                <a:r>
                  <a:rPr lang="zh-CN" altLang="en-US" b="1" dirty="0">
                    <a:latin typeface="Times New Roman" panose="02020603050405020304" pitchFamily="18" charset="0"/>
                    <a:cs typeface="Times New Roman" panose="02020603050405020304" pitchFamily="18" charset="0"/>
                  </a:rPr>
                  <a:t>阶段决策问题</a:t>
                </a:r>
                <a:r>
                  <a:rPr lang="zh-CN" altLang="en-US" b="1" dirty="0" smtClean="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b="1" dirty="0" smtClean="0">
                    <a:latin typeface="Times New Roman" panose="02020603050405020304" pitchFamily="18" charset="0"/>
                    <a:cs typeface="Times New Roman" panose="02020603050405020304" pitchFamily="18" charset="0"/>
                  </a:rPr>
                  <a:t>(1)</a:t>
                </a:r>
                <a:r>
                  <a:rPr lang="zh-CN" altLang="en-US" b="1" dirty="0" smtClean="0">
                    <a:latin typeface="Times New Roman" panose="02020603050405020304" pitchFamily="18" charset="0"/>
                    <a:cs typeface="Times New Roman" panose="02020603050405020304" pitchFamily="18" charset="0"/>
                  </a:rPr>
                  <a:t>状态变量</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：第</a:t>
                </a:r>
                <a:r>
                  <a:rPr lang="en-US" altLang="zh-CN" b="1" i="1" dirty="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阶段</a:t>
                </a:r>
                <a:r>
                  <a:rPr lang="zh-CN" altLang="en-US" b="1" dirty="0" smtClean="0">
                    <a:solidFill>
                      <a:srgbClr val="FF0000"/>
                    </a:solidFill>
                    <a:latin typeface="Times New Roman" panose="02020603050405020304" pitchFamily="18" charset="0"/>
                    <a:cs typeface="Times New Roman" panose="02020603050405020304" pitchFamily="18" charset="0"/>
                  </a:rPr>
                  <a:t>末</a:t>
                </a:r>
                <a:r>
                  <a:rPr lang="zh-CN" altLang="en-US" b="1" dirty="0" smtClean="0">
                    <a:latin typeface="Times New Roman" panose="02020603050405020304" pitchFamily="18" charset="0"/>
                    <a:cs typeface="Times New Roman" panose="02020603050405020304" pitchFamily="18" charset="0"/>
                  </a:rPr>
                  <a:t>的</a:t>
                </a:r>
                <a:r>
                  <a:rPr lang="zh-CN" altLang="en-US" b="1" dirty="0">
                    <a:latin typeface="Times New Roman" panose="02020603050405020304" pitchFamily="18" charset="0"/>
                    <a:cs typeface="Times New Roman" panose="02020603050405020304" pitchFamily="18" charset="0"/>
                  </a:rPr>
                  <a:t>库存量</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b="1" dirty="0" smtClean="0">
                    <a:latin typeface="Times New Roman" panose="02020603050405020304" pitchFamily="18" charset="0"/>
                    <a:cs typeface="Times New Roman" panose="02020603050405020304" pitchFamily="18" charset="0"/>
                  </a:rPr>
                  <a:t>(2)</a:t>
                </a:r>
                <a:r>
                  <a:rPr lang="zh-CN" altLang="en-US" b="1" dirty="0" smtClean="0">
                    <a:latin typeface="Times New Roman" panose="02020603050405020304" pitchFamily="18" charset="0"/>
                    <a:cs typeface="Times New Roman" panose="02020603050405020304" pitchFamily="18" charset="0"/>
                  </a:rPr>
                  <a:t>决策变量</a:t>
                </a:r>
                <a:r>
                  <a:rPr lang="en-US" altLang="zh-CN" b="1" i="1" dirty="0" err="1" smtClean="0">
                    <a:latin typeface="Times New Roman" panose="02020603050405020304" pitchFamily="18" charset="0"/>
                    <a:cs typeface="Times New Roman" panose="02020603050405020304" pitchFamily="18" charset="0"/>
                  </a:rPr>
                  <a:t>x</a:t>
                </a:r>
                <a:r>
                  <a:rPr lang="en-US" altLang="zh-CN" b="1" i="1" baseline="-25000" dirty="0" err="1"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：第</a:t>
                </a:r>
                <a:r>
                  <a:rPr lang="en-US" altLang="zh-CN" b="1" i="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阶段的生产量。</a:t>
                </a:r>
              </a:p>
              <a:p>
                <a:r>
                  <a:rPr lang="en-US" altLang="zh-CN" b="1" dirty="0" smtClean="0">
                    <a:latin typeface="Times New Roman" panose="02020603050405020304" pitchFamily="18" charset="0"/>
                    <a:cs typeface="Times New Roman" panose="02020603050405020304" pitchFamily="18" charset="0"/>
                  </a:rPr>
                  <a:t>(3)</a:t>
                </a:r>
                <a:r>
                  <a:rPr lang="zh-CN" altLang="en-US" b="1" dirty="0" smtClean="0">
                    <a:latin typeface="Times New Roman" panose="02020603050405020304" pitchFamily="18" charset="0"/>
                    <a:cs typeface="Times New Roman" panose="02020603050405020304" pitchFamily="18" charset="0"/>
                  </a:rPr>
                  <a:t>状态转移方程：</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i="1" baseline="-25000"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k-1</a:t>
                </a:r>
                <a:r>
                  <a:rPr lang="en-US" altLang="zh-CN" b="1" dirty="0" smtClean="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x</a:t>
                </a:r>
                <a:r>
                  <a:rPr lang="en-US" altLang="zh-CN" b="1" i="1" baseline="-25000" dirty="0" err="1">
                    <a:latin typeface="Times New Roman" panose="02020603050405020304" pitchFamily="18" charset="0"/>
                    <a:cs typeface="Times New Roman" panose="02020603050405020304" pitchFamily="18" charset="0"/>
                  </a:rPr>
                  <a:t>k</a:t>
                </a:r>
                <a:r>
                  <a:rPr lang="en-US" altLang="zh-CN" b="1" i="1" baseline="-25000"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 </a:t>
                </a:r>
                <a:r>
                  <a:rPr lang="en-US" altLang="zh-CN" b="1" i="1" dirty="0" err="1" smtClean="0">
                    <a:latin typeface="Times New Roman" panose="02020603050405020304" pitchFamily="18" charset="0"/>
                    <a:cs typeface="Times New Roman" panose="02020603050405020304" pitchFamily="18" charset="0"/>
                  </a:rPr>
                  <a:t>d</a:t>
                </a:r>
                <a:r>
                  <a:rPr lang="en-US" altLang="zh-CN" b="1" i="1" baseline="-25000" dirty="0" err="1" smtClean="0">
                    <a:latin typeface="Times New Roman" panose="02020603050405020304" pitchFamily="18" charset="0"/>
                    <a:cs typeface="Times New Roman" panose="02020603050405020304" pitchFamily="18" charset="0"/>
                  </a:rPr>
                  <a:t>k</a:t>
                </a:r>
                <a:endParaRPr lang="en-US" altLang="zh-CN" b="1" dirty="0" smtClean="0">
                  <a:latin typeface="Times New Roman" panose="02020603050405020304" pitchFamily="18" charset="0"/>
                  <a:cs typeface="Times New Roman" panose="02020603050405020304" pitchFamily="18" charset="0"/>
                </a:endParaRPr>
              </a:p>
              <a:p>
                <a:r>
                  <a:rPr lang="en-US" altLang="zh-CN" b="1" dirty="0" smtClean="0">
                    <a:latin typeface="Times New Roman" panose="02020603050405020304" pitchFamily="18" charset="0"/>
                    <a:cs typeface="Times New Roman" panose="02020603050405020304" pitchFamily="18" charset="0"/>
                  </a:rPr>
                  <a:t>(4)</a:t>
                </a:r>
                <a:r>
                  <a:rPr lang="zh-CN" altLang="en-US" b="1" dirty="0" smtClean="0">
                    <a:latin typeface="Times New Roman" panose="02020603050405020304" pitchFamily="18" charset="0"/>
                    <a:cs typeface="Times New Roman" panose="02020603050405020304" pitchFamily="18" charset="0"/>
                  </a:rPr>
                  <a:t>阶段指标函数：</a:t>
                </a:r>
                <a:r>
                  <a:rPr lang="en-US" altLang="zh-CN" b="1" i="1" dirty="0" smtClean="0">
                    <a:latin typeface="Times New Roman" panose="02020603050405020304" pitchFamily="18" charset="0"/>
                    <a:cs typeface="Times New Roman" panose="02020603050405020304" pitchFamily="18" charset="0"/>
                  </a:rPr>
                  <a:t> </a:t>
                </a:r>
                <a:r>
                  <a:rPr lang="en-US" altLang="zh-CN" b="1" i="1" dirty="0" err="1" smtClean="0">
                    <a:latin typeface="Times New Roman" panose="02020603050405020304" pitchFamily="18" charset="0"/>
                    <a:cs typeface="Times New Roman" panose="02020603050405020304" pitchFamily="18" charset="0"/>
                  </a:rPr>
                  <a:t>v</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x</a:t>
                </a:r>
                <a:r>
                  <a:rPr lang="en-US" altLang="zh-CN" b="1" i="1" baseline="-25000" dirty="0" err="1">
                    <a:latin typeface="Times New Roman" panose="02020603050405020304" pitchFamily="18" charset="0"/>
                    <a:cs typeface="Times New Roman" panose="02020603050405020304" pitchFamily="18" charset="0"/>
                  </a:rPr>
                  <a:t>k</a:t>
                </a:r>
                <a:r>
                  <a:rPr lang="en-US" altLang="zh-CN" b="1" i="1" baseline="-25000"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a:t>
                </a:r>
                <a:r>
                  <a:rPr lang="en-US" altLang="zh-CN" b="1" i="1" baseline="-25000"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c</a:t>
                </a:r>
                <a:r>
                  <a:rPr lang="en-US" altLang="zh-CN" b="1" i="1" baseline="-25000" dirty="0" err="1">
                    <a:latin typeface="Times New Roman" panose="02020603050405020304" pitchFamily="18" charset="0"/>
                    <a:cs typeface="Times New Roman" panose="02020603050405020304" pitchFamily="18" charset="0"/>
                  </a:rPr>
                  <a:t>k</a:t>
                </a:r>
                <a:r>
                  <a:rPr lang="en-US" altLang="zh-CN" b="1" i="1" baseline="-25000"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x</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h</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s</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endParaRPr lang="en-US" altLang="zh-CN" b="1" dirty="0" smtClean="0">
                  <a:latin typeface="Times New Roman" panose="02020603050405020304" pitchFamily="18" charset="0"/>
                  <a:cs typeface="Times New Roman" panose="02020603050405020304" pitchFamily="18" charset="0"/>
                </a:endParaRPr>
              </a:p>
              <a:p>
                <a:r>
                  <a:rPr lang="en-US" altLang="zh-CN" b="1" dirty="0" smtClean="0">
                    <a:latin typeface="Times New Roman" panose="02020603050405020304" pitchFamily="18" charset="0"/>
                    <a:cs typeface="Times New Roman" panose="02020603050405020304" pitchFamily="18" charset="0"/>
                  </a:rPr>
                  <a:t>(5)</a:t>
                </a:r>
                <a:r>
                  <a:rPr lang="zh-CN" altLang="en-US" b="1" dirty="0" smtClean="0">
                    <a:latin typeface="Times New Roman" panose="02020603050405020304" pitchFamily="18" charset="0"/>
                    <a:cs typeface="Times New Roman" panose="02020603050405020304" pitchFamily="18" charset="0"/>
                  </a:rPr>
                  <a:t>最优值函数</a:t>
                </a:r>
                <a:r>
                  <a:rPr lang="zh-CN" altLang="en-US" b="1" dirty="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f</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表示从第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阶段初始库存量为</a:t>
                </a:r>
                <a:r>
                  <a:rPr lang="en-US" altLang="zh-CN" b="1" dirty="0">
                    <a:latin typeface="Times New Roman" panose="02020603050405020304" pitchFamily="18" charset="0"/>
                    <a:cs typeface="Times New Roman" panose="02020603050405020304" pitchFamily="18" charset="0"/>
                  </a:rPr>
                  <a:t>0</a:t>
                </a:r>
                <a:r>
                  <a:rPr lang="zh-CN" altLang="en-US" b="1" dirty="0">
                    <a:latin typeface="Times New Roman" panose="02020603050405020304" pitchFamily="18" charset="0"/>
                    <a:cs typeface="Times New Roman" panose="02020603050405020304" pitchFamily="18" charset="0"/>
                  </a:rPr>
                  <a:t>到第</a:t>
                </a:r>
                <a:r>
                  <a:rPr lang="en-US" altLang="zh-CN" b="1" i="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阶段末库存量</a:t>
                </a:r>
                <a:r>
                  <a:rPr lang="zh-CN" altLang="en-US" b="1" dirty="0" smtClean="0">
                    <a:latin typeface="Times New Roman" panose="02020603050405020304" pitchFamily="18" charset="0"/>
                    <a:cs typeface="Times New Roman" panose="02020603050405020304" pitchFamily="18" charset="0"/>
                  </a:rPr>
                  <a:t>为</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时的最小总费用</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r>
                  <a:rPr lang="en-US" altLang="zh-CN" b="1" dirty="0" smtClean="0">
                    <a:latin typeface="Times New Roman" panose="02020603050405020304" pitchFamily="18" charset="0"/>
                    <a:cs typeface="Times New Roman" panose="02020603050405020304" pitchFamily="18" charset="0"/>
                  </a:rPr>
                  <a:t>(6)</a:t>
                </a:r>
                <a:r>
                  <a:rPr lang="zh-CN" altLang="en-US" b="1" dirty="0" smtClean="0">
                    <a:latin typeface="Times New Roman" panose="02020603050405020304" pitchFamily="18" charset="0"/>
                    <a:cs typeface="Times New Roman" panose="02020603050405020304" pitchFamily="18" charset="0"/>
                  </a:rPr>
                  <a:t>递推方程</a:t>
                </a:r>
                <a:r>
                  <a:rPr lang="zh-CN" altLang="en-US" b="1" dirty="0" smtClean="0">
                    <a:cs typeface="Times New Roman" panose="02020603050405020304" pitchFamily="18" charset="0"/>
                  </a:rPr>
                  <a:t>：</a:t>
                </a:r>
                <a14:m>
                  <m:oMath xmlns:m="http://schemas.openxmlformats.org/officeDocument/2006/math">
                    <m:d>
                      <m:dPr>
                        <m:begChr m:val="{"/>
                        <m:endChr m:val=""/>
                        <m:ctrlPr>
                          <a:rPr lang="en-US" altLang="zh-CN" b="1" i="1" smtClean="0">
                            <a:latin typeface="Cambria Math" panose="02040503050406030204" pitchFamily="18" charset="0"/>
                            <a:cs typeface="Times New Roman" panose="02020603050405020304" pitchFamily="18" charset="0"/>
                          </a:rPr>
                        </m:ctrlPr>
                      </m:dPr>
                      <m:e>
                        <m:eqArr>
                          <m:eqArrPr>
                            <m:ctrlPr>
                              <a:rPr lang="en-US" altLang="zh-CN" b="1" i="1" smtClean="0">
                                <a:latin typeface="Cambria Math" panose="02040503050406030204" pitchFamily="18" charset="0"/>
                                <a:cs typeface="Times New Roman" panose="02020603050405020304" pitchFamily="18" charset="0"/>
                              </a:rPr>
                            </m:ctrlPr>
                          </m:eqArrPr>
                          <m:e>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dirty="0">
                                <a:latin typeface="Times New Roman" panose="020206030504050203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m:t>
                            </m:r>
                            <m:func>
                              <m:funcPr>
                                <m:ctrlPr>
                                  <a:rPr lang="en-US" altLang="zh-CN" b="1" i="1">
                                    <a:latin typeface="Cambria Math" panose="02040503050406030204" pitchFamily="18" charset="0"/>
                                    <a:cs typeface="Times New Roman" panose="02020603050405020304" pitchFamily="18" charset="0"/>
                                  </a:rPr>
                                </m:ctrlPr>
                              </m:funcPr>
                              <m:fName>
                                <m:limLow>
                                  <m:limLowPr>
                                    <m:ctrlPr>
                                      <a:rPr lang="en-US" altLang="zh-CN" b="1" i="1">
                                        <a:latin typeface="Cambria Math" panose="02040503050406030204" pitchFamily="18" charset="0"/>
                                        <a:cs typeface="Times New Roman" panose="02020603050405020304" pitchFamily="18" charset="0"/>
                                      </a:rPr>
                                    </m:ctrlPr>
                                  </m:limLowPr>
                                  <m:e>
                                    <m:r>
                                      <m:rPr>
                                        <m:sty m:val="p"/>
                                      </m:rPr>
                                      <a:rPr lang="en-US" altLang="zh-CN">
                                        <a:latin typeface="Cambria Math" panose="02040503050406030204" pitchFamily="18" charset="0"/>
                                        <a:cs typeface="Times New Roman" panose="02020603050405020304" pitchFamily="18" charset="0"/>
                                      </a:rPr>
                                      <m:t>min</m:t>
                                    </m:r>
                                  </m:e>
                                  <m:lim>
                                    <m:r>
                                      <a:rPr lang="en-US" altLang="zh-CN" i="1">
                                        <a:latin typeface="Cambria Math" panose="02040503050406030204" pitchFamily="18" charset="0"/>
                                        <a:cs typeface="Times New Roman" panose="02020603050405020304" pitchFamily="18" charset="0"/>
                                      </a:rPr>
                                      <m:t>0</m:t>
                                    </m:r>
                                    <m:r>
                                      <a:rPr lang="en-US" altLang="zh-CN"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i="1">
                                            <a:latin typeface="Cambria Math" panose="02040503050406030204" pitchFamily="18" charset="0"/>
                                            <a:ea typeface="Cambria Math" panose="02040503050406030204" pitchFamily="18" charset="0"/>
                                            <a:cs typeface="Times New Roman" panose="02020603050405020304" pitchFamily="18" charset="0"/>
                                          </a:rPr>
                                          <m:t>𝑘</m:t>
                                        </m:r>
                                      </m:sub>
                                    </m:sSub>
                                    <m:r>
                                      <a:rPr lang="en-US" altLang="zh-CN"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altLang="zh-CN" i="1">
                                            <a:latin typeface="Cambria Math" panose="02040503050406030204" pitchFamily="18" charset="0"/>
                                            <a:ea typeface="Cambria Math" panose="02040503050406030204" pitchFamily="18" charset="0"/>
                                            <a:cs typeface="Times New Roman" panose="02020603050405020304" pitchFamily="18" charset="0"/>
                                          </a:rPr>
                                          <m:t>𝑘</m:t>
                                        </m:r>
                                      </m:sub>
                                    </m:sSub>
                                  </m:lim>
                                </m:limLow>
                              </m:fName>
                              <m:e>
                                <m:d>
                                  <m:dPr>
                                    <m:begChr m:val="{"/>
                                    <m:endChr m:val="}"/>
                                    <m:ctrlPr>
                                      <a:rPr lang="en-US" altLang="zh-CN" b="1" i="1">
                                        <a:latin typeface="Cambria Math" panose="02040503050406030204" pitchFamily="18" charset="0"/>
                                        <a:cs typeface="Times New Roman" panose="02020603050405020304" pitchFamily="18" charset="0"/>
                                      </a:rPr>
                                    </m:ctrlPr>
                                  </m:dPr>
                                  <m:e>
                                    <m:r>
                                      <m:rPr>
                                        <m:nor/>
                                      </m:rPr>
                                      <a:rPr lang="en-US" altLang="zh-CN" b="1" i="1" dirty="0">
                                        <a:latin typeface="Times New Roman" panose="02020603050405020304" pitchFamily="18" charset="0"/>
                                        <a:cs typeface="Times New Roman" panose="02020603050405020304" pitchFamily="18" charset="0"/>
                                      </a:rPr>
                                      <m:t>v</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 </m:t>
                                    </m:r>
                                    <m:sSub>
                                      <m:sSubPr>
                                        <m:ctrlPr>
                                          <a:rPr lang="en-US" altLang="zh-CN" b="1" i="1" dirty="0">
                                            <a:latin typeface="Cambria Math" panose="02040503050406030204" pitchFamily="18" charset="0"/>
                                            <a:cs typeface="Times New Roman" panose="02020603050405020304" pitchFamily="18" charset="0"/>
                                          </a:rPr>
                                        </m:ctrlPr>
                                      </m:sSubPr>
                                      <m:e>
                                        <m:r>
                                          <a:rPr lang="en-US" altLang="zh-CN" b="1" i="1" dirty="0">
                                            <a:latin typeface="Cambria Math" panose="02040503050406030204" pitchFamily="18" charset="0"/>
                                            <a:cs typeface="Times New Roman" panose="02020603050405020304" pitchFamily="18" charset="0"/>
                                          </a:rPr>
                                          <m:t>𝒙</m:t>
                                        </m:r>
                                      </m:e>
                                      <m:sub>
                                        <m:r>
                                          <a:rPr lang="en-US" altLang="zh-CN" b="1" i="1" dirty="0">
                                            <a:latin typeface="Cambria Math" panose="02040503050406030204" pitchFamily="18" charset="0"/>
                                            <a:cs typeface="Times New Roman" panose="02020603050405020304" pitchFamily="18" charset="0"/>
                                          </a:rPr>
                                          <m:t>𝒌</m:t>
                                        </m:r>
                                      </m:sub>
                                    </m:sSub>
                                    <m:r>
                                      <m:rPr>
                                        <m:nor/>
                                      </m:rPr>
                                      <a:rPr lang="en-US" altLang="zh-CN" b="1" dirty="0">
                                        <a:latin typeface="Times New Roman" panose="020206030504050203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i="1" baseline="-25000" dirty="0">
                                        <a:latin typeface="Times New Roman" panose="02020603050405020304" pitchFamily="18" charset="0"/>
                                        <a:cs typeface="Times New Roman" panose="02020603050405020304" pitchFamily="18" charset="0"/>
                                      </a:rPr>
                                      <m:t>−1</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i="1" baseline="-25000" dirty="0">
                                        <a:latin typeface="Times New Roman" panose="02020603050405020304" pitchFamily="18" charset="0"/>
                                        <a:cs typeface="Times New Roman" panose="02020603050405020304" pitchFamily="18" charset="0"/>
                                      </a:rPr>
                                      <m:t>−1</m:t>
                                    </m:r>
                                    <m:r>
                                      <m:rPr>
                                        <m:nor/>
                                      </m:rPr>
                                      <a:rPr lang="en-US" altLang="zh-CN" b="1" dirty="0">
                                        <a:latin typeface="Times New Roman" panose="02020603050405020304" pitchFamily="18" charset="0"/>
                                        <a:cs typeface="Times New Roman" panose="02020603050405020304" pitchFamily="18" charset="0"/>
                                      </a:rPr>
                                      <m:t>)</m:t>
                                    </m:r>
                                  </m:e>
                                </m:d>
                                <m:r>
                                  <a:rPr lang="zh-CN" altLang="en-US" b="1"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𝑘</m:t>
                                </m:r>
                                <m:r>
                                  <a:rPr lang="en-US" altLang="zh-CN" i="1">
                                    <a:latin typeface="Cambria Math" panose="02040503050406030204" pitchFamily="18" charset="0"/>
                                    <a:cs typeface="Times New Roman" panose="02020603050405020304" pitchFamily="18" charset="0"/>
                                  </a:rPr>
                                  <m:t>=1,2,⋯,</m:t>
                                </m:r>
                                <m:r>
                                  <a:rPr lang="en-US" altLang="zh-CN" b="0" i="1" smtClean="0">
                                    <a:latin typeface="Cambria Math" panose="02040503050406030204" pitchFamily="18" charset="0"/>
                                    <a:cs typeface="Times New Roman" panose="02020603050405020304" pitchFamily="18" charset="0"/>
                                  </a:rPr>
                                  <m:t>𝑛</m:t>
                                </m:r>
                              </m:e>
                            </m:func>
                          </m:e>
                          <m:e>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smtClean="0">
                                <a:latin typeface="Times New Roman" panose="02020603050405020304" pitchFamily="18" charset="0"/>
                                <a:cs typeface="Times New Roman" panose="02020603050405020304" pitchFamily="18" charset="0"/>
                              </a:rPr>
                              <m:t>0</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0" baseline="-25000" dirty="0" smtClean="0">
                                <a:latin typeface="Times New Roman" panose="02020603050405020304" pitchFamily="18" charset="0"/>
                                <a:cs typeface="Times New Roman" panose="02020603050405020304" pitchFamily="18" charset="0"/>
                              </a:rPr>
                              <m:t>0</m:t>
                            </m:r>
                            <m:r>
                              <m:rPr>
                                <m:nor/>
                              </m:rPr>
                              <a:rPr lang="en-US" altLang="zh-CN" b="1" dirty="0">
                                <a:latin typeface="Times New Roman" panose="02020603050405020304" pitchFamily="18" charset="0"/>
                                <a:cs typeface="Times New Roman" panose="02020603050405020304" pitchFamily="18" charset="0"/>
                              </a:rPr>
                              <m:t>)</m:t>
                            </m:r>
                            <m:r>
                              <a:rPr lang="en-US" altLang="zh-CN" b="1" i="1" dirty="0" smtClean="0">
                                <a:latin typeface="Cambria Math" panose="02040503050406030204" pitchFamily="18" charset="0"/>
                                <a:cs typeface="Times New Roman" panose="02020603050405020304" pitchFamily="18" charset="0"/>
                              </a:rPr>
                              <m:t>=</m:t>
                            </m:r>
                            <m:r>
                              <a:rPr lang="en-US" altLang="zh-CN" b="1" i="1" dirty="0" smtClean="0">
                                <a:latin typeface="Cambria Math" panose="02040503050406030204" pitchFamily="18" charset="0"/>
                                <a:cs typeface="Times New Roman" panose="02020603050405020304" pitchFamily="18" charset="0"/>
                              </a:rPr>
                              <m:t>𝟎</m:t>
                            </m:r>
                            <m:r>
                              <a:rPr lang="en-US" altLang="zh-CN" b="1" i="1" dirty="0" smtClean="0">
                                <a:latin typeface="Cambria Math" panose="02040503050406030204" pitchFamily="18" charset="0"/>
                                <a:cs typeface="Times New Roman" panose="02020603050405020304" pitchFamily="18" charset="0"/>
                              </a:rPr>
                              <m:t>                                                                                    </m:t>
                            </m:r>
                          </m:e>
                        </m:eqArr>
                      </m:e>
                    </m:d>
                  </m:oMath>
                </a14:m>
                <a:endParaRPr lang="zh-CN" altLang="en-US" b="1" dirty="0">
                  <a:latin typeface="Times New Roman" panose="02020603050405020304" pitchFamily="18" charset="0"/>
                  <a:cs typeface="Times New Roman" panose="02020603050405020304" pitchFamily="18" charset="0"/>
                </a:endParaRPr>
              </a:p>
            </p:txBody>
          </p:sp>
        </mc:Choice>
        <mc:Fallback xmlns="">
          <p:sp>
            <p:nvSpPr>
              <p:cNvPr id="18" name="Rectangle 20"/>
              <p:cNvSpPr>
                <a:spLocks noRot="1" noChangeAspect="1" noMove="1" noResize="1" noEditPoints="1" noAdjustHandles="1" noChangeArrowheads="1" noChangeShapeType="1" noTextEdit="1"/>
              </p:cNvSpPr>
              <p:nvPr/>
            </p:nvSpPr>
            <p:spPr bwMode="auto">
              <a:xfrm>
                <a:off x="723152" y="1495798"/>
                <a:ext cx="8064896" cy="3229346"/>
              </a:xfrm>
              <a:prstGeom prst="rect">
                <a:avLst/>
              </a:prstGeom>
              <a:blipFill>
                <a:blip r:embed="rId3"/>
                <a:stretch>
                  <a:fillRect l="-831" t="-943" r="-45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 name="文本框 1"/>
          <p:cNvSpPr txBox="1"/>
          <p:nvPr/>
        </p:nvSpPr>
        <p:spPr bwMode="auto">
          <a:xfrm>
            <a:off x="4557459" y="4725144"/>
            <a:ext cx="4594528" cy="161582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pPr>
            <a:r>
              <a:rPr lang="zh-CN" altLang="en-US" sz="1800" b="1" dirty="0" smtClean="0">
                <a:latin typeface="Times New Roman" panose="02020603050405020304" pitchFamily="18" charset="0"/>
                <a:cs typeface="Courier New" panose="02070309020205020404" pitchFamily="49" charset="0"/>
              </a:rPr>
              <a:t>状态变量</a:t>
            </a:r>
            <a:r>
              <a:rPr lang="en-US" altLang="zh-CN" sz="1800" b="1" i="1" dirty="0" err="1">
                <a:latin typeface="Times New Roman" panose="02020603050405020304" pitchFamily="18" charset="0"/>
                <a:cs typeface="Times New Roman" panose="02020603050405020304" pitchFamily="18" charset="0"/>
              </a:rPr>
              <a:t>s</a:t>
            </a:r>
            <a:r>
              <a:rPr lang="en-US" altLang="zh-CN" sz="1800" b="1" i="1" baseline="-25000" dirty="0" err="1">
                <a:latin typeface="Times New Roman" panose="02020603050405020304" pitchFamily="18" charset="0"/>
                <a:cs typeface="Times New Roman" panose="02020603050405020304" pitchFamily="18" charset="0"/>
              </a:rPr>
              <a:t>k</a:t>
            </a:r>
            <a:r>
              <a:rPr lang="zh-CN" altLang="en-US" sz="1800" b="1" dirty="0" smtClean="0">
                <a:latin typeface="Times New Roman" panose="02020603050405020304" pitchFamily="18" charset="0"/>
                <a:cs typeface="Courier New" panose="02070309020205020404" pitchFamily="49" charset="0"/>
              </a:rPr>
              <a:t>的取值范围：</a:t>
            </a:r>
            <a:endParaRPr lang="en-US" altLang="zh-CN" sz="1800" b="1" dirty="0" smtClean="0">
              <a:latin typeface="Times New Roman" panose="02020603050405020304" pitchFamily="18" charset="0"/>
              <a:cs typeface="Courier New" panose="02070309020205020404" pitchFamily="49" charset="0"/>
            </a:endParaRPr>
          </a:p>
          <a:p>
            <a:pPr algn="just" eaLnBrk="1" hangingPunct="1">
              <a:lnSpc>
                <a:spcPct val="110000"/>
              </a:lnSpc>
            </a:pPr>
            <a:r>
              <a:rPr lang="zh-CN" altLang="en-US" sz="1800" b="1" dirty="0" smtClean="0">
                <a:latin typeface="Times New Roman" panose="02020603050405020304" pitchFamily="18" charset="0"/>
                <a:cs typeface="Courier New" panose="02070309020205020404" pitchFamily="49" charset="0"/>
              </a:rPr>
              <a:t>（</a:t>
            </a:r>
            <a:r>
              <a:rPr lang="en-US" altLang="zh-CN" sz="1800" b="1" dirty="0" smtClean="0">
                <a:latin typeface="Times New Roman" panose="02020603050405020304" pitchFamily="18" charset="0"/>
                <a:cs typeface="Courier New" panose="02070309020205020404" pitchFamily="49" charset="0"/>
              </a:rPr>
              <a:t>1</a:t>
            </a:r>
            <a:r>
              <a:rPr lang="zh-CN" altLang="en-US" sz="1800" b="1" dirty="0" smtClean="0">
                <a:latin typeface="Times New Roman" panose="02020603050405020304" pitchFamily="18" charset="0"/>
                <a:cs typeface="Courier New" panose="02070309020205020404" pitchFamily="49" charset="0"/>
              </a:rPr>
              <a:t>）</a:t>
            </a:r>
            <a:r>
              <a:rPr lang="en-US" altLang="zh-CN" sz="1800" b="1" i="1" dirty="0">
                <a:latin typeface="Times New Roman" panose="02020603050405020304" pitchFamily="18" charset="0"/>
                <a:cs typeface="Times New Roman" panose="02020603050405020304" pitchFamily="18" charset="0"/>
              </a:rPr>
              <a:t> </a:t>
            </a:r>
            <a:r>
              <a:rPr lang="en-US" altLang="zh-CN" sz="1800" b="1" i="1" dirty="0" err="1" smtClean="0">
                <a:latin typeface="Times New Roman" panose="02020603050405020304" pitchFamily="18" charset="0"/>
                <a:cs typeface="Times New Roman" panose="02020603050405020304" pitchFamily="18" charset="0"/>
              </a:rPr>
              <a:t>s</a:t>
            </a:r>
            <a:r>
              <a:rPr lang="en-US" altLang="zh-CN" sz="1800" b="1" i="1" baseline="-25000" dirty="0" err="1">
                <a:latin typeface="Times New Roman" panose="02020603050405020304" pitchFamily="18" charset="0"/>
                <a:cs typeface="Times New Roman" panose="02020603050405020304" pitchFamily="18" charset="0"/>
              </a:rPr>
              <a:t>k</a:t>
            </a:r>
            <a:r>
              <a:rPr lang="en-US" altLang="zh-CN" sz="1800" b="1" i="1" baseline="-25000" dirty="0">
                <a:latin typeface="Times New Roman" panose="02020603050405020304" pitchFamily="18" charset="0"/>
                <a:cs typeface="Times New Roman" panose="02020603050405020304" pitchFamily="18" charset="0"/>
              </a:rPr>
              <a:t> </a:t>
            </a:r>
            <a:r>
              <a:rPr lang="en-US" altLang="zh-CN" sz="1800" b="1" dirty="0" smtClean="0">
                <a:latin typeface="Times New Roman" panose="02020603050405020304" pitchFamily="18" charset="0"/>
                <a:cs typeface="Times New Roman" panose="02020603050405020304" pitchFamily="18" charset="0"/>
              </a:rPr>
              <a:t>≥0</a:t>
            </a:r>
            <a:endParaRPr lang="en-US" altLang="zh-CN" sz="1800" b="1" dirty="0" smtClean="0">
              <a:latin typeface="Times New Roman" panose="02020603050405020304" pitchFamily="18" charset="0"/>
              <a:cs typeface="Courier New" panose="02070309020205020404" pitchFamily="49" charset="0"/>
            </a:endParaRPr>
          </a:p>
          <a:p>
            <a:pPr algn="just" eaLnBrk="1" hangingPunct="1">
              <a:lnSpc>
                <a:spcPct val="110000"/>
              </a:lnSpc>
            </a:pPr>
            <a:r>
              <a:rPr lang="zh-CN" altLang="en-US" sz="1800" b="1" dirty="0" smtClean="0">
                <a:latin typeface="Times New Roman" panose="02020603050405020304" pitchFamily="18" charset="0"/>
                <a:cs typeface="Courier New" panose="02070309020205020404" pitchFamily="49" charset="0"/>
              </a:rPr>
              <a:t>（</a:t>
            </a:r>
            <a:r>
              <a:rPr lang="en-US" altLang="zh-CN" sz="1800" b="1" dirty="0" smtClean="0">
                <a:latin typeface="Times New Roman" panose="02020603050405020304" pitchFamily="18" charset="0"/>
                <a:cs typeface="Courier New" panose="02070309020205020404" pitchFamily="49" charset="0"/>
              </a:rPr>
              <a:t>2</a:t>
            </a:r>
            <a:r>
              <a:rPr lang="zh-CN" altLang="en-US" sz="1800" b="1" dirty="0" smtClean="0">
                <a:latin typeface="Times New Roman" panose="02020603050405020304" pitchFamily="18" charset="0"/>
                <a:cs typeface="Courier New" panose="02070309020205020404" pitchFamily="49" charset="0"/>
              </a:rPr>
              <a:t>）</a:t>
            </a:r>
            <a:r>
              <a:rPr lang="en-US" altLang="zh-CN" sz="1800" b="1" i="1" dirty="0">
                <a:latin typeface="Times New Roman" panose="02020603050405020304" pitchFamily="18" charset="0"/>
                <a:cs typeface="Times New Roman" panose="02020603050405020304" pitchFamily="18" charset="0"/>
              </a:rPr>
              <a:t> </a:t>
            </a:r>
            <a:r>
              <a:rPr lang="en-US" altLang="zh-CN" sz="1800" b="1" i="1" dirty="0" err="1">
                <a:latin typeface="Times New Roman" panose="02020603050405020304" pitchFamily="18" charset="0"/>
                <a:cs typeface="Times New Roman" panose="02020603050405020304" pitchFamily="18" charset="0"/>
              </a:rPr>
              <a:t>s</a:t>
            </a:r>
            <a:r>
              <a:rPr lang="en-US" altLang="zh-CN" sz="1800" b="1" i="1" baseline="-25000" dirty="0" err="1">
                <a:latin typeface="Times New Roman" panose="02020603050405020304" pitchFamily="18" charset="0"/>
                <a:cs typeface="Times New Roman" panose="02020603050405020304" pitchFamily="18" charset="0"/>
              </a:rPr>
              <a:t>k</a:t>
            </a:r>
            <a:r>
              <a:rPr lang="en-US" altLang="zh-CN" sz="1800" b="1" i="1" baseline="-25000" dirty="0">
                <a:latin typeface="Times New Roman" panose="02020603050405020304" pitchFamily="18" charset="0"/>
                <a:cs typeface="Times New Roman" panose="02020603050405020304" pitchFamily="18" charset="0"/>
              </a:rPr>
              <a:t> </a:t>
            </a:r>
            <a:r>
              <a:rPr lang="zh-CN" altLang="en-US" sz="1800" b="1" dirty="0" smtClean="0">
                <a:latin typeface="Times New Roman" panose="02020603050405020304" pitchFamily="18" charset="0"/>
                <a:cs typeface="Times New Roman" panose="02020603050405020304" pitchFamily="18" charset="0"/>
              </a:rPr>
              <a:t>≤</a:t>
            </a:r>
            <a:r>
              <a:rPr lang="en-US" altLang="zh-CN" sz="1800" b="1" i="1" dirty="0">
                <a:latin typeface="Times New Roman" panose="02020603050405020304" pitchFamily="18" charset="0"/>
                <a:cs typeface="Times New Roman" panose="02020603050405020304" pitchFamily="18" charset="0"/>
              </a:rPr>
              <a:t> </a:t>
            </a:r>
            <a:r>
              <a:rPr lang="en-US" altLang="zh-CN" sz="1800" b="1" i="1" dirty="0" err="1" smtClean="0">
                <a:latin typeface="Times New Roman" panose="02020603050405020304" pitchFamily="18" charset="0"/>
                <a:cs typeface="Times New Roman" panose="02020603050405020304" pitchFamily="18" charset="0"/>
              </a:rPr>
              <a:t>d</a:t>
            </a:r>
            <a:r>
              <a:rPr lang="en-US" altLang="zh-CN" sz="1800" b="1" i="1" baseline="-25000" dirty="0" err="1">
                <a:latin typeface="Times New Roman" panose="02020603050405020304" pitchFamily="18" charset="0"/>
                <a:cs typeface="Times New Roman" panose="02020603050405020304" pitchFamily="18" charset="0"/>
              </a:rPr>
              <a:t>k</a:t>
            </a:r>
            <a:r>
              <a:rPr lang="en-US" altLang="zh-CN" sz="1800" b="1" i="1" baseline="-25000" dirty="0">
                <a:latin typeface="Times New Roman" panose="02020603050405020304" pitchFamily="18" charset="0"/>
                <a:cs typeface="Times New Roman" panose="02020603050405020304" pitchFamily="18" charset="0"/>
              </a:rPr>
              <a:t> +1 </a:t>
            </a:r>
            <a:r>
              <a:rPr lang="en-US" altLang="zh-CN" sz="1800" b="1" dirty="0">
                <a:latin typeface="Times New Roman" panose="02020603050405020304" pitchFamily="18" charset="0"/>
                <a:cs typeface="Times New Roman" panose="02020603050405020304" pitchFamily="18" charset="0"/>
              </a:rPr>
              <a:t>+…+</a:t>
            </a:r>
            <a:r>
              <a:rPr lang="en-US" altLang="zh-CN" sz="1800" b="1" i="1" dirty="0" smtClean="0">
                <a:latin typeface="Times New Roman" panose="02020603050405020304" pitchFamily="18" charset="0"/>
                <a:cs typeface="Times New Roman" panose="02020603050405020304" pitchFamily="18" charset="0"/>
              </a:rPr>
              <a:t> </a:t>
            </a:r>
            <a:r>
              <a:rPr lang="en-US" altLang="zh-CN" sz="1800" b="1" i="1" dirty="0" err="1" smtClean="0">
                <a:latin typeface="Times New Roman" panose="02020603050405020304" pitchFamily="18" charset="0"/>
                <a:cs typeface="Times New Roman" panose="02020603050405020304" pitchFamily="18" charset="0"/>
              </a:rPr>
              <a:t>d</a:t>
            </a:r>
            <a:r>
              <a:rPr lang="en-US" altLang="zh-CN" sz="1800" b="1" i="1" baseline="-25000" dirty="0" err="1" smtClean="0">
                <a:latin typeface="Times New Roman" panose="02020603050405020304" pitchFamily="18" charset="0"/>
                <a:cs typeface="Times New Roman" panose="02020603050405020304" pitchFamily="18" charset="0"/>
              </a:rPr>
              <a:t>n</a:t>
            </a:r>
            <a:r>
              <a:rPr lang="en-US" altLang="zh-CN" sz="1800" b="1" i="1" baseline="-25000" dirty="0" smtClean="0">
                <a:latin typeface="Times New Roman" panose="02020603050405020304" pitchFamily="18" charset="0"/>
                <a:cs typeface="Times New Roman" panose="02020603050405020304" pitchFamily="18" charset="0"/>
              </a:rPr>
              <a:t> -1</a:t>
            </a:r>
            <a:r>
              <a:rPr lang="en-US" altLang="zh-CN" sz="1800" b="1" dirty="0" smtClean="0">
                <a:latin typeface="Times New Roman" panose="02020603050405020304" pitchFamily="18" charset="0"/>
                <a:cs typeface="Times New Roman" panose="02020603050405020304" pitchFamily="18" charset="0"/>
              </a:rPr>
              <a:t>+</a:t>
            </a:r>
            <a:r>
              <a:rPr lang="en-US" altLang="zh-CN" sz="1800" b="1" i="1" dirty="0" smtClean="0">
                <a:latin typeface="Times New Roman" panose="02020603050405020304" pitchFamily="18" charset="0"/>
                <a:cs typeface="Times New Roman" panose="02020603050405020304" pitchFamily="18" charset="0"/>
              </a:rPr>
              <a:t> </a:t>
            </a:r>
            <a:r>
              <a:rPr lang="en-US" altLang="zh-CN" sz="1800" b="1" i="1" dirty="0" err="1" smtClean="0">
                <a:latin typeface="Times New Roman" panose="02020603050405020304" pitchFamily="18" charset="0"/>
                <a:cs typeface="Times New Roman" panose="02020603050405020304" pitchFamily="18" charset="0"/>
              </a:rPr>
              <a:t>d</a:t>
            </a:r>
            <a:r>
              <a:rPr lang="en-US" altLang="zh-CN" sz="1800" b="1" i="1" baseline="-25000" dirty="0" err="1" smtClean="0">
                <a:latin typeface="Times New Roman" panose="02020603050405020304" pitchFamily="18" charset="0"/>
                <a:cs typeface="Times New Roman" panose="02020603050405020304" pitchFamily="18" charset="0"/>
              </a:rPr>
              <a:t>n</a:t>
            </a:r>
            <a:endParaRPr lang="en-US" altLang="zh-CN" sz="1800" b="1" dirty="0" smtClean="0">
              <a:latin typeface="Times New Roman" panose="02020603050405020304" pitchFamily="18" charset="0"/>
              <a:cs typeface="Courier New" panose="02070309020205020404" pitchFamily="49" charset="0"/>
            </a:endParaRPr>
          </a:p>
          <a:p>
            <a:pPr algn="just" eaLnBrk="1" hangingPunct="1">
              <a:lnSpc>
                <a:spcPct val="110000"/>
              </a:lnSpc>
            </a:pPr>
            <a:r>
              <a:rPr lang="zh-CN" altLang="en-US" sz="1800" b="1" dirty="0" smtClean="0">
                <a:latin typeface="Times New Roman" panose="02020603050405020304" pitchFamily="18" charset="0"/>
                <a:cs typeface="Courier New" panose="02070309020205020404" pitchFamily="49" charset="0"/>
              </a:rPr>
              <a:t>（</a:t>
            </a:r>
            <a:r>
              <a:rPr lang="en-US" altLang="zh-CN" sz="1800" b="1" dirty="0" smtClean="0">
                <a:latin typeface="Times New Roman" panose="02020603050405020304" pitchFamily="18" charset="0"/>
                <a:cs typeface="Courier New" panose="02070309020205020404" pitchFamily="49" charset="0"/>
              </a:rPr>
              <a:t>3</a:t>
            </a:r>
            <a:r>
              <a:rPr lang="zh-CN" altLang="en-US" sz="1800" b="1" dirty="0" smtClean="0">
                <a:latin typeface="Times New Roman" panose="02020603050405020304" pitchFamily="18" charset="0"/>
                <a:cs typeface="Courier New" panose="02070309020205020404" pitchFamily="49" charset="0"/>
              </a:rPr>
              <a:t>）</a:t>
            </a:r>
            <a:r>
              <a:rPr lang="en-US" altLang="zh-CN" sz="1800" b="1" i="1" dirty="0" err="1">
                <a:latin typeface="Times New Roman" panose="02020603050405020304" pitchFamily="18" charset="0"/>
                <a:cs typeface="Times New Roman" panose="02020603050405020304" pitchFamily="18" charset="0"/>
              </a:rPr>
              <a:t>s</a:t>
            </a:r>
            <a:r>
              <a:rPr lang="en-US" altLang="zh-CN" sz="1800" b="1" i="1" baseline="-25000" dirty="0" err="1">
                <a:latin typeface="Times New Roman" panose="02020603050405020304" pitchFamily="18" charset="0"/>
                <a:cs typeface="Times New Roman" panose="02020603050405020304" pitchFamily="18" charset="0"/>
              </a:rPr>
              <a:t>k</a:t>
            </a:r>
            <a:r>
              <a:rPr lang="en-US" altLang="zh-CN" sz="1800" b="1" i="1" baseline="-25000" dirty="0">
                <a:latin typeface="Times New Roman" panose="02020603050405020304" pitchFamily="18" charset="0"/>
                <a:cs typeface="Times New Roman" panose="02020603050405020304" pitchFamily="18" charset="0"/>
              </a:rPr>
              <a:t> </a:t>
            </a:r>
            <a:r>
              <a:rPr lang="en-US" altLang="zh-CN" sz="1800" b="1" dirty="0" smtClean="0">
                <a:latin typeface="Times New Roman" panose="02020603050405020304" pitchFamily="18" charset="0"/>
                <a:cs typeface="Times New Roman" panose="02020603050405020304" pitchFamily="18" charset="0"/>
              </a:rPr>
              <a:t>=</a:t>
            </a:r>
            <a:r>
              <a:rPr lang="en-US" altLang="zh-CN" sz="1800" b="1" i="1" dirty="0" smtClean="0">
                <a:latin typeface="Times New Roman" panose="02020603050405020304" pitchFamily="18" charset="0"/>
                <a:cs typeface="Times New Roman" panose="02020603050405020304" pitchFamily="18" charset="0"/>
              </a:rPr>
              <a:t> s</a:t>
            </a:r>
            <a:r>
              <a:rPr lang="en-US" altLang="zh-CN" sz="1800" b="1" i="1" baseline="-25000" dirty="0" smtClean="0">
                <a:latin typeface="Times New Roman" panose="02020603050405020304" pitchFamily="18" charset="0"/>
                <a:cs typeface="Times New Roman" panose="02020603050405020304" pitchFamily="18" charset="0"/>
              </a:rPr>
              <a:t>k-1 </a:t>
            </a:r>
            <a:r>
              <a:rPr lang="en-US" altLang="zh-CN" sz="1800" b="1" dirty="0" smtClean="0">
                <a:latin typeface="Times New Roman" panose="02020603050405020304" pitchFamily="18" charset="0"/>
                <a:cs typeface="Times New Roman" panose="02020603050405020304" pitchFamily="18" charset="0"/>
              </a:rPr>
              <a:t>+</a:t>
            </a:r>
            <a:r>
              <a:rPr lang="en-US" altLang="zh-CN" sz="1800" b="1" i="1" dirty="0">
                <a:latin typeface="Times New Roman" panose="02020603050405020304" pitchFamily="18" charset="0"/>
                <a:cs typeface="Times New Roman" panose="02020603050405020304" pitchFamily="18" charset="0"/>
              </a:rPr>
              <a:t> </a:t>
            </a:r>
            <a:r>
              <a:rPr lang="en-US" altLang="zh-CN" sz="1800" b="1" i="1" dirty="0" err="1" smtClean="0">
                <a:latin typeface="Times New Roman" panose="02020603050405020304" pitchFamily="18" charset="0"/>
                <a:cs typeface="Times New Roman" panose="02020603050405020304" pitchFamily="18" charset="0"/>
              </a:rPr>
              <a:t>x</a:t>
            </a:r>
            <a:r>
              <a:rPr lang="en-US" altLang="zh-CN" sz="1800" b="1" i="1" baseline="-25000" dirty="0" err="1" smtClean="0">
                <a:latin typeface="Times New Roman" panose="02020603050405020304" pitchFamily="18" charset="0"/>
                <a:cs typeface="Times New Roman" panose="02020603050405020304" pitchFamily="18" charset="0"/>
              </a:rPr>
              <a:t>k</a:t>
            </a:r>
            <a:r>
              <a:rPr lang="en-US" altLang="zh-CN" sz="1800" b="1" i="1" baseline="-25000" dirty="0" smtClean="0">
                <a:latin typeface="Times New Roman" panose="02020603050405020304" pitchFamily="18" charset="0"/>
                <a:cs typeface="Times New Roman" panose="02020603050405020304" pitchFamily="18" charset="0"/>
              </a:rPr>
              <a:t> </a:t>
            </a:r>
            <a:r>
              <a:rPr lang="en-US" altLang="zh-CN" sz="1800" b="1" dirty="0" smtClean="0">
                <a:latin typeface="Times New Roman" panose="02020603050405020304" pitchFamily="18" charset="0"/>
                <a:cs typeface="Times New Roman" panose="02020603050405020304" pitchFamily="18" charset="0"/>
              </a:rPr>
              <a:t>-</a:t>
            </a:r>
            <a:r>
              <a:rPr lang="en-US" altLang="zh-CN" sz="1800" b="1" i="1" dirty="0" smtClean="0">
                <a:latin typeface="Times New Roman" panose="02020603050405020304" pitchFamily="18" charset="0"/>
                <a:cs typeface="Times New Roman" panose="02020603050405020304" pitchFamily="18" charset="0"/>
              </a:rPr>
              <a:t> </a:t>
            </a:r>
            <a:r>
              <a:rPr lang="en-US" altLang="zh-CN" sz="1800" b="1" i="1" dirty="0" err="1">
                <a:latin typeface="Times New Roman" panose="02020603050405020304" pitchFamily="18" charset="0"/>
                <a:cs typeface="Times New Roman" panose="02020603050405020304" pitchFamily="18" charset="0"/>
              </a:rPr>
              <a:t>d</a:t>
            </a:r>
            <a:r>
              <a:rPr lang="en-US" altLang="zh-CN" sz="1800" b="1" i="1" baseline="-25000" dirty="0" err="1">
                <a:latin typeface="Times New Roman" panose="02020603050405020304" pitchFamily="18" charset="0"/>
                <a:cs typeface="Times New Roman" panose="02020603050405020304" pitchFamily="18" charset="0"/>
              </a:rPr>
              <a:t>k</a:t>
            </a:r>
            <a:r>
              <a:rPr lang="en-US" altLang="zh-CN" sz="1800" b="1" i="1" baseline="-25000" dirty="0">
                <a:latin typeface="Times New Roman" panose="02020603050405020304" pitchFamily="18" charset="0"/>
                <a:cs typeface="Times New Roman" panose="02020603050405020304" pitchFamily="18" charset="0"/>
              </a:rPr>
              <a:t> </a:t>
            </a:r>
            <a:r>
              <a:rPr lang="zh-CN" altLang="en-US" sz="1800" b="1" dirty="0" smtClean="0">
                <a:latin typeface="Times New Roman" panose="02020603050405020304" pitchFamily="18" charset="0"/>
                <a:cs typeface="Times New Roman" panose="02020603050405020304" pitchFamily="18" charset="0"/>
              </a:rPr>
              <a:t>≤</a:t>
            </a:r>
            <a:r>
              <a:rPr lang="en-US" altLang="zh-CN" sz="1800" b="1" i="1" dirty="0" smtClean="0">
                <a:latin typeface="Times New Roman" panose="02020603050405020304" pitchFamily="18" charset="0"/>
                <a:cs typeface="Times New Roman" panose="02020603050405020304" pitchFamily="18" charset="0"/>
              </a:rPr>
              <a:t> </a:t>
            </a:r>
            <a:r>
              <a:rPr lang="en-US" altLang="zh-CN" sz="1800" b="1" i="1" dirty="0">
                <a:latin typeface="Times New Roman" panose="02020603050405020304" pitchFamily="18" charset="0"/>
                <a:cs typeface="Times New Roman" panose="02020603050405020304" pitchFamily="18" charset="0"/>
              </a:rPr>
              <a:t>s</a:t>
            </a:r>
            <a:r>
              <a:rPr lang="en-US" altLang="zh-CN" sz="1800" b="1" i="1" baseline="-25000" dirty="0">
                <a:latin typeface="Times New Roman" panose="02020603050405020304" pitchFamily="18" charset="0"/>
                <a:cs typeface="Times New Roman" panose="02020603050405020304" pitchFamily="18" charset="0"/>
              </a:rPr>
              <a:t>k-1 </a:t>
            </a:r>
            <a:r>
              <a:rPr lang="en-US" altLang="zh-CN" sz="1800" b="1" dirty="0">
                <a:latin typeface="Times New Roman" panose="02020603050405020304" pitchFamily="18" charset="0"/>
                <a:cs typeface="Times New Roman" panose="02020603050405020304" pitchFamily="18" charset="0"/>
              </a:rPr>
              <a:t>+ </a:t>
            </a:r>
            <a:r>
              <a:rPr lang="en-US" altLang="zh-CN" sz="1800" b="1" i="1" dirty="0" smtClean="0">
                <a:latin typeface="Times New Roman" panose="02020603050405020304" pitchFamily="18" charset="0"/>
                <a:cs typeface="Times New Roman" panose="02020603050405020304" pitchFamily="18" charset="0"/>
              </a:rPr>
              <a:t>m</a:t>
            </a:r>
            <a:r>
              <a:rPr lang="en-US" altLang="zh-CN" sz="1800" b="1" dirty="0" smtClean="0">
                <a:latin typeface="Times New Roman" panose="02020603050405020304" pitchFamily="18" charset="0"/>
                <a:cs typeface="Times New Roman" panose="02020603050405020304" pitchFamily="18" charset="0"/>
              </a:rPr>
              <a:t> </a:t>
            </a:r>
            <a:r>
              <a:rPr lang="en-US" altLang="zh-CN" sz="1800" b="1" dirty="0">
                <a:latin typeface="Times New Roman" panose="02020603050405020304" pitchFamily="18" charset="0"/>
                <a:cs typeface="Times New Roman" panose="02020603050405020304" pitchFamily="18" charset="0"/>
              </a:rPr>
              <a:t>-</a:t>
            </a:r>
            <a:r>
              <a:rPr lang="en-US" altLang="zh-CN" sz="1800" b="1" i="1" dirty="0">
                <a:latin typeface="Times New Roman" panose="02020603050405020304" pitchFamily="18" charset="0"/>
                <a:cs typeface="Times New Roman" panose="02020603050405020304" pitchFamily="18" charset="0"/>
              </a:rPr>
              <a:t> </a:t>
            </a:r>
            <a:r>
              <a:rPr lang="en-US" altLang="zh-CN" sz="1800" b="1" i="1" dirty="0" err="1">
                <a:latin typeface="Times New Roman" panose="02020603050405020304" pitchFamily="18" charset="0"/>
                <a:cs typeface="Times New Roman" panose="02020603050405020304" pitchFamily="18" charset="0"/>
              </a:rPr>
              <a:t>d</a:t>
            </a:r>
            <a:r>
              <a:rPr lang="en-US" altLang="zh-CN" sz="1800" b="1" i="1" baseline="-25000" dirty="0" err="1">
                <a:latin typeface="Times New Roman" panose="02020603050405020304" pitchFamily="18" charset="0"/>
                <a:cs typeface="Times New Roman" panose="02020603050405020304" pitchFamily="18" charset="0"/>
              </a:rPr>
              <a:t>k</a:t>
            </a:r>
            <a:r>
              <a:rPr lang="en-US" altLang="zh-CN" sz="1800" b="1" i="1" baseline="-25000" dirty="0">
                <a:latin typeface="Times New Roman" panose="02020603050405020304" pitchFamily="18" charset="0"/>
                <a:cs typeface="Times New Roman" panose="02020603050405020304" pitchFamily="18" charset="0"/>
              </a:rPr>
              <a:t> </a:t>
            </a:r>
            <a:r>
              <a:rPr lang="zh-CN" altLang="en-US" sz="1800" b="1" dirty="0">
                <a:latin typeface="Times New Roman" panose="02020603050405020304" pitchFamily="18" charset="0"/>
                <a:cs typeface="Times New Roman" panose="02020603050405020304" pitchFamily="18" charset="0"/>
              </a:rPr>
              <a:t>≤</a:t>
            </a:r>
            <a:r>
              <a:rPr lang="en-US" altLang="zh-CN" sz="1800" b="1" i="1" dirty="0">
                <a:latin typeface="Times New Roman" panose="02020603050405020304" pitchFamily="18" charset="0"/>
                <a:cs typeface="Times New Roman" panose="02020603050405020304" pitchFamily="18" charset="0"/>
              </a:rPr>
              <a:t> </a:t>
            </a:r>
            <a:r>
              <a:rPr lang="en-US" altLang="zh-CN" sz="1800" b="1" i="1" dirty="0" smtClean="0">
                <a:latin typeface="Times New Roman" panose="02020603050405020304" pitchFamily="18" charset="0"/>
                <a:cs typeface="Times New Roman" panose="02020603050405020304" pitchFamily="18" charset="0"/>
              </a:rPr>
              <a:t>m</a:t>
            </a:r>
            <a:r>
              <a:rPr lang="en-US" altLang="zh-CN" sz="1800" b="1" dirty="0" smtClean="0">
                <a:latin typeface="Times New Roman" panose="02020603050405020304" pitchFamily="18" charset="0"/>
                <a:cs typeface="Times New Roman" panose="02020603050405020304" pitchFamily="18" charset="0"/>
              </a:rPr>
              <a:t> –</a:t>
            </a:r>
            <a:r>
              <a:rPr lang="en-US" altLang="zh-CN" sz="1800" b="1" i="1" dirty="0" smtClean="0">
                <a:latin typeface="Times New Roman" panose="02020603050405020304" pitchFamily="18" charset="0"/>
                <a:cs typeface="Times New Roman" panose="02020603050405020304" pitchFamily="18" charset="0"/>
              </a:rPr>
              <a:t> </a:t>
            </a:r>
            <a:r>
              <a:rPr lang="en-US" altLang="zh-CN" sz="1800" b="1" i="1" dirty="0" err="1" smtClean="0">
                <a:latin typeface="Times New Roman" panose="02020603050405020304" pitchFamily="18" charset="0"/>
                <a:cs typeface="Times New Roman" panose="02020603050405020304" pitchFamily="18" charset="0"/>
              </a:rPr>
              <a:t>d</a:t>
            </a:r>
            <a:r>
              <a:rPr lang="en-US" altLang="zh-CN" sz="1800" b="1" i="1" baseline="-25000" dirty="0" err="1" smtClean="0">
                <a:latin typeface="Times New Roman" panose="02020603050405020304" pitchFamily="18" charset="0"/>
                <a:cs typeface="Times New Roman" panose="02020603050405020304" pitchFamily="18" charset="0"/>
              </a:rPr>
              <a:t>k</a:t>
            </a:r>
            <a:endParaRPr lang="en-US" altLang="zh-CN" sz="1800" b="1" i="1" baseline="-25000" dirty="0" smtClean="0">
              <a:latin typeface="Times New Roman" panose="02020603050405020304" pitchFamily="18" charset="0"/>
              <a:cs typeface="Times New Roman" panose="02020603050405020304" pitchFamily="18" charset="0"/>
            </a:endParaRPr>
          </a:p>
          <a:p>
            <a:pPr algn="just" eaLnBrk="1" hangingPunct="1">
              <a:lnSpc>
                <a:spcPct val="110000"/>
              </a:lnSpc>
            </a:pPr>
            <a:r>
              <a:rPr lang="zh-CN" altLang="en-US" sz="1800" b="1" dirty="0" smtClean="0">
                <a:latin typeface="Times New Roman" panose="02020603050405020304" pitchFamily="18" charset="0"/>
                <a:cs typeface="Times New Roman" panose="02020603050405020304" pitchFamily="18" charset="0"/>
              </a:rPr>
              <a:t>  所以</a:t>
            </a:r>
            <a:r>
              <a:rPr lang="en-US" altLang="zh-CN" sz="1800" b="1" dirty="0" smtClean="0">
                <a:latin typeface="Times New Roman" panose="02020603050405020304" pitchFamily="18" charset="0"/>
                <a:cs typeface="Times New Roman" panose="02020603050405020304" pitchFamily="18" charset="0"/>
              </a:rPr>
              <a:t>: 0</a:t>
            </a:r>
            <a:r>
              <a:rPr lang="zh-CN" altLang="en-US" sz="1800" b="1" dirty="0">
                <a:latin typeface="Times New Roman" panose="02020603050405020304" pitchFamily="18" charset="0"/>
                <a:cs typeface="Times New Roman" panose="02020603050405020304" pitchFamily="18" charset="0"/>
              </a:rPr>
              <a:t>≤ </a:t>
            </a:r>
            <a:r>
              <a:rPr lang="en-US" altLang="zh-CN" sz="1800" b="1" i="1" dirty="0" err="1" smtClean="0">
                <a:latin typeface="Times New Roman" panose="02020603050405020304" pitchFamily="18" charset="0"/>
                <a:cs typeface="Times New Roman" panose="02020603050405020304" pitchFamily="18" charset="0"/>
              </a:rPr>
              <a:t>s</a:t>
            </a:r>
            <a:r>
              <a:rPr lang="en-US" altLang="zh-CN" sz="1800" b="1" i="1" baseline="-25000" dirty="0" err="1" smtClean="0">
                <a:latin typeface="Times New Roman" panose="02020603050405020304" pitchFamily="18" charset="0"/>
                <a:cs typeface="Times New Roman" panose="02020603050405020304" pitchFamily="18" charset="0"/>
              </a:rPr>
              <a:t>k</a:t>
            </a:r>
            <a:r>
              <a:rPr lang="en-US" altLang="zh-CN" sz="1800" b="1" i="1" baseline="-25000" dirty="0" smtClean="0">
                <a:latin typeface="Times New Roman" panose="02020603050405020304" pitchFamily="18" charset="0"/>
                <a:cs typeface="Times New Roman" panose="02020603050405020304" pitchFamily="18" charset="0"/>
              </a:rPr>
              <a:t> </a:t>
            </a:r>
            <a:r>
              <a:rPr lang="zh-CN" altLang="en-US" sz="1800" b="1" dirty="0">
                <a:latin typeface="Times New Roman" panose="02020603050405020304" pitchFamily="18" charset="0"/>
                <a:cs typeface="Times New Roman" panose="02020603050405020304" pitchFamily="18" charset="0"/>
              </a:rPr>
              <a:t>≤</a:t>
            </a:r>
            <a:r>
              <a:rPr lang="en-US" altLang="zh-CN" sz="1800" b="1" i="1" dirty="0">
                <a:latin typeface="Times New Roman" panose="02020603050405020304" pitchFamily="18" charset="0"/>
                <a:cs typeface="Times New Roman" panose="02020603050405020304" pitchFamily="18" charset="0"/>
              </a:rPr>
              <a:t> </a:t>
            </a:r>
            <a:r>
              <a:rPr lang="en-US" altLang="zh-CN" sz="1800" b="1" i="1" dirty="0" smtClean="0">
                <a:latin typeface="Times New Roman" panose="02020603050405020304" pitchFamily="18" charset="0"/>
                <a:cs typeface="Times New Roman" panose="02020603050405020304" pitchFamily="18" charset="0"/>
              </a:rPr>
              <a:t>min</a:t>
            </a:r>
            <a:r>
              <a:rPr lang="en-US" altLang="zh-CN" sz="1800" b="1" dirty="0" smtClean="0">
                <a:latin typeface="Times New Roman" panose="02020603050405020304" pitchFamily="18" charset="0"/>
                <a:cs typeface="Times New Roman" panose="02020603050405020304" pitchFamily="18" charset="0"/>
              </a:rPr>
              <a:t>{</a:t>
            </a:r>
            <a:r>
              <a:rPr lang="en-US" altLang="zh-CN" sz="1800" b="1" i="1" dirty="0" smtClean="0">
                <a:latin typeface="Times New Roman" panose="02020603050405020304" pitchFamily="18" charset="0"/>
                <a:cs typeface="Times New Roman" panose="02020603050405020304" pitchFamily="18" charset="0"/>
              </a:rPr>
              <a:t>d</a:t>
            </a:r>
            <a:r>
              <a:rPr lang="en-US" altLang="zh-CN" sz="1800" b="1" i="1" baseline="-25000" dirty="0" smtClean="0">
                <a:latin typeface="Times New Roman" panose="02020603050405020304" pitchFamily="18" charset="0"/>
                <a:cs typeface="Times New Roman" panose="02020603050405020304" pitchFamily="18" charset="0"/>
              </a:rPr>
              <a:t>k+1 </a:t>
            </a:r>
            <a:r>
              <a:rPr lang="en-US" altLang="zh-CN" sz="1800" b="1" dirty="0">
                <a:latin typeface="Times New Roman" panose="02020603050405020304" pitchFamily="18" charset="0"/>
                <a:cs typeface="Times New Roman" panose="02020603050405020304" pitchFamily="18" charset="0"/>
              </a:rPr>
              <a:t>+…+</a:t>
            </a:r>
            <a:r>
              <a:rPr lang="en-US" altLang="zh-CN" sz="1800" b="1" i="1" dirty="0" smtClean="0">
                <a:latin typeface="Times New Roman" panose="02020603050405020304" pitchFamily="18" charset="0"/>
                <a:cs typeface="Times New Roman" panose="02020603050405020304" pitchFamily="18" charset="0"/>
              </a:rPr>
              <a:t> </a:t>
            </a:r>
            <a:r>
              <a:rPr lang="en-US" altLang="zh-CN" sz="1800" b="1" i="1" dirty="0" err="1" smtClean="0">
                <a:latin typeface="Times New Roman" panose="02020603050405020304" pitchFamily="18" charset="0"/>
                <a:cs typeface="Times New Roman" panose="02020603050405020304" pitchFamily="18" charset="0"/>
              </a:rPr>
              <a:t>d</a:t>
            </a:r>
            <a:r>
              <a:rPr lang="en-US" altLang="zh-CN" sz="1800" b="1" i="1" baseline="-25000" dirty="0" err="1" smtClean="0">
                <a:latin typeface="Times New Roman" panose="02020603050405020304" pitchFamily="18" charset="0"/>
                <a:cs typeface="Times New Roman" panose="02020603050405020304" pitchFamily="18" charset="0"/>
              </a:rPr>
              <a:t>n</a:t>
            </a:r>
            <a:r>
              <a:rPr lang="en-US" altLang="zh-CN" sz="1800" b="1" i="1" baseline="-25000" dirty="0" smtClean="0">
                <a:latin typeface="Times New Roman" panose="02020603050405020304" pitchFamily="18" charset="0"/>
                <a:cs typeface="Times New Roman" panose="02020603050405020304" pitchFamily="18" charset="0"/>
              </a:rPr>
              <a:t> -1</a:t>
            </a:r>
            <a:r>
              <a:rPr lang="en-US" altLang="zh-CN" sz="1800" b="1" dirty="0" smtClean="0">
                <a:latin typeface="Times New Roman" panose="02020603050405020304" pitchFamily="18" charset="0"/>
                <a:cs typeface="Times New Roman" panose="02020603050405020304" pitchFamily="18" charset="0"/>
              </a:rPr>
              <a:t>+</a:t>
            </a:r>
            <a:r>
              <a:rPr lang="en-US" altLang="zh-CN" sz="1800" b="1" i="1" dirty="0" smtClean="0">
                <a:latin typeface="Times New Roman" panose="02020603050405020304" pitchFamily="18" charset="0"/>
                <a:cs typeface="Times New Roman" panose="02020603050405020304" pitchFamily="18" charset="0"/>
              </a:rPr>
              <a:t> </a:t>
            </a:r>
            <a:r>
              <a:rPr lang="en-US" altLang="zh-CN" sz="1800" b="1" i="1" dirty="0" err="1" smtClean="0">
                <a:latin typeface="Times New Roman" panose="02020603050405020304" pitchFamily="18" charset="0"/>
                <a:cs typeface="Times New Roman" panose="02020603050405020304" pitchFamily="18" charset="0"/>
              </a:rPr>
              <a:t>d</a:t>
            </a:r>
            <a:r>
              <a:rPr lang="en-US" altLang="zh-CN" sz="1800" b="1" i="1" baseline="-25000" dirty="0" err="1" smtClean="0">
                <a:latin typeface="Times New Roman" panose="02020603050405020304" pitchFamily="18" charset="0"/>
                <a:cs typeface="Times New Roman" panose="02020603050405020304" pitchFamily="18" charset="0"/>
              </a:rPr>
              <a:t>n</a:t>
            </a:r>
            <a:r>
              <a:rPr lang="en-US" altLang="zh-CN" sz="1800" b="1" dirty="0" smtClean="0">
                <a:latin typeface="Times New Roman" panose="02020603050405020304" pitchFamily="18" charset="0"/>
                <a:cs typeface="Times New Roman" panose="02020603050405020304" pitchFamily="18" charset="0"/>
              </a:rPr>
              <a:t>,</a:t>
            </a:r>
            <a:r>
              <a:rPr lang="en-US" altLang="zh-CN" sz="1800" b="1" i="1" dirty="0" smtClean="0">
                <a:latin typeface="Times New Roman" panose="02020603050405020304" pitchFamily="18" charset="0"/>
                <a:cs typeface="Times New Roman" panose="02020603050405020304" pitchFamily="18" charset="0"/>
              </a:rPr>
              <a:t> </a:t>
            </a:r>
            <a:r>
              <a:rPr lang="en-US" altLang="zh-CN" sz="1800" b="1" i="1" dirty="0">
                <a:latin typeface="Times New Roman" panose="02020603050405020304" pitchFamily="18" charset="0"/>
                <a:cs typeface="Times New Roman" panose="02020603050405020304" pitchFamily="18" charset="0"/>
              </a:rPr>
              <a:t>m</a:t>
            </a:r>
            <a:r>
              <a:rPr lang="en-US" altLang="zh-CN" sz="1800" b="1" dirty="0">
                <a:latin typeface="Times New Roman" panose="02020603050405020304" pitchFamily="18" charset="0"/>
                <a:cs typeface="Times New Roman" panose="02020603050405020304" pitchFamily="18" charset="0"/>
              </a:rPr>
              <a:t> –</a:t>
            </a:r>
            <a:r>
              <a:rPr lang="en-US" altLang="zh-CN" sz="1800" b="1" i="1" dirty="0">
                <a:latin typeface="Times New Roman" panose="02020603050405020304" pitchFamily="18" charset="0"/>
                <a:cs typeface="Times New Roman" panose="02020603050405020304" pitchFamily="18" charset="0"/>
              </a:rPr>
              <a:t> </a:t>
            </a:r>
            <a:r>
              <a:rPr lang="en-US" altLang="zh-CN" sz="1800" b="1" i="1" dirty="0" err="1" smtClean="0">
                <a:latin typeface="Times New Roman" panose="02020603050405020304" pitchFamily="18" charset="0"/>
                <a:cs typeface="Times New Roman" panose="02020603050405020304" pitchFamily="18" charset="0"/>
              </a:rPr>
              <a:t>d</a:t>
            </a:r>
            <a:r>
              <a:rPr lang="en-US" altLang="zh-CN" sz="1800" b="1" i="1" baseline="-25000" dirty="0" err="1" smtClean="0">
                <a:latin typeface="Times New Roman" panose="02020603050405020304" pitchFamily="18" charset="0"/>
                <a:cs typeface="Times New Roman" panose="02020603050405020304" pitchFamily="18" charset="0"/>
              </a:rPr>
              <a:t>k</a:t>
            </a:r>
            <a:r>
              <a:rPr lang="en-US" altLang="zh-CN" sz="1800" b="1" dirty="0" smtClean="0">
                <a:latin typeface="Times New Roman" panose="02020603050405020304" pitchFamily="18" charset="0"/>
                <a:cs typeface="Times New Roman" panose="02020603050405020304" pitchFamily="18" charset="0"/>
              </a:rPr>
              <a:t>}</a:t>
            </a:r>
            <a:endParaRPr lang="zh-CN" altLang="en-US" sz="1800" b="1" dirty="0">
              <a:latin typeface="Times New Roman" panose="02020603050405020304" pitchFamily="18" charset="0"/>
              <a:cs typeface="Courier New" panose="02070309020205020404" pitchFamily="49" charset="0"/>
            </a:endParaRPr>
          </a:p>
        </p:txBody>
      </p:sp>
      <p:sp>
        <p:nvSpPr>
          <p:cNvPr id="27" name="文本框 26"/>
          <p:cNvSpPr txBox="1"/>
          <p:nvPr/>
        </p:nvSpPr>
        <p:spPr bwMode="auto">
          <a:xfrm>
            <a:off x="311575" y="4725144"/>
            <a:ext cx="4152099" cy="161582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algn="just" eaLnBrk="1" hangingPunct="1">
              <a:lnSpc>
                <a:spcPct val="110000"/>
              </a:lnSpc>
            </a:pPr>
            <a:r>
              <a:rPr lang="zh-CN" altLang="en-US" sz="1800" b="1" dirty="0" smtClean="0">
                <a:latin typeface="Times New Roman" panose="02020603050405020304" pitchFamily="18" charset="0"/>
                <a:cs typeface="Courier New" panose="02070309020205020404" pitchFamily="49" charset="0"/>
              </a:rPr>
              <a:t>决策变量</a:t>
            </a:r>
            <a:r>
              <a:rPr lang="en-US" altLang="zh-CN" sz="1800" b="1" i="1" dirty="0" err="1" smtClean="0">
                <a:latin typeface="Times New Roman" panose="02020603050405020304" pitchFamily="18" charset="0"/>
                <a:cs typeface="Times New Roman" panose="02020603050405020304" pitchFamily="18" charset="0"/>
              </a:rPr>
              <a:t>x</a:t>
            </a:r>
            <a:r>
              <a:rPr lang="en-US" altLang="zh-CN" sz="1800" b="1" i="1" baseline="-25000" dirty="0" err="1" smtClean="0">
                <a:latin typeface="Times New Roman" panose="02020603050405020304" pitchFamily="18" charset="0"/>
                <a:cs typeface="Times New Roman" panose="02020603050405020304" pitchFamily="18" charset="0"/>
              </a:rPr>
              <a:t>k</a:t>
            </a:r>
            <a:r>
              <a:rPr lang="zh-CN" altLang="en-US" sz="1800" b="1" dirty="0" smtClean="0">
                <a:latin typeface="Times New Roman" panose="02020603050405020304" pitchFamily="18" charset="0"/>
                <a:cs typeface="Courier New" panose="02070309020205020404" pitchFamily="49" charset="0"/>
              </a:rPr>
              <a:t>的取值范围：</a:t>
            </a:r>
            <a:endParaRPr lang="en-US" altLang="zh-CN" sz="1800" b="1" dirty="0" smtClean="0">
              <a:latin typeface="Times New Roman" panose="02020603050405020304" pitchFamily="18" charset="0"/>
              <a:cs typeface="Courier New" panose="02070309020205020404" pitchFamily="49" charset="0"/>
            </a:endParaRPr>
          </a:p>
          <a:p>
            <a:pPr algn="just" eaLnBrk="1" hangingPunct="1">
              <a:lnSpc>
                <a:spcPct val="110000"/>
              </a:lnSpc>
            </a:pPr>
            <a:r>
              <a:rPr lang="zh-CN" altLang="en-US" sz="1800" b="1" dirty="0" smtClean="0">
                <a:latin typeface="Times New Roman" panose="02020603050405020304" pitchFamily="18" charset="0"/>
                <a:cs typeface="Courier New" panose="02070309020205020404" pitchFamily="49" charset="0"/>
              </a:rPr>
              <a:t>（</a:t>
            </a:r>
            <a:r>
              <a:rPr lang="en-US" altLang="zh-CN" sz="1800" b="1" dirty="0" smtClean="0">
                <a:latin typeface="Times New Roman" panose="02020603050405020304" pitchFamily="18" charset="0"/>
                <a:cs typeface="Courier New" panose="02070309020205020404" pitchFamily="49" charset="0"/>
              </a:rPr>
              <a:t>1</a:t>
            </a:r>
            <a:r>
              <a:rPr lang="zh-CN" altLang="en-US" sz="1800" b="1" dirty="0" smtClean="0">
                <a:latin typeface="Times New Roman" panose="02020603050405020304" pitchFamily="18" charset="0"/>
                <a:cs typeface="Courier New" panose="02070309020205020404" pitchFamily="49" charset="0"/>
              </a:rPr>
              <a:t>）</a:t>
            </a:r>
            <a:r>
              <a:rPr lang="en-US" altLang="zh-CN" sz="1800" b="1" i="1" dirty="0">
                <a:latin typeface="Times New Roman" panose="02020603050405020304" pitchFamily="18" charset="0"/>
                <a:cs typeface="Times New Roman" panose="02020603050405020304" pitchFamily="18" charset="0"/>
              </a:rPr>
              <a:t> </a:t>
            </a:r>
            <a:r>
              <a:rPr lang="en-US" altLang="zh-CN" sz="1800" b="1" dirty="0" smtClean="0">
                <a:latin typeface="Times New Roman" panose="02020603050405020304" pitchFamily="18" charset="0"/>
                <a:cs typeface="Times New Roman" panose="02020603050405020304" pitchFamily="18" charset="0"/>
              </a:rPr>
              <a:t>0</a:t>
            </a:r>
            <a:r>
              <a:rPr lang="zh-CN" altLang="en-US" sz="1800" b="1" dirty="0" smtClean="0">
                <a:latin typeface="Times New Roman" panose="02020603050405020304" pitchFamily="18" charset="0"/>
                <a:cs typeface="Times New Roman" panose="02020603050405020304" pitchFamily="18" charset="0"/>
              </a:rPr>
              <a:t>≤ </a:t>
            </a:r>
            <a:r>
              <a:rPr lang="en-US" altLang="zh-CN" sz="1800" b="1" i="1" dirty="0" err="1" smtClean="0">
                <a:latin typeface="Times New Roman" panose="02020603050405020304" pitchFamily="18" charset="0"/>
                <a:cs typeface="Times New Roman" panose="02020603050405020304" pitchFamily="18" charset="0"/>
              </a:rPr>
              <a:t>x</a:t>
            </a:r>
            <a:r>
              <a:rPr lang="en-US" altLang="zh-CN" sz="1800" b="1" i="1" baseline="-25000" dirty="0" err="1" smtClean="0">
                <a:latin typeface="Times New Roman" panose="02020603050405020304" pitchFamily="18" charset="0"/>
                <a:cs typeface="Times New Roman" panose="02020603050405020304" pitchFamily="18" charset="0"/>
              </a:rPr>
              <a:t>k</a:t>
            </a:r>
            <a:r>
              <a:rPr lang="en-US" altLang="zh-CN" sz="1800" b="1" i="1" baseline="-25000" dirty="0" smtClean="0">
                <a:latin typeface="Times New Roman" panose="02020603050405020304" pitchFamily="18" charset="0"/>
                <a:cs typeface="Times New Roman" panose="02020603050405020304" pitchFamily="18" charset="0"/>
              </a:rPr>
              <a:t> </a:t>
            </a:r>
            <a:r>
              <a:rPr lang="zh-CN" altLang="en-US" sz="1800" b="1" dirty="0">
                <a:latin typeface="Times New Roman" panose="02020603050405020304" pitchFamily="18" charset="0"/>
                <a:cs typeface="Times New Roman" panose="02020603050405020304" pitchFamily="18" charset="0"/>
              </a:rPr>
              <a:t>≤ </a:t>
            </a:r>
            <a:r>
              <a:rPr lang="en-US" altLang="zh-CN" sz="1800" b="1" i="1" dirty="0" smtClean="0">
                <a:latin typeface="Times New Roman" panose="02020603050405020304" pitchFamily="18" charset="0"/>
                <a:cs typeface="Times New Roman" panose="02020603050405020304" pitchFamily="18" charset="0"/>
              </a:rPr>
              <a:t>m</a:t>
            </a:r>
            <a:r>
              <a:rPr lang="en-US" altLang="zh-CN" sz="1800" b="1" dirty="0" smtClean="0">
                <a:latin typeface="Times New Roman" panose="02020603050405020304" pitchFamily="18" charset="0"/>
                <a:cs typeface="Times New Roman" panose="02020603050405020304" pitchFamily="18" charset="0"/>
              </a:rPr>
              <a:t>,</a:t>
            </a:r>
            <a:r>
              <a:rPr lang="zh-CN" altLang="en-US" sz="1800" b="1" dirty="0" smtClean="0">
                <a:latin typeface="Times New Roman" panose="02020603050405020304" pitchFamily="18" charset="0"/>
                <a:cs typeface="Times New Roman" panose="02020603050405020304" pitchFamily="18" charset="0"/>
              </a:rPr>
              <a:t>且为整数</a:t>
            </a:r>
            <a:endParaRPr lang="en-US" altLang="zh-CN" sz="1800" b="1" dirty="0" smtClean="0">
              <a:latin typeface="Times New Roman" panose="02020603050405020304" pitchFamily="18" charset="0"/>
              <a:cs typeface="Courier New" panose="02070309020205020404" pitchFamily="49" charset="0"/>
            </a:endParaRPr>
          </a:p>
          <a:p>
            <a:pPr algn="just" eaLnBrk="1" hangingPunct="1">
              <a:lnSpc>
                <a:spcPct val="110000"/>
              </a:lnSpc>
            </a:pPr>
            <a:r>
              <a:rPr lang="zh-CN" altLang="en-US" sz="1800" b="1" dirty="0" smtClean="0">
                <a:latin typeface="Times New Roman" panose="02020603050405020304" pitchFamily="18" charset="0"/>
                <a:cs typeface="Courier New" panose="02070309020205020404" pitchFamily="49" charset="0"/>
              </a:rPr>
              <a:t>（</a:t>
            </a:r>
            <a:r>
              <a:rPr lang="en-US" altLang="zh-CN" sz="1800" b="1" dirty="0" smtClean="0">
                <a:latin typeface="Times New Roman" panose="02020603050405020304" pitchFamily="18" charset="0"/>
                <a:cs typeface="Courier New" panose="02070309020205020404" pitchFamily="49" charset="0"/>
              </a:rPr>
              <a:t>2</a:t>
            </a:r>
            <a:r>
              <a:rPr lang="zh-CN" altLang="en-US" sz="1800" b="1" dirty="0" smtClean="0">
                <a:latin typeface="Times New Roman" panose="02020603050405020304" pitchFamily="18" charset="0"/>
                <a:cs typeface="Courier New" panose="02070309020205020404" pitchFamily="49" charset="0"/>
              </a:rPr>
              <a:t>）</a:t>
            </a:r>
            <a:r>
              <a:rPr lang="en-US" altLang="zh-CN" sz="1800" b="1" i="1" dirty="0">
                <a:latin typeface="Times New Roman" panose="02020603050405020304" pitchFamily="18" charset="0"/>
                <a:cs typeface="Times New Roman" panose="02020603050405020304" pitchFamily="18" charset="0"/>
              </a:rPr>
              <a:t> </a:t>
            </a:r>
            <a:r>
              <a:rPr lang="en-US" altLang="zh-CN" sz="1800" b="1" i="1" dirty="0" err="1" smtClean="0">
                <a:latin typeface="Times New Roman" panose="02020603050405020304" pitchFamily="18" charset="0"/>
                <a:cs typeface="Times New Roman" panose="02020603050405020304" pitchFamily="18" charset="0"/>
              </a:rPr>
              <a:t>s</a:t>
            </a:r>
            <a:r>
              <a:rPr lang="en-US" altLang="zh-CN" sz="1800" b="1" i="1" baseline="-25000" dirty="0" err="1" smtClean="0">
                <a:latin typeface="Times New Roman" panose="02020603050405020304" pitchFamily="18" charset="0"/>
                <a:cs typeface="Times New Roman" panose="02020603050405020304" pitchFamily="18" charset="0"/>
              </a:rPr>
              <a:t>k</a:t>
            </a:r>
            <a:r>
              <a:rPr lang="en-US" altLang="zh-CN" sz="1800" b="1" dirty="0" smtClean="0">
                <a:latin typeface="Times New Roman" panose="02020603050405020304" pitchFamily="18" charset="0"/>
                <a:cs typeface="Times New Roman" panose="02020603050405020304" pitchFamily="18" charset="0"/>
              </a:rPr>
              <a:t>=</a:t>
            </a:r>
            <a:r>
              <a:rPr lang="en-US" altLang="zh-CN" sz="1800" b="1" i="1" dirty="0" smtClean="0">
                <a:latin typeface="Times New Roman" panose="02020603050405020304" pitchFamily="18" charset="0"/>
                <a:cs typeface="Times New Roman" panose="02020603050405020304" pitchFamily="18" charset="0"/>
              </a:rPr>
              <a:t> s</a:t>
            </a:r>
            <a:r>
              <a:rPr lang="en-US" altLang="zh-CN" sz="1800" b="1" i="1" baseline="-25000" dirty="0" smtClean="0">
                <a:latin typeface="Times New Roman" panose="02020603050405020304" pitchFamily="18" charset="0"/>
                <a:cs typeface="Times New Roman" panose="02020603050405020304" pitchFamily="18" charset="0"/>
              </a:rPr>
              <a:t>k-1</a:t>
            </a:r>
            <a:r>
              <a:rPr lang="en-US" altLang="zh-CN" sz="1800" b="1" dirty="0" smtClean="0">
                <a:latin typeface="Times New Roman" panose="02020603050405020304" pitchFamily="18" charset="0"/>
                <a:cs typeface="Times New Roman" panose="02020603050405020304" pitchFamily="18" charset="0"/>
              </a:rPr>
              <a:t>+</a:t>
            </a:r>
            <a:r>
              <a:rPr lang="en-US" altLang="zh-CN" sz="1800" b="1" i="1" dirty="0" smtClean="0">
                <a:latin typeface="Times New Roman" panose="02020603050405020304" pitchFamily="18" charset="0"/>
                <a:cs typeface="Times New Roman" panose="02020603050405020304" pitchFamily="18" charset="0"/>
              </a:rPr>
              <a:t>x</a:t>
            </a:r>
            <a:r>
              <a:rPr lang="en-US" altLang="zh-CN" sz="1800" b="1" i="1" baseline="-25000" dirty="0" smtClean="0">
                <a:latin typeface="Times New Roman" panose="02020603050405020304" pitchFamily="18" charset="0"/>
                <a:cs typeface="Times New Roman" panose="02020603050405020304" pitchFamily="18" charset="0"/>
              </a:rPr>
              <a:t>k </a:t>
            </a:r>
            <a:r>
              <a:rPr lang="en-US" altLang="zh-CN" sz="1800" b="1" dirty="0" smtClean="0">
                <a:latin typeface="Times New Roman" panose="02020603050405020304" pitchFamily="18" charset="0"/>
                <a:cs typeface="Times New Roman" panose="02020603050405020304" pitchFamily="18" charset="0"/>
              </a:rPr>
              <a:t>-</a:t>
            </a:r>
            <a:r>
              <a:rPr lang="en-US" altLang="zh-CN" sz="1800" b="1" i="1" dirty="0" err="1" smtClean="0">
                <a:latin typeface="Times New Roman" panose="02020603050405020304" pitchFamily="18" charset="0"/>
                <a:cs typeface="Times New Roman" panose="02020603050405020304" pitchFamily="18" charset="0"/>
              </a:rPr>
              <a:t>d</a:t>
            </a:r>
            <a:r>
              <a:rPr lang="en-US" altLang="zh-CN" sz="1800" b="1" i="1" baseline="-25000" dirty="0" err="1" smtClean="0">
                <a:latin typeface="Times New Roman" panose="02020603050405020304" pitchFamily="18" charset="0"/>
                <a:cs typeface="Times New Roman" panose="02020603050405020304" pitchFamily="18" charset="0"/>
              </a:rPr>
              <a:t>k</a:t>
            </a:r>
            <a:r>
              <a:rPr lang="en-US" altLang="zh-CN" sz="1800" b="1" i="1" baseline="-25000" dirty="0" smtClean="0">
                <a:latin typeface="Times New Roman" panose="02020603050405020304" pitchFamily="18" charset="0"/>
                <a:cs typeface="Times New Roman" panose="02020603050405020304" pitchFamily="18" charset="0"/>
              </a:rPr>
              <a:t> </a:t>
            </a:r>
            <a:r>
              <a:rPr lang="zh-CN" altLang="en-US" sz="1800" b="1" dirty="0" smtClean="0">
                <a:latin typeface="Times New Roman" panose="02020603050405020304" pitchFamily="18" charset="0"/>
                <a:cs typeface="Times New Roman" panose="02020603050405020304" pitchFamily="18" charset="0"/>
              </a:rPr>
              <a:t>转为</a:t>
            </a:r>
            <a:r>
              <a:rPr lang="en-US" altLang="zh-CN" sz="1800" b="1" i="1" baseline="-25000" dirty="0" smtClean="0">
                <a:latin typeface="Times New Roman" panose="02020603050405020304" pitchFamily="18" charset="0"/>
                <a:cs typeface="Times New Roman" panose="02020603050405020304" pitchFamily="18" charset="0"/>
              </a:rPr>
              <a:t> </a:t>
            </a:r>
            <a:r>
              <a:rPr lang="en-US" altLang="zh-CN" sz="1800" b="1" i="1" dirty="0" smtClean="0">
                <a:latin typeface="Times New Roman" panose="02020603050405020304" pitchFamily="18" charset="0"/>
                <a:cs typeface="Times New Roman" panose="02020603050405020304" pitchFamily="18" charset="0"/>
              </a:rPr>
              <a:t>s</a:t>
            </a:r>
            <a:r>
              <a:rPr lang="en-US" altLang="zh-CN" sz="1800" b="1" i="1" baseline="-25000" dirty="0" smtClean="0">
                <a:latin typeface="Times New Roman" panose="02020603050405020304" pitchFamily="18" charset="0"/>
                <a:cs typeface="Times New Roman" panose="02020603050405020304" pitchFamily="18" charset="0"/>
              </a:rPr>
              <a:t>k-1 </a:t>
            </a:r>
            <a:r>
              <a:rPr lang="en-US" altLang="zh-CN" sz="1800" b="1" dirty="0" smtClean="0">
                <a:latin typeface="Times New Roman" panose="02020603050405020304" pitchFamily="18" charset="0"/>
                <a:cs typeface="Times New Roman" panose="02020603050405020304" pitchFamily="18" charset="0"/>
              </a:rPr>
              <a:t>=</a:t>
            </a:r>
            <a:r>
              <a:rPr lang="en-US" altLang="zh-CN" sz="1800" b="1" i="1" dirty="0" err="1" smtClean="0">
                <a:latin typeface="Times New Roman" panose="02020603050405020304" pitchFamily="18" charset="0"/>
                <a:cs typeface="Times New Roman" panose="02020603050405020304" pitchFamily="18" charset="0"/>
              </a:rPr>
              <a:t>s</a:t>
            </a:r>
            <a:r>
              <a:rPr lang="en-US" altLang="zh-CN" sz="1800" b="1" i="1" baseline="-25000" dirty="0" err="1" smtClean="0">
                <a:latin typeface="Times New Roman" panose="02020603050405020304" pitchFamily="18" charset="0"/>
                <a:cs typeface="Times New Roman" panose="02020603050405020304" pitchFamily="18" charset="0"/>
              </a:rPr>
              <a:t>k</a:t>
            </a:r>
            <a:r>
              <a:rPr lang="en-US" altLang="zh-CN" sz="1800" b="1" dirty="0" err="1" smtClean="0">
                <a:latin typeface="Times New Roman" panose="02020603050405020304" pitchFamily="18" charset="0"/>
                <a:cs typeface="Times New Roman" panose="02020603050405020304" pitchFamily="18" charset="0"/>
              </a:rPr>
              <a:t>+</a:t>
            </a:r>
            <a:r>
              <a:rPr lang="en-US" altLang="zh-CN" sz="1800" b="1" i="1" dirty="0" err="1" smtClean="0">
                <a:latin typeface="Times New Roman" panose="02020603050405020304" pitchFamily="18" charset="0"/>
                <a:cs typeface="Times New Roman" panose="02020603050405020304" pitchFamily="18" charset="0"/>
              </a:rPr>
              <a:t>d</a:t>
            </a:r>
            <a:r>
              <a:rPr lang="en-US" altLang="zh-CN" sz="1800" b="1" i="1" baseline="-25000" dirty="0" err="1" smtClean="0">
                <a:latin typeface="Times New Roman" panose="02020603050405020304" pitchFamily="18" charset="0"/>
                <a:cs typeface="Times New Roman" panose="02020603050405020304" pitchFamily="18" charset="0"/>
              </a:rPr>
              <a:t>k</a:t>
            </a:r>
            <a:r>
              <a:rPr lang="en-US" altLang="zh-CN" sz="1800" b="1" dirty="0" err="1" smtClean="0">
                <a:latin typeface="Times New Roman" panose="02020603050405020304" pitchFamily="18" charset="0"/>
                <a:cs typeface="Times New Roman" panose="02020603050405020304" pitchFamily="18" charset="0"/>
              </a:rPr>
              <a:t>-</a:t>
            </a:r>
            <a:r>
              <a:rPr lang="en-US" altLang="zh-CN" sz="1800" b="1" i="1" dirty="0" err="1" smtClean="0">
                <a:latin typeface="Times New Roman" panose="02020603050405020304" pitchFamily="18" charset="0"/>
                <a:cs typeface="Times New Roman" panose="02020603050405020304" pitchFamily="18" charset="0"/>
              </a:rPr>
              <a:t>x</a:t>
            </a:r>
            <a:r>
              <a:rPr lang="en-US" altLang="zh-CN" sz="1800" b="1" i="1" baseline="-25000" dirty="0" err="1" smtClean="0">
                <a:latin typeface="Times New Roman" panose="02020603050405020304" pitchFamily="18" charset="0"/>
                <a:cs typeface="Times New Roman" panose="02020603050405020304" pitchFamily="18" charset="0"/>
              </a:rPr>
              <a:t>k</a:t>
            </a:r>
            <a:r>
              <a:rPr lang="en-US" altLang="zh-CN" sz="1800" b="1" i="1" baseline="-25000" dirty="0" smtClean="0">
                <a:latin typeface="Times New Roman" panose="02020603050405020304" pitchFamily="18" charset="0"/>
                <a:cs typeface="Times New Roman" panose="02020603050405020304" pitchFamily="18" charset="0"/>
              </a:rPr>
              <a:t> </a:t>
            </a:r>
            <a:r>
              <a:rPr lang="en-US" altLang="zh-CN" sz="1800" b="1" dirty="0">
                <a:latin typeface="Times New Roman" panose="02020603050405020304" pitchFamily="18" charset="0"/>
                <a:cs typeface="Times New Roman" panose="02020603050405020304" pitchFamily="18" charset="0"/>
              </a:rPr>
              <a:t>≥0</a:t>
            </a:r>
            <a:endParaRPr lang="en-US" altLang="zh-CN" sz="1800" b="1" i="1" baseline="-25000" dirty="0" smtClean="0">
              <a:latin typeface="Times New Roman" panose="02020603050405020304" pitchFamily="18" charset="0"/>
              <a:cs typeface="Times New Roman" panose="02020603050405020304" pitchFamily="18" charset="0"/>
            </a:endParaRPr>
          </a:p>
          <a:p>
            <a:pPr algn="just" eaLnBrk="1" hangingPunct="1">
              <a:lnSpc>
                <a:spcPct val="110000"/>
              </a:lnSpc>
            </a:pPr>
            <a:r>
              <a:rPr lang="zh-CN" altLang="en-US" sz="1800" b="1" dirty="0" smtClean="0">
                <a:latin typeface="Times New Roman" panose="02020603050405020304" pitchFamily="18" charset="0"/>
                <a:cs typeface="Times New Roman" panose="02020603050405020304" pitchFamily="18" charset="0"/>
              </a:rPr>
              <a:t>  则：</a:t>
            </a:r>
            <a:r>
              <a:rPr lang="en-US" altLang="zh-CN" sz="1800" b="1" i="1" dirty="0" err="1" smtClean="0">
                <a:latin typeface="Times New Roman" panose="02020603050405020304" pitchFamily="18" charset="0"/>
                <a:cs typeface="Times New Roman" panose="02020603050405020304" pitchFamily="18" charset="0"/>
              </a:rPr>
              <a:t>x</a:t>
            </a:r>
            <a:r>
              <a:rPr lang="en-US" altLang="zh-CN" sz="1800" b="1" i="1" baseline="-25000" dirty="0" err="1" smtClean="0">
                <a:latin typeface="Times New Roman" panose="02020603050405020304" pitchFamily="18" charset="0"/>
                <a:cs typeface="Times New Roman" panose="02020603050405020304" pitchFamily="18" charset="0"/>
              </a:rPr>
              <a:t>k</a:t>
            </a:r>
            <a:r>
              <a:rPr lang="en-US" altLang="zh-CN" sz="1800" b="1" i="1" baseline="-25000" dirty="0" smtClean="0">
                <a:latin typeface="Times New Roman" panose="02020603050405020304" pitchFamily="18" charset="0"/>
                <a:cs typeface="Times New Roman" panose="02020603050405020304" pitchFamily="18" charset="0"/>
              </a:rPr>
              <a:t> </a:t>
            </a:r>
            <a:r>
              <a:rPr lang="zh-CN" altLang="en-US" sz="1800" b="1" dirty="0" smtClean="0">
                <a:latin typeface="Times New Roman" panose="02020603050405020304" pitchFamily="18" charset="0"/>
                <a:cs typeface="Times New Roman" panose="02020603050405020304" pitchFamily="18" charset="0"/>
              </a:rPr>
              <a:t>≤</a:t>
            </a:r>
            <a:r>
              <a:rPr lang="en-US" altLang="zh-CN" sz="1800" b="1" i="1" dirty="0">
                <a:latin typeface="Times New Roman" panose="02020603050405020304" pitchFamily="18" charset="0"/>
                <a:cs typeface="Times New Roman" panose="02020603050405020304" pitchFamily="18" charset="0"/>
              </a:rPr>
              <a:t> </a:t>
            </a:r>
            <a:r>
              <a:rPr lang="en-US" altLang="zh-CN" sz="1800" b="1" i="1" dirty="0" err="1" smtClean="0">
                <a:latin typeface="Times New Roman" panose="02020603050405020304" pitchFamily="18" charset="0"/>
                <a:cs typeface="Times New Roman" panose="02020603050405020304" pitchFamily="18" charset="0"/>
              </a:rPr>
              <a:t>s</a:t>
            </a:r>
            <a:r>
              <a:rPr lang="en-US" altLang="zh-CN" sz="1800" b="1" i="1" baseline="-25000" dirty="0" err="1" smtClean="0">
                <a:latin typeface="Times New Roman" panose="02020603050405020304" pitchFamily="18" charset="0"/>
                <a:cs typeface="Times New Roman" panose="02020603050405020304" pitchFamily="18" charset="0"/>
              </a:rPr>
              <a:t>k</a:t>
            </a:r>
            <a:r>
              <a:rPr lang="en-US" altLang="zh-CN" sz="1800" b="1" dirty="0" err="1" smtClean="0">
                <a:latin typeface="Times New Roman" panose="02020603050405020304" pitchFamily="18" charset="0"/>
                <a:cs typeface="Times New Roman" panose="02020603050405020304" pitchFamily="18" charset="0"/>
              </a:rPr>
              <a:t>+</a:t>
            </a:r>
            <a:r>
              <a:rPr lang="en-US" altLang="zh-CN" sz="1800" b="1" i="1" dirty="0" err="1" smtClean="0">
                <a:latin typeface="Times New Roman" panose="02020603050405020304" pitchFamily="18" charset="0"/>
                <a:cs typeface="Times New Roman" panose="02020603050405020304" pitchFamily="18" charset="0"/>
              </a:rPr>
              <a:t>d</a:t>
            </a:r>
            <a:r>
              <a:rPr lang="en-US" altLang="zh-CN" sz="1800" b="1" i="1" baseline="-25000" dirty="0" err="1" smtClean="0">
                <a:latin typeface="Times New Roman" panose="02020603050405020304" pitchFamily="18" charset="0"/>
                <a:cs typeface="Times New Roman" panose="02020603050405020304" pitchFamily="18" charset="0"/>
              </a:rPr>
              <a:t>k</a:t>
            </a:r>
            <a:r>
              <a:rPr lang="en-US" altLang="zh-CN" sz="1800" b="1" i="1" baseline="-25000" dirty="0" smtClean="0">
                <a:latin typeface="Times New Roman" panose="02020603050405020304" pitchFamily="18" charset="0"/>
                <a:cs typeface="Times New Roman" panose="02020603050405020304" pitchFamily="18" charset="0"/>
              </a:rPr>
              <a:t> </a:t>
            </a:r>
            <a:endParaRPr lang="en-US" altLang="zh-CN" sz="1800" b="1" i="1" baseline="-25000" dirty="0">
              <a:latin typeface="Times New Roman" panose="02020603050405020304" pitchFamily="18" charset="0"/>
              <a:cs typeface="Times New Roman" panose="02020603050405020304" pitchFamily="18" charset="0"/>
            </a:endParaRPr>
          </a:p>
          <a:p>
            <a:pPr algn="just" eaLnBrk="1" hangingPunct="1">
              <a:lnSpc>
                <a:spcPct val="110000"/>
              </a:lnSpc>
            </a:pPr>
            <a:r>
              <a:rPr lang="zh-CN" altLang="en-US" sz="1800" b="1" dirty="0" smtClean="0">
                <a:latin typeface="Times New Roman" panose="02020603050405020304" pitchFamily="18" charset="0"/>
                <a:cs typeface="Times New Roman" panose="02020603050405020304" pitchFamily="18" charset="0"/>
              </a:rPr>
              <a:t>  所以：</a:t>
            </a:r>
            <a:r>
              <a:rPr lang="en-US" altLang="zh-CN" sz="1800" b="1" dirty="0" smtClean="0">
                <a:latin typeface="Times New Roman" panose="02020603050405020304" pitchFamily="18" charset="0"/>
                <a:cs typeface="Times New Roman" panose="02020603050405020304" pitchFamily="18" charset="0"/>
              </a:rPr>
              <a:t>0</a:t>
            </a:r>
            <a:r>
              <a:rPr lang="zh-CN" altLang="en-US" sz="1800" b="1" dirty="0">
                <a:latin typeface="Times New Roman" panose="02020603050405020304" pitchFamily="18" charset="0"/>
                <a:cs typeface="Times New Roman" panose="02020603050405020304" pitchFamily="18" charset="0"/>
              </a:rPr>
              <a:t>≤ </a:t>
            </a:r>
            <a:r>
              <a:rPr lang="en-US" altLang="zh-CN" sz="1800" b="1" i="1" dirty="0" err="1" smtClean="0">
                <a:latin typeface="Times New Roman" panose="02020603050405020304" pitchFamily="18" charset="0"/>
                <a:cs typeface="Times New Roman" panose="02020603050405020304" pitchFamily="18" charset="0"/>
              </a:rPr>
              <a:t>x</a:t>
            </a:r>
            <a:r>
              <a:rPr lang="en-US" altLang="zh-CN" sz="1800" b="1" i="1" baseline="-25000" dirty="0" err="1" smtClean="0">
                <a:latin typeface="Times New Roman" panose="02020603050405020304" pitchFamily="18" charset="0"/>
                <a:cs typeface="Times New Roman" panose="02020603050405020304" pitchFamily="18" charset="0"/>
              </a:rPr>
              <a:t>k</a:t>
            </a:r>
            <a:r>
              <a:rPr lang="en-US" altLang="zh-CN" sz="1800" b="1" i="1" baseline="-25000" dirty="0" smtClean="0">
                <a:latin typeface="Times New Roman" panose="02020603050405020304" pitchFamily="18" charset="0"/>
                <a:cs typeface="Times New Roman" panose="02020603050405020304" pitchFamily="18" charset="0"/>
              </a:rPr>
              <a:t> </a:t>
            </a:r>
            <a:r>
              <a:rPr lang="zh-CN" altLang="en-US" sz="1800" b="1" dirty="0">
                <a:latin typeface="Times New Roman" panose="02020603050405020304" pitchFamily="18" charset="0"/>
                <a:cs typeface="Times New Roman" panose="02020603050405020304" pitchFamily="18" charset="0"/>
              </a:rPr>
              <a:t>≤</a:t>
            </a:r>
            <a:r>
              <a:rPr lang="en-US" altLang="zh-CN" sz="1800" b="1" i="1" dirty="0">
                <a:latin typeface="Times New Roman" panose="02020603050405020304" pitchFamily="18" charset="0"/>
                <a:cs typeface="Times New Roman" panose="02020603050405020304" pitchFamily="18" charset="0"/>
              </a:rPr>
              <a:t> </a:t>
            </a:r>
            <a:r>
              <a:rPr lang="en-US" altLang="zh-CN" sz="1800" b="1" i="1" dirty="0" smtClean="0">
                <a:latin typeface="Times New Roman" panose="02020603050405020304" pitchFamily="18" charset="0"/>
                <a:cs typeface="Times New Roman" panose="02020603050405020304" pitchFamily="18" charset="0"/>
              </a:rPr>
              <a:t>min</a:t>
            </a:r>
            <a:r>
              <a:rPr lang="en-US" altLang="zh-CN" sz="1800" b="1" dirty="0" smtClean="0">
                <a:latin typeface="Times New Roman" panose="02020603050405020304" pitchFamily="18" charset="0"/>
                <a:cs typeface="Times New Roman" panose="02020603050405020304" pitchFamily="18" charset="0"/>
              </a:rPr>
              <a:t>{</a:t>
            </a:r>
            <a:r>
              <a:rPr lang="en-US" altLang="zh-CN" sz="1800" b="1" i="1" dirty="0" smtClean="0">
                <a:latin typeface="Times New Roman" panose="02020603050405020304" pitchFamily="18" charset="0"/>
                <a:cs typeface="Times New Roman" panose="02020603050405020304" pitchFamily="18" charset="0"/>
              </a:rPr>
              <a:t>m</a:t>
            </a:r>
            <a:r>
              <a:rPr lang="en-US" altLang="zh-CN" sz="1800" b="1" dirty="0">
                <a:latin typeface="Times New Roman" panose="02020603050405020304" pitchFamily="18" charset="0"/>
                <a:cs typeface="Times New Roman" panose="02020603050405020304" pitchFamily="18" charset="0"/>
              </a:rPr>
              <a:t>,</a:t>
            </a:r>
            <a:r>
              <a:rPr lang="en-US" altLang="zh-CN" sz="1800" b="1" i="1" dirty="0">
                <a:latin typeface="Times New Roman" panose="02020603050405020304" pitchFamily="18" charset="0"/>
                <a:cs typeface="Times New Roman" panose="02020603050405020304" pitchFamily="18" charset="0"/>
              </a:rPr>
              <a:t> </a:t>
            </a:r>
            <a:r>
              <a:rPr lang="en-US" altLang="zh-CN" sz="1800" b="1" i="1" dirty="0" err="1" smtClean="0">
                <a:latin typeface="Times New Roman" panose="02020603050405020304" pitchFamily="18" charset="0"/>
                <a:cs typeface="Times New Roman" panose="02020603050405020304" pitchFamily="18" charset="0"/>
              </a:rPr>
              <a:t>s</a:t>
            </a:r>
            <a:r>
              <a:rPr lang="en-US" altLang="zh-CN" sz="1800" b="1" i="1" baseline="-25000" dirty="0" err="1" smtClean="0">
                <a:latin typeface="Times New Roman" panose="02020603050405020304" pitchFamily="18" charset="0"/>
                <a:cs typeface="Times New Roman" panose="02020603050405020304" pitchFamily="18" charset="0"/>
              </a:rPr>
              <a:t>k</a:t>
            </a:r>
            <a:r>
              <a:rPr lang="en-US" altLang="zh-CN" sz="1800" b="1" dirty="0" err="1" smtClean="0">
                <a:latin typeface="Times New Roman" panose="02020603050405020304" pitchFamily="18" charset="0"/>
                <a:cs typeface="Times New Roman" panose="02020603050405020304" pitchFamily="18" charset="0"/>
              </a:rPr>
              <a:t>+</a:t>
            </a:r>
            <a:r>
              <a:rPr lang="en-US" altLang="zh-CN" sz="1800" b="1" i="1" dirty="0" err="1" smtClean="0">
                <a:latin typeface="Times New Roman" panose="02020603050405020304" pitchFamily="18" charset="0"/>
                <a:cs typeface="Times New Roman" panose="02020603050405020304" pitchFamily="18" charset="0"/>
              </a:rPr>
              <a:t>d</a:t>
            </a:r>
            <a:r>
              <a:rPr lang="en-US" altLang="zh-CN" sz="1800" b="1" i="1" baseline="-25000" dirty="0" err="1" smtClean="0">
                <a:latin typeface="Times New Roman" panose="02020603050405020304" pitchFamily="18" charset="0"/>
                <a:cs typeface="Times New Roman" panose="02020603050405020304" pitchFamily="18" charset="0"/>
              </a:rPr>
              <a:t>k</a:t>
            </a:r>
            <a:r>
              <a:rPr lang="en-US" altLang="zh-CN" sz="1800" b="1" dirty="0">
                <a:latin typeface="Times New Roman" panose="02020603050405020304" pitchFamily="18" charset="0"/>
                <a:cs typeface="Times New Roman" panose="02020603050405020304" pitchFamily="18" charset="0"/>
              </a:rPr>
              <a:t>}</a:t>
            </a:r>
            <a:endParaRPr lang="zh-CN" altLang="en-US" sz="1800" b="1" dirty="0">
              <a:latin typeface="Times New Roman" panose="02020603050405020304" pitchFamily="18" charset="0"/>
              <a:cs typeface="Courier New" panose="02070309020205020404" pitchFamily="49" charset="0"/>
            </a:endParaRPr>
          </a:p>
        </p:txBody>
      </p:sp>
    </p:spTree>
    <p:extLst>
      <p:ext uri="{BB962C8B-B14F-4D97-AF65-F5344CB8AC3E}">
        <p14:creationId xmlns:p14="http://schemas.microsoft.com/office/powerpoint/2010/main" val="17801175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Effect transition="in" filter="dissolve">
                                      <p:cBhvr>
                                        <p:cTn id="7" dur="500"/>
                                        <p:tgtEl>
                                          <p:spTgt spid="675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animBg="1"/>
      <p:bldP spid="27"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Rectangle 2"/>
          <p:cNvSpPr>
            <a:spLocks noGrp="1" noChangeArrowheads="1"/>
          </p:cNvSpPr>
          <p:nvPr>
            <p:ph type="title"/>
          </p:nvPr>
        </p:nvSpPr>
        <p:spPr/>
        <p:txBody>
          <a:bodyPr/>
          <a:lstStyle/>
          <a:p>
            <a:r>
              <a:rPr lang="en-US" altLang="zh-CN" dirty="0" smtClean="0"/>
              <a:t>8.4.2.1  </a:t>
            </a:r>
            <a:r>
              <a:rPr lang="zh-CN" altLang="en-US" dirty="0"/>
              <a:t>生产计划问题 </a:t>
            </a:r>
          </a:p>
        </p:txBody>
      </p:sp>
      <p:sp>
        <p:nvSpPr>
          <p:cNvPr id="2" name="内容占位符 1"/>
          <p:cNvSpPr>
            <a:spLocks noGrp="1"/>
          </p:cNvSpPr>
          <p:nvPr>
            <p:ph idx="1"/>
          </p:nvPr>
        </p:nvSpPr>
        <p:spPr>
          <a:xfrm>
            <a:off x="539552" y="1337268"/>
            <a:ext cx="8280920" cy="5189113"/>
          </a:xfrm>
        </p:spPr>
        <p:txBody>
          <a:bodyPr/>
          <a:lstStyle/>
          <a:p>
            <a:r>
              <a:rPr lang="zh-CN" altLang="en-US" dirty="0" smtClean="0">
                <a:latin typeface="宋体" panose="02010600030101010101" pitchFamily="2" charset="-122"/>
                <a:cs typeface="Times New Roman" panose="02020603050405020304" pitchFamily="18" charset="0"/>
              </a:rPr>
              <a:t>例</a:t>
            </a:r>
            <a:r>
              <a:rPr lang="en-US" altLang="zh-CN" dirty="0" smtClean="0">
                <a:latin typeface="宋体" panose="02010600030101010101" pitchFamily="2" charset="-122"/>
                <a:cs typeface="Times New Roman" panose="02020603050405020304" pitchFamily="18" charset="0"/>
              </a:rPr>
              <a:t>8-5</a:t>
            </a:r>
            <a:r>
              <a:rPr lang="zh-CN" altLang="en-US" dirty="0" smtClean="0">
                <a:latin typeface="宋体" panose="02010600030101010101" pitchFamily="2" charset="-122"/>
                <a:cs typeface="Times New Roman" panose="02020603050405020304" pitchFamily="18" charset="0"/>
              </a:rPr>
              <a:t>：工厂</a:t>
            </a:r>
            <a:r>
              <a:rPr lang="zh-CN" altLang="en-US" dirty="0">
                <a:latin typeface="宋体" panose="02010600030101010101" pitchFamily="2" charset="-122"/>
                <a:cs typeface="Times New Roman" panose="02020603050405020304" pitchFamily="18" charset="0"/>
              </a:rPr>
              <a:t>要对一种产品制订今后四个时期的生产计划，据估计在今后四个时期内，市场对于该产品的需求量如</a:t>
            </a:r>
            <a:r>
              <a:rPr lang="zh-CN" altLang="en-US" dirty="0" smtClean="0">
                <a:latin typeface="宋体" panose="02010600030101010101" pitchFamily="2" charset="-122"/>
                <a:cs typeface="Times New Roman" panose="02020603050405020304" pitchFamily="18" charset="0"/>
              </a:rPr>
              <a:t>表</a:t>
            </a:r>
            <a:r>
              <a:rPr lang="en-US" altLang="zh-CN" dirty="0" smtClean="0">
                <a:latin typeface="宋体" panose="02010600030101010101" pitchFamily="2" charset="-122"/>
                <a:cs typeface="Times New Roman" panose="02020603050405020304" pitchFamily="18" charset="0"/>
              </a:rPr>
              <a:t>8-5</a:t>
            </a:r>
            <a:r>
              <a:rPr lang="zh-CN" altLang="en-US" dirty="0">
                <a:latin typeface="宋体" panose="02010600030101010101" pitchFamily="2" charset="-122"/>
                <a:cs typeface="Times New Roman" panose="02020603050405020304" pitchFamily="18" charset="0"/>
              </a:rPr>
              <a:t>所示</a:t>
            </a:r>
            <a:r>
              <a:rPr lang="zh-CN" altLang="en-US" dirty="0" smtClean="0">
                <a:latin typeface="宋体" panose="02010600030101010101" pitchFamily="2" charset="-122"/>
                <a:cs typeface="Times New Roman" panose="02020603050405020304" pitchFamily="18" charset="0"/>
              </a:rPr>
              <a:t>。</a:t>
            </a:r>
            <a:endParaRPr lang="en-US" altLang="zh-CN" dirty="0" smtClean="0">
              <a:latin typeface="宋体" panose="02010600030101010101" pitchFamily="2" charset="-122"/>
              <a:cs typeface="Times New Roman" panose="02020603050405020304" pitchFamily="18" charset="0"/>
            </a:endParaRPr>
          </a:p>
          <a:p>
            <a:endParaRPr lang="en-US" altLang="zh-CN" dirty="0">
              <a:latin typeface="宋体" panose="02010600030101010101" pitchFamily="2" charset="-122"/>
              <a:cs typeface="Times New Roman" panose="02020603050405020304" pitchFamily="18" charset="0"/>
            </a:endParaRPr>
          </a:p>
          <a:p>
            <a:endParaRPr lang="en-US" altLang="zh-CN" dirty="0" smtClean="0">
              <a:latin typeface="宋体" panose="02010600030101010101" pitchFamily="2" charset="-122"/>
              <a:cs typeface="Times New Roman" panose="02020603050405020304" pitchFamily="18" charset="0"/>
            </a:endParaRPr>
          </a:p>
          <a:p>
            <a:endParaRPr lang="en-US" altLang="zh-CN" dirty="0">
              <a:latin typeface="宋体" panose="02010600030101010101" pitchFamily="2" charset="-122"/>
              <a:cs typeface="Times New Roman" panose="02020603050405020304" pitchFamily="18" charset="0"/>
            </a:endParaRPr>
          </a:p>
          <a:p>
            <a:r>
              <a:rPr lang="zh-CN" altLang="en-US" dirty="0">
                <a:cs typeface="Courier New" panose="02070309020205020404" pitchFamily="49" charset="0"/>
              </a:rPr>
              <a:t>假定该厂生产每批产品的固定成本为</a:t>
            </a:r>
            <a:r>
              <a:rPr lang="en-US" altLang="zh-CN" dirty="0">
                <a:cs typeface="Courier New" panose="02070309020205020404" pitchFamily="49" charset="0"/>
              </a:rPr>
              <a:t>3</a:t>
            </a:r>
            <a:r>
              <a:rPr lang="zh-CN" altLang="en-US" dirty="0">
                <a:cs typeface="Courier New" panose="02070309020205020404" pitchFamily="49" charset="0"/>
              </a:rPr>
              <a:t>千元，若不生产就为</a:t>
            </a:r>
            <a:r>
              <a:rPr lang="en-US" altLang="zh-CN" dirty="0">
                <a:cs typeface="Courier New" panose="02070309020205020404" pitchFamily="49" charset="0"/>
              </a:rPr>
              <a:t>0</a:t>
            </a:r>
            <a:r>
              <a:rPr lang="zh-CN" altLang="en-US" dirty="0">
                <a:cs typeface="Courier New" panose="02070309020205020404" pitchFamily="49" charset="0"/>
              </a:rPr>
              <a:t>；每单位产品成本为</a:t>
            </a:r>
            <a:r>
              <a:rPr lang="en-US" altLang="zh-CN" dirty="0">
                <a:cs typeface="Courier New" panose="02070309020205020404" pitchFamily="49" charset="0"/>
              </a:rPr>
              <a:t>1</a:t>
            </a:r>
            <a:r>
              <a:rPr lang="zh-CN" altLang="en-US" dirty="0">
                <a:cs typeface="Courier New" panose="02070309020205020404" pitchFamily="49" charset="0"/>
              </a:rPr>
              <a:t>千元；每个时期生产能力所允许的最大生产批量为不超过</a:t>
            </a:r>
            <a:r>
              <a:rPr lang="en-US" altLang="zh-CN" dirty="0">
                <a:cs typeface="Courier New" panose="02070309020205020404" pitchFamily="49" charset="0"/>
              </a:rPr>
              <a:t>6</a:t>
            </a:r>
            <a:r>
              <a:rPr lang="zh-CN" altLang="en-US" dirty="0">
                <a:cs typeface="Courier New" panose="02070309020205020404" pitchFamily="49" charset="0"/>
              </a:rPr>
              <a:t>个单位；每个时期末未售出的产品，每单位需付存储费</a:t>
            </a:r>
            <a:r>
              <a:rPr lang="en-US" altLang="zh-CN" dirty="0">
                <a:cs typeface="Courier New" panose="02070309020205020404" pitchFamily="49" charset="0"/>
              </a:rPr>
              <a:t>0.5</a:t>
            </a:r>
            <a:r>
              <a:rPr lang="zh-CN" altLang="en-US" dirty="0">
                <a:cs typeface="Courier New" panose="02070309020205020404" pitchFamily="49" charset="0"/>
              </a:rPr>
              <a:t>千元。还假定在第一个时期的初始库存量为</a:t>
            </a:r>
            <a:r>
              <a:rPr lang="en-US" altLang="zh-CN" dirty="0">
                <a:cs typeface="Courier New" panose="02070309020205020404" pitchFamily="49" charset="0"/>
              </a:rPr>
              <a:t>0</a:t>
            </a:r>
            <a:r>
              <a:rPr lang="zh-CN" altLang="en-US" dirty="0">
                <a:cs typeface="Courier New" panose="02070309020205020404" pitchFamily="49" charset="0"/>
              </a:rPr>
              <a:t>，第四个时期之</a:t>
            </a:r>
            <a:r>
              <a:rPr lang="zh-CN" altLang="en-US" dirty="0" smtClean="0">
                <a:cs typeface="Courier New" panose="02070309020205020404" pitchFamily="49" charset="0"/>
              </a:rPr>
              <a:t>末的库存量也为</a:t>
            </a:r>
            <a:r>
              <a:rPr lang="en-US" altLang="zh-CN" dirty="0" smtClean="0">
                <a:cs typeface="Courier New" panose="02070309020205020404" pitchFamily="49" charset="0"/>
              </a:rPr>
              <a:t>0</a:t>
            </a:r>
            <a:r>
              <a:rPr lang="zh-CN" altLang="en-US" dirty="0" smtClean="0">
                <a:cs typeface="Courier New" panose="02070309020205020404" pitchFamily="49" charset="0"/>
              </a:rPr>
              <a:t>。试问该厂应如何安排各个时期的生产与库存，才能在</a:t>
            </a:r>
            <a:r>
              <a:rPr lang="zh-CN" altLang="en-US" dirty="0">
                <a:cs typeface="Courier New" panose="02070309020205020404" pitchFamily="49" charset="0"/>
              </a:rPr>
              <a:t>满足市场需要</a:t>
            </a:r>
            <a:r>
              <a:rPr lang="zh-CN" altLang="en-US" dirty="0" smtClean="0">
                <a:cs typeface="Courier New" panose="02070309020205020404" pitchFamily="49" charset="0"/>
              </a:rPr>
              <a:t>的条件</a:t>
            </a:r>
            <a:r>
              <a:rPr lang="zh-CN" altLang="en-US" dirty="0">
                <a:cs typeface="Courier New" panose="02070309020205020404" pitchFamily="49" charset="0"/>
              </a:rPr>
              <a:t>下，使</a:t>
            </a:r>
            <a:r>
              <a:rPr lang="zh-CN" altLang="en-US" dirty="0">
                <a:solidFill>
                  <a:srgbClr val="FF0000"/>
                </a:solidFill>
                <a:cs typeface="Courier New" panose="02070309020205020404" pitchFamily="49" charset="0"/>
              </a:rPr>
              <a:t>总成本最小</a:t>
            </a:r>
            <a:r>
              <a:rPr lang="zh-CN" altLang="en-US" dirty="0" smtClean="0">
                <a:cs typeface="Courier New" panose="02070309020205020404" pitchFamily="49" charset="0"/>
              </a:rPr>
              <a:t>。</a:t>
            </a:r>
            <a:endParaRPr lang="zh-CN" altLang="en-US" dirty="0"/>
          </a:p>
        </p:txBody>
      </p:sp>
      <p:sp>
        <p:nvSpPr>
          <p:cNvPr id="942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9A92B35C-25A0-4B6D-9821-DB38C6BE4AD0}" type="slidenum">
              <a:rPr lang="en-US" altLang="zh-CN" sz="1000"/>
              <a:pPr/>
              <a:t>56</a:t>
            </a:fld>
            <a:endParaRPr lang="en-US" altLang="zh-CN" sz="1000"/>
          </a:p>
        </p:txBody>
      </p:sp>
      <p:graphicFrame>
        <p:nvGraphicFramePr>
          <p:cNvPr id="315486" name="Group 94"/>
          <p:cNvGraphicFramePr>
            <a:graphicFrameLocks noGrp="1"/>
          </p:cNvGraphicFramePr>
          <p:nvPr>
            <p:extLst>
              <p:ext uri="{D42A27DB-BD31-4B8C-83A1-F6EECF244321}">
                <p14:modId xmlns:p14="http://schemas.microsoft.com/office/powerpoint/2010/main" val="1636709294"/>
              </p:ext>
            </p:extLst>
          </p:nvPr>
        </p:nvGraphicFramePr>
        <p:xfrm>
          <a:off x="1216880" y="2617869"/>
          <a:ext cx="6926263" cy="792408"/>
        </p:xfrm>
        <a:graphic>
          <a:graphicData uri="http://schemas.openxmlformats.org/drawingml/2006/table">
            <a:tbl>
              <a:tblPr/>
              <a:tblGrid>
                <a:gridCol w="1527175">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382713">
                  <a:extLst>
                    <a:ext uri="{9D8B030D-6E8A-4147-A177-3AD203B41FA5}">
                      <a16:colId xmlns:a16="http://schemas.microsoft.com/office/drawing/2014/main" val="20002"/>
                    </a:ext>
                  </a:extLst>
                </a:gridCol>
                <a:gridCol w="1385887">
                  <a:extLst>
                    <a:ext uri="{9D8B030D-6E8A-4147-A177-3AD203B41FA5}">
                      <a16:colId xmlns:a16="http://schemas.microsoft.com/office/drawing/2014/main" val="20003"/>
                    </a:ext>
                  </a:extLst>
                </a:gridCol>
                <a:gridCol w="1385888">
                  <a:extLst>
                    <a:ext uri="{9D8B030D-6E8A-4147-A177-3AD203B41FA5}">
                      <a16:colId xmlns:a16="http://schemas.microsoft.com/office/drawing/2014/main" val="20004"/>
                    </a:ext>
                  </a:extLst>
                </a:gridCol>
              </a:tblGrid>
              <a:tr h="396082">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时期</a:t>
                      </a: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(k)</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2">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需求量</a:t>
                      </a: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a:t>
                      </a:r>
                      <a:r>
                        <a:rPr kumimoji="0" lang="en-US" altLang="zh-CN" sz="2000" b="0" i="0" u="none" strike="noStrike" cap="none" normalizeH="0" baseline="-2500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k</a:t>
                      </a: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94236" name="Rectangle 87"/>
          <p:cNvSpPr>
            <a:spLocks noChangeArrowheads="1"/>
          </p:cNvSpPr>
          <p:nvPr/>
        </p:nvSpPr>
        <p:spPr bwMode="auto">
          <a:xfrm>
            <a:off x="4067944" y="2204864"/>
            <a:ext cx="804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47675" indent="-447675">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dirty="0" smtClean="0"/>
              <a:t>表</a:t>
            </a:r>
            <a:r>
              <a:rPr lang="en-US" altLang="zh-CN" dirty="0" smtClean="0"/>
              <a:t>8-5</a:t>
            </a:r>
            <a:endParaRPr lang="en-US" altLang="zh-CN" dirty="0"/>
          </a:p>
        </p:txBody>
      </p:sp>
    </p:spTree>
  </p:cSld>
  <p:clrMapOvr>
    <a:masterClrMapping/>
  </p:clrMapOvr>
  <p:transition spd="slow"/>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Rectangle 2"/>
          <p:cNvSpPr>
            <a:spLocks noGrp="1" noChangeArrowheads="1"/>
          </p:cNvSpPr>
          <p:nvPr>
            <p:ph type="title"/>
          </p:nvPr>
        </p:nvSpPr>
        <p:spPr/>
        <p:txBody>
          <a:bodyPr/>
          <a:lstStyle/>
          <a:p>
            <a:r>
              <a:rPr lang="en-US" altLang="zh-CN" dirty="0" smtClean="0"/>
              <a:t>8.4.2.1  </a:t>
            </a:r>
            <a:r>
              <a:rPr lang="zh-CN" altLang="en-US" dirty="0"/>
              <a:t>生产计划问题 </a:t>
            </a:r>
          </a:p>
        </p:txBody>
      </p:sp>
      <p:sp>
        <p:nvSpPr>
          <p:cNvPr id="2" name="内容占位符 1"/>
          <p:cNvSpPr>
            <a:spLocks noGrp="1"/>
          </p:cNvSpPr>
          <p:nvPr>
            <p:ph idx="1"/>
          </p:nvPr>
        </p:nvSpPr>
        <p:spPr>
          <a:xfrm>
            <a:off x="539552" y="1337268"/>
            <a:ext cx="8280920" cy="461665"/>
          </a:xfrm>
        </p:spPr>
        <p:txBody>
          <a:bodyPr/>
          <a:lstStyle/>
          <a:p>
            <a:r>
              <a:rPr lang="zh-CN" altLang="en-US" dirty="0">
                <a:latin typeface="宋体" panose="02010600030101010101" pitchFamily="2" charset="-122"/>
                <a:cs typeface="Times New Roman" panose="02020603050405020304" pitchFamily="18" charset="0"/>
              </a:rPr>
              <a:t>例</a:t>
            </a:r>
            <a:r>
              <a:rPr lang="en-US" altLang="zh-CN" dirty="0">
                <a:latin typeface="宋体" panose="02010600030101010101" pitchFamily="2" charset="-122"/>
                <a:cs typeface="Times New Roman" panose="02020603050405020304" pitchFamily="18" charset="0"/>
              </a:rPr>
              <a:t>8-5</a:t>
            </a:r>
            <a:r>
              <a:rPr lang="zh-CN" altLang="en-US" dirty="0">
                <a:latin typeface="宋体" panose="02010600030101010101" pitchFamily="2" charset="-122"/>
                <a:cs typeface="Times New Roman" panose="02020603050405020304" pitchFamily="18" charset="0"/>
              </a:rPr>
              <a:t>：</a:t>
            </a:r>
            <a:endParaRPr lang="zh-CN" altLang="en-US" dirty="0"/>
          </a:p>
        </p:txBody>
      </p:sp>
      <p:sp>
        <p:nvSpPr>
          <p:cNvPr id="9523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FA6C4C7E-3477-4629-97BA-BFBC62EDB393}" type="slidenum">
              <a:rPr lang="en-US" altLang="zh-CN" sz="1000"/>
              <a:pPr/>
              <a:t>57</a:t>
            </a:fld>
            <a:endParaRPr lang="en-US" altLang="zh-CN" sz="1000"/>
          </a:p>
        </p:txBody>
      </p:sp>
      <p:graphicFrame>
        <p:nvGraphicFramePr>
          <p:cNvPr id="95237" name="Object 35"/>
          <p:cNvGraphicFramePr>
            <a:graphicFrameLocks noChangeAspect="1"/>
          </p:cNvGraphicFramePr>
          <p:nvPr>
            <p:extLst>
              <p:ext uri="{D42A27DB-BD31-4B8C-83A1-F6EECF244321}">
                <p14:modId xmlns:p14="http://schemas.microsoft.com/office/powerpoint/2010/main" val="2215087395"/>
              </p:ext>
            </p:extLst>
          </p:nvPr>
        </p:nvGraphicFramePr>
        <p:xfrm>
          <a:off x="2501674" y="3140969"/>
          <a:ext cx="3726090" cy="1163686"/>
        </p:xfrm>
        <a:graphic>
          <a:graphicData uri="http://schemas.openxmlformats.org/presentationml/2006/ole">
            <mc:AlternateContent xmlns:mc="http://schemas.openxmlformats.org/markup-compatibility/2006">
              <mc:Choice xmlns:v="urn:schemas-microsoft-com:vml" Requires="v">
                <p:oleObj spid="_x0000_s95613" r:id="rId3" imgW="2286000" imgH="711200" progId="Equation.DSMT4">
                  <p:embed/>
                </p:oleObj>
              </mc:Choice>
              <mc:Fallback>
                <p:oleObj r:id="rId3" imgW="2286000" imgH="711200" progId="Equation.DSMT4">
                  <p:embed/>
                  <p:pic>
                    <p:nvPicPr>
                      <p:cNvPr id="0" name="Object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1674" y="3140969"/>
                        <a:ext cx="3726090" cy="1163686"/>
                      </a:xfrm>
                      <a:prstGeom prst="rect">
                        <a:avLst/>
                      </a:prstGeom>
                      <a:noFill/>
                      <a:ln>
                        <a:noFill/>
                      </a:ln>
                      <a:extLst/>
                    </p:spPr>
                  </p:pic>
                </p:oleObj>
              </mc:Fallback>
            </mc:AlternateContent>
          </a:graphicData>
        </a:graphic>
      </p:graphicFrame>
      <p:sp>
        <p:nvSpPr>
          <p:cNvPr id="95243" name="Rectangle 37"/>
          <p:cNvSpPr>
            <a:spLocks noChangeArrowheads="1"/>
          </p:cNvSpPr>
          <p:nvPr/>
        </p:nvSpPr>
        <p:spPr bwMode="auto">
          <a:xfrm>
            <a:off x="323850" y="2506087"/>
            <a:ext cx="859722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latin typeface="Times New Roman" panose="02020603050405020304" pitchFamily="18" charset="0"/>
                <a:cs typeface="Times New Roman" panose="02020603050405020304" pitchFamily="18" charset="0"/>
              </a:rPr>
              <a:t>解</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用动态规划方法来求解，其符号含义与上面相同。</a:t>
            </a:r>
          </a:p>
          <a:p>
            <a:r>
              <a:rPr lang="zh-CN" altLang="en-US" b="1" dirty="0">
                <a:latin typeface="Times New Roman" panose="02020603050405020304" pitchFamily="18" charset="0"/>
                <a:cs typeface="Times New Roman" panose="02020603050405020304" pitchFamily="18" charset="0"/>
              </a:rPr>
              <a:t>按四个时期将问题分为四个阶段。由题意知，在第</a:t>
            </a:r>
            <a:r>
              <a:rPr lang="en-US" altLang="zh-CN" b="1" i="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时期内的生产成本为</a:t>
            </a:r>
          </a:p>
        </p:txBody>
      </p:sp>
      <p:sp>
        <p:nvSpPr>
          <p:cNvPr id="95244" name="Rectangle 39"/>
          <p:cNvSpPr>
            <a:spLocks noChangeArrowheads="1"/>
          </p:cNvSpPr>
          <p:nvPr/>
        </p:nvSpPr>
        <p:spPr bwMode="auto">
          <a:xfrm>
            <a:off x="468313" y="4236362"/>
            <a:ext cx="56156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smtClean="0">
                <a:latin typeface="Times New Roman" panose="02020603050405020304" pitchFamily="18" charset="0"/>
                <a:cs typeface="Times New Roman" panose="02020603050405020304" pitchFamily="18" charset="0"/>
              </a:rPr>
              <a:t>第</a:t>
            </a:r>
            <a:r>
              <a:rPr lang="en-US" altLang="zh-CN" b="1" i="1" dirty="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时</a:t>
            </a:r>
            <a:r>
              <a:rPr lang="zh-CN" altLang="en-US" b="1" dirty="0">
                <a:latin typeface="Times New Roman" panose="02020603050405020304" pitchFamily="18" charset="0"/>
                <a:cs typeface="Times New Roman" panose="02020603050405020304" pitchFamily="18" charset="0"/>
              </a:rPr>
              <a:t>期末库存量为</a:t>
            </a:r>
            <a:r>
              <a:rPr lang="en-US" altLang="zh-CN" b="1" i="1" dirty="0" err="1">
                <a:latin typeface="Times New Roman" panose="02020603050405020304" pitchFamily="18" charset="0"/>
                <a:cs typeface="Times New Roman" panose="02020603050405020304" pitchFamily="18" charset="0"/>
              </a:rPr>
              <a:t>v</a:t>
            </a:r>
            <a:r>
              <a:rPr lang="en-US" altLang="zh-CN" b="1" i="1" baseline="-25000" dirty="0" err="1">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时的存储费用</a:t>
            </a:r>
            <a:r>
              <a:rPr lang="zh-CN" altLang="en-US" b="1" dirty="0" smtClean="0">
                <a:latin typeface="Times New Roman" panose="02020603050405020304" pitchFamily="18" charset="0"/>
                <a:cs typeface="Times New Roman" panose="02020603050405020304" pitchFamily="18" charset="0"/>
              </a:rPr>
              <a:t>为</a:t>
            </a:r>
            <a:r>
              <a:rPr lang="en-US" altLang="zh-CN" b="1" i="1" dirty="0" err="1">
                <a:latin typeface="Times New Roman" panose="02020603050405020304" pitchFamily="18" charset="0"/>
                <a:cs typeface="Times New Roman" panose="02020603050405020304" pitchFamily="18" charset="0"/>
              </a:rPr>
              <a:t>h</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s</a:t>
            </a:r>
            <a:r>
              <a:rPr lang="en-US" altLang="zh-CN" b="1" i="1" baseline="-25000" dirty="0" err="1">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)=0.5</a:t>
            </a:r>
            <a:r>
              <a:rPr lang="en-US" altLang="zh-CN" b="1" i="1" dirty="0">
                <a:latin typeface="Times New Roman" panose="02020603050405020304" pitchFamily="18" charset="0"/>
                <a:cs typeface="Times New Roman" panose="02020603050405020304" pitchFamily="18" charset="0"/>
              </a:rPr>
              <a:t>s</a:t>
            </a:r>
            <a:r>
              <a:rPr lang="en-US" altLang="zh-CN" b="1" i="1" baseline="-25000" dirty="0">
                <a:latin typeface="Times New Roman" panose="02020603050405020304" pitchFamily="18" charset="0"/>
                <a:cs typeface="Times New Roman" panose="02020603050405020304" pitchFamily="18" charset="0"/>
              </a:rPr>
              <a:t>k</a:t>
            </a:r>
            <a:endParaRPr lang="zh-CN" altLang="en-US"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5245" name="Rectangle 42"/>
              <p:cNvSpPr>
                <a:spLocks noChangeArrowheads="1"/>
              </p:cNvSpPr>
              <p:nvPr/>
            </p:nvSpPr>
            <p:spPr bwMode="auto">
              <a:xfrm>
                <a:off x="468313" y="4699479"/>
                <a:ext cx="5633593" cy="400110"/>
              </a:xfrm>
              <a:prstGeom prst="rect">
                <a:avLst/>
              </a:prstGeom>
              <a:noFill/>
              <a:ln>
                <a:noFill/>
              </a:ln>
              <a:effectLst/>
              <a:extLst>
                <a:ext uri="{909E8E84-426E-40DD-AFC4-6F175D3DCCD1}">
                  <a14:hiddenFill>
                    <a:solidFill>
                      <a:schemeClr val="accent1"/>
                    </a:solidFill>
                  </a14:hiddenFill>
                </a:ext>
                <a:ext uri="{91240B29-F687-4F45-9708-019B960494DF}">
                  <a14:hiddenLine w="9525" algn="ctr">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smtClean="0">
                    <a:latin typeface="Times New Roman" panose="02020603050405020304" pitchFamily="18" charset="0"/>
                    <a:cs typeface="Times New Roman" panose="02020603050405020304" pitchFamily="18" charset="0"/>
                  </a:rPr>
                  <a:t>故第</a:t>
                </a:r>
                <a:r>
                  <a:rPr lang="en-US" altLang="zh-CN" b="1" i="1" dirty="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时期</a:t>
                </a:r>
                <a:r>
                  <a:rPr lang="zh-CN" altLang="en-US" b="1" dirty="0">
                    <a:latin typeface="Times New Roman" panose="02020603050405020304" pitchFamily="18" charset="0"/>
                    <a:cs typeface="Times New Roman" panose="02020603050405020304" pitchFamily="18" charset="0"/>
                  </a:rPr>
                  <a:t>内的总成本</a:t>
                </a:r>
                <a:r>
                  <a:rPr lang="zh-CN" altLang="en-US" b="1" dirty="0" smtClean="0">
                    <a:latin typeface="Times New Roman" panose="02020603050405020304" pitchFamily="18" charset="0"/>
                    <a:cs typeface="Times New Roman" panose="02020603050405020304" pitchFamily="18" charset="0"/>
                  </a:rPr>
                  <a:t>为</a:t>
                </a:r>
                <a14:m>
                  <m:oMath xmlns:m="http://schemas.openxmlformats.org/officeDocument/2006/math">
                    <m:r>
                      <m:rPr>
                        <m:nor/>
                      </m:rPr>
                      <a:rPr lang="en-US" altLang="zh-CN" b="1" i="1" dirty="0">
                        <a:latin typeface="Times New Roman" panose="02020603050405020304" pitchFamily="18" charset="0"/>
                        <a:cs typeface="Times New Roman" panose="02020603050405020304" pitchFamily="18" charset="0"/>
                      </a:rPr>
                      <m:t>v</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 </m:t>
                    </m:r>
                    <m:sSub>
                      <m:sSubPr>
                        <m:ctrlPr>
                          <a:rPr lang="en-US" altLang="zh-CN" b="1" i="1" dirty="0">
                            <a:latin typeface="Cambria Math" panose="02040503050406030204" pitchFamily="18" charset="0"/>
                            <a:cs typeface="Times New Roman" panose="02020603050405020304" pitchFamily="18" charset="0"/>
                          </a:rPr>
                        </m:ctrlPr>
                      </m:sSubPr>
                      <m:e>
                        <m:r>
                          <a:rPr lang="en-US" altLang="zh-CN" b="1" i="1" dirty="0">
                            <a:latin typeface="Cambria Math" panose="02040503050406030204" pitchFamily="18" charset="0"/>
                            <a:cs typeface="Times New Roman" panose="02020603050405020304" pitchFamily="18" charset="0"/>
                          </a:rPr>
                          <m:t>𝒙</m:t>
                        </m:r>
                      </m:e>
                      <m:sub>
                        <m:r>
                          <a:rPr lang="en-US" altLang="zh-CN" b="1" i="1" dirty="0">
                            <a:latin typeface="Cambria Math" panose="02040503050406030204" pitchFamily="18" charset="0"/>
                            <a:cs typeface="Times New Roman" panose="02020603050405020304" pitchFamily="18" charset="0"/>
                          </a:rPr>
                          <m:t>𝒌</m:t>
                        </m:r>
                      </m:sub>
                    </m:sSub>
                    <m:r>
                      <m:rPr>
                        <m:nor/>
                      </m:rPr>
                      <a:rPr lang="en-US" altLang="zh-CN" b="1" dirty="0">
                        <a:latin typeface="Times New Roman" panose="020206030504050203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 </m:t>
                    </m:r>
                  </m:oMath>
                </a14:m>
                <a:r>
                  <a:rPr lang="en-US" altLang="zh-CN" b="1" i="1" dirty="0" err="1">
                    <a:latin typeface="Times New Roman" panose="02020603050405020304" pitchFamily="18" charset="0"/>
                    <a:cs typeface="Times New Roman" panose="02020603050405020304" pitchFamily="18" charset="0"/>
                  </a:rPr>
                  <a:t>c</a:t>
                </a:r>
                <a:r>
                  <a:rPr lang="en-US" altLang="zh-CN" b="1" i="1" baseline="-25000" dirty="0" err="1">
                    <a:latin typeface="Times New Roman" panose="02020603050405020304" pitchFamily="18" charset="0"/>
                    <a:cs typeface="Times New Roman" panose="02020603050405020304" pitchFamily="18" charset="0"/>
                  </a:rPr>
                  <a:t>k</a:t>
                </a:r>
                <a:r>
                  <a:rPr lang="en-US" altLang="zh-CN" b="1" i="1" baseline="-25000"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x</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h</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s</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endParaRPr lang="en-US" altLang="zh-CN" b="1" dirty="0">
                  <a:latin typeface="Times New Roman" panose="02020603050405020304" pitchFamily="18" charset="0"/>
                  <a:cs typeface="Times New Roman" panose="02020603050405020304" pitchFamily="18" charset="0"/>
                </a:endParaRPr>
              </a:p>
            </p:txBody>
          </p:sp>
        </mc:Choice>
        <mc:Fallback xmlns="">
          <p:sp>
            <p:nvSpPr>
              <p:cNvPr id="95245" name="Rectangle 42"/>
              <p:cNvSpPr>
                <a:spLocks noRot="1" noChangeAspect="1" noMove="1" noResize="1" noEditPoints="1" noAdjustHandles="1" noChangeArrowheads="1" noChangeShapeType="1" noTextEdit="1"/>
              </p:cNvSpPr>
              <p:nvPr/>
            </p:nvSpPr>
            <p:spPr bwMode="auto">
              <a:xfrm>
                <a:off x="468313" y="4699479"/>
                <a:ext cx="5633593" cy="400110"/>
              </a:xfrm>
              <a:prstGeom prst="rect">
                <a:avLst/>
              </a:prstGeom>
              <a:blipFill>
                <a:blip r:embed="rId5"/>
                <a:stretch>
                  <a:fillRect l="-1190" t="-10606" b="-2727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95246" name="Rectangle 44"/>
          <p:cNvSpPr>
            <a:spLocks noChangeArrowheads="1"/>
          </p:cNvSpPr>
          <p:nvPr/>
        </p:nvSpPr>
        <p:spPr bwMode="auto">
          <a:xfrm>
            <a:off x="468313" y="5117648"/>
            <a:ext cx="29546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smtClean="0">
                <a:cs typeface="Times New Roman" panose="02020603050405020304" pitchFamily="18" charset="0"/>
              </a:rPr>
              <a:t>动态规划的基本方程为</a:t>
            </a:r>
            <a:r>
              <a:rPr lang="zh-CN" altLang="en-US" b="1" dirty="0">
                <a:cs typeface="Times New Roman" panose="02020603050405020304" pitchFamily="18" charset="0"/>
              </a:rPr>
              <a:t>	</a:t>
            </a:r>
            <a:endParaRPr lang="zh-CN" altLang="en-US" b="1" dirty="0"/>
          </a:p>
        </p:txBody>
      </p:sp>
      <p:graphicFrame>
        <p:nvGraphicFramePr>
          <p:cNvPr id="17" name="Group 94"/>
          <p:cNvGraphicFramePr>
            <a:graphicFrameLocks noGrp="1"/>
          </p:cNvGraphicFramePr>
          <p:nvPr>
            <p:extLst>
              <p:ext uri="{D42A27DB-BD31-4B8C-83A1-F6EECF244321}">
                <p14:modId xmlns:p14="http://schemas.microsoft.com/office/powerpoint/2010/main" val="691760144"/>
              </p:ext>
            </p:extLst>
          </p:nvPr>
        </p:nvGraphicFramePr>
        <p:xfrm>
          <a:off x="1994812" y="1368045"/>
          <a:ext cx="6926263" cy="792408"/>
        </p:xfrm>
        <a:graphic>
          <a:graphicData uri="http://schemas.openxmlformats.org/drawingml/2006/table">
            <a:tbl>
              <a:tblPr/>
              <a:tblGrid>
                <a:gridCol w="1527175">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382713">
                  <a:extLst>
                    <a:ext uri="{9D8B030D-6E8A-4147-A177-3AD203B41FA5}">
                      <a16:colId xmlns:a16="http://schemas.microsoft.com/office/drawing/2014/main" val="20002"/>
                    </a:ext>
                  </a:extLst>
                </a:gridCol>
                <a:gridCol w="1385887">
                  <a:extLst>
                    <a:ext uri="{9D8B030D-6E8A-4147-A177-3AD203B41FA5}">
                      <a16:colId xmlns:a16="http://schemas.microsoft.com/office/drawing/2014/main" val="20003"/>
                    </a:ext>
                  </a:extLst>
                </a:gridCol>
                <a:gridCol w="1385888">
                  <a:extLst>
                    <a:ext uri="{9D8B030D-6E8A-4147-A177-3AD203B41FA5}">
                      <a16:colId xmlns:a16="http://schemas.microsoft.com/office/drawing/2014/main" val="20004"/>
                    </a:ext>
                  </a:extLst>
                </a:gridCol>
              </a:tblGrid>
              <a:tr h="396082">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时期</a:t>
                      </a: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(k)</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2">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需求量</a:t>
                      </a: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a:t>
                      </a:r>
                      <a:r>
                        <a:rPr kumimoji="0" lang="en-US" altLang="zh-CN" sz="2000" b="0" i="0" u="none" strike="noStrike" cap="none" normalizeH="0" baseline="-2500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k</a:t>
                      </a: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3" name="矩形 2"/>
              <p:cNvSpPr/>
              <p:nvPr/>
            </p:nvSpPr>
            <p:spPr>
              <a:xfrm>
                <a:off x="971600" y="5535817"/>
                <a:ext cx="6243568" cy="10749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b="1" i="1" smtClean="0">
                              <a:latin typeface="Cambria Math" panose="02040503050406030204" pitchFamily="18" charset="0"/>
                              <a:cs typeface="Times New Roman" panose="02020603050405020304" pitchFamily="18" charset="0"/>
                            </a:rPr>
                          </m:ctrlPr>
                        </m:dPr>
                        <m:e>
                          <m:eqArr>
                            <m:eqArrPr>
                              <m:ctrlPr>
                                <a:rPr lang="en-US" altLang="zh-CN" b="1" i="1">
                                  <a:latin typeface="Cambria Math" panose="02040503050406030204" pitchFamily="18" charset="0"/>
                                  <a:cs typeface="Times New Roman" panose="02020603050405020304" pitchFamily="18" charset="0"/>
                                </a:rPr>
                              </m:ctrlPr>
                            </m:eqArrPr>
                            <m:e>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dirty="0">
                                  <a:latin typeface="Times New Roman" panose="020206030504050203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m:t>
                              </m:r>
                              <m:func>
                                <m:funcPr>
                                  <m:ctrlPr>
                                    <a:rPr lang="en-US" altLang="zh-CN" b="1" i="1">
                                      <a:latin typeface="Cambria Math" panose="02040503050406030204" pitchFamily="18" charset="0"/>
                                      <a:cs typeface="Times New Roman" panose="02020603050405020304" pitchFamily="18" charset="0"/>
                                    </a:rPr>
                                  </m:ctrlPr>
                                </m:funcPr>
                                <m:fName>
                                  <m:limLow>
                                    <m:limLowPr>
                                      <m:ctrlPr>
                                        <a:rPr lang="en-US" altLang="zh-CN" b="1" i="1">
                                          <a:latin typeface="Cambria Math" panose="02040503050406030204" pitchFamily="18" charset="0"/>
                                          <a:cs typeface="Times New Roman" panose="02020603050405020304" pitchFamily="18" charset="0"/>
                                        </a:rPr>
                                      </m:ctrlPr>
                                    </m:limLowPr>
                                    <m:e>
                                      <m:r>
                                        <m:rPr>
                                          <m:sty m:val="p"/>
                                        </m:rPr>
                                        <a:rPr lang="en-US" altLang="zh-CN">
                                          <a:latin typeface="Cambria Math" panose="02040503050406030204" pitchFamily="18" charset="0"/>
                                          <a:cs typeface="Times New Roman" panose="02020603050405020304" pitchFamily="18" charset="0"/>
                                        </a:rPr>
                                        <m:t>min</m:t>
                                      </m:r>
                                    </m:e>
                                    <m:lim>
                                      <m:r>
                                        <a:rPr lang="en-US" altLang="zh-CN" i="1">
                                          <a:latin typeface="Cambria Math" panose="02040503050406030204" pitchFamily="18" charset="0"/>
                                          <a:cs typeface="Times New Roman" panose="02020603050405020304" pitchFamily="18" charset="0"/>
                                        </a:rPr>
                                        <m:t>0</m:t>
                                      </m:r>
                                      <m:r>
                                        <a:rPr lang="en-US" altLang="zh-CN"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i="1">
                                              <a:latin typeface="Cambria Math" panose="02040503050406030204" pitchFamily="18" charset="0"/>
                                              <a:ea typeface="Cambria Math" panose="02040503050406030204" pitchFamily="18" charset="0"/>
                                              <a:cs typeface="Times New Roman" panose="02020603050405020304" pitchFamily="18" charset="0"/>
                                            </a:rPr>
                                            <m:t>𝑘</m:t>
                                          </m:r>
                                        </m:sub>
                                      </m:sSub>
                                      <m:r>
                                        <a:rPr lang="en-US" altLang="zh-CN"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altLang="zh-CN" i="1">
                                              <a:latin typeface="Cambria Math" panose="02040503050406030204" pitchFamily="18" charset="0"/>
                                              <a:ea typeface="Cambria Math" panose="02040503050406030204" pitchFamily="18" charset="0"/>
                                              <a:cs typeface="Times New Roman" panose="02020603050405020304" pitchFamily="18" charset="0"/>
                                            </a:rPr>
                                            <m:t>𝑘</m:t>
                                          </m:r>
                                        </m:sub>
                                      </m:sSub>
                                    </m:lim>
                                  </m:limLow>
                                </m:fName>
                                <m:e>
                                  <m:d>
                                    <m:dPr>
                                      <m:begChr m:val="{"/>
                                      <m:endChr m:val="}"/>
                                      <m:ctrlPr>
                                        <a:rPr lang="en-US" altLang="zh-CN" b="1" i="1">
                                          <a:latin typeface="Cambria Math" panose="02040503050406030204" pitchFamily="18" charset="0"/>
                                          <a:cs typeface="Times New Roman" panose="02020603050405020304" pitchFamily="18" charset="0"/>
                                        </a:rPr>
                                      </m:ctrlPr>
                                    </m:dPr>
                                    <m:e>
                                      <m:r>
                                        <m:rPr>
                                          <m:nor/>
                                        </m:rPr>
                                        <a:rPr lang="en-US" altLang="zh-CN" b="1" i="1" dirty="0">
                                          <a:latin typeface="Times New Roman" panose="02020603050405020304" pitchFamily="18" charset="0"/>
                                          <a:cs typeface="Times New Roman" panose="02020603050405020304" pitchFamily="18" charset="0"/>
                                        </a:rPr>
                                        <m:t>v</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 </m:t>
                                      </m:r>
                                      <m:sSub>
                                        <m:sSubPr>
                                          <m:ctrlPr>
                                            <a:rPr lang="en-US" altLang="zh-CN" b="1" i="1" dirty="0">
                                              <a:latin typeface="Cambria Math" panose="02040503050406030204" pitchFamily="18" charset="0"/>
                                              <a:cs typeface="Times New Roman" panose="02020603050405020304" pitchFamily="18" charset="0"/>
                                            </a:rPr>
                                          </m:ctrlPr>
                                        </m:sSubPr>
                                        <m:e>
                                          <m:r>
                                            <a:rPr lang="en-US" altLang="zh-CN" b="1" i="1" dirty="0">
                                              <a:latin typeface="Cambria Math" panose="02040503050406030204" pitchFamily="18" charset="0"/>
                                              <a:cs typeface="Times New Roman" panose="02020603050405020304" pitchFamily="18" charset="0"/>
                                            </a:rPr>
                                            <m:t>𝒙</m:t>
                                          </m:r>
                                        </m:e>
                                        <m:sub>
                                          <m:r>
                                            <a:rPr lang="en-US" altLang="zh-CN" b="1" i="1" dirty="0">
                                              <a:latin typeface="Cambria Math" panose="02040503050406030204" pitchFamily="18" charset="0"/>
                                              <a:cs typeface="Times New Roman" panose="02020603050405020304" pitchFamily="18" charset="0"/>
                                            </a:rPr>
                                            <m:t>𝒌</m:t>
                                          </m:r>
                                        </m:sub>
                                      </m:sSub>
                                      <m:r>
                                        <m:rPr>
                                          <m:nor/>
                                        </m:rPr>
                                        <a:rPr lang="en-US" altLang="zh-CN" b="1" dirty="0">
                                          <a:latin typeface="Times New Roman" panose="020206030504050203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i="1" baseline="-25000" dirty="0">
                                          <a:latin typeface="Times New Roman" panose="02020603050405020304" pitchFamily="18" charset="0"/>
                                          <a:cs typeface="Times New Roman" panose="02020603050405020304" pitchFamily="18" charset="0"/>
                                        </a:rPr>
                                        <m:t>−1</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i="1" baseline="-25000" dirty="0">
                                          <a:latin typeface="Times New Roman" panose="02020603050405020304" pitchFamily="18" charset="0"/>
                                          <a:cs typeface="Times New Roman" panose="02020603050405020304" pitchFamily="18" charset="0"/>
                                        </a:rPr>
                                        <m:t>−1</m:t>
                                      </m:r>
                                      <m:r>
                                        <m:rPr>
                                          <m:nor/>
                                        </m:rPr>
                                        <a:rPr lang="en-US" altLang="zh-CN" b="1" dirty="0">
                                          <a:latin typeface="Times New Roman" panose="02020603050405020304" pitchFamily="18" charset="0"/>
                                          <a:cs typeface="Times New Roman" panose="02020603050405020304" pitchFamily="18" charset="0"/>
                                        </a:rPr>
                                        <m:t>)</m:t>
                                      </m:r>
                                    </m:e>
                                  </m:d>
                                  <m:r>
                                    <a:rPr lang="zh-CN" altLang="en-US" b="1"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𝑘</m:t>
                                  </m:r>
                                  <m:r>
                                    <a:rPr lang="en-US" altLang="zh-CN" i="1">
                                      <a:latin typeface="Cambria Math" panose="02040503050406030204" pitchFamily="18" charset="0"/>
                                      <a:cs typeface="Times New Roman" panose="02020603050405020304" pitchFamily="18" charset="0"/>
                                    </a:rPr>
                                    <m:t>=1,2, 3,4</m:t>
                                  </m:r>
                                </m:e>
                              </m:func>
                            </m:e>
                            <m:e>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a:latin typeface="Times New Roman" panose="02020603050405020304" pitchFamily="18" charset="0"/>
                                  <a:cs typeface="Times New Roman" panose="02020603050405020304" pitchFamily="18" charset="0"/>
                                </a:rPr>
                                <m:t>0</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baseline="-25000" dirty="0">
                                  <a:latin typeface="Times New Roman" panose="02020603050405020304" pitchFamily="18" charset="0"/>
                                  <a:cs typeface="Times New Roman" panose="02020603050405020304" pitchFamily="18" charset="0"/>
                                </a:rPr>
                                <m:t>0</m:t>
                              </m:r>
                              <m:r>
                                <m:rPr>
                                  <m:nor/>
                                </m:rPr>
                                <a:rPr lang="en-US" altLang="zh-CN" b="1" dirty="0">
                                  <a:latin typeface="Times New Roman" panose="02020603050405020304" pitchFamily="18" charset="0"/>
                                  <a:cs typeface="Times New Roman" panose="02020603050405020304" pitchFamily="18" charset="0"/>
                                </a:rPr>
                                <m:t>)</m:t>
                              </m:r>
                              <m:r>
                                <a:rPr lang="en-US" altLang="zh-CN" b="1" i="1" dirty="0">
                                  <a:latin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cs typeface="Times New Roman" panose="02020603050405020304" pitchFamily="18" charset="0"/>
                                </a:rPr>
                                <m:t>𝟎</m:t>
                              </m:r>
                              <m:r>
                                <a:rPr lang="en-US" altLang="zh-CN" b="1" i="1" dirty="0">
                                  <a:latin typeface="Cambria Math" panose="02040503050406030204" pitchFamily="18" charset="0"/>
                                  <a:cs typeface="Times New Roman" panose="02020603050405020304" pitchFamily="18" charset="0"/>
                                </a:rPr>
                                <m:t>                                                                                    </m:t>
                              </m:r>
                            </m:e>
                          </m:eqArr>
                        </m:e>
                      </m:d>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971600" y="5535817"/>
                <a:ext cx="6243568" cy="1074910"/>
              </a:xfrm>
              <a:prstGeom prst="rect">
                <a:avLst/>
              </a:prstGeom>
              <a:blipFill>
                <a:blip r:embed="rId6"/>
                <a:stretch>
                  <a:fillRect/>
                </a:stretch>
              </a:blipFill>
            </p:spPr>
            <p:txBody>
              <a:bodyPr/>
              <a:lstStyle/>
              <a:p>
                <a:r>
                  <a:rPr lang="zh-CN" altLang="en-US">
                    <a:noFill/>
                  </a:rPr>
                  <a:t> </a:t>
                </a:r>
              </a:p>
            </p:txBody>
          </p:sp>
        </mc:Fallback>
      </mc:AlternateContent>
      <p:sp>
        <p:nvSpPr>
          <p:cNvPr id="4" name="矩形 3"/>
          <p:cNvSpPr/>
          <p:nvPr/>
        </p:nvSpPr>
        <p:spPr>
          <a:xfrm>
            <a:off x="6785984" y="133097"/>
            <a:ext cx="2464136" cy="430887"/>
          </a:xfrm>
          <a:prstGeom prst="rect">
            <a:avLst/>
          </a:prstGeom>
        </p:spPr>
        <p:txBody>
          <a:bodyPr wrap="none">
            <a:spAutoFit/>
          </a:bodyPr>
          <a:lstStyle/>
          <a:p>
            <a:pPr algn="just" eaLnBrk="1" hangingPunct="1">
              <a:lnSpc>
                <a:spcPct val="110000"/>
              </a:lnSpc>
            </a:pPr>
            <a:r>
              <a:rPr lang="en-US" altLang="zh-CN" b="1" dirty="0">
                <a:latin typeface="Times New Roman" panose="02020603050405020304" pitchFamily="18" charset="0"/>
                <a:cs typeface="Times New Roman" panose="02020603050405020304" pitchFamily="18" charset="0"/>
              </a:rPr>
              <a:t>0</a:t>
            </a:r>
            <a:r>
              <a:rPr lang="zh-CN" altLang="en-US" b="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x</a:t>
            </a:r>
            <a:r>
              <a:rPr lang="en-US" altLang="zh-CN" b="1" i="1" baseline="-25000" dirty="0" err="1">
                <a:latin typeface="Times New Roman" panose="02020603050405020304" pitchFamily="18" charset="0"/>
                <a:cs typeface="Times New Roman" panose="02020603050405020304" pitchFamily="18" charset="0"/>
              </a:rPr>
              <a:t>k</a:t>
            </a:r>
            <a:r>
              <a:rPr lang="en-US" altLang="zh-CN" b="1" i="1" baseline="-25000"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min</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m</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s</a:t>
            </a:r>
            <a:r>
              <a:rPr lang="en-US" altLang="zh-CN" b="1" i="1" baseline="-25000" dirty="0" err="1">
                <a:latin typeface="Times New Roman" panose="02020603050405020304" pitchFamily="18" charset="0"/>
                <a:cs typeface="Times New Roman" panose="02020603050405020304" pitchFamily="18" charset="0"/>
              </a:rPr>
              <a:t>k</a:t>
            </a:r>
            <a:r>
              <a:rPr lang="en-US" altLang="zh-CN" b="1" dirty="0" err="1">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d</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Courier New" panose="02070309020205020404" pitchFamily="49" charset="0"/>
            </a:endParaRPr>
          </a:p>
        </p:txBody>
      </p:sp>
      <p:sp>
        <p:nvSpPr>
          <p:cNvPr id="5" name="矩形 4"/>
          <p:cNvSpPr/>
          <p:nvPr/>
        </p:nvSpPr>
        <p:spPr>
          <a:xfrm>
            <a:off x="5163965" y="487519"/>
            <a:ext cx="4102405" cy="430887"/>
          </a:xfrm>
          <a:prstGeom prst="rect">
            <a:avLst/>
          </a:prstGeom>
        </p:spPr>
        <p:txBody>
          <a:bodyPr wrap="none">
            <a:spAutoFit/>
          </a:bodyPr>
          <a:lstStyle/>
          <a:p>
            <a:pPr algn="just" eaLnBrk="1" hangingPunct="1">
              <a:lnSpc>
                <a:spcPct val="110000"/>
              </a:lnSpc>
            </a:pPr>
            <a:r>
              <a:rPr lang="en-US" altLang="zh-CN" b="1" dirty="0">
                <a:latin typeface="Times New Roman" panose="02020603050405020304" pitchFamily="18" charset="0"/>
                <a:cs typeface="Times New Roman" panose="02020603050405020304" pitchFamily="18" charset="0"/>
              </a:rPr>
              <a:t>0</a:t>
            </a:r>
            <a:r>
              <a:rPr lang="zh-CN" altLang="en-US" b="1" dirty="0">
                <a:latin typeface="Times New Roman" panose="02020603050405020304" pitchFamily="18" charset="0"/>
                <a:cs typeface="Times New Roman" panose="02020603050405020304" pitchFamily="18" charset="0"/>
              </a:rPr>
              <a:t>≤ </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i="1" baseline="-25000" dirty="0" smtClean="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min</a:t>
            </a:r>
            <a:r>
              <a:rPr lang="en-US" altLang="zh-CN" b="1" dirty="0">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d</a:t>
            </a:r>
            <a:r>
              <a:rPr lang="en-US" altLang="zh-CN" b="1" i="1" baseline="-25000" dirty="0" err="1">
                <a:latin typeface="Times New Roman" panose="02020603050405020304" pitchFamily="18" charset="0"/>
                <a:cs typeface="Times New Roman" panose="02020603050405020304" pitchFamily="18" charset="0"/>
              </a:rPr>
              <a:t>k</a:t>
            </a:r>
            <a:r>
              <a:rPr lang="en-US" altLang="zh-CN" b="1" i="1" baseline="-25000"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d</a:t>
            </a:r>
            <a:r>
              <a:rPr lang="en-US" altLang="zh-CN" b="1" i="1" baseline="-25000" dirty="0" err="1">
                <a:latin typeface="Times New Roman" panose="02020603050405020304" pitchFamily="18" charset="0"/>
                <a:cs typeface="Times New Roman" panose="02020603050405020304" pitchFamily="18" charset="0"/>
              </a:rPr>
              <a:t>k</a:t>
            </a:r>
            <a:r>
              <a:rPr lang="en-US" altLang="zh-CN" b="1" i="1" baseline="-25000" dirty="0">
                <a:latin typeface="Times New Roman" panose="02020603050405020304" pitchFamily="18" charset="0"/>
                <a:cs typeface="Times New Roman" panose="02020603050405020304" pitchFamily="18" charset="0"/>
              </a:rPr>
              <a:t> +1</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d</a:t>
            </a:r>
            <a:r>
              <a:rPr lang="en-US" altLang="zh-CN" b="1" i="1" baseline="-25000" dirty="0" err="1">
                <a:latin typeface="Times New Roman" panose="02020603050405020304" pitchFamily="18" charset="0"/>
                <a:cs typeface="Times New Roman" panose="02020603050405020304" pitchFamily="18" charset="0"/>
              </a:rPr>
              <a:t>n</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m</a:t>
            </a:r>
            <a:r>
              <a:rPr lang="en-US" altLang="zh-CN" b="1"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d</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Courier New" panose="02070309020205020404" pitchFamily="49" charset="0"/>
            </a:endParaRPr>
          </a:p>
        </p:txBody>
      </p:sp>
    </p:spTree>
  </p:cSld>
  <p:clrMapOvr>
    <a:masterClrMapping/>
  </p:clrMapOvr>
  <p:transition spd="slow"/>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Rectangle 2"/>
          <p:cNvSpPr>
            <a:spLocks noGrp="1" noChangeArrowheads="1"/>
          </p:cNvSpPr>
          <p:nvPr>
            <p:ph type="title"/>
          </p:nvPr>
        </p:nvSpPr>
        <p:spPr/>
        <p:txBody>
          <a:bodyPr/>
          <a:lstStyle/>
          <a:p>
            <a:r>
              <a:rPr lang="en-US" altLang="zh-CN" dirty="0" smtClean="0"/>
              <a:t>8.4.2.1  </a:t>
            </a:r>
            <a:r>
              <a:rPr lang="zh-CN" altLang="en-US" dirty="0"/>
              <a:t>生产计划问题 </a:t>
            </a:r>
          </a:p>
        </p:txBody>
      </p:sp>
      <p:sp>
        <p:nvSpPr>
          <p:cNvPr id="2" name="内容占位符 1"/>
          <p:cNvSpPr>
            <a:spLocks noGrp="1"/>
          </p:cNvSpPr>
          <p:nvPr>
            <p:ph idx="1"/>
          </p:nvPr>
        </p:nvSpPr>
        <p:spPr>
          <a:xfrm>
            <a:off x="539552" y="1337268"/>
            <a:ext cx="8280920" cy="461665"/>
          </a:xfrm>
        </p:spPr>
        <p:txBody>
          <a:bodyPr/>
          <a:lstStyle/>
          <a:p>
            <a:r>
              <a:rPr lang="zh-CN" altLang="en-US" dirty="0">
                <a:latin typeface="宋体" panose="02010600030101010101" pitchFamily="2" charset="-122"/>
                <a:cs typeface="Times New Roman" panose="02020603050405020304" pitchFamily="18" charset="0"/>
              </a:rPr>
              <a:t>例</a:t>
            </a:r>
            <a:r>
              <a:rPr lang="en-US" altLang="zh-CN" dirty="0">
                <a:latin typeface="宋体" panose="02010600030101010101" pitchFamily="2" charset="-122"/>
                <a:cs typeface="Times New Roman" panose="02020603050405020304" pitchFamily="18" charset="0"/>
              </a:rPr>
              <a:t>8-5</a:t>
            </a:r>
            <a:r>
              <a:rPr lang="zh-CN" altLang="en-US" dirty="0">
                <a:latin typeface="宋体" panose="02010600030101010101" pitchFamily="2" charset="-122"/>
                <a:cs typeface="Times New Roman" panose="02020603050405020304" pitchFamily="18" charset="0"/>
              </a:rPr>
              <a:t>：</a:t>
            </a:r>
            <a:endParaRPr lang="zh-CN" altLang="en-US" dirty="0"/>
          </a:p>
        </p:txBody>
      </p:sp>
      <p:sp>
        <p:nvSpPr>
          <p:cNvPr id="9523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FA6C4C7E-3477-4629-97BA-BFBC62EDB393}" type="slidenum">
              <a:rPr lang="en-US" altLang="zh-CN" sz="1000"/>
              <a:pPr/>
              <a:t>58</a:t>
            </a:fld>
            <a:endParaRPr lang="en-US" altLang="zh-CN" sz="1000"/>
          </a:p>
        </p:txBody>
      </p:sp>
      <p:graphicFrame>
        <p:nvGraphicFramePr>
          <p:cNvPr id="17" name="Group 94"/>
          <p:cNvGraphicFramePr>
            <a:graphicFrameLocks noGrp="1"/>
          </p:cNvGraphicFramePr>
          <p:nvPr>
            <p:extLst/>
          </p:nvPr>
        </p:nvGraphicFramePr>
        <p:xfrm>
          <a:off x="2051720" y="1391126"/>
          <a:ext cx="6926263" cy="792408"/>
        </p:xfrm>
        <a:graphic>
          <a:graphicData uri="http://schemas.openxmlformats.org/drawingml/2006/table">
            <a:tbl>
              <a:tblPr/>
              <a:tblGrid>
                <a:gridCol w="1527175">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382713">
                  <a:extLst>
                    <a:ext uri="{9D8B030D-6E8A-4147-A177-3AD203B41FA5}">
                      <a16:colId xmlns:a16="http://schemas.microsoft.com/office/drawing/2014/main" val="20002"/>
                    </a:ext>
                  </a:extLst>
                </a:gridCol>
                <a:gridCol w="1385887">
                  <a:extLst>
                    <a:ext uri="{9D8B030D-6E8A-4147-A177-3AD203B41FA5}">
                      <a16:colId xmlns:a16="http://schemas.microsoft.com/office/drawing/2014/main" val="20003"/>
                    </a:ext>
                  </a:extLst>
                </a:gridCol>
                <a:gridCol w="1385888">
                  <a:extLst>
                    <a:ext uri="{9D8B030D-6E8A-4147-A177-3AD203B41FA5}">
                      <a16:colId xmlns:a16="http://schemas.microsoft.com/office/drawing/2014/main" val="20004"/>
                    </a:ext>
                  </a:extLst>
                </a:gridCol>
              </a:tblGrid>
              <a:tr h="396082">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时期</a:t>
                      </a: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(k)</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2">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需求量</a:t>
                      </a: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a:t>
                      </a:r>
                      <a:r>
                        <a:rPr kumimoji="0" lang="en-US" altLang="zh-CN" sz="2000" b="0" i="0" u="none" strike="noStrike" cap="none" normalizeH="0" baseline="-2500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k</a:t>
                      </a: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2" name="Rectangle 21"/>
          <p:cNvSpPr>
            <a:spLocks noChangeArrowheads="1"/>
          </p:cNvSpPr>
          <p:nvPr/>
        </p:nvSpPr>
        <p:spPr bwMode="auto">
          <a:xfrm>
            <a:off x="539750" y="2487980"/>
            <a:ext cx="11208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Times New Roman" panose="02020603050405020304" pitchFamily="18" charset="0"/>
              </a:rPr>
              <a:t>当</a:t>
            </a:r>
            <a:r>
              <a:rPr lang="en-US" altLang="zh-CN" b="1" i="1" dirty="0">
                <a:latin typeface="Times New Roman" panose="02020603050405020304" pitchFamily="18" charset="0"/>
                <a:cs typeface="Times New Roman" panose="02020603050405020304" pitchFamily="18" charset="0"/>
              </a:rPr>
              <a:t>k</a:t>
            </a:r>
            <a:r>
              <a:rPr lang="en-US" altLang="zh-CN" b="1" dirty="0">
                <a:cs typeface="Times New Roman" panose="02020603050405020304" pitchFamily="18" charset="0"/>
              </a:rPr>
              <a:t>=1</a:t>
            </a:r>
            <a:r>
              <a:rPr lang="zh-CN" altLang="en-US" b="1" dirty="0" smtClean="0"/>
              <a:t>时</a:t>
            </a:r>
            <a:endParaRPr lang="zh-CN" altLang="en-US" b="1" dirty="0"/>
          </a:p>
        </p:txBody>
      </p:sp>
      <p:sp>
        <p:nvSpPr>
          <p:cNvPr id="14" name="矩形 13"/>
          <p:cNvSpPr/>
          <p:nvPr/>
        </p:nvSpPr>
        <p:spPr>
          <a:xfrm>
            <a:off x="6785984" y="133097"/>
            <a:ext cx="2464136" cy="430887"/>
          </a:xfrm>
          <a:prstGeom prst="rect">
            <a:avLst/>
          </a:prstGeom>
        </p:spPr>
        <p:txBody>
          <a:bodyPr wrap="none">
            <a:spAutoFit/>
          </a:bodyPr>
          <a:lstStyle/>
          <a:p>
            <a:pPr algn="just" eaLnBrk="1" hangingPunct="1">
              <a:lnSpc>
                <a:spcPct val="110000"/>
              </a:lnSpc>
            </a:pPr>
            <a:r>
              <a:rPr lang="en-US" altLang="zh-CN" b="1" dirty="0">
                <a:latin typeface="Times New Roman" panose="02020603050405020304" pitchFamily="18" charset="0"/>
                <a:cs typeface="Times New Roman" panose="02020603050405020304" pitchFamily="18" charset="0"/>
              </a:rPr>
              <a:t>0</a:t>
            </a:r>
            <a:r>
              <a:rPr lang="zh-CN" altLang="en-US" b="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x</a:t>
            </a:r>
            <a:r>
              <a:rPr lang="en-US" altLang="zh-CN" b="1" i="1" baseline="-25000" dirty="0" err="1">
                <a:latin typeface="Times New Roman" panose="02020603050405020304" pitchFamily="18" charset="0"/>
                <a:cs typeface="Times New Roman" panose="02020603050405020304" pitchFamily="18" charset="0"/>
              </a:rPr>
              <a:t>k</a:t>
            </a:r>
            <a:r>
              <a:rPr lang="en-US" altLang="zh-CN" b="1" i="1" baseline="-25000"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min</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m</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s</a:t>
            </a:r>
            <a:r>
              <a:rPr lang="en-US" altLang="zh-CN" b="1" i="1" baseline="-25000" dirty="0" err="1">
                <a:latin typeface="Times New Roman" panose="02020603050405020304" pitchFamily="18" charset="0"/>
                <a:cs typeface="Times New Roman" panose="02020603050405020304" pitchFamily="18" charset="0"/>
              </a:rPr>
              <a:t>k</a:t>
            </a:r>
            <a:r>
              <a:rPr lang="en-US" altLang="zh-CN" b="1" dirty="0" err="1">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d</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Courier New" panose="02070309020205020404" pitchFamily="49" charset="0"/>
            </a:endParaRPr>
          </a:p>
        </p:txBody>
      </p:sp>
      <p:sp>
        <p:nvSpPr>
          <p:cNvPr id="15" name="矩形 14"/>
          <p:cNvSpPr/>
          <p:nvPr/>
        </p:nvSpPr>
        <p:spPr>
          <a:xfrm>
            <a:off x="5163965" y="487519"/>
            <a:ext cx="4102405" cy="430887"/>
          </a:xfrm>
          <a:prstGeom prst="rect">
            <a:avLst/>
          </a:prstGeom>
        </p:spPr>
        <p:txBody>
          <a:bodyPr wrap="none">
            <a:spAutoFit/>
          </a:bodyPr>
          <a:lstStyle/>
          <a:p>
            <a:pPr algn="just" eaLnBrk="1" hangingPunct="1">
              <a:lnSpc>
                <a:spcPct val="110000"/>
              </a:lnSpc>
            </a:pPr>
            <a:r>
              <a:rPr lang="en-US" altLang="zh-CN" b="1" dirty="0">
                <a:latin typeface="Times New Roman" panose="02020603050405020304" pitchFamily="18" charset="0"/>
                <a:cs typeface="Times New Roman" panose="02020603050405020304" pitchFamily="18" charset="0"/>
              </a:rPr>
              <a:t>0</a:t>
            </a:r>
            <a:r>
              <a:rPr lang="zh-CN" altLang="en-US" b="1" dirty="0">
                <a:latin typeface="Times New Roman" panose="02020603050405020304" pitchFamily="18" charset="0"/>
                <a:cs typeface="Times New Roman" panose="02020603050405020304" pitchFamily="18" charset="0"/>
              </a:rPr>
              <a:t>≤ </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i="1" baseline="-25000" dirty="0" smtClean="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min</a:t>
            </a:r>
            <a:r>
              <a:rPr lang="en-US" altLang="zh-CN" b="1" dirty="0">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d</a:t>
            </a:r>
            <a:r>
              <a:rPr lang="en-US" altLang="zh-CN" b="1" i="1" baseline="-25000" dirty="0" err="1">
                <a:latin typeface="Times New Roman" panose="02020603050405020304" pitchFamily="18" charset="0"/>
                <a:cs typeface="Times New Roman" panose="02020603050405020304" pitchFamily="18" charset="0"/>
              </a:rPr>
              <a:t>k</a:t>
            </a:r>
            <a:r>
              <a:rPr lang="en-US" altLang="zh-CN" b="1" i="1" baseline="-25000"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d</a:t>
            </a:r>
            <a:r>
              <a:rPr lang="en-US" altLang="zh-CN" b="1" i="1" baseline="-25000" dirty="0" err="1">
                <a:latin typeface="Times New Roman" panose="02020603050405020304" pitchFamily="18" charset="0"/>
                <a:cs typeface="Times New Roman" panose="02020603050405020304" pitchFamily="18" charset="0"/>
              </a:rPr>
              <a:t>k</a:t>
            </a:r>
            <a:r>
              <a:rPr lang="en-US" altLang="zh-CN" b="1" i="1" baseline="-25000" dirty="0">
                <a:latin typeface="Times New Roman" panose="02020603050405020304" pitchFamily="18" charset="0"/>
                <a:cs typeface="Times New Roman" panose="02020603050405020304" pitchFamily="18" charset="0"/>
              </a:rPr>
              <a:t> +1</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d</a:t>
            </a:r>
            <a:r>
              <a:rPr lang="en-US" altLang="zh-CN" b="1" i="1" baseline="-25000" dirty="0" err="1">
                <a:latin typeface="Times New Roman" panose="02020603050405020304" pitchFamily="18" charset="0"/>
                <a:cs typeface="Times New Roman" panose="02020603050405020304" pitchFamily="18" charset="0"/>
              </a:rPr>
              <a:t>n</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m</a:t>
            </a:r>
            <a:r>
              <a:rPr lang="en-US" altLang="zh-CN" b="1"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d</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Courier New" panose="02070309020205020404" pitchFamily="49" charset="0"/>
            </a:endParaRPr>
          </a:p>
        </p:txBody>
      </p:sp>
      <p:sp>
        <p:nvSpPr>
          <p:cNvPr id="16" name="矩形 15"/>
          <p:cNvSpPr/>
          <p:nvPr/>
        </p:nvSpPr>
        <p:spPr>
          <a:xfrm>
            <a:off x="1661021" y="2745213"/>
            <a:ext cx="1954381" cy="363176"/>
          </a:xfrm>
          <a:prstGeom prst="rect">
            <a:avLst/>
          </a:prstGeom>
        </p:spPr>
        <p:txBody>
          <a:bodyPr wrap="none">
            <a:spAutoFit/>
          </a:bodyPr>
          <a:lstStyle/>
          <a:p>
            <a:pPr algn="just" eaLnBrk="1" hangingPunct="1">
              <a:lnSpc>
                <a:spcPct val="110000"/>
              </a:lnSpc>
            </a:pP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x</a:t>
            </a:r>
            <a:r>
              <a:rPr lang="en-US" altLang="zh-CN" sz="1600" i="1" baseline="-25000" dirty="0" smtClean="0">
                <a:latin typeface="Times New Roman" panose="02020603050405020304" pitchFamily="18" charset="0"/>
                <a:cs typeface="Times New Roman" panose="02020603050405020304" pitchFamily="18" charset="0"/>
              </a:rPr>
              <a:t>1 </a:t>
            </a:r>
            <a:r>
              <a:rPr lang="zh-CN" altLang="en-US"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min</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6</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 s</a:t>
            </a:r>
            <a:r>
              <a:rPr lang="en-US" altLang="zh-CN" sz="1600" i="1" baseline="-25000" dirty="0" smtClean="0">
                <a:latin typeface="Times New Roman" panose="02020603050405020304" pitchFamily="18" charset="0"/>
                <a:cs typeface="Times New Roman" panose="02020603050405020304" pitchFamily="18" charset="0"/>
              </a:rPr>
              <a:t>1</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d</a:t>
            </a:r>
            <a:r>
              <a:rPr lang="en-US" altLang="zh-CN" sz="1600" i="1" baseline="-25000" dirty="0" smtClean="0">
                <a:latin typeface="Times New Roman" panose="02020603050405020304" pitchFamily="18" charset="0"/>
                <a:cs typeface="Times New Roman" panose="02020603050405020304" pitchFamily="18" charset="0"/>
              </a:rPr>
              <a:t>1</a:t>
            </a:r>
            <a:r>
              <a:rPr lang="en-US" altLang="zh-CN" sz="1600" dirty="0" smtClean="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Courier New" panose="02070309020205020404" pitchFamily="49" charset="0"/>
            </a:endParaRPr>
          </a:p>
        </p:txBody>
      </p:sp>
      <p:sp>
        <p:nvSpPr>
          <p:cNvPr id="26" name="矩形 25"/>
          <p:cNvSpPr/>
          <p:nvPr/>
        </p:nvSpPr>
        <p:spPr>
          <a:xfrm>
            <a:off x="1667885" y="2389310"/>
            <a:ext cx="3187091" cy="363176"/>
          </a:xfrm>
          <a:prstGeom prst="rect">
            <a:avLst/>
          </a:prstGeom>
        </p:spPr>
        <p:txBody>
          <a:bodyPr wrap="none">
            <a:spAutoFit/>
          </a:bodyPr>
          <a:lstStyle/>
          <a:p>
            <a:pPr algn="just" eaLnBrk="1" hangingPunct="1">
              <a:lnSpc>
                <a:spcPct val="110000"/>
              </a:lnSpc>
            </a:pP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s</a:t>
            </a:r>
            <a:r>
              <a:rPr lang="en-US" altLang="zh-CN" sz="1600" i="1" baseline="-25000" dirty="0" smtClean="0">
                <a:latin typeface="Times New Roman" panose="02020603050405020304" pitchFamily="18" charset="0"/>
                <a:cs typeface="Times New Roman" panose="02020603050405020304" pitchFamily="18" charset="0"/>
              </a:rPr>
              <a:t>1 </a:t>
            </a:r>
            <a:r>
              <a:rPr lang="zh-CN" altLang="en-US"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min</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d</a:t>
            </a:r>
            <a:r>
              <a:rPr lang="en-US" altLang="zh-CN" sz="1600" i="1" baseline="-25000" dirty="0" smtClean="0">
                <a:latin typeface="Times New Roman" panose="02020603050405020304" pitchFamily="18" charset="0"/>
                <a:cs typeface="Times New Roman" panose="02020603050405020304" pitchFamily="18" charset="0"/>
              </a:rPr>
              <a:t>1 </a:t>
            </a:r>
            <a:r>
              <a:rPr lang="en-US" altLang="zh-CN"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d</a:t>
            </a:r>
            <a:r>
              <a:rPr lang="en-US" altLang="zh-CN" sz="1600" i="1" baseline="-25000" dirty="0" smtClean="0">
                <a:latin typeface="Times New Roman" panose="02020603050405020304" pitchFamily="18" charset="0"/>
                <a:cs typeface="Times New Roman" panose="02020603050405020304" pitchFamily="18" charset="0"/>
              </a:rPr>
              <a:t>2</a:t>
            </a:r>
            <a:r>
              <a:rPr lang="en-US" altLang="zh-CN" sz="1600" dirty="0" smtClean="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d</a:t>
            </a:r>
            <a:r>
              <a:rPr lang="en-US" altLang="zh-CN" sz="1600" i="1" baseline="-25000" dirty="0" smtClean="0">
                <a:latin typeface="Times New Roman" panose="02020603050405020304" pitchFamily="18" charset="0"/>
                <a:cs typeface="Times New Roman" panose="02020603050405020304" pitchFamily="18" charset="0"/>
              </a:rPr>
              <a:t>3 </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 d</a:t>
            </a:r>
            <a:r>
              <a:rPr lang="en-US" altLang="zh-CN" sz="1600" i="1" baseline="-25000" dirty="0" smtClean="0">
                <a:latin typeface="Times New Roman" panose="02020603050405020304" pitchFamily="18" charset="0"/>
                <a:cs typeface="Times New Roman" panose="02020603050405020304" pitchFamily="18" charset="0"/>
              </a:rPr>
              <a:t>4</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 6</a:t>
            </a:r>
            <a:r>
              <a:rPr lang="en-US" altLang="zh-CN" sz="1600" dirty="0" smtClean="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d</a:t>
            </a:r>
            <a:r>
              <a:rPr lang="en-US" altLang="zh-CN" sz="1600" i="1" baseline="-25000" dirty="0" smtClean="0">
                <a:latin typeface="Times New Roman" panose="02020603050405020304" pitchFamily="18" charset="0"/>
                <a:cs typeface="Times New Roman" panose="02020603050405020304" pitchFamily="18" charset="0"/>
              </a:rPr>
              <a:t>1</a:t>
            </a:r>
            <a:r>
              <a:rPr lang="en-US" altLang="zh-CN" sz="1600" dirty="0" smtClean="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Courier New" panose="02070309020205020404" pitchFamily="49" charset="0"/>
            </a:endParaRPr>
          </a:p>
        </p:txBody>
      </p:sp>
      <p:sp>
        <p:nvSpPr>
          <p:cNvPr id="3" name="矩形 2"/>
          <p:cNvSpPr/>
          <p:nvPr/>
        </p:nvSpPr>
        <p:spPr>
          <a:xfrm>
            <a:off x="5626653" y="2389310"/>
            <a:ext cx="899605" cy="363176"/>
          </a:xfrm>
          <a:prstGeom prst="rect">
            <a:avLst/>
          </a:prstGeom>
        </p:spPr>
        <p:txBody>
          <a:bodyPr wrap="none">
            <a:spAutoFit/>
          </a:bodyPr>
          <a:lstStyle/>
          <a:p>
            <a:pPr algn="just" eaLnBrk="1" hangingPunct="1">
              <a:lnSpc>
                <a:spcPct val="110000"/>
              </a:lnSpc>
            </a:pP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altLang="zh-CN" sz="1600" i="1" dirty="0">
                <a:latin typeface="Times New Roman" panose="02020603050405020304" pitchFamily="18" charset="0"/>
                <a:cs typeface="Times New Roman" panose="02020603050405020304" pitchFamily="18" charset="0"/>
              </a:rPr>
              <a:t>s</a:t>
            </a:r>
            <a:r>
              <a:rPr lang="en-US" altLang="zh-CN" sz="1600" i="1" baseline="-25000" dirty="0">
                <a:latin typeface="Times New Roman" panose="02020603050405020304" pitchFamily="18" charset="0"/>
                <a:cs typeface="Times New Roman" panose="02020603050405020304" pitchFamily="18" charset="0"/>
              </a:rPr>
              <a:t>1 </a:t>
            </a:r>
            <a:r>
              <a:rPr lang="zh-CN" altLang="en-US"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4</a:t>
            </a:r>
            <a:endParaRPr lang="zh-CN" altLang="en-US" sz="1600" dirty="0">
              <a:latin typeface="Times New Roman" panose="02020603050405020304" pitchFamily="18" charset="0"/>
              <a:cs typeface="Courier New" panose="02070309020205020404" pitchFamily="49" charset="0"/>
            </a:endParaRPr>
          </a:p>
        </p:txBody>
      </p:sp>
      <p:sp>
        <p:nvSpPr>
          <p:cNvPr id="27" name="矩形 26"/>
          <p:cNvSpPr/>
          <p:nvPr/>
        </p:nvSpPr>
        <p:spPr>
          <a:xfrm>
            <a:off x="5626653" y="2745213"/>
            <a:ext cx="1885453" cy="363176"/>
          </a:xfrm>
          <a:prstGeom prst="rect">
            <a:avLst/>
          </a:prstGeom>
        </p:spPr>
        <p:txBody>
          <a:bodyPr wrap="none">
            <a:spAutoFit/>
          </a:bodyPr>
          <a:lstStyle/>
          <a:p>
            <a:pPr algn="just" eaLnBrk="1" hangingPunct="1">
              <a:lnSpc>
                <a:spcPct val="110000"/>
              </a:lnSpc>
            </a:pP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x</a:t>
            </a:r>
            <a:r>
              <a:rPr lang="en-US" altLang="zh-CN" sz="1600" i="1" baseline="-25000" dirty="0" smtClean="0">
                <a:latin typeface="Times New Roman" panose="02020603050405020304" pitchFamily="18" charset="0"/>
                <a:cs typeface="Times New Roman" panose="02020603050405020304" pitchFamily="18" charset="0"/>
              </a:rPr>
              <a:t>1 </a:t>
            </a:r>
            <a:r>
              <a:rPr lang="zh-CN" altLang="en-US"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min</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6</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 s</a:t>
            </a:r>
            <a:r>
              <a:rPr lang="en-US" altLang="zh-CN" sz="1600" i="1" baseline="-25000" dirty="0" smtClean="0">
                <a:latin typeface="Times New Roman" panose="02020603050405020304" pitchFamily="18" charset="0"/>
                <a:cs typeface="Times New Roman" panose="02020603050405020304" pitchFamily="18" charset="0"/>
              </a:rPr>
              <a:t>1</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2</a:t>
            </a:r>
            <a:r>
              <a:rPr lang="en-US" altLang="zh-CN" sz="1600" dirty="0" smtClean="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Courier New" panose="02070309020205020404" pitchFamily="49" charset="0"/>
            </a:endParaRPr>
          </a:p>
        </p:txBody>
      </p:sp>
      <mc:AlternateContent xmlns:mc="http://schemas.openxmlformats.org/markup-compatibility/2006" xmlns:a14="http://schemas.microsoft.com/office/drawing/2010/main">
        <mc:Choice Requires="a14">
          <p:graphicFrame>
            <p:nvGraphicFramePr>
              <p:cNvPr id="18" name="表格 17"/>
              <p:cNvGraphicFramePr>
                <a:graphicFrameLocks noGrp="1"/>
              </p:cNvGraphicFramePr>
              <p:nvPr>
                <p:extLst>
                  <p:ext uri="{D42A27DB-BD31-4B8C-83A1-F6EECF244321}">
                    <p14:modId xmlns:p14="http://schemas.microsoft.com/office/powerpoint/2010/main" val="3443696893"/>
                  </p:ext>
                </p:extLst>
              </p:nvPr>
            </p:nvGraphicFramePr>
            <p:xfrm>
              <a:off x="521890" y="3789187"/>
              <a:ext cx="8456093" cy="2367712"/>
            </p:xfrm>
            <a:graphic>
              <a:graphicData uri="http://schemas.openxmlformats.org/drawingml/2006/table">
                <a:tbl>
                  <a:tblPr firstRow="1" bandRow="1">
                    <a:tableStyleId>{5C22544A-7EE6-4342-B048-85BDC9FD1C3A}</a:tableStyleId>
                  </a:tblPr>
                  <a:tblGrid>
                    <a:gridCol w="466979">
                      <a:extLst>
                        <a:ext uri="{9D8B030D-6E8A-4147-A177-3AD203B41FA5}">
                          <a16:colId xmlns:a16="http://schemas.microsoft.com/office/drawing/2014/main" val="1816936163"/>
                        </a:ext>
                      </a:extLst>
                    </a:gridCol>
                    <a:gridCol w="487617">
                      <a:extLst>
                        <a:ext uri="{9D8B030D-6E8A-4147-A177-3AD203B41FA5}">
                          <a16:colId xmlns:a16="http://schemas.microsoft.com/office/drawing/2014/main" val="1250546864"/>
                        </a:ext>
                      </a:extLst>
                    </a:gridCol>
                    <a:gridCol w="470154">
                      <a:extLst>
                        <a:ext uri="{9D8B030D-6E8A-4147-A177-3AD203B41FA5}">
                          <a16:colId xmlns:a16="http://schemas.microsoft.com/office/drawing/2014/main" val="1869782824"/>
                        </a:ext>
                      </a:extLst>
                    </a:gridCol>
                    <a:gridCol w="2751582">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663436">
                      <a:extLst>
                        <a:ext uri="{9D8B030D-6E8A-4147-A177-3AD203B41FA5}">
                          <a16:colId xmlns:a16="http://schemas.microsoft.com/office/drawing/2014/main" val="2765978471"/>
                        </a:ext>
                      </a:extLst>
                    </a:gridCol>
                  </a:tblGrid>
                  <a:tr h="538912">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1" i="1" smtClean="0">
                                        <a:latin typeface="Cambria Math" panose="02040503050406030204" pitchFamily="18" charset="0"/>
                                      </a:rPr>
                                      <m:t>𝒔</m:t>
                                    </m:r>
                                  </m:e>
                                  <m:sub>
                                    <m:r>
                                      <a:rPr lang="en-US" altLang="zh-CN" sz="1800" b="0" i="1" smtClean="0">
                                        <a:latin typeface="Cambria Math" panose="02040503050406030204" pitchFamily="18" charset="0"/>
                                      </a:rPr>
                                      <m:t>1</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1" i="1" smtClean="0">
                                        <a:latin typeface="Cambria Math" panose="02040503050406030204" pitchFamily="18" charset="0"/>
                                      </a:rPr>
                                      <m:t>𝒙</m:t>
                                    </m:r>
                                  </m:e>
                                  <m:sub>
                                    <m:r>
                                      <a:rPr lang="en-US" altLang="zh-CN" sz="1800" b="1" i="1" smtClean="0">
                                        <a:latin typeface="Cambria Math" panose="02040503050406030204" pitchFamily="18" charset="0"/>
                                      </a:rPr>
                                      <m:t>𝟏</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1" i="1" smtClean="0">
                                        <a:latin typeface="Cambria Math" panose="02040503050406030204" pitchFamily="18" charset="0"/>
                                      </a:rPr>
                                      <m:t>𝒔</m:t>
                                    </m:r>
                                  </m:e>
                                  <m:sub>
                                    <m:r>
                                      <a:rPr lang="en-US" altLang="zh-CN" sz="1800" b="1" i="1" smtClean="0">
                                        <a:latin typeface="Cambria Math" panose="02040503050406030204" pitchFamily="18" charset="0"/>
                                      </a:rPr>
                                      <m:t>𝟎</m:t>
                                    </m:r>
                                  </m:sub>
                                </m:sSub>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𝟏</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𝟏</m:t>
                                      </m:r>
                                    </m:sub>
                                  </m:sSub>
                                </m:e>
                              </m:d>
                              <m:r>
                                <a:rPr lang="en-US" altLang="zh-CN" sz="1800" b="1" i="1" smtClean="0">
                                  <a:latin typeface="Cambria Math" panose="02040503050406030204" pitchFamily="18" charset="0"/>
                                </a:rPr>
                                <m:t>=</m:t>
                              </m:r>
                            </m:oMath>
                          </a14:m>
                          <a:r>
                            <a:rPr lang="en-US" altLang="zh-CN" b="1" i="1" dirty="0" smtClean="0">
                              <a:latin typeface="Times New Roman" panose="02020603050405020304" pitchFamily="18" charset="0"/>
                              <a:cs typeface="Times New Roman" panose="02020603050405020304" pitchFamily="18" charset="0"/>
                            </a:rPr>
                            <a:t>c</a:t>
                          </a:r>
                          <a:r>
                            <a:rPr lang="en-US" altLang="zh-CN" b="1" i="1" baseline="-25000" dirty="0" smtClean="0">
                              <a:latin typeface="Times New Roman" panose="02020603050405020304" pitchFamily="18" charset="0"/>
                              <a:cs typeface="Times New Roman" panose="02020603050405020304" pitchFamily="18" charset="0"/>
                            </a:rPr>
                            <a:t>1 </a:t>
                          </a:r>
                          <a:r>
                            <a:rPr lang="en-US" altLang="zh-CN" b="1" dirty="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x</a:t>
                          </a:r>
                          <a:r>
                            <a:rPr lang="en-US" altLang="zh-CN" b="1" i="1" baseline="-25000" dirty="0" smtClean="0">
                              <a:latin typeface="Times New Roman" panose="02020603050405020304" pitchFamily="18" charset="0"/>
                              <a:cs typeface="Times New Roman" panose="02020603050405020304" pitchFamily="18" charset="0"/>
                            </a:rPr>
                            <a:t>1</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 h</a:t>
                          </a:r>
                          <a:r>
                            <a:rPr lang="en-US" altLang="zh-CN" b="1" i="1" baseline="-25000" dirty="0" smtClean="0">
                              <a:latin typeface="Times New Roman" panose="02020603050405020304" pitchFamily="18" charset="0"/>
                              <a:cs typeface="Times New Roman" panose="02020603050405020304" pitchFamily="18" charset="0"/>
                            </a:rPr>
                            <a:t>1</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1</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 </a:t>
                          </a:r>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𝟎</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𝟎</m:t>
                                        </m:r>
                                      </m:sub>
                                    </m:sSub>
                                  </m:e>
                                </m:d>
                              </m:oMath>
                            </m:oMathPara>
                          </a14:m>
                          <a:endParaRPr lang="zh-CN" altLang="en-US" dirty="0"/>
                        </a:p>
                      </a:txBody>
                      <a:tcPr/>
                    </a:tc>
                    <a:tc>
                      <a:txBody>
                        <a:bodyPr/>
                        <a:lstStyle/>
                        <a:p>
                          <a14:m>
                            <m:oMath xmlns:m="http://schemas.openxmlformats.org/officeDocument/2006/math">
                              <m:sSub>
                                <m:sSubPr>
                                  <m:ctrlPr>
                                    <a:rPr lang="en-US" altLang="zh-CN" sz="1800" i="1" smtClean="0">
                                      <a:latin typeface="Cambria Math" panose="02040503050406030204" pitchFamily="18" charset="0"/>
                                    </a:rPr>
                                  </m:ctrlPr>
                                </m:sSubPr>
                                <m:e>
                                  <m:r>
                                    <a:rPr lang="en-US" altLang="zh-CN" sz="1800" i="1">
                                      <a:latin typeface="Cambria Math" panose="02040503050406030204" pitchFamily="18" charset="0"/>
                                    </a:rPr>
                                    <m:t>𝑣</m:t>
                                  </m:r>
                                </m:e>
                                <m:sub>
                                  <m:r>
                                    <a:rPr lang="en-US" altLang="zh-CN" sz="1800" b="1" i="1" smtClean="0">
                                      <a:latin typeface="Cambria Math" panose="02040503050406030204" pitchFamily="18" charset="0"/>
                                    </a:rPr>
                                    <m:t>𝟏</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𝟏</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1" i="1" smtClean="0">
                                          <a:latin typeface="Cambria Math" panose="02040503050406030204" pitchFamily="18" charset="0"/>
                                        </a:rPr>
                                        <m:t>𝟏</m:t>
                                      </m:r>
                                    </m:sub>
                                  </m:sSub>
                                </m:e>
                              </m:d>
                            </m:oMath>
                          </a14:m>
                          <a:r>
                            <a:rPr lang="en-US" altLang="zh-CN" dirty="0" smtClean="0"/>
                            <a:t>+</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𝟎</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𝟎</m:t>
                                      </m:r>
                                    </m:sub>
                                  </m:sSub>
                                </m:e>
                              </m:d>
                            </m:oMath>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𝑓</m:t>
                                    </m:r>
                                  </m:e>
                                  <m:sub>
                                    <m:r>
                                      <a:rPr lang="en-US" altLang="zh-CN" sz="1800" b="1" i="1" smtClean="0">
                                        <a:latin typeface="Cambria Math" panose="02040503050406030204" pitchFamily="18" charset="0"/>
                                      </a:rPr>
                                      <m:t>𝟏</m:t>
                                    </m:r>
                                  </m:sub>
                                </m:sSub>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b="1" i="1" smtClean="0">
                                            <a:latin typeface="Cambria Math" panose="02040503050406030204" pitchFamily="18" charset="0"/>
                                          </a:rPr>
                                          <m:t>𝟏</m:t>
                                        </m:r>
                                      </m:sub>
                                    </m:sSub>
                                  </m:e>
                                </m:d>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up>
                                    <m:r>
                                      <a:rPr lang="en-US" altLang="zh-CN" b="1" i="1" smtClean="0">
                                        <a:latin typeface="Cambria Math" panose="02040503050406030204" pitchFamily="18" charset="0"/>
                                      </a:rPr>
                                      <m:t>∗</m:t>
                                    </m:r>
                                  </m:sup>
                                </m:sSubSup>
                              </m:oMath>
                            </m:oMathPara>
                          </a14:m>
                          <a:endParaRPr lang="zh-CN" altLang="en-US" dirty="0"/>
                        </a:p>
                      </a:txBody>
                      <a:tcPr/>
                    </a:tc>
                    <a:extLst>
                      <a:ext uri="{0D108BD9-81ED-4DB2-BD59-A6C34878D82A}">
                        <a16:rowId xmlns:a16="http://schemas.microsoft.com/office/drawing/2014/main" val="37799757"/>
                      </a:ext>
                    </a:extLst>
                  </a:tr>
                  <a:tr h="307950">
                    <a:tc>
                      <a:txBody>
                        <a:bodyPr/>
                        <a:lstStyle/>
                        <a:p>
                          <a:r>
                            <a:rPr lang="en-US" altLang="zh-CN" dirty="0" smtClean="0"/>
                            <a:t>0</a:t>
                          </a:r>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3+2+0=5</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2</a:t>
                          </a:r>
                          <a:endParaRPr lang="zh-CN" altLang="en-US" dirty="0"/>
                        </a:p>
                      </a:txBody>
                      <a:tcPr/>
                    </a:tc>
                    <a:extLst>
                      <a:ext uri="{0D108BD9-81ED-4DB2-BD59-A6C34878D82A}">
                        <a16:rowId xmlns:a16="http://schemas.microsoft.com/office/drawing/2014/main" val="3736361684"/>
                      </a:ext>
                    </a:extLst>
                  </a:tr>
                  <a:tr h="307950">
                    <a:tc>
                      <a:txBody>
                        <a:bodyPr/>
                        <a:lstStyle/>
                        <a:p>
                          <a:r>
                            <a:rPr lang="en-US" altLang="zh-CN" dirty="0" smtClean="0"/>
                            <a:t>1</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3+3+1*0.5=6.5</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6.5</a:t>
                          </a:r>
                          <a:endParaRPr lang="zh-CN" altLang="en-US" dirty="0"/>
                        </a:p>
                      </a:txBody>
                      <a:tcPr/>
                    </a:tc>
                    <a:tc>
                      <a:txBody>
                        <a:bodyPr/>
                        <a:lstStyle/>
                        <a:p>
                          <a:r>
                            <a:rPr lang="en-US" altLang="zh-CN" dirty="0" smtClean="0"/>
                            <a:t>6.5</a:t>
                          </a:r>
                          <a:endParaRPr lang="zh-CN" altLang="en-US" dirty="0"/>
                        </a:p>
                      </a:txBody>
                      <a:tcPr/>
                    </a:tc>
                    <a:tc>
                      <a:txBody>
                        <a:bodyPr/>
                        <a:lstStyle/>
                        <a:p>
                          <a:r>
                            <a:rPr lang="en-US" altLang="zh-CN" dirty="0" smtClean="0"/>
                            <a:t>3</a:t>
                          </a:r>
                          <a:endParaRPr lang="zh-CN" altLang="en-US" dirty="0"/>
                        </a:p>
                      </a:txBody>
                      <a:tcPr/>
                    </a:tc>
                    <a:extLst>
                      <a:ext uri="{0D108BD9-81ED-4DB2-BD59-A6C34878D82A}">
                        <a16:rowId xmlns:a16="http://schemas.microsoft.com/office/drawing/2014/main" val="3643722671"/>
                      </a:ext>
                    </a:extLst>
                  </a:tr>
                  <a:tr h="307950">
                    <a:tc>
                      <a:txBody>
                        <a:bodyPr/>
                        <a:lstStyle/>
                        <a:p>
                          <a:r>
                            <a:rPr lang="en-US" altLang="zh-CN" dirty="0" smtClean="0"/>
                            <a:t>2</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0</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3+5+2*0.5=8</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4</a:t>
                          </a:r>
                          <a:endParaRPr lang="zh-CN" altLang="en-US" dirty="0"/>
                        </a:p>
                      </a:txBody>
                      <a:tcPr/>
                    </a:tc>
                    <a:extLst>
                      <a:ext uri="{0D108BD9-81ED-4DB2-BD59-A6C34878D82A}">
                        <a16:rowId xmlns:a16="http://schemas.microsoft.com/office/drawing/2014/main" val="1490189046"/>
                      </a:ext>
                    </a:extLst>
                  </a:tr>
                  <a:tr h="307950">
                    <a:tc>
                      <a:txBody>
                        <a:bodyPr/>
                        <a:lstStyle/>
                        <a:p>
                          <a:r>
                            <a:rPr lang="en-US" altLang="zh-CN" dirty="0" smtClean="0"/>
                            <a:t>3</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0</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3+5+3*0.5=9.5</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9.5</a:t>
                          </a:r>
                          <a:endParaRPr lang="zh-CN" altLang="en-US" dirty="0"/>
                        </a:p>
                      </a:txBody>
                      <a:tcPr/>
                    </a:tc>
                    <a:tc>
                      <a:txBody>
                        <a:bodyPr/>
                        <a:lstStyle/>
                        <a:p>
                          <a:r>
                            <a:rPr lang="en-US" altLang="zh-CN" dirty="0" smtClean="0"/>
                            <a:t>9.5</a:t>
                          </a:r>
                          <a:endParaRPr lang="zh-CN" altLang="en-US" dirty="0"/>
                        </a:p>
                      </a:txBody>
                      <a:tcPr/>
                    </a:tc>
                    <a:tc>
                      <a:txBody>
                        <a:bodyPr/>
                        <a:lstStyle/>
                        <a:p>
                          <a:r>
                            <a:rPr lang="en-US" altLang="zh-CN" dirty="0" smtClean="0"/>
                            <a:t>5</a:t>
                          </a:r>
                          <a:endParaRPr lang="zh-CN" altLang="en-US" dirty="0"/>
                        </a:p>
                      </a:txBody>
                      <a:tcPr/>
                    </a:tc>
                    <a:extLst>
                      <a:ext uri="{0D108BD9-81ED-4DB2-BD59-A6C34878D82A}">
                        <a16:rowId xmlns:a16="http://schemas.microsoft.com/office/drawing/2014/main" val="212023833"/>
                      </a:ext>
                    </a:extLst>
                  </a:tr>
                  <a:tr h="307950">
                    <a:tc>
                      <a:txBody>
                        <a:bodyPr/>
                        <a:lstStyle/>
                        <a:p>
                          <a:r>
                            <a:rPr lang="en-US" altLang="zh-CN" dirty="0" smtClean="0"/>
                            <a:t>4</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6</a:t>
                          </a:r>
                          <a:endParaRPr lang="zh-CN" altLang="en-US" dirty="0"/>
                        </a:p>
                      </a:txBody>
                      <a:tcPr/>
                    </a:tc>
                    <a:tc>
                      <a:txBody>
                        <a:bodyPr/>
                        <a:lstStyle/>
                        <a:p>
                          <a:r>
                            <a:rPr lang="en-US" altLang="zh-CN" dirty="0" smtClean="0"/>
                            <a:t>0</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3+6+4*0.5=11</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11</a:t>
                          </a:r>
                          <a:endParaRPr lang="zh-CN" altLang="en-US" dirty="0"/>
                        </a:p>
                      </a:txBody>
                      <a:tcPr/>
                    </a:tc>
                    <a:tc>
                      <a:txBody>
                        <a:bodyPr/>
                        <a:lstStyle/>
                        <a:p>
                          <a:r>
                            <a:rPr lang="en-US" altLang="zh-CN" dirty="0" smtClean="0"/>
                            <a:t>11</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6</a:t>
                          </a:r>
                          <a:endParaRPr lang="zh-CN" altLang="en-US" dirty="0"/>
                        </a:p>
                      </a:txBody>
                      <a:tcPr/>
                    </a:tc>
                    <a:extLst>
                      <a:ext uri="{0D108BD9-81ED-4DB2-BD59-A6C34878D82A}">
                        <a16:rowId xmlns:a16="http://schemas.microsoft.com/office/drawing/2014/main" val="1091311635"/>
                      </a:ext>
                    </a:extLst>
                  </a:tr>
                </a:tbl>
              </a:graphicData>
            </a:graphic>
          </p:graphicFrame>
        </mc:Choice>
        <mc:Fallback xmlns="">
          <p:graphicFrame>
            <p:nvGraphicFramePr>
              <p:cNvPr id="18" name="表格 17"/>
              <p:cNvGraphicFramePr>
                <a:graphicFrameLocks noGrp="1"/>
              </p:cNvGraphicFramePr>
              <p:nvPr>
                <p:extLst>
                  <p:ext uri="{D42A27DB-BD31-4B8C-83A1-F6EECF244321}">
                    <p14:modId xmlns:p14="http://schemas.microsoft.com/office/powerpoint/2010/main" val="3443696893"/>
                  </p:ext>
                </p:extLst>
              </p:nvPr>
            </p:nvGraphicFramePr>
            <p:xfrm>
              <a:off x="521890" y="3789187"/>
              <a:ext cx="8456093" cy="2367712"/>
            </p:xfrm>
            <a:graphic>
              <a:graphicData uri="http://schemas.openxmlformats.org/drawingml/2006/table">
                <a:tbl>
                  <a:tblPr firstRow="1" bandRow="1">
                    <a:tableStyleId>{5C22544A-7EE6-4342-B048-85BDC9FD1C3A}</a:tableStyleId>
                  </a:tblPr>
                  <a:tblGrid>
                    <a:gridCol w="466979">
                      <a:extLst>
                        <a:ext uri="{9D8B030D-6E8A-4147-A177-3AD203B41FA5}">
                          <a16:colId xmlns:a16="http://schemas.microsoft.com/office/drawing/2014/main" val="1816936163"/>
                        </a:ext>
                      </a:extLst>
                    </a:gridCol>
                    <a:gridCol w="487617">
                      <a:extLst>
                        <a:ext uri="{9D8B030D-6E8A-4147-A177-3AD203B41FA5}">
                          <a16:colId xmlns:a16="http://schemas.microsoft.com/office/drawing/2014/main" val="1250546864"/>
                        </a:ext>
                      </a:extLst>
                    </a:gridCol>
                    <a:gridCol w="470154">
                      <a:extLst>
                        <a:ext uri="{9D8B030D-6E8A-4147-A177-3AD203B41FA5}">
                          <a16:colId xmlns:a16="http://schemas.microsoft.com/office/drawing/2014/main" val="1869782824"/>
                        </a:ext>
                      </a:extLst>
                    </a:gridCol>
                    <a:gridCol w="2751582">
                      <a:extLst>
                        <a:ext uri="{9D8B030D-6E8A-4147-A177-3AD203B41FA5}">
                          <a16:colId xmlns:a16="http://schemas.microsoft.com/office/drawing/2014/main" val="3148481169"/>
                        </a:ext>
                      </a:extLst>
                    </a:gridCol>
                    <a:gridCol w="845566">
                      <a:extLst>
                        <a:ext uri="{9D8B030D-6E8A-4147-A177-3AD203B41FA5}">
                          <a16:colId xmlns:a16="http://schemas.microsoft.com/office/drawing/2014/main" val="644265878"/>
                        </a:ext>
                      </a:extLst>
                    </a:gridCol>
                    <a:gridCol w="1925193">
                      <a:extLst>
                        <a:ext uri="{9D8B030D-6E8A-4147-A177-3AD203B41FA5}">
                          <a16:colId xmlns:a16="http://schemas.microsoft.com/office/drawing/2014/main" val="938889560"/>
                        </a:ext>
                      </a:extLst>
                    </a:gridCol>
                    <a:gridCol w="845566">
                      <a:extLst>
                        <a:ext uri="{9D8B030D-6E8A-4147-A177-3AD203B41FA5}">
                          <a16:colId xmlns:a16="http://schemas.microsoft.com/office/drawing/2014/main" val="1613744912"/>
                        </a:ext>
                      </a:extLst>
                    </a:gridCol>
                    <a:gridCol w="663436">
                      <a:extLst>
                        <a:ext uri="{9D8B030D-6E8A-4147-A177-3AD203B41FA5}">
                          <a16:colId xmlns:a16="http://schemas.microsoft.com/office/drawing/2014/main" val="2765978471"/>
                        </a:ext>
                      </a:extLst>
                    </a:gridCol>
                  </a:tblGrid>
                  <a:tr h="538912">
                    <a:tc>
                      <a:txBody>
                        <a:bodyPr/>
                        <a:lstStyle/>
                        <a:p>
                          <a:endParaRPr lang="zh-CN"/>
                        </a:p>
                      </a:txBody>
                      <a:tcPr>
                        <a:blipFill>
                          <a:blip r:embed="rId2"/>
                          <a:stretch>
                            <a:fillRect l="-1299" t="-5618" r="-1707792" b="-355056"/>
                          </a:stretch>
                        </a:blipFill>
                      </a:tcPr>
                    </a:tc>
                    <a:tc>
                      <a:txBody>
                        <a:bodyPr/>
                        <a:lstStyle/>
                        <a:p>
                          <a:endParaRPr lang="zh-CN"/>
                        </a:p>
                      </a:txBody>
                      <a:tcPr>
                        <a:blipFill>
                          <a:blip r:embed="rId2"/>
                          <a:stretch>
                            <a:fillRect l="-97500" t="-5618" r="-1543750" b="-355056"/>
                          </a:stretch>
                        </a:blipFill>
                      </a:tcPr>
                    </a:tc>
                    <a:tc>
                      <a:txBody>
                        <a:bodyPr/>
                        <a:lstStyle/>
                        <a:p>
                          <a:endParaRPr lang="zh-CN"/>
                        </a:p>
                      </a:txBody>
                      <a:tcPr>
                        <a:blipFill>
                          <a:blip r:embed="rId2"/>
                          <a:stretch>
                            <a:fillRect l="-205195" t="-5618" r="-1503896" b="-355056"/>
                          </a:stretch>
                        </a:blipFill>
                      </a:tcPr>
                    </a:tc>
                    <a:tc>
                      <a:txBody>
                        <a:bodyPr/>
                        <a:lstStyle/>
                        <a:p>
                          <a:endParaRPr lang="zh-CN"/>
                        </a:p>
                      </a:txBody>
                      <a:tcPr>
                        <a:blipFill>
                          <a:blip r:embed="rId2"/>
                          <a:stretch>
                            <a:fillRect l="-51991" t="-5618" r="-156195" b="-355056"/>
                          </a:stretch>
                        </a:blipFill>
                      </a:tcPr>
                    </a:tc>
                    <a:tc>
                      <a:txBody>
                        <a:bodyPr/>
                        <a:lstStyle/>
                        <a:p>
                          <a:endParaRPr lang="zh-CN"/>
                        </a:p>
                      </a:txBody>
                      <a:tcPr>
                        <a:blipFill>
                          <a:blip r:embed="rId2"/>
                          <a:stretch>
                            <a:fillRect l="-497826" t="-5618" r="-411594" b="-355056"/>
                          </a:stretch>
                        </a:blipFill>
                      </a:tcPr>
                    </a:tc>
                    <a:tc>
                      <a:txBody>
                        <a:bodyPr/>
                        <a:lstStyle/>
                        <a:p>
                          <a:endParaRPr lang="zh-CN"/>
                        </a:p>
                      </a:txBody>
                      <a:tcPr>
                        <a:blipFill>
                          <a:blip r:embed="rId2"/>
                          <a:stretch>
                            <a:fillRect l="-261076" t="-5618" r="-79747" b="-355056"/>
                          </a:stretch>
                        </a:blipFill>
                      </a:tcPr>
                    </a:tc>
                    <a:tc>
                      <a:txBody>
                        <a:bodyPr/>
                        <a:lstStyle/>
                        <a:p>
                          <a:endParaRPr lang="zh-CN"/>
                        </a:p>
                      </a:txBody>
                      <a:tcPr>
                        <a:blipFill>
                          <a:blip r:embed="rId2"/>
                          <a:stretch>
                            <a:fillRect l="-820863" t="-5618" r="-81295" b="-355056"/>
                          </a:stretch>
                        </a:blipFill>
                      </a:tcPr>
                    </a:tc>
                    <a:tc>
                      <a:txBody>
                        <a:bodyPr/>
                        <a:lstStyle/>
                        <a:p>
                          <a:endParaRPr lang="zh-CN"/>
                        </a:p>
                      </a:txBody>
                      <a:tcPr>
                        <a:blipFill>
                          <a:blip r:embed="rId2"/>
                          <a:stretch>
                            <a:fillRect l="-1174312" t="-5618" r="-3670" b="-355056"/>
                          </a:stretch>
                        </a:blipFill>
                      </a:tcPr>
                    </a:tc>
                    <a:extLst>
                      <a:ext uri="{0D108BD9-81ED-4DB2-BD59-A6C34878D82A}">
                        <a16:rowId xmlns:a16="http://schemas.microsoft.com/office/drawing/2014/main" val="37799757"/>
                      </a:ext>
                    </a:extLst>
                  </a:tr>
                  <a:tr h="365760">
                    <a:tc>
                      <a:txBody>
                        <a:bodyPr/>
                        <a:lstStyle/>
                        <a:p>
                          <a:pPr/>
                          <a:r>
                            <a:rPr lang="en-US" altLang="zh-CN" dirty="0" smtClean="0"/>
                            <a:t>0</a:t>
                          </a:r>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3+2+0=5</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2</a:t>
                          </a:r>
                          <a:endParaRPr lang="zh-CN" altLang="en-US" dirty="0"/>
                        </a:p>
                      </a:txBody>
                      <a:tcPr/>
                    </a:tc>
                    <a:extLst>
                      <a:ext uri="{0D108BD9-81ED-4DB2-BD59-A6C34878D82A}">
                        <a16:rowId xmlns:a16="http://schemas.microsoft.com/office/drawing/2014/main" val="3736361684"/>
                      </a:ext>
                    </a:extLst>
                  </a:tr>
                  <a:tr h="365760">
                    <a:tc>
                      <a:txBody>
                        <a:bodyPr/>
                        <a:lstStyle/>
                        <a:p>
                          <a:pPr/>
                          <a:r>
                            <a:rPr lang="en-US" altLang="zh-CN" dirty="0" smtClean="0"/>
                            <a:t>1</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3+3+1*0.5=6.5</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6.5</a:t>
                          </a:r>
                          <a:endParaRPr lang="zh-CN" altLang="en-US" dirty="0"/>
                        </a:p>
                      </a:txBody>
                      <a:tcPr/>
                    </a:tc>
                    <a:tc>
                      <a:txBody>
                        <a:bodyPr/>
                        <a:lstStyle/>
                        <a:p>
                          <a:r>
                            <a:rPr lang="en-US" altLang="zh-CN" dirty="0" smtClean="0"/>
                            <a:t>6.5</a:t>
                          </a:r>
                          <a:endParaRPr lang="zh-CN" altLang="en-US" dirty="0"/>
                        </a:p>
                      </a:txBody>
                      <a:tcPr/>
                    </a:tc>
                    <a:tc>
                      <a:txBody>
                        <a:bodyPr/>
                        <a:lstStyle/>
                        <a:p>
                          <a:r>
                            <a:rPr lang="en-US" altLang="zh-CN" dirty="0" smtClean="0"/>
                            <a:t>3</a:t>
                          </a:r>
                          <a:endParaRPr lang="zh-CN" altLang="en-US" dirty="0"/>
                        </a:p>
                      </a:txBody>
                      <a:tcPr/>
                    </a:tc>
                    <a:extLst>
                      <a:ext uri="{0D108BD9-81ED-4DB2-BD59-A6C34878D82A}">
                        <a16:rowId xmlns:a16="http://schemas.microsoft.com/office/drawing/2014/main" val="3643722671"/>
                      </a:ext>
                    </a:extLst>
                  </a:tr>
                  <a:tr h="365760">
                    <a:tc>
                      <a:txBody>
                        <a:bodyPr/>
                        <a:lstStyle/>
                        <a:p>
                          <a:pPr/>
                          <a:r>
                            <a:rPr lang="en-US" altLang="zh-CN" dirty="0" smtClean="0"/>
                            <a:t>2</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0</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3+5+2*0.5=8</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4</a:t>
                          </a:r>
                          <a:endParaRPr lang="zh-CN" altLang="en-US" dirty="0"/>
                        </a:p>
                      </a:txBody>
                      <a:tcPr/>
                    </a:tc>
                    <a:extLst>
                      <a:ext uri="{0D108BD9-81ED-4DB2-BD59-A6C34878D82A}">
                        <a16:rowId xmlns:a16="http://schemas.microsoft.com/office/drawing/2014/main" val="1490189046"/>
                      </a:ext>
                    </a:extLst>
                  </a:tr>
                  <a:tr h="365760">
                    <a:tc>
                      <a:txBody>
                        <a:bodyPr/>
                        <a:lstStyle/>
                        <a:p>
                          <a:pPr/>
                          <a:r>
                            <a:rPr lang="en-US" altLang="zh-CN" dirty="0" smtClean="0"/>
                            <a:t>3</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0</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3+5+3*0.5=9.5</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9.5</a:t>
                          </a:r>
                          <a:endParaRPr lang="zh-CN" altLang="en-US" dirty="0"/>
                        </a:p>
                      </a:txBody>
                      <a:tcPr/>
                    </a:tc>
                    <a:tc>
                      <a:txBody>
                        <a:bodyPr/>
                        <a:lstStyle/>
                        <a:p>
                          <a:r>
                            <a:rPr lang="en-US" altLang="zh-CN" dirty="0" smtClean="0"/>
                            <a:t>9.5</a:t>
                          </a:r>
                          <a:endParaRPr lang="zh-CN" altLang="en-US" dirty="0"/>
                        </a:p>
                      </a:txBody>
                      <a:tcPr/>
                    </a:tc>
                    <a:tc>
                      <a:txBody>
                        <a:bodyPr/>
                        <a:lstStyle/>
                        <a:p>
                          <a:r>
                            <a:rPr lang="en-US" altLang="zh-CN" dirty="0" smtClean="0"/>
                            <a:t>5</a:t>
                          </a:r>
                          <a:endParaRPr lang="zh-CN" altLang="en-US" dirty="0"/>
                        </a:p>
                      </a:txBody>
                      <a:tcPr/>
                    </a:tc>
                    <a:extLst>
                      <a:ext uri="{0D108BD9-81ED-4DB2-BD59-A6C34878D82A}">
                        <a16:rowId xmlns:a16="http://schemas.microsoft.com/office/drawing/2014/main" val="212023833"/>
                      </a:ext>
                    </a:extLst>
                  </a:tr>
                  <a:tr h="365760">
                    <a:tc>
                      <a:txBody>
                        <a:bodyPr/>
                        <a:lstStyle/>
                        <a:p>
                          <a:pPr/>
                          <a:r>
                            <a:rPr lang="en-US" altLang="zh-CN" dirty="0" smtClean="0"/>
                            <a:t>4</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6</a:t>
                          </a:r>
                          <a:endParaRPr lang="zh-CN" altLang="en-US" dirty="0"/>
                        </a:p>
                      </a:txBody>
                      <a:tcPr/>
                    </a:tc>
                    <a:tc>
                      <a:txBody>
                        <a:bodyPr/>
                        <a:lstStyle/>
                        <a:p>
                          <a:r>
                            <a:rPr lang="en-US" altLang="zh-CN" dirty="0" smtClean="0"/>
                            <a:t>0</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3+6+4*0.5=11</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11</a:t>
                          </a:r>
                          <a:endParaRPr lang="zh-CN" altLang="en-US" dirty="0"/>
                        </a:p>
                      </a:txBody>
                      <a:tcPr/>
                    </a:tc>
                    <a:tc>
                      <a:txBody>
                        <a:bodyPr/>
                        <a:lstStyle/>
                        <a:p>
                          <a:r>
                            <a:rPr lang="en-US" altLang="zh-CN" dirty="0" smtClean="0"/>
                            <a:t>11</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6</a:t>
                          </a:r>
                          <a:endParaRPr lang="zh-CN" altLang="en-US" dirty="0"/>
                        </a:p>
                      </a:txBody>
                      <a:tcPr/>
                    </a:tc>
                    <a:extLst>
                      <a:ext uri="{0D108BD9-81ED-4DB2-BD59-A6C34878D82A}">
                        <a16:rowId xmlns:a16="http://schemas.microsoft.com/office/drawing/2014/main" val="1091311635"/>
                      </a:ext>
                    </a:extLst>
                  </a:tr>
                </a:tbl>
              </a:graphicData>
            </a:graphic>
          </p:graphicFrame>
        </mc:Fallback>
      </mc:AlternateContent>
      <p:sp>
        <p:nvSpPr>
          <p:cNvPr id="19" name="矩形 18"/>
          <p:cNvSpPr/>
          <p:nvPr/>
        </p:nvSpPr>
        <p:spPr>
          <a:xfrm>
            <a:off x="9078" y="4711118"/>
            <a:ext cx="602482" cy="341632"/>
          </a:xfrm>
          <a:prstGeom prst="rect">
            <a:avLst/>
          </a:prstGeom>
        </p:spPr>
        <p:txBody>
          <a:bodyPr wrap="square">
            <a:spAutoFit/>
          </a:bodyPr>
          <a:lstStyle/>
          <a:p>
            <a:pPr marL="0" lvl="2" defTabSz="179388" eaLnBrk="1" hangingPunct="1">
              <a:lnSpc>
                <a:spcPct val="90000"/>
              </a:lnSpc>
            </a:pPr>
            <a:r>
              <a:rPr lang="en-US" altLang="zh-CN" sz="1800" dirty="0" smtClean="0"/>
              <a:t>k=1</a:t>
            </a:r>
            <a:endParaRPr lang="zh-CN" altLang="en-US" sz="1800" dirty="0"/>
          </a:p>
        </p:txBody>
      </p:sp>
      <mc:AlternateContent xmlns:mc="http://schemas.openxmlformats.org/markup-compatibility/2006" xmlns:a14="http://schemas.microsoft.com/office/drawing/2010/main">
        <mc:Choice Requires="a14">
          <p:sp>
            <p:nvSpPr>
              <p:cNvPr id="28" name="矩形 27"/>
              <p:cNvSpPr/>
              <p:nvPr/>
            </p:nvSpPr>
            <p:spPr>
              <a:xfrm>
                <a:off x="554694" y="3178156"/>
                <a:ext cx="8600565" cy="487441"/>
              </a:xfrm>
              <a:prstGeom prst="rect">
                <a:avLst/>
              </a:prstGeom>
            </p:spPr>
            <p:txBody>
              <a:bodyPr wrap="square">
                <a:spAutoFit/>
              </a:bodyPr>
              <a:lstStyle/>
              <a:p>
                <a:r>
                  <a:rPr lang="zh-CN" altLang="en-US" sz="1600" b="1" dirty="0" smtClean="0"/>
                  <a:t>由</a:t>
                </a:r>
                <a:r>
                  <a:rPr lang="en-US" altLang="zh-CN" sz="1600" b="1" dirty="0"/>
                  <a:t> </a:t>
                </a:r>
                <a:r>
                  <a:rPr lang="en-US" altLang="zh-CN" sz="1600" b="1" dirty="0" smtClean="0"/>
                  <a:t> </a:t>
                </a:r>
                <a14:m>
                  <m:oMath xmlns:m="http://schemas.openxmlformats.org/officeDocument/2006/math">
                    <m:r>
                      <m:rPr>
                        <m:nor/>
                      </m:rPr>
                      <a:rPr lang="en-US" altLang="zh-CN" sz="1600" b="1" i="1" dirty="0">
                        <a:latin typeface="Times New Roman" panose="02020603050405020304" pitchFamily="18" charset="0"/>
                        <a:cs typeface="Times New Roman" panose="02020603050405020304" pitchFamily="18" charset="0"/>
                      </a:rPr>
                      <m:t>f</m:t>
                    </m:r>
                    <m:r>
                      <m:rPr>
                        <m:nor/>
                      </m:rPr>
                      <a:rPr lang="en-US" altLang="zh-CN" sz="1600" b="1" i="1" baseline="-25000" dirty="0" smtClean="0">
                        <a:latin typeface="Times New Roman" panose="02020603050405020304" pitchFamily="18" charset="0"/>
                        <a:cs typeface="Times New Roman" panose="02020603050405020304" pitchFamily="18" charset="0"/>
                      </a:rPr>
                      <m:t>1</m:t>
                    </m:r>
                    <m:r>
                      <m:rPr>
                        <m:nor/>
                      </m:rPr>
                      <a:rPr lang="en-US" altLang="zh-CN" sz="1600" b="1" dirty="0">
                        <a:latin typeface="Times New Roman" panose="02020603050405020304" pitchFamily="18" charset="0"/>
                        <a:cs typeface="Times New Roman" panose="02020603050405020304" pitchFamily="18" charset="0"/>
                      </a:rPr>
                      <m:t>(</m:t>
                    </m:r>
                    <m:r>
                      <m:rPr>
                        <m:nor/>
                      </m:rPr>
                      <a:rPr lang="en-US" altLang="zh-CN" sz="1600" b="1" i="1" dirty="0">
                        <a:latin typeface="Times New Roman" panose="02020603050405020304" pitchFamily="18" charset="0"/>
                        <a:cs typeface="Times New Roman" panose="02020603050405020304" pitchFamily="18" charset="0"/>
                      </a:rPr>
                      <m:t>s</m:t>
                    </m:r>
                    <m:r>
                      <m:rPr>
                        <m:nor/>
                      </m:rPr>
                      <a:rPr lang="en-US" altLang="zh-CN" sz="1600" b="1" i="1" baseline="-25000" dirty="0" smtClean="0">
                        <a:latin typeface="Times New Roman" panose="02020603050405020304" pitchFamily="18" charset="0"/>
                        <a:cs typeface="Times New Roman" panose="02020603050405020304" pitchFamily="18" charset="0"/>
                      </a:rPr>
                      <m:t>1</m:t>
                    </m:r>
                    <m:r>
                      <m:rPr>
                        <m:nor/>
                      </m:rPr>
                      <a:rPr lang="en-US" altLang="zh-CN" sz="1600" b="1" dirty="0">
                        <a:latin typeface="Times New Roman" panose="02020603050405020304" pitchFamily="18" charset="0"/>
                        <a:cs typeface="Times New Roman" panose="02020603050405020304" pitchFamily="18" charset="0"/>
                      </a:rPr>
                      <m:t>)</m:t>
                    </m:r>
                    <m:r>
                      <a:rPr lang="en-US" altLang="zh-CN" sz="1600" b="1" i="1">
                        <a:latin typeface="Cambria Math" panose="02040503050406030204" pitchFamily="18" charset="0"/>
                        <a:cs typeface="Times New Roman" panose="02020603050405020304" pitchFamily="18" charset="0"/>
                      </a:rPr>
                      <m:t>=</m:t>
                    </m:r>
                    <m:func>
                      <m:funcPr>
                        <m:ctrlPr>
                          <a:rPr lang="en-US" altLang="zh-CN" sz="1600" b="1" i="1">
                            <a:latin typeface="Cambria Math" panose="02040503050406030204" pitchFamily="18" charset="0"/>
                            <a:cs typeface="Times New Roman" panose="02020603050405020304" pitchFamily="18" charset="0"/>
                          </a:rPr>
                        </m:ctrlPr>
                      </m:funcPr>
                      <m:fName>
                        <m:limLow>
                          <m:limLowPr>
                            <m:ctrlPr>
                              <a:rPr lang="en-US" altLang="zh-CN" sz="1600" b="1" i="1">
                                <a:latin typeface="Cambria Math" panose="02040503050406030204" pitchFamily="18" charset="0"/>
                                <a:cs typeface="Times New Roman" panose="02020603050405020304" pitchFamily="18" charset="0"/>
                              </a:rPr>
                            </m:ctrlPr>
                          </m:limLowPr>
                          <m:e>
                            <m:r>
                              <m:rPr>
                                <m:sty m:val="p"/>
                              </m:rPr>
                              <a:rPr lang="en-US" altLang="zh-CN" sz="1600">
                                <a:latin typeface="Cambria Math" panose="02040503050406030204" pitchFamily="18" charset="0"/>
                                <a:cs typeface="Times New Roman" panose="02020603050405020304" pitchFamily="18" charset="0"/>
                              </a:rPr>
                              <m:t>min</m:t>
                            </m:r>
                          </m:e>
                          <m:lim>
                            <m:r>
                              <a:rPr lang="en-US" altLang="zh-CN" sz="1600" i="1">
                                <a:latin typeface="Cambria Math" panose="02040503050406030204" pitchFamily="18" charset="0"/>
                                <a:cs typeface="Times New Roman" panose="02020603050405020304" pitchFamily="18" charset="0"/>
                              </a:rPr>
                              <m:t>0</m:t>
                            </m:r>
                            <m:r>
                              <a:rPr lang="en-US" altLang="zh-CN" sz="1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sz="1600"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n-US" altLang="zh-CN" sz="1600" i="1">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600" i="1" dirty="0">
                                <a:latin typeface="Times New Roman" panose="02020603050405020304" pitchFamily="18" charset="0"/>
                                <a:cs typeface="Times New Roman" panose="02020603050405020304" pitchFamily="18" charset="0"/>
                              </a:rPr>
                              <m:t>min</m:t>
                            </m:r>
                            <m:r>
                              <m:rPr>
                                <m:nor/>
                              </m:rPr>
                              <a:rPr lang="en-US" altLang="zh-CN" sz="1600" dirty="0">
                                <a:latin typeface="Times New Roman" panose="02020603050405020304" pitchFamily="18" charset="0"/>
                                <a:cs typeface="Times New Roman" panose="02020603050405020304" pitchFamily="18" charset="0"/>
                              </a:rPr>
                              <m:t>{</m:t>
                            </m:r>
                            <m:r>
                              <m:rPr>
                                <m:nor/>
                              </m:rPr>
                              <a:rPr lang="en-US" altLang="zh-CN" sz="1600" i="1" dirty="0">
                                <a:latin typeface="Times New Roman" panose="02020603050405020304" pitchFamily="18" charset="0"/>
                                <a:cs typeface="Times New Roman" panose="02020603050405020304" pitchFamily="18" charset="0"/>
                              </a:rPr>
                              <m:t>6</m:t>
                            </m:r>
                            <m:r>
                              <m:rPr>
                                <m:nor/>
                              </m:rPr>
                              <a:rPr lang="en-US" altLang="zh-CN" sz="1600" dirty="0">
                                <a:latin typeface="Times New Roman" panose="02020603050405020304" pitchFamily="18" charset="0"/>
                                <a:cs typeface="Times New Roman" panose="02020603050405020304" pitchFamily="18" charset="0"/>
                              </a:rPr>
                              <m:t>,</m:t>
                            </m:r>
                            <m:r>
                              <m:rPr>
                                <m:nor/>
                              </m:rPr>
                              <a:rPr lang="en-US" altLang="zh-CN" sz="1600" i="1" dirty="0">
                                <a:latin typeface="Times New Roman" panose="02020603050405020304" pitchFamily="18" charset="0"/>
                                <a:cs typeface="Times New Roman" panose="02020603050405020304" pitchFamily="18" charset="0"/>
                              </a:rPr>
                              <m:t> </m:t>
                            </m:r>
                            <m:r>
                              <m:rPr>
                                <m:nor/>
                              </m:rPr>
                              <a:rPr lang="en-US" altLang="zh-CN" sz="1600" i="1" dirty="0">
                                <a:latin typeface="Times New Roman" panose="02020603050405020304" pitchFamily="18" charset="0"/>
                                <a:cs typeface="Times New Roman" panose="02020603050405020304" pitchFamily="18" charset="0"/>
                              </a:rPr>
                              <m:t>s</m:t>
                            </m:r>
                            <m:r>
                              <m:rPr>
                                <m:nor/>
                              </m:rPr>
                              <a:rPr lang="en-US" altLang="zh-CN" sz="1600" i="1" baseline="-25000" dirty="0">
                                <a:latin typeface="Times New Roman" panose="02020603050405020304" pitchFamily="18" charset="0"/>
                                <a:cs typeface="Times New Roman" panose="02020603050405020304" pitchFamily="18" charset="0"/>
                              </a:rPr>
                              <m:t>1</m:t>
                            </m:r>
                            <m:r>
                              <m:rPr>
                                <m:nor/>
                              </m:rPr>
                              <a:rPr lang="en-US" altLang="zh-CN" sz="1600" dirty="0">
                                <a:latin typeface="Times New Roman" panose="02020603050405020304" pitchFamily="18" charset="0"/>
                                <a:cs typeface="Times New Roman" panose="02020603050405020304" pitchFamily="18" charset="0"/>
                              </a:rPr>
                              <m:t>+</m:t>
                            </m:r>
                            <m:r>
                              <m:rPr>
                                <m:nor/>
                              </m:rPr>
                              <a:rPr lang="en-US" altLang="zh-CN" sz="1600" i="1" dirty="0">
                                <a:latin typeface="Times New Roman" panose="02020603050405020304" pitchFamily="18" charset="0"/>
                                <a:cs typeface="Times New Roman" panose="02020603050405020304" pitchFamily="18" charset="0"/>
                              </a:rPr>
                              <m:t>2</m:t>
                            </m:r>
                            <m:r>
                              <m:rPr>
                                <m:nor/>
                              </m:rPr>
                              <a:rPr lang="en-US" altLang="zh-CN" sz="1600" dirty="0">
                                <a:latin typeface="Times New Roman" panose="02020603050405020304" pitchFamily="18" charset="0"/>
                                <a:cs typeface="Times New Roman" panose="02020603050405020304" pitchFamily="18" charset="0"/>
                              </a:rPr>
                              <m:t>}</m:t>
                            </m:r>
                            <m:r>
                              <m:rPr>
                                <m:nor/>
                              </m:rPr>
                              <a:rPr lang="zh-CN" altLang="en-US" sz="1600" dirty="0">
                                <a:latin typeface="Times New Roman" panose="02020603050405020304" pitchFamily="18" charset="0"/>
                                <a:cs typeface="Courier New" panose="02070309020205020404" pitchFamily="49" charset="0"/>
                              </a:rPr>
                              <m:t> </m:t>
                            </m:r>
                          </m:lim>
                        </m:limLow>
                      </m:fName>
                      <m:e>
                        <m:d>
                          <m:dPr>
                            <m:begChr m:val="{"/>
                            <m:endChr m:val="}"/>
                            <m:ctrlPr>
                              <a:rPr lang="en-US" altLang="zh-CN" sz="1600" i="1">
                                <a:latin typeface="Cambria Math" panose="02040503050406030204" pitchFamily="18" charset="0"/>
                                <a:cs typeface="Times New Roman" panose="02020603050405020304" pitchFamily="18" charset="0"/>
                              </a:rPr>
                            </m:ctrlPr>
                          </m:dPr>
                          <m:e>
                            <m:r>
                              <m:rPr>
                                <m:nor/>
                              </m:rPr>
                              <a:rPr lang="en-US" altLang="zh-CN" sz="1600" i="1" dirty="0">
                                <a:latin typeface="Times New Roman" panose="02020603050405020304" pitchFamily="18" charset="0"/>
                                <a:cs typeface="Times New Roman" panose="02020603050405020304" pitchFamily="18" charset="0"/>
                              </a:rPr>
                              <m:t>v</m:t>
                            </m:r>
                            <m:r>
                              <m:rPr>
                                <m:nor/>
                              </m:rPr>
                              <a:rPr lang="en-US" altLang="zh-CN" sz="1600" i="1" baseline="-25000" dirty="0" smtClean="0">
                                <a:latin typeface="Times New Roman" panose="02020603050405020304" pitchFamily="18" charset="0"/>
                                <a:cs typeface="Times New Roman" panose="02020603050405020304" pitchFamily="18" charset="0"/>
                              </a:rPr>
                              <m:t>1</m:t>
                            </m:r>
                            <m:r>
                              <m:rPr>
                                <m:nor/>
                              </m:rPr>
                              <a:rPr lang="en-US" altLang="zh-CN" sz="1600" dirty="0">
                                <a:latin typeface="Times New Roman" panose="02020603050405020304" pitchFamily="18" charset="0"/>
                                <a:cs typeface="Times New Roman" panose="02020603050405020304" pitchFamily="18" charset="0"/>
                              </a:rPr>
                              <m:t>(</m:t>
                            </m:r>
                            <m:r>
                              <m:rPr>
                                <m:nor/>
                              </m:rPr>
                              <a:rPr lang="en-US" altLang="zh-CN" sz="1600" i="1" dirty="0">
                                <a:latin typeface="Times New Roman" panose="02020603050405020304" pitchFamily="18" charset="0"/>
                                <a:cs typeface="Times New Roman" panose="02020603050405020304" pitchFamily="18" charset="0"/>
                              </a:rPr>
                              <m:t>s</m:t>
                            </m:r>
                            <m:r>
                              <m:rPr>
                                <m:nor/>
                              </m:rPr>
                              <a:rPr lang="en-US" altLang="zh-CN" sz="1600" i="1" baseline="-25000" dirty="0" smtClean="0">
                                <a:latin typeface="Times New Roman" panose="02020603050405020304" pitchFamily="18" charset="0"/>
                                <a:cs typeface="Times New Roman" panose="02020603050405020304" pitchFamily="18" charset="0"/>
                              </a:rPr>
                              <m:t>1</m:t>
                            </m:r>
                            <m:r>
                              <m:rPr>
                                <m:nor/>
                              </m:rPr>
                              <a:rPr lang="en-US" altLang="zh-CN" sz="1600" dirty="0">
                                <a:latin typeface="Times New Roman" panose="02020603050405020304" pitchFamily="18" charset="0"/>
                                <a:cs typeface="Times New Roman" panose="02020603050405020304" pitchFamily="18" charset="0"/>
                              </a:rPr>
                              <m:t>,</m:t>
                            </m:r>
                            <m:r>
                              <m:rPr>
                                <m:nor/>
                              </m:rPr>
                              <a:rPr lang="en-US" altLang="zh-CN" sz="1600" i="1" dirty="0">
                                <a:latin typeface="Times New Roman" panose="02020603050405020304" pitchFamily="18" charset="0"/>
                                <a:cs typeface="Times New Roman" panose="02020603050405020304" pitchFamily="18" charset="0"/>
                              </a:rPr>
                              <m:t> </m:t>
                            </m:r>
                            <m:sSub>
                              <m:sSubPr>
                                <m:ctrlPr>
                                  <a:rPr lang="en-US" altLang="zh-CN" sz="1600" i="1" dirty="0">
                                    <a:latin typeface="Cambria Math" panose="02040503050406030204" pitchFamily="18" charset="0"/>
                                    <a:cs typeface="Times New Roman" panose="02020603050405020304" pitchFamily="18" charset="0"/>
                                  </a:rPr>
                                </m:ctrlPr>
                              </m:sSubPr>
                              <m:e>
                                <m:r>
                                  <a:rPr lang="en-US" altLang="zh-CN" sz="1600" b="0" i="1" dirty="0">
                                    <a:latin typeface="Cambria Math" panose="02040503050406030204" pitchFamily="18" charset="0"/>
                                    <a:cs typeface="Times New Roman" panose="02020603050405020304" pitchFamily="18" charset="0"/>
                                  </a:rPr>
                                  <m:t>𝑥</m:t>
                                </m:r>
                              </m:e>
                              <m:sub>
                                <m:r>
                                  <a:rPr lang="en-US" altLang="zh-CN" sz="1600" b="0" i="1" dirty="0" smtClean="0">
                                    <a:latin typeface="Cambria Math" panose="02040503050406030204" pitchFamily="18" charset="0"/>
                                    <a:cs typeface="Times New Roman" panose="02020603050405020304" pitchFamily="18" charset="0"/>
                                  </a:rPr>
                                  <m:t>1</m:t>
                                </m:r>
                              </m:sub>
                            </m:sSub>
                            <m:r>
                              <m:rPr>
                                <m:nor/>
                              </m:rPr>
                              <a:rPr lang="en-US" altLang="zh-CN" sz="1600" dirty="0">
                                <a:latin typeface="Times New Roman" panose="02020603050405020304" pitchFamily="18" charset="0"/>
                                <a:cs typeface="Times New Roman" panose="02020603050405020304" pitchFamily="18" charset="0"/>
                              </a:rPr>
                              <m:t>)</m:t>
                            </m:r>
                            <m:r>
                              <a:rPr lang="en-US" altLang="zh-CN" sz="1600" b="0" i="1">
                                <a:latin typeface="Cambria Math" panose="02040503050406030204" pitchFamily="18" charset="0"/>
                                <a:cs typeface="Times New Roman" panose="02020603050405020304" pitchFamily="18" charset="0"/>
                              </a:rPr>
                              <m:t>+</m:t>
                            </m:r>
                            <m:r>
                              <m:rPr>
                                <m:nor/>
                              </m:rPr>
                              <a:rPr lang="en-US" altLang="zh-CN" sz="1600" i="1" dirty="0" smtClean="0">
                                <a:latin typeface="Times New Roman" panose="02020603050405020304" pitchFamily="18" charset="0"/>
                                <a:cs typeface="Times New Roman" panose="02020603050405020304" pitchFamily="18" charset="0"/>
                              </a:rPr>
                              <m:t>f</m:t>
                            </m:r>
                            <m:r>
                              <m:rPr>
                                <m:nor/>
                              </m:rPr>
                              <a:rPr lang="en-US" altLang="zh-CN" sz="1600" i="1" baseline="-25000" dirty="0" smtClean="0">
                                <a:latin typeface="Times New Roman" panose="02020603050405020304" pitchFamily="18" charset="0"/>
                                <a:cs typeface="Times New Roman" panose="02020603050405020304" pitchFamily="18" charset="0"/>
                              </a:rPr>
                              <m:t>0</m:t>
                            </m:r>
                            <m:r>
                              <m:rPr>
                                <m:nor/>
                              </m:rPr>
                              <a:rPr lang="en-US" altLang="zh-CN" sz="1600" dirty="0">
                                <a:latin typeface="Times New Roman" panose="02020603050405020304" pitchFamily="18" charset="0"/>
                                <a:cs typeface="Times New Roman" panose="02020603050405020304" pitchFamily="18" charset="0"/>
                              </a:rPr>
                              <m:t>(</m:t>
                            </m:r>
                            <m:r>
                              <m:rPr>
                                <m:nor/>
                              </m:rPr>
                              <a:rPr lang="en-US" altLang="zh-CN" sz="1600" i="1" dirty="0">
                                <a:latin typeface="Times New Roman" panose="02020603050405020304" pitchFamily="18" charset="0"/>
                                <a:cs typeface="Times New Roman" panose="02020603050405020304" pitchFamily="18" charset="0"/>
                              </a:rPr>
                              <m:t>s</m:t>
                            </m:r>
                            <m:r>
                              <m:rPr>
                                <m:nor/>
                              </m:rPr>
                              <a:rPr lang="en-US" altLang="zh-CN" sz="1600" i="1" baseline="-25000" dirty="0" smtClean="0">
                                <a:latin typeface="Times New Roman" panose="02020603050405020304" pitchFamily="18" charset="0"/>
                                <a:cs typeface="Times New Roman" panose="02020603050405020304" pitchFamily="18" charset="0"/>
                              </a:rPr>
                              <m:t>0</m:t>
                            </m:r>
                            <m:r>
                              <m:rPr>
                                <m:nor/>
                              </m:rPr>
                              <a:rPr lang="en-US" altLang="zh-CN" sz="1600" dirty="0">
                                <a:latin typeface="Times New Roman" panose="02020603050405020304" pitchFamily="18" charset="0"/>
                                <a:cs typeface="Times New Roman" panose="02020603050405020304" pitchFamily="18" charset="0"/>
                              </a:rPr>
                              <m:t>)</m:t>
                            </m:r>
                          </m:e>
                        </m:d>
                        <m:func>
                          <m:funcPr>
                            <m:ctrlPr>
                              <a:rPr lang="en-US" altLang="zh-CN" sz="1600" i="1">
                                <a:latin typeface="Cambria Math" panose="02040503050406030204" pitchFamily="18" charset="0"/>
                                <a:cs typeface="Times New Roman" panose="02020603050405020304" pitchFamily="18" charset="0"/>
                              </a:rPr>
                            </m:ctrlPr>
                          </m:funcPr>
                          <m:fName>
                            <m:r>
                              <a:rPr lang="en-US" altLang="zh-CN" sz="1600" b="0" i="1" smtClean="0">
                                <a:latin typeface="Cambria Math" panose="02040503050406030204" pitchFamily="18" charset="0"/>
                                <a:cs typeface="Times New Roman" panose="02020603050405020304" pitchFamily="18" charset="0"/>
                              </a:rPr>
                              <m:t>=</m:t>
                            </m:r>
                            <m:limLow>
                              <m:limLowPr>
                                <m:ctrlPr>
                                  <a:rPr lang="en-US" altLang="zh-CN" sz="1600" i="1">
                                    <a:latin typeface="Cambria Math" panose="02040503050406030204" pitchFamily="18" charset="0"/>
                                    <a:cs typeface="Times New Roman" panose="02020603050405020304" pitchFamily="18" charset="0"/>
                                  </a:rPr>
                                </m:ctrlPr>
                              </m:limLowPr>
                              <m:e>
                                <m:r>
                                  <m:rPr>
                                    <m:sty m:val="p"/>
                                  </m:rPr>
                                  <a:rPr lang="en-US" altLang="zh-CN" sz="1600" b="0">
                                    <a:latin typeface="Cambria Math" panose="02040503050406030204" pitchFamily="18" charset="0"/>
                                    <a:cs typeface="Times New Roman" panose="02020603050405020304" pitchFamily="18" charset="0"/>
                                  </a:rPr>
                                  <m:t>min</m:t>
                                </m:r>
                              </m:e>
                              <m:lim>
                                <m:r>
                                  <a:rPr lang="en-US" altLang="zh-CN" sz="1600" b="0" i="1">
                                    <a:latin typeface="Cambria Math" panose="02040503050406030204" pitchFamily="18" charset="0"/>
                                    <a:cs typeface="Times New Roman" panose="02020603050405020304" pitchFamily="18" charset="0"/>
                                  </a:rPr>
                                  <m:t>0</m:t>
                                </m:r>
                                <m:r>
                                  <a:rPr lang="en-US" altLang="zh-CN" sz="1600" b="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0" i="1">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sz="1600" b="0" i="1">
                                        <a:latin typeface="Cambria Math" panose="02040503050406030204" pitchFamily="18" charset="0"/>
                                        <a:ea typeface="Cambria Math" panose="02040503050406030204" pitchFamily="18" charset="0"/>
                                        <a:cs typeface="Times New Roman" panose="02020603050405020304" pitchFamily="18" charset="0"/>
                                      </a:rPr>
                                      <m:t>1</m:t>
                                    </m:r>
                                  </m:sub>
                                </m:sSub>
                                <m:r>
                                  <a:rPr lang="en-US" altLang="zh-CN" sz="1600" b="0" i="1">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600" i="1" dirty="0">
                                    <a:latin typeface="Times New Roman" panose="02020603050405020304" pitchFamily="18" charset="0"/>
                                    <a:cs typeface="Times New Roman" panose="02020603050405020304" pitchFamily="18" charset="0"/>
                                  </a:rPr>
                                  <m:t>min</m:t>
                                </m:r>
                                <m:r>
                                  <m:rPr>
                                    <m:nor/>
                                  </m:rPr>
                                  <a:rPr lang="en-US" altLang="zh-CN" sz="1600" dirty="0">
                                    <a:latin typeface="Times New Roman" panose="02020603050405020304" pitchFamily="18" charset="0"/>
                                    <a:cs typeface="Times New Roman" panose="02020603050405020304" pitchFamily="18" charset="0"/>
                                  </a:rPr>
                                  <m:t>{</m:t>
                                </m:r>
                                <m:r>
                                  <m:rPr>
                                    <m:nor/>
                                  </m:rPr>
                                  <a:rPr lang="en-US" altLang="zh-CN" sz="1600" i="1" dirty="0">
                                    <a:latin typeface="Times New Roman" panose="02020603050405020304" pitchFamily="18" charset="0"/>
                                    <a:cs typeface="Times New Roman" panose="02020603050405020304" pitchFamily="18" charset="0"/>
                                  </a:rPr>
                                  <m:t>6</m:t>
                                </m:r>
                                <m:r>
                                  <m:rPr>
                                    <m:nor/>
                                  </m:rPr>
                                  <a:rPr lang="en-US" altLang="zh-CN" sz="1600" dirty="0">
                                    <a:latin typeface="Times New Roman" panose="02020603050405020304" pitchFamily="18" charset="0"/>
                                    <a:cs typeface="Times New Roman" panose="02020603050405020304" pitchFamily="18" charset="0"/>
                                  </a:rPr>
                                  <m:t>,</m:t>
                                </m:r>
                                <m:r>
                                  <m:rPr>
                                    <m:nor/>
                                  </m:rPr>
                                  <a:rPr lang="en-US" altLang="zh-CN" sz="1600" i="1" dirty="0">
                                    <a:latin typeface="Times New Roman" panose="02020603050405020304" pitchFamily="18" charset="0"/>
                                    <a:cs typeface="Times New Roman" panose="02020603050405020304" pitchFamily="18" charset="0"/>
                                  </a:rPr>
                                  <m:t> </m:t>
                                </m:r>
                                <m:r>
                                  <m:rPr>
                                    <m:nor/>
                                  </m:rPr>
                                  <a:rPr lang="en-US" altLang="zh-CN" sz="1600" i="1" dirty="0">
                                    <a:latin typeface="Times New Roman" panose="02020603050405020304" pitchFamily="18" charset="0"/>
                                    <a:cs typeface="Times New Roman" panose="02020603050405020304" pitchFamily="18" charset="0"/>
                                  </a:rPr>
                                  <m:t>s</m:t>
                                </m:r>
                                <m:r>
                                  <m:rPr>
                                    <m:nor/>
                                  </m:rPr>
                                  <a:rPr lang="en-US" altLang="zh-CN" sz="1600" i="1" baseline="-25000" dirty="0">
                                    <a:latin typeface="Times New Roman" panose="02020603050405020304" pitchFamily="18" charset="0"/>
                                    <a:cs typeface="Times New Roman" panose="02020603050405020304" pitchFamily="18" charset="0"/>
                                  </a:rPr>
                                  <m:t>1</m:t>
                                </m:r>
                                <m:r>
                                  <m:rPr>
                                    <m:nor/>
                                  </m:rPr>
                                  <a:rPr lang="en-US" altLang="zh-CN" sz="1600" dirty="0">
                                    <a:latin typeface="Times New Roman" panose="02020603050405020304" pitchFamily="18" charset="0"/>
                                    <a:cs typeface="Times New Roman" panose="02020603050405020304" pitchFamily="18" charset="0"/>
                                  </a:rPr>
                                  <m:t>+</m:t>
                                </m:r>
                                <m:r>
                                  <m:rPr>
                                    <m:nor/>
                                  </m:rPr>
                                  <a:rPr lang="en-US" altLang="zh-CN" sz="1600" i="1" dirty="0">
                                    <a:latin typeface="Times New Roman" panose="02020603050405020304" pitchFamily="18" charset="0"/>
                                    <a:cs typeface="Times New Roman" panose="02020603050405020304" pitchFamily="18" charset="0"/>
                                  </a:rPr>
                                  <m:t>2</m:t>
                                </m:r>
                                <m:r>
                                  <m:rPr>
                                    <m:nor/>
                                  </m:rPr>
                                  <a:rPr lang="en-US" altLang="zh-CN" sz="1600" dirty="0">
                                    <a:latin typeface="Times New Roman" panose="02020603050405020304" pitchFamily="18" charset="0"/>
                                    <a:cs typeface="Times New Roman" panose="02020603050405020304" pitchFamily="18" charset="0"/>
                                  </a:rPr>
                                  <m:t>}</m:t>
                                </m:r>
                                <m:r>
                                  <m:rPr>
                                    <m:nor/>
                                  </m:rPr>
                                  <a:rPr lang="zh-CN" altLang="en-US" sz="1600" dirty="0">
                                    <a:latin typeface="Times New Roman" panose="02020603050405020304" pitchFamily="18" charset="0"/>
                                    <a:cs typeface="Courier New" panose="02070309020205020404" pitchFamily="49" charset="0"/>
                                  </a:rPr>
                                  <m:t> </m:t>
                                </m:r>
                              </m:lim>
                            </m:limLow>
                          </m:fName>
                          <m:e>
                            <m:d>
                              <m:dPr>
                                <m:begChr m:val="{"/>
                                <m:endChr m:val="}"/>
                                <m:ctrlPr>
                                  <a:rPr lang="en-US" altLang="zh-CN" sz="1600" i="1" smtClean="0">
                                    <a:latin typeface="Cambria Math" panose="02040503050406030204" pitchFamily="18" charset="0"/>
                                    <a:cs typeface="Times New Roman" panose="02020603050405020304" pitchFamily="18" charset="0"/>
                                  </a:rPr>
                                </m:ctrlPr>
                              </m:dPr>
                              <m:e>
                                <m:d>
                                  <m:dPr>
                                    <m:ctrlPr>
                                      <a:rPr lang="en-US" altLang="zh-CN" sz="1600" i="1" dirty="0">
                                        <a:latin typeface="Cambria Math" panose="02040503050406030204" pitchFamily="18" charset="0"/>
                                        <a:cs typeface="Times New Roman" panose="02020603050405020304" pitchFamily="18" charset="0"/>
                                      </a:rPr>
                                    </m:ctrlPr>
                                  </m:dPr>
                                  <m:e>
                                    <m:r>
                                      <a:rPr lang="en-US" altLang="zh-CN" sz="1600" b="0" i="1" dirty="0">
                                        <a:latin typeface="Cambria Math" panose="02040503050406030204" pitchFamily="18" charset="0"/>
                                        <a:cs typeface="Times New Roman" panose="02020603050405020304" pitchFamily="18" charset="0"/>
                                      </a:rPr>
                                      <m:t>3+</m:t>
                                    </m:r>
                                    <m:sSub>
                                      <m:sSubPr>
                                        <m:ctrlPr>
                                          <a:rPr lang="en-US" altLang="zh-CN"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0" i="1">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sz="1600" b="0" i="1">
                                            <a:latin typeface="Cambria Math" panose="02040503050406030204" pitchFamily="18" charset="0"/>
                                            <a:ea typeface="Cambria Math" panose="02040503050406030204" pitchFamily="18" charset="0"/>
                                            <a:cs typeface="Times New Roman" panose="02020603050405020304" pitchFamily="18" charset="0"/>
                                          </a:rPr>
                                          <m:t>1</m:t>
                                        </m:r>
                                      </m:sub>
                                    </m:sSub>
                                    <m:r>
                                      <m:rPr>
                                        <m:nor/>
                                      </m:rPr>
                                      <a:rPr lang="en-US" altLang="zh-CN" sz="1600">
                                        <a:latin typeface="Cambria Math" panose="02040503050406030204" pitchFamily="18" charset="0"/>
                                        <a:ea typeface="Cambria Math" panose="02040503050406030204" pitchFamily="18" charset="0"/>
                                        <a:cs typeface="Times New Roman" panose="02020603050405020304" pitchFamily="18" charset="0"/>
                                      </a:rPr>
                                      <m:t>+0.5∗</m:t>
                                    </m:r>
                                    <m:sSub>
                                      <m:sSubPr>
                                        <m:ctrlPr>
                                          <a:rPr lang="en-US" altLang="zh-CN"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0" i="1" smtClean="0">
                                            <a:latin typeface="Cambria Math" panose="02040503050406030204" pitchFamily="18" charset="0"/>
                                            <a:ea typeface="Cambria Math" panose="02040503050406030204" pitchFamily="18" charset="0"/>
                                            <a:cs typeface="Times New Roman" panose="02020603050405020304" pitchFamily="18" charset="0"/>
                                          </a:rPr>
                                          <m:t>𝑠</m:t>
                                        </m:r>
                                      </m:e>
                                      <m:sub>
                                        <m:r>
                                          <a:rPr lang="en-US" altLang="zh-CN" sz="1600" b="0" i="1">
                                            <a:latin typeface="Cambria Math" panose="02040503050406030204" pitchFamily="18" charset="0"/>
                                            <a:ea typeface="Cambria Math" panose="02040503050406030204" pitchFamily="18" charset="0"/>
                                            <a:cs typeface="Times New Roman" panose="02020603050405020304" pitchFamily="18" charset="0"/>
                                          </a:rPr>
                                          <m:t>1</m:t>
                                        </m:r>
                                      </m:sub>
                                    </m:sSub>
                                  </m:e>
                                </m:d>
                                <m:r>
                                  <a:rPr lang="en-US" altLang="zh-CN" sz="1600" b="0" i="1" smtClean="0">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600" i="1" dirty="0">
                                    <a:latin typeface="Times New Roman" panose="02020603050405020304" pitchFamily="18" charset="0"/>
                                    <a:cs typeface="Times New Roman" panose="02020603050405020304" pitchFamily="18" charset="0"/>
                                  </a:rPr>
                                  <m:t>f</m:t>
                                </m:r>
                                <m:r>
                                  <m:rPr>
                                    <m:nor/>
                                  </m:rPr>
                                  <a:rPr lang="en-US" altLang="zh-CN" sz="1600" i="1" baseline="-25000" dirty="0">
                                    <a:latin typeface="Times New Roman" panose="02020603050405020304" pitchFamily="18" charset="0"/>
                                    <a:cs typeface="Times New Roman" panose="02020603050405020304" pitchFamily="18" charset="0"/>
                                  </a:rPr>
                                  <m:t>0</m:t>
                                </m:r>
                                <m:r>
                                  <m:rPr>
                                    <m:nor/>
                                  </m:rPr>
                                  <a:rPr lang="en-US" altLang="zh-CN" sz="1600" dirty="0">
                                    <a:latin typeface="Times New Roman" panose="02020603050405020304" pitchFamily="18" charset="0"/>
                                    <a:cs typeface="Times New Roman" panose="02020603050405020304" pitchFamily="18" charset="0"/>
                                  </a:rPr>
                                  <m:t>(</m:t>
                                </m:r>
                                <m:r>
                                  <m:rPr>
                                    <m:nor/>
                                  </m:rPr>
                                  <a:rPr lang="en-US" altLang="zh-CN" sz="1600" i="1" dirty="0">
                                    <a:latin typeface="Times New Roman" panose="02020603050405020304" pitchFamily="18" charset="0"/>
                                    <a:cs typeface="Times New Roman" panose="02020603050405020304" pitchFamily="18" charset="0"/>
                                  </a:rPr>
                                  <m:t>s</m:t>
                                </m:r>
                                <m:r>
                                  <m:rPr>
                                    <m:nor/>
                                  </m:rPr>
                                  <a:rPr lang="en-US" altLang="zh-CN" sz="1600" i="1" baseline="-25000" dirty="0">
                                    <a:latin typeface="Times New Roman" panose="02020603050405020304" pitchFamily="18" charset="0"/>
                                    <a:cs typeface="Times New Roman" panose="02020603050405020304" pitchFamily="18" charset="0"/>
                                  </a:rPr>
                                  <m:t>0</m:t>
                                </m:r>
                                <m:r>
                                  <m:rPr>
                                    <m:nor/>
                                  </m:rPr>
                                  <a:rPr lang="en-US" altLang="zh-CN" sz="1600" dirty="0">
                                    <a:latin typeface="Times New Roman" panose="02020603050405020304" pitchFamily="18" charset="0"/>
                                    <a:cs typeface="Times New Roman" panose="02020603050405020304" pitchFamily="18" charset="0"/>
                                  </a:rPr>
                                  <m:t>)</m:t>
                                </m:r>
                              </m:e>
                            </m:d>
                          </m:e>
                        </m:func>
                      </m:e>
                    </m:func>
                  </m:oMath>
                </a14:m>
                <a:endParaRPr lang="zh-CN" altLang="en-US" sz="1600" dirty="0"/>
              </a:p>
            </p:txBody>
          </p:sp>
        </mc:Choice>
        <mc:Fallback xmlns="">
          <p:sp>
            <p:nvSpPr>
              <p:cNvPr id="28" name="矩形 27"/>
              <p:cNvSpPr>
                <a:spLocks noRot="1" noChangeAspect="1" noMove="1" noResize="1" noEditPoints="1" noAdjustHandles="1" noChangeArrowheads="1" noChangeShapeType="1" noTextEdit="1"/>
              </p:cNvSpPr>
              <p:nvPr/>
            </p:nvSpPr>
            <p:spPr>
              <a:xfrm>
                <a:off x="554694" y="3178156"/>
                <a:ext cx="8600565" cy="487441"/>
              </a:xfrm>
              <a:prstGeom prst="rect">
                <a:avLst/>
              </a:prstGeom>
              <a:blipFill>
                <a:blip r:embed="rId3"/>
                <a:stretch>
                  <a:fillRect l="-425" t="-5000" b="-10000"/>
                </a:stretch>
              </a:blipFill>
            </p:spPr>
            <p:txBody>
              <a:bodyPr/>
              <a:lstStyle/>
              <a:p>
                <a:r>
                  <a:rPr lang="zh-CN" altLang="en-US">
                    <a:noFill/>
                  </a:rPr>
                  <a:t> </a:t>
                </a:r>
              </a:p>
            </p:txBody>
          </p:sp>
        </mc:Fallback>
      </mc:AlternateContent>
      <p:sp>
        <p:nvSpPr>
          <p:cNvPr id="4" name="矩形 3"/>
          <p:cNvSpPr/>
          <p:nvPr/>
        </p:nvSpPr>
        <p:spPr>
          <a:xfrm>
            <a:off x="413456" y="6134589"/>
            <a:ext cx="3531736" cy="400110"/>
          </a:xfrm>
          <a:prstGeom prst="rect">
            <a:avLst/>
          </a:prstGeom>
        </p:spPr>
        <p:txBody>
          <a:bodyPr wrap="none">
            <a:spAutoFit/>
          </a:bodyPr>
          <a:lstStyle/>
          <a:p>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1 </a:t>
            </a:r>
            <a:r>
              <a:rPr lang="en-US" altLang="zh-CN" b="1" dirty="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0</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 x</a:t>
            </a:r>
            <a:r>
              <a:rPr lang="en-US" altLang="zh-CN" b="1" i="1" baseline="-25000" dirty="0" smtClean="0">
                <a:latin typeface="Times New Roman" panose="02020603050405020304" pitchFamily="18" charset="0"/>
                <a:cs typeface="Times New Roman" panose="02020603050405020304" pitchFamily="18" charset="0"/>
              </a:rPr>
              <a:t>1 </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 d</a:t>
            </a:r>
            <a:r>
              <a:rPr lang="en-US" altLang="zh-CN" b="1" i="1" baseline="-25000" dirty="0" smtClean="0">
                <a:latin typeface="Times New Roman" panose="02020603050405020304" pitchFamily="18" charset="0"/>
                <a:cs typeface="Times New Roman" panose="02020603050405020304" pitchFamily="18" charset="0"/>
              </a:rPr>
              <a:t>1</a:t>
            </a:r>
            <a:r>
              <a:rPr lang="zh-CN" altLang="en-US" b="1" i="1" baseline="-25000"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sym typeface="Wingdings" panose="05000000000000000000" pitchFamily="2" charset="2"/>
              </a:rPr>
              <a:t>  </a:t>
            </a:r>
            <a:r>
              <a:rPr lang="en-US" altLang="zh-CN" b="1" i="1" dirty="0" smtClean="0">
                <a:latin typeface="Times New Roman" panose="02020603050405020304" pitchFamily="18" charset="0"/>
                <a:cs typeface="Times New Roman" panose="02020603050405020304" pitchFamily="18" charset="0"/>
              </a:rPr>
              <a:t>x</a:t>
            </a:r>
            <a:r>
              <a:rPr lang="en-US" altLang="zh-CN" b="1" i="1" baseline="-25000" dirty="0" smtClean="0">
                <a:latin typeface="Times New Roman" panose="02020603050405020304" pitchFamily="18" charset="0"/>
                <a:cs typeface="Times New Roman" panose="02020603050405020304" pitchFamily="18" charset="0"/>
              </a:rPr>
              <a:t>1</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1 </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s</a:t>
            </a:r>
            <a:r>
              <a:rPr lang="en-US" altLang="zh-CN" b="1" i="1" baseline="-25000" dirty="0">
                <a:latin typeface="Times New Roman" panose="02020603050405020304" pitchFamily="18" charset="0"/>
                <a:cs typeface="Times New Roman" panose="02020603050405020304" pitchFamily="18" charset="0"/>
              </a:rPr>
              <a:t>0</a:t>
            </a:r>
            <a:r>
              <a:rPr lang="en-US" altLang="zh-CN" b="1" i="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a:t>
            </a:r>
            <a:r>
              <a:rPr lang="en-US" altLang="zh-CN" b="1" i="1" baseline="-25000" dirty="0" smtClean="0">
                <a:latin typeface="Times New Roman" panose="02020603050405020304" pitchFamily="18" charset="0"/>
                <a:cs typeface="Times New Roman" panose="02020603050405020304" pitchFamily="18" charset="0"/>
              </a:rPr>
              <a:t> </a:t>
            </a:r>
            <a:r>
              <a:rPr lang="en-US" altLang="zh-CN" b="1" i="1" dirty="0" smtClean="0">
                <a:latin typeface="Times New Roman" panose="02020603050405020304" pitchFamily="18" charset="0"/>
                <a:cs typeface="Times New Roman" panose="02020603050405020304" pitchFamily="18" charset="0"/>
              </a:rPr>
              <a:t>d</a:t>
            </a:r>
            <a:r>
              <a:rPr lang="en-US" altLang="zh-CN" b="1" i="1" baseline="-25000" dirty="0" smtClean="0">
                <a:latin typeface="Times New Roman" panose="02020603050405020304" pitchFamily="18" charset="0"/>
                <a:cs typeface="Times New Roman" panose="02020603050405020304" pitchFamily="18" charset="0"/>
              </a:rPr>
              <a:t>1</a:t>
            </a:r>
            <a:endParaRPr lang="en-US"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11232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8.4.2.1  </a:t>
            </a:r>
            <a:r>
              <a:rPr lang="zh-CN" altLang="en-US" dirty="0"/>
              <a:t>生产计划问题 </a:t>
            </a:r>
          </a:p>
        </p:txBody>
      </p:sp>
      <p:sp>
        <p:nvSpPr>
          <p:cNvPr id="3" name="内容占位符 2"/>
          <p:cNvSpPr>
            <a:spLocks noGrp="1"/>
          </p:cNvSpPr>
          <p:nvPr>
            <p:ph idx="1"/>
          </p:nvPr>
        </p:nvSpPr>
        <p:spPr>
          <a:xfrm>
            <a:off x="539552" y="1337268"/>
            <a:ext cx="8280920" cy="904863"/>
          </a:xfrm>
        </p:spPr>
        <p:txBody>
          <a:bodyPr/>
          <a:lstStyle/>
          <a:p>
            <a:r>
              <a:rPr lang="zh-CN" altLang="en-US" dirty="0">
                <a:latin typeface="宋体" panose="02010600030101010101" pitchFamily="2" charset="-122"/>
                <a:cs typeface="Times New Roman" panose="02020603050405020304" pitchFamily="18" charset="0"/>
              </a:rPr>
              <a:t>例</a:t>
            </a:r>
            <a:r>
              <a:rPr lang="en-US" altLang="zh-CN" dirty="0">
                <a:latin typeface="宋体" panose="02010600030101010101" pitchFamily="2" charset="-122"/>
                <a:cs typeface="Times New Roman" panose="02020603050405020304" pitchFamily="18" charset="0"/>
              </a:rPr>
              <a:t>8-5</a:t>
            </a:r>
            <a:r>
              <a:rPr lang="zh-CN" altLang="en-US" dirty="0">
                <a:latin typeface="宋体" panose="02010600030101010101" pitchFamily="2" charset="-122"/>
                <a:cs typeface="Times New Roman" panose="02020603050405020304" pitchFamily="18" charset="0"/>
              </a:rPr>
              <a:t>：</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D6B2FC51-1DE3-4359-9B39-6CC27C545D80}" type="slidenum">
              <a:rPr lang="en-US" altLang="zh-CN" smtClean="0"/>
              <a:pPr/>
              <a:t>59</a:t>
            </a:fld>
            <a:endParaRPr lang="en-US" altLang="zh-CN"/>
          </a:p>
        </p:txBody>
      </p:sp>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extLst>
                  <p:ext uri="{D42A27DB-BD31-4B8C-83A1-F6EECF244321}">
                    <p14:modId xmlns:p14="http://schemas.microsoft.com/office/powerpoint/2010/main" val="3379085353"/>
                  </p:ext>
                </p:extLst>
              </p:nvPr>
            </p:nvGraphicFramePr>
            <p:xfrm>
              <a:off x="2915816" y="-99392"/>
              <a:ext cx="6264696" cy="6949440"/>
            </p:xfrm>
            <a:graphic>
              <a:graphicData uri="http://schemas.openxmlformats.org/drawingml/2006/table">
                <a:tbl>
                  <a:tblPr firstRow="1" bandRow="1">
                    <a:tableStyleId>{5C22544A-7EE6-4342-B048-85BDC9FD1C3A}</a:tableStyleId>
                  </a:tblPr>
                  <a:tblGrid>
                    <a:gridCol w="481487">
                      <a:extLst>
                        <a:ext uri="{9D8B030D-6E8A-4147-A177-3AD203B41FA5}">
                          <a16:colId xmlns:a16="http://schemas.microsoft.com/office/drawing/2014/main" val="1816936163"/>
                        </a:ext>
                      </a:extLst>
                    </a:gridCol>
                    <a:gridCol w="554404">
                      <a:extLst>
                        <a:ext uri="{9D8B030D-6E8A-4147-A177-3AD203B41FA5}">
                          <a16:colId xmlns:a16="http://schemas.microsoft.com/office/drawing/2014/main" val="1250546864"/>
                        </a:ext>
                      </a:extLst>
                    </a:gridCol>
                    <a:gridCol w="616004">
                      <a:extLst>
                        <a:ext uri="{9D8B030D-6E8A-4147-A177-3AD203B41FA5}">
                          <a16:colId xmlns:a16="http://schemas.microsoft.com/office/drawing/2014/main" val="1869782824"/>
                        </a:ext>
                      </a:extLst>
                    </a:gridCol>
                    <a:gridCol w="1732481">
                      <a:extLst>
                        <a:ext uri="{9D8B030D-6E8A-4147-A177-3AD203B41FA5}">
                          <a16:colId xmlns:a16="http://schemas.microsoft.com/office/drawing/2014/main" val="3148481169"/>
                        </a:ext>
                      </a:extLst>
                    </a:gridCol>
                    <a:gridCol w="608334">
                      <a:extLst>
                        <a:ext uri="{9D8B030D-6E8A-4147-A177-3AD203B41FA5}">
                          <a16:colId xmlns:a16="http://schemas.microsoft.com/office/drawing/2014/main" val="644265878"/>
                        </a:ext>
                      </a:extLst>
                    </a:gridCol>
                    <a:gridCol w="981086">
                      <a:extLst>
                        <a:ext uri="{9D8B030D-6E8A-4147-A177-3AD203B41FA5}">
                          <a16:colId xmlns:a16="http://schemas.microsoft.com/office/drawing/2014/main" val="938889560"/>
                        </a:ext>
                      </a:extLst>
                    </a:gridCol>
                    <a:gridCol w="723353">
                      <a:extLst>
                        <a:ext uri="{9D8B030D-6E8A-4147-A177-3AD203B41FA5}">
                          <a16:colId xmlns:a16="http://schemas.microsoft.com/office/drawing/2014/main" val="1613744912"/>
                        </a:ext>
                      </a:extLst>
                    </a:gridCol>
                    <a:gridCol w="567547">
                      <a:extLst>
                        <a:ext uri="{9D8B030D-6E8A-4147-A177-3AD203B41FA5}">
                          <a16:colId xmlns:a16="http://schemas.microsoft.com/office/drawing/2014/main" val="2765978471"/>
                        </a:ext>
                      </a:extLst>
                    </a:gridCol>
                  </a:tblGrid>
                  <a:tr h="571500">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1" i="1" smtClean="0">
                                        <a:latin typeface="Cambria Math" panose="02040503050406030204" pitchFamily="18" charset="0"/>
                                      </a:rPr>
                                      <m:t>𝒔</m:t>
                                    </m:r>
                                  </m:e>
                                  <m:sub>
                                    <m:r>
                                      <a:rPr lang="en-US" altLang="zh-CN" sz="1600" b="0" i="1" smtClean="0">
                                        <a:latin typeface="Cambria Math" panose="02040503050406030204" pitchFamily="18" charset="0"/>
                                      </a:rPr>
                                      <m:t>2</m:t>
                                    </m:r>
                                  </m:sub>
                                </m:sSub>
                              </m:oMath>
                            </m:oMathPara>
                          </a14:m>
                          <a:endParaRPr lang="zh-CN" alt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1" i="1" smtClean="0">
                                        <a:latin typeface="Cambria Math" panose="02040503050406030204" pitchFamily="18" charset="0"/>
                                      </a:rPr>
                                      <m:t>𝒙</m:t>
                                    </m:r>
                                  </m:e>
                                  <m:sub>
                                    <m:r>
                                      <a:rPr lang="en-US" altLang="zh-CN" sz="1600" b="1" i="1" smtClean="0">
                                        <a:latin typeface="Cambria Math" panose="02040503050406030204" pitchFamily="18" charset="0"/>
                                      </a:rPr>
                                      <m:t>𝟐</m:t>
                                    </m:r>
                                  </m:sub>
                                </m:sSub>
                              </m:oMath>
                            </m:oMathPara>
                          </a14:m>
                          <a:endParaRPr lang="zh-CN" alt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1" i="1" smtClean="0">
                                        <a:latin typeface="Cambria Math" panose="02040503050406030204" pitchFamily="18" charset="0"/>
                                      </a:rPr>
                                      <m:t>𝒔</m:t>
                                    </m:r>
                                  </m:e>
                                  <m:sub>
                                    <m:r>
                                      <a:rPr lang="en-US" altLang="zh-CN" sz="1600" b="1" i="1" smtClean="0">
                                        <a:latin typeface="Cambria Math" panose="02040503050406030204" pitchFamily="18" charset="0"/>
                                      </a:rPr>
                                      <m:t>𝟏</m:t>
                                    </m:r>
                                  </m:sub>
                                </m:sSub>
                              </m:oMath>
                            </m:oMathPara>
                          </a14:m>
                          <a:endParaRPr lang="zh-CN" altLang="en-US" sz="1600" dirty="0"/>
                        </a:p>
                      </a:txBody>
                      <a:tcPr/>
                    </a:tc>
                    <a:tc>
                      <a:txBody>
                        <a:bodyPr/>
                        <a:lstStyle/>
                        <a:p>
                          <a14:m>
                            <m:oMath xmlns:m="http://schemas.openxmlformats.org/officeDocument/2006/math">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𝑣</m:t>
                                  </m:r>
                                </m:e>
                                <m:sub>
                                  <m:r>
                                    <a:rPr lang="en-US" altLang="zh-CN" sz="1600" b="1" i="1" smtClean="0">
                                      <a:latin typeface="Cambria Math" panose="02040503050406030204" pitchFamily="18" charset="0"/>
                                    </a:rPr>
                                    <m:t>𝟐</m:t>
                                  </m:r>
                                </m:sub>
                              </m:sSub>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b="1" i="1" smtClean="0">
                                          <a:latin typeface="Cambria Math" panose="02040503050406030204" pitchFamily="18" charset="0"/>
                                        </a:rPr>
                                        <m:t>𝟐</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b="1" i="1" smtClean="0">
                                          <a:latin typeface="Cambria Math" panose="02040503050406030204" pitchFamily="18" charset="0"/>
                                        </a:rPr>
                                        <m:t>𝟐</m:t>
                                      </m:r>
                                    </m:sub>
                                  </m:sSub>
                                </m:e>
                              </m:d>
                              <m:r>
                                <a:rPr lang="en-US" altLang="zh-CN" sz="1600" b="1" i="1" smtClean="0">
                                  <a:latin typeface="Cambria Math" panose="02040503050406030204" pitchFamily="18" charset="0"/>
                                </a:rPr>
                                <m:t>=</m:t>
                              </m:r>
                            </m:oMath>
                          </a14:m>
                          <a:r>
                            <a:rPr lang="en-US" altLang="zh-CN" sz="1600" b="1" i="1" dirty="0" smtClean="0">
                              <a:latin typeface="Times New Roman" panose="02020603050405020304" pitchFamily="18" charset="0"/>
                              <a:cs typeface="Times New Roman" panose="02020603050405020304" pitchFamily="18" charset="0"/>
                            </a:rPr>
                            <a:t>c</a:t>
                          </a:r>
                          <a:r>
                            <a:rPr lang="en-US" altLang="zh-CN" sz="1600" b="1" i="1" baseline="-25000" dirty="0" smtClean="0">
                              <a:latin typeface="Times New Roman" panose="02020603050405020304" pitchFamily="18" charset="0"/>
                              <a:cs typeface="Times New Roman" panose="02020603050405020304" pitchFamily="18" charset="0"/>
                            </a:rPr>
                            <a:t>2 </a:t>
                          </a:r>
                          <a:r>
                            <a:rPr lang="en-US" altLang="zh-CN" sz="1600" b="1" dirty="0">
                              <a:latin typeface="Times New Roman" panose="02020603050405020304" pitchFamily="18" charset="0"/>
                              <a:cs typeface="Times New Roman" panose="02020603050405020304" pitchFamily="18" charset="0"/>
                            </a:rPr>
                            <a:t>(</a:t>
                          </a:r>
                          <a:r>
                            <a:rPr lang="en-US" altLang="zh-CN" sz="1600" b="1" i="1" dirty="0" smtClean="0">
                              <a:latin typeface="Times New Roman" panose="02020603050405020304" pitchFamily="18" charset="0"/>
                              <a:cs typeface="Times New Roman" panose="02020603050405020304" pitchFamily="18" charset="0"/>
                            </a:rPr>
                            <a:t>x</a:t>
                          </a:r>
                          <a:r>
                            <a:rPr lang="en-US" altLang="zh-CN" sz="1600" b="1" i="1" baseline="-25000" dirty="0" smtClean="0">
                              <a:latin typeface="Times New Roman" panose="02020603050405020304" pitchFamily="18" charset="0"/>
                              <a:cs typeface="Times New Roman" panose="02020603050405020304" pitchFamily="18" charset="0"/>
                            </a:rPr>
                            <a:t>2</a:t>
                          </a:r>
                          <a:r>
                            <a:rPr lang="en-US" altLang="zh-CN" sz="1600" b="1" dirty="0" smtClean="0">
                              <a:latin typeface="Times New Roman" panose="02020603050405020304" pitchFamily="18" charset="0"/>
                              <a:cs typeface="Times New Roman" panose="02020603050405020304" pitchFamily="18" charset="0"/>
                            </a:rPr>
                            <a:t>)+</a:t>
                          </a:r>
                          <a:r>
                            <a:rPr lang="en-US" altLang="zh-CN" sz="1600" b="1" i="1" dirty="0" smtClean="0">
                              <a:latin typeface="Times New Roman" panose="02020603050405020304" pitchFamily="18" charset="0"/>
                              <a:cs typeface="Times New Roman" panose="02020603050405020304" pitchFamily="18" charset="0"/>
                            </a:rPr>
                            <a:t> h</a:t>
                          </a:r>
                          <a:r>
                            <a:rPr lang="en-US" altLang="zh-CN" sz="1600" b="1" i="1" baseline="-25000" dirty="0" smtClean="0">
                              <a:latin typeface="Times New Roman" panose="02020603050405020304" pitchFamily="18" charset="0"/>
                              <a:cs typeface="Times New Roman" panose="02020603050405020304" pitchFamily="18" charset="0"/>
                            </a:rPr>
                            <a:t>2</a:t>
                          </a:r>
                          <a:r>
                            <a:rPr lang="en-US" altLang="zh-CN" sz="1600" b="1" dirty="0" smtClean="0">
                              <a:latin typeface="Times New Roman" panose="02020603050405020304" pitchFamily="18" charset="0"/>
                              <a:cs typeface="Times New Roman" panose="02020603050405020304" pitchFamily="18" charset="0"/>
                            </a:rPr>
                            <a:t>(</a:t>
                          </a:r>
                          <a:r>
                            <a:rPr lang="en-US" altLang="zh-CN" sz="1600" b="1" i="1" dirty="0" smtClean="0">
                              <a:latin typeface="Times New Roman" panose="02020603050405020304" pitchFamily="18" charset="0"/>
                              <a:cs typeface="Times New Roman" panose="02020603050405020304" pitchFamily="18" charset="0"/>
                            </a:rPr>
                            <a:t>s</a:t>
                          </a:r>
                          <a:r>
                            <a:rPr lang="en-US" altLang="zh-CN" sz="1600" b="1" i="1" baseline="-25000" dirty="0" smtClean="0">
                              <a:latin typeface="Times New Roman" panose="02020603050405020304" pitchFamily="18" charset="0"/>
                              <a:cs typeface="Times New Roman" panose="02020603050405020304" pitchFamily="18" charset="0"/>
                            </a:rPr>
                            <a:t>2</a:t>
                          </a:r>
                          <a:r>
                            <a:rPr lang="en-US" altLang="zh-CN" sz="1600" b="1" dirty="0" smtClean="0">
                              <a:latin typeface="Times New Roman" panose="02020603050405020304" pitchFamily="18" charset="0"/>
                              <a:cs typeface="Times New Roman" panose="02020603050405020304" pitchFamily="18" charset="0"/>
                            </a:rPr>
                            <a:t>)</a:t>
                          </a:r>
                          <a:r>
                            <a:rPr lang="zh-CN" altLang="en-US" sz="1600" b="1" dirty="0" smtClean="0">
                              <a:latin typeface="Times New Roman" panose="02020603050405020304" pitchFamily="18" charset="0"/>
                              <a:cs typeface="Times New Roman" panose="02020603050405020304" pitchFamily="18" charset="0"/>
                            </a:rPr>
                            <a:t> </a:t>
                          </a:r>
                          <a:endParaRPr lang="zh-CN" alt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𝑓</m:t>
                                    </m:r>
                                  </m:e>
                                  <m:sub>
                                    <m:r>
                                      <a:rPr lang="en-US" altLang="zh-CN" sz="1600" b="1" i="1" smtClean="0">
                                        <a:latin typeface="Cambria Math" panose="02040503050406030204" pitchFamily="18" charset="0"/>
                                      </a:rPr>
                                      <m:t>𝟏</m:t>
                                    </m:r>
                                  </m:sub>
                                </m:sSub>
                                <m:d>
                                  <m:dPr>
                                    <m:ctrlPr>
                                      <a:rPr lang="en-US" altLang="zh-CN" sz="1600" b="0" i="1" smtClean="0">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b="1" i="1" smtClean="0">
                                            <a:latin typeface="Cambria Math" panose="02040503050406030204" pitchFamily="18" charset="0"/>
                                          </a:rPr>
                                          <m:t>𝟏</m:t>
                                        </m:r>
                                      </m:sub>
                                    </m:sSub>
                                  </m:e>
                                </m:d>
                              </m:oMath>
                            </m:oMathPara>
                          </a14:m>
                          <a:endParaRPr lang="zh-CN" altLang="en-US" sz="1600" dirty="0"/>
                        </a:p>
                      </a:txBody>
                      <a:tcPr/>
                    </a:tc>
                    <a:tc>
                      <a:txBody>
                        <a:bodyPr/>
                        <a:lstStyle/>
                        <a:p>
                          <a14:m>
                            <m:oMath xmlns:m="http://schemas.openxmlformats.org/officeDocument/2006/math">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𝑣</m:t>
                                  </m:r>
                                </m:e>
                                <m:sub>
                                  <m:r>
                                    <a:rPr lang="en-US" altLang="zh-CN" sz="1600" b="1" i="1" smtClean="0">
                                      <a:latin typeface="Cambria Math" panose="02040503050406030204" pitchFamily="18" charset="0"/>
                                    </a:rPr>
                                    <m:t>𝟐</m:t>
                                  </m:r>
                                </m:sub>
                              </m:sSub>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b="1" i="1" smtClean="0">
                                          <a:latin typeface="Cambria Math" panose="02040503050406030204" pitchFamily="18" charset="0"/>
                                        </a:rPr>
                                        <m:t>𝟐</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b="1" i="1" smtClean="0">
                                          <a:latin typeface="Cambria Math" panose="02040503050406030204" pitchFamily="18" charset="0"/>
                                        </a:rPr>
                                        <m:t>𝟐</m:t>
                                      </m:r>
                                    </m:sub>
                                  </m:sSub>
                                </m:e>
                              </m:d>
                            </m:oMath>
                          </a14:m>
                          <a:r>
                            <a:rPr lang="en-US" altLang="zh-CN" sz="1600" dirty="0" smtClean="0"/>
                            <a:t>+</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𝑓</m:t>
                                  </m:r>
                                </m:e>
                                <m:sub>
                                  <m:r>
                                    <a:rPr lang="en-US" altLang="zh-CN" sz="1600" b="1" i="1" smtClean="0">
                                      <a:latin typeface="Cambria Math" panose="02040503050406030204" pitchFamily="18" charset="0"/>
                                    </a:rPr>
                                    <m:t>𝟏</m:t>
                                  </m:r>
                                </m:sub>
                              </m:sSub>
                              <m:d>
                                <m:dPr>
                                  <m:ctrlPr>
                                    <a:rPr lang="en-US" altLang="zh-CN" sz="1600" b="0" i="1" smtClean="0">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b="1" i="1" smtClean="0">
                                          <a:latin typeface="Cambria Math" panose="02040503050406030204" pitchFamily="18" charset="0"/>
                                        </a:rPr>
                                        <m:t>𝟏</m:t>
                                      </m:r>
                                    </m:sub>
                                  </m:sSub>
                                </m:e>
                              </m:d>
                            </m:oMath>
                          </a14:m>
                          <a:endParaRPr lang="zh-CN" alt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𝑓</m:t>
                                    </m:r>
                                  </m:e>
                                  <m:sub>
                                    <m:r>
                                      <a:rPr lang="en-US" altLang="zh-CN" sz="1600" b="1" i="1" smtClean="0">
                                        <a:latin typeface="Cambria Math" panose="02040503050406030204" pitchFamily="18" charset="0"/>
                                      </a:rPr>
                                      <m:t>𝟐</m:t>
                                    </m:r>
                                  </m:sub>
                                </m:sSub>
                                <m:d>
                                  <m:dPr>
                                    <m:ctrlPr>
                                      <a:rPr lang="en-US" altLang="zh-CN" sz="1600" b="0" i="1" smtClean="0">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b="1" i="1" smtClean="0">
                                            <a:latin typeface="Cambria Math" panose="02040503050406030204" pitchFamily="18" charset="0"/>
                                          </a:rPr>
                                          <m:t>𝟐</m:t>
                                        </m:r>
                                      </m:sub>
                                    </m:sSub>
                                  </m:e>
                                </m:d>
                              </m:oMath>
                            </m:oMathPara>
                          </a14:m>
                          <a:endParaRPr lang="zh-CN" altLang="en-US" sz="1600" dirty="0"/>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CN" sz="1600" i="1" smtClean="0">
                                        <a:latin typeface="Cambria Math" panose="02040503050406030204" pitchFamily="18" charset="0"/>
                                      </a:rPr>
                                    </m:ctrlPr>
                                  </m:sSubSupPr>
                                  <m:e>
                                    <m:r>
                                      <a:rPr lang="en-US" altLang="zh-CN" sz="1600" b="1" i="1" smtClean="0">
                                        <a:latin typeface="Cambria Math" panose="02040503050406030204" pitchFamily="18" charset="0"/>
                                      </a:rPr>
                                      <m:t>𝒙</m:t>
                                    </m:r>
                                  </m:e>
                                  <m:sub>
                                    <m:r>
                                      <a:rPr lang="en-US" altLang="zh-CN" sz="1600" b="1" i="1" smtClean="0">
                                        <a:latin typeface="Cambria Math" panose="02040503050406030204" pitchFamily="18" charset="0"/>
                                      </a:rPr>
                                      <m:t>𝟐</m:t>
                                    </m:r>
                                  </m:sub>
                                  <m:sup>
                                    <m:r>
                                      <a:rPr lang="en-US" altLang="zh-CN" sz="1600" b="1" i="1" smtClean="0">
                                        <a:latin typeface="Cambria Math" panose="02040503050406030204" pitchFamily="18" charset="0"/>
                                      </a:rPr>
                                      <m:t>∗</m:t>
                                    </m:r>
                                  </m:sup>
                                </m:sSubSup>
                              </m:oMath>
                            </m:oMathPara>
                          </a14:m>
                          <a:endParaRPr lang="zh-CN" altLang="en-US" sz="1600" dirty="0"/>
                        </a:p>
                      </a:txBody>
                      <a:tcPr/>
                    </a:tc>
                    <a:extLst>
                      <a:ext uri="{0D108BD9-81ED-4DB2-BD59-A6C34878D82A}">
                        <a16:rowId xmlns:a16="http://schemas.microsoft.com/office/drawing/2014/main" val="37799757"/>
                      </a:ext>
                    </a:extLst>
                  </a:tr>
                  <a:tr h="330868">
                    <a:tc rowSpan="4">
                      <a:txBody>
                        <a:bodyPr/>
                        <a:lstStyle/>
                        <a:p>
                          <a:r>
                            <a:rPr lang="en-US" altLang="zh-CN" sz="1600" dirty="0" smtClean="0"/>
                            <a:t>0</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0+0=0</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9.5</a:t>
                          </a:r>
                          <a:endParaRPr lang="zh-CN" altLang="en-US" sz="1600" dirty="0"/>
                        </a:p>
                      </a:txBody>
                      <a:tcPr/>
                    </a:tc>
                    <a:tc rowSpan="4">
                      <a:txBody>
                        <a:bodyPr/>
                        <a:lstStyle/>
                        <a:p>
                          <a:r>
                            <a:rPr lang="en-US" altLang="zh-CN" sz="1600" dirty="0" smtClean="0"/>
                            <a:t>9.5</a:t>
                          </a:r>
                          <a:endParaRPr lang="zh-CN" altLang="en-US" sz="1600" dirty="0"/>
                        </a:p>
                      </a:txBody>
                      <a:tcPr/>
                    </a:tc>
                    <a:tc rowSpan="4">
                      <a:txBody>
                        <a:bodyPr/>
                        <a:lstStyle/>
                        <a:p>
                          <a:r>
                            <a:rPr lang="en-US" altLang="zh-CN" sz="1600" dirty="0" smtClean="0"/>
                            <a:t>0</a:t>
                          </a:r>
                          <a:endParaRPr lang="zh-CN" altLang="en-US" sz="1600" dirty="0"/>
                        </a:p>
                      </a:txBody>
                      <a:tcPr/>
                    </a:tc>
                    <a:extLst>
                      <a:ext uri="{0D108BD9-81ED-4DB2-BD59-A6C34878D82A}">
                        <a16:rowId xmlns:a16="http://schemas.microsoft.com/office/drawing/2014/main" val="130326615"/>
                      </a:ext>
                    </a:extLst>
                  </a:tr>
                  <a:tr h="330868">
                    <a:tc vMerge="1">
                      <a:txBody>
                        <a:bodyPr/>
                        <a:lstStyle/>
                        <a:p>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3+1+0=4</a:t>
                          </a:r>
                          <a:endParaRPr lang="zh-CN" altLang="en-US" sz="1600" dirty="0"/>
                        </a:p>
                      </a:txBody>
                      <a:tcPr/>
                    </a:tc>
                    <a:tc>
                      <a:txBody>
                        <a:bodyPr/>
                        <a:lstStyle/>
                        <a:p>
                          <a:r>
                            <a:rPr lang="en-US" altLang="zh-CN" sz="1600" dirty="0" smtClean="0"/>
                            <a:t>8</a:t>
                          </a:r>
                          <a:endParaRPr lang="zh-CN" altLang="en-US" sz="1600" dirty="0"/>
                        </a:p>
                      </a:txBody>
                      <a:tcPr/>
                    </a:tc>
                    <a:tc>
                      <a:txBody>
                        <a:bodyPr/>
                        <a:lstStyle/>
                        <a:p>
                          <a:r>
                            <a:rPr lang="en-US" altLang="zh-CN" sz="1600" dirty="0" smtClean="0"/>
                            <a:t>12</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845204460"/>
                      </a:ext>
                    </a:extLst>
                  </a:tr>
                  <a:tr h="330868">
                    <a:tc vMerge="1">
                      <a:txBody>
                        <a:bodyPr/>
                        <a:lstStyle/>
                        <a:p>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3+2+0=5</a:t>
                          </a:r>
                          <a:endParaRPr lang="zh-CN" altLang="en-US" sz="1600" dirty="0"/>
                        </a:p>
                      </a:txBody>
                      <a:tcPr/>
                    </a:tc>
                    <a:tc>
                      <a:txBody>
                        <a:bodyPr/>
                        <a:lstStyle/>
                        <a:p>
                          <a:r>
                            <a:rPr lang="en-US" altLang="zh-CN" sz="1600" dirty="0" smtClean="0"/>
                            <a:t>6.5</a:t>
                          </a:r>
                          <a:endParaRPr lang="zh-CN" altLang="en-US" sz="1600" dirty="0"/>
                        </a:p>
                      </a:txBody>
                      <a:tcPr/>
                    </a:tc>
                    <a:tc>
                      <a:txBody>
                        <a:bodyPr/>
                        <a:lstStyle/>
                        <a:p>
                          <a:r>
                            <a:rPr lang="en-US" altLang="zh-CN" sz="1600" dirty="0" smtClean="0"/>
                            <a:t>11.5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1824428135"/>
                      </a:ext>
                    </a:extLst>
                  </a:tr>
                  <a:tr h="330868">
                    <a:tc vMerge="1">
                      <a:txBody>
                        <a:bodyPr/>
                        <a:lstStyle/>
                        <a:p>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3+3+0=6</a:t>
                          </a:r>
                          <a:endParaRPr lang="zh-CN" altLang="en-US" sz="1600" dirty="0"/>
                        </a:p>
                      </a:txBody>
                      <a:tcPr/>
                    </a:tc>
                    <a:tc>
                      <a:txBody>
                        <a:bodyPr/>
                        <a:lstStyle/>
                        <a:p>
                          <a:r>
                            <a:rPr lang="en-US" altLang="zh-CN" sz="1600" dirty="0" smtClean="0"/>
                            <a:t>5</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11</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873709785"/>
                      </a:ext>
                    </a:extLst>
                  </a:tr>
                  <a:tr h="330868">
                    <a:tc rowSpan="5">
                      <a:txBody>
                        <a:bodyPr/>
                        <a:lstStyle/>
                        <a:p>
                          <a:r>
                            <a:rPr lang="en-US" altLang="zh-CN" sz="1600" dirty="0" smtClean="0"/>
                            <a:t>1</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0+1*0.5=0.5</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11</a:t>
                          </a:r>
                          <a:endParaRPr lang="zh-CN" altLang="en-US" sz="1600" dirty="0"/>
                        </a:p>
                      </a:txBody>
                      <a:tcPr/>
                    </a:tc>
                    <a:tc>
                      <a:txBody>
                        <a:bodyPr/>
                        <a:lstStyle/>
                        <a:p>
                          <a:r>
                            <a:rPr lang="en-US" altLang="zh-CN" sz="1600" dirty="0" smtClean="0"/>
                            <a:t>11.5</a:t>
                          </a:r>
                          <a:endParaRPr lang="zh-CN" altLang="en-US" sz="1600" dirty="0"/>
                        </a:p>
                      </a:txBody>
                      <a:tcPr/>
                    </a:tc>
                    <a:tc rowSpan="5">
                      <a:txBody>
                        <a:bodyPr/>
                        <a:lstStyle/>
                        <a:p>
                          <a:r>
                            <a:rPr lang="en-US" altLang="zh-CN" sz="1600" dirty="0" smtClean="0"/>
                            <a:t>11.5</a:t>
                          </a:r>
                          <a:endParaRPr lang="zh-CN" altLang="en-US" sz="1600" dirty="0"/>
                        </a:p>
                      </a:txBody>
                      <a:tcPr/>
                    </a:tc>
                    <a:tc rowSpan="5">
                      <a:txBody>
                        <a:bodyPr/>
                        <a:lstStyle/>
                        <a:p>
                          <a:r>
                            <a:rPr lang="en-US" altLang="zh-CN" sz="1600" dirty="0" smtClean="0"/>
                            <a:t>0</a:t>
                          </a:r>
                          <a:endParaRPr lang="zh-CN" altLang="en-US" sz="1600" dirty="0"/>
                        </a:p>
                      </a:txBody>
                      <a:tcPr/>
                    </a:tc>
                    <a:extLst>
                      <a:ext uri="{0D108BD9-81ED-4DB2-BD59-A6C34878D82A}">
                        <a16:rowId xmlns:a16="http://schemas.microsoft.com/office/drawing/2014/main" val="2009149456"/>
                      </a:ext>
                    </a:extLst>
                  </a:tr>
                  <a:tr h="330868">
                    <a:tc vMerge="1">
                      <a:txBody>
                        <a:bodyPr/>
                        <a:lstStyle/>
                        <a:p>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3+1+1*0.5=4.5</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14</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884266079"/>
                      </a:ext>
                    </a:extLst>
                  </a:tr>
                  <a:tr h="330868">
                    <a:tc vMerge="1">
                      <a:txBody>
                        <a:bodyPr/>
                        <a:lstStyle/>
                        <a:p>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2</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3+2+1*0.5=5.5</a:t>
                          </a:r>
                          <a:endParaRPr lang="zh-CN" altLang="en-US" sz="1600" dirty="0" smtClean="0"/>
                        </a:p>
                      </a:txBody>
                      <a:tcPr/>
                    </a:tc>
                    <a:tc>
                      <a:txBody>
                        <a:bodyPr/>
                        <a:lstStyle/>
                        <a:p>
                          <a:r>
                            <a:rPr lang="en-US" altLang="zh-CN" sz="1600" dirty="0" smtClean="0"/>
                            <a:t>8</a:t>
                          </a:r>
                          <a:endParaRPr lang="zh-CN" altLang="en-US" sz="1600" dirty="0"/>
                        </a:p>
                      </a:txBody>
                      <a:tcPr/>
                    </a:tc>
                    <a:tc>
                      <a:txBody>
                        <a:bodyPr/>
                        <a:lstStyle/>
                        <a:p>
                          <a:r>
                            <a:rPr lang="en-US" altLang="zh-CN" sz="1600" dirty="0" smtClean="0"/>
                            <a:t>13.5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1656321950"/>
                      </a:ext>
                    </a:extLst>
                  </a:tr>
                  <a:tr h="330868">
                    <a:tc vMerge="1">
                      <a:txBody>
                        <a:bodyPr/>
                        <a:lstStyle/>
                        <a:p>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3+3+1*0.5=6.5</a:t>
                          </a:r>
                          <a:endParaRPr lang="zh-CN" altLang="en-US" sz="1600" dirty="0"/>
                        </a:p>
                      </a:txBody>
                      <a:tcPr/>
                    </a:tc>
                    <a:tc>
                      <a:txBody>
                        <a:bodyPr/>
                        <a:lstStyle/>
                        <a:p>
                          <a:r>
                            <a:rPr lang="en-US" altLang="zh-CN" sz="1600" dirty="0" smtClean="0"/>
                            <a:t>6.5</a:t>
                          </a:r>
                          <a:endParaRPr lang="zh-CN" altLang="en-US" sz="1600" dirty="0"/>
                        </a:p>
                      </a:txBody>
                      <a:tcPr/>
                    </a:tc>
                    <a:tc>
                      <a:txBody>
                        <a:bodyPr/>
                        <a:lstStyle/>
                        <a:p>
                          <a:r>
                            <a:rPr lang="en-US" altLang="zh-CN" sz="1600" dirty="0" smtClean="0"/>
                            <a:t>13</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368324249"/>
                      </a:ext>
                    </a:extLst>
                  </a:tr>
                  <a:tr h="330868">
                    <a:tc vMerge="1">
                      <a:txBody>
                        <a:bodyPr/>
                        <a:lstStyle/>
                        <a:p>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3+4+1*0.5=7.5</a:t>
                          </a:r>
                          <a:endParaRPr lang="zh-CN" altLang="en-US" sz="1600" dirty="0"/>
                        </a:p>
                      </a:txBody>
                      <a:tcPr/>
                    </a:tc>
                    <a:tc>
                      <a:txBody>
                        <a:bodyPr/>
                        <a:lstStyle/>
                        <a:p>
                          <a:r>
                            <a:rPr lang="en-US" altLang="zh-CN" sz="1600" dirty="0" smtClean="0"/>
                            <a:t>5</a:t>
                          </a:r>
                          <a:endParaRPr lang="zh-CN" altLang="en-US" sz="1600" dirty="0"/>
                        </a:p>
                      </a:txBody>
                      <a:tcPr/>
                    </a:tc>
                    <a:tc>
                      <a:txBody>
                        <a:bodyPr/>
                        <a:lstStyle/>
                        <a:p>
                          <a:r>
                            <a:rPr lang="en-US" altLang="zh-CN" sz="1600" dirty="0" smtClean="0"/>
                            <a:t>12.5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763858245"/>
                      </a:ext>
                    </a:extLst>
                  </a:tr>
                  <a:tr h="330868">
                    <a:tc rowSpan="5">
                      <a:txBody>
                        <a:bodyPr/>
                        <a:lstStyle/>
                        <a:p>
                          <a:r>
                            <a:rPr lang="en-US" altLang="zh-CN" sz="1600" dirty="0" smtClean="0"/>
                            <a:t>2</a:t>
                          </a: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3+1+2*0.5=5</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11</a:t>
                          </a:r>
                          <a:endParaRPr lang="zh-CN" altLang="en-US" sz="1600" dirty="0"/>
                        </a:p>
                      </a:txBody>
                      <a:tcPr/>
                    </a:tc>
                    <a:tc>
                      <a:txBody>
                        <a:bodyPr/>
                        <a:lstStyle/>
                        <a:p>
                          <a:r>
                            <a:rPr lang="en-US" altLang="zh-CN" sz="1600" dirty="0" smtClean="0"/>
                            <a:t>16</a:t>
                          </a:r>
                          <a:endParaRPr lang="zh-CN" altLang="en-US" sz="1600" dirty="0"/>
                        </a:p>
                      </a:txBody>
                      <a:tcPr/>
                    </a:tc>
                    <a:tc rowSpan="5">
                      <a:txBody>
                        <a:bodyPr/>
                        <a:lstStyle/>
                        <a:p>
                          <a:r>
                            <a:rPr lang="en-US" altLang="zh-CN" sz="1600" dirty="0" smtClean="0"/>
                            <a:t>14</a:t>
                          </a:r>
                          <a:endParaRPr lang="zh-CN" altLang="en-US" sz="1600" dirty="0"/>
                        </a:p>
                      </a:txBody>
                      <a:tcPr/>
                    </a:tc>
                    <a:tc rowSpan="5">
                      <a:txBody>
                        <a:bodyPr/>
                        <a:lstStyle/>
                        <a:p>
                          <a:r>
                            <a:rPr lang="en-US" altLang="zh-CN" sz="1600" dirty="0" smtClean="0"/>
                            <a:t>5</a:t>
                          </a:r>
                          <a:endParaRPr lang="zh-CN" altLang="en-US" sz="1600" dirty="0"/>
                        </a:p>
                      </a:txBody>
                      <a:tcPr/>
                    </a:tc>
                    <a:extLst>
                      <a:ext uri="{0D108BD9-81ED-4DB2-BD59-A6C34878D82A}">
                        <a16:rowId xmlns:a16="http://schemas.microsoft.com/office/drawing/2014/main" val="4273431072"/>
                      </a:ext>
                    </a:extLst>
                  </a:tr>
                  <a:tr h="330868">
                    <a:tc vMerge="1">
                      <a:txBody>
                        <a:bodyPr/>
                        <a:lstStyle/>
                        <a:p>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3+2+2*0.5=6</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15.5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285198267"/>
                      </a:ext>
                    </a:extLst>
                  </a:tr>
                  <a:tr h="330868">
                    <a:tc vMerge="1">
                      <a:txBody>
                        <a:bodyPr/>
                        <a:lstStyle/>
                        <a:p>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3+3+2*0.5=7</a:t>
                          </a:r>
                          <a:endParaRPr lang="zh-CN" altLang="en-US" sz="1600" dirty="0"/>
                        </a:p>
                      </a:txBody>
                      <a:tcPr/>
                    </a:tc>
                    <a:tc>
                      <a:txBody>
                        <a:bodyPr/>
                        <a:lstStyle/>
                        <a:p>
                          <a:r>
                            <a:rPr lang="en-US" altLang="zh-CN" sz="1600" dirty="0" smtClean="0"/>
                            <a:t>8</a:t>
                          </a:r>
                          <a:endParaRPr lang="zh-CN" altLang="en-US" sz="1600" dirty="0"/>
                        </a:p>
                      </a:txBody>
                      <a:tcPr/>
                    </a:tc>
                    <a:tc>
                      <a:txBody>
                        <a:bodyPr/>
                        <a:lstStyle/>
                        <a:p>
                          <a:r>
                            <a:rPr lang="en-US" altLang="zh-CN" sz="1600" dirty="0" smtClean="0"/>
                            <a:t>15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3736361684"/>
                      </a:ext>
                    </a:extLst>
                  </a:tr>
                  <a:tr h="330868">
                    <a:tc vMerge="1">
                      <a:txBody>
                        <a:bodyPr/>
                        <a:lstStyle/>
                        <a:p>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3+4+2*0.5=8</a:t>
                          </a:r>
                          <a:endParaRPr lang="zh-CN" altLang="en-US" sz="1600" dirty="0"/>
                        </a:p>
                      </a:txBody>
                      <a:tcPr/>
                    </a:tc>
                    <a:tc>
                      <a:txBody>
                        <a:bodyPr/>
                        <a:lstStyle/>
                        <a:p>
                          <a:r>
                            <a:rPr lang="en-US" altLang="zh-CN" sz="1600" dirty="0" smtClean="0"/>
                            <a:t>6.5</a:t>
                          </a:r>
                          <a:endParaRPr lang="zh-CN" altLang="en-US" sz="1600" dirty="0"/>
                        </a:p>
                      </a:txBody>
                      <a:tcPr/>
                    </a:tc>
                    <a:tc>
                      <a:txBody>
                        <a:bodyPr/>
                        <a:lstStyle/>
                        <a:p>
                          <a:r>
                            <a:rPr lang="en-US" altLang="zh-CN" sz="1600" dirty="0" smtClean="0"/>
                            <a:t>14.5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444571681"/>
                      </a:ext>
                    </a:extLst>
                  </a:tr>
                  <a:tr h="330868">
                    <a:tc vMerge="1">
                      <a:txBody>
                        <a:bodyPr/>
                        <a:lstStyle/>
                        <a:p>
                          <a:endParaRPr lang="zh-CN" altLang="en-US" sz="1600" dirty="0"/>
                        </a:p>
                      </a:txBody>
                      <a:tcPr/>
                    </a:tc>
                    <a:tc>
                      <a:txBody>
                        <a:bodyPr/>
                        <a:lstStyle/>
                        <a:p>
                          <a:r>
                            <a:rPr lang="en-US" altLang="zh-CN" sz="1600" dirty="0" smtClean="0"/>
                            <a:t>5</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3+5+2*0.5=9</a:t>
                          </a:r>
                          <a:endParaRPr lang="zh-CN" altLang="en-US" sz="1600" dirty="0"/>
                        </a:p>
                      </a:txBody>
                      <a:tcPr/>
                    </a:tc>
                    <a:tc>
                      <a:txBody>
                        <a:bodyPr/>
                        <a:lstStyle/>
                        <a:p>
                          <a:r>
                            <a:rPr lang="en-US" altLang="zh-CN" sz="1600" dirty="0" smtClean="0"/>
                            <a:t>5</a:t>
                          </a:r>
                          <a:endParaRPr lang="zh-CN" altLang="en-US" sz="1600" dirty="0"/>
                        </a:p>
                      </a:txBody>
                      <a:tcPr/>
                    </a:tc>
                    <a:tc>
                      <a:txBody>
                        <a:bodyPr/>
                        <a:lstStyle/>
                        <a:p>
                          <a:r>
                            <a:rPr lang="en-US" altLang="zh-CN" sz="1600" dirty="0" smtClean="0"/>
                            <a:t>14</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867185907"/>
                      </a:ext>
                    </a:extLst>
                  </a:tr>
                  <a:tr h="330868">
                    <a:tc rowSpan="5">
                      <a:txBody>
                        <a:bodyPr/>
                        <a:lstStyle/>
                        <a:p>
                          <a:r>
                            <a:rPr lang="en-US" altLang="zh-CN" sz="1600" dirty="0" smtClean="0"/>
                            <a:t>3</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3+2+3*0.5=6.5</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11</a:t>
                          </a:r>
                          <a:endParaRPr lang="zh-CN" altLang="en-US" sz="1600" dirty="0"/>
                        </a:p>
                      </a:txBody>
                      <a:tcPr/>
                    </a:tc>
                    <a:tc>
                      <a:txBody>
                        <a:bodyPr/>
                        <a:lstStyle/>
                        <a:p>
                          <a:r>
                            <a:rPr lang="en-US" altLang="zh-CN" sz="1600" dirty="0" smtClean="0"/>
                            <a:t>17.5</a:t>
                          </a:r>
                          <a:endParaRPr lang="zh-CN" altLang="en-US" sz="1600" dirty="0"/>
                        </a:p>
                      </a:txBody>
                      <a:tcPr/>
                    </a:tc>
                    <a:tc rowSpan="5">
                      <a:txBody>
                        <a:bodyPr/>
                        <a:lstStyle/>
                        <a:p>
                          <a:r>
                            <a:rPr lang="en-US" altLang="zh-CN" sz="1600" dirty="0" smtClean="0"/>
                            <a:t>15.5</a:t>
                          </a:r>
                          <a:endParaRPr lang="zh-CN" altLang="en-US" sz="1600" dirty="0"/>
                        </a:p>
                      </a:txBody>
                      <a:tcPr/>
                    </a:tc>
                    <a:tc rowSpan="5">
                      <a:txBody>
                        <a:bodyPr/>
                        <a:lstStyle/>
                        <a:p>
                          <a:r>
                            <a:rPr lang="en-US" altLang="zh-CN" sz="1600" dirty="0" smtClean="0"/>
                            <a:t>6</a:t>
                          </a:r>
                          <a:endParaRPr lang="zh-CN" altLang="en-US" sz="1600" dirty="0"/>
                        </a:p>
                      </a:txBody>
                      <a:tcPr/>
                    </a:tc>
                    <a:extLst>
                      <a:ext uri="{0D108BD9-81ED-4DB2-BD59-A6C34878D82A}">
                        <a16:rowId xmlns:a16="http://schemas.microsoft.com/office/drawing/2014/main" val="3643722671"/>
                      </a:ext>
                    </a:extLst>
                  </a:tr>
                  <a:tr h="330868">
                    <a:tc vMerge="1">
                      <a:txBody>
                        <a:bodyPr/>
                        <a:lstStyle/>
                        <a:p>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3</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292929"/>
                              </a:solidFill>
                              <a:effectLst/>
                              <a:uLnTx/>
                              <a:uFillTx/>
                              <a:latin typeface="Arial"/>
                              <a:ea typeface="宋体"/>
                              <a:cs typeface="+mn-cs"/>
                            </a:rPr>
                            <a:t>3+3+3*0.5=7.5</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17</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1490189046"/>
                      </a:ext>
                    </a:extLst>
                  </a:tr>
                  <a:tr h="330868">
                    <a:tc vMerge="1">
                      <a:txBody>
                        <a:bodyPr/>
                        <a:lstStyle/>
                        <a:p>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2</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292929"/>
                              </a:solidFill>
                              <a:effectLst/>
                              <a:uLnTx/>
                              <a:uFillTx/>
                              <a:latin typeface="Arial"/>
                              <a:ea typeface="宋体"/>
                              <a:cs typeface="+mn-cs"/>
                            </a:rPr>
                            <a:t>3+4+3*0.5=8.5</a:t>
                          </a:r>
                          <a:endParaRPr lang="zh-CN" altLang="en-US" sz="1600" dirty="0"/>
                        </a:p>
                      </a:txBody>
                      <a:tcPr/>
                    </a:tc>
                    <a:tc>
                      <a:txBody>
                        <a:bodyPr/>
                        <a:lstStyle/>
                        <a:p>
                          <a:r>
                            <a:rPr lang="en-US" altLang="zh-CN" sz="1600" dirty="0" smtClean="0"/>
                            <a:t>8</a:t>
                          </a:r>
                          <a:endParaRPr lang="zh-CN" altLang="en-US" sz="1600" dirty="0"/>
                        </a:p>
                      </a:txBody>
                      <a:tcPr/>
                    </a:tc>
                    <a:tc>
                      <a:txBody>
                        <a:bodyPr/>
                        <a:lstStyle/>
                        <a:p>
                          <a:r>
                            <a:rPr lang="en-US" altLang="zh-CN" sz="1600" dirty="0" smtClean="0"/>
                            <a:t>16.5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12023833"/>
                      </a:ext>
                    </a:extLst>
                  </a:tr>
                  <a:tr h="330868">
                    <a:tc vMerge="1">
                      <a:txBody>
                        <a:bodyPr/>
                        <a:lstStyle/>
                        <a:p>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5</a:t>
                          </a:r>
                          <a:endParaRPr lang="zh-CN" altLang="en-US" sz="1600" dirty="0"/>
                        </a:p>
                      </a:txBody>
                      <a:tcPr/>
                    </a:tc>
                    <a:tc>
                      <a:txBody>
                        <a:bodyPr/>
                        <a:lstStyle/>
                        <a:p>
                          <a:r>
                            <a:rPr lang="en-US" altLang="zh-CN" sz="1600" dirty="0" smtClean="0"/>
                            <a:t>1</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292929"/>
                              </a:solidFill>
                              <a:effectLst/>
                              <a:uLnTx/>
                              <a:uFillTx/>
                              <a:latin typeface="Arial"/>
                              <a:ea typeface="宋体"/>
                              <a:cs typeface="+mn-cs"/>
                            </a:rPr>
                            <a:t>3+5+3*0.5=9.5</a:t>
                          </a:r>
                          <a:endParaRPr lang="zh-CN" altLang="en-US" sz="1600" dirty="0"/>
                        </a:p>
                      </a:txBody>
                      <a:tcPr/>
                    </a:tc>
                    <a:tc>
                      <a:txBody>
                        <a:bodyPr/>
                        <a:lstStyle/>
                        <a:p>
                          <a:r>
                            <a:rPr lang="en-US" altLang="zh-CN" sz="1600" dirty="0" smtClean="0"/>
                            <a:t>6.5</a:t>
                          </a:r>
                          <a:endParaRPr lang="zh-CN" altLang="en-US" sz="1600" dirty="0"/>
                        </a:p>
                      </a:txBody>
                      <a:tcPr/>
                    </a:tc>
                    <a:tc>
                      <a:txBody>
                        <a:bodyPr/>
                        <a:lstStyle/>
                        <a:p>
                          <a:r>
                            <a:rPr lang="en-US" altLang="zh-CN" sz="1600" dirty="0" smtClean="0"/>
                            <a:t>16</a:t>
                          </a:r>
                          <a:endParaRPr lang="zh-CN" altLang="en-US" sz="1600" dirty="0"/>
                        </a:p>
                      </a:txBody>
                      <a:tcPr/>
                    </a:tc>
                    <a:tc vMerge="1">
                      <a:txBody>
                        <a:bodyPr/>
                        <a:lstStyle/>
                        <a:p>
                          <a:endParaRPr lang="zh-CN"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tc>
                    <a:extLst>
                      <a:ext uri="{0D108BD9-81ED-4DB2-BD59-A6C34878D82A}">
                        <a16:rowId xmlns:a16="http://schemas.microsoft.com/office/drawing/2014/main" val="1091311635"/>
                      </a:ext>
                    </a:extLst>
                  </a:tr>
                  <a:tr h="330868">
                    <a:tc vMerge="1">
                      <a:txBody>
                        <a:bodyPr/>
                        <a:lstStyle/>
                        <a:p>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6</a:t>
                          </a:r>
                          <a:endParaRPr lang="zh-CN" altLang="en-US" sz="1600" dirty="0"/>
                        </a:p>
                      </a:txBody>
                      <a:tcPr/>
                    </a:tc>
                    <a:tc>
                      <a:txBody>
                        <a:bodyPr/>
                        <a:lstStyle/>
                        <a:p>
                          <a:r>
                            <a:rPr lang="en-US" altLang="zh-CN" sz="1600" dirty="0" smtClean="0"/>
                            <a:t>0</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292929"/>
                              </a:solidFill>
                              <a:effectLst/>
                              <a:uLnTx/>
                              <a:uFillTx/>
                              <a:latin typeface="Arial"/>
                              <a:ea typeface="宋体"/>
                              <a:cs typeface="+mn-cs"/>
                            </a:rPr>
                            <a:t>3+6+3*0.5=10.5</a:t>
                          </a:r>
                          <a:endParaRPr lang="zh-CN" altLang="en-US" sz="1600" dirty="0"/>
                        </a:p>
                      </a:txBody>
                      <a:tcPr/>
                    </a:tc>
                    <a:tc>
                      <a:txBody>
                        <a:bodyPr/>
                        <a:lstStyle/>
                        <a:p>
                          <a:r>
                            <a:rPr lang="en-US" altLang="zh-CN" sz="1600" dirty="0" smtClean="0"/>
                            <a:t>5</a:t>
                          </a:r>
                          <a:endParaRPr lang="zh-CN" altLang="en-US" sz="1600" dirty="0"/>
                        </a:p>
                      </a:txBody>
                      <a:tcPr/>
                    </a:tc>
                    <a:tc>
                      <a:txBody>
                        <a:bodyPr/>
                        <a:lstStyle/>
                        <a:p>
                          <a:r>
                            <a:rPr lang="en-US" altLang="zh-CN" sz="1600" dirty="0" smtClean="0"/>
                            <a:t>15.5</a:t>
                          </a:r>
                          <a:endParaRPr lang="zh-CN" altLang="en-US" sz="1600" dirty="0"/>
                        </a:p>
                      </a:txBody>
                      <a:tcPr/>
                    </a:tc>
                    <a:tc vMerge="1">
                      <a:txBody>
                        <a:bodyPr/>
                        <a:lstStyle/>
                        <a:p>
                          <a:endParaRPr lang="zh-CN"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tc>
                    <a:extLst>
                      <a:ext uri="{0D108BD9-81ED-4DB2-BD59-A6C34878D82A}">
                        <a16:rowId xmlns:a16="http://schemas.microsoft.com/office/drawing/2014/main" val="3031742095"/>
                      </a:ext>
                    </a:extLst>
                  </a:tr>
                </a:tbl>
              </a:graphicData>
            </a:graphic>
          </p:graphicFrame>
        </mc:Choice>
        <mc:Fallback xmlns="">
          <p:graphicFrame>
            <p:nvGraphicFramePr>
              <p:cNvPr id="5" name="表格 4"/>
              <p:cNvGraphicFramePr>
                <a:graphicFrameLocks noGrp="1"/>
              </p:cNvGraphicFramePr>
              <p:nvPr>
                <p:extLst>
                  <p:ext uri="{D42A27DB-BD31-4B8C-83A1-F6EECF244321}">
                    <p14:modId xmlns:p14="http://schemas.microsoft.com/office/powerpoint/2010/main" val="3379085353"/>
                  </p:ext>
                </p:extLst>
              </p:nvPr>
            </p:nvGraphicFramePr>
            <p:xfrm>
              <a:off x="2915816" y="-99392"/>
              <a:ext cx="6264696" cy="6949440"/>
            </p:xfrm>
            <a:graphic>
              <a:graphicData uri="http://schemas.openxmlformats.org/drawingml/2006/table">
                <a:tbl>
                  <a:tblPr firstRow="1" bandRow="1">
                    <a:tableStyleId>{5C22544A-7EE6-4342-B048-85BDC9FD1C3A}</a:tableStyleId>
                  </a:tblPr>
                  <a:tblGrid>
                    <a:gridCol w="481487">
                      <a:extLst>
                        <a:ext uri="{9D8B030D-6E8A-4147-A177-3AD203B41FA5}">
                          <a16:colId xmlns:a16="http://schemas.microsoft.com/office/drawing/2014/main" val="1816936163"/>
                        </a:ext>
                      </a:extLst>
                    </a:gridCol>
                    <a:gridCol w="554404">
                      <a:extLst>
                        <a:ext uri="{9D8B030D-6E8A-4147-A177-3AD203B41FA5}">
                          <a16:colId xmlns:a16="http://schemas.microsoft.com/office/drawing/2014/main" val="1250546864"/>
                        </a:ext>
                      </a:extLst>
                    </a:gridCol>
                    <a:gridCol w="616004">
                      <a:extLst>
                        <a:ext uri="{9D8B030D-6E8A-4147-A177-3AD203B41FA5}">
                          <a16:colId xmlns:a16="http://schemas.microsoft.com/office/drawing/2014/main" val="1869782824"/>
                        </a:ext>
                      </a:extLst>
                    </a:gridCol>
                    <a:gridCol w="1732481">
                      <a:extLst>
                        <a:ext uri="{9D8B030D-6E8A-4147-A177-3AD203B41FA5}">
                          <a16:colId xmlns:a16="http://schemas.microsoft.com/office/drawing/2014/main" val="3148481169"/>
                        </a:ext>
                      </a:extLst>
                    </a:gridCol>
                    <a:gridCol w="608334">
                      <a:extLst>
                        <a:ext uri="{9D8B030D-6E8A-4147-A177-3AD203B41FA5}">
                          <a16:colId xmlns:a16="http://schemas.microsoft.com/office/drawing/2014/main" val="644265878"/>
                        </a:ext>
                      </a:extLst>
                    </a:gridCol>
                    <a:gridCol w="981086">
                      <a:extLst>
                        <a:ext uri="{9D8B030D-6E8A-4147-A177-3AD203B41FA5}">
                          <a16:colId xmlns:a16="http://schemas.microsoft.com/office/drawing/2014/main" val="938889560"/>
                        </a:ext>
                      </a:extLst>
                    </a:gridCol>
                    <a:gridCol w="723353">
                      <a:extLst>
                        <a:ext uri="{9D8B030D-6E8A-4147-A177-3AD203B41FA5}">
                          <a16:colId xmlns:a16="http://schemas.microsoft.com/office/drawing/2014/main" val="1613744912"/>
                        </a:ext>
                      </a:extLst>
                    </a:gridCol>
                    <a:gridCol w="567547">
                      <a:extLst>
                        <a:ext uri="{9D8B030D-6E8A-4147-A177-3AD203B41FA5}">
                          <a16:colId xmlns:a16="http://schemas.microsoft.com/office/drawing/2014/main" val="2765978471"/>
                        </a:ext>
                      </a:extLst>
                    </a:gridCol>
                  </a:tblGrid>
                  <a:tr h="579120">
                    <a:tc>
                      <a:txBody>
                        <a:bodyPr/>
                        <a:lstStyle/>
                        <a:p>
                          <a:endParaRPr lang="zh-CN"/>
                        </a:p>
                      </a:txBody>
                      <a:tcPr>
                        <a:blipFill>
                          <a:blip r:embed="rId2"/>
                          <a:stretch>
                            <a:fillRect l="-1266" t="-2105" r="-1207595" b="-1114737"/>
                          </a:stretch>
                        </a:blipFill>
                      </a:tcPr>
                    </a:tc>
                    <a:tc>
                      <a:txBody>
                        <a:bodyPr/>
                        <a:lstStyle/>
                        <a:p>
                          <a:endParaRPr lang="zh-CN"/>
                        </a:p>
                      </a:txBody>
                      <a:tcPr>
                        <a:blipFill>
                          <a:blip r:embed="rId2"/>
                          <a:stretch>
                            <a:fillRect l="-87912" t="-2105" r="-948352" b="-1114737"/>
                          </a:stretch>
                        </a:blipFill>
                      </a:tcPr>
                    </a:tc>
                    <a:tc>
                      <a:txBody>
                        <a:bodyPr/>
                        <a:lstStyle/>
                        <a:p>
                          <a:endParaRPr lang="zh-CN"/>
                        </a:p>
                      </a:txBody>
                      <a:tcPr>
                        <a:blipFill>
                          <a:blip r:embed="rId2"/>
                          <a:stretch>
                            <a:fillRect l="-169307" t="-2105" r="-754455" b="-1114737"/>
                          </a:stretch>
                        </a:blipFill>
                      </a:tcPr>
                    </a:tc>
                    <a:tc>
                      <a:txBody>
                        <a:bodyPr/>
                        <a:lstStyle/>
                        <a:p>
                          <a:endParaRPr lang="zh-CN"/>
                        </a:p>
                      </a:txBody>
                      <a:tcPr>
                        <a:blipFill>
                          <a:blip r:embed="rId2"/>
                          <a:stretch>
                            <a:fillRect l="-95775" t="-2105" r="-168310" b="-1114737"/>
                          </a:stretch>
                        </a:blipFill>
                      </a:tcPr>
                    </a:tc>
                    <a:tc>
                      <a:txBody>
                        <a:bodyPr/>
                        <a:lstStyle/>
                        <a:p>
                          <a:endParaRPr lang="zh-CN"/>
                        </a:p>
                      </a:txBody>
                      <a:tcPr>
                        <a:blipFill>
                          <a:blip r:embed="rId2"/>
                          <a:stretch>
                            <a:fillRect l="-556000" t="-2105" r="-378000" b="-1114737"/>
                          </a:stretch>
                        </a:blipFill>
                      </a:tcPr>
                    </a:tc>
                    <a:tc>
                      <a:txBody>
                        <a:bodyPr/>
                        <a:lstStyle/>
                        <a:p>
                          <a:endParaRPr lang="zh-CN"/>
                        </a:p>
                      </a:txBody>
                      <a:tcPr>
                        <a:blipFill>
                          <a:blip r:embed="rId2"/>
                          <a:stretch>
                            <a:fillRect l="-407453" t="-2105" r="-134783" b="-1114737"/>
                          </a:stretch>
                        </a:blipFill>
                      </a:tcPr>
                    </a:tc>
                    <a:tc>
                      <a:txBody>
                        <a:bodyPr/>
                        <a:lstStyle/>
                        <a:p>
                          <a:endParaRPr lang="zh-CN"/>
                        </a:p>
                      </a:txBody>
                      <a:tcPr>
                        <a:blipFill>
                          <a:blip r:embed="rId2"/>
                          <a:stretch>
                            <a:fillRect l="-686555" t="-2105" r="-82353" b="-1114737"/>
                          </a:stretch>
                        </a:blipFill>
                      </a:tcPr>
                    </a:tc>
                    <a:tc>
                      <a:txBody>
                        <a:bodyPr/>
                        <a:lstStyle/>
                        <a:p>
                          <a:endParaRPr lang="zh-CN"/>
                        </a:p>
                      </a:txBody>
                      <a:tcPr>
                        <a:blipFill>
                          <a:blip r:embed="rId2"/>
                          <a:stretch>
                            <a:fillRect l="-1006452" t="-2105" r="-5376" b="-1114737"/>
                          </a:stretch>
                        </a:blipFill>
                      </a:tcPr>
                    </a:tc>
                    <a:extLst>
                      <a:ext uri="{0D108BD9-81ED-4DB2-BD59-A6C34878D82A}">
                        <a16:rowId xmlns:a16="http://schemas.microsoft.com/office/drawing/2014/main" val="37799757"/>
                      </a:ext>
                    </a:extLst>
                  </a:tr>
                  <a:tr h="335280">
                    <a:tc rowSpan="4">
                      <a:txBody>
                        <a:bodyPr/>
                        <a:lstStyle/>
                        <a:p>
                          <a:pPr/>
                          <a:r>
                            <a:rPr lang="en-US" altLang="zh-CN" sz="1600" dirty="0" smtClean="0"/>
                            <a:t>0</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0+0=0</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9.5</a:t>
                          </a:r>
                          <a:endParaRPr lang="zh-CN" altLang="en-US" sz="1600" dirty="0"/>
                        </a:p>
                      </a:txBody>
                      <a:tcPr/>
                    </a:tc>
                    <a:tc rowSpan="4">
                      <a:txBody>
                        <a:bodyPr/>
                        <a:lstStyle/>
                        <a:p>
                          <a:r>
                            <a:rPr lang="en-US" altLang="zh-CN" sz="1600" dirty="0" smtClean="0"/>
                            <a:t>9.5</a:t>
                          </a:r>
                          <a:endParaRPr lang="zh-CN" altLang="en-US" sz="1600" dirty="0"/>
                        </a:p>
                      </a:txBody>
                      <a:tcPr/>
                    </a:tc>
                    <a:tc rowSpan="4">
                      <a:txBody>
                        <a:bodyPr/>
                        <a:lstStyle/>
                        <a:p>
                          <a:r>
                            <a:rPr lang="en-US" altLang="zh-CN" sz="1600" dirty="0" smtClean="0"/>
                            <a:t>0</a:t>
                          </a:r>
                          <a:endParaRPr lang="zh-CN" altLang="en-US" sz="1600" dirty="0"/>
                        </a:p>
                      </a:txBody>
                      <a:tcPr/>
                    </a:tc>
                    <a:extLst>
                      <a:ext uri="{0D108BD9-81ED-4DB2-BD59-A6C34878D82A}">
                        <a16:rowId xmlns:a16="http://schemas.microsoft.com/office/drawing/2014/main" val="130326615"/>
                      </a:ext>
                    </a:extLst>
                  </a:tr>
                  <a:tr h="335280">
                    <a:tc vMerge="1">
                      <a:txBody>
                        <a:bodyPr/>
                        <a:lstStyle/>
                        <a:p>
                          <a:pP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3+1+0=4</a:t>
                          </a:r>
                          <a:endParaRPr lang="zh-CN" altLang="en-US" sz="1600" dirty="0"/>
                        </a:p>
                      </a:txBody>
                      <a:tcPr/>
                    </a:tc>
                    <a:tc>
                      <a:txBody>
                        <a:bodyPr/>
                        <a:lstStyle/>
                        <a:p>
                          <a:r>
                            <a:rPr lang="en-US" altLang="zh-CN" sz="1600" dirty="0" smtClean="0"/>
                            <a:t>8</a:t>
                          </a:r>
                          <a:endParaRPr lang="zh-CN" altLang="en-US" sz="1600" dirty="0"/>
                        </a:p>
                      </a:txBody>
                      <a:tcPr/>
                    </a:tc>
                    <a:tc>
                      <a:txBody>
                        <a:bodyPr/>
                        <a:lstStyle/>
                        <a:p>
                          <a:r>
                            <a:rPr lang="en-US" altLang="zh-CN" sz="1600" dirty="0" smtClean="0"/>
                            <a:t>12</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845204460"/>
                      </a:ext>
                    </a:extLst>
                  </a:tr>
                  <a:tr h="335280">
                    <a:tc vMerge="1">
                      <a:txBody>
                        <a:bodyPr/>
                        <a:lstStyle/>
                        <a:p>
                          <a:pP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3+2+0=5</a:t>
                          </a:r>
                          <a:endParaRPr lang="zh-CN" altLang="en-US" sz="1600" dirty="0"/>
                        </a:p>
                      </a:txBody>
                      <a:tcPr/>
                    </a:tc>
                    <a:tc>
                      <a:txBody>
                        <a:bodyPr/>
                        <a:lstStyle/>
                        <a:p>
                          <a:r>
                            <a:rPr lang="en-US" altLang="zh-CN" sz="1600" dirty="0" smtClean="0"/>
                            <a:t>6.5</a:t>
                          </a:r>
                          <a:endParaRPr lang="zh-CN" altLang="en-US" sz="1600" dirty="0"/>
                        </a:p>
                      </a:txBody>
                      <a:tcPr/>
                    </a:tc>
                    <a:tc>
                      <a:txBody>
                        <a:bodyPr/>
                        <a:lstStyle/>
                        <a:p>
                          <a:r>
                            <a:rPr lang="en-US" altLang="zh-CN" sz="1600" dirty="0" smtClean="0"/>
                            <a:t>11.5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1824428135"/>
                      </a:ext>
                    </a:extLst>
                  </a:tr>
                  <a:tr h="335280">
                    <a:tc vMerge="1">
                      <a:txBody>
                        <a:bodyPr/>
                        <a:lstStyle/>
                        <a:p>
                          <a:pP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3+3+0=6</a:t>
                          </a:r>
                          <a:endParaRPr lang="zh-CN" altLang="en-US" sz="1600" dirty="0"/>
                        </a:p>
                      </a:txBody>
                      <a:tcPr/>
                    </a:tc>
                    <a:tc>
                      <a:txBody>
                        <a:bodyPr/>
                        <a:lstStyle/>
                        <a:p>
                          <a:r>
                            <a:rPr lang="en-US" altLang="zh-CN" sz="1600" dirty="0" smtClean="0"/>
                            <a:t>5</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11</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873709785"/>
                      </a:ext>
                    </a:extLst>
                  </a:tr>
                  <a:tr h="335280">
                    <a:tc rowSpan="5">
                      <a:txBody>
                        <a:bodyPr/>
                        <a:lstStyle/>
                        <a:p>
                          <a:pPr/>
                          <a:r>
                            <a:rPr lang="en-US" altLang="zh-CN" sz="1600" dirty="0" smtClean="0"/>
                            <a:t>1</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0+1*0.5=0.5</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11</a:t>
                          </a:r>
                          <a:endParaRPr lang="zh-CN" altLang="en-US" sz="1600" dirty="0"/>
                        </a:p>
                      </a:txBody>
                      <a:tcPr/>
                    </a:tc>
                    <a:tc>
                      <a:txBody>
                        <a:bodyPr/>
                        <a:lstStyle/>
                        <a:p>
                          <a:r>
                            <a:rPr lang="en-US" altLang="zh-CN" sz="1600" dirty="0" smtClean="0"/>
                            <a:t>11.5</a:t>
                          </a:r>
                          <a:endParaRPr lang="zh-CN" altLang="en-US" sz="1600" dirty="0"/>
                        </a:p>
                      </a:txBody>
                      <a:tcPr/>
                    </a:tc>
                    <a:tc rowSpan="5">
                      <a:txBody>
                        <a:bodyPr/>
                        <a:lstStyle/>
                        <a:p>
                          <a:r>
                            <a:rPr lang="en-US" altLang="zh-CN" sz="1600" dirty="0" smtClean="0"/>
                            <a:t>11.5</a:t>
                          </a:r>
                          <a:endParaRPr lang="zh-CN" altLang="en-US" sz="1600" dirty="0"/>
                        </a:p>
                      </a:txBody>
                      <a:tcPr/>
                    </a:tc>
                    <a:tc rowSpan="5">
                      <a:txBody>
                        <a:bodyPr/>
                        <a:lstStyle/>
                        <a:p>
                          <a:r>
                            <a:rPr lang="en-US" altLang="zh-CN" sz="1600" dirty="0" smtClean="0"/>
                            <a:t>0</a:t>
                          </a:r>
                          <a:endParaRPr lang="zh-CN" altLang="en-US" sz="1600" dirty="0"/>
                        </a:p>
                      </a:txBody>
                      <a:tcPr/>
                    </a:tc>
                    <a:extLst>
                      <a:ext uri="{0D108BD9-81ED-4DB2-BD59-A6C34878D82A}">
                        <a16:rowId xmlns:a16="http://schemas.microsoft.com/office/drawing/2014/main" val="2009149456"/>
                      </a:ext>
                    </a:extLst>
                  </a:tr>
                  <a:tr h="335280">
                    <a:tc vMerge="1">
                      <a:txBody>
                        <a:bodyPr/>
                        <a:lstStyle/>
                        <a:p>
                          <a:pP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3+1+1*0.5=4.5</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14</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884266079"/>
                      </a:ext>
                    </a:extLst>
                  </a:tr>
                  <a:tr h="335280">
                    <a:tc vMerge="1">
                      <a:txBody>
                        <a:bodyPr/>
                        <a:lstStyle/>
                        <a:p>
                          <a:pP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2</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3+2+1*0.5=5.5</a:t>
                          </a:r>
                          <a:endParaRPr lang="zh-CN" altLang="en-US" sz="1600" dirty="0" smtClean="0"/>
                        </a:p>
                      </a:txBody>
                      <a:tcPr/>
                    </a:tc>
                    <a:tc>
                      <a:txBody>
                        <a:bodyPr/>
                        <a:lstStyle/>
                        <a:p>
                          <a:r>
                            <a:rPr lang="en-US" altLang="zh-CN" sz="1600" dirty="0" smtClean="0"/>
                            <a:t>8</a:t>
                          </a:r>
                          <a:endParaRPr lang="zh-CN" altLang="en-US" sz="1600" dirty="0"/>
                        </a:p>
                      </a:txBody>
                      <a:tcPr/>
                    </a:tc>
                    <a:tc>
                      <a:txBody>
                        <a:bodyPr/>
                        <a:lstStyle/>
                        <a:p>
                          <a:r>
                            <a:rPr lang="en-US" altLang="zh-CN" sz="1600" dirty="0" smtClean="0"/>
                            <a:t>13.5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1656321950"/>
                      </a:ext>
                    </a:extLst>
                  </a:tr>
                  <a:tr h="335280">
                    <a:tc vMerge="1">
                      <a:txBody>
                        <a:bodyPr/>
                        <a:lstStyle/>
                        <a:p>
                          <a:pP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3+3+1*0.5=6.5</a:t>
                          </a:r>
                          <a:endParaRPr lang="zh-CN" altLang="en-US" sz="1600" dirty="0"/>
                        </a:p>
                      </a:txBody>
                      <a:tcPr/>
                    </a:tc>
                    <a:tc>
                      <a:txBody>
                        <a:bodyPr/>
                        <a:lstStyle/>
                        <a:p>
                          <a:r>
                            <a:rPr lang="en-US" altLang="zh-CN" sz="1600" dirty="0" smtClean="0"/>
                            <a:t>6.5</a:t>
                          </a:r>
                          <a:endParaRPr lang="zh-CN" altLang="en-US" sz="1600" dirty="0"/>
                        </a:p>
                      </a:txBody>
                      <a:tcPr/>
                    </a:tc>
                    <a:tc>
                      <a:txBody>
                        <a:bodyPr/>
                        <a:lstStyle/>
                        <a:p>
                          <a:r>
                            <a:rPr lang="en-US" altLang="zh-CN" sz="1600" dirty="0" smtClean="0"/>
                            <a:t>13</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368324249"/>
                      </a:ext>
                    </a:extLst>
                  </a:tr>
                  <a:tr h="335280">
                    <a:tc vMerge="1">
                      <a:txBody>
                        <a:bodyPr/>
                        <a:lstStyle/>
                        <a:p>
                          <a:pPr/>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3+4+1*0.5=7.5</a:t>
                          </a:r>
                          <a:endParaRPr lang="zh-CN" altLang="en-US" sz="1600" dirty="0"/>
                        </a:p>
                      </a:txBody>
                      <a:tcPr/>
                    </a:tc>
                    <a:tc>
                      <a:txBody>
                        <a:bodyPr/>
                        <a:lstStyle/>
                        <a:p>
                          <a:r>
                            <a:rPr lang="en-US" altLang="zh-CN" sz="1600" dirty="0" smtClean="0"/>
                            <a:t>5</a:t>
                          </a:r>
                          <a:endParaRPr lang="zh-CN" altLang="en-US" sz="1600" dirty="0"/>
                        </a:p>
                      </a:txBody>
                      <a:tcPr/>
                    </a:tc>
                    <a:tc>
                      <a:txBody>
                        <a:bodyPr/>
                        <a:lstStyle/>
                        <a:p>
                          <a:r>
                            <a:rPr lang="en-US" altLang="zh-CN" sz="1600" dirty="0" smtClean="0"/>
                            <a:t>12.5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763858245"/>
                      </a:ext>
                    </a:extLst>
                  </a:tr>
                  <a:tr h="335280">
                    <a:tc rowSpan="5">
                      <a:txBody>
                        <a:bodyPr/>
                        <a:lstStyle/>
                        <a:p>
                          <a:pPr/>
                          <a:r>
                            <a:rPr lang="en-US" altLang="zh-CN" sz="1600" dirty="0" smtClean="0"/>
                            <a:t>2</a:t>
                          </a: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3+1+2*0.5=5</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11</a:t>
                          </a:r>
                          <a:endParaRPr lang="zh-CN" altLang="en-US" sz="1600" dirty="0"/>
                        </a:p>
                      </a:txBody>
                      <a:tcPr/>
                    </a:tc>
                    <a:tc>
                      <a:txBody>
                        <a:bodyPr/>
                        <a:lstStyle/>
                        <a:p>
                          <a:r>
                            <a:rPr lang="en-US" altLang="zh-CN" sz="1600" dirty="0" smtClean="0"/>
                            <a:t>16</a:t>
                          </a:r>
                          <a:endParaRPr lang="zh-CN" altLang="en-US" sz="1600" dirty="0"/>
                        </a:p>
                      </a:txBody>
                      <a:tcPr/>
                    </a:tc>
                    <a:tc rowSpan="5">
                      <a:txBody>
                        <a:bodyPr/>
                        <a:lstStyle/>
                        <a:p>
                          <a:r>
                            <a:rPr lang="en-US" altLang="zh-CN" sz="1600" dirty="0" smtClean="0"/>
                            <a:t>14</a:t>
                          </a:r>
                          <a:endParaRPr lang="zh-CN" altLang="en-US" sz="1600" dirty="0"/>
                        </a:p>
                      </a:txBody>
                      <a:tcPr/>
                    </a:tc>
                    <a:tc rowSpan="5">
                      <a:txBody>
                        <a:bodyPr/>
                        <a:lstStyle/>
                        <a:p>
                          <a:r>
                            <a:rPr lang="en-US" altLang="zh-CN" sz="1600" dirty="0" smtClean="0"/>
                            <a:t>5</a:t>
                          </a:r>
                          <a:endParaRPr lang="zh-CN" altLang="en-US" sz="1600" dirty="0"/>
                        </a:p>
                      </a:txBody>
                      <a:tcPr/>
                    </a:tc>
                    <a:extLst>
                      <a:ext uri="{0D108BD9-81ED-4DB2-BD59-A6C34878D82A}">
                        <a16:rowId xmlns:a16="http://schemas.microsoft.com/office/drawing/2014/main" val="4273431072"/>
                      </a:ext>
                    </a:extLst>
                  </a:tr>
                  <a:tr h="335280">
                    <a:tc vMerge="1">
                      <a:txBody>
                        <a:bodyPr/>
                        <a:lstStyle/>
                        <a:p>
                          <a:pP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3+2+2*0.5=6</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15.5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285198267"/>
                      </a:ext>
                    </a:extLst>
                  </a:tr>
                  <a:tr h="335280">
                    <a:tc vMerge="1">
                      <a:txBody>
                        <a:bodyPr/>
                        <a:lstStyle/>
                        <a:p>
                          <a:pP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3+3+2*0.5=7</a:t>
                          </a:r>
                          <a:endParaRPr lang="zh-CN" altLang="en-US" sz="1600" dirty="0"/>
                        </a:p>
                      </a:txBody>
                      <a:tcPr/>
                    </a:tc>
                    <a:tc>
                      <a:txBody>
                        <a:bodyPr/>
                        <a:lstStyle/>
                        <a:p>
                          <a:r>
                            <a:rPr lang="en-US" altLang="zh-CN" sz="1600" dirty="0" smtClean="0"/>
                            <a:t>8</a:t>
                          </a:r>
                          <a:endParaRPr lang="zh-CN" altLang="en-US" sz="1600" dirty="0"/>
                        </a:p>
                      </a:txBody>
                      <a:tcPr/>
                    </a:tc>
                    <a:tc>
                      <a:txBody>
                        <a:bodyPr/>
                        <a:lstStyle/>
                        <a:p>
                          <a:r>
                            <a:rPr lang="en-US" altLang="zh-CN" sz="1600" dirty="0" smtClean="0"/>
                            <a:t>15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3736361684"/>
                      </a:ext>
                    </a:extLst>
                  </a:tr>
                  <a:tr h="335280">
                    <a:tc vMerge="1">
                      <a:txBody>
                        <a:bodyPr/>
                        <a:lstStyle/>
                        <a:p>
                          <a:pPr/>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3+4+2*0.5=8</a:t>
                          </a:r>
                          <a:endParaRPr lang="zh-CN" altLang="en-US" sz="1600" dirty="0"/>
                        </a:p>
                      </a:txBody>
                      <a:tcPr/>
                    </a:tc>
                    <a:tc>
                      <a:txBody>
                        <a:bodyPr/>
                        <a:lstStyle/>
                        <a:p>
                          <a:r>
                            <a:rPr lang="en-US" altLang="zh-CN" sz="1600" dirty="0" smtClean="0"/>
                            <a:t>6.5</a:t>
                          </a:r>
                          <a:endParaRPr lang="zh-CN" altLang="en-US" sz="1600" dirty="0"/>
                        </a:p>
                      </a:txBody>
                      <a:tcPr/>
                    </a:tc>
                    <a:tc>
                      <a:txBody>
                        <a:bodyPr/>
                        <a:lstStyle/>
                        <a:p>
                          <a:r>
                            <a:rPr lang="en-US" altLang="zh-CN" sz="1600" dirty="0" smtClean="0"/>
                            <a:t>14.5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444571681"/>
                      </a:ext>
                    </a:extLst>
                  </a:tr>
                  <a:tr h="335280">
                    <a:tc vMerge="1">
                      <a:txBody>
                        <a:bodyPr/>
                        <a:lstStyle/>
                        <a:p>
                          <a:pPr/>
                          <a:endParaRPr lang="zh-CN" altLang="en-US" sz="1600" dirty="0"/>
                        </a:p>
                      </a:txBody>
                      <a:tcPr/>
                    </a:tc>
                    <a:tc>
                      <a:txBody>
                        <a:bodyPr/>
                        <a:lstStyle/>
                        <a:p>
                          <a:r>
                            <a:rPr lang="en-US" altLang="zh-CN" sz="1600" dirty="0" smtClean="0"/>
                            <a:t>5</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3+5+2*0.5=9</a:t>
                          </a:r>
                          <a:endParaRPr lang="zh-CN" altLang="en-US" sz="1600" dirty="0"/>
                        </a:p>
                      </a:txBody>
                      <a:tcPr/>
                    </a:tc>
                    <a:tc>
                      <a:txBody>
                        <a:bodyPr/>
                        <a:lstStyle/>
                        <a:p>
                          <a:r>
                            <a:rPr lang="en-US" altLang="zh-CN" sz="1600" dirty="0" smtClean="0"/>
                            <a:t>5</a:t>
                          </a:r>
                          <a:endParaRPr lang="zh-CN" altLang="en-US" sz="1600" dirty="0"/>
                        </a:p>
                      </a:txBody>
                      <a:tcPr/>
                    </a:tc>
                    <a:tc>
                      <a:txBody>
                        <a:bodyPr/>
                        <a:lstStyle/>
                        <a:p>
                          <a:r>
                            <a:rPr lang="en-US" altLang="zh-CN" sz="1600" dirty="0" smtClean="0"/>
                            <a:t>14</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867185907"/>
                      </a:ext>
                    </a:extLst>
                  </a:tr>
                  <a:tr h="335280">
                    <a:tc rowSpan="5">
                      <a:txBody>
                        <a:bodyPr/>
                        <a:lstStyle/>
                        <a:p>
                          <a:pPr/>
                          <a:r>
                            <a:rPr lang="en-US" altLang="zh-CN" sz="1600" dirty="0" smtClean="0"/>
                            <a:t>3</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3+2+3*0.5=6.5</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11</a:t>
                          </a:r>
                          <a:endParaRPr lang="zh-CN" altLang="en-US" sz="1600" dirty="0"/>
                        </a:p>
                      </a:txBody>
                      <a:tcPr/>
                    </a:tc>
                    <a:tc>
                      <a:txBody>
                        <a:bodyPr/>
                        <a:lstStyle/>
                        <a:p>
                          <a:r>
                            <a:rPr lang="en-US" altLang="zh-CN" sz="1600" dirty="0" smtClean="0"/>
                            <a:t>17.5</a:t>
                          </a:r>
                          <a:endParaRPr lang="zh-CN" altLang="en-US" sz="1600" dirty="0"/>
                        </a:p>
                      </a:txBody>
                      <a:tcPr/>
                    </a:tc>
                    <a:tc rowSpan="5">
                      <a:txBody>
                        <a:bodyPr/>
                        <a:lstStyle/>
                        <a:p>
                          <a:r>
                            <a:rPr lang="en-US" altLang="zh-CN" sz="1600" dirty="0" smtClean="0"/>
                            <a:t>15.5</a:t>
                          </a:r>
                          <a:endParaRPr lang="zh-CN" altLang="en-US" sz="1600" dirty="0"/>
                        </a:p>
                      </a:txBody>
                      <a:tcPr/>
                    </a:tc>
                    <a:tc rowSpan="5">
                      <a:txBody>
                        <a:bodyPr/>
                        <a:lstStyle/>
                        <a:p>
                          <a:r>
                            <a:rPr lang="en-US" altLang="zh-CN" sz="1600" dirty="0" smtClean="0"/>
                            <a:t>6</a:t>
                          </a:r>
                          <a:endParaRPr lang="zh-CN" altLang="en-US" sz="1600" dirty="0"/>
                        </a:p>
                      </a:txBody>
                      <a:tcPr/>
                    </a:tc>
                    <a:extLst>
                      <a:ext uri="{0D108BD9-81ED-4DB2-BD59-A6C34878D82A}">
                        <a16:rowId xmlns:a16="http://schemas.microsoft.com/office/drawing/2014/main" val="3643722671"/>
                      </a:ext>
                    </a:extLst>
                  </a:tr>
                  <a:tr h="335280">
                    <a:tc vMerge="1">
                      <a:txBody>
                        <a:bodyPr/>
                        <a:lstStyle/>
                        <a:p>
                          <a:pP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3</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292929"/>
                              </a:solidFill>
                              <a:effectLst/>
                              <a:uLnTx/>
                              <a:uFillTx/>
                              <a:latin typeface="Arial"/>
                              <a:ea typeface="宋体"/>
                              <a:cs typeface="+mn-cs"/>
                            </a:rPr>
                            <a:t>3+3+3*0.5=7.5</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17</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1490189046"/>
                      </a:ext>
                    </a:extLst>
                  </a:tr>
                  <a:tr h="335280">
                    <a:tc vMerge="1">
                      <a:txBody>
                        <a:bodyPr/>
                        <a:lstStyle/>
                        <a:p>
                          <a:pPr/>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2</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292929"/>
                              </a:solidFill>
                              <a:effectLst/>
                              <a:uLnTx/>
                              <a:uFillTx/>
                              <a:latin typeface="Arial"/>
                              <a:ea typeface="宋体"/>
                              <a:cs typeface="+mn-cs"/>
                            </a:rPr>
                            <a:t>3+4+3*0.5=8.5</a:t>
                          </a:r>
                          <a:endParaRPr lang="zh-CN" altLang="en-US" sz="1600" dirty="0"/>
                        </a:p>
                      </a:txBody>
                      <a:tcPr/>
                    </a:tc>
                    <a:tc>
                      <a:txBody>
                        <a:bodyPr/>
                        <a:lstStyle/>
                        <a:p>
                          <a:r>
                            <a:rPr lang="en-US" altLang="zh-CN" sz="1600" dirty="0" smtClean="0"/>
                            <a:t>8</a:t>
                          </a:r>
                          <a:endParaRPr lang="zh-CN" altLang="en-US" sz="1600" dirty="0"/>
                        </a:p>
                      </a:txBody>
                      <a:tcPr/>
                    </a:tc>
                    <a:tc>
                      <a:txBody>
                        <a:bodyPr/>
                        <a:lstStyle/>
                        <a:p>
                          <a:r>
                            <a:rPr lang="en-US" altLang="zh-CN" sz="1600" dirty="0" smtClean="0"/>
                            <a:t>16.5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12023833"/>
                      </a:ext>
                    </a:extLst>
                  </a:tr>
                  <a:tr h="335280">
                    <a:tc vMerge="1">
                      <a:txBody>
                        <a:bodyPr/>
                        <a:lstStyle/>
                        <a:p>
                          <a:pP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5</a:t>
                          </a:r>
                          <a:endParaRPr lang="zh-CN" altLang="en-US" sz="1600" dirty="0"/>
                        </a:p>
                      </a:txBody>
                      <a:tcPr/>
                    </a:tc>
                    <a:tc>
                      <a:txBody>
                        <a:bodyPr/>
                        <a:lstStyle/>
                        <a:p>
                          <a:r>
                            <a:rPr lang="en-US" altLang="zh-CN" sz="1600" dirty="0" smtClean="0"/>
                            <a:t>1</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292929"/>
                              </a:solidFill>
                              <a:effectLst/>
                              <a:uLnTx/>
                              <a:uFillTx/>
                              <a:latin typeface="Arial"/>
                              <a:ea typeface="宋体"/>
                              <a:cs typeface="+mn-cs"/>
                            </a:rPr>
                            <a:t>3+5+3*0.5=9.5</a:t>
                          </a:r>
                          <a:endParaRPr lang="zh-CN" altLang="en-US" sz="1600" dirty="0"/>
                        </a:p>
                      </a:txBody>
                      <a:tcPr/>
                    </a:tc>
                    <a:tc>
                      <a:txBody>
                        <a:bodyPr/>
                        <a:lstStyle/>
                        <a:p>
                          <a:r>
                            <a:rPr lang="en-US" altLang="zh-CN" sz="1600" dirty="0" smtClean="0"/>
                            <a:t>6.5</a:t>
                          </a:r>
                          <a:endParaRPr lang="zh-CN" altLang="en-US" sz="1600" dirty="0"/>
                        </a:p>
                      </a:txBody>
                      <a:tcPr/>
                    </a:tc>
                    <a:tc>
                      <a:txBody>
                        <a:bodyPr/>
                        <a:lstStyle/>
                        <a:p>
                          <a:r>
                            <a:rPr lang="en-US" altLang="zh-CN" sz="1600" dirty="0" smtClean="0"/>
                            <a:t>16</a:t>
                          </a:r>
                          <a:endParaRPr lang="zh-CN" altLang="en-US" sz="1600" dirty="0"/>
                        </a:p>
                      </a:txBody>
                      <a:tcPr/>
                    </a:tc>
                    <a:tc vMerge="1">
                      <a:txBody>
                        <a:bodyPr/>
                        <a:lstStyle/>
                        <a:p>
                          <a:endParaRPr lang="zh-CN"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tc>
                    <a:extLst>
                      <a:ext uri="{0D108BD9-81ED-4DB2-BD59-A6C34878D82A}">
                        <a16:rowId xmlns:a16="http://schemas.microsoft.com/office/drawing/2014/main" val="1091311635"/>
                      </a:ext>
                    </a:extLst>
                  </a:tr>
                  <a:tr h="335280">
                    <a:tc vMerge="1">
                      <a:txBody>
                        <a:bodyPr/>
                        <a:lstStyle/>
                        <a:p>
                          <a:pP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6</a:t>
                          </a:r>
                          <a:endParaRPr lang="zh-CN" altLang="en-US" sz="1600" dirty="0"/>
                        </a:p>
                      </a:txBody>
                      <a:tcPr/>
                    </a:tc>
                    <a:tc>
                      <a:txBody>
                        <a:bodyPr/>
                        <a:lstStyle/>
                        <a:p>
                          <a:r>
                            <a:rPr lang="en-US" altLang="zh-CN" sz="1600" dirty="0" smtClean="0"/>
                            <a:t>0</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292929"/>
                              </a:solidFill>
                              <a:effectLst/>
                              <a:uLnTx/>
                              <a:uFillTx/>
                              <a:latin typeface="Arial"/>
                              <a:ea typeface="宋体"/>
                              <a:cs typeface="+mn-cs"/>
                            </a:rPr>
                            <a:t>3+6+3*0.5=10.5</a:t>
                          </a:r>
                          <a:endParaRPr lang="zh-CN" altLang="en-US" sz="1600" dirty="0"/>
                        </a:p>
                      </a:txBody>
                      <a:tcPr/>
                    </a:tc>
                    <a:tc>
                      <a:txBody>
                        <a:bodyPr/>
                        <a:lstStyle/>
                        <a:p>
                          <a:r>
                            <a:rPr lang="en-US" altLang="zh-CN" sz="1600" dirty="0" smtClean="0"/>
                            <a:t>5</a:t>
                          </a:r>
                          <a:endParaRPr lang="zh-CN" altLang="en-US" sz="1600" dirty="0"/>
                        </a:p>
                      </a:txBody>
                      <a:tcPr/>
                    </a:tc>
                    <a:tc>
                      <a:txBody>
                        <a:bodyPr/>
                        <a:lstStyle/>
                        <a:p>
                          <a:r>
                            <a:rPr lang="en-US" altLang="zh-CN" sz="1600" dirty="0" smtClean="0"/>
                            <a:t>15.5</a:t>
                          </a:r>
                          <a:endParaRPr lang="zh-CN" altLang="en-US" sz="1600" dirty="0"/>
                        </a:p>
                      </a:txBody>
                      <a:tcPr/>
                    </a:tc>
                    <a:tc vMerge="1">
                      <a:txBody>
                        <a:bodyPr/>
                        <a:lstStyle/>
                        <a:p>
                          <a:endParaRPr lang="zh-CN"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tc>
                    <a:extLst>
                      <a:ext uri="{0D108BD9-81ED-4DB2-BD59-A6C34878D82A}">
                        <a16:rowId xmlns:a16="http://schemas.microsoft.com/office/drawing/2014/main" val="3031742095"/>
                      </a:ext>
                    </a:extLst>
                  </a:tr>
                </a:tbl>
              </a:graphicData>
            </a:graphic>
          </p:graphicFrame>
        </mc:Fallback>
      </mc:AlternateContent>
      <p:sp>
        <p:nvSpPr>
          <p:cNvPr id="6" name="Rectangle 21"/>
          <p:cNvSpPr>
            <a:spLocks noChangeArrowheads="1"/>
          </p:cNvSpPr>
          <p:nvPr/>
        </p:nvSpPr>
        <p:spPr bwMode="auto">
          <a:xfrm>
            <a:off x="248072" y="2874915"/>
            <a:ext cx="11208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Times New Roman" panose="02020603050405020304" pitchFamily="18" charset="0"/>
              </a:rPr>
              <a:t>当</a:t>
            </a:r>
            <a:r>
              <a:rPr lang="en-US" altLang="zh-CN" b="1" i="1" dirty="0" smtClean="0">
                <a:latin typeface="Times New Roman" panose="02020603050405020304" pitchFamily="18" charset="0"/>
                <a:cs typeface="Times New Roman" panose="02020603050405020304" pitchFamily="18" charset="0"/>
              </a:rPr>
              <a:t>k</a:t>
            </a:r>
            <a:r>
              <a:rPr lang="en-US" altLang="zh-CN" b="1" dirty="0" smtClean="0">
                <a:cs typeface="Times New Roman" panose="02020603050405020304" pitchFamily="18" charset="0"/>
              </a:rPr>
              <a:t>=2</a:t>
            </a:r>
            <a:r>
              <a:rPr lang="zh-CN" altLang="en-US" b="1" dirty="0" smtClean="0"/>
              <a:t>时</a:t>
            </a:r>
            <a:endParaRPr lang="zh-CN" altLang="en-US" b="1" dirty="0"/>
          </a:p>
        </p:txBody>
      </p:sp>
      <p:sp>
        <p:nvSpPr>
          <p:cNvPr id="7" name="矩形 6"/>
          <p:cNvSpPr/>
          <p:nvPr/>
        </p:nvSpPr>
        <p:spPr>
          <a:xfrm>
            <a:off x="89749" y="3998792"/>
            <a:ext cx="1954381" cy="363176"/>
          </a:xfrm>
          <a:prstGeom prst="rect">
            <a:avLst/>
          </a:prstGeom>
        </p:spPr>
        <p:txBody>
          <a:bodyPr wrap="none">
            <a:spAutoFit/>
          </a:bodyPr>
          <a:lstStyle/>
          <a:p>
            <a:pPr algn="just" eaLnBrk="1" hangingPunct="1">
              <a:lnSpc>
                <a:spcPct val="110000"/>
              </a:lnSpc>
            </a:pP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x</a:t>
            </a:r>
            <a:r>
              <a:rPr lang="en-US" altLang="zh-CN" sz="1600" i="1" baseline="-25000" dirty="0" smtClean="0">
                <a:latin typeface="Times New Roman" panose="02020603050405020304" pitchFamily="18" charset="0"/>
                <a:cs typeface="Times New Roman" panose="02020603050405020304" pitchFamily="18" charset="0"/>
              </a:rPr>
              <a:t>2 </a:t>
            </a:r>
            <a:r>
              <a:rPr lang="zh-CN" altLang="en-US"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min</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6</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 s</a:t>
            </a:r>
            <a:r>
              <a:rPr lang="en-US" altLang="zh-CN" sz="1600" i="1" baseline="-25000" dirty="0" smtClean="0">
                <a:latin typeface="Times New Roman" panose="02020603050405020304" pitchFamily="18" charset="0"/>
                <a:cs typeface="Times New Roman" panose="02020603050405020304" pitchFamily="18" charset="0"/>
              </a:rPr>
              <a:t>2</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d</a:t>
            </a:r>
            <a:r>
              <a:rPr lang="en-US" altLang="zh-CN" sz="1600" i="1" baseline="-25000" dirty="0" smtClean="0">
                <a:latin typeface="Times New Roman" panose="02020603050405020304" pitchFamily="18" charset="0"/>
                <a:cs typeface="Times New Roman" panose="02020603050405020304" pitchFamily="18" charset="0"/>
              </a:rPr>
              <a:t>2</a:t>
            </a:r>
            <a:r>
              <a:rPr lang="en-US" altLang="zh-CN" sz="1600" dirty="0" smtClean="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Courier New" panose="02070309020205020404" pitchFamily="49" charset="0"/>
            </a:endParaRPr>
          </a:p>
        </p:txBody>
      </p:sp>
      <p:sp>
        <p:nvSpPr>
          <p:cNvPr id="8" name="矩形 7"/>
          <p:cNvSpPr/>
          <p:nvPr/>
        </p:nvSpPr>
        <p:spPr>
          <a:xfrm>
            <a:off x="125088" y="3209840"/>
            <a:ext cx="2860078" cy="363176"/>
          </a:xfrm>
          <a:prstGeom prst="rect">
            <a:avLst/>
          </a:prstGeom>
        </p:spPr>
        <p:txBody>
          <a:bodyPr wrap="none">
            <a:spAutoFit/>
          </a:bodyPr>
          <a:lstStyle/>
          <a:p>
            <a:pPr algn="just" eaLnBrk="1" hangingPunct="1">
              <a:lnSpc>
                <a:spcPct val="110000"/>
              </a:lnSpc>
            </a:pP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s</a:t>
            </a:r>
            <a:r>
              <a:rPr lang="en-US" altLang="zh-CN" sz="1600" i="1" baseline="-25000" dirty="0" smtClean="0">
                <a:latin typeface="Times New Roman" panose="02020603050405020304" pitchFamily="18" charset="0"/>
                <a:cs typeface="Times New Roman" panose="02020603050405020304" pitchFamily="18" charset="0"/>
              </a:rPr>
              <a:t>2 </a:t>
            </a:r>
            <a:r>
              <a:rPr lang="zh-CN" altLang="en-US"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min</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 d</a:t>
            </a:r>
            <a:r>
              <a:rPr lang="en-US" altLang="zh-CN" sz="1600" i="1" baseline="-25000" dirty="0" smtClean="0">
                <a:latin typeface="Times New Roman" panose="02020603050405020304" pitchFamily="18" charset="0"/>
                <a:cs typeface="Times New Roman" panose="02020603050405020304" pitchFamily="18" charset="0"/>
              </a:rPr>
              <a:t>2</a:t>
            </a:r>
            <a:r>
              <a:rPr lang="en-US" altLang="zh-CN" sz="1600" dirty="0" smtClean="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d</a:t>
            </a:r>
            <a:r>
              <a:rPr lang="en-US" altLang="zh-CN" sz="1600" i="1" baseline="-25000" dirty="0" smtClean="0">
                <a:latin typeface="Times New Roman" panose="02020603050405020304" pitchFamily="18" charset="0"/>
                <a:cs typeface="Times New Roman" panose="02020603050405020304" pitchFamily="18" charset="0"/>
              </a:rPr>
              <a:t>3 </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 d</a:t>
            </a:r>
            <a:r>
              <a:rPr lang="en-US" altLang="zh-CN" sz="1600" i="1" baseline="-25000" dirty="0" smtClean="0">
                <a:latin typeface="Times New Roman" panose="02020603050405020304" pitchFamily="18" charset="0"/>
                <a:cs typeface="Times New Roman" panose="02020603050405020304" pitchFamily="18" charset="0"/>
              </a:rPr>
              <a:t>4</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 6</a:t>
            </a:r>
            <a:r>
              <a:rPr lang="en-US" altLang="zh-CN" sz="1600" dirty="0" smtClean="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d</a:t>
            </a:r>
            <a:r>
              <a:rPr lang="en-US" altLang="zh-CN" sz="1600" i="1" baseline="-25000" dirty="0" smtClean="0">
                <a:latin typeface="Times New Roman" panose="02020603050405020304" pitchFamily="18" charset="0"/>
                <a:cs typeface="Times New Roman" panose="02020603050405020304" pitchFamily="18" charset="0"/>
              </a:rPr>
              <a:t>2</a:t>
            </a:r>
            <a:r>
              <a:rPr lang="en-US" altLang="zh-CN" sz="1600" dirty="0" smtClean="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Courier New" panose="02070309020205020404" pitchFamily="49" charset="0"/>
            </a:endParaRPr>
          </a:p>
        </p:txBody>
      </p:sp>
      <p:sp>
        <p:nvSpPr>
          <p:cNvPr id="9" name="矩形 8"/>
          <p:cNvSpPr/>
          <p:nvPr/>
        </p:nvSpPr>
        <p:spPr>
          <a:xfrm>
            <a:off x="89749" y="3548131"/>
            <a:ext cx="899605" cy="363176"/>
          </a:xfrm>
          <a:prstGeom prst="rect">
            <a:avLst/>
          </a:prstGeom>
        </p:spPr>
        <p:txBody>
          <a:bodyPr wrap="none">
            <a:spAutoFit/>
          </a:bodyPr>
          <a:lstStyle/>
          <a:p>
            <a:pPr algn="just" eaLnBrk="1" hangingPunct="1">
              <a:lnSpc>
                <a:spcPct val="110000"/>
              </a:lnSpc>
            </a:pP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s</a:t>
            </a:r>
            <a:r>
              <a:rPr lang="en-US" altLang="zh-CN" sz="1600" i="1" baseline="-25000" dirty="0" smtClean="0">
                <a:latin typeface="Times New Roman" panose="02020603050405020304" pitchFamily="18" charset="0"/>
                <a:cs typeface="Times New Roman" panose="02020603050405020304" pitchFamily="18" charset="0"/>
              </a:rPr>
              <a:t>2 </a:t>
            </a:r>
            <a:r>
              <a:rPr lang="zh-CN" altLang="en-US"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3</a:t>
            </a:r>
            <a:endParaRPr lang="zh-CN" altLang="en-US" sz="1600" dirty="0">
              <a:latin typeface="Times New Roman" panose="02020603050405020304" pitchFamily="18" charset="0"/>
              <a:cs typeface="Courier New" panose="02070309020205020404" pitchFamily="49" charset="0"/>
            </a:endParaRPr>
          </a:p>
        </p:txBody>
      </p:sp>
      <p:sp>
        <p:nvSpPr>
          <p:cNvPr id="10" name="矩形 9"/>
          <p:cNvSpPr/>
          <p:nvPr/>
        </p:nvSpPr>
        <p:spPr>
          <a:xfrm>
            <a:off x="89749" y="4361968"/>
            <a:ext cx="1885453" cy="363176"/>
          </a:xfrm>
          <a:prstGeom prst="rect">
            <a:avLst/>
          </a:prstGeom>
        </p:spPr>
        <p:txBody>
          <a:bodyPr wrap="none">
            <a:spAutoFit/>
          </a:bodyPr>
          <a:lstStyle/>
          <a:p>
            <a:pPr algn="just" eaLnBrk="1" hangingPunct="1">
              <a:lnSpc>
                <a:spcPct val="110000"/>
              </a:lnSpc>
            </a:pP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x</a:t>
            </a:r>
            <a:r>
              <a:rPr lang="en-US" altLang="zh-CN" sz="1600" i="1" baseline="-25000" dirty="0" smtClean="0">
                <a:latin typeface="Times New Roman" panose="02020603050405020304" pitchFamily="18" charset="0"/>
                <a:cs typeface="Times New Roman" panose="02020603050405020304" pitchFamily="18" charset="0"/>
              </a:rPr>
              <a:t>2 </a:t>
            </a:r>
            <a:r>
              <a:rPr lang="zh-CN" altLang="en-US"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min</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6</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 s</a:t>
            </a:r>
            <a:r>
              <a:rPr lang="en-US" altLang="zh-CN" sz="1600" i="1" baseline="-25000" dirty="0" smtClean="0">
                <a:latin typeface="Times New Roman" panose="02020603050405020304" pitchFamily="18" charset="0"/>
                <a:cs typeface="Times New Roman" panose="02020603050405020304" pitchFamily="18" charset="0"/>
              </a:rPr>
              <a:t>2</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3</a:t>
            </a:r>
            <a:r>
              <a:rPr lang="en-US" altLang="zh-CN" sz="1600" dirty="0" smtClean="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Courier New" panose="02070309020205020404" pitchFamily="49" charset="0"/>
            </a:endParaRPr>
          </a:p>
        </p:txBody>
      </p:sp>
      <p:graphicFrame>
        <p:nvGraphicFramePr>
          <p:cNvPr id="12" name="Group 94"/>
          <p:cNvGraphicFramePr>
            <a:graphicFrameLocks noGrp="1"/>
          </p:cNvGraphicFramePr>
          <p:nvPr>
            <p:extLst>
              <p:ext uri="{D42A27DB-BD31-4B8C-83A1-F6EECF244321}">
                <p14:modId xmlns:p14="http://schemas.microsoft.com/office/powerpoint/2010/main" val="4154991170"/>
              </p:ext>
            </p:extLst>
          </p:nvPr>
        </p:nvGraphicFramePr>
        <p:xfrm>
          <a:off x="212257" y="1814366"/>
          <a:ext cx="2357499" cy="792408"/>
        </p:xfrm>
        <a:graphic>
          <a:graphicData uri="http://schemas.openxmlformats.org/drawingml/2006/table">
            <a:tbl>
              <a:tblPr/>
              <a:tblGrid>
                <a:gridCol w="543452">
                  <a:extLst>
                    <a:ext uri="{9D8B030D-6E8A-4147-A177-3AD203B41FA5}">
                      <a16:colId xmlns:a16="http://schemas.microsoft.com/office/drawing/2014/main" val="20001"/>
                    </a:ext>
                  </a:extLst>
                </a:gridCol>
                <a:gridCol w="603758">
                  <a:extLst>
                    <a:ext uri="{9D8B030D-6E8A-4147-A177-3AD203B41FA5}">
                      <a16:colId xmlns:a16="http://schemas.microsoft.com/office/drawing/2014/main" val="20002"/>
                    </a:ext>
                  </a:extLst>
                </a:gridCol>
                <a:gridCol w="605144">
                  <a:extLst>
                    <a:ext uri="{9D8B030D-6E8A-4147-A177-3AD203B41FA5}">
                      <a16:colId xmlns:a16="http://schemas.microsoft.com/office/drawing/2014/main" val="20003"/>
                    </a:ext>
                  </a:extLst>
                </a:gridCol>
                <a:gridCol w="605145">
                  <a:extLst>
                    <a:ext uri="{9D8B030D-6E8A-4147-A177-3AD203B41FA5}">
                      <a16:colId xmlns:a16="http://schemas.microsoft.com/office/drawing/2014/main" val="20004"/>
                    </a:ext>
                  </a:extLst>
                </a:gridCol>
              </a:tblGrid>
              <a:tr h="396082">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2">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3" name="矩形 12"/>
          <p:cNvSpPr/>
          <p:nvPr/>
        </p:nvSpPr>
        <p:spPr>
          <a:xfrm>
            <a:off x="167334" y="5088320"/>
            <a:ext cx="899605" cy="363176"/>
          </a:xfrm>
          <a:prstGeom prst="rect">
            <a:avLst/>
          </a:prstGeom>
        </p:spPr>
        <p:txBody>
          <a:bodyPr wrap="none">
            <a:spAutoFit/>
          </a:bodyPr>
          <a:lstStyle/>
          <a:p>
            <a:pPr algn="just" eaLnBrk="1" hangingPunct="1">
              <a:lnSpc>
                <a:spcPct val="110000"/>
              </a:lnSpc>
            </a:pP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altLang="zh-CN" sz="1600" i="1" dirty="0">
                <a:latin typeface="Times New Roman" panose="02020603050405020304" pitchFamily="18" charset="0"/>
                <a:cs typeface="Times New Roman" panose="02020603050405020304" pitchFamily="18" charset="0"/>
              </a:rPr>
              <a:t>s</a:t>
            </a:r>
            <a:r>
              <a:rPr lang="en-US" altLang="zh-CN" sz="1600" i="1" baseline="-25000" dirty="0">
                <a:latin typeface="Times New Roman" panose="02020603050405020304" pitchFamily="18" charset="0"/>
                <a:cs typeface="Times New Roman" panose="02020603050405020304" pitchFamily="18" charset="0"/>
              </a:rPr>
              <a:t>1 </a:t>
            </a:r>
            <a:r>
              <a:rPr lang="zh-CN" altLang="en-US"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4</a:t>
            </a:r>
            <a:endParaRPr lang="zh-CN" altLang="en-US" sz="1600" dirty="0">
              <a:latin typeface="Times New Roman" panose="02020603050405020304" pitchFamily="18" charset="0"/>
              <a:cs typeface="Courier New" panose="02070309020205020404" pitchFamily="49" charset="0"/>
            </a:endParaRPr>
          </a:p>
        </p:txBody>
      </p:sp>
      <p:sp>
        <p:nvSpPr>
          <p:cNvPr id="14" name="矩形 13"/>
          <p:cNvSpPr/>
          <p:nvPr/>
        </p:nvSpPr>
        <p:spPr>
          <a:xfrm>
            <a:off x="125088" y="5814672"/>
            <a:ext cx="2165978" cy="707886"/>
          </a:xfrm>
          <a:prstGeom prst="rect">
            <a:avLst/>
          </a:prstGeom>
        </p:spPr>
        <p:txBody>
          <a:bodyPr wrap="none">
            <a:spAutoFit/>
          </a:bodyPr>
          <a:lstStyle/>
          <a:p>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2 </a:t>
            </a:r>
            <a:r>
              <a:rPr lang="en-US" altLang="zh-CN" b="1" dirty="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1</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 x</a:t>
            </a:r>
            <a:r>
              <a:rPr lang="en-US" altLang="zh-CN" b="1" i="1" baseline="-25000" dirty="0" smtClean="0">
                <a:latin typeface="Times New Roman" panose="02020603050405020304" pitchFamily="18" charset="0"/>
                <a:cs typeface="Times New Roman" panose="02020603050405020304" pitchFamily="18" charset="0"/>
              </a:rPr>
              <a:t>2 </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 d</a:t>
            </a:r>
            <a:r>
              <a:rPr lang="en-US" altLang="zh-CN" b="1" i="1" baseline="-25000" dirty="0" smtClean="0">
                <a:latin typeface="Times New Roman" panose="02020603050405020304" pitchFamily="18" charset="0"/>
                <a:cs typeface="Times New Roman" panose="02020603050405020304" pitchFamily="18" charset="0"/>
              </a:rPr>
              <a:t>2</a:t>
            </a:r>
            <a:r>
              <a:rPr lang="zh-CN" altLang="en-US" b="1" i="1" baseline="-25000"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sym typeface="Wingdings" panose="05000000000000000000" pitchFamily="2" charset="2"/>
              </a:rPr>
              <a:t>  </a:t>
            </a:r>
          </a:p>
          <a:p>
            <a:r>
              <a:rPr lang="en-US" altLang="zh-CN" b="1" i="1" dirty="0" smtClean="0">
                <a:latin typeface="Times New Roman" panose="02020603050405020304" pitchFamily="18" charset="0"/>
                <a:cs typeface="Times New Roman" panose="02020603050405020304" pitchFamily="18" charset="0"/>
              </a:rPr>
              <a:t>x</a:t>
            </a:r>
            <a:r>
              <a:rPr lang="en-US" altLang="zh-CN" b="1" i="1" baseline="-25000" dirty="0" smtClean="0">
                <a:latin typeface="Times New Roman" panose="02020603050405020304" pitchFamily="18" charset="0"/>
                <a:cs typeface="Times New Roman" panose="02020603050405020304" pitchFamily="18" charset="0"/>
              </a:rPr>
              <a:t>2</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2 </a:t>
            </a:r>
            <a:r>
              <a:rPr lang="en-US" altLang="zh-CN" b="1" dirty="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1</a:t>
            </a:r>
            <a:r>
              <a:rPr lang="en-US" altLang="zh-CN" b="1" i="1"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a:t>
            </a:r>
            <a:r>
              <a:rPr lang="en-US" altLang="zh-CN" b="1" i="1" baseline="-25000" dirty="0" smtClean="0">
                <a:latin typeface="Times New Roman" panose="02020603050405020304" pitchFamily="18" charset="0"/>
                <a:cs typeface="Times New Roman" panose="02020603050405020304" pitchFamily="18" charset="0"/>
              </a:rPr>
              <a:t> </a:t>
            </a:r>
            <a:r>
              <a:rPr lang="en-US" altLang="zh-CN" b="1" i="1" dirty="0" smtClean="0">
                <a:latin typeface="Times New Roman" panose="02020603050405020304" pitchFamily="18" charset="0"/>
                <a:cs typeface="Times New Roman" panose="02020603050405020304" pitchFamily="18" charset="0"/>
              </a:rPr>
              <a:t>d</a:t>
            </a:r>
            <a:r>
              <a:rPr lang="en-US" altLang="zh-CN" b="1" i="1" baseline="-25000" dirty="0" smtClean="0">
                <a:latin typeface="Times New Roman" panose="02020603050405020304" pitchFamily="18" charset="0"/>
                <a:cs typeface="Times New Roman" panose="02020603050405020304" pitchFamily="18" charset="0"/>
              </a:rPr>
              <a:t>2</a:t>
            </a:r>
            <a:endParaRPr lang="en-US"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6392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8.4.2.1  </a:t>
            </a:r>
            <a:r>
              <a:rPr lang="zh-CN" altLang="en-US" dirty="0"/>
              <a:t>生产计划问题 </a:t>
            </a:r>
          </a:p>
        </p:txBody>
      </p:sp>
      <p:sp>
        <p:nvSpPr>
          <p:cNvPr id="3" name="内容占位符 2"/>
          <p:cNvSpPr>
            <a:spLocks noGrp="1"/>
          </p:cNvSpPr>
          <p:nvPr>
            <p:ph idx="1"/>
          </p:nvPr>
        </p:nvSpPr>
        <p:spPr>
          <a:xfrm>
            <a:off x="539552" y="1337268"/>
            <a:ext cx="8280920" cy="904863"/>
          </a:xfrm>
        </p:spPr>
        <p:txBody>
          <a:bodyPr/>
          <a:lstStyle/>
          <a:p>
            <a:r>
              <a:rPr lang="zh-CN" altLang="en-US" dirty="0">
                <a:latin typeface="宋体" panose="02010600030101010101" pitchFamily="2" charset="-122"/>
                <a:cs typeface="Times New Roman" panose="02020603050405020304" pitchFamily="18" charset="0"/>
              </a:rPr>
              <a:t>例</a:t>
            </a:r>
            <a:r>
              <a:rPr lang="en-US" altLang="zh-CN" dirty="0">
                <a:latin typeface="宋体" panose="02010600030101010101" pitchFamily="2" charset="-122"/>
                <a:cs typeface="Times New Roman" panose="02020603050405020304" pitchFamily="18" charset="0"/>
              </a:rPr>
              <a:t>8-5</a:t>
            </a:r>
            <a:r>
              <a:rPr lang="zh-CN" altLang="en-US" dirty="0">
                <a:latin typeface="宋体" panose="02010600030101010101" pitchFamily="2" charset="-122"/>
                <a:cs typeface="Times New Roman" panose="02020603050405020304" pitchFamily="18" charset="0"/>
              </a:rPr>
              <a:t>：</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D6B2FC51-1DE3-4359-9B39-6CC27C545D80}" type="slidenum">
              <a:rPr lang="en-US" altLang="zh-CN" smtClean="0"/>
              <a:pPr/>
              <a:t>60</a:t>
            </a:fld>
            <a:endParaRPr lang="en-US" altLang="zh-CN"/>
          </a:p>
        </p:txBody>
      </p:sp>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extLst>
                  <p:ext uri="{D42A27DB-BD31-4B8C-83A1-F6EECF244321}">
                    <p14:modId xmlns:p14="http://schemas.microsoft.com/office/powerpoint/2010/main" val="3831922281"/>
                  </p:ext>
                </p:extLst>
              </p:nvPr>
            </p:nvGraphicFramePr>
            <p:xfrm>
              <a:off x="2915816" y="-99392"/>
              <a:ext cx="6264696" cy="6949440"/>
            </p:xfrm>
            <a:graphic>
              <a:graphicData uri="http://schemas.openxmlformats.org/drawingml/2006/table">
                <a:tbl>
                  <a:tblPr firstRow="1" bandRow="1">
                    <a:tableStyleId>{5C22544A-7EE6-4342-B048-85BDC9FD1C3A}</a:tableStyleId>
                  </a:tblPr>
                  <a:tblGrid>
                    <a:gridCol w="481487">
                      <a:extLst>
                        <a:ext uri="{9D8B030D-6E8A-4147-A177-3AD203B41FA5}">
                          <a16:colId xmlns:a16="http://schemas.microsoft.com/office/drawing/2014/main" val="1816936163"/>
                        </a:ext>
                      </a:extLst>
                    </a:gridCol>
                    <a:gridCol w="554404">
                      <a:extLst>
                        <a:ext uri="{9D8B030D-6E8A-4147-A177-3AD203B41FA5}">
                          <a16:colId xmlns:a16="http://schemas.microsoft.com/office/drawing/2014/main" val="1250546864"/>
                        </a:ext>
                      </a:extLst>
                    </a:gridCol>
                    <a:gridCol w="616004">
                      <a:extLst>
                        <a:ext uri="{9D8B030D-6E8A-4147-A177-3AD203B41FA5}">
                          <a16:colId xmlns:a16="http://schemas.microsoft.com/office/drawing/2014/main" val="1869782824"/>
                        </a:ext>
                      </a:extLst>
                    </a:gridCol>
                    <a:gridCol w="1732481">
                      <a:extLst>
                        <a:ext uri="{9D8B030D-6E8A-4147-A177-3AD203B41FA5}">
                          <a16:colId xmlns:a16="http://schemas.microsoft.com/office/drawing/2014/main" val="3148481169"/>
                        </a:ext>
                      </a:extLst>
                    </a:gridCol>
                    <a:gridCol w="608334">
                      <a:extLst>
                        <a:ext uri="{9D8B030D-6E8A-4147-A177-3AD203B41FA5}">
                          <a16:colId xmlns:a16="http://schemas.microsoft.com/office/drawing/2014/main" val="644265878"/>
                        </a:ext>
                      </a:extLst>
                    </a:gridCol>
                    <a:gridCol w="981086">
                      <a:extLst>
                        <a:ext uri="{9D8B030D-6E8A-4147-A177-3AD203B41FA5}">
                          <a16:colId xmlns:a16="http://schemas.microsoft.com/office/drawing/2014/main" val="938889560"/>
                        </a:ext>
                      </a:extLst>
                    </a:gridCol>
                    <a:gridCol w="723353">
                      <a:extLst>
                        <a:ext uri="{9D8B030D-6E8A-4147-A177-3AD203B41FA5}">
                          <a16:colId xmlns:a16="http://schemas.microsoft.com/office/drawing/2014/main" val="1613744912"/>
                        </a:ext>
                      </a:extLst>
                    </a:gridCol>
                    <a:gridCol w="567547">
                      <a:extLst>
                        <a:ext uri="{9D8B030D-6E8A-4147-A177-3AD203B41FA5}">
                          <a16:colId xmlns:a16="http://schemas.microsoft.com/office/drawing/2014/main" val="2765978471"/>
                        </a:ext>
                      </a:extLst>
                    </a:gridCol>
                  </a:tblGrid>
                  <a:tr h="571500">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1" i="1" smtClean="0">
                                        <a:latin typeface="Cambria Math" panose="02040503050406030204" pitchFamily="18" charset="0"/>
                                      </a:rPr>
                                      <m:t>𝒔</m:t>
                                    </m:r>
                                  </m:e>
                                  <m:sub>
                                    <m:r>
                                      <a:rPr lang="en-US" altLang="zh-CN" sz="1600" b="0" i="1" smtClean="0">
                                        <a:latin typeface="Cambria Math" panose="02040503050406030204" pitchFamily="18" charset="0"/>
                                      </a:rPr>
                                      <m:t>3</m:t>
                                    </m:r>
                                  </m:sub>
                                </m:sSub>
                              </m:oMath>
                            </m:oMathPara>
                          </a14:m>
                          <a:endParaRPr lang="zh-CN" alt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1" i="1" smtClean="0">
                                        <a:latin typeface="Cambria Math" panose="02040503050406030204" pitchFamily="18" charset="0"/>
                                      </a:rPr>
                                      <m:t>𝒙</m:t>
                                    </m:r>
                                  </m:e>
                                  <m:sub>
                                    <m:r>
                                      <a:rPr lang="en-US" altLang="zh-CN" sz="1600" b="1" i="1" smtClean="0">
                                        <a:latin typeface="Cambria Math" panose="02040503050406030204" pitchFamily="18" charset="0"/>
                                      </a:rPr>
                                      <m:t>𝟑</m:t>
                                    </m:r>
                                  </m:sub>
                                </m:sSub>
                              </m:oMath>
                            </m:oMathPara>
                          </a14:m>
                          <a:endParaRPr lang="zh-CN" alt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1" i="1" smtClean="0">
                                        <a:latin typeface="Cambria Math" panose="02040503050406030204" pitchFamily="18" charset="0"/>
                                      </a:rPr>
                                      <m:t>𝒔</m:t>
                                    </m:r>
                                  </m:e>
                                  <m:sub>
                                    <m:r>
                                      <a:rPr lang="en-US" altLang="zh-CN" sz="1600" b="1" i="1" smtClean="0">
                                        <a:latin typeface="Cambria Math" panose="02040503050406030204" pitchFamily="18" charset="0"/>
                                      </a:rPr>
                                      <m:t>𝟐</m:t>
                                    </m:r>
                                  </m:sub>
                                </m:sSub>
                              </m:oMath>
                            </m:oMathPara>
                          </a14:m>
                          <a:endParaRPr lang="zh-CN" altLang="en-US" sz="1600" dirty="0"/>
                        </a:p>
                      </a:txBody>
                      <a:tcPr/>
                    </a:tc>
                    <a:tc>
                      <a:txBody>
                        <a:bodyPr/>
                        <a:lstStyle/>
                        <a:p>
                          <a14:m>
                            <m:oMath xmlns:m="http://schemas.openxmlformats.org/officeDocument/2006/math">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𝑣</m:t>
                                  </m:r>
                                </m:e>
                                <m:sub>
                                  <m:r>
                                    <a:rPr lang="en-US" altLang="zh-CN" sz="1600" b="1" i="1" smtClean="0">
                                      <a:latin typeface="Cambria Math" panose="02040503050406030204" pitchFamily="18" charset="0"/>
                                    </a:rPr>
                                    <m:t>𝟑</m:t>
                                  </m:r>
                                </m:sub>
                              </m:sSub>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b="1" i="1" smtClean="0">
                                          <a:latin typeface="Cambria Math" panose="02040503050406030204" pitchFamily="18" charset="0"/>
                                        </a:rPr>
                                        <m:t>𝟑</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b="1" i="1" smtClean="0">
                                          <a:latin typeface="Cambria Math" panose="02040503050406030204" pitchFamily="18" charset="0"/>
                                        </a:rPr>
                                        <m:t>𝟑</m:t>
                                      </m:r>
                                    </m:sub>
                                  </m:sSub>
                                </m:e>
                              </m:d>
                              <m:r>
                                <a:rPr lang="en-US" altLang="zh-CN" sz="1600" b="1" i="1" smtClean="0">
                                  <a:latin typeface="Cambria Math" panose="02040503050406030204" pitchFamily="18" charset="0"/>
                                </a:rPr>
                                <m:t>=</m:t>
                              </m:r>
                            </m:oMath>
                          </a14:m>
                          <a:r>
                            <a:rPr lang="en-US" altLang="zh-CN" sz="1600" b="1" i="1" dirty="0" smtClean="0">
                              <a:latin typeface="Times New Roman" panose="02020603050405020304" pitchFamily="18" charset="0"/>
                              <a:cs typeface="Times New Roman" panose="02020603050405020304" pitchFamily="18" charset="0"/>
                            </a:rPr>
                            <a:t>c</a:t>
                          </a:r>
                          <a:r>
                            <a:rPr lang="en-US" altLang="zh-CN" sz="1600" b="1" i="1" baseline="-25000" dirty="0" smtClean="0">
                              <a:latin typeface="Times New Roman" panose="02020603050405020304" pitchFamily="18" charset="0"/>
                              <a:cs typeface="Times New Roman" panose="02020603050405020304" pitchFamily="18" charset="0"/>
                            </a:rPr>
                            <a:t>3 </a:t>
                          </a:r>
                          <a:r>
                            <a:rPr lang="en-US" altLang="zh-CN" sz="1600" b="1" dirty="0">
                              <a:latin typeface="Times New Roman" panose="02020603050405020304" pitchFamily="18" charset="0"/>
                              <a:cs typeface="Times New Roman" panose="02020603050405020304" pitchFamily="18" charset="0"/>
                            </a:rPr>
                            <a:t>(</a:t>
                          </a:r>
                          <a:r>
                            <a:rPr lang="en-US" altLang="zh-CN" sz="1600" b="1" i="1" dirty="0" smtClean="0">
                              <a:latin typeface="Times New Roman" panose="02020603050405020304" pitchFamily="18" charset="0"/>
                              <a:cs typeface="Times New Roman" panose="02020603050405020304" pitchFamily="18" charset="0"/>
                            </a:rPr>
                            <a:t>x</a:t>
                          </a:r>
                          <a:r>
                            <a:rPr lang="en-US" altLang="zh-CN" sz="1600" b="1" i="1" baseline="-25000" dirty="0" smtClean="0">
                              <a:latin typeface="Times New Roman" panose="02020603050405020304" pitchFamily="18" charset="0"/>
                              <a:cs typeface="Times New Roman" panose="02020603050405020304" pitchFamily="18" charset="0"/>
                            </a:rPr>
                            <a:t>3</a:t>
                          </a:r>
                          <a:r>
                            <a:rPr lang="en-US" altLang="zh-CN" sz="1600" b="1" dirty="0" smtClean="0">
                              <a:latin typeface="Times New Roman" panose="02020603050405020304" pitchFamily="18" charset="0"/>
                              <a:cs typeface="Times New Roman" panose="02020603050405020304" pitchFamily="18" charset="0"/>
                            </a:rPr>
                            <a:t>)+</a:t>
                          </a:r>
                          <a:r>
                            <a:rPr lang="en-US" altLang="zh-CN" sz="1600" b="1" i="1" dirty="0" smtClean="0">
                              <a:latin typeface="Times New Roman" panose="02020603050405020304" pitchFamily="18" charset="0"/>
                              <a:cs typeface="Times New Roman" panose="02020603050405020304" pitchFamily="18" charset="0"/>
                            </a:rPr>
                            <a:t> h</a:t>
                          </a:r>
                          <a:r>
                            <a:rPr lang="en-US" altLang="zh-CN" sz="1600" b="1" i="1" baseline="-25000" dirty="0" smtClean="0">
                              <a:latin typeface="Times New Roman" panose="02020603050405020304" pitchFamily="18" charset="0"/>
                              <a:cs typeface="Times New Roman" panose="02020603050405020304" pitchFamily="18" charset="0"/>
                            </a:rPr>
                            <a:t>3</a:t>
                          </a:r>
                          <a:r>
                            <a:rPr lang="en-US" altLang="zh-CN" sz="1600" b="1" dirty="0" smtClean="0">
                              <a:latin typeface="Times New Roman" panose="02020603050405020304" pitchFamily="18" charset="0"/>
                              <a:cs typeface="Times New Roman" panose="02020603050405020304" pitchFamily="18" charset="0"/>
                            </a:rPr>
                            <a:t>(</a:t>
                          </a:r>
                          <a:r>
                            <a:rPr lang="en-US" altLang="zh-CN" sz="1600" b="1" i="1" dirty="0" smtClean="0">
                              <a:latin typeface="Times New Roman" panose="02020603050405020304" pitchFamily="18" charset="0"/>
                              <a:cs typeface="Times New Roman" panose="02020603050405020304" pitchFamily="18" charset="0"/>
                            </a:rPr>
                            <a:t>s</a:t>
                          </a:r>
                          <a:r>
                            <a:rPr lang="en-US" altLang="zh-CN" sz="1600" b="1" i="1" baseline="-25000" dirty="0" smtClean="0">
                              <a:latin typeface="Times New Roman" panose="02020603050405020304" pitchFamily="18" charset="0"/>
                              <a:cs typeface="Times New Roman" panose="02020603050405020304" pitchFamily="18" charset="0"/>
                            </a:rPr>
                            <a:t>3</a:t>
                          </a:r>
                          <a:r>
                            <a:rPr lang="en-US" altLang="zh-CN" sz="1600" b="1" dirty="0" smtClean="0">
                              <a:latin typeface="Times New Roman" panose="02020603050405020304" pitchFamily="18" charset="0"/>
                              <a:cs typeface="Times New Roman" panose="02020603050405020304" pitchFamily="18" charset="0"/>
                            </a:rPr>
                            <a:t>)</a:t>
                          </a:r>
                          <a:r>
                            <a:rPr lang="zh-CN" altLang="en-US" sz="1600" b="1" dirty="0" smtClean="0">
                              <a:latin typeface="Times New Roman" panose="02020603050405020304" pitchFamily="18" charset="0"/>
                              <a:cs typeface="Times New Roman" panose="02020603050405020304" pitchFamily="18" charset="0"/>
                            </a:rPr>
                            <a:t> </a:t>
                          </a:r>
                          <a:endParaRPr lang="zh-CN" alt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𝑓</m:t>
                                    </m:r>
                                  </m:e>
                                  <m:sub>
                                    <m:r>
                                      <a:rPr lang="en-US" altLang="zh-CN" sz="1600" b="1" i="1" smtClean="0">
                                        <a:latin typeface="Cambria Math" panose="02040503050406030204" pitchFamily="18" charset="0"/>
                                      </a:rPr>
                                      <m:t>𝟐</m:t>
                                    </m:r>
                                  </m:sub>
                                </m:sSub>
                                <m:d>
                                  <m:dPr>
                                    <m:ctrlPr>
                                      <a:rPr lang="en-US" altLang="zh-CN" sz="1600" b="0" i="1" smtClean="0">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b="1" i="1" smtClean="0">
                                            <a:latin typeface="Cambria Math" panose="02040503050406030204" pitchFamily="18" charset="0"/>
                                          </a:rPr>
                                          <m:t>𝟐</m:t>
                                        </m:r>
                                      </m:sub>
                                    </m:sSub>
                                  </m:e>
                                </m:d>
                              </m:oMath>
                            </m:oMathPara>
                          </a14:m>
                          <a:endParaRPr lang="zh-CN" altLang="en-US" sz="1600" dirty="0"/>
                        </a:p>
                      </a:txBody>
                      <a:tcPr/>
                    </a:tc>
                    <a:tc>
                      <a:txBody>
                        <a:bodyPr/>
                        <a:lstStyle/>
                        <a:p>
                          <a14:m>
                            <m:oMath xmlns:m="http://schemas.openxmlformats.org/officeDocument/2006/math">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𝑣</m:t>
                                  </m:r>
                                </m:e>
                                <m:sub>
                                  <m:r>
                                    <a:rPr lang="en-US" altLang="zh-CN" sz="1600" b="1" i="1" smtClean="0">
                                      <a:latin typeface="Cambria Math" panose="02040503050406030204" pitchFamily="18" charset="0"/>
                                    </a:rPr>
                                    <m:t>𝟑</m:t>
                                  </m:r>
                                </m:sub>
                              </m:sSub>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b="1" i="1" smtClean="0">
                                          <a:latin typeface="Cambria Math" panose="02040503050406030204" pitchFamily="18" charset="0"/>
                                        </a:rPr>
                                        <m:t>𝟑</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b="1" i="1" smtClean="0">
                                          <a:latin typeface="Cambria Math" panose="02040503050406030204" pitchFamily="18" charset="0"/>
                                        </a:rPr>
                                        <m:t>𝟑</m:t>
                                      </m:r>
                                    </m:sub>
                                  </m:sSub>
                                </m:e>
                              </m:d>
                            </m:oMath>
                          </a14:m>
                          <a:r>
                            <a:rPr lang="en-US" altLang="zh-CN" sz="1600" dirty="0" smtClean="0"/>
                            <a:t>+</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𝑓</m:t>
                                  </m:r>
                                </m:e>
                                <m:sub>
                                  <m:r>
                                    <a:rPr lang="en-US" altLang="zh-CN" sz="1600" b="1" i="1" smtClean="0">
                                      <a:latin typeface="Cambria Math" panose="02040503050406030204" pitchFamily="18" charset="0"/>
                                    </a:rPr>
                                    <m:t>𝟐</m:t>
                                  </m:r>
                                </m:sub>
                              </m:sSub>
                              <m:d>
                                <m:dPr>
                                  <m:ctrlPr>
                                    <a:rPr lang="en-US" altLang="zh-CN" sz="1600" b="0" i="1" smtClean="0">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b="1" i="1" smtClean="0">
                                          <a:latin typeface="Cambria Math" panose="02040503050406030204" pitchFamily="18" charset="0"/>
                                        </a:rPr>
                                        <m:t>𝟐</m:t>
                                      </m:r>
                                    </m:sub>
                                  </m:sSub>
                                </m:e>
                              </m:d>
                            </m:oMath>
                          </a14:m>
                          <a:endParaRPr lang="zh-CN" alt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𝑓</m:t>
                                    </m:r>
                                  </m:e>
                                  <m:sub>
                                    <m:r>
                                      <a:rPr lang="en-US" altLang="zh-CN" sz="1600" b="1" i="1" smtClean="0">
                                        <a:latin typeface="Cambria Math" panose="02040503050406030204" pitchFamily="18" charset="0"/>
                                      </a:rPr>
                                      <m:t>𝟑</m:t>
                                    </m:r>
                                  </m:sub>
                                </m:sSub>
                                <m:d>
                                  <m:dPr>
                                    <m:ctrlPr>
                                      <a:rPr lang="en-US" altLang="zh-CN" sz="1600" b="0" i="1" smtClean="0">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b="1" i="1" smtClean="0">
                                            <a:latin typeface="Cambria Math" panose="02040503050406030204" pitchFamily="18" charset="0"/>
                                          </a:rPr>
                                          <m:t>𝟑</m:t>
                                        </m:r>
                                      </m:sub>
                                    </m:sSub>
                                  </m:e>
                                </m:d>
                              </m:oMath>
                            </m:oMathPara>
                          </a14:m>
                          <a:endParaRPr lang="zh-CN" altLang="en-US" sz="1600" dirty="0"/>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CN" sz="1600" i="1" smtClean="0">
                                        <a:latin typeface="Cambria Math" panose="02040503050406030204" pitchFamily="18" charset="0"/>
                                      </a:rPr>
                                    </m:ctrlPr>
                                  </m:sSubSupPr>
                                  <m:e>
                                    <m:r>
                                      <a:rPr lang="en-US" altLang="zh-CN" sz="1600" b="1" i="1" smtClean="0">
                                        <a:latin typeface="Cambria Math" panose="02040503050406030204" pitchFamily="18" charset="0"/>
                                      </a:rPr>
                                      <m:t>𝒙</m:t>
                                    </m:r>
                                  </m:e>
                                  <m:sub>
                                    <m:r>
                                      <a:rPr lang="en-US" altLang="zh-CN" sz="1600" b="1" i="1" smtClean="0">
                                        <a:latin typeface="Cambria Math" panose="02040503050406030204" pitchFamily="18" charset="0"/>
                                      </a:rPr>
                                      <m:t>𝟑</m:t>
                                    </m:r>
                                  </m:sub>
                                  <m:sup>
                                    <m:r>
                                      <a:rPr lang="en-US" altLang="zh-CN" sz="1600" b="1" i="1" smtClean="0">
                                        <a:latin typeface="Cambria Math" panose="02040503050406030204" pitchFamily="18" charset="0"/>
                                      </a:rPr>
                                      <m:t>∗</m:t>
                                    </m:r>
                                  </m:sup>
                                </m:sSubSup>
                              </m:oMath>
                            </m:oMathPara>
                          </a14:m>
                          <a:endParaRPr lang="zh-CN" altLang="en-US" sz="1600" dirty="0"/>
                        </a:p>
                      </a:txBody>
                      <a:tcPr/>
                    </a:tc>
                    <a:extLst>
                      <a:ext uri="{0D108BD9-81ED-4DB2-BD59-A6C34878D82A}">
                        <a16:rowId xmlns:a16="http://schemas.microsoft.com/office/drawing/2014/main" val="37799757"/>
                      </a:ext>
                    </a:extLst>
                  </a:tr>
                  <a:tr h="330868">
                    <a:tc rowSpan="3">
                      <a:txBody>
                        <a:bodyPr/>
                        <a:lstStyle/>
                        <a:p>
                          <a:r>
                            <a:rPr lang="en-US" altLang="zh-CN" sz="1600" dirty="0" smtClean="0"/>
                            <a:t>0</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0+0=0</a:t>
                          </a:r>
                          <a:endParaRPr lang="zh-CN" altLang="en-US" sz="1600" dirty="0"/>
                        </a:p>
                      </a:txBody>
                      <a:tcPr/>
                    </a:tc>
                    <a:tc>
                      <a:txBody>
                        <a:bodyPr/>
                        <a:lstStyle/>
                        <a:p>
                          <a:r>
                            <a:rPr lang="en-US" altLang="zh-CN" sz="1600" dirty="0" smtClean="0"/>
                            <a:t>14</a:t>
                          </a:r>
                          <a:endParaRPr lang="zh-CN" altLang="en-US" sz="1600" dirty="0"/>
                        </a:p>
                      </a:txBody>
                      <a:tcPr/>
                    </a:tc>
                    <a:tc>
                      <a:txBody>
                        <a:bodyPr/>
                        <a:lstStyle/>
                        <a:p>
                          <a:r>
                            <a:rPr lang="en-US" altLang="zh-CN" sz="1600" dirty="0" smtClean="0"/>
                            <a:t>14</a:t>
                          </a:r>
                          <a:endParaRPr lang="zh-CN" altLang="en-US" sz="1600" dirty="0"/>
                        </a:p>
                      </a:txBody>
                      <a:tcPr/>
                    </a:tc>
                    <a:tc rowSpan="3">
                      <a:txBody>
                        <a:bodyPr/>
                        <a:lstStyle/>
                        <a:p>
                          <a:r>
                            <a:rPr lang="en-US" altLang="zh-CN" sz="1600" dirty="0" smtClean="0"/>
                            <a:t>14</a:t>
                          </a:r>
                          <a:endParaRPr lang="zh-CN" altLang="en-US" sz="1600" dirty="0"/>
                        </a:p>
                      </a:txBody>
                      <a:tcPr/>
                    </a:tc>
                    <a:tc rowSpan="3">
                      <a:txBody>
                        <a:bodyPr/>
                        <a:lstStyle/>
                        <a:p>
                          <a:r>
                            <a:rPr lang="en-US" altLang="zh-CN" sz="1600" dirty="0" smtClean="0"/>
                            <a:t>0</a:t>
                          </a:r>
                          <a:endParaRPr lang="zh-CN" altLang="en-US" sz="1600" dirty="0"/>
                        </a:p>
                      </a:txBody>
                      <a:tcPr/>
                    </a:tc>
                    <a:extLst>
                      <a:ext uri="{0D108BD9-81ED-4DB2-BD59-A6C34878D82A}">
                        <a16:rowId xmlns:a16="http://schemas.microsoft.com/office/drawing/2014/main" val="130326615"/>
                      </a:ext>
                    </a:extLst>
                  </a:tr>
                  <a:tr h="330868">
                    <a:tc vMerge="1">
                      <a:txBody>
                        <a:bodyPr/>
                        <a:lstStyle/>
                        <a:p>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3+1+0=4</a:t>
                          </a:r>
                          <a:endParaRPr lang="zh-CN" altLang="en-US" sz="1600" dirty="0"/>
                        </a:p>
                      </a:txBody>
                      <a:tcPr/>
                    </a:tc>
                    <a:tc>
                      <a:txBody>
                        <a:bodyPr/>
                        <a:lstStyle/>
                        <a:p>
                          <a:r>
                            <a:rPr lang="en-US" altLang="zh-CN" sz="1600" dirty="0" smtClean="0"/>
                            <a:t>11.5</a:t>
                          </a:r>
                          <a:endParaRPr lang="zh-CN" altLang="en-US" sz="1600" dirty="0"/>
                        </a:p>
                      </a:txBody>
                      <a:tcPr/>
                    </a:tc>
                    <a:tc>
                      <a:txBody>
                        <a:bodyPr/>
                        <a:lstStyle/>
                        <a:p>
                          <a:r>
                            <a:rPr lang="en-US" altLang="zh-CN" sz="1600" dirty="0" smtClean="0"/>
                            <a:t>15.5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845204460"/>
                      </a:ext>
                    </a:extLst>
                  </a:tr>
                  <a:tr h="330868">
                    <a:tc vMerge="1">
                      <a:txBody>
                        <a:bodyPr/>
                        <a:lstStyle/>
                        <a:p>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3+2+0=5</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14.5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1824428135"/>
                      </a:ext>
                    </a:extLst>
                  </a:tr>
                  <a:tr h="330868">
                    <a:tc rowSpan="4">
                      <a:txBody>
                        <a:bodyPr/>
                        <a:lstStyle/>
                        <a:p>
                          <a:r>
                            <a:rPr lang="en-US" altLang="zh-CN" sz="1600" dirty="0" smtClean="0"/>
                            <a:t>1</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0+1*0.5=0.5</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15.5</a:t>
                          </a:r>
                          <a:endParaRPr lang="zh-CN" altLang="en-US" sz="1600" dirty="0"/>
                        </a:p>
                      </a:txBody>
                      <a:tcPr/>
                    </a:tc>
                    <a:tc>
                      <a:txBody>
                        <a:bodyPr/>
                        <a:lstStyle/>
                        <a:p>
                          <a:r>
                            <a:rPr lang="en-US" altLang="zh-CN" sz="1600" dirty="0" smtClean="0"/>
                            <a:t>16</a:t>
                          </a:r>
                          <a:endParaRPr lang="zh-CN" altLang="en-US" sz="1600" dirty="0"/>
                        </a:p>
                      </a:txBody>
                      <a:tcPr/>
                    </a:tc>
                    <a:tc rowSpan="4">
                      <a:txBody>
                        <a:bodyPr/>
                        <a:lstStyle/>
                        <a:p>
                          <a:r>
                            <a:rPr lang="en-US" altLang="zh-CN" sz="1600" dirty="0" smtClean="0"/>
                            <a:t>16</a:t>
                          </a:r>
                          <a:endParaRPr lang="zh-CN" altLang="en-US" sz="1600" dirty="0"/>
                        </a:p>
                      </a:txBody>
                      <a:tcPr/>
                    </a:tc>
                    <a:tc rowSpan="4">
                      <a:txBody>
                        <a:bodyPr/>
                        <a:lstStyle/>
                        <a:p>
                          <a:r>
                            <a:rPr lang="en-US" altLang="zh-CN" sz="1600" dirty="0" smtClean="0"/>
                            <a:t>0,3</a:t>
                          </a:r>
                          <a:endParaRPr lang="zh-CN" altLang="en-US" sz="1600" dirty="0"/>
                        </a:p>
                      </a:txBody>
                      <a:tcPr/>
                    </a:tc>
                    <a:extLst>
                      <a:ext uri="{0D108BD9-81ED-4DB2-BD59-A6C34878D82A}">
                        <a16:rowId xmlns:a16="http://schemas.microsoft.com/office/drawing/2014/main" val="2009149456"/>
                      </a:ext>
                    </a:extLst>
                  </a:tr>
                  <a:tr h="330868">
                    <a:tc vMerge="1">
                      <a:txBody>
                        <a:bodyPr/>
                        <a:lstStyle/>
                        <a:p>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3+1+1*0.5=4.5</a:t>
                          </a:r>
                          <a:endParaRPr lang="zh-CN" altLang="en-US" sz="1600" dirty="0"/>
                        </a:p>
                      </a:txBody>
                      <a:tcPr/>
                    </a:tc>
                    <a:tc>
                      <a:txBody>
                        <a:bodyPr/>
                        <a:lstStyle/>
                        <a:p>
                          <a:r>
                            <a:rPr lang="en-US" altLang="zh-CN" sz="1600" dirty="0" smtClean="0"/>
                            <a:t>14</a:t>
                          </a:r>
                          <a:endParaRPr lang="zh-CN" altLang="en-US" sz="1600" dirty="0"/>
                        </a:p>
                      </a:txBody>
                      <a:tcPr/>
                    </a:tc>
                    <a:tc>
                      <a:txBody>
                        <a:bodyPr/>
                        <a:lstStyle/>
                        <a:p>
                          <a:r>
                            <a:rPr lang="en-US" altLang="zh-CN" sz="1600" dirty="0" smtClean="0"/>
                            <a:t>18.5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884266079"/>
                      </a:ext>
                    </a:extLst>
                  </a:tr>
                  <a:tr h="330868">
                    <a:tc vMerge="1">
                      <a:txBody>
                        <a:bodyPr/>
                        <a:lstStyle/>
                        <a:p>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1</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3+2+1*0.5=5.5</a:t>
                          </a:r>
                          <a:endParaRPr lang="zh-CN" altLang="en-US" sz="1600" dirty="0" smtClean="0"/>
                        </a:p>
                      </a:txBody>
                      <a:tcPr/>
                    </a:tc>
                    <a:tc>
                      <a:txBody>
                        <a:bodyPr/>
                        <a:lstStyle/>
                        <a:p>
                          <a:r>
                            <a:rPr lang="en-US" altLang="zh-CN" sz="1600" dirty="0" smtClean="0"/>
                            <a:t>11.5</a:t>
                          </a:r>
                          <a:endParaRPr lang="zh-CN" altLang="en-US" sz="1600" dirty="0"/>
                        </a:p>
                      </a:txBody>
                      <a:tcPr/>
                    </a:tc>
                    <a:tc>
                      <a:txBody>
                        <a:bodyPr/>
                        <a:lstStyle/>
                        <a:p>
                          <a:r>
                            <a:rPr lang="en-US" altLang="zh-CN" sz="1600" dirty="0" smtClean="0"/>
                            <a:t>17</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1656321950"/>
                      </a:ext>
                    </a:extLst>
                  </a:tr>
                  <a:tr h="330868">
                    <a:tc vMerge="1">
                      <a:txBody>
                        <a:bodyPr/>
                        <a:lstStyle/>
                        <a:p>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3+3+1*0.5=6.5</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16</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368324249"/>
                      </a:ext>
                    </a:extLst>
                  </a:tr>
                  <a:tr h="330868">
                    <a:tc rowSpan="4">
                      <a:txBody>
                        <a:bodyPr/>
                        <a:lstStyle/>
                        <a:p>
                          <a:r>
                            <a:rPr lang="en-US" altLang="zh-CN" sz="1600" dirty="0" smtClean="0"/>
                            <a:t>2</a:t>
                          </a: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3+1+2*0.5=5</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15.5</a:t>
                          </a:r>
                          <a:endParaRPr lang="zh-CN" altLang="en-US" sz="1600" dirty="0"/>
                        </a:p>
                      </a:txBody>
                      <a:tcPr/>
                    </a:tc>
                    <a:tc>
                      <a:txBody>
                        <a:bodyPr/>
                        <a:lstStyle/>
                        <a:p>
                          <a:r>
                            <a:rPr lang="en-US" altLang="zh-CN" sz="1600" dirty="0" smtClean="0"/>
                            <a:t>20.5</a:t>
                          </a:r>
                          <a:endParaRPr lang="zh-CN" altLang="en-US" sz="1600" dirty="0"/>
                        </a:p>
                      </a:txBody>
                      <a:tcPr/>
                    </a:tc>
                    <a:tc rowSpan="4">
                      <a:txBody>
                        <a:bodyPr/>
                        <a:lstStyle/>
                        <a:p>
                          <a:r>
                            <a:rPr lang="en-US" altLang="zh-CN" sz="1600" dirty="0" smtClean="0"/>
                            <a:t>17.5</a:t>
                          </a:r>
                          <a:endParaRPr lang="zh-CN" altLang="en-US" sz="1600" dirty="0"/>
                        </a:p>
                      </a:txBody>
                      <a:tcPr/>
                    </a:tc>
                    <a:tc rowSpan="4">
                      <a:txBody>
                        <a:bodyPr/>
                        <a:lstStyle/>
                        <a:p>
                          <a:r>
                            <a:rPr lang="en-US" altLang="zh-CN" sz="1600" dirty="0" smtClean="0"/>
                            <a:t>4</a:t>
                          </a:r>
                          <a:endParaRPr lang="zh-CN" altLang="en-US" sz="1600" dirty="0"/>
                        </a:p>
                      </a:txBody>
                      <a:tcPr/>
                    </a:tc>
                    <a:extLst>
                      <a:ext uri="{0D108BD9-81ED-4DB2-BD59-A6C34878D82A}">
                        <a16:rowId xmlns:a16="http://schemas.microsoft.com/office/drawing/2014/main" val="4273431072"/>
                      </a:ext>
                    </a:extLst>
                  </a:tr>
                  <a:tr h="330868">
                    <a:tc vMerge="1">
                      <a:txBody>
                        <a:bodyPr/>
                        <a:lstStyle/>
                        <a:p>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3+2+2*0.5=6</a:t>
                          </a:r>
                          <a:endParaRPr lang="zh-CN" altLang="en-US" sz="1600" dirty="0"/>
                        </a:p>
                      </a:txBody>
                      <a:tcPr/>
                    </a:tc>
                    <a:tc>
                      <a:txBody>
                        <a:bodyPr/>
                        <a:lstStyle/>
                        <a:p>
                          <a:r>
                            <a:rPr lang="en-US" altLang="zh-CN" sz="1600" dirty="0" smtClean="0"/>
                            <a:t>14</a:t>
                          </a:r>
                          <a:endParaRPr lang="zh-CN" altLang="en-US" sz="1600" dirty="0"/>
                        </a:p>
                      </a:txBody>
                      <a:tcPr/>
                    </a:tc>
                    <a:tc>
                      <a:txBody>
                        <a:bodyPr/>
                        <a:lstStyle/>
                        <a:p>
                          <a:r>
                            <a:rPr lang="en-US" altLang="zh-CN" sz="1600" dirty="0" smtClean="0"/>
                            <a:t>20</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285198267"/>
                      </a:ext>
                    </a:extLst>
                  </a:tr>
                  <a:tr h="330868">
                    <a:tc vMerge="1">
                      <a:txBody>
                        <a:bodyPr/>
                        <a:lstStyle/>
                        <a:p>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3+3+2*0.5=7</a:t>
                          </a:r>
                          <a:endParaRPr lang="zh-CN" altLang="en-US" sz="1600" dirty="0"/>
                        </a:p>
                      </a:txBody>
                      <a:tcPr/>
                    </a:tc>
                    <a:tc>
                      <a:txBody>
                        <a:bodyPr/>
                        <a:lstStyle/>
                        <a:p>
                          <a:r>
                            <a:rPr lang="en-US" altLang="zh-CN" sz="1600" dirty="0" smtClean="0"/>
                            <a:t>11.5</a:t>
                          </a:r>
                          <a:endParaRPr lang="zh-CN" altLang="en-US" sz="1600" dirty="0"/>
                        </a:p>
                      </a:txBody>
                      <a:tcPr/>
                    </a:tc>
                    <a:tc>
                      <a:txBody>
                        <a:bodyPr/>
                        <a:lstStyle/>
                        <a:p>
                          <a:r>
                            <a:rPr lang="en-US" altLang="zh-CN" sz="1600" dirty="0" smtClean="0"/>
                            <a:t>18.5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3736361684"/>
                      </a:ext>
                    </a:extLst>
                  </a:tr>
                  <a:tr h="330868">
                    <a:tc vMerge="1">
                      <a:txBody>
                        <a:bodyPr/>
                        <a:lstStyle/>
                        <a:p>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3+4+2*0.5=8</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17.5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444571681"/>
                      </a:ext>
                    </a:extLst>
                  </a:tr>
                  <a:tr h="330868">
                    <a:tc rowSpan="4">
                      <a:txBody>
                        <a:bodyPr/>
                        <a:lstStyle/>
                        <a:p>
                          <a:r>
                            <a:rPr lang="en-US" altLang="zh-CN" sz="1600" dirty="0" smtClean="0"/>
                            <a:t>3</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3+2+3*0.5=6.5</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15.5</a:t>
                          </a:r>
                          <a:endParaRPr lang="zh-CN" altLang="en-US" sz="1600" dirty="0"/>
                        </a:p>
                      </a:txBody>
                      <a:tcPr/>
                    </a:tc>
                    <a:tc>
                      <a:txBody>
                        <a:bodyPr/>
                        <a:lstStyle/>
                        <a:p>
                          <a:r>
                            <a:rPr lang="en-US" altLang="zh-CN" sz="1600" dirty="0" smtClean="0"/>
                            <a:t>22</a:t>
                          </a:r>
                          <a:endParaRPr lang="zh-CN" altLang="en-US" sz="1600" dirty="0"/>
                        </a:p>
                      </a:txBody>
                      <a:tcPr/>
                    </a:tc>
                    <a:tc rowSpan="4">
                      <a:txBody>
                        <a:bodyPr/>
                        <a:lstStyle/>
                        <a:p>
                          <a:r>
                            <a:rPr lang="en-US" altLang="zh-CN" sz="1600" dirty="0" smtClean="0"/>
                            <a:t>19</a:t>
                          </a:r>
                          <a:endParaRPr lang="zh-CN" altLang="en-US" sz="1600" dirty="0"/>
                        </a:p>
                      </a:txBody>
                      <a:tcPr/>
                    </a:tc>
                    <a:tc rowSpan="4">
                      <a:txBody>
                        <a:bodyPr/>
                        <a:lstStyle/>
                        <a:p>
                          <a:r>
                            <a:rPr lang="en-US" altLang="zh-CN" sz="1600" dirty="0" smtClean="0"/>
                            <a:t>5</a:t>
                          </a:r>
                          <a:endParaRPr lang="zh-CN" altLang="en-US" sz="1600" dirty="0"/>
                        </a:p>
                      </a:txBody>
                      <a:tcPr/>
                    </a:tc>
                    <a:extLst>
                      <a:ext uri="{0D108BD9-81ED-4DB2-BD59-A6C34878D82A}">
                        <a16:rowId xmlns:a16="http://schemas.microsoft.com/office/drawing/2014/main" val="3643722671"/>
                      </a:ext>
                    </a:extLst>
                  </a:tr>
                  <a:tr h="330868">
                    <a:tc vMerge="1">
                      <a:txBody>
                        <a:bodyPr/>
                        <a:lstStyle/>
                        <a:p>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2</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292929"/>
                              </a:solidFill>
                              <a:effectLst/>
                              <a:uLnTx/>
                              <a:uFillTx/>
                              <a:latin typeface="Arial"/>
                              <a:ea typeface="宋体"/>
                              <a:cs typeface="+mn-cs"/>
                            </a:rPr>
                            <a:t>3+3+3*0.5=7.5</a:t>
                          </a:r>
                          <a:endParaRPr lang="zh-CN" altLang="en-US" sz="1600" dirty="0"/>
                        </a:p>
                      </a:txBody>
                      <a:tcPr/>
                    </a:tc>
                    <a:tc>
                      <a:txBody>
                        <a:bodyPr/>
                        <a:lstStyle/>
                        <a:p>
                          <a:r>
                            <a:rPr lang="en-US" altLang="zh-CN" sz="1600" dirty="0" smtClean="0"/>
                            <a:t>14</a:t>
                          </a:r>
                          <a:endParaRPr lang="zh-CN" altLang="en-US" sz="1600" dirty="0"/>
                        </a:p>
                      </a:txBody>
                      <a:tcPr/>
                    </a:tc>
                    <a:tc>
                      <a:txBody>
                        <a:bodyPr/>
                        <a:lstStyle/>
                        <a:p>
                          <a:r>
                            <a:rPr lang="en-US" altLang="zh-CN" sz="1600" dirty="0" smtClean="0"/>
                            <a:t>21.5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1490189046"/>
                      </a:ext>
                    </a:extLst>
                  </a:tr>
                  <a:tr h="330868">
                    <a:tc vMerge="1">
                      <a:txBody>
                        <a:bodyPr/>
                        <a:lstStyle/>
                        <a:p>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1</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292929"/>
                              </a:solidFill>
                              <a:effectLst/>
                              <a:uLnTx/>
                              <a:uFillTx/>
                              <a:latin typeface="Arial"/>
                              <a:ea typeface="宋体"/>
                              <a:cs typeface="+mn-cs"/>
                            </a:rPr>
                            <a:t>3+4+3*0.5=8.5</a:t>
                          </a:r>
                          <a:endParaRPr lang="zh-CN" altLang="en-US" sz="1600" dirty="0"/>
                        </a:p>
                      </a:txBody>
                      <a:tcPr/>
                    </a:tc>
                    <a:tc>
                      <a:txBody>
                        <a:bodyPr/>
                        <a:lstStyle/>
                        <a:p>
                          <a:r>
                            <a:rPr lang="en-US" altLang="zh-CN" sz="1600" dirty="0" smtClean="0"/>
                            <a:t>11.5</a:t>
                          </a:r>
                          <a:endParaRPr lang="zh-CN" altLang="en-US" sz="1600" dirty="0"/>
                        </a:p>
                      </a:txBody>
                      <a:tcPr/>
                    </a:tc>
                    <a:tc>
                      <a:txBody>
                        <a:bodyPr/>
                        <a:lstStyle/>
                        <a:p>
                          <a:r>
                            <a:rPr lang="en-US" altLang="zh-CN" sz="1600" dirty="0" smtClean="0"/>
                            <a:t>20</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12023833"/>
                      </a:ext>
                    </a:extLst>
                  </a:tr>
                  <a:tr h="330868">
                    <a:tc vMerge="1">
                      <a:txBody>
                        <a:bodyPr/>
                        <a:lstStyle/>
                        <a:p>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5</a:t>
                          </a:r>
                          <a:endParaRPr lang="zh-CN" altLang="en-US" sz="1600" dirty="0"/>
                        </a:p>
                      </a:txBody>
                      <a:tcPr/>
                    </a:tc>
                    <a:tc>
                      <a:txBody>
                        <a:bodyPr/>
                        <a:lstStyle/>
                        <a:p>
                          <a:r>
                            <a:rPr lang="en-US" altLang="zh-CN" sz="1600" dirty="0" smtClean="0"/>
                            <a:t>0</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292929"/>
                              </a:solidFill>
                              <a:effectLst/>
                              <a:uLnTx/>
                              <a:uFillTx/>
                              <a:latin typeface="Arial"/>
                              <a:ea typeface="宋体"/>
                              <a:cs typeface="+mn-cs"/>
                            </a:rPr>
                            <a:t>3+5+3*0.5=9.5</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19</a:t>
                          </a:r>
                          <a:endParaRPr lang="zh-CN" altLang="en-US" sz="1600" dirty="0"/>
                        </a:p>
                      </a:txBody>
                      <a:tcPr/>
                    </a:tc>
                    <a:tc vMerge="1">
                      <a:txBody>
                        <a:bodyPr/>
                        <a:lstStyle/>
                        <a:p>
                          <a:endParaRPr lang="zh-CN"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tc>
                    <a:extLst>
                      <a:ext uri="{0D108BD9-81ED-4DB2-BD59-A6C34878D82A}">
                        <a16:rowId xmlns:a16="http://schemas.microsoft.com/office/drawing/2014/main" val="1091311635"/>
                      </a:ext>
                    </a:extLst>
                  </a:tr>
                  <a:tr h="330868">
                    <a:tc rowSpan="4">
                      <a:txBody>
                        <a:bodyPr/>
                        <a:lstStyle/>
                        <a:p>
                          <a:r>
                            <a:rPr lang="en-US" altLang="zh-CN" sz="1600" dirty="0" smtClean="0"/>
                            <a:t>4</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a:t>
                          </a:r>
                          <a:endParaRPr lang="zh-CN" altLang="en-US" sz="1600" dirty="0"/>
                        </a:p>
                      </a:txBody>
                      <a:tcPr/>
                    </a:tc>
                    <a:tc>
                      <a:txBody>
                        <a:bodyPr/>
                        <a:lstStyle/>
                        <a:p>
                          <a:r>
                            <a:rPr lang="en-US" altLang="zh-CN" sz="1600" dirty="0" smtClean="0"/>
                            <a:t>3</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3+3+4*0.5=8</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15.5</a:t>
                          </a:r>
                          <a:endParaRPr lang="zh-CN" altLang="en-US" sz="1600" dirty="0"/>
                        </a:p>
                      </a:txBody>
                      <a:tcPr/>
                    </a:tc>
                    <a:tc>
                      <a:txBody>
                        <a:bodyPr/>
                        <a:lstStyle/>
                        <a:p>
                          <a:r>
                            <a:rPr lang="en-US" altLang="zh-CN" sz="1600" dirty="0" smtClean="0"/>
                            <a:t>23.5</a:t>
                          </a:r>
                          <a:endParaRPr lang="zh-CN" altLang="en-US" sz="1600" dirty="0"/>
                        </a:p>
                      </a:txBody>
                      <a:tcPr/>
                    </a:tc>
                    <a:tc rowSpan="4">
                      <a:txBody>
                        <a:bodyPr/>
                        <a:lstStyle/>
                        <a:p>
                          <a:r>
                            <a:rPr lang="en-US" altLang="zh-CN" sz="1600" dirty="0" smtClean="0"/>
                            <a:t>20.5</a:t>
                          </a:r>
                          <a:endParaRPr lang="zh-CN" altLang="en-US" sz="1600" dirty="0"/>
                        </a:p>
                      </a:txBody>
                      <a:tcPr/>
                    </a:tc>
                    <a:tc rowSpan="4">
                      <a:txBody>
                        <a:bodyPr/>
                        <a:lstStyle/>
                        <a:p>
                          <a:r>
                            <a:rPr lang="en-US" altLang="zh-CN" sz="1600" dirty="0" smtClean="0"/>
                            <a:t>6</a:t>
                          </a:r>
                          <a:endParaRPr lang="zh-CN" altLang="en-US" sz="1600" dirty="0"/>
                        </a:p>
                      </a:txBody>
                      <a:tcPr/>
                    </a:tc>
                    <a:extLst>
                      <a:ext uri="{0D108BD9-81ED-4DB2-BD59-A6C34878D82A}">
                        <a16:rowId xmlns:a16="http://schemas.microsoft.com/office/drawing/2014/main" val="3793466343"/>
                      </a:ext>
                    </a:extLst>
                  </a:tr>
                  <a:tr h="330868">
                    <a:tc vMerge="1">
                      <a:txBody>
                        <a:bodyPr/>
                        <a:lstStyle/>
                        <a:p>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4</a:t>
                          </a:r>
                          <a:endParaRPr lang="zh-CN" altLang="en-US" sz="1600" dirty="0"/>
                        </a:p>
                      </a:txBody>
                      <a:tcPr/>
                    </a:tc>
                    <a:tc>
                      <a:txBody>
                        <a:bodyPr/>
                        <a:lstStyle/>
                        <a:p>
                          <a:r>
                            <a:rPr lang="en-US" altLang="zh-CN" sz="1600" dirty="0" smtClean="0"/>
                            <a:t>2</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3+4+4*0.5=9</a:t>
                          </a:r>
                          <a:endParaRPr lang="zh-CN" altLang="en-US" sz="1600" dirty="0"/>
                        </a:p>
                      </a:txBody>
                      <a:tcPr/>
                    </a:tc>
                    <a:tc>
                      <a:txBody>
                        <a:bodyPr/>
                        <a:lstStyle/>
                        <a:p>
                          <a:r>
                            <a:rPr lang="en-US" altLang="zh-CN" sz="1600" dirty="0" smtClean="0"/>
                            <a:t>14</a:t>
                          </a:r>
                          <a:endParaRPr lang="zh-CN" altLang="en-US" sz="1600" dirty="0"/>
                        </a:p>
                      </a:txBody>
                      <a:tcPr/>
                    </a:tc>
                    <a:tc>
                      <a:txBody>
                        <a:bodyPr/>
                        <a:lstStyle/>
                        <a:p>
                          <a:r>
                            <a:rPr lang="en-US" altLang="zh-CN" sz="1600" dirty="0" smtClean="0"/>
                            <a:t>23</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3980972653"/>
                      </a:ext>
                    </a:extLst>
                  </a:tr>
                  <a:tr h="330868">
                    <a:tc vMerge="1">
                      <a:txBody>
                        <a:bodyPr/>
                        <a:lstStyle/>
                        <a:p>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5</a:t>
                          </a:r>
                          <a:endParaRPr lang="zh-CN" altLang="en-US" sz="1600" dirty="0"/>
                        </a:p>
                      </a:txBody>
                      <a:tcPr/>
                    </a:tc>
                    <a:tc>
                      <a:txBody>
                        <a:bodyPr/>
                        <a:lstStyle/>
                        <a:p>
                          <a:r>
                            <a:rPr lang="en-US" altLang="zh-CN" sz="1600" dirty="0" smtClean="0"/>
                            <a:t>1</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3+5+4*0.5=10</a:t>
                          </a:r>
                          <a:endParaRPr lang="zh-CN" altLang="en-US" sz="1600" dirty="0"/>
                        </a:p>
                      </a:txBody>
                      <a:tcPr/>
                    </a:tc>
                    <a:tc>
                      <a:txBody>
                        <a:bodyPr/>
                        <a:lstStyle/>
                        <a:p>
                          <a:r>
                            <a:rPr lang="en-US" altLang="zh-CN" sz="1600" dirty="0" smtClean="0"/>
                            <a:t>11.5</a:t>
                          </a:r>
                          <a:endParaRPr lang="zh-CN" altLang="en-US" sz="1600" dirty="0"/>
                        </a:p>
                      </a:txBody>
                      <a:tcPr/>
                    </a:tc>
                    <a:tc>
                      <a:txBody>
                        <a:bodyPr/>
                        <a:lstStyle/>
                        <a:p>
                          <a:r>
                            <a:rPr lang="en-US" altLang="zh-CN" sz="1600" dirty="0" smtClean="0"/>
                            <a:t>21.5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888675857"/>
                      </a:ext>
                    </a:extLst>
                  </a:tr>
                  <a:tr h="330868">
                    <a:tc vMerge="1">
                      <a:txBody>
                        <a:bodyPr/>
                        <a:lstStyle/>
                        <a:p>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6</a:t>
                          </a:r>
                          <a:endParaRPr lang="zh-CN" altLang="en-US" sz="1600" dirty="0"/>
                        </a:p>
                      </a:txBody>
                      <a:tcPr/>
                    </a:tc>
                    <a:tc>
                      <a:txBody>
                        <a:bodyPr/>
                        <a:lstStyle/>
                        <a:p>
                          <a:r>
                            <a:rPr lang="en-US" altLang="zh-CN" sz="1600" dirty="0" smtClean="0"/>
                            <a:t>0</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3+6+4*0.5=11</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20.5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811148615"/>
                      </a:ext>
                    </a:extLst>
                  </a:tr>
                </a:tbl>
              </a:graphicData>
            </a:graphic>
          </p:graphicFrame>
        </mc:Choice>
        <mc:Fallback xmlns="">
          <p:graphicFrame>
            <p:nvGraphicFramePr>
              <p:cNvPr id="5" name="表格 4"/>
              <p:cNvGraphicFramePr>
                <a:graphicFrameLocks noGrp="1"/>
              </p:cNvGraphicFramePr>
              <p:nvPr>
                <p:extLst>
                  <p:ext uri="{D42A27DB-BD31-4B8C-83A1-F6EECF244321}">
                    <p14:modId xmlns:p14="http://schemas.microsoft.com/office/powerpoint/2010/main" val="3831922281"/>
                  </p:ext>
                </p:extLst>
              </p:nvPr>
            </p:nvGraphicFramePr>
            <p:xfrm>
              <a:off x="2915816" y="-99392"/>
              <a:ext cx="6264696" cy="6949440"/>
            </p:xfrm>
            <a:graphic>
              <a:graphicData uri="http://schemas.openxmlformats.org/drawingml/2006/table">
                <a:tbl>
                  <a:tblPr firstRow="1" bandRow="1">
                    <a:tableStyleId>{5C22544A-7EE6-4342-B048-85BDC9FD1C3A}</a:tableStyleId>
                  </a:tblPr>
                  <a:tblGrid>
                    <a:gridCol w="481487">
                      <a:extLst>
                        <a:ext uri="{9D8B030D-6E8A-4147-A177-3AD203B41FA5}">
                          <a16:colId xmlns:a16="http://schemas.microsoft.com/office/drawing/2014/main" val="1816936163"/>
                        </a:ext>
                      </a:extLst>
                    </a:gridCol>
                    <a:gridCol w="554404">
                      <a:extLst>
                        <a:ext uri="{9D8B030D-6E8A-4147-A177-3AD203B41FA5}">
                          <a16:colId xmlns:a16="http://schemas.microsoft.com/office/drawing/2014/main" val="1250546864"/>
                        </a:ext>
                      </a:extLst>
                    </a:gridCol>
                    <a:gridCol w="616004">
                      <a:extLst>
                        <a:ext uri="{9D8B030D-6E8A-4147-A177-3AD203B41FA5}">
                          <a16:colId xmlns:a16="http://schemas.microsoft.com/office/drawing/2014/main" val="1869782824"/>
                        </a:ext>
                      </a:extLst>
                    </a:gridCol>
                    <a:gridCol w="1732481">
                      <a:extLst>
                        <a:ext uri="{9D8B030D-6E8A-4147-A177-3AD203B41FA5}">
                          <a16:colId xmlns:a16="http://schemas.microsoft.com/office/drawing/2014/main" val="3148481169"/>
                        </a:ext>
                      </a:extLst>
                    </a:gridCol>
                    <a:gridCol w="608334">
                      <a:extLst>
                        <a:ext uri="{9D8B030D-6E8A-4147-A177-3AD203B41FA5}">
                          <a16:colId xmlns:a16="http://schemas.microsoft.com/office/drawing/2014/main" val="644265878"/>
                        </a:ext>
                      </a:extLst>
                    </a:gridCol>
                    <a:gridCol w="981086">
                      <a:extLst>
                        <a:ext uri="{9D8B030D-6E8A-4147-A177-3AD203B41FA5}">
                          <a16:colId xmlns:a16="http://schemas.microsoft.com/office/drawing/2014/main" val="938889560"/>
                        </a:ext>
                      </a:extLst>
                    </a:gridCol>
                    <a:gridCol w="723353">
                      <a:extLst>
                        <a:ext uri="{9D8B030D-6E8A-4147-A177-3AD203B41FA5}">
                          <a16:colId xmlns:a16="http://schemas.microsoft.com/office/drawing/2014/main" val="1613744912"/>
                        </a:ext>
                      </a:extLst>
                    </a:gridCol>
                    <a:gridCol w="567547">
                      <a:extLst>
                        <a:ext uri="{9D8B030D-6E8A-4147-A177-3AD203B41FA5}">
                          <a16:colId xmlns:a16="http://schemas.microsoft.com/office/drawing/2014/main" val="2765978471"/>
                        </a:ext>
                      </a:extLst>
                    </a:gridCol>
                  </a:tblGrid>
                  <a:tr h="579120">
                    <a:tc>
                      <a:txBody>
                        <a:bodyPr/>
                        <a:lstStyle/>
                        <a:p>
                          <a:endParaRPr lang="zh-CN"/>
                        </a:p>
                      </a:txBody>
                      <a:tcPr>
                        <a:blipFill>
                          <a:blip r:embed="rId2"/>
                          <a:stretch>
                            <a:fillRect l="-1266" t="-2105" r="-1207595" b="-1114737"/>
                          </a:stretch>
                        </a:blipFill>
                      </a:tcPr>
                    </a:tc>
                    <a:tc>
                      <a:txBody>
                        <a:bodyPr/>
                        <a:lstStyle/>
                        <a:p>
                          <a:endParaRPr lang="zh-CN"/>
                        </a:p>
                      </a:txBody>
                      <a:tcPr>
                        <a:blipFill>
                          <a:blip r:embed="rId2"/>
                          <a:stretch>
                            <a:fillRect l="-87912" t="-2105" r="-948352" b="-1114737"/>
                          </a:stretch>
                        </a:blipFill>
                      </a:tcPr>
                    </a:tc>
                    <a:tc>
                      <a:txBody>
                        <a:bodyPr/>
                        <a:lstStyle/>
                        <a:p>
                          <a:endParaRPr lang="zh-CN"/>
                        </a:p>
                      </a:txBody>
                      <a:tcPr>
                        <a:blipFill>
                          <a:blip r:embed="rId2"/>
                          <a:stretch>
                            <a:fillRect l="-169307" t="-2105" r="-754455" b="-1114737"/>
                          </a:stretch>
                        </a:blipFill>
                      </a:tcPr>
                    </a:tc>
                    <a:tc>
                      <a:txBody>
                        <a:bodyPr/>
                        <a:lstStyle/>
                        <a:p>
                          <a:endParaRPr lang="zh-CN"/>
                        </a:p>
                      </a:txBody>
                      <a:tcPr>
                        <a:blipFill>
                          <a:blip r:embed="rId2"/>
                          <a:stretch>
                            <a:fillRect l="-95775" t="-2105" r="-168310" b="-1114737"/>
                          </a:stretch>
                        </a:blipFill>
                      </a:tcPr>
                    </a:tc>
                    <a:tc>
                      <a:txBody>
                        <a:bodyPr/>
                        <a:lstStyle/>
                        <a:p>
                          <a:endParaRPr lang="zh-CN"/>
                        </a:p>
                      </a:txBody>
                      <a:tcPr>
                        <a:blipFill>
                          <a:blip r:embed="rId2"/>
                          <a:stretch>
                            <a:fillRect l="-556000" t="-2105" r="-378000" b="-1114737"/>
                          </a:stretch>
                        </a:blipFill>
                      </a:tcPr>
                    </a:tc>
                    <a:tc>
                      <a:txBody>
                        <a:bodyPr/>
                        <a:lstStyle/>
                        <a:p>
                          <a:endParaRPr lang="zh-CN"/>
                        </a:p>
                      </a:txBody>
                      <a:tcPr>
                        <a:blipFill>
                          <a:blip r:embed="rId2"/>
                          <a:stretch>
                            <a:fillRect l="-407453" t="-2105" r="-134783" b="-1114737"/>
                          </a:stretch>
                        </a:blipFill>
                      </a:tcPr>
                    </a:tc>
                    <a:tc>
                      <a:txBody>
                        <a:bodyPr/>
                        <a:lstStyle/>
                        <a:p>
                          <a:endParaRPr lang="zh-CN"/>
                        </a:p>
                      </a:txBody>
                      <a:tcPr>
                        <a:blipFill>
                          <a:blip r:embed="rId2"/>
                          <a:stretch>
                            <a:fillRect l="-686555" t="-2105" r="-82353" b="-1114737"/>
                          </a:stretch>
                        </a:blipFill>
                      </a:tcPr>
                    </a:tc>
                    <a:tc>
                      <a:txBody>
                        <a:bodyPr/>
                        <a:lstStyle/>
                        <a:p>
                          <a:endParaRPr lang="zh-CN"/>
                        </a:p>
                      </a:txBody>
                      <a:tcPr>
                        <a:blipFill>
                          <a:blip r:embed="rId2"/>
                          <a:stretch>
                            <a:fillRect l="-1006452" t="-2105" r="-5376" b="-1114737"/>
                          </a:stretch>
                        </a:blipFill>
                      </a:tcPr>
                    </a:tc>
                    <a:extLst>
                      <a:ext uri="{0D108BD9-81ED-4DB2-BD59-A6C34878D82A}">
                        <a16:rowId xmlns:a16="http://schemas.microsoft.com/office/drawing/2014/main" val="37799757"/>
                      </a:ext>
                    </a:extLst>
                  </a:tr>
                  <a:tr h="335280">
                    <a:tc rowSpan="3">
                      <a:txBody>
                        <a:bodyPr/>
                        <a:lstStyle/>
                        <a:p>
                          <a:pPr/>
                          <a:r>
                            <a:rPr lang="en-US" altLang="zh-CN" sz="1600" dirty="0" smtClean="0"/>
                            <a:t>0</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0+0=0</a:t>
                          </a:r>
                          <a:endParaRPr lang="zh-CN" altLang="en-US" sz="1600" dirty="0"/>
                        </a:p>
                      </a:txBody>
                      <a:tcPr/>
                    </a:tc>
                    <a:tc>
                      <a:txBody>
                        <a:bodyPr/>
                        <a:lstStyle/>
                        <a:p>
                          <a:r>
                            <a:rPr lang="en-US" altLang="zh-CN" sz="1600" dirty="0" smtClean="0"/>
                            <a:t>14</a:t>
                          </a:r>
                          <a:endParaRPr lang="zh-CN" altLang="en-US" sz="1600" dirty="0"/>
                        </a:p>
                      </a:txBody>
                      <a:tcPr/>
                    </a:tc>
                    <a:tc>
                      <a:txBody>
                        <a:bodyPr/>
                        <a:lstStyle/>
                        <a:p>
                          <a:r>
                            <a:rPr lang="en-US" altLang="zh-CN" sz="1600" dirty="0" smtClean="0"/>
                            <a:t>14</a:t>
                          </a:r>
                          <a:endParaRPr lang="zh-CN" altLang="en-US" sz="1600" dirty="0"/>
                        </a:p>
                      </a:txBody>
                      <a:tcPr/>
                    </a:tc>
                    <a:tc rowSpan="3">
                      <a:txBody>
                        <a:bodyPr/>
                        <a:lstStyle/>
                        <a:p>
                          <a:r>
                            <a:rPr lang="en-US" altLang="zh-CN" sz="1600" dirty="0" smtClean="0"/>
                            <a:t>14</a:t>
                          </a:r>
                          <a:endParaRPr lang="zh-CN" altLang="en-US" sz="1600" dirty="0"/>
                        </a:p>
                      </a:txBody>
                      <a:tcPr/>
                    </a:tc>
                    <a:tc rowSpan="3">
                      <a:txBody>
                        <a:bodyPr/>
                        <a:lstStyle/>
                        <a:p>
                          <a:r>
                            <a:rPr lang="en-US" altLang="zh-CN" sz="1600" dirty="0" smtClean="0"/>
                            <a:t>0</a:t>
                          </a:r>
                          <a:endParaRPr lang="zh-CN" altLang="en-US" sz="1600" dirty="0"/>
                        </a:p>
                      </a:txBody>
                      <a:tcPr/>
                    </a:tc>
                    <a:extLst>
                      <a:ext uri="{0D108BD9-81ED-4DB2-BD59-A6C34878D82A}">
                        <a16:rowId xmlns:a16="http://schemas.microsoft.com/office/drawing/2014/main" val="130326615"/>
                      </a:ext>
                    </a:extLst>
                  </a:tr>
                  <a:tr h="335280">
                    <a:tc vMerge="1">
                      <a:txBody>
                        <a:bodyPr/>
                        <a:lstStyle/>
                        <a:p>
                          <a:pP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3+1+0=4</a:t>
                          </a:r>
                          <a:endParaRPr lang="zh-CN" altLang="en-US" sz="1600" dirty="0"/>
                        </a:p>
                      </a:txBody>
                      <a:tcPr/>
                    </a:tc>
                    <a:tc>
                      <a:txBody>
                        <a:bodyPr/>
                        <a:lstStyle/>
                        <a:p>
                          <a:r>
                            <a:rPr lang="en-US" altLang="zh-CN" sz="1600" dirty="0" smtClean="0"/>
                            <a:t>11.5</a:t>
                          </a:r>
                          <a:endParaRPr lang="zh-CN" altLang="en-US" sz="1600" dirty="0"/>
                        </a:p>
                      </a:txBody>
                      <a:tcPr/>
                    </a:tc>
                    <a:tc>
                      <a:txBody>
                        <a:bodyPr/>
                        <a:lstStyle/>
                        <a:p>
                          <a:r>
                            <a:rPr lang="en-US" altLang="zh-CN" sz="1600" dirty="0" smtClean="0"/>
                            <a:t>15.5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845204460"/>
                      </a:ext>
                    </a:extLst>
                  </a:tr>
                  <a:tr h="335280">
                    <a:tc vMerge="1">
                      <a:txBody>
                        <a:bodyPr/>
                        <a:lstStyle/>
                        <a:p>
                          <a:pP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3+2+0=5</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14.5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1824428135"/>
                      </a:ext>
                    </a:extLst>
                  </a:tr>
                  <a:tr h="335280">
                    <a:tc rowSpan="4">
                      <a:txBody>
                        <a:bodyPr/>
                        <a:lstStyle/>
                        <a:p>
                          <a:pPr/>
                          <a:r>
                            <a:rPr lang="en-US" altLang="zh-CN" sz="1600" dirty="0" smtClean="0"/>
                            <a:t>1</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0+1*0.5=0.5</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15.5</a:t>
                          </a:r>
                          <a:endParaRPr lang="zh-CN" altLang="en-US" sz="1600" dirty="0"/>
                        </a:p>
                      </a:txBody>
                      <a:tcPr/>
                    </a:tc>
                    <a:tc>
                      <a:txBody>
                        <a:bodyPr/>
                        <a:lstStyle/>
                        <a:p>
                          <a:r>
                            <a:rPr lang="en-US" altLang="zh-CN" sz="1600" dirty="0" smtClean="0"/>
                            <a:t>16</a:t>
                          </a:r>
                          <a:endParaRPr lang="zh-CN" altLang="en-US" sz="1600" dirty="0"/>
                        </a:p>
                      </a:txBody>
                      <a:tcPr/>
                    </a:tc>
                    <a:tc rowSpan="4">
                      <a:txBody>
                        <a:bodyPr/>
                        <a:lstStyle/>
                        <a:p>
                          <a:r>
                            <a:rPr lang="en-US" altLang="zh-CN" sz="1600" dirty="0" smtClean="0"/>
                            <a:t>16</a:t>
                          </a:r>
                          <a:endParaRPr lang="zh-CN" altLang="en-US" sz="1600" dirty="0"/>
                        </a:p>
                      </a:txBody>
                      <a:tcPr/>
                    </a:tc>
                    <a:tc rowSpan="4">
                      <a:txBody>
                        <a:bodyPr/>
                        <a:lstStyle/>
                        <a:p>
                          <a:r>
                            <a:rPr lang="en-US" altLang="zh-CN" sz="1600" dirty="0" smtClean="0"/>
                            <a:t>0,3</a:t>
                          </a:r>
                          <a:endParaRPr lang="zh-CN" altLang="en-US" sz="1600" dirty="0"/>
                        </a:p>
                      </a:txBody>
                      <a:tcPr/>
                    </a:tc>
                    <a:extLst>
                      <a:ext uri="{0D108BD9-81ED-4DB2-BD59-A6C34878D82A}">
                        <a16:rowId xmlns:a16="http://schemas.microsoft.com/office/drawing/2014/main" val="2009149456"/>
                      </a:ext>
                    </a:extLst>
                  </a:tr>
                  <a:tr h="335280">
                    <a:tc vMerge="1">
                      <a:txBody>
                        <a:bodyPr/>
                        <a:lstStyle/>
                        <a:p>
                          <a:pP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3+1+1*0.5=4.5</a:t>
                          </a:r>
                          <a:endParaRPr lang="zh-CN" altLang="en-US" sz="1600" dirty="0"/>
                        </a:p>
                      </a:txBody>
                      <a:tcPr/>
                    </a:tc>
                    <a:tc>
                      <a:txBody>
                        <a:bodyPr/>
                        <a:lstStyle/>
                        <a:p>
                          <a:r>
                            <a:rPr lang="en-US" altLang="zh-CN" sz="1600" dirty="0" smtClean="0"/>
                            <a:t>14</a:t>
                          </a:r>
                          <a:endParaRPr lang="zh-CN" altLang="en-US" sz="1600" dirty="0"/>
                        </a:p>
                      </a:txBody>
                      <a:tcPr/>
                    </a:tc>
                    <a:tc>
                      <a:txBody>
                        <a:bodyPr/>
                        <a:lstStyle/>
                        <a:p>
                          <a:r>
                            <a:rPr lang="en-US" altLang="zh-CN" sz="1600" dirty="0" smtClean="0"/>
                            <a:t>18.5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884266079"/>
                      </a:ext>
                    </a:extLst>
                  </a:tr>
                  <a:tr h="335280">
                    <a:tc vMerge="1">
                      <a:txBody>
                        <a:bodyPr/>
                        <a:lstStyle/>
                        <a:p>
                          <a:pP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1</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3+2+1*0.5=5.5</a:t>
                          </a:r>
                          <a:endParaRPr lang="zh-CN" altLang="en-US" sz="1600" dirty="0" smtClean="0"/>
                        </a:p>
                      </a:txBody>
                      <a:tcPr/>
                    </a:tc>
                    <a:tc>
                      <a:txBody>
                        <a:bodyPr/>
                        <a:lstStyle/>
                        <a:p>
                          <a:r>
                            <a:rPr lang="en-US" altLang="zh-CN" sz="1600" dirty="0" smtClean="0"/>
                            <a:t>11.5</a:t>
                          </a:r>
                          <a:endParaRPr lang="zh-CN" altLang="en-US" sz="1600" dirty="0"/>
                        </a:p>
                      </a:txBody>
                      <a:tcPr/>
                    </a:tc>
                    <a:tc>
                      <a:txBody>
                        <a:bodyPr/>
                        <a:lstStyle/>
                        <a:p>
                          <a:r>
                            <a:rPr lang="en-US" altLang="zh-CN" sz="1600" dirty="0" smtClean="0"/>
                            <a:t>17</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1656321950"/>
                      </a:ext>
                    </a:extLst>
                  </a:tr>
                  <a:tr h="335280">
                    <a:tc vMerge="1">
                      <a:txBody>
                        <a:bodyPr/>
                        <a:lstStyle/>
                        <a:p>
                          <a:pP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3+3+1*0.5=6.5</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16</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368324249"/>
                      </a:ext>
                    </a:extLst>
                  </a:tr>
                  <a:tr h="335280">
                    <a:tc rowSpan="4">
                      <a:txBody>
                        <a:bodyPr/>
                        <a:lstStyle/>
                        <a:p>
                          <a:pPr/>
                          <a:r>
                            <a:rPr lang="en-US" altLang="zh-CN" sz="1600" dirty="0" smtClean="0"/>
                            <a:t>2</a:t>
                          </a: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3+1+2*0.5=5</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15.5</a:t>
                          </a:r>
                          <a:endParaRPr lang="zh-CN" altLang="en-US" sz="1600" dirty="0"/>
                        </a:p>
                      </a:txBody>
                      <a:tcPr/>
                    </a:tc>
                    <a:tc>
                      <a:txBody>
                        <a:bodyPr/>
                        <a:lstStyle/>
                        <a:p>
                          <a:r>
                            <a:rPr lang="en-US" altLang="zh-CN" sz="1600" dirty="0" smtClean="0"/>
                            <a:t>20.5</a:t>
                          </a:r>
                          <a:endParaRPr lang="zh-CN" altLang="en-US" sz="1600" dirty="0"/>
                        </a:p>
                      </a:txBody>
                      <a:tcPr/>
                    </a:tc>
                    <a:tc rowSpan="4">
                      <a:txBody>
                        <a:bodyPr/>
                        <a:lstStyle/>
                        <a:p>
                          <a:r>
                            <a:rPr lang="en-US" altLang="zh-CN" sz="1600" dirty="0" smtClean="0"/>
                            <a:t>17.5</a:t>
                          </a:r>
                          <a:endParaRPr lang="zh-CN" altLang="en-US" sz="1600" dirty="0"/>
                        </a:p>
                      </a:txBody>
                      <a:tcPr/>
                    </a:tc>
                    <a:tc rowSpan="4">
                      <a:txBody>
                        <a:bodyPr/>
                        <a:lstStyle/>
                        <a:p>
                          <a:r>
                            <a:rPr lang="en-US" altLang="zh-CN" sz="1600" dirty="0" smtClean="0"/>
                            <a:t>4</a:t>
                          </a:r>
                          <a:endParaRPr lang="zh-CN" altLang="en-US" sz="1600" dirty="0"/>
                        </a:p>
                      </a:txBody>
                      <a:tcPr/>
                    </a:tc>
                    <a:extLst>
                      <a:ext uri="{0D108BD9-81ED-4DB2-BD59-A6C34878D82A}">
                        <a16:rowId xmlns:a16="http://schemas.microsoft.com/office/drawing/2014/main" val="4273431072"/>
                      </a:ext>
                    </a:extLst>
                  </a:tr>
                  <a:tr h="335280">
                    <a:tc vMerge="1">
                      <a:txBody>
                        <a:bodyPr/>
                        <a:lstStyle/>
                        <a:p>
                          <a:pP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3+2+2*0.5=6</a:t>
                          </a:r>
                          <a:endParaRPr lang="zh-CN" altLang="en-US" sz="1600" dirty="0"/>
                        </a:p>
                      </a:txBody>
                      <a:tcPr/>
                    </a:tc>
                    <a:tc>
                      <a:txBody>
                        <a:bodyPr/>
                        <a:lstStyle/>
                        <a:p>
                          <a:r>
                            <a:rPr lang="en-US" altLang="zh-CN" sz="1600" dirty="0" smtClean="0"/>
                            <a:t>14</a:t>
                          </a:r>
                          <a:endParaRPr lang="zh-CN" altLang="en-US" sz="1600" dirty="0"/>
                        </a:p>
                      </a:txBody>
                      <a:tcPr/>
                    </a:tc>
                    <a:tc>
                      <a:txBody>
                        <a:bodyPr/>
                        <a:lstStyle/>
                        <a:p>
                          <a:r>
                            <a:rPr lang="en-US" altLang="zh-CN" sz="1600" dirty="0" smtClean="0"/>
                            <a:t>20</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285198267"/>
                      </a:ext>
                    </a:extLst>
                  </a:tr>
                  <a:tr h="335280">
                    <a:tc vMerge="1">
                      <a:txBody>
                        <a:bodyPr/>
                        <a:lstStyle/>
                        <a:p>
                          <a:pP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3+3+2*0.5=7</a:t>
                          </a:r>
                          <a:endParaRPr lang="zh-CN" altLang="en-US" sz="1600" dirty="0"/>
                        </a:p>
                      </a:txBody>
                      <a:tcPr/>
                    </a:tc>
                    <a:tc>
                      <a:txBody>
                        <a:bodyPr/>
                        <a:lstStyle/>
                        <a:p>
                          <a:r>
                            <a:rPr lang="en-US" altLang="zh-CN" sz="1600" dirty="0" smtClean="0"/>
                            <a:t>11.5</a:t>
                          </a:r>
                          <a:endParaRPr lang="zh-CN" altLang="en-US" sz="1600" dirty="0"/>
                        </a:p>
                      </a:txBody>
                      <a:tcPr/>
                    </a:tc>
                    <a:tc>
                      <a:txBody>
                        <a:bodyPr/>
                        <a:lstStyle/>
                        <a:p>
                          <a:r>
                            <a:rPr lang="en-US" altLang="zh-CN" sz="1600" dirty="0" smtClean="0"/>
                            <a:t>18.5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3736361684"/>
                      </a:ext>
                    </a:extLst>
                  </a:tr>
                  <a:tr h="335280">
                    <a:tc vMerge="1">
                      <a:txBody>
                        <a:bodyPr/>
                        <a:lstStyle/>
                        <a:p>
                          <a:pPr/>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3+4+2*0.5=8</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17.5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444571681"/>
                      </a:ext>
                    </a:extLst>
                  </a:tr>
                  <a:tr h="335280">
                    <a:tc rowSpan="4">
                      <a:txBody>
                        <a:bodyPr/>
                        <a:lstStyle/>
                        <a:p>
                          <a:pPr/>
                          <a:r>
                            <a:rPr lang="en-US" altLang="zh-CN" sz="1600" dirty="0" smtClean="0"/>
                            <a:t>3</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3+2+3*0.5=6.5</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15.5</a:t>
                          </a:r>
                          <a:endParaRPr lang="zh-CN" altLang="en-US" sz="1600" dirty="0"/>
                        </a:p>
                      </a:txBody>
                      <a:tcPr/>
                    </a:tc>
                    <a:tc>
                      <a:txBody>
                        <a:bodyPr/>
                        <a:lstStyle/>
                        <a:p>
                          <a:r>
                            <a:rPr lang="en-US" altLang="zh-CN" sz="1600" dirty="0" smtClean="0"/>
                            <a:t>22</a:t>
                          </a:r>
                          <a:endParaRPr lang="zh-CN" altLang="en-US" sz="1600" dirty="0"/>
                        </a:p>
                      </a:txBody>
                      <a:tcPr/>
                    </a:tc>
                    <a:tc rowSpan="4">
                      <a:txBody>
                        <a:bodyPr/>
                        <a:lstStyle/>
                        <a:p>
                          <a:r>
                            <a:rPr lang="en-US" altLang="zh-CN" sz="1600" dirty="0" smtClean="0"/>
                            <a:t>19</a:t>
                          </a:r>
                          <a:endParaRPr lang="zh-CN" altLang="en-US" sz="1600" dirty="0"/>
                        </a:p>
                      </a:txBody>
                      <a:tcPr/>
                    </a:tc>
                    <a:tc rowSpan="4">
                      <a:txBody>
                        <a:bodyPr/>
                        <a:lstStyle/>
                        <a:p>
                          <a:r>
                            <a:rPr lang="en-US" altLang="zh-CN" sz="1600" dirty="0" smtClean="0"/>
                            <a:t>5</a:t>
                          </a:r>
                          <a:endParaRPr lang="zh-CN" altLang="en-US" sz="1600" dirty="0"/>
                        </a:p>
                      </a:txBody>
                      <a:tcPr/>
                    </a:tc>
                    <a:extLst>
                      <a:ext uri="{0D108BD9-81ED-4DB2-BD59-A6C34878D82A}">
                        <a16:rowId xmlns:a16="http://schemas.microsoft.com/office/drawing/2014/main" val="3643722671"/>
                      </a:ext>
                    </a:extLst>
                  </a:tr>
                  <a:tr h="335280">
                    <a:tc vMerge="1">
                      <a:txBody>
                        <a:bodyPr/>
                        <a:lstStyle/>
                        <a:p>
                          <a:pP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2</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292929"/>
                              </a:solidFill>
                              <a:effectLst/>
                              <a:uLnTx/>
                              <a:uFillTx/>
                              <a:latin typeface="Arial"/>
                              <a:ea typeface="宋体"/>
                              <a:cs typeface="+mn-cs"/>
                            </a:rPr>
                            <a:t>3+3+3*0.5=7.5</a:t>
                          </a:r>
                          <a:endParaRPr lang="zh-CN" altLang="en-US" sz="1600" dirty="0"/>
                        </a:p>
                      </a:txBody>
                      <a:tcPr/>
                    </a:tc>
                    <a:tc>
                      <a:txBody>
                        <a:bodyPr/>
                        <a:lstStyle/>
                        <a:p>
                          <a:r>
                            <a:rPr lang="en-US" altLang="zh-CN" sz="1600" dirty="0" smtClean="0"/>
                            <a:t>14</a:t>
                          </a:r>
                          <a:endParaRPr lang="zh-CN" altLang="en-US" sz="1600" dirty="0"/>
                        </a:p>
                      </a:txBody>
                      <a:tcPr/>
                    </a:tc>
                    <a:tc>
                      <a:txBody>
                        <a:bodyPr/>
                        <a:lstStyle/>
                        <a:p>
                          <a:r>
                            <a:rPr lang="en-US" altLang="zh-CN" sz="1600" dirty="0" smtClean="0"/>
                            <a:t>21.5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1490189046"/>
                      </a:ext>
                    </a:extLst>
                  </a:tr>
                  <a:tr h="335280">
                    <a:tc vMerge="1">
                      <a:txBody>
                        <a:bodyPr/>
                        <a:lstStyle/>
                        <a:p>
                          <a:pPr/>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1</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292929"/>
                              </a:solidFill>
                              <a:effectLst/>
                              <a:uLnTx/>
                              <a:uFillTx/>
                              <a:latin typeface="Arial"/>
                              <a:ea typeface="宋体"/>
                              <a:cs typeface="+mn-cs"/>
                            </a:rPr>
                            <a:t>3+4+3*0.5=8.5</a:t>
                          </a:r>
                          <a:endParaRPr lang="zh-CN" altLang="en-US" sz="1600" dirty="0"/>
                        </a:p>
                      </a:txBody>
                      <a:tcPr/>
                    </a:tc>
                    <a:tc>
                      <a:txBody>
                        <a:bodyPr/>
                        <a:lstStyle/>
                        <a:p>
                          <a:r>
                            <a:rPr lang="en-US" altLang="zh-CN" sz="1600" dirty="0" smtClean="0"/>
                            <a:t>11.5</a:t>
                          </a:r>
                          <a:endParaRPr lang="zh-CN" altLang="en-US" sz="1600" dirty="0"/>
                        </a:p>
                      </a:txBody>
                      <a:tcPr/>
                    </a:tc>
                    <a:tc>
                      <a:txBody>
                        <a:bodyPr/>
                        <a:lstStyle/>
                        <a:p>
                          <a:r>
                            <a:rPr lang="en-US" altLang="zh-CN" sz="1600" dirty="0" smtClean="0"/>
                            <a:t>20</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12023833"/>
                      </a:ext>
                    </a:extLst>
                  </a:tr>
                  <a:tr h="335280">
                    <a:tc vMerge="1">
                      <a:txBody>
                        <a:bodyPr/>
                        <a:lstStyle/>
                        <a:p>
                          <a:pP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5</a:t>
                          </a:r>
                          <a:endParaRPr lang="zh-CN" altLang="en-US" sz="1600" dirty="0"/>
                        </a:p>
                      </a:txBody>
                      <a:tcPr/>
                    </a:tc>
                    <a:tc>
                      <a:txBody>
                        <a:bodyPr/>
                        <a:lstStyle/>
                        <a:p>
                          <a:r>
                            <a:rPr lang="en-US" altLang="zh-CN" sz="1600" dirty="0" smtClean="0"/>
                            <a:t>0</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srgbClr val="292929"/>
                              </a:solidFill>
                              <a:effectLst/>
                              <a:uLnTx/>
                              <a:uFillTx/>
                              <a:latin typeface="Arial"/>
                              <a:ea typeface="宋体"/>
                              <a:cs typeface="+mn-cs"/>
                            </a:rPr>
                            <a:t>3+5+3*0.5=9.5</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19</a:t>
                          </a:r>
                          <a:endParaRPr lang="zh-CN" altLang="en-US" sz="1600" dirty="0"/>
                        </a:p>
                      </a:txBody>
                      <a:tcPr/>
                    </a:tc>
                    <a:tc vMerge="1">
                      <a:txBody>
                        <a:bodyPr/>
                        <a:lstStyle/>
                        <a:p>
                          <a:endParaRPr lang="zh-CN"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tc>
                    <a:extLst>
                      <a:ext uri="{0D108BD9-81ED-4DB2-BD59-A6C34878D82A}">
                        <a16:rowId xmlns:a16="http://schemas.microsoft.com/office/drawing/2014/main" val="1091311635"/>
                      </a:ext>
                    </a:extLst>
                  </a:tr>
                  <a:tr h="335280">
                    <a:tc rowSpan="4">
                      <a:txBody>
                        <a:bodyPr/>
                        <a:lstStyle/>
                        <a:p>
                          <a:pPr/>
                          <a:r>
                            <a:rPr lang="en-US" altLang="zh-CN" sz="1600" dirty="0" smtClean="0"/>
                            <a:t>4</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a:t>
                          </a:r>
                          <a:endParaRPr lang="zh-CN" altLang="en-US" sz="1600" dirty="0"/>
                        </a:p>
                      </a:txBody>
                      <a:tcPr/>
                    </a:tc>
                    <a:tc>
                      <a:txBody>
                        <a:bodyPr/>
                        <a:lstStyle/>
                        <a:p>
                          <a:r>
                            <a:rPr lang="en-US" altLang="zh-CN" sz="1600" dirty="0" smtClean="0"/>
                            <a:t>3</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3+3+4*0.5=8</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15.5</a:t>
                          </a:r>
                          <a:endParaRPr lang="zh-CN" altLang="en-US" sz="1600" dirty="0"/>
                        </a:p>
                      </a:txBody>
                      <a:tcPr/>
                    </a:tc>
                    <a:tc>
                      <a:txBody>
                        <a:bodyPr/>
                        <a:lstStyle/>
                        <a:p>
                          <a:r>
                            <a:rPr lang="en-US" altLang="zh-CN" sz="1600" dirty="0" smtClean="0"/>
                            <a:t>23.5</a:t>
                          </a:r>
                          <a:endParaRPr lang="zh-CN" altLang="en-US" sz="1600" dirty="0"/>
                        </a:p>
                      </a:txBody>
                      <a:tcPr/>
                    </a:tc>
                    <a:tc rowSpan="4">
                      <a:txBody>
                        <a:bodyPr/>
                        <a:lstStyle/>
                        <a:p>
                          <a:r>
                            <a:rPr lang="en-US" altLang="zh-CN" sz="1600" dirty="0" smtClean="0"/>
                            <a:t>20.5</a:t>
                          </a:r>
                          <a:endParaRPr lang="zh-CN" altLang="en-US" sz="1600" dirty="0"/>
                        </a:p>
                      </a:txBody>
                      <a:tcPr/>
                    </a:tc>
                    <a:tc rowSpan="4">
                      <a:txBody>
                        <a:bodyPr/>
                        <a:lstStyle/>
                        <a:p>
                          <a:r>
                            <a:rPr lang="en-US" altLang="zh-CN" sz="1600" dirty="0" smtClean="0"/>
                            <a:t>6</a:t>
                          </a:r>
                          <a:endParaRPr lang="zh-CN" altLang="en-US" sz="1600" dirty="0"/>
                        </a:p>
                      </a:txBody>
                      <a:tcPr/>
                    </a:tc>
                    <a:extLst>
                      <a:ext uri="{0D108BD9-81ED-4DB2-BD59-A6C34878D82A}">
                        <a16:rowId xmlns:a16="http://schemas.microsoft.com/office/drawing/2014/main" val="3793466343"/>
                      </a:ext>
                    </a:extLst>
                  </a:tr>
                  <a:tr h="335280">
                    <a:tc vMerge="1">
                      <a:txBody>
                        <a:bodyPr/>
                        <a:lstStyle/>
                        <a:p>
                          <a:pP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4</a:t>
                          </a:r>
                          <a:endParaRPr lang="zh-CN" altLang="en-US" sz="1600" dirty="0"/>
                        </a:p>
                      </a:txBody>
                      <a:tcPr/>
                    </a:tc>
                    <a:tc>
                      <a:txBody>
                        <a:bodyPr/>
                        <a:lstStyle/>
                        <a:p>
                          <a:r>
                            <a:rPr lang="en-US" altLang="zh-CN" sz="1600" dirty="0" smtClean="0"/>
                            <a:t>2</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3+4+4*0.5=9</a:t>
                          </a:r>
                          <a:endParaRPr lang="zh-CN" altLang="en-US" sz="1600" dirty="0"/>
                        </a:p>
                      </a:txBody>
                      <a:tcPr/>
                    </a:tc>
                    <a:tc>
                      <a:txBody>
                        <a:bodyPr/>
                        <a:lstStyle/>
                        <a:p>
                          <a:r>
                            <a:rPr lang="en-US" altLang="zh-CN" sz="1600" dirty="0" smtClean="0"/>
                            <a:t>14</a:t>
                          </a:r>
                          <a:endParaRPr lang="zh-CN" altLang="en-US" sz="1600" dirty="0"/>
                        </a:p>
                      </a:txBody>
                      <a:tcPr/>
                    </a:tc>
                    <a:tc>
                      <a:txBody>
                        <a:bodyPr/>
                        <a:lstStyle/>
                        <a:p>
                          <a:r>
                            <a:rPr lang="en-US" altLang="zh-CN" sz="1600" dirty="0" smtClean="0"/>
                            <a:t>23</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3980972653"/>
                      </a:ext>
                    </a:extLst>
                  </a:tr>
                  <a:tr h="335280">
                    <a:tc vMerge="1">
                      <a:txBody>
                        <a:bodyPr/>
                        <a:lstStyle/>
                        <a:p>
                          <a:pP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5</a:t>
                          </a:r>
                          <a:endParaRPr lang="zh-CN" altLang="en-US" sz="1600" dirty="0"/>
                        </a:p>
                      </a:txBody>
                      <a:tcPr/>
                    </a:tc>
                    <a:tc>
                      <a:txBody>
                        <a:bodyPr/>
                        <a:lstStyle/>
                        <a:p>
                          <a:r>
                            <a:rPr lang="en-US" altLang="zh-CN" sz="1600" dirty="0" smtClean="0"/>
                            <a:t>1</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3+5+4*0.5=10</a:t>
                          </a:r>
                          <a:endParaRPr lang="zh-CN" altLang="en-US" sz="1600" dirty="0"/>
                        </a:p>
                      </a:txBody>
                      <a:tcPr/>
                    </a:tc>
                    <a:tc>
                      <a:txBody>
                        <a:bodyPr/>
                        <a:lstStyle/>
                        <a:p>
                          <a:r>
                            <a:rPr lang="en-US" altLang="zh-CN" sz="1600" dirty="0" smtClean="0"/>
                            <a:t>11.5</a:t>
                          </a:r>
                          <a:endParaRPr lang="zh-CN" altLang="en-US" sz="1600" dirty="0"/>
                        </a:p>
                      </a:txBody>
                      <a:tcPr/>
                    </a:tc>
                    <a:tc>
                      <a:txBody>
                        <a:bodyPr/>
                        <a:lstStyle/>
                        <a:p>
                          <a:r>
                            <a:rPr lang="en-US" altLang="zh-CN" sz="1600" dirty="0" smtClean="0"/>
                            <a:t>21.5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888675857"/>
                      </a:ext>
                    </a:extLst>
                  </a:tr>
                  <a:tr h="335280">
                    <a:tc vMerge="1">
                      <a:txBody>
                        <a:bodyPr/>
                        <a:lstStyle/>
                        <a:p>
                          <a:pP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6</a:t>
                          </a:r>
                          <a:endParaRPr lang="zh-CN" altLang="en-US" sz="1600" dirty="0"/>
                        </a:p>
                      </a:txBody>
                      <a:tcPr/>
                    </a:tc>
                    <a:tc>
                      <a:txBody>
                        <a:bodyPr/>
                        <a:lstStyle/>
                        <a:p>
                          <a:r>
                            <a:rPr lang="en-US" altLang="zh-CN" sz="1600" dirty="0" smtClean="0"/>
                            <a:t>0</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3+6+4*0.5=11</a:t>
                          </a:r>
                          <a:endParaRPr lang="zh-CN" altLang="en-US" sz="1600" dirty="0"/>
                        </a:p>
                      </a:txBody>
                      <a:tcPr/>
                    </a:tc>
                    <a:tc>
                      <a:txBody>
                        <a:bodyPr/>
                        <a:lstStyle/>
                        <a:p>
                          <a:r>
                            <a:rPr lang="en-US" altLang="zh-CN" sz="1600" dirty="0" smtClean="0"/>
                            <a:t>9.5</a:t>
                          </a:r>
                          <a:endParaRPr lang="zh-CN" altLang="en-US" sz="1600" dirty="0"/>
                        </a:p>
                      </a:txBody>
                      <a:tcPr/>
                    </a:tc>
                    <a:tc>
                      <a:txBody>
                        <a:bodyPr/>
                        <a:lstStyle/>
                        <a:p>
                          <a:r>
                            <a:rPr lang="en-US" altLang="zh-CN" sz="1600" dirty="0" smtClean="0"/>
                            <a:t>20.5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811148615"/>
                      </a:ext>
                    </a:extLst>
                  </a:tr>
                </a:tbl>
              </a:graphicData>
            </a:graphic>
          </p:graphicFrame>
        </mc:Fallback>
      </mc:AlternateContent>
      <p:sp>
        <p:nvSpPr>
          <p:cNvPr id="6" name="Rectangle 21"/>
          <p:cNvSpPr>
            <a:spLocks noChangeArrowheads="1"/>
          </p:cNvSpPr>
          <p:nvPr/>
        </p:nvSpPr>
        <p:spPr bwMode="auto">
          <a:xfrm>
            <a:off x="248072" y="2874915"/>
            <a:ext cx="11208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Times New Roman" panose="02020603050405020304" pitchFamily="18" charset="0"/>
              </a:rPr>
              <a:t>当</a:t>
            </a:r>
            <a:r>
              <a:rPr lang="en-US" altLang="zh-CN" b="1" i="1" dirty="0" smtClean="0">
                <a:latin typeface="Times New Roman" panose="02020603050405020304" pitchFamily="18" charset="0"/>
                <a:cs typeface="Times New Roman" panose="02020603050405020304" pitchFamily="18" charset="0"/>
              </a:rPr>
              <a:t>k</a:t>
            </a:r>
            <a:r>
              <a:rPr lang="en-US" altLang="zh-CN" b="1" dirty="0" smtClean="0">
                <a:cs typeface="Times New Roman" panose="02020603050405020304" pitchFamily="18" charset="0"/>
              </a:rPr>
              <a:t>=3</a:t>
            </a:r>
            <a:r>
              <a:rPr lang="zh-CN" altLang="en-US" b="1" dirty="0" smtClean="0"/>
              <a:t>时</a:t>
            </a:r>
            <a:endParaRPr lang="zh-CN" altLang="en-US" b="1" dirty="0"/>
          </a:p>
        </p:txBody>
      </p:sp>
      <p:graphicFrame>
        <p:nvGraphicFramePr>
          <p:cNvPr id="12" name="Group 94"/>
          <p:cNvGraphicFramePr>
            <a:graphicFrameLocks noGrp="1"/>
          </p:cNvGraphicFramePr>
          <p:nvPr>
            <p:extLst/>
          </p:nvPr>
        </p:nvGraphicFramePr>
        <p:xfrm>
          <a:off x="212257" y="1814366"/>
          <a:ext cx="2357499" cy="792408"/>
        </p:xfrm>
        <a:graphic>
          <a:graphicData uri="http://schemas.openxmlformats.org/drawingml/2006/table">
            <a:tbl>
              <a:tblPr/>
              <a:tblGrid>
                <a:gridCol w="543452">
                  <a:extLst>
                    <a:ext uri="{9D8B030D-6E8A-4147-A177-3AD203B41FA5}">
                      <a16:colId xmlns:a16="http://schemas.microsoft.com/office/drawing/2014/main" val="20001"/>
                    </a:ext>
                  </a:extLst>
                </a:gridCol>
                <a:gridCol w="603758">
                  <a:extLst>
                    <a:ext uri="{9D8B030D-6E8A-4147-A177-3AD203B41FA5}">
                      <a16:colId xmlns:a16="http://schemas.microsoft.com/office/drawing/2014/main" val="20002"/>
                    </a:ext>
                  </a:extLst>
                </a:gridCol>
                <a:gridCol w="605144">
                  <a:extLst>
                    <a:ext uri="{9D8B030D-6E8A-4147-A177-3AD203B41FA5}">
                      <a16:colId xmlns:a16="http://schemas.microsoft.com/office/drawing/2014/main" val="20003"/>
                    </a:ext>
                  </a:extLst>
                </a:gridCol>
                <a:gridCol w="605145">
                  <a:extLst>
                    <a:ext uri="{9D8B030D-6E8A-4147-A177-3AD203B41FA5}">
                      <a16:colId xmlns:a16="http://schemas.microsoft.com/office/drawing/2014/main" val="20004"/>
                    </a:ext>
                  </a:extLst>
                </a:gridCol>
              </a:tblGrid>
              <a:tr h="396082">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2">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3" name="矩形 12"/>
          <p:cNvSpPr/>
          <p:nvPr/>
        </p:nvSpPr>
        <p:spPr>
          <a:xfrm>
            <a:off x="24659" y="4293096"/>
            <a:ext cx="1954381" cy="363176"/>
          </a:xfrm>
          <a:prstGeom prst="rect">
            <a:avLst/>
          </a:prstGeom>
        </p:spPr>
        <p:txBody>
          <a:bodyPr wrap="none">
            <a:spAutoFit/>
          </a:bodyPr>
          <a:lstStyle/>
          <a:p>
            <a:pPr algn="just" eaLnBrk="1" hangingPunct="1">
              <a:lnSpc>
                <a:spcPct val="110000"/>
              </a:lnSpc>
            </a:pP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x</a:t>
            </a:r>
            <a:r>
              <a:rPr lang="en-US" altLang="zh-CN" sz="1600" i="1" baseline="-25000" dirty="0" smtClean="0">
                <a:latin typeface="Times New Roman" panose="02020603050405020304" pitchFamily="18" charset="0"/>
                <a:cs typeface="Times New Roman" panose="02020603050405020304" pitchFamily="18" charset="0"/>
              </a:rPr>
              <a:t>3 </a:t>
            </a:r>
            <a:r>
              <a:rPr lang="zh-CN" altLang="en-US"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min</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6</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 s</a:t>
            </a:r>
            <a:r>
              <a:rPr lang="en-US" altLang="zh-CN" sz="1600" i="1" baseline="-25000" dirty="0" smtClean="0">
                <a:latin typeface="Times New Roman" panose="02020603050405020304" pitchFamily="18" charset="0"/>
                <a:cs typeface="Times New Roman" panose="02020603050405020304" pitchFamily="18" charset="0"/>
              </a:rPr>
              <a:t>3</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d</a:t>
            </a:r>
            <a:r>
              <a:rPr lang="en-US" altLang="zh-CN" sz="1600" i="1" baseline="-25000" dirty="0" smtClean="0">
                <a:latin typeface="Times New Roman" panose="02020603050405020304" pitchFamily="18" charset="0"/>
                <a:cs typeface="Times New Roman" panose="02020603050405020304" pitchFamily="18" charset="0"/>
              </a:rPr>
              <a:t>3</a:t>
            </a:r>
            <a:r>
              <a:rPr lang="en-US" altLang="zh-CN" sz="1600" dirty="0" smtClean="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Courier New" panose="02070309020205020404" pitchFamily="49" charset="0"/>
            </a:endParaRPr>
          </a:p>
        </p:txBody>
      </p:sp>
      <p:sp>
        <p:nvSpPr>
          <p:cNvPr id="14" name="矩形 13"/>
          <p:cNvSpPr/>
          <p:nvPr/>
        </p:nvSpPr>
        <p:spPr>
          <a:xfrm>
            <a:off x="21764" y="3361578"/>
            <a:ext cx="2425664" cy="363176"/>
          </a:xfrm>
          <a:prstGeom prst="rect">
            <a:avLst/>
          </a:prstGeom>
        </p:spPr>
        <p:txBody>
          <a:bodyPr wrap="none">
            <a:spAutoFit/>
          </a:bodyPr>
          <a:lstStyle/>
          <a:p>
            <a:pPr algn="just" eaLnBrk="1" hangingPunct="1">
              <a:lnSpc>
                <a:spcPct val="110000"/>
              </a:lnSpc>
            </a:pP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s</a:t>
            </a:r>
            <a:r>
              <a:rPr lang="en-US" altLang="zh-CN" sz="1600" i="1" baseline="-25000" dirty="0" smtClean="0">
                <a:latin typeface="Times New Roman" panose="02020603050405020304" pitchFamily="18" charset="0"/>
                <a:cs typeface="Times New Roman" panose="02020603050405020304" pitchFamily="18" charset="0"/>
              </a:rPr>
              <a:t>3 </a:t>
            </a:r>
            <a:r>
              <a:rPr lang="zh-CN" altLang="en-US"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min</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d</a:t>
            </a:r>
            <a:r>
              <a:rPr lang="en-US" altLang="zh-CN" sz="1600" i="1" baseline="-25000" dirty="0" smtClean="0">
                <a:latin typeface="Times New Roman" panose="02020603050405020304" pitchFamily="18" charset="0"/>
                <a:cs typeface="Times New Roman" panose="02020603050405020304" pitchFamily="18" charset="0"/>
              </a:rPr>
              <a:t>3 </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 d</a:t>
            </a:r>
            <a:r>
              <a:rPr lang="en-US" altLang="zh-CN" sz="1600" i="1" baseline="-25000" dirty="0" smtClean="0">
                <a:latin typeface="Times New Roman" panose="02020603050405020304" pitchFamily="18" charset="0"/>
                <a:cs typeface="Times New Roman" panose="02020603050405020304" pitchFamily="18" charset="0"/>
              </a:rPr>
              <a:t>4</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 6</a:t>
            </a:r>
            <a:r>
              <a:rPr lang="en-US" altLang="zh-CN" sz="1600" dirty="0" smtClean="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d</a:t>
            </a:r>
            <a:r>
              <a:rPr lang="en-US" altLang="zh-CN" sz="1600" i="1" baseline="-25000" dirty="0" smtClean="0">
                <a:latin typeface="Times New Roman" panose="02020603050405020304" pitchFamily="18" charset="0"/>
                <a:cs typeface="Times New Roman" panose="02020603050405020304" pitchFamily="18" charset="0"/>
              </a:rPr>
              <a:t>3</a:t>
            </a:r>
            <a:r>
              <a:rPr lang="en-US" altLang="zh-CN" sz="1600" dirty="0" smtClean="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Courier New" panose="02070309020205020404" pitchFamily="49" charset="0"/>
            </a:endParaRPr>
          </a:p>
        </p:txBody>
      </p:sp>
      <p:sp>
        <p:nvSpPr>
          <p:cNvPr id="15" name="矩形 14"/>
          <p:cNvSpPr/>
          <p:nvPr/>
        </p:nvSpPr>
        <p:spPr>
          <a:xfrm>
            <a:off x="35496" y="3790042"/>
            <a:ext cx="899605" cy="363176"/>
          </a:xfrm>
          <a:prstGeom prst="rect">
            <a:avLst/>
          </a:prstGeom>
        </p:spPr>
        <p:txBody>
          <a:bodyPr wrap="none">
            <a:spAutoFit/>
          </a:bodyPr>
          <a:lstStyle/>
          <a:p>
            <a:pPr algn="just" eaLnBrk="1" hangingPunct="1">
              <a:lnSpc>
                <a:spcPct val="110000"/>
              </a:lnSpc>
            </a:pP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s</a:t>
            </a:r>
            <a:r>
              <a:rPr lang="en-US" altLang="zh-CN" sz="1600" i="1" baseline="-25000" dirty="0" smtClean="0">
                <a:latin typeface="Times New Roman" panose="02020603050405020304" pitchFamily="18" charset="0"/>
                <a:cs typeface="Times New Roman" panose="02020603050405020304" pitchFamily="18" charset="0"/>
              </a:rPr>
              <a:t>3 </a:t>
            </a:r>
            <a:r>
              <a:rPr lang="zh-CN" altLang="en-US"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4</a:t>
            </a:r>
            <a:endParaRPr lang="zh-CN" altLang="en-US" sz="1600" dirty="0">
              <a:latin typeface="Times New Roman" panose="02020603050405020304" pitchFamily="18" charset="0"/>
              <a:cs typeface="Courier New" panose="02070309020205020404" pitchFamily="49" charset="0"/>
            </a:endParaRPr>
          </a:p>
        </p:txBody>
      </p:sp>
      <p:sp>
        <p:nvSpPr>
          <p:cNvPr id="16" name="矩形 15"/>
          <p:cNvSpPr/>
          <p:nvPr/>
        </p:nvSpPr>
        <p:spPr>
          <a:xfrm>
            <a:off x="35496" y="4584264"/>
            <a:ext cx="1885453" cy="363176"/>
          </a:xfrm>
          <a:prstGeom prst="rect">
            <a:avLst/>
          </a:prstGeom>
        </p:spPr>
        <p:txBody>
          <a:bodyPr wrap="none">
            <a:spAutoFit/>
          </a:bodyPr>
          <a:lstStyle/>
          <a:p>
            <a:pPr algn="just" eaLnBrk="1" hangingPunct="1">
              <a:lnSpc>
                <a:spcPct val="110000"/>
              </a:lnSpc>
            </a:pP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x</a:t>
            </a:r>
            <a:r>
              <a:rPr lang="en-US" altLang="zh-CN" sz="1600" i="1" baseline="-25000" dirty="0" smtClean="0">
                <a:latin typeface="Times New Roman" panose="02020603050405020304" pitchFamily="18" charset="0"/>
                <a:cs typeface="Times New Roman" panose="02020603050405020304" pitchFamily="18" charset="0"/>
              </a:rPr>
              <a:t>3 </a:t>
            </a:r>
            <a:r>
              <a:rPr lang="zh-CN" altLang="en-US"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min</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6</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 s</a:t>
            </a:r>
            <a:r>
              <a:rPr lang="en-US" altLang="zh-CN" sz="1600" i="1" baseline="-25000" dirty="0" smtClean="0">
                <a:latin typeface="Times New Roman" panose="02020603050405020304" pitchFamily="18" charset="0"/>
                <a:cs typeface="Times New Roman" panose="02020603050405020304" pitchFamily="18" charset="0"/>
              </a:rPr>
              <a:t>3</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2</a:t>
            </a:r>
            <a:r>
              <a:rPr lang="en-US" altLang="zh-CN" sz="1600" dirty="0" smtClean="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Courier New" panose="02070309020205020404" pitchFamily="49" charset="0"/>
            </a:endParaRPr>
          </a:p>
        </p:txBody>
      </p:sp>
      <p:sp>
        <p:nvSpPr>
          <p:cNvPr id="11" name="矩形 10"/>
          <p:cNvSpPr/>
          <p:nvPr/>
        </p:nvSpPr>
        <p:spPr>
          <a:xfrm>
            <a:off x="35496" y="5023164"/>
            <a:ext cx="1079142" cy="430887"/>
          </a:xfrm>
          <a:prstGeom prst="rect">
            <a:avLst/>
          </a:prstGeom>
        </p:spPr>
        <p:txBody>
          <a:bodyPr wrap="none">
            <a:spAutoFit/>
          </a:bodyPr>
          <a:lstStyle/>
          <a:p>
            <a:pPr algn="just" eaLnBrk="1" hangingPunct="1">
              <a:lnSpc>
                <a:spcPct val="110000"/>
              </a:lnSpc>
            </a:pP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s</a:t>
            </a:r>
            <a:r>
              <a:rPr lang="en-US" altLang="zh-CN" i="1" baseline="-25000"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3</a:t>
            </a:r>
            <a:endParaRPr lang="zh-CN" altLang="en-US" dirty="0">
              <a:latin typeface="Times New Roman" panose="02020603050405020304" pitchFamily="18" charset="0"/>
              <a:cs typeface="Courier New" panose="02070309020205020404" pitchFamily="49" charset="0"/>
            </a:endParaRPr>
          </a:p>
        </p:txBody>
      </p:sp>
      <p:sp>
        <p:nvSpPr>
          <p:cNvPr id="17" name="矩形 16"/>
          <p:cNvSpPr/>
          <p:nvPr/>
        </p:nvSpPr>
        <p:spPr>
          <a:xfrm>
            <a:off x="125088" y="5814672"/>
            <a:ext cx="2165978" cy="707886"/>
          </a:xfrm>
          <a:prstGeom prst="rect">
            <a:avLst/>
          </a:prstGeom>
        </p:spPr>
        <p:txBody>
          <a:bodyPr wrap="none">
            <a:spAutoFit/>
          </a:bodyPr>
          <a:lstStyle/>
          <a:p>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3 </a:t>
            </a:r>
            <a:r>
              <a:rPr lang="en-US" altLang="zh-CN" b="1" dirty="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1</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 x</a:t>
            </a:r>
            <a:r>
              <a:rPr lang="en-US" altLang="zh-CN" b="1" i="1" baseline="-25000" dirty="0" smtClean="0">
                <a:latin typeface="Times New Roman" panose="02020603050405020304" pitchFamily="18" charset="0"/>
                <a:cs typeface="Times New Roman" panose="02020603050405020304" pitchFamily="18" charset="0"/>
              </a:rPr>
              <a:t>3 </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 d</a:t>
            </a:r>
            <a:r>
              <a:rPr lang="en-US" altLang="zh-CN" b="1" i="1" baseline="-25000" dirty="0" smtClean="0">
                <a:latin typeface="Times New Roman" panose="02020603050405020304" pitchFamily="18" charset="0"/>
                <a:cs typeface="Times New Roman" panose="02020603050405020304" pitchFamily="18" charset="0"/>
              </a:rPr>
              <a:t>3</a:t>
            </a:r>
            <a:r>
              <a:rPr lang="zh-CN" altLang="en-US" b="1" i="1" baseline="-25000"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sym typeface="Wingdings" panose="05000000000000000000" pitchFamily="2" charset="2"/>
              </a:rPr>
              <a:t>  </a:t>
            </a:r>
          </a:p>
          <a:p>
            <a:r>
              <a:rPr lang="en-US" altLang="zh-CN" b="1" i="1" dirty="0" smtClean="0">
                <a:latin typeface="Times New Roman" panose="02020603050405020304" pitchFamily="18" charset="0"/>
                <a:cs typeface="Times New Roman" panose="02020603050405020304" pitchFamily="18" charset="0"/>
              </a:rPr>
              <a:t>x</a:t>
            </a:r>
            <a:r>
              <a:rPr lang="en-US" altLang="zh-CN" b="1" i="1" baseline="-25000" dirty="0" smtClean="0">
                <a:latin typeface="Times New Roman" panose="02020603050405020304" pitchFamily="18" charset="0"/>
                <a:cs typeface="Times New Roman" panose="02020603050405020304" pitchFamily="18" charset="0"/>
              </a:rPr>
              <a:t>3</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3 </a:t>
            </a:r>
            <a:r>
              <a:rPr lang="en-US" altLang="zh-CN" b="1" dirty="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2</a:t>
            </a:r>
            <a:r>
              <a:rPr lang="en-US" altLang="zh-CN" b="1" i="1"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a:t>
            </a:r>
            <a:r>
              <a:rPr lang="en-US" altLang="zh-CN" b="1" i="1" baseline="-25000" dirty="0" smtClean="0">
                <a:latin typeface="Times New Roman" panose="02020603050405020304" pitchFamily="18" charset="0"/>
                <a:cs typeface="Times New Roman" panose="02020603050405020304" pitchFamily="18" charset="0"/>
              </a:rPr>
              <a:t> </a:t>
            </a:r>
            <a:r>
              <a:rPr lang="en-US" altLang="zh-CN" b="1" i="1" dirty="0" smtClean="0">
                <a:latin typeface="Times New Roman" panose="02020603050405020304" pitchFamily="18" charset="0"/>
                <a:cs typeface="Times New Roman" panose="02020603050405020304" pitchFamily="18" charset="0"/>
              </a:rPr>
              <a:t>d</a:t>
            </a:r>
            <a:r>
              <a:rPr lang="en-US" altLang="zh-CN" b="1" i="1" baseline="-25000" dirty="0" smtClean="0">
                <a:latin typeface="Times New Roman" panose="02020603050405020304" pitchFamily="18" charset="0"/>
                <a:cs typeface="Times New Roman" panose="02020603050405020304" pitchFamily="18" charset="0"/>
              </a:rPr>
              <a:t>3</a:t>
            </a:r>
            <a:endParaRPr lang="en-US"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7351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Rectangle 2"/>
          <p:cNvSpPr>
            <a:spLocks noGrp="1" noChangeArrowheads="1"/>
          </p:cNvSpPr>
          <p:nvPr>
            <p:ph type="title"/>
          </p:nvPr>
        </p:nvSpPr>
        <p:spPr/>
        <p:txBody>
          <a:bodyPr/>
          <a:lstStyle/>
          <a:p>
            <a:r>
              <a:rPr lang="en-US" altLang="zh-CN" dirty="0" smtClean="0"/>
              <a:t>8.4.2.1  </a:t>
            </a:r>
            <a:r>
              <a:rPr lang="zh-CN" altLang="en-US" dirty="0"/>
              <a:t>生产计划问题 </a:t>
            </a:r>
          </a:p>
        </p:txBody>
      </p:sp>
      <p:sp>
        <p:nvSpPr>
          <p:cNvPr id="2" name="内容占位符 1"/>
          <p:cNvSpPr>
            <a:spLocks noGrp="1"/>
          </p:cNvSpPr>
          <p:nvPr>
            <p:ph idx="1"/>
          </p:nvPr>
        </p:nvSpPr>
        <p:spPr>
          <a:xfrm>
            <a:off x="539552" y="1337268"/>
            <a:ext cx="8280920" cy="461665"/>
          </a:xfrm>
        </p:spPr>
        <p:txBody>
          <a:bodyPr/>
          <a:lstStyle/>
          <a:p>
            <a:r>
              <a:rPr lang="zh-CN" altLang="en-US" dirty="0">
                <a:latin typeface="宋体" panose="02010600030101010101" pitchFamily="2" charset="-122"/>
                <a:cs typeface="Times New Roman" panose="02020603050405020304" pitchFamily="18" charset="0"/>
              </a:rPr>
              <a:t>例</a:t>
            </a:r>
            <a:r>
              <a:rPr lang="en-US" altLang="zh-CN" dirty="0">
                <a:latin typeface="宋体" panose="02010600030101010101" pitchFamily="2" charset="-122"/>
                <a:cs typeface="Times New Roman" panose="02020603050405020304" pitchFamily="18" charset="0"/>
              </a:rPr>
              <a:t>8-5</a:t>
            </a:r>
            <a:r>
              <a:rPr lang="zh-CN" altLang="en-US" dirty="0">
                <a:latin typeface="宋体" panose="02010600030101010101" pitchFamily="2" charset="-122"/>
                <a:cs typeface="Times New Roman" panose="02020603050405020304" pitchFamily="18" charset="0"/>
              </a:rPr>
              <a:t>：</a:t>
            </a:r>
            <a:endParaRPr lang="zh-CN" altLang="en-US" dirty="0"/>
          </a:p>
        </p:txBody>
      </p:sp>
      <p:sp>
        <p:nvSpPr>
          <p:cNvPr id="9523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FA6C4C7E-3477-4629-97BA-BFBC62EDB393}" type="slidenum">
              <a:rPr lang="en-US" altLang="zh-CN" sz="1000"/>
              <a:pPr/>
              <a:t>61</a:t>
            </a:fld>
            <a:endParaRPr lang="en-US" altLang="zh-CN" sz="1000"/>
          </a:p>
        </p:txBody>
      </p:sp>
      <p:graphicFrame>
        <p:nvGraphicFramePr>
          <p:cNvPr id="17" name="Group 94"/>
          <p:cNvGraphicFramePr>
            <a:graphicFrameLocks noGrp="1"/>
          </p:cNvGraphicFramePr>
          <p:nvPr>
            <p:extLst>
              <p:ext uri="{D42A27DB-BD31-4B8C-83A1-F6EECF244321}">
                <p14:modId xmlns:p14="http://schemas.microsoft.com/office/powerpoint/2010/main" val="3745118438"/>
              </p:ext>
            </p:extLst>
          </p:nvPr>
        </p:nvGraphicFramePr>
        <p:xfrm>
          <a:off x="2051720" y="1301992"/>
          <a:ext cx="6926263" cy="792408"/>
        </p:xfrm>
        <a:graphic>
          <a:graphicData uri="http://schemas.openxmlformats.org/drawingml/2006/table">
            <a:tbl>
              <a:tblPr/>
              <a:tblGrid>
                <a:gridCol w="1527175">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382713">
                  <a:extLst>
                    <a:ext uri="{9D8B030D-6E8A-4147-A177-3AD203B41FA5}">
                      <a16:colId xmlns:a16="http://schemas.microsoft.com/office/drawing/2014/main" val="20002"/>
                    </a:ext>
                  </a:extLst>
                </a:gridCol>
                <a:gridCol w="1385887">
                  <a:extLst>
                    <a:ext uri="{9D8B030D-6E8A-4147-A177-3AD203B41FA5}">
                      <a16:colId xmlns:a16="http://schemas.microsoft.com/office/drawing/2014/main" val="20003"/>
                    </a:ext>
                  </a:extLst>
                </a:gridCol>
                <a:gridCol w="1385888">
                  <a:extLst>
                    <a:ext uri="{9D8B030D-6E8A-4147-A177-3AD203B41FA5}">
                      <a16:colId xmlns:a16="http://schemas.microsoft.com/office/drawing/2014/main" val="20004"/>
                    </a:ext>
                  </a:extLst>
                </a:gridCol>
              </a:tblGrid>
              <a:tr h="396082">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时期</a:t>
                      </a: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(k)</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2">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需求量</a:t>
                      </a: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a:t>
                      </a:r>
                      <a:r>
                        <a:rPr kumimoji="0" lang="en-US" altLang="zh-CN" sz="2000" b="0" i="0" u="none" strike="noStrike" cap="none" normalizeH="0" baseline="-2500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k</a:t>
                      </a: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2" name="Rectangle 21"/>
          <p:cNvSpPr>
            <a:spLocks noChangeArrowheads="1"/>
          </p:cNvSpPr>
          <p:nvPr/>
        </p:nvSpPr>
        <p:spPr bwMode="auto">
          <a:xfrm>
            <a:off x="539750" y="2334092"/>
            <a:ext cx="734461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smtClean="0">
                <a:cs typeface="Times New Roman" panose="02020603050405020304" pitchFamily="18" charset="0"/>
              </a:rPr>
              <a:t>当</a:t>
            </a:r>
            <a:r>
              <a:rPr lang="en-US" altLang="zh-CN" b="1" i="1" dirty="0" smtClean="0">
                <a:latin typeface="Times New Roman" panose="02020603050405020304" pitchFamily="18" charset="0"/>
                <a:cs typeface="Times New Roman" panose="02020603050405020304" pitchFamily="18" charset="0"/>
              </a:rPr>
              <a:t>k</a:t>
            </a:r>
            <a:r>
              <a:rPr lang="en-US" altLang="zh-CN" b="1" dirty="0" smtClean="0">
                <a:cs typeface="Times New Roman" panose="02020603050405020304" pitchFamily="18" charset="0"/>
              </a:rPr>
              <a:t>=4</a:t>
            </a:r>
            <a:r>
              <a:rPr lang="zh-CN" altLang="en-US" b="1" dirty="0" smtClean="0"/>
              <a:t>时，</a:t>
            </a:r>
            <a:r>
              <a:rPr lang="zh-CN" altLang="en-US" b="1" dirty="0">
                <a:latin typeface="Times New Roman" panose="02020603050405020304" pitchFamily="18" charset="0"/>
                <a:cs typeface="Times New Roman" panose="02020603050405020304" pitchFamily="18" charset="0"/>
              </a:rPr>
              <a:t>因要求第</a:t>
            </a:r>
            <a:r>
              <a:rPr lang="en-US" altLang="zh-CN" b="1" dirty="0">
                <a:latin typeface="Times New Roman" panose="02020603050405020304" pitchFamily="18" charset="0"/>
                <a:cs typeface="Times New Roman" panose="02020603050405020304" pitchFamily="18" charset="0"/>
              </a:rPr>
              <a:t>4</a:t>
            </a:r>
            <a:r>
              <a:rPr lang="zh-CN" altLang="en-US" b="1" dirty="0">
                <a:latin typeface="Times New Roman" panose="02020603050405020304" pitchFamily="18" charset="0"/>
                <a:cs typeface="Times New Roman" panose="02020603050405020304" pitchFamily="18" charset="0"/>
              </a:rPr>
              <a:t>时期之末的库存量为</a:t>
            </a:r>
            <a:r>
              <a:rPr lang="en-US" altLang="zh-CN" b="1" dirty="0">
                <a:latin typeface="Times New Roman" panose="02020603050405020304" pitchFamily="18" charset="0"/>
                <a:cs typeface="Times New Roman" panose="02020603050405020304" pitchFamily="18" charset="0"/>
              </a:rPr>
              <a:t>0</a:t>
            </a:r>
            <a:r>
              <a:rPr lang="zh-CN" altLang="en-US" b="1" dirty="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即</a:t>
            </a:r>
            <a:r>
              <a:rPr lang="en-US" altLang="zh-CN" b="1" dirty="0" smtClean="0">
                <a:latin typeface="Times New Roman" panose="02020603050405020304" pitchFamily="18" charset="0"/>
                <a:cs typeface="Times New Roman" panose="02020603050405020304" pitchFamily="18" charset="0"/>
              </a:rPr>
              <a:t>s</a:t>
            </a:r>
            <a:r>
              <a:rPr lang="en-US" altLang="zh-CN" b="1" baseline="-25000" dirty="0" smtClean="0">
                <a:latin typeface="Times New Roman" panose="02020603050405020304" pitchFamily="18" charset="0"/>
                <a:cs typeface="Times New Roman" panose="02020603050405020304" pitchFamily="18" charset="0"/>
              </a:rPr>
              <a:t>4</a:t>
            </a:r>
            <a:r>
              <a:rPr lang="en-US" altLang="zh-CN" b="1" dirty="0" smtClean="0">
                <a:latin typeface="Times New Roman" panose="02020603050405020304" pitchFamily="18" charset="0"/>
                <a:cs typeface="Times New Roman" panose="02020603050405020304" pitchFamily="18" charset="0"/>
              </a:rPr>
              <a:t>=0</a:t>
            </a:r>
            <a:r>
              <a:rPr lang="zh-CN" altLang="en-US" b="1" dirty="0">
                <a:latin typeface="Times New Roman" panose="02020603050405020304" pitchFamily="18" charset="0"/>
                <a:cs typeface="Times New Roman" panose="02020603050405020304" pitchFamily="18" charset="0"/>
              </a:rPr>
              <a:t>，故有</a:t>
            </a:r>
          </a:p>
          <a:p>
            <a:endParaRPr lang="zh-CN" altLang="en-US" b="1" dirty="0"/>
          </a:p>
        </p:txBody>
      </p:sp>
      <p:graphicFrame>
        <p:nvGraphicFramePr>
          <p:cNvPr id="15" name="Object 12"/>
          <p:cNvGraphicFramePr>
            <a:graphicFrameLocks noChangeAspect="1"/>
          </p:cNvGraphicFramePr>
          <p:nvPr>
            <p:extLst>
              <p:ext uri="{D42A27DB-BD31-4B8C-83A1-F6EECF244321}">
                <p14:modId xmlns:p14="http://schemas.microsoft.com/office/powerpoint/2010/main" val="4174450227"/>
              </p:ext>
            </p:extLst>
          </p:nvPr>
        </p:nvGraphicFramePr>
        <p:xfrm>
          <a:off x="2699792" y="5759100"/>
          <a:ext cx="2952750" cy="341313"/>
        </p:xfrm>
        <a:graphic>
          <a:graphicData uri="http://schemas.openxmlformats.org/presentationml/2006/ole">
            <mc:AlternateContent xmlns:mc="http://schemas.openxmlformats.org/markup-compatibility/2006">
              <mc:Choice xmlns:v="urn:schemas-microsoft-com:vml" Requires="v">
                <p:oleObj spid="_x0000_s218172" r:id="rId3" imgW="1981200" imgH="228600" progId="Equation.DSMT4">
                  <p:embed/>
                </p:oleObj>
              </mc:Choice>
              <mc:Fallback>
                <p:oleObj r:id="rId3" imgW="1981200" imgH="228600" progId="Equation.DSMT4">
                  <p:embed/>
                  <p:pic>
                    <p:nvPicPr>
                      <p:cNvPr id="99334"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792" y="5759100"/>
                        <a:ext cx="295275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Rectangle 19"/>
          <p:cNvSpPr>
            <a:spLocks noChangeArrowheads="1"/>
          </p:cNvSpPr>
          <p:nvPr/>
        </p:nvSpPr>
        <p:spPr bwMode="auto">
          <a:xfrm>
            <a:off x="539552" y="5408389"/>
            <a:ext cx="74993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Times New Roman" panose="02020603050405020304" pitchFamily="18" charset="0"/>
              </a:rPr>
              <a:t>再按计算的顺序反推算，可找出每个时期的最优生产决策为：</a:t>
            </a:r>
            <a:r>
              <a:rPr lang="zh-CN" altLang="en-US" b="1" dirty="0">
                <a:latin typeface="Times New Roman" panose="02020603050405020304" pitchFamily="18" charset="0"/>
                <a:cs typeface="Times New Roman" panose="02020603050405020304" pitchFamily="18" charset="0"/>
              </a:rPr>
              <a:t>	</a:t>
            </a:r>
            <a:endParaRPr lang="zh-CN" altLang="en-US" b="1" dirty="0"/>
          </a:p>
        </p:txBody>
      </p:sp>
      <p:sp>
        <p:nvSpPr>
          <p:cNvPr id="27" name="Rectangle 21"/>
          <p:cNvSpPr>
            <a:spLocks noChangeArrowheads="1"/>
          </p:cNvSpPr>
          <p:nvPr/>
        </p:nvSpPr>
        <p:spPr bwMode="auto">
          <a:xfrm>
            <a:off x="539552" y="6128469"/>
            <a:ext cx="4106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t>其相应的最小总成本为</a:t>
            </a:r>
            <a:r>
              <a:rPr lang="en-US" altLang="zh-CN" b="1" dirty="0"/>
              <a:t>20.5</a:t>
            </a:r>
            <a:r>
              <a:rPr lang="zh-CN" altLang="en-US" b="1" dirty="0"/>
              <a:t>千元。</a:t>
            </a:r>
          </a:p>
        </p:txBody>
      </p:sp>
      <p:sp>
        <p:nvSpPr>
          <p:cNvPr id="11" name="矩形 10"/>
          <p:cNvSpPr/>
          <p:nvPr/>
        </p:nvSpPr>
        <p:spPr>
          <a:xfrm>
            <a:off x="6785984" y="133097"/>
            <a:ext cx="2464136" cy="430887"/>
          </a:xfrm>
          <a:prstGeom prst="rect">
            <a:avLst/>
          </a:prstGeom>
        </p:spPr>
        <p:txBody>
          <a:bodyPr wrap="none">
            <a:spAutoFit/>
          </a:bodyPr>
          <a:lstStyle/>
          <a:p>
            <a:pPr algn="just" eaLnBrk="1" hangingPunct="1">
              <a:lnSpc>
                <a:spcPct val="110000"/>
              </a:lnSpc>
            </a:pPr>
            <a:r>
              <a:rPr lang="en-US" altLang="zh-CN" b="1" dirty="0">
                <a:latin typeface="Times New Roman" panose="02020603050405020304" pitchFamily="18" charset="0"/>
                <a:cs typeface="Times New Roman" panose="02020603050405020304" pitchFamily="18" charset="0"/>
              </a:rPr>
              <a:t>0</a:t>
            </a:r>
            <a:r>
              <a:rPr lang="zh-CN" altLang="en-US" b="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x</a:t>
            </a:r>
            <a:r>
              <a:rPr lang="en-US" altLang="zh-CN" b="1" i="1" baseline="-25000" dirty="0" err="1">
                <a:latin typeface="Times New Roman" panose="02020603050405020304" pitchFamily="18" charset="0"/>
                <a:cs typeface="Times New Roman" panose="02020603050405020304" pitchFamily="18" charset="0"/>
              </a:rPr>
              <a:t>k</a:t>
            </a:r>
            <a:r>
              <a:rPr lang="en-US" altLang="zh-CN" b="1" i="1" baseline="-25000"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min</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m</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s</a:t>
            </a:r>
            <a:r>
              <a:rPr lang="en-US" altLang="zh-CN" b="1" i="1" baseline="-25000" dirty="0" err="1">
                <a:latin typeface="Times New Roman" panose="02020603050405020304" pitchFamily="18" charset="0"/>
                <a:cs typeface="Times New Roman" panose="02020603050405020304" pitchFamily="18" charset="0"/>
              </a:rPr>
              <a:t>k</a:t>
            </a:r>
            <a:r>
              <a:rPr lang="en-US" altLang="zh-CN" b="1" dirty="0" err="1">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d</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Courier New" panose="02070309020205020404" pitchFamily="49" charset="0"/>
            </a:endParaRPr>
          </a:p>
        </p:txBody>
      </p:sp>
      <p:sp>
        <p:nvSpPr>
          <p:cNvPr id="12" name="矩形 11"/>
          <p:cNvSpPr/>
          <p:nvPr/>
        </p:nvSpPr>
        <p:spPr>
          <a:xfrm>
            <a:off x="5163965" y="487519"/>
            <a:ext cx="4102405" cy="430887"/>
          </a:xfrm>
          <a:prstGeom prst="rect">
            <a:avLst/>
          </a:prstGeom>
        </p:spPr>
        <p:txBody>
          <a:bodyPr wrap="none">
            <a:spAutoFit/>
          </a:bodyPr>
          <a:lstStyle/>
          <a:p>
            <a:pPr algn="just" eaLnBrk="1" hangingPunct="1">
              <a:lnSpc>
                <a:spcPct val="110000"/>
              </a:lnSpc>
            </a:pPr>
            <a:r>
              <a:rPr lang="en-US" altLang="zh-CN" b="1" dirty="0">
                <a:latin typeface="Times New Roman" panose="02020603050405020304" pitchFamily="18" charset="0"/>
                <a:cs typeface="Times New Roman" panose="02020603050405020304" pitchFamily="18" charset="0"/>
              </a:rPr>
              <a:t>0</a:t>
            </a:r>
            <a:r>
              <a:rPr lang="zh-CN" altLang="en-US" b="1" dirty="0">
                <a:latin typeface="Times New Roman" panose="02020603050405020304" pitchFamily="18" charset="0"/>
                <a:cs typeface="Times New Roman" panose="02020603050405020304" pitchFamily="18" charset="0"/>
              </a:rPr>
              <a:t>≤ </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i="1" baseline="-25000" dirty="0" smtClean="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min</a:t>
            </a:r>
            <a:r>
              <a:rPr lang="en-US" altLang="zh-CN" b="1" dirty="0">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d</a:t>
            </a:r>
            <a:r>
              <a:rPr lang="en-US" altLang="zh-CN" b="1" i="1" baseline="-25000" dirty="0" err="1">
                <a:latin typeface="Times New Roman" panose="02020603050405020304" pitchFamily="18" charset="0"/>
                <a:cs typeface="Times New Roman" panose="02020603050405020304" pitchFamily="18" charset="0"/>
              </a:rPr>
              <a:t>k</a:t>
            </a:r>
            <a:r>
              <a:rPr lang="en-US" altLang="zh-CN" b="1" i="1" baseline="-25000"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d</a:t>
            </a:r>
            <a:r>
              <a:rPr lang="en-US" altLang="zh-CN" b="1" i="1" baseline="-25000" dirty="0" err="1">
                <a:latin typeface="Times New Roman" panose="02020603050405020304" pitchFamily="18" charset="0"/>
                <a:cs typeface="Times New Roman" panose="02020603050405020304" pitchFamily="18" charset="0"/>
              </a:rPr>
              <a:t>k</a:t>
            </a:r>
            <a:r>
              <a:rPr lang="en-US" altLang="zh-CN" b="1" i="1" baseline="-25000" dirty="0">
                <a:latin typeface="Times New Roman" panose="02020603050405020304" pitchFamily="18" charset="0"/>
                <a:cs typeface="Times New Roman" panose="02020603050405020304" pitchFamily="18" charset="0"/>
              </a:rPr>
              <a:t> +1</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d</a:t>
            </a:r>
            <a:r>
              <a:rPr lang="en-US" altLang="zh-CN" b="1" i="1" baseline="-25000" dirty="0" err="1">
                <a:latin typeface="Times New Roman" panose="02020603050405020304" pitchFamily="18" charset="0"/>
                <a:cs typeface="Times New Roman" panose="02020603050405020304" pitchFamily="18" charset="0"/>
              </a:rPr>
              <a:t>n</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m</a:t>
            </a:r>
            <a:r>
              <a:rPr lang="en-US" altLang="zh-CN" b="1"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d</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Courier New" panose="02070309020205020404" pitchFamily="49" charset="0"/>
            </a:endParaRPr>
          </a:p>
        </p:txBody>
      </p:sp>
      <p:sp>
        <p:nvSpPr>
          <p:cNvPr id="13" name="矩形 12"/>
          <p:cNvSpPr/>
          <p:nvPr/>
        </p:nvSpPr>
        <p:spPr>
          <a:xfrm>
            <a:off x="7061711" y="2347353"/>
            <a:ext cx="1954381" cy="363176"/>
          </a:xfrm>
          <a:prstGeom prst="rect">
            <a:avLst/>
          </a:prstGeom>
        </p:spPr>
        <p:txBody>
          <a:bodyPr wrap="none">
            <a:spAutoFit/>
          </a:bodyPr>
          <a:lstStyle/>
          <a:p>
            <a:pPr algn="just" eaLnBrk="1" hangingPunct="1">
              <a:lnSpc>
                <a:spcPct val="110000"/>
              </a:lnSpc>
            </a:pP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x</a:t>
            </a:r>
            <a:r>
              <a:rPr lang="en-US" altLang="zh-CN" sz="1600" i="1" baseline="-25000" dirty="0" smtClean="0">
                <a:latin typeface="Times New Roman" panose="02020603050405020304" pitchFamily="18" charset="0"/>
                <a:cs typeface="Times New Roman" panose="02020603050405020304" pitchFamily="18" charset="0"/>
              </a:rPr>
              <a:t>4 </a:t>
            </a:r>
            <a:r>
              <a:rPr lang="zh-CN" altLang="en-US"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min</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6</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 s</a:t>
            </a:r>
            <a:r>
              <a:rPr lang="en-US" altLang="zh-CN" sz="1600" i="1" baseline="-25000" dirty="0" smtClean="0">
                <a:latin typeface="Times New Roman" panose="02020603050405020304" pitchFamily="18" charset="0"/>
                <a:cs typeface="Times New Roman" panose="02020603050405020304" pitchFamily="18" charset="0"/>
              </a:rPr>
              <a:t>4</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d</a:t>
            </a:r>
            <a:r>
              <a:rPr lang="en-US" altLang="zh-CN" sz="1600" i="1" baseline="-25000" dirty="0" smtClean="0">
                <a:latin typeface="Times New Roman" panose="02020603050405020304" pitchFamily="18" charset="0"/>
                <a:cs typeface="Times New Roman" panose="02020603050405020304" pitchFamily="18" charset="0"/>
              </a:rPr>
              <a:t>4</a:t>
            </a:r>
            <a:r>
              <a:rPr lang="en-US" altLang="zh-CN" sz="1600" dirty="0" smtClean="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Courier New" panose="02070309020205020404" pitchFamily="49" charset="0"/>
            </a:endParaRPr>
          </a:p>
        </p:txBody>
      </p:sp>
      <p:sp>
        <p:nvSpPr>
          <p:cNvPr id="16" name="矩形 15"/>
          <p:cNvSpPr/>
          <p:nvPr/>
        </p:nvSpPr>
        <p:spPr>
          <a:xfrm>
            <a:off x="7075792" y="2708372"/>
            <a:ext cx="910827" cy="363176"/>
          </a:xfrm>
          <a:prstGeom prst="rect">
            <a:avLst/>
          </a:prstGeom>
        </p:spPr>
        <p:txBody>
          <a:bodyPr wrap="none">
            <a:spAutoFit/>
          </a:bodyPr>
          <a:lstStyle/>
          <a:p>
            <a:pPr algn="just" eaLnBrk="1" hangingPunct="1">
              <a:lnSpc>
                <a:spcPct val="110000"/>
              </a:lnSpc>
            </a:pP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x</a:t>
            </a:r>
            <a:r>
              <a:rPr lang="en-US" altLang="zh-CN" sz="1600" i="1" baseline="-25000" dirty="0" smtClean="0">
                <a:latin typeface="Times New Roman" panose="02020603050405020304" pitchFamily="18" charset="0"/>
                <a:cs typeface="Times New Roman" panose="02020603050405020304" pitchFamily="18" charset="0"/>
              </a:rPr>
              <a:t>4 </a:t>
            </a:r>
            <a:r>
              <a:rPr lang="zh-CN" altLang="en-US"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4</a:t>
            </a:r>
            <a:endParaRPr lang="zh-CN" altLang="en-US" sz="1600" dirty="0">
              <a:latin typeface="Times New Roman" panose="02020603050405020304" pitchFamily="18" charset="0"/>
              <a:cs typeface="Courier New" panose="02070309020205020404" pitchFamily="49" charset="0"/>
            </a:endParaRPr>
          </a:p>
        </p:txBody>
      </p:sp>
      <mc:AlternateContent xmlns:mc="http://schemas.openxmlformats.org/markup-compatibility/2006" xmlns:a14="http://schemas.microsoft.com/office/drawing/2010/main">
        <mc:Choice Requires="a14">
          <p:sp>
            <p:nvSpPr>
              <p:cNvPr id="18" name="矩形 17"/>
              <p:cNvSpPr/>
              <p:nvPr/>
            </p:nvSpPr>
            <p:spPr>
              <a:xfrm>
                <a:off x="539276" y="2818517"/>
                <a:ext cx="5094304" cy="560666"/>
              </a:xfrm>
              <a:prstGeom prst="rect">
                <a:avLst/>
              </a:prstGeom>
            </p:spPr>
            <p:txBody>
              <a:bodyPr wrap="square">
                <a:spAutoFit/>
              </a:bodyPr>
              <a:lstStyle/>
              <a:p>
                <a:r>
                  <a:rPr lang="zh-CN" altLang="en-US" b="1" dirty="0" smtClean="0"/>
                  <a:t>由</a:t>
                </a:r>
                <a:r>
                  <a:rPr lang="en-US" altLang="zh-CN" b="1" dirty="0"/>
                  <a:t> </a:t>
                </a:r>
                <a:r>
                  <a:rPr lang="en-US" altLang="zh-CN" b="1" dirty="0" smtClean="0"/>
                  <a:t> </a:t>
                </a:r>
                <a14:m>
                  <m:oMath xmlns:m="http://schemas.openxmlformats.org/officeDocument/2006/math">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smtClean="0">
                        <a:latin typeface="Times New Roman" panose="02020603050405020304" pitchFamily="18" charset="0"/>
                        <a:cs typeface="Times New Roman" panose="02020603050405020304" pitchFamily="18" charset="0"/>
                      </a:rPr>
                      <m:t>4</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smtClean="0">
                        <a:latin typeface="Times New Roman" panose="02020603050405020304" pitchFamily="18" charset="0"/>
                        <a:cs typeface="Times New Roman" panose="02020603050405020304" pitchFamily="18" charset="0"/>
                      </a:rPr>
                      <m:t>4</m:t>
                    </m:r>
                    <m:r>
                      <m:rPr>
                        <m:nor/>
                      </m:rPr>
                      <a:rPr lang="en-US" altLang="zh-CN" b="1" dirty="0">
                        <a:latin typeface="Times New Roman" panose="020206030504050203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m:t>
                    </m:r>
                    <m:func>
                      <m:funcPr>
                        <m:ctrlPr>
                          <a:rPr lang="en-US" altLang="zh-CN" b="1" i="1">
                            <a:latin typeface="Cambria Math" panose="02040503050406030204" pitchFamily="18" charset="0"/>
                            <a:cs typeface="Times New Roman" panose="02020603050405020304" pitchFamily="18" charset="0"/>
                          </a:rPr>
                        </m:ctrlPr>
                      </m:funcPr>
                      <m:fName>
                        <m:limLow>
                          <m:limLowPr>
                            <m:ctrlPr>
                              <a:rPr lang="en-US" altLang="zh-CN" b="1" i="1">
                                <a:latin typeface="Cambria Math" panose="02040503050406030204" pitchFamily="18" charset="0"/>
                                <a:cs typeface="Times New Roman" panose="02020603050405020304" pitchFamily="18" charset="0"/>
                              </a:rPr>
                            </m:ctrlPr>
                          </m:limLowPr>
                          <m:e>
                            <m:r>
                              <m:rPr>
                                <m:sty m:val="p"/>
                              </m:rPr>
                              <a:rPr lang="en-US" altLang="zh-CN">
                                <a:latin typeface="Cambria Math" panose="02040503050406030204" pitchFamily="18" charset="0"/>
                                <a:cs typeface="Times New Roman" panose="02020603050405020304" pitchFamily="18" charset="0"/>
                              </a:rPr>
                              <m:t>min</m:t>
                            </m:r>
                          </m:e>
                          <m:lim>
                            <m:r>
                              <a:rPr lang="en-US" altLang="zh-CN" i="1">
                                <a:latin typeface="Cambria Math" panose="02040503050406030204" pitchFamily="18" charset="0"/>
                                <a:cs typeface="Times New Roman" panose="02020603050405020304" pitchFamily="18" charset="0"/>
                              </a:rPr>
                              <m:t>0</m:t>
                            </m:r>
                            <m:r>
                              <a:rPr lang="en-US" altLang="zh-CN"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n-US" altLang="zh-CN" i="1">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b="0" i="1" dirty="0" smtClean="0">
                                <a:latin typeface="Times New Roman" panose="02020603050405020304" pitchFamily="18" charset="0"/>
                                <a:cs typeface="Times New Roman" panose="02020603050405020304" pitchFamily="18" charset="0"/>
                              </a:rPr>
                              <m:t>4</m:t>
                            </m:r>
                          </m:lim>
                        </m:limLow>
                      </m:fName>
                      <m:e>
                        <m:d>
                          <m:dPr>
                            <m:begChr m:val="{"/>
                            <m:endChr m:val="}"/>
                            <m:ctrlPr>
                              <a:rPr lang="en-US" altLang="zh-CN" i="1">
                                <a:latin typeface="Cambria Math" panose="02040503050406030204" pitchFamily="18" charset="0"/>
                                <a:cs typeface="Times New Roman" panose="02020603050405020304" pitchFamily="18" charset="0"/>
                              </a:rPr>
                            </m:ctrlPr>
                          </m:dPr>
                          <m:e>
                            <m:r>
                              <m:rPr>
                                <m:nor/>
                              </m:rPr>
                              <a:rPr lang="en-US" altLang="zh-CN" i="1" dirty="0">
                                <a:latin typeface="Times New Roman" panose="02020603050405020304" pitchFamily="18" charset="0"/>
                                <a:cs typeface="Times New Roman" panose="02020603050405020304" pitchFamily="18" charset="0"/>
                              </a:rPr>
                              <m:t>v</m:t>
                            </m:r>
                            <m:r>
                              <m:rPr>
                                <m:nor/>
                              </m:rPr>
                              <a:rPr lang="en-US" altLang="zh-CN" b="0" i="1" baseline="-25000" dirty="0" smtClean="0">
                                <a:latin typeface="Times New Roman" panose="02020603050405020304" pitchFamily="18" charset="0"/>
                                <a:cs typeface="Times New Roman" panose="02020603050405020304" pitchFamily="18" charset="0"/>
                              </a:rPr>
                              <m:t>4</m:t>
                            </m:r>
                            <m:r>
                              <m:rPr>
                                <m:nor/>
                              </m:rPr>
                              <a:rPr lang="en-US" altLang="zh-CN" dirty="0">
                                <a:latin typeface="Times New Roman" panose="02020603050405020304" pitchFamily="18" charset="0"/>
                                <a:cs typeface="Times New Roman" panose="02020603050405020304" pitchFamily="18" charset="0"/>
                              </a:rPr>
                              <m:t>(</m:t>
                            </m:r>
                            <m:r>
                              <m:rPr>
                                <m:nor/>
                              </m:rPr>
                              <a:rPr lang="en-US" altLang="zh-CN" i="1" dirty="0">
                                <a:latin typeface="Times New Roman" panose="02020603050405020304" pitchFamily="18" charset="0"/>
                                <a:cs typeface="Times New Roman" panose="02020603050405020304" pitchFamily="18" charset="0"/>
                              </a:rPr>
                              <m:t>s</m:t>
                            </m:r>
                            <m:r>
                              <m:rPr>
                                <m:nor/>
                              </m:rPr>
                              <a:rPr lang="en-US" altLang="zh-CN" b="0" i="1" baseline="-25000" dirty="0" smtClean="0">
                                <a:latin typeface="Times New Roman" panose="02020603050405020304" pitchFamily="18" charset="0"/>
                                <a:cs typeface="Times New Roman" panose="02020603050405020304" pitchFamily="18" charset="0"/>
                              </a:rPr>
                              <m:t>4</m:t>
                            </m:r>
                            <m:r>
                              <m:rPr>
                                <m:nor/>
                              </m:rPr>
                              <a:rPr lang="en-US" altLang="zh-CN" dirty="0">
                                <a:latin typeface="Times New Roman" panose="02020603050405020304" pitchFamily="18" charset="0"/>
                                <a:cs typeface="Times New Roman" panose="02020603050405020304" pitchFamily="18" charset="0"/>
                              </a:rPr>
                              <m:t>,</m:t>
                            </m:r>
                            <m:r>
                              <m:rPr>
                                <m:nor/>
                              </m:rPr>
                              <a:rPr lang="en-US" altLang="zh-CN" i="1" dirty="0">
                                <a:latin typeface="Times New Roman" panose="02020603050405020304" pitchFamily="18" charset="0"/>
                                <a:cs typeface="Times New Roman" panose="02020603050405020304" pitchFamily="18" charset="0"/>
                              </a:rPr>
                              <m:t> </m:t>
                            </m:r>
                            <m:sSub>
                              <m:sSubPr>
                                <m:ctrlPr>
                                  <a:rPr lang="en-US" altLang="zh-CN" i="1" dirty="0">
                                    <a:latin typeface="Cambria Math" panose="02040503050406030204" pitchFamily="18" charset="0"/>
                                    <a:cs typeface="Times New Roman" panose="02020603050405020304" pitchFamily="18" charset="0"/>
                                  </a:rPr>
                                </m:ctrlPr>
                              </m:sSubPr>
                              <m:e>
                                <m:r>
                                  <a:rPr lang="en-US" altLang="zh-CN" b="0" i="1" dirty="0">
                                    <a:latin typeface="Cambria Math" panose="02040503050406030204" pitchFamily="18" charset="0"/>
                                    <a:cs typeface="Times New Roman" panose="02020603050405020304" pitchFamily="18" charset="0"/>
                                  </a:rPr>
                                  <m:t>𝑥</m:t>
                                </m:r>
                              </m:e>
                              <m:sub>
                                <m:r>
                                  <a:rPr lang="en-US" altLang="zh-CN" b="0" i="1" dirty="0" smtClean="0">
                                    <a:latin typeface="Cambria Math" panose="02040503050406030204" pitchFamily="18" charset="0"/>
                                    <a:cs typeface="Times New Roman" panose="02020603050405020304" pitchFamily="18" charset="0"/>
                                  </a:rPr>
                                  <m:t>4</m:t>
                                </m:r>
                              </m:sub>
                            </m:sSub>
                            <m:r>
                              <m:rPr>
                                <m:nor/>
                              </m:rPr>
                              <a:rPr lang="en-US" altLang="zh-CN" dirty="0">
                                <a:latin typeface="Times New Roman" panose="02020603050405020304" pitchFamily="18" charset="0"/>
                                <a:cs typeface="Times New Roman" panose="02020603050405020304" pitchFamily="18" charset="0"/>
                              </a:rPr>
                              <m:t>)</m:t>
                            </m:r>
                            <m:r>
                              <a:rPr lang="en-US" altLang="zh-CN" b="0" i="1">
                                <a:latin typeface="Cambria Math" panose="02040503050406030204" pitchFamily="18" charset="0"/>
                                <a:cs typeface="Times New Roman" panose="02020603050405020304" pitchFamily="18" charset="0"/>
                              </a:rPr>
                              <m:t>+</m:t>
                            </m:r>
                            <m:r>
                              <m:rPr>
                                <m:nor/>
                              </m:rPr>
                              <a:rPr lang="en-US" altLang="zh-CN" i="1" dirty="0" smtClean="0">
                                <a:latin typeface="Times New Roman" panose="02020603050405020304" pitchFamily="18" charset="0"/>
                                <a:cs typeface="Times New Roman" panose="02020603050405020304" pitchFamily="18" charset="0"/>
                              </a:rPr>
                              <m:t>f</m:t>
                            </m:r>
                            <m:r>
                              <m:rPr>
                                <m:nor/>
                              </m:rPr>
                              <a:rPr lang="en-US" altLang="zh-CN" b="0" i="1" baseline="-25000" dirty="0" smtClean="0">
                                <a:latin typeface="Times New Roman" panose="02020603050405020304" pitchFamily="18" charset="0"/>
                                <a:cs typeface="Times New Roman" panose="02020603050405020304" pitchFamily="18" charset="0"/>
                              </a:rPr>
                              <m:t>3</m:t>
                            </m:r>
                            <m:r>
                              <m:rPr>
                                <m:nor/>
                              </m:rPr>
                              <a:rPr lang="en-US" altLang="zh-CN" dirty="0">
                                <a:latin typeface="Times New Roman" panose="02020603050405020304" pitchFamily="18" charset="0"/>
                                <a:cs typeface="Times New Roman" panose="02020603050405020304" pitchFamily="18" charset="0"/>
                              </a:rPr>
                              <m:t>(</m:t>
                            </m:r>
                            <m:r>
                              <m:rPr>
                                <m:nor/>
                              </m:rPr>
                              <a:rPr lang="en-US" altLang="zh-CN" i="1" dirty="0">
                                <a:latin typeface="Times New Roman" panose="02020603050405020304" pitchFamily="18" charset="0"/>
                                <a:cs typeface="Times New Roman" panose="02020603050405020304" pitchFamily="18" charset="0"/>
                              </a:rPr>
                              <m:t>s</m:t>
                            </m:r>
                            <m:r>
                              <m:rPr>
                                <m:nor/>
                              </m:rPr>
                              <a:rPr lang="en-US" altLang="zh-CN" b="0" i="1" baseline="-25000" dirty="0" smtClean="0">
                                <a:latin typeface="Times New Roman" panose="02020603050405020304" pitchFamily="18" charset="0"/>
                                <a:cs typeface="Times New Roman" panose="02020603050405020304" pitchFamily="18" charset="0"/>
                              </a:rPr>
                              <m:t>3</m:t>
                            </m:r>
                            <m:r>
                              <m:rPr>
                                <m:nor/>
                              </m:rPr>
                              <a:rPr lang="en-US" altLang="zh-CN" dirty="0">
                                <a:latin typeface="Times New Roman" panose="02020603050405020304" pitchFamily="18" charset="0"/>
                                <a:cs typeface="Times New Roman" panose="02020603050405020304" pitchFamily="18" charset="0"/>
                              </a:rPr>
                              <m:t>)</m:t>
                            </m:r>
                          </m:e>
                        </m:d>
                      </m:e>
                    </m:func>
                  </m:oMath>
                </a14:m>
                <a:endParaRPr lang="zh-CN" altLang="en-US" dirty="0"/>
              </a:p>
            </p:txBody>
          </p:sp>
        </mc:Choice>
        <mc:Fallback xmlns="">
          <p:sp>
            <p:nvSpPr>
              <p:cNvPr id="18" name="矩形 17"/>
              <p:cNvSpPr>
                <a:spLocks noRot="1" noChangeAspect="1" noMove="1" noResize="1" noEditPoints="1" noAdjustHandles="1" noChangeArrowheads="1" noChangeShapeType="1" noTextEdit="1"/>
              </p:cNvSpPr>
              <p:nvPr/>
            </p:nvSpPr>
            <p:spPr>
              <a:xfrm>
                <a:off x="539276" y="2818517"/>
                <a:ext cx="5094304" cy="560666"/>
              </a:xfrm>
              <a:prstGeom prst="rect">
                <a:avLst/>
              </a:prstGeom>
              <a:blipFill>
                <a:blip r:embed="rId5"/>
                <a:stretch>
                  <a:fillRect l="-1196" t="-7609" b="-21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9" name="表格 18"/>
              <p:cNvGraphicFramePr>
                <a:graphicFrameLocks noGrp="1"/>
              </p:cNvGraphicFramePr>
              <p:nvPr>
                <p:extLst>
                  <p:ext uri="{D42A27DB-BD31-4B8C-83A1-F6EECF244321}">
                    <p14:modId xmlns:p14="http://schemas.microsoft.com/office/powerpoint/2010/main" val="758419617"/>
                  </p:ext>
                </p:extLst>
              </p:nvPr>
            </p:nvGraphicFramePr>
            <p:xfrm>
              <a:off x="611560" y="3379183"/>
              <a:ext cx="7914083" cy="2011680"/>
            </p:xfrm>
            <a:graphic>
              <a:graphicData uri="http://schemas.openxmlformats.org/drawingml/2006/table">
                <a:tbl>
                  <a:tblPr firstRow="1" bandRow="1">
                    <a:tableStyleId>{5C22544A-7EE6-4342-B048-85BDC9FD1C3A}</a:tableStyleId>
                  </a:tblPr>
                  <a:tblGrid>
                    <a:gridCol w="481487">
                      <a:extLst>
                        <a:ext uri="{9D8B030D-6E8A-4147-A177-3AD203B41FA5}">
                          <a16:colId xmlns:a16="http://schemas.microsoft.com/office/drawing/2014/main" val="1816936163"/>
                        </a:ext>
                      </a:extLst>
                    </a:gridCol>
                    <a:gridCol w="554404">
                      <a:extLst>
                        <a:ext uri="{9D8B030D-6E8A-4147-A177-3AD203B41FA5}">
                          <a16:colId xmlns:a16="http://schemas.microsoft.com/office/drawing/2014/main" val="1250546864"/>
                        </a:ext>
                      </a:extLst>
                    </a:gridCol>
                    <a:gridCol w="616004">
                      <a:extLst>
                        <a:ext uri="{9D8B030D-6E8A-4147-A177-3AD203B41FA5}">
                          <a16:colId xmlns:a16="http://schemas.microsoft.com/office/drawing/2014/main" val="1869782824"/>
                        </a:ext>
                      </a:extLst>
                    </a:gridCol>
                    <a:gridCol w="2469642">
                      <a:extLst>
                        <a:ext uri="{9D8B030D-6E8A-4147-A177-3AD203B41FA5}">
                          <a16:colId xmlns:a16="http://schemas.microsoft.com/office/drawing/2014/main" val="3148481169"/>
                        </a:ext>
                      </a:extLst>
                    </a:gridCol>
                    <a:gridCol w="771461">
                      <a:extLst>
                        <a:ext uri="{9D8B030D-6E8A-4147-A177-3AD203B41FA5}">
                          <a16:colId xmlns:a16="http://schemas.microsoft.com/office/drawing/2014/main" val="644265878"/>
                        </a:ext>
                      </a:extLst>
                    </a:gridCol>
                    <a:gridCol w="1730185">
                      <a:extLst>
                        <a:ext uri="{9D8B030D-6E8A-4147-A177-3AD203B41FA5}">
                          <a16:colId xmlns:a16="http://schemas.microsoft.com/office/drawing/2014/main" val="938889560"/>
                        </a:ext>
                      </a:extLst>
                    </a:gridCol>
                    <a:gridCol w="723353">
                      <a:extLst>
                        <a:ext uri="{9D8B030D-6E8A-4147-A177-3AD203B41FA5}">
                          <a16:colId xmlns:a16="http://schemas.microsoft.com/office/drawing/2014/main" val="1613744912"/>
                        </a:ext>
                      </a:extLst>
                    </a:gridCol>
                    <a:gridCol w="567547">
                      <a:extLst>
                        <a:ext uri="{9D8B030D-6E8A-4147-A177-3AD203B41FA5}">
                          <a16:colId xmlns:a16="http://schemas.microsoft.com/office/drawing/2014/main" val="2765978471"/>
                        </a:ext>
                      </a:extLst>
                    </a:gridCol>
                  </a:tblGrid>
                  <a:tr h="333382">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1" i="1" smtClean="0">
                                        <a:latin typeface="Cambria Math" panose="02040503050406030204" pitchFamily="18" charset="0"/>
                                      </a:rPr>
                                      <m:t>𝒔</m:t>
                                    </m:r>
                                  </m:e>
                                  <m:sub>
                                    <m:r>
                                      <a:rPr lang="en-US" altLang="zh-CN" sz="1600" b="0" i="1" smtClean="0">
                                        <a:latin typeface="Cambria Math" panose="02040503050406030204" pitchFamily="18" charset="0"/>
                                      </a:rPr>
                                      <m:t>4</m:t>
                                    </m:r>
                                  </m:sub>
                                </m:sSub>
                              </m:oMath>
                            </m:oMathPara>
                          </a14:m>
                          <a:endParaRPr lang="zh-CN" alt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1" i="1" smtClean="0">
                                        <a:latin typeface="Cambria Math" panose="02040503050406030204" pitchFamily="18" charset="0"/>
                                      </a:rPr>
                                      <m:t>𝒙</m:t>
                                    </m:r>
                                  </m:e>
                                  <m:sub>
                                    <m:r>
                                      <a:rPr lang="en-US" altLang="zh-CN" sz="1600" b="1" i="1" smtClean="0">
                                        <a:latin typeface="Cambria Math" panose="02040503050406030204" pitchFamily="18" charset="0"/>
                                      </a:rPr>
                                      <m:t>𝟒</m:t>
                                    </m:r>
                                  </m:sub>
                                </m:sSub>
                              </m:oMath>
                            </m:oMathPara>
                          </a14:m>
                          <a:endParaRPr lang="zh-CN" alt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1" i="1" smtClean="0">
                                        <a:latin typeface="Cambria Math" panose="02040503050406030204" pitchFamily="18" charset="0"/>
                                      </a:rPr>
                                      <m:t>𝒔</m:t>
                                    </m:r>
                                  </m:e>
                                  <m:sub>
                                    <m:r>
                                      <a:rPr lang="en-US" altLang="zh-CN" sz="1600" b="1" i="1" smtClean="0">
                                        <a:latin typeface="Cambria Math" panose="02040503050406030204" pitchFamily="18" charset="0"/>
                                      </a:rPr>
                                      <m:t>𝟑</m:t>
                                    </m:r>
                                  </m:sub>
                                </m:sSub>
                              </m:oMath>
                            </m:oMathPara>
                          </a14:m>
                          <a:endParaRPr lang="zh-CN" altLang="en-US" sz="1600" dirty="0"/>
                        </a:p>
                      </a:txBody>
                      <a:tcPr/>
                    </a:tc>
                    <a:tc>
                      <a:txBody>
                        <a:bodyPr/>
                        <a:lstStyle/>
                        <a:p>
                          <a14:m>
                            <m:oMath xmlns:m="http://schemas.openxmlformats.org/officeDocument/2006/math">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𝑣</m:t>
                                  </m:r>
                                </m:e>
                                <m:sub>
                                  <m:r>
                                    <a:rPr lang="en-US" altLang="zh-CN" sz="1600" b="1" i="1" smtClean="0">
                                      <a:latin typeface="Cambria Math" panose="02040503050406030204" pitchFamily="18" charset="0"/>
                                    </a:rPr>
                                    <m:t>𝟒</m:t>
                                  </m:r>
                                </m:sub>
                              </m:sSub>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b="1" i="1" smtClean="0">
                                          <a:latin typeface="Cambria Math" panose="02040503050406030204" pitchFamily="18" charset="0"/>
                                        </a:rPr>
                                        <m:t>𝟒</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b="1" i="1" smtClean="0">
                                          <a:latin typeface="Cambria Math" panose="02040503050406030204" pitchFamily="18" charset="0"/>
                                        </a:rPr>
                                        <m:t>𝟒</m:t>
                                      </m:r>
                                    </m:sub>
                                  </m:sSub>
                                </m:e>
                              </m:d>
                              <m:r>
                                <a:rPr lang="en-US" altLang="zh-CN" sz="1600" b="1" i="1" smtClean="0">
                                  <a:latin typeface="Cambria Math" panose="02040503050406030204" pitchFamily="18" charset="0"/>
                                </a:rPr>
                                <m:t>=</m:t>
                              </m:r>
                            </m:oMath>
                          </a14:m>
                          <a:r>
                            <a:rPr lang="en-US" altLang="zh-CN" sz="1600" b="1" i="1" dirty="0" smtClean="0">
                              <a:latin typeface="Times New Roman" panose="02020603050405020304" pitchFamily="18" charset="0"/>
                              <a:cs typeface="Times New Roman" panose="02020603050405020304" pitchFamily="18" charset="0"/>
                            </a:rPr>
                            <a:t>c</a:t>
                          </a:r>
                          <a:r>
                            <a:rPr lang="en-US" altLang="zh-CN" sz="1600" b="1" i="1" baseline="-25000" dirty="0" smtClean="0">
                              <a:latin typeface="Times New Roman" panose="02020603050405020304" pitchFamily="18" charset="0"/>
                              <a:cs typeface="Times New Roman" panose="02020603050405020304" pitchFamily="18" charset="0"/>
                            </a:rPr>
                            <a:t>4 </a:t>
                          </a:r>
                          <a:r>
                            <a:rPr lang="en-US" altLang="zh-CN" sz="1600" b="1" dirty="0">
                              <a:latin typeface="Times New Roman" panose="02020603050405020304" pitchFamily="18" charset="0"/>
                              <a:cs typeface="Times New Roman" panose="02020603050405020304" pitchFamily="18" charset="0"/>
                            </a:rPr>
                            <a:t>(</a:t>
                          </a:r>
                          <a:r>
                            <a:rPr lang="en-US" altLang="zh-CN" sz="1600" b="1" i="1" dirty="0" smtClean="0">
                              <a:latin typeface="Times New Roman" panose="02020603050405020304" pitchFamily="18" charset="0"/>
                              <a:cs typeface="Times New Roman" panose="02020603050405020304" pitchFamily="18" charset="0"/>
                            </a:rPr>
                            <a:t>x</a:t>
                          </a:r>
                          <a:r>
                            <a:rPr lang="en-US" altLang="zh-CN" sz="1600" b="1" i="1" baseline="-25000" dirty="0" smtClean="0">
                              <a:latin typeface="Times New Roman" panose="02020603050405020304" pitchFamily="18" charset="0"/>
                              <a:cs typeface="Times New Roman" panose="02020603050405020304" pitchFamily="18" charset="0"/>
                            </a:rPr>
                            <a:t>4</a:t>
                          </a:r>
                          <a:r>
                            <a:rPr lang="en-US" altLang="zh-CN" sz="1600" b="1" dirty="0" smtClean="0">
                              <a:latin typeface="Times New Roman" panose="02020603050405020304" pitchFamily="18" charset="0"/>
                              <a:cs typeface="Times New Roman" panose="02020603050405020304" pitchFamily="18" charset="0"/>
                            </a:rPr>
                            <a:t>)+</a:t>
                          </a:r>
                          <a:r>
                            <a:rPr lang="en-US" altLang="zh-CN" sz="1600" b="1" i="1" dirty="0" smtClean="0">
                              <a:latin typeface="Times New Roman" panose="02020603050405020304" pitchFamily="18" charset="0"/>
                              <a:cs typeface="Times New Roman" panose="02020603050405020304" pitchFamily="18" charset="0"/>
                            </a:rPr>
                            <a:t> h</a:t>
                          </a:r>
                          <a:r>
                            <a:rPr lang="en-US" altLang="zh-CN" sz="1600" b="1" i="1" baseline="-25000" dirty="0" smtClean="0">
                              <a:latin typeface="Times New Roman" panose="02020603050405020304" pitchFamily="18" charset="0"/>
                              <a:cs typeface="Times New Roman" panose="02020603050405020304" pitchFamily="18" charset="0"/>
                            </a:rPr>
                            <a:t>4</a:t>
                          </a:r>
                          <a:r>
                            <a:rPr lang="en-US" altLang="zh-CN" sz="1600" b="1" dirty="0" smtClean="0">
                              <a:latin typeface="Times New Roman" panose="02020603050405020304" pitchFamily="18" charset="0"/>
                              <a:cs typeface="Times New Roman" panose="02020603050405020304" pitchFamily="18" charset="0"/>
                            </a:rPr>
                            <a:t>(</a:t>
                          </a:r>
                          <a:r>
                            <a:rPr lang="en-US" altLang="zh-CN" sz="1600" b="1" i="1" dirty="0" smtClean="0">
                              <a:latin typeface="Times New Roman" panose="02020603050405020304" pitchFamily="18" charset="0"/>
                              <a:cs typeface="Times New Roman" panose="02020603050405020304" pitchFamily="18" charset="0"/>
                            </a:rPr>
                            <a:t>s</a:t>
                          </a:r>
                          <a:r>
                            <a:rPr lang="en-US" altLang="zh-CN" sz="1600" b="1" i="1" baseline="-25000" dirty="0" smtClean="0">
                              <a:latin typeface="Times New Roman" panose="02020603050405020304" pitchFamily="18" charset="0"/>
                              <a:cs typeface="Times New Roman" panose="02020603050405020304" pitchFamily="18" charset="0"/>
                            </a:rPr>
                            <a:t>4</a:t>
                          </a:r>
                          <a:r>
                            <a:rPr lang="en-US" altLang="zh-CN" sz="1600" b="1" dirty="0" smtClean="0">
                              <a:latin typeface="Times New Roman" panose="02020603050405020304" pitchFamily="18" charset="0"/>
                              <a:cs typeface="Times New Roman" panose="02020603050405020304" pitchFamily="18" charset="0"/>
                            </a:rPr>
                            <a:t>)</a:t>
                          </a:r>
                          <a:r>
                            <a:rPr lang="zh-CN" altLang="en-US" sz="1600" b="1" dirty="0" smtClean="0">
                              <a:latin typeface="Times New Roman" panose="02020603050405020304" pitchFamily="18" charset="0"/>
                              <a:cs typeface="Times New Roman" panose="02020603050405020304" pitchFamily="18" charset="0"/>
                            </a:rPr>
                            <a:t> </a:t>
                          </a:r>
                          <a:endParaRPr lang="zh-CN" alt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𝑓</m:t>
                                    </m:r>
                                  </m:e>
                                  <m:sub>
                                    <m:r>
                                      <a:rPr lang="en-US" altLang="zh-CN" sz="1600" b="1" i="1" smtClean="0">
                                        <a:latin typeface="Cambria Math" panose="02040503050406030204" pitchFamily="18" charset="0"/>
                                      </a:rPr>
                                      <m:t>𝟑</m:t>
                                    </m:r>
                                  </m:sub>
                                </m:sSub>
                                <m:d>
                                  <m:dPr>
                                    <m:ctrlPr>
                                      <a:rPr lang="en-US" altLang="zh-CN" sz="1600" b="0" i="1" smtClean="0">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b="1" i="1" smtClean="0">
                                            <a:latin typeface="Cambria Math" panose="02040503050406030204" pitchFamily="18" charset="0"/>
                                          </a:rPr>
                                          <m:t>𝟑</m:t>
                                        </m:r>
                                      </m:sub>
                                    </m:sSub>
                                  </m:e>
                                </m:d>
                              </m:oMath>
                            </m:oMathPara>
                          </a14:m>
                          <a:endParaRPr lang="zh-CN" altLang="en-US" sz="1600" dirty="0"/>
                        </a:p>
                      </a:txBody>
                      <a:tcPr/>
                    </a:tc>
                    <a:tc>
                      <a:txBody>
                        <a:bodyPr/>
                        <a:lstStyle/>
                        <a:p>
                          <a14:m>
                            <m:oMath xmlns:m="http://schemas.openxmlformats.org/officeDocument/2006/math">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𝑣</m:t>
                                  </m:r>
                                </m:e>
                                <m:sub>
                                  <m:r>
                                    <a:rPr lang="en-US" altLang="zh-CN" sz="1600" b="1" i="1" smtClean="0">
                                      <a:latin typeface="Cambria Math" panose="02040503050406030204" pitchFamily="18" charset="0"/>
                                    </a:rPr>
                                    <m:t>𝟒</m:t>
                                  </m:r>
                                </m:sub>
                              </m:sSub>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b="1" i="1" smtClean="0">
                                          <a:latin typeface="Cambria Math" panose="02040503050406030204" pitchFamily="18" charset="0"/>
                                        </a:rPr>
                                        <m:t>𝟒</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b="1" i="1" smtClean="0">
                                          <a:latin typeface="Cambria Math" panose="02040503050406030204" pitchFamily="18" charset="0"/>
                                        </a:rPr>
                                        <m:t>𝟒</m:t>
                                      </m:r>
                                    </m:sub>
                                  </m:sSub>
                                </m:e>
                              </m:d>
                            </m:oMath>
                          </a14:m>
                          <a:r>
                            <a:rPr lang="en-US" altLang="zh-CN" sz="1600" dirty="0" smtClean="0"/>
                            <a:t>+</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𝑓</m:t>
                                  </m:r>
                                </m:e>
                                <m:sub>
                                  <m:r>
                                    <a:rPr lang="en-US" altLang="zh-CN" sz="1600" b="1" i="1" smtClean="0">
                                      <a:latin typeface="Cambria Math" panose="02040503050406030204" pitchFamily="18" charset="0"/>
                                    </a:rPr>
                                    <m:t>𝟑</m:t>
                                  </m:r>
                                </m:sub>
                              </m:sSub>
                              <m:d>
                                <m:dPr>
                                  <m:ctrlPr>
                                    <a:rPr lang="en-US" altLang="zh-CN" sz="1600" b="0" i="1" smtClean="0">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b="1" i="1" smtClean="0">
                                          <a:latin typeface="Cambria Math" panose="02040503050406030204" pitchFamily="18" charset="0"/>
                                        </a:rPr>
                                        <m:t>𝟑</m:t>
                                      </m:r>
                                    </m:sub>
                                  </m:sSub>
                                </m:e>
                              </m:d>
                            </m:oMath>
                          </a14:m>
                          <a:endParaRPr lang="zh-CN" alt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𝑓</m:t>
                                    </m:r>
                                  </m:e>
                                  <m:sub>
                                    <m:r>
                                      <a:rPr lang="en-US" altLang="zh-CN" sz="1600" b="1" i="1" smtClean="0">
                                        <a:latin typeface="Cambria Math" panose="02040503050406030204" pitchFamily="18" charset="0"/>
                                      </a:rPr>
                                      <m:t>𝟒</m:t>
                                    </m:r>
                                  </m:sub>
                                </m:sSub>
                                <m:d>
                                  <m:dPr>
                                    <m:ctrlPr>
                                      <a:rPr lang="en-US" altLang="zh-CN" sz="1600" b="0" i="1" smtClean="0">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b="1" i="1" smtClean="0">
                                            <a:latin typeface="Cambria Math" panose="02040503050406030204" pitchFamily="18" charset="0"/>
                                          </a:rPr>
                                          <m:t>𝟒</m:t>
                                        </m:r>
                                      </m:sub>
                                    </m:sSub>
                                  </m:e>
                                </m:d>
                              </m:oMath>
                            </m:oMathPara>
                          </a14:m>
                          <a:endParaRPr lang="zh-CN" altLang="en-US" sz="1600" dirty="0"/>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CN" sz="1600" i="1" smtClean="0">
                                        <a:latin typeface="Cambria Math" panose="02040503050406030204" pitchFamily="18" charset="0"/>
                                      </a:rPr>
                                    </m:ctrlPr>
                                  </m:sSubSupPr>
                                  <m:e>
                                    <m:r>
                                      <a:rPr lang="en-US" altLang="zh-CN" sz="1600" b="1" i="1" smtClean="0">
                                        <a:latin typeface="Cambria Math" panose="02040503050406030204" pitchFamily="18" charset="0"/>
                                      </a:rPr>
                                      <m:t>𝒙</m:t>
                                    </m:r>
                                  </m:e>
                                  <m:sub>
                                    <m:r>
                                      <a:rPr lang="en-US" altLang="zh-CN" sz="1600" b="1" i="1" smtClean="0">
                                        <a:latin typeface="Cambria Math" panose="02040503050406030204" pitchFamily="18" charset="0"/>
                                      </a:rPr>
                                      <m:t>𝟒</m:t>
                                    </m:r>
                                  </m:sub>
                                  <m:sup>
                                    <m:r>
                                      <a:rPr lang="en-US" altLang="zh-CN" sz="1600" b="1" i="1" smtClean="0">
                                        <a:latin typeface="Cambria Math" panose="02040503050406030204" pitchFamily="18" charset="0"/>
                                      </a:rPr>
                                      <m:t>∗</m:t>
                                    </m:r>
                                  </m:sup>
                                </m:sSubSup>
                              </m:oMath>
                            </m:oMathPara>
                          </a14:m>
                          <a:endParaRPr lang="zh-CN" altLang="en-US" sz="1600" dirty="0"/>
                        </a:p>
                      </a:txBody>
                      <a:tcPr/>
                    </a:tc>
                    <a:extLst>
                      <a:ext uri="{0D108BD9-81ED-4DB2-BD59-A6C34878D82A}">
                        <a16:rowId xmlns:a16="http://schemas.microsoft.com/office/drawing/2014/main" val="37799757"/>
                      </a:ext>
                    </a:extLst>
                  </a:tr>
                  <a:tr h="275085">
                    <a:tc rowSpan="5">
                      <a:txBody>
                        <a:bodyPr/>
                        <a:lstStyle/>
                        <a:p>
                          <a:r>
                            <a:rPr lang="en-US" altLang="zh-CN" sz="1600" dirty="0" smtClean="0"/>
                            <a:t>0</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0+0=0</a:t>
                          </a:r>
                          <a:endParaRPr lang="zh-CN" altLang="en-US" sz="1600" dirty="0"/>
                        </a:p>
                      </a:txBody>
                      <a:tcPr/>
                    </a:tc>
                    <a:tc>
                      <a:txBody>
                        <a:bodyPr/>
                        <a:lstStyle/>
                        <a:p>
                          <a:r>
                            <a:rPr lang="en-US" altLang="zh-CN" sz="1600" dirty="0" smtClean="0"/>
                            <a:t>20.5</a:t>
                          </a:r>
                          <a:endParaRPr lang="zh-CN" altLang="en-US" sz="1600" dirty="0"/>
                        </a:p>
                      </a:txBody>
                      <a:tcPr/>
                    </a:tc>
                    <a:tc>
                      <a:txBody>
                        <a:bodyPr/>
                        <a:lstStyle/>
                        <a:p>
                          <a:r>
                            <a:rPr lang="en-US" altLang="zh-CN" sz="1600" dirty="0" smtClean="0"/>
                            <a:t>20.5</a:t>
                          </a:r>
                          <a:endParaRPr lang="zh-CN" altLang="en-US" sz="1600" dirty="0"/>
                        </a:p>
                      </a:txBody>
                      <a:tcPr/>
                    </a:tc>
                    <a:tc rowSpan="5">
                      <a:txBody>
                        <a:bodyPr/>
                        <a:lstStyle/>
                        <a:p>
                          <a:r>
                            <a:rPr lang="en-US" altLang="zh-CN" sz="1600" dirty="0" smtClean="0"/>
                            <a:t>20.5</a:t>
                          </a:r>
                          <a:endParaRPr lang="zh-CN" altLang="en-US" sz="1600" dirty="0"/>
                        </a:p>
                      </a:txBody>
                      <a:tcPr/>
                    </a:tc>
                    <a:tc rowSpan="5">
                      <a:txBody>
                        <a:bodyPr/>
                        <a:lstStyle/>
                        <a:p>
                          <a:r>
                            <a:rPr lang="en-US" altLang="zh-CN" sz="1600" dirty="0" smtClean="0"/>
                            <a:t>0</a:t>
                          </a:r>
                          <a:endParaRPr lang="zh-CN" altLang="en-US" sz="1600" dirty="0"/>
                        </a:p>
                      </a:txBody>
                      <a:tcPr/>
                    </a:tc>
                    <a:extLst>
                      <a:ext uri="{0D108BD9-81ED-4DB2-BD59-A6C34878D82A}">
                        <a16:rowId xmlns:a16="http://schemas.microsoft.com/office/drawing/2014/main" val="130326615"/>
                      </a:ext>
                    </a:extLst>
                  </a:tr>
                  <a:tr h="275085">
                    <a:tc vMerge="1">
                      <a:txBody>
                        <a:bodyPr/>
                        <a:lstStyle/>
                        <a:p>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3+1+0=4</a:t>
                          </a:r>
                          <a:endParaRPr lang="zh-CN" altLang="en-US" sz="1600" dirty="0"/>
                        </a:p>
                      </a:txBody>
                      <a:tcPr/>
                    </a:tc>
                    <a:tc>
                      <a:txBody>
                        <a:bodyPr/>
                        <a:lstStyle/>
                        <a:p>
                          <a:r>
                            <a:rPr lang="en-US" altLang="zh-CN" sz="1600" dirty="0" smtClean="0"/>
                            <a:t>19</a:t>
                          </a:r>
                          <a:endParaRPr lang="zh-CN" altLang="en-US" sz="1600" dirty="0"/>
                        </a:p>
                      </a:txBody>
                      <a:tcPr/>
                    </a:tc>
                    <a:tc>
                      <a:txBody>
                        <a:bodyPr/>
                        <a:lstStyle/>
                        <a:p>
                          <a:r>
                            <a:rPr lang="en-US" altLang="zh-CN" sz="1600" dirty="0" smtClean="0"/>
                            <a:t>23</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845204460"/>
                      </a:ext>
                    </a:extLst>
                  </a:tr>
                  <a:tr h="275085">
                    <a:tc vMerge="1">
                      <a:txBody>
                        <a:bodyPr/>
                        <a:lstStyle/>
                        <a:p>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3+2+0=5</a:t>
                          </a:r>
                          <a:endParaRPr lang="zh-CN" altLang="en-US" sz="1600" dirty="0"/>
                        </a:p>
                      </a:txBody>
                      <a:tcPr/>
                    </a:tc>
                    <a:tc>
                      <a:txBody>
                        <a:bodyPr/>
                        <a:lstStyle/>
                        <a:p>
                          <a:r>
                            <a:rPr lang="en-US" altLang="zh-CN" sz="1600" dirty="0" smtClean="0"/>
                            <a:t>17.5</a:t>
                          </a:r>
                          <a:endParaRPr lang="zh-CN" altLang="en-US" sz="1600" dirty="0"/>
                        </a:p>
                      </a:txBody>
                      <a:tcPr/>
                    </a:tc>
                    <a:tc>
                      <a:txBody>
                        <a:bodyPr/>
                        <a:lstStyle/>
                        <a:p>
                          <a:r>
                            <a:rPr lang="en-US" altLang="zh-CN" sz="1600" dirty="0" smtClean="0"/>
                            <a:t>22.5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1824428135"/>
                      </a:ext>
                    </a:extLst>
                  </a:tr>
                  <a:tr h="275085">
                    <a:tc vMerge="1">
                      <a:txBody>
                        <a:bodyPr/>
                        <a:lstStyle/>
                        <a:p>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1</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3+3+0=6</a:t>
                          </a:r>
                          <a:endParaRPr lang="zh-CN" altLang="en-US" sz="1600" dirty="0"/>
                        </a:p>
                      </a:txBody>
                      <a:tcPr/>
                    </a:tc>
                    <a:tc>
                      <a:txBody>
                        <a:bodyPr/>
                        <a:lstStyle/>
                        <a:p>
                          <a:r>
                            <a:rPr lang="en-US" altLang="zh-CN" sz="1600" dirty="0" smtClean="0"/>
                            <a:t>16</a:t>
                          </a:r>
                          <a:endParaRPr lang="zh-CN" altLang="en-US" sz="1600" dirty="0"/>
                        </a:p>
                      </a:txBody>
                      <a:tcPr/>
                    </a:tc>
                    <a:tc>
                      <a:txBody>
                        <a:bodyPr/>
                        <a:lstStyle/>
                        <a:p>
                          <a:r>
                            <a:rPr lang="en-US" altLang="zh-CN" sz="1600" dirty="0" smtClean="0"/>
                            <a:t>22</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924871268"/>
                      </a:ext>
                    </a:extLst>
                  </a:tr>
                  <a:tr h="275085">
                    <a:tc vMerge="1">
                      <a:txBody>
                        <a:bodyPr/>
                        <a:lstStyle/>
                        <a:p>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0</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3+4+0=7</a:t>
                          </a:r>
                          <a:endParaRPr lang="zh-CN" altLang="en-US" sz="1600" dirty="0" smtClean="0"/>
                        </a:p>
                      </a:txBody>
                      <a:tcPr/>
                    </a:tc>
                    <a:tc>
                      <a:txBody>
                        <a:bodyPr/>
                        <a:lstStyle/>
                        <a:p>
                          <a:r>
                            <a:rPr lang="en-US" altLang="zh-CN" sz="1600" dirty="0" smtClean="0"/>
                            <a:t>14</a:t>
                          </a:r>
                          <a:endParaRPr lang="zh-CN" altLang="en-US" sz="1600" dirty="0"/>
                        </a:p>
                      </a:txBody>
                      <a:tcPr/>
                    </a:tc>
                    <a:tc>
                      <a:txBody>
                        <a:bodyPr/>
                        <a:lstStyle/>
                        <a:p>
                          <a:r>
                            <a:rPr lang="en-US" altLang="zh-CN" sz="1600" dirty="0" smtClean="0"/>
                            <a:t>21</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209592248"/>
                      </a:ext>
                    </a:extLst>
                  </a:tr>
                </a:tbl>
              </a:graphicData>
            </a:graphic>
          </p:graphicFrame>
        </mc:Choice>
        <mc:Fallback xmlns="">
          <p:graphicFrame>
            <p:nvGraphicFramePr>
              <p:cNvPr id="19" name="表格 18"/>
              <p:cNvGraphicFramePr>
                <a:graphicFrameLocks noGrp="1"/>
              </p:cNvGraphicFramePr>
              <p:nvPr>
                <p:extLst>
                  <p:ext uri="{D42A27DB-BD31-4B8C-83A1-F6EECF244321}">
                    <p14:modId xmlns:p14="http://schemas.microsoft.com/office/powerpoint/2010/main" val="758419617"/>
                  </p:ext>
                </p:extLst>
              </p:nvPr>
            </p:nvGraphicFramePr>
            <p:xfrm>
              <a:off x="611560" y="3379183"/>
              <a:ext cx="7914083" cy="2011680"/>
            </p:xfrm>
            <a:graphic>
              <a:graphicData uri="http://schemas.openxmlformats.org/drawingml/2006/table">
                <a:tbl>
                  <a:tblPr firstRow="1" bandRow="1">
                    <a:tableStyleId>{5C22544A-7EE6-4342-B048-85BDC9FD1C3A}</a:tableStyleId>
                  </a:tblPr>
                  <a:tblGrid>
                    <a:gridCol w="481487">
                      <a:extLst>
                        <a:ext uri="{9D8B030D-6E8A-4147-A177-3AD203B41FA5}">
                          <a16:colId xmlns:a16="http://schemas.microsoft.com/office/drawing/2014/main" val="1816936163"/>
                        </a:ext>
                      </a:extLst>
                    </a:gridCol>
                    <a:gridCol w="554404">
                      <a:extLst>
                        <a:ext uri="{9D8B030D-6E8A-4147-A177-3AD203B41FA5}">
                          <a16:colId xmlns:a16="http://schemas.microsoft.com/office/drawing/2014/main" val="1250546864"/>
                        </a:ext>
                      </a:extLst>
                    </a:gridCol>
                    <a:gridCol w="616004">
                      <a:extLst>
                        <a:ext uri="{9D8B030D-6E8A-4147-A177-3AD203B41FA5}">
                          <a16:colId xmlns:a16="http://schemas.microsoft.com/office/drawing/2014/main" val="1869782824"/>
                        </a:ext>
                      </a:extLst>
                    </a:gridCol>
                    <a:gridCol w="2469642">
                      <a:extLst>
                        <a:ext uri="{9D8B030D-6E8A-4147-A177-3AD203B41FA5}">
                          <a16:colId xmlns:a16="http://schemas.microsoft.com/office/drawing/2014/main" val="3148481169"/>
                        </a:ext>
                      </a:extLst>
                    </a:gridCol>
                    <a:gridCol w="771461">
                      <a:extLst>
                        <a:ext uri="{9D8B030D-6E8A-4147-A177-3AD203B41FA5}">
                          <a16:colId xmlns:a16="http://schemas.microsoft.com/office/drawing/2014/main" val="644265878"/>
                        </a:ext>
                      </a:extLst>
                    </a:gridCol>
                    <a:gridCol w="1730185">
                      <a:extLst>
                        <a:ext uri="{9D8B030D-6E8A-4147-A177-3AD203B41FA5}">
                          <a16:colId xmlns:a16="http://schemas.microsoft.com/office/drawing/2014/main" val="938889560"/>
                        </a:ext>
                      </a:extLst>
                    </a:gridCol>
                    <a:gridCol w="723353">
                      <a:extLst>
                        <a:ext uri="{9D8B030D-6E8A-4147-A177-3AD203B41FA5}">
                          <a16:colId xmlns:a16="http://schemas.microsoft.com/office/drawing/2014/main" val="1613744912"/>
                        </a:ext>
                      </a:extLst>
                    </a:gridCol>
                    <a:gridCol w="567547">
                      <a:extLst>
                        <a:ext uri="{9D8B030D-6E8A-4147-A177-3AD203B41FA5}">
                          <a16:colId xmlns:a16="http://schemas.microsoft.com/office/drawing/2014/main" val="2765978471"/>
                        </a:ext>
                      </a:extLst>
                    </a:gridCol>
                  </a:tblGrid>
                  <a:tr h="335280">
                    <a:tc>
                      <a:txBody>
                        <a:bodyPr/>
                        <a:lstStyle/>
                        <a:p>
                          <a:endParaRPr lang="zh-CN"/>
                        </a:p>
                      </a:txBody>
                      <a:tcPr>
                        <a:blipFill>
                          <a:blip r:embed="rId6"/>
                          <a:stretch>
                            <a:fillRect l="-1266" t="-5455" r="-1549367" b="-523636"/>
                          </a:stretch>
                        </a:blipFill>
                      </a:tcPr>
                    </a:tc>
                    <a:tc>
                      <a:txBody>
                        <a:bodyPr/>
                        <a:lstStyle/>
                        <a:p>
                          <a:endParaRPr lang="zh-CN"/>
                        </a:p>
                      </a:txBody>
                      <a:tcPr>
                        <a:blipFill>
                          <a:blip r:embed="rId6"/>
                          <a:stretch>
                            <a:fillRect l="-87912" t="-5455" r="-1245055" b="-523636"/>
                          </a:stretch>
                        </a:blipFill>
                      </a:tcPr>
                    </a:tc>
                    <a:tc>
                      <a:txBody>
                        <a:bodyPr/>
                        <a:lstStyle/>
                        <a:p>
                          <a:endParaRPr lang="zh-CN"/>
                        </a:p>
                      </a:txBody>
                      <a:tcPr>
                        <a:blipFill>
                          <a:blip r:embed="rId6"/>
                          <a:stretch>
                            <a:fillRect l="-169307" t="-5455" r="-1021782" b="-523636"/>
                          </a:stretch>
                        </a:blipFill>
                      </a:tcPr>
                    </a:tc>
                    <a:tc>
                      <a:txBody>
                        <a:bodyPr/>
                        <a:lstStyle/>
                        <a:p>
                          <a:endParaRPr lang="zh-CN"/>
                        </a:p>
                      </a:txBody>
                      <a:tcPr>
                        <a:blipFill>
                          <a:blip r:embed="rId6"/>
                          <a:stretch>
                            <a:fillRect l="-67160" t="-5455" r="-154815" b="-523636"/>
                          </a:stretch>
                        </a:blipFill>
                      </a:tcPr>
                    </a:tc>
                    <a:tc>
                      <a:txBody>
                        <a:bodyPr/>
                        <a:lstStyle/>
                        <a:p>
                          <a:endParaRPr lang="zh-CN"/>
                        </a:p>
                      </a:txBody>
                      <a:tcPr>
                        <a:blipFill>
                          <a:blip r:embed="rId6"/>
                          <a:stretch>
                            <a:fillRect l="-533071" t="-5455" r="-393701" b="-523636"/>
                          </a:stretch>
                        </a:blipFill>
                      </a:tcPr>
                    </a:tc>
                    <a:tc>
                      <a:txBody>
                        <a:bodyPr/>
                        <a:lstStyle/>
                        <a:p>
                          <a:endParaRPr lang="zh-CN"/>
                        </a:p>
                      </a:txBody>
                      <a:tcPr>
                        <a:blipFill>
                          <a:blip r:embed="rId6"/>
                          <a:stretch>
                            <a:fillRect l="-283099" t="-5455" r="-76056" b="-523636"/>
                          </a:stretch>
                        </a:blipFill>
                      </a:tcPr>
                    </a:tc>
                    <a:tc>
                      <a:txBody>
                        <a:bodyPr/>
                        <a:lstStyle/>
                        <a:p>
                          <a:endParaRPr lang="zh-CN"/>
                        </a:p>
                      </a:txBody>
                      <a:tcPr>
                        <a:blipFill>
                          <a:blip r:embed="rId6"/>
                          <a:stretch>
                            <a:fillRect l="-914286" t="-5455" r="-81513" b="-523636"/>
                          </a:stretch>
                        </a:blipFill>
                      </a:tcPr>
                    </a:tc>
                    <a:tc>
                      <a:txBody>
                        <a:bodyPr/>
                        <a:lstStyle/>
                        <a:p>
                          <a:endParaRPr lang="zh-CN"/>
                        </a:p>
                      </a:txBody>
                      <a:tcPr>
                        <a:blipFill>
                          <a:blip r:embed="rId6"/>
                          <a:stretch>
                            <a:fillRect l="-1297849" t="-5455" r="-4301" b="-523636"/>
                          </a:stretch>
                        </a:blipFill>
                      </a:tcPr>
                    </a:tc>
                    <a:extLst>
                      <a:ext uri="{0D108BD9-81ED-4DB2-BD59-A6C34878D82A}">
                        <a16:rowId xmlns:a16="http://schemas.microsoft.com/office/drawing/2014/main" val="37799757"/>
                      </a:ext>
                    </a:extLst>
                  </a:tr>
                  <a:tr h="335280">
                    <a:tc rowSpan="5">
                      <a:txBody>
                        <a:bodyPr/>
                        <a:lstStyle/>
                        <a:p>
                          <a:r>
                            <a:rPr lang="en-US" altLang="zh-CN" sz="1600" dirty="0" smtClean="0"/>
                            <a:t>0</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0+0=0</a:t>
                          </a:r>
                          <a:endParaRPr lang="zh-CN" altLang="en-US" sz="1600" dirty="0"/>
                        </a:p>
                      </a:txBody>
                      <a:tcPr/>
                    </a:tc>
                    <a:tc>
                      <a:txBody>
                        <a:bodyPr/>
                        <a:lstStyle/>
                        <a:p>
                          <a:r>
                            <a:rPr lang="en-US" altLang="zh-CN" sz="1600" dirty="0" smtClean="0"/>
                            <a:t>20.5</a:t>
                          </a:r>
                          <a:endParaRPr lang="zh-CN" altLang="en-US" sz="1600" dirty="0"/>
                        </a:p>
                      </a:txBody>
                      <a:tcPr/>
                    </a:tc>
                    <a:tc>
                      <a:txBody>
                        <a:bodyPr/>
                        <a:lstStyle/>
                        <a:p>
                          <a:r>
                            <a:rPr lang="en-US" altLang="zh-CN" sz="1600" dirty="0" smtClean="0"/>
                            <a:t>20.5</a:t>
                          </a:r>
                          <a:endParaRPr lang="zh-CN" altLang="en-US" sz="1600" dirty="0"/>
                        </a:p>
                      </a:txBody>
                      <a:tcPr/>
                    </a:tc>
                    <a:tc rowSpan="5">
                      <a:txBody>
                        <a:bodyPr/>
                        <a:lstStyle/>
                        <a:p>
                          <a:r>
                            <a:rPr lang="en-US" altLang="zh-CN" sz="1600" dirty="0" smtClean="0"/>
                            <a:t>20.5</a:t>
                          </a:r>
                          <a:endParaRPr lang="zh-CN" altLang="en-US" sz="1600" dirty="0"/>
                        </a:p>
                      </a:txBody>
                      <a:tcPr/>
                    </a:tc>
                    <a:tc rowSpan="5">
                      <a:txBody>
                        <a:bodyPr/>
                        <a:lstStyle/>
                        <a:p>
                          <a:r>
                            <a:rPr lang="en-US" altLang="zh-CN" sz="1600" dirty="0" smtClean="0"/>
                            <a:t>0</a:t>
                          </a:r>
                          <a:endParaRPr lang="zh-CN" altLang="en-US" sz="1600" dirty="0"/>
                        </a:p>
                      </a:txBody>
                      <a:tcPr/>
                    </a:tc>
                    <a:extLst>
                      <a:ext uri="{0D108BD9-81ED-4DB2-BD59-A6C34878D82A}">
                        <a16:rowId xmlns:a16="http://schemas.microsoft.com/office/drawing/2014/main" val="130326615"/>
                      </a:ext>
                    </a:extLst>
                  </a:tr>
                  <a:tr h="335280">
                    <a:tc vMerge="1">
                      <a:txBody>
                        <a:bodyPr/>
                        <a:lstStyle/>
                        <a:p>
                          <a:endParaRPr lang="zh-CN" altLang="en-US" sz="1600" dirty="0"/>
                        </a:p>
                      </a:txBody>
                      <a:tcPr/>
                    </a:tc>
                    <a:tc>
                      <a:txBody>
                        <a:bodyPr/>
                        <a:lstStyle/>
                        <a:p>
                          <a:r>
                            <a:rPr lang="en-US" altLang="zh-CN" sz="1600" dirty="0" smtClean="0"/>
                            <a:t>1</a:t>
                          </a:r>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3+1+0=4</a:t>
                          </a:r>
                          <a:endParaRPr lang="zh-CN" altLang="en-US" sz="1600" dirty="0"/>
                        </a:p>
                      </a:txBody>
                      <a:tcPr/>
                    </a:tc>
                    <a:tc>
                      <a:txBody>
                        <a:bodyPr/>
                        <a:lstStyle/>
                        <a:p>
                          <a:r>
                            <a:rPr lang="en-US" altLang="zh-CN" sz="1600" dirty="0" smtClean="0"/>
                            <a:t>19</a:t>
                          </a:r>
                          <a:endParaRPr lang="zh-CN" altLang="en-US" sz="1600" dirty="0"/>
                        </a:p>
                      </a:txBody>
                      <a:tcPr/>
                    </a:tc>
                    <a:tc>
                      <a:txBody>
                        <a:bodyPr/>
                        <a:lstStyle/>
                        <a:p>
                          <a:r>
                            <a:rPr lang="en-US" altLang="zh-CN" sz="1600" dirty="0" smtClean="0"/>
                            <a:t>23</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845204460"/>
                      </a:ext>
                    </a:extLst>
                  </a:tr>
                  <a:tr h="335280">
                    <a:tc vMerge="1">
                      <a:txBody>
                        <a:bodyPr/>
                        <a:lstStyle/>
                        <a:p>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3+2+0=5</a:t>
                          </a:r>
                          <a:endParaRPr lang="zh-CN" altLang="en-US" sz="1600" dirty="0"/>
                        </a:p>
                      </a:txBody>
                      <a:tcPr/>
                    </a:tc>
                    <a:tc>
                      <a:txBody>
                        <a:bodyPr/>
                        <a:lstStyle/>
                        <a:p>
                          <a:r>
                            <a:rPr lang="en-US" altLang="zh-CN" sz="1600" dirty="0" smtClean="0"/>
                            <a:t>17.5</a:t>
                          </a:r>
                          <a:endParaRPr lang="zh-CN" altLang="en-US" sz="1600" dirty="0"/>
                        </a:p>
                      </a:txBody>
                      <a:tcPr/>
                    </a:tc>
                    <a:tc>
                      <a:txBody>
                        <a:bodyPr/>
                        <a:lstStyle/>
                        <a:p>
                          <a:r>
                            <a:rPr lang="en-US" altLang="zh-CN" sz="1600" dirty="0" smtClean="0"/>
                            <a:t>22.5</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1824428135"/>
                      </a:ext>
                    </a:extLst>
                  </a:tr>
                  <a:tr h="335280">
                    <a:tc vMerge="1">
                      <a:txBody>
                        <a:bodyPr/>
                        <a:lstStyle/>
                        <a:p>
                          <a:endParaRPr lang="zh-CN" altLang="en-US" sz="1600" dirty="0"/>
                        </a:p>
                      </a:txBody>
                      <a:tcPr/>
                    </a:tc>
                    <a:tc>
                      <a:txBody>
                        <a:bodyPr/>
                        <a:lstStyle/>
                        <a:p>
                          <a:r>
                            <a:rPr lang="en-US" altLang="zh-CN" sz="1600" dirty="0" smtClean="0"/>
                            <a:t>3</a:t>
                          </a:r>
                          <a:endParaRPr lang="zh-CN" altLang="en-US" sz="1600" dirty="0"/>
                        </a:p>
                      </a:txBody>
                      <a:tcPr/>
                    </a:tc>
                    <a:tc>
                      <a:txBody>
                        <a:bodyPr/>
                        <a:lstStyle/>
                        <a:p>
                          <a:r>
                            <a:rPr lang="en-US" altLang="zh-CN" sz="1600" dirty="0" smtClean="0"/>
                            <a:t>1</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3+3+0=6</a:t>
                          </a:r>
                          <a:endParaRPr lang="zh-CN" altLang="en-US" sz="1600" dirty="0"/>
                        </a:p>
                      </a:txBody>
                      <a:tcPr/>
                    </a:tc>
                    <a:tc>
                      <a:txBody>
                        <a:bodyPr/>
                        <a:lstStyle/>
                        <a:p>
                          <a:r>
                            <a:rPr lang="en-US" altLang="zh-CN" sz="1600" dirty="0" smtClean="0"/>
                            <a:t>16</a:t>
                          </a:r>
                          <a:endParaRPr lang="zh-CN" altLang="en-US" sz="1600" dirty="0"/>
                        </a:p>
                      </a:txBody>
                      <a:tcPr/>
                    </a:tc>
                    <a:tc>
                      <a:txBody>
                        <a:bodyPr/>
                        <a:lstStyle/>
                        <a:p>
                          <a:r>
                            <a:rPr lang="en-US" altLang="zh-CN" sz="1600" dirty="0" smtClean="0"/>
                            <a:t>22</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924871268"/>
                      </a:ext>
                    </a:extLst>
                  </a:tr>
                  <a:tr h="335280">
                    <a:tc vMerge="1">
                      <a:txBody>
                        <a:bodyPr/>
                        <a:lstStyle/>
                        <a:p>
                          <a:endParaRPr lang="zh-CN" altLang="en-US" sz="1600" dirty="0"/>
                        </a:p>
                      </a:txBody>
                      <a:tcPr/>
                    </a:tc>
                    <a:tc>
                      <a:txBody>
                        <a:bodyPr/>
                        <a:lstStyle/>
                        <a:p>
                          <a:r>
                            <a:rPr lang="en-US" altLang="zh-CN" sz="1600" dirty="0" smtClean="0"/>
                            <a:t>4</a:t>
                          </a:r>
                          <a:endParaRPr lang="zh-CN" altLang="en-US" sz="1600" dirty="0"/>
                        </a:p>
                      </a:txBody>
                      <a:tcPr/>
                    </a:tc>
                    <a:tc>
                      <a:txBody>
                        <a:bodyPr/>
                        <a:lstStyle/>
                        <a:p>
                          <a:r>
                            <a:rPr lang="en-US" altLang="zh-CN" sz="1600" dirty="0" smtClean="0"/>
                            <a:t>0</a:t>
                          </a:r>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3+4+0=7</a:t>
                          </a:r>
                          <a:endParaRPr lang="zh-CN" altLang="en-US" sz="1600" dirty="0" smtClean="0"/>
                        </a:p>
                      </a:txBody>
                      <a:tcPr/>
                    </a:tc>
                    <a:tc>
                      <a:txBody>
                        <a:bodyPr/>
                        <a:lstStyle/>
                        <a:p>
                          <a:r>
                            <a:rPr lang="en-US" altLang="zh-CN" sz="1600" dirty="0" smtClean="0"/>
                            <a:t>14</a:t>
                          </a:r>
                          <a:endParaRPr lang="zh-CN" altLang="en-US" sz="1600" dirty="0"/>
                        </a:p>
                      </a:txBody>
                      <a:tcPr/>
                    </a:tc>
                    <a:tc>
                      <a:txBody>
                        <a:bodyPr/>
                        <a:lstStyle/>
                        <a:p>
                          <a:r>
                            <a:rPr lang="en-US" altLang="zh-CN" sz="1600" dirty="0" smtClean="0"/>
                            <a:t>21</a:t>
                          </a:r>
                          <a:endParaRPr lang="zh-CN" altLang="en-US" sz="1600" dirty="0"/>
                        </a:p>
                      </a:txBody>
                      <a:tcPr/>
                    </a:tc>
                    <a:tc vMerge="1">
                      <a:txBody>
                        <a:bodyPr/>
                        <a:lstStyle/>
                        <a:p>
                          <a:endParaRPr lang="zh-CN" altLang="en-US" sz="1600" dirty="0"/>
                        </a:p>
                      </a:txBody>
                      <a:tcPr/>
                    </a:tc>
                    <a:tc vMerge="1">
                      <a:txBody>
                        <a:bodyPr/>
                        <a:lstStyle/>
                        <a:p>
                          <a:endParaRPr lang="zh-CN" altLang="en-US" sz="1600" dirty="0"/>
                        </a:p>
                      </a:txBody>
                      <a:tcPr/>
                    </a:tc>
                    <a:extLst>
                      <a:ext uri="{0D108BD9-81ED-4DB2-BD59-A6C34878D82A}">
                        <a16:rowId xmlns:a16="http://schemas.microsoft.com/office/drawing/2014/main" val="2209592248"/>
                      </a:ext>
                    </a:extLst>
                  </a:tr>
                </a:tbl>
              </a:graphicData>
            </a:graphic>
          </p:graphicFrame>
        </mc:Fallback>
      </mc:AlternateContent>
      <p:sp>
        <p:nvSpPr>
          <p:cNvPr id="20" name="矩形 19"/>
          <p:cNvSpPr/>
          <p:nvPr/>
        </p:nvSpPr>
        <p:spPr>
          <a:xfrm>
            <a:off x="7060068" y="3037535"/>
            <a:ext cx="899605" cy="363176"/>
          </a:xfrm>
          <a:prstGeom prst="rect">
            <a:avLst/>
          </a:prstGeom>
        </p:spPr>
        <p:txBody>
          <a:bodyPr wrap="none">
            <a:spAutoFit/>
          </a:bodyPr>
          <a:lstStyle/>
          <a:p>
            <a:pPr algn="just" eaLnBrk="1" hangingPunct="1">
              <a:lnSpc>
                <a:spcPct val="110000"/>
              </a:lnSpc>
            </a:pP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s</a:t>
            </a:r>
            <a:r>
              <a:rPr lang="en-US" altLang="zh-CN" sz="1600" i="1" baseline="-25000" dirty="0" smtClean="0">
                <a:latin typeface="Times New Roman" panose="02020603050405020304" pitchFamily="18" charset="0"/>
                <a:cs typeface="Times New Roman" panose="02020603050405020304" pitchFamily="18" charset="0"/>
              </a:rPr>
              <a:t>3 </a:t>
            </a:r>
            <a:r>
              <a:rPr lang="zh-CN" altLang="en-US"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4</a:t>
            </a:r>
            <a:endParaRPr lang="zh-CN" altLang="en-US" sz="1600" dirty="0">
              <a:latin typeface="Times New Roman" panose="02020603050405020304" pitchFamily="18" charset="0"/>
              <a:cs typeface="Courier New" panose="02070309020205020404" pitchFamily="49" charset="0"/>
            </a:endParaRPr>
          </a:p>
        </p:txBody>
      </p:sp>
      <p:sp>
        <p:nvSpPr>
          <p:cNvPr id="21" name="矩形 20"/>
          <p:cNvSpPr/>
          <p:nvPr/>
        </p:nvSpPr>
        <p:spPr>
          <a:xfrm>
            <a:off x="7215167" y="4844580"/>
            <a:ext cx="2165978" cy="707886"/>
          </a:xfrm>
          <a:prstGeom prst="rect">
            <a:avLst/>
          </a:prstGeom>
        </p:spPr>
        <p:txBody>
          <a:bodyPr wrap="none">
            <a:spAutoFit/>
          </a:bodyPr>
          <a:lstStyle/>
          <a:p>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3 </a:t>
            </a:r>
            <a:r>
              <a:rPr lang="en-US" altLang="zh-CN" b="1" dirty="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1</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 x</a:t>
            </a:r>
            <a:r>
              <a:rPr lang="en-US" altLang="zh-CN" b="1" i="1" baseline="-25000" dirty="0" smtClean="0">
                <a:latin typeface="Times New Roman" panose="02020603050405020304" pitchFamily="18" charset="0"/>
                <a:cs typeface="Times New Roman" panose="02020603050405020304" pitchFamily="18" charset="0"/>
              </a:rPr>
              <a:t>3 </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 d</a:t>
            </a:r>
            <a:r>
              <a:rPr lang="en-US" altLang="zh-CN" b="1" i="1" baseline="-25000" dirty="0" smtClean="0">
                <a:latin typeface="Times New Roman" panose="02020603050405020304" pitchFamily="18" charset="0"/>
                <a:cs typeface="Times New Roman" panose="02020603050405020304" pitchFamily="18" charset="0"/>
              </a:rPr>
              <a:t>3</a:t>
            </a:r>
            <a:r>
              <a:rPr lang="zh-CN" altLang="en-US" b="1" i="1" baseline="-25000"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sym typeface="Wingdings" panose="05000000000000000000" pitchFamily="2" charset="2"/>
              </a:rPr>
              <a:t>  </a:t>
            </a:r>
          </a:p>
          <a:p>
            <a:r>
              <a:rPr lang="en-US" altLang="zh-CN" b="1" i="1" dirty="0" smtClean="0">
                <a:latin typeface="Times New Roman" panose="02020603050405020304" pitchFamily="18" charset="0"/>
                <a:cs typeface="Times New Roman" panose="02020603050405020304" pitchFamily="18" charset="0"/>
              </a:rPr>
              <a:t>x</a:t>
            </a:r>
            <a:r>
              <a:rPr lang="en-US" altLang="zh-CN" b="1" i="1" baseline="-25000" dirty="0" smtClean="0">
                <a:latin typeface="Times New Roman" panose="02020603050405020304" pitchFamily="18" charset="0"/>
                <a:cs typeface="Times New Roman" panose="02020603050405020304" pitchFamily="18" charset="0"/>
              </a:rPr>
              <a:t>3</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3 </a:t>
            </a:r>
            <a:r>
              <a:rPr lang="en-US" altLang="zh-CN" b="1" dirty="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s</a:t>
            </a:r>
            <a:r>
              <a:rPr lang="en-US" altLang="zh-CN" b="1" i="1" baseline="-25000" dirty="0" smtClean="0">
                <a:latin typeface="Times New Roman" panose="02020603050405020304" pitchFamily="18" charset="0"/>
                <a:cs typeface="Times New Roman" panose="02020603050405020304" pitchFamily="18" charset="0"/>
              </a:rPr>
              <a:t>2</a:t>
            </a:r>
            <a:r>
              <a:rPr lang="en-US" altLang="zh-CN" b="1" i="1"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a:t>
            </a:r>
            <a:r>
              <a:rPr lang="en-US" altLang="zh-CN" b="1" i="1" baseline="-25000" dirty="0" smtClean="0">
                <a:latin typeface="Times New Roman" panose="02020603050405020304" pitchFamily="18" charset="0"/>
                <a:cs typeface="Times New Roman" panose="02020603050405020304" pitchFamily="18" charset="0"/>
              </a:rPr>
              <a:t> </a:t>
            </a:r>
            <a:r>
              <a:rPr lang="en-US" altLang="zh-CN" b="1" i="1" dirty="0" smtClean="0">
                <a:latin typeface="Times New Roman" panose="02020603050405020304" pitchFamily="18" charset="0"/>
                <a:cs typeface="Times New Roman" panose="02020603050405020304" pitchFamily="18" charset="0"/>
              </a:rPr>
              <a:t>d</a:t>
            </a:r>
            <a:r>
              <a:rPr lang="en-US" altLang="zh-CN" b="1" i="1" baseline="-25000" dirty="0" smtClean="0">
                <a:latin typeface="Times New Roman" panose="02020603050405020304" pitchFamily="18" charset="0"/>
                <a:cs typeface="Times New Roman" panose="02020603050405020304" pitchFamily="18" charset="0"/>
              </a:rPr>
              <a:t>3</a:t>
            </a:r>
            <a:endParaRPr lang="en-US"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898490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4" name="Rectangle 2"/>
          <p:cNvSpPr>
            <a:spLocks noGrp="1" noChangeArrowheads="1"/>
          </p:cNvSpPr>
          <p:nvPr>
            <p:ph type="title"/>
          </p:nvPr>
        </p:nvSpPr>
        <p:spPr/>
        <p:txBody>
          <a:bodyPr/>
          <a:lstStyle/>
          <a:p>
            <a:r>
              <a:rPr lang="en-US" altLang="zh-CN" dirty="0" smtClean="0"/>
              <a:t>8.4.2.2 </a:t>
            </a:r>
            <a:r>
              <a:rPr lang="zh-CN" altLang="en-US" dirty="0"/>
              <a:t>不确定性的采购问题 </a:t>
            </a:r>
          </a:p>
        </p:txBody>
      </p:sp>
      <p:sp>
        <p:nvSpPr>
          <p:cNvPr id="2" name="内容占位符 1"/>
          <p:cNvSpPr>
            <a:spLocks noGrp="1"/>
          </p:cNvSpPr>
          <p:nvPr>
            <p:ph idx="1"/>
          </p:nvPr>
        </p:nvSpPr>
        <p:spPr>
          <a:xfrm>
            <a:off x="539552" y="1337268"/>
            <a:ext cx="8280920" cy="5041380"/>
          </a:xfrm>
        </p:spPr>
        <p:txBody>
          <a:bodyPr/>
          <a:lstStyle/>
          <a:p>
            <a:r>
              <a:rPr lang="zh-CN" altLang="en-US" dirty="0" smtClean="0"/>
              <a:t>在</a:t>
            </a:r>
            <a:r>
              <a:rPr lang="zh-CN" altLang="en-US" dirty="0"/>
              <a:t>实际问题中，还会遇到某些多阶段决策过程，</a:t>
            </a:r>
            <a:r>
              <a:rPr lang="zh-CN" altLang="en-US" dirty="0">
                <a:solidFill>
                  <a:srgbClr val="FF0000"/>
                </a:solidFill>
              </a:rPr>
              <a:t>其状态转移不是完全确定的，出现了随机性因素</a:t>
            </a:r>
            <a:r>
              <a:rPr lang="zh-CN" altLang="en-US" dirty="0"/>
              <a:t>，状态转移是按照某种已知概率分布取值的</a:t>
            </a:r>
            <a:r>
              <a:rPr lang="zh-CN" altLang="en-US" dirty="0" smtClean="0"/>
              <a:t>。</a:t>
            </a:r>
            <a:endParaRPr lang="en-US" altLang="zh-CN" dirty="0" smtClean="0"/>
          </a:p>
          <a:p>
            <a:r>
              <a:rPr lang="zh-CN" altLang="en-US" dirty="0" smtClean="0"/>
              <a:t>具有</a:t>
            </a:r>
            <a:r>
              <a:rPr lang="zh-CN" altLang="en-US" dirty="0"/>
              <a:t>这种性质的多阶段决策过程称为</a:t>
            </a:r>
            <a:r>
              <a:rPr lang="zh-CN" altLang="en-US" dirty="0">
                <a:solidFill>
                  <a:srgbClr val="FF0000"/>
                </a:solidFill>
              </a:rPr>
              <a:t>随机性决策过程</a:t>
            </a:r>
            <a:r>
              <a:rPr lang="zh-CN" altLang="en-US" dirty="0"/>
              <a:t>。</a:t>
            </a:r>
          </a:p>
          <a:p>
            <a:r>
              <a:rPr lang="zh-CN" altLang="en-US" dirty="0" smtClean="0"/>
              <a:t>用</a:t>
            </a:r>
            <a:r>
              <a:rPr lang="zh-CN" altLang="en-US" dirty="0"/>
              <a:t>动态规划方法也可处理这类随机性问题，又称为随机性动态规划</a:t>
            </a:r>
            <a:r>
              <a:rPr lang="zh-CN" altLang="en-US" dirty="0" smtClean="0"/>
              <a:t>。</a:t>
            </a:r>
            <a:endParaRPr lang="en-US" altLang="zh-CN" dirty="0" smtClean="0"/>
          </a:p>
          <a:p>
            <a:endParaRPr lang="en-US" altLang="zh-CN" dirty="0"/>
          </a:p>
          <a:p>
            <a:endParaRPr lang="en-US" altLang="zh-CN" dirty="0" smtClean="0"/>
          </a:p>
          <a:p>
            <a:endParaRPr lang="en-US" altLang="zh-CN" dirty="0" smtClean="0"/>
          </a:p>
          <a:p>
            <a:endParaRPr lang="en-US" altLang="zh-CN" dirty="0" smtClean="0"/>
          </a:p>
          <a:p>
            <a:r>
              <a:rPr lang="zh-CN" altLang="en-US" dirty="0" smtClean="0"/>
              <a:t>由于下一阶段到达的状态和阶段的效益值不确定，只能根据</a:t>
            </a:r>
            <a:r>
              <a:rPr lang="zh-CN" altLang="en-US" dirty="0" smtClean="0">
                <a:solidFill>
                  <a:srgbClr val="FF0000"/>
                </a:solidFill>
              </a:rPr>
              <a:t>各阶段的期望收益值</a:t>
            </a:r>
            <a:r>
              <a:rPr lang="zh-CN" altLang="en-US" dirty="0" smtClean="0"/>
              <a:t>进行优化。</a:t>
            </a:r>
            <a:endParaRPr lang="zh-CN" altLang="en-US" dirty="0"/>
          </a:p>
        </p:txBody>
      </p:sp>
      <p:sp>
        <p:nvSpPr>
          <p:cNvPr id="11264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69363B81-AC79-4018-ACA8-322C2F62E498}" type="slidenum">
              <a:rPr lang="en-US" altLang="zh-CN" sz="1000"/>
              <a:pPr/>
              <a:t>62</a:t>
            </a:fld>
            <a:endParaRPr lang="en-US" altLang="zh-CN" sz="1000"/>
          </a:p>
        </p:txBody>
      </p:sp>
      <p:pic>
        <p:nvPicPr>
          <p:cNvPr id="3" name="图片 2"/>
          <p:cNvPicPr>
            <a:picLocks noChangeAspect="1"/>
          </p:cNvPicPr>
          <p:nvPr/>
        </p:nvPicPr>
        <p:blipFill>
          <a:blip r:embed="rId2"/>
          <a:stretch>
            <a:fillRect/>
          </a:stretch>
        </p:blipFill>
        <p:spPr>
          <a:xfrm>
            <a:off x="2987824" y="3429000"/>
            <a:ext cx="4895850" cy="2095500"/>
          </a:xfrm>
          <a:prstGeom prst="rect">
            <a:avLst/>
          </a:prstGeom>
        </p:spPr>
      </p:pic>
    </p:spTree>
  </p:cSld>
  <p:clrMapOvr>
    <a:masterClrMapping/>
  </p:clrMapOvr>
  <p:transition spd="slow"/>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4" name="Rectangle 2"/>
          <p:cNvSpPr>
            <a:spLocks noGrp="1" noChangeArrowheads="1"/>
          </p:cNvSpPr>
          <p:nvPr>
            <p:ph type="title"/>
          </p:nvPr>
        </p:nvSpPr>
        <p:spPr/>
        <p:txBody>
          <a:bodyPr/>
          <a:lstStyle/>
          <a:p>
            <a:r>
              <a:rPr lang="en-US" altLang="zh-CN" dirty="0" smtClean="0"/>
              <a:t>8.4.2.2 </a:t>
            </a:r>
            <a:r>
              <a:rPr lang="zh-CN" altLang="en-US" dirty="0"/>
              <a:t>不确定性的采购问题 </a:t>
            </a:r>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539552" y="1337268"/>
                <a:ext cx="8601744" cy="4197688"/>
              </a:xfrm>
            </p:spPr>
            <p:txBody>
              <a:bodyPr/>
              <a:lstStyle/>
              <a:p>
                <a:r>
                  <a:rPr lang="zh-CN" altLang="en-US" dirty="0" smtClean="0"/>
                  <a:t>由于下一阶段到达的状态和阶段的效益值不确定，只能根据</a:t>
                </a:r>
                <a:r>
                  <a:rPr lang="zh-CN" altLang="en-US" dirty="0" smtClean="0">
                    <a:solidFill>
                      <a:srgbClr val="FF0000"/>
                    </a:solidFill>
                  </a:rPr>
                  <a:t>各阶段的期望收益值</a:t>
                </a:r>
                <a:r>
                  <a:rPr lang="zh-CN" altLang="en-US" dirty="0" smtClean="0"/>
                  <a:t>进行优化。</a:t>
                </a:r>
                <a:endParaRPr lang="en-US" altLang="zh-CN" dirty="0" smtClean="0"/>
              </a:p>
              <a:p>
                <a:r>
                  <a:rPr lang="zh-CN" altLang="en-US" dirty="0" smtClean="0"/>
                  <a:t>基本方程</a:t>
                </a:r>
                <a:endParaRPr lang="en-US" altLang="zh-CN" dirty="0" smtClean="0"/>
              </a:p>
              <a:p>
                <a:pPr marL="0" indent="1346200">
                  <a:buNone/>
                </a:pPr>
                <a:r>
                  <a:rPr lang="en-US" altLang="zh-CN" b="0" dirty="0" smtClean="0"/>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limLow>
                          <m:limLowPr>
                            <m:ctrlPr>
                              <a:rPr lang="en-US" altLang="zh-CN" b="0" i="1" smtClean="0">
                                <a:latin typeface="Cambria Math" panose="02040503050406030204" pitchFamily="18" charset="0"/>
                              </a:rPr>
                            </m:ctrlPr>
                          </m:limLowPr>
                          <m:e>
                            <m:r>
                              <m:rPr>
                                <m:sty m:val="p"/>
                              </m:rPr>
                              <a:rPr lang="en-US" altLang="zh-CN" b="0" i="0" smtClean="0">
                                <a:latin typeface="Cambria Math" panose="02040503050406030204" pitchFamily="18" charset="0"/>
                              </a:rPr>
                              <m:t>max</m:t>
                            </m:r>
                          </m:e>
                          <m:li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𝐷</m:t>
                                </m:r>
                              </m:e>
                              <m:sub>
                                <m:r>
                                  <a:rPr lang="en-US" altLang="zh-CN" b="0" i="1" smtClean="0">
                                    <a:latin typeface="Cambria Math" panose="02040503050406030204" pitchFamily="18" charset="0"/>
                                    <a:ea typeface="Cambria Math" panose="02040503050406030204" pitchFamily="18" charset="0"/>
                                  </a:rPr>
                                  <m:t>𝑘</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𝑠</m:t>
                                </m:r>
                              </m:e>
                              <m:sub>
                                <m:r>
                                  <a:rPr lang="en-US" altLang="zh-CN" b="0" i="1" smtClean="0">
                                    <a:latin typeface="Cambria Math" panose="02040503050406030204" pitchFamily="18" charset="0"/>
                                    <a:ea typeface="Cambria Math" panose="02040503050406030204" pitchFamily="18" charset="0"/>
                                  </a:rPr>
                                  <m:t>𝑘</m:t>
                                </m:r>
                              </m:sub>
                            </m:sSub>
                            <m:r>
                              <a:rPr lang="en-US" altLang="zh-CN" b="0" i="1" smtClean="0">
                                <a:latin typeface="Cambria Math" panose="02040503050406030204" pitchFamily="18" charset="0"/>
                                <a:ea typeface="Cambria Math" panose="02040503050406030204" pitchFamily="18" charset="0"/>
                              </a:rPr>
                              <m:t>)</m:t>
                            </m:r>
                          </m:lim>
                        </m:limLow>
                      </m:fName>
                      <m:e>
                        <m:r>
                          <a:rPr lang="en-US" altLang="zh-CN" b="0" i="1" smtClean="0">
                            <a:latin typeface="Cambria Math" panose="02040503050406030204" pitchFamily="18" charset="0"/>
                          </a:rPr>
                          <m:t>𝐸</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𝑘</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𝑘</m:t>
                                </m:r>
                              </m:sub>
                            </m:sSub>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e>
                    </m:func>
                  </m:oMath>
                </a14:m>
                <a:endParaRPr lang="en-US" altLang="zh-CN" b="0" dirty="0" smtClean="0"/>
              </a:p>
              <a:p>
                <a:pPr marL="0" indent="1346200">
                  <a:buNone/>
                </a:pPr>
                <a:r>
                  <a:rPr lang="en-US" altLang="zh-CN" b="0" dirty="0" smtClean="0"/>
                  <a:t> </a:t>
                </a:r>
                <a14:m>
                  <m:oMath xmlns:m="http://schemas.openxmlformats.org/officeDocument/2006/math">
                    <m:sSub>
                      <m:sSubPr>
                        <m:ctrlPr>
                          <a:rPr lang="en-US" altLang="zh-CN" b="0" i="1">
                            <a:latin typeface="Cambria Math" panose="02040503050406030204" pitchFamily="18" charset="0"/>
                          </a:rPr>
                        </m:ctrlPr>
                      </m:sSubPr>
                      <m:e>
                        <m:r>
                          <a:rPr lang="en-US" altLang="zh-CN" b="0" i="1">
                            <a:latin typeface="Cambria Math" panose="02040503050406030204" pitchFamily="18" charset="0"/>
                          </a:rPr>
                          <m:t>𝑓</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d>
                      <m:dPr>
                        <m:ctrlPr>
                          <a:rPr lang="en-US" altLang="zh-CN" b="0" i="1">
                            <a:latin typeface="Cambria Math" panose="02040503050406030204" pitchFamily="18" charset="0"/>
                          </a:rPr>
                        </m:ctrlPr>
                      </m:dPr>
                      <m:e>
                        <m:sSub>
                          <m:sSubPr>
                            <m:ctrlPr>
                              <a:rPr lang="en-US" altLang="zh-CN" b="0" i="1">
                                <a:latin typeface="Cambria Math" panose="02040503050406030204" pitchFamily="18" charset="0"/>
                              </a:rPr>
                            </m:ctrlPr>
                          </m:sSubPr>
                          <m:e>
                            <m:r>
                              <a:rPr lang="en-US" altLang="zh-CN" b="0" i="1">
                                <a:latin typeface="Cambria Math" panose="02040503050406030204" pitchFamily="18" charset="0"/>
                              </a:rPr>
                              <m:t>𝑠</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e>
                    </m:d>
                    <m:r>
                      <a:rPr lang="zh-CN" altLang="en-US" b="0" i="1" smtClean="0">
                        <a:latin typeface="Cambria Math" panose="02040503050406030204" pitchFamily="18" charset="0"/>
                      </a:rPr>
                      <m:t>值</m:t>
                    </m:r>
                    <m:r>
                      <a:rPr lang="zh-CN" altLang="en-US" b="0" i="1">
                        <a:latin typeface="Cambria Math" panose="02040503050406030204" pitchFamily="18" charset="0"/>
                      </a:rPr>
                      <m:t>根据</m:t>
                    </m:r>
                    <m:r>
                      <a:rPr lang="zh-CN" altLang="en-US" b="0" i="1" smtClean="0">
                        <a:latin typeface="Cambria Math" panose="02040503050406030204" pitchFamily="18" charset="0"/>
                      </a:rPr>
                      <m:t>问题的</m:t>
                    </m:r>
                    <m:r>
                      <a:rPr lang="zh-CN" altLang="en-US" b="0" i="1">
                        <a:latin typeface="Cambria Math" panose="02040503050406030204" pitchFamily="18" charset="0"/>
                      </a:rPr>
                      <m:t>具体</m:t>
                    </m:r>
                    <m:r>
                      <a:rPr lang="zh-CN" altLang="en-US" b="0" i="1" smtClean="0">
                        <a:latin typeface="Cambria Math" panose="02040503050406030204" pitchFamily="18" charset="0"/>
                      </a:rPr>
                      <m:t>情况</m:t>
                    </m:r>
                    <m:r>
                      <a:rPr lang="zh-CN" altLang="en-US" b="0" i="1">
                        <a:latin typeface="Cambria Math" panose="02040503050406030204" pitchFamily="18" charset="0"/>
                      </a:rPr>
                      <m:t>确定</m:t>
                    </m:r>
                  </m:oMath>
                </a14:m>
                <a:endParaRPr lang="en-US" altLang="zh-CN" b="0" dirty="0" smtClean="0"/>
              </a:p>
              <a:p>
                <a:r>
                  <a:rPr lang="zh-CN" altLang="en-US" sz="2300" dirty="0" smtClean="0">
                    <a:cs typeface="Times New Roman" panose="02020603050405020304" pitchFamily="18" charset="0"/>
                  </a:rPr>
                  <a:t>例</a:t>
                </a:r>
                <a:r>
                  <a:rPr lang="en-US" altLang="zh-CN" sz="2300" dirty="0">
                    <a:cs typeface="Times New Roman" panose="02020603050405020304" pitchFamily="18" charset="0"/>
                  </a:rPr>
                  <a:t>8-6</a:t>
                </a:r>
                <a:r>
                  <a:rPr lang="zh-CN" altLang="en-US" sz="2300" dirty="0">
                    <a:cs typeface="Times New Roman" panose="02020603050405020304" pitchFamily="18" charset="0"/>
                  </a:rPr>
                  <a:t>：采购问题。某厂生产上需要在近五周内</a:t>
                </a:r>
                <a:r>
                  <a:rPr lang="zh-CN" altLang="en-US" sz="2300" dirty="0">
                    <a:solidFill>
                      <a:srgbClr val="FF0000"/>
                    </a:solidFill>
                    <a:cs typeface="Times New Roman" panose="02020603050405020304" pitchFamily="18" charset="0"/>
                  </a:rPr>
                  <a:t>必须</a:t>
                </a:r>
                <a:r>
                  <a:rPr lang="zh-CN" altLang="en-US" sz="2300" dirty="0">
                    <a:cs typeface="Times New Roman" panose="02020603050405020304" pitchFamily="18" charset="0"/>
                  </a:rPr>
                  <a:t>采购一批原料，而估计在未来五周内价格有波动，其浮动价格和概率已测得如表</a:t>
                </a:r>
                <a:r>
                  <a:rPr lang="en-US" altLang="zh-CN" sz="2300" dirty="0">
                    <a:cs typeface="Times New Roman" panose="02020603050405020304" pitchFamily="18" charset="0"/>
                  </a:rPr>
                  <a:t>8-8</a:t>
                </a:r>
                <a:r>
                  <a:rPr lang="zh-CN" altLang="en-US" sz="2300" dirty="0">
                    <a:cs typeface="Times New Roman" panose="02020603050405020304" pitchFamily="18" charset="0"/>
                  </a:rPr>
                  <a:t>所示。试求在哪一周以什么价格购入，使其采购价格的数学期望值最小，并求出期望值。</a:t>
                </a:r>
                <a:endParaRPr lang="zh-CN" altLang="en-US" sz="2300" dirty="0"/>
              </a:p>
              <a:p>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539552" y="1337268"/>
                <a:ext cx="8601744" cy="4197688"/>
              </a:xfrm>
              <a:blipFill>
                <a:blip r:embed="rId2"/>
                <a:stretch>
                  <a:fillRect l="-354" t="-1161" r="-850"/>
                </a:stretch>
              </a:blipFill>
            </p:spPr>
            <p:txBody>
              <a:bodyPr/>
              <a:lstStyle/>
              <a:p>
                <a:r>
                  <a:rPr lang="zh-CN" altLang="en-US">
                    <a:noFill/>
                  </a:rPr>
                  <a:t> </a:t>
                </a:r>
              </a:p>
            </p:txBody>
          </p:sp>
        </mc:Fallback>
      </mc:AlternateContent>
      <p:sp>
        <p:nvSpPr>
          <p:cNvPr id="11264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69363B81-AC79-4018-ACA8-322C2F62E498}" type="slidenum">
              <a:rPr lang="en-US" altLang="zh-CN" sz="1000"/>
              <a:pPr/>
              <a:t>63</a:t>
            </a:fld>
            <a:endParaRPr lang="en-US" altLang="zh-CN" sz="1000"/>
          </a:p>
        </p:txBody>
      </p:sp>
      <p:graphicFrame>
        <p:nvGraphicFramePr>
          <p:cNvPr id="6" name="Group 57"/>
          <p:cNvGraphicFramePr>
            <a:graphicFrameLocks noGrp="1"/>
          </p:cNvGraphicFramePr>
          <p:nvPr>
            <p:extLst>
              <p:ext uri="{D42A27DB-BD31-4B8C-83A1-F6EECF244321}">
                <p14:modId xmlns:p14="http://schemas.microsoft.com/office/powerpoint/2010/main" val="1084311628"/>
              </p:ext>
            </p:extLst>
          </p:nvPr>
        </p:nvGraphicFramePr>
        <p:xfrm>
          <a:off x="6156176" y="4940528"/>
          <a:ext cx="2817912" cy="1584816"/>
        </p:xfrm>
        <a:graphic>
          <a:graphicData uri="http://schemas.openxmlformats.org/drawingml/2006/table">
            <a:tbl>
              <a:tblPr/>
              <a:tblGrid>
                <a:gridCol w="1408956">
                  <a:extLst>
                    <a:ext uri="{9D8B030D-6E8A-4147-A177-3AD203B41FA5}">
                      <a16:colId xmlns:a16="http://schemas.microsoft.com/office/drawing/2014/main" val="20000"/>
                    </a:ext>
                  </a:extLst>
                </a:gridCol>
                <a:gridCol w="1408956">
                  <a:extLst>
                    <a:ext uri="{9D8B030D-6E8A-4147-A177-3AD203B41FA5}">
                      <a16:colId xmlns:a16="http://schemas.microsoft.com/office/drawing/2014/main" val="20001"/>
                    </a:ext>
                  </a:extLst>
                </a:gridCol>
              </a:tblGrid>
              <a:tr h="396081">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单价</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概率</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500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081">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600</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081">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700</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0.4</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 name="Rectangle 56"/>
          <p:cNvSpPr>
            <a:spLocks noChangeArrowheads="1"/>
          </p:cNvSpPr>
          <p:nvPr/>
        </p:nvSpPr>
        <p:spPr bwMode="auto">
          <a:xfrm>
            <a:off x="5351313" y="5817330"/>
            <a:ext cx="804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47675" indent="-447675">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dirty="0" smtClean="0"/>
              <a:t>表</a:t>
            </a:r>
            <a:r>
              <a:rPr lang="en-US" altLang="zh-CN" dirty="0" smtClean="0"/>
              <a:t>8-8</a:t>
            </a:r>
            <a:endParaRPr lang="en-US" altLang="zh-CN" dirty="0"/>
          </a:p>
        </p:txBody>
      </p:sp>
    </p:spTree>
    <p:extLst>
      <p:ext uri="{BB962C8B-B14F-4D97-AF65-F5344CB8AC3E}">
        <p14:creationId xmlns:p14="http://schemas.microsoft.com/office/powerpoint/2010/main" val="3328447266"/>
      </p:ext>
    </p:extLst>
  </p:cSld>
  <p:clrMapOvr>
    <a:masterClrMapping/>
  </p:clrMapOvr>
  <p:transition spd="slow"/>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Rectangle 2"/>
          <p:cNvSpPr>
            <a:spLocks noGrp="1" noChangeArrowheads="1"/>
          </p:cNvSpPr>
          <p:nvPr>
            <p:ph type="title"/>
          </p:nvPr>
        </p:nvSpPr>
        <p:spPr/>
        <p:txBody>
          <a:bodyPr/>
          <a:lstStyle/>
          <a:p>
            <a:r>
              <a:rPr lang="en-US" altLang="zh-CN" dirty="0" smtClean="0"/>
              <a:t>8.4.2.2 </a:t>
            </a:r>
            <a:r>
              <a:rPr lang="zh-CN" altLang="en-US" dirty="0"/>
              <a:t>不确定性的采购问题 </a:t>
            </a:r>
          </a:p>
        </p:txBody>
      </p:sp>
      <p:sp>
        <p:nvSpPr>
          <p:cNvPr id="2" name="内容占位符 1"/>
          <p:cNvSpPr>
            <a:spLocks noGrp="1"/>
          </p:cNvSpPr>
          <p:nvPr>
            <p:ph idx="1"/>
          </p:nvPr>
        </p:nvSpPr>
        <p:spPr>
          <a:xfrm>
            <a:off x="539552" y="1337268"/>
            <a:ext cx="8280920" cy="461665"/>
          </a:xfrm>
        </p:spPr>
        <p:txBody>
          <a:bodyPr/>
          <a:lstStyle/>
          <a:p>
            <a:r>
              <a:rPr lang="zh-CN" altLang="en-US" dirty="0">
                <a:cs typeface="Times New Roman" panose="02020603050405020304" pitchFamily="18" charset="0"/>
              </a:rPr>
              <a:t>例</a:t>
            </a:r>
            <a:r>
              <a:rPr lang="en-US" altLang="zh-CN" dirty="0">
                <a:cs typeface="Times New Roman" panose="02020603050405020304" pitchFamily="18" charset="0"/>
              </a:rPr>
              <a:t>8-6</a:t>
            </a:r>
            <a:r>
              <a:rPr lang="zh-CN" altLang="en-US" dirty="0">
                <a:cs typeface="Times New Roman" panose="02020603050405020304" pitchFamily="18" charset="0"/>
              </a:rPr>
              <a:t>：采购问题</a:t>
            </a:r>
            <a:endParaRPr lang="zh-CN" altLang="en-US" dirty="0"/>
          </a:p>
        </p:txBody>
      </p:sp>
      <p:sp>
        <p:nvSpPr>
          <p:cNvPr id="11469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9B1B8CE8-AE18-4A75-8292-4FF474E0A528}" type="slidenum">
              <a:rPr lang="en-US" altLang="zh-CN" sz="1000"/>
              <a:pPr/>
              <a:t>64</a:t>
            </a:fld>
            <a:endParaRPr lang="en-US" altLang="zh-CN" sz="1000"/>
          </a:p>
        </p:txBody>
      </p:sp>
      <p:graphicFrame>
        <p:nvGraphicFramePr>
          <p:cNvPr id="19" name="Group 57"/>
          <p:cNvGraphicFramePr>
            <a:graphicFrameLocks noGrp="1"/>
          </p:cNvGraphicFramePr>
          <p:nvPr>
            <p:extLst/>
          </p:nvPr>
        </p:nvGraphicFramePr>
        <p:xfrm>
          <a:off x="6186108" y="-10716"/>
          <a:ext cx="2938660" cy="1462896"/>
        </p:xfrm>
        <a:graphic>
          <a:graphicData uri="http://schemas.openxmlformats.org/drawingml/2006/table">
            <a:tbl>
              <a:tblPr/>
              <a:tblGrid>
                <a:gridCol w="1469330">
                  <a:extLst>
                    <a:ext uri="{9D8B030D-6E8A-4147-A177-3AD203B41FA5}">
                      <a16:colId xmlns:a16="http://schemas.microsoft.com/office/drawing/2014/main" val="20000"/>
                    </a:ext>
                  </a:extLst>
                </a:gridCol>
                <a:gridCol w="1469330">
                  <a:extLst>
                    <a:ext uri="{9D8B030D-6E8A-4147-A177-3AD203B41FA5}">
                      <a16:colId xmlns:a16="http://schemas.microsoft.com/office/drawing/2014/main" val="20001"/>
                    </a:ext>
                  </a:extLst>
                </a:gridCol>
              </a:tblGrid>
              <a:tr h="250538">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单价</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概率</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0538">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500</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0.3</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0538">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600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0.3</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0538">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700</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0.4</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7" name="Rectangle 20"/>
              <p:cNvSpPr>
                <a:spLocks noChangeArrowheads="1"/>
              </p:cNvSpPr>
              <p:nvPr/>
            </p:nvSpPr>
            <p:spPr bwMode="auto">
              <a:xfrm>
                <a:off x="755576" y="1883184"/>
                <a:ext cx="8064896" cy="4768228"/>
              </a:xfrm>
              <a:prstGeom prst="rect">
                <a:avLst/>
              </a:prstGeom>
              <a:noFill/>
              <a:ln>
                <a:noFill/>
              </a:ln>
              <a:effectLst/>
              <a:extLst>
                <a:ext uri="{909E8E84-426E-40DD-AFC4-6F175D3DCCD1}">
                  <a14:hiddenFill>
                    <a:solidFill>
                      <a:schemeClr val="accent1"/>
                    </a:solidFill>
                  </a14:hiddenFill>
                </a:ext>
                <a:ext uri="{91240B29-F687-4F45-9708-019B960494DF}">
                  <a14:hiddenLine w="9525" algn="ctr">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r>
                  <a:rPr lang="zh-CN" altLang="en-US" b="1" dirty="0" smtClean="0">
                    <a:cs typeface="Times New Roman" panose="02020603050405020304" pitchFamily="18" charset="0"/>
                  </a:rPr>
                  <a:t>解： 价格是随机变量，按某种已知的概率分布取值。</a:t>
                </a:r>
                <a:r>
                  <a:rPr lang="zh-CN" altLang="en-US" b="1" dirty="0" smtClean="0">
                    <a:latin typeface="Times New Roman" panose="02020603050405020304" pitchFamily="18" charset="0"/>
                    <a:cs typeface="Times New Roman" panose="02020603050405020304" pitchFamily="18" charset="0"/>
                  </a:rPr>
                  <a:t>用动态规划方法来求解，</a:t>
                </a:r>
                <a:r>
                  <a:rPr lang="zh-CN" altLang="en-US" b="1" dirty="0" smtClean="0">
                    <a:cs typeface="Times New Roman" panose="02020603050405020304" pitchFamily="18" charset="0"/>
                  </a:rPr>
                  <a:t>按</a:t>
                </a:r>
                <a:r>
                  <a:rPr lang="zh-CN" altLang="en-US" b="1" dirty="0">
                    <a:cs typeface="Times New Roman" panose="02020603050405020304" pitchFamily="18" charset="0"/>
                  </a:rPr>
                  <a:t>采购期限</a:t>
                </a:r>
                <a:r>
                  <a:rPr lang="en-US" altLang="zh-CN" b="1" dirty="0">
                    <a:cs typeface="Times New Roman" panose="02020603050405020304" pitchFamily="18" charset="0"/>
                  </a:rPr>
                  <a:t>5</a:t>
                </a:r>
                <a:r>
                  <a:rPr lang="zh-CN" altLang="en-US" b="1" dirty="0">
                    <a:cs typeface="Times New Roman" panose="02020603050405020304" pitchFamily="18" charset="0"/>
                  </a:rPr>
                  <a:t>周分为</a:t>
                </a:r>
                <a:r>
                  <a:rPr lang="en-US" altLang="zh-CN" b="1" dirty="0">
                    <a:cs typeface="Times New Roman" panose="02020603050405020304" pitchFamily="18" charset="0"/>
                  </a:rPr>
                  <a:t>5</a:t>
                </a:r>
                <a:r>
                  <a:rPr lang="zh-CN" altLang="en-US" b="1" dirty="0">
                    <a:cs typeface="Times New Roman" panose="02020603050405020304" pitchFamily="18" charset="0"/>
                  </a:rPr>
                  <a:t>个阶段，将每周的价格看作该阶段的状态。</a:t>
                </a:r>
                <a:endParaRPr lang="en-US" altLang="zh-CN" b="1" dirty="0">
                  <a:latin typeface="Times New Roman" panose="02020603050405020304" pitchFamily="18" charset="0"/>
                  <a:cs typeface="Times New Roman" panose="02020603050405020304" pitchFamily="18" charset="0"/>
                </a:endParaRPr>
              </a:p>
              <a:p>
                <a:r>
                  <a:rPr lang="en-US" altLang="zh-CN" b="1" dirty="0" smtClean="0">
                    <a:latin typeface="Times New Roman" panose="02020603050405020304" pitchFamily="18" charset="0"/>
                    <a:cs typeface="Times New Roman" panose="02020603050405020304" pitchFamily="18" charset="0"/>
                  </a:rPr>
                  <a:t>(1)</a:t>
                </a:r>
                <a:r>
                  <a:rPr lang="zh-CN" altLang="en-US" b="1" dirty="0" smtClean="0">
                    <a:latin typeface="Times New Roman" panose="02020603050405020304" pitchFamily="18" charset="0"/>
                    <a:cs typeface="Times New Roman" panose="02020603050405020304" pitchFamily="18" charset="0"/>
                  </a:rPr>
                  <a:t>状态变量</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：第</a:t>
                </a:r>
                <a:r>
                  <a:rPr lang="en-US" altLang="zh-CN" b="1" i="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周的实际</a:t>
                </a:r>
                <a:r>
                  <a:rPr lang="zh-CN" altLang="en-US" b="1" dirty="0" smtClean="0">
                    <a:latin typeface="Times New Roman" panose="02020603050405020304" pitchFamily="18" charset="0"/>
                    <a:cs typeface="Times New Roman" panose="02020603050405020304" pitchFamily="18" charset="0"/>
                  </a:rPr>
                  <a:t>价格</a:t>
                </a:r>
                <a:r>
                  <a:rPr lang="en-US" altLang="zh-CN" b="1" dirty="0" smtClean="0">
                    <a:latin typeface="Times New Roman" panose="02020603050405020304" pitchFamily="18" charset="0"/>
                    <a:cs typeface="Times New Roman" panose="02020603050405020304" pitchFamily="18" charset="0"/>
                  </a:rPr>
                  <a:t>,</a:t>
                </a:r>
                <a:r>
                  <a:rPr lang="en-US" altLang="zh-CN" b="1" dirty="0"/>
                  <a:t> </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𝒔</m:t>
                        </m:r>
                      </m:e>
                      <m:sub>
                        <m:r>
                          <a:rPr lang="en-US" altLang="zh-CN" b="1" i="1">
                            <a:latin typeface="Cambria Math" panose="02040503050406030204" pitchFamily="18" charset="0"/>
                          </a:rPr>
                          <m:t>𝒌</m:t>
                        </m:r>
                      </m:sub>
                    </m:sSub>
                    <m:r>
                      <a:rPr lang="en-US" altLang="zh-CN" b="1" i="1">
                        <a:latin typeface="Cambria Math" panose="02040503050406030204" pitchFamily="18" charset="0"/>
                        <a:ea typeface="Cambria Math" panose="02040503050406030204" pitchFamily="18" charset="0"/>
                      </a:rPr>
                      <m:t>∈</m:t>
                    </m:r>
                    <m:sSub>
                      <m:sSubPr>
                        <m:ctrlPr>
                          <a:rPr lang="en-US" altLang="zh-CN" b="1"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𝑺</m:t>
                        </m:r>
                      </m:e>
                      <m:sub>
                        <m:r>
                          <a:rPr lang="en-US" altLang="zh-CN" b="1" i="1">
                            <a:latin typeface="Cambria Math" panose="02040503050406030204" pitchFamily="18" charset="0"/>
                            <a:ea typeface="Cambria Math" panose="02040503050406030204" pitchFamily="18" charset="0"/>
                          </a:rPr>
                          <m:t>𝒌</m:t>
                        </m:r>
                      </m:sub>
                    </m:sSub>
                  </m:oMath>
                </a14:m>
                <a:r>
                  <a:rPr lang="en-US" altLang="zh-CN" b="1" dirty="0" smtClean="0">
                    <a:latin typeface="Times New Roman" panose="02020603050405020304" pitchFamily="18" charset="0"/>
                    <a:cs typeface="Times New Roman" panose="02020603050405020304" pitchFamily="18" charset="0"/>
                  </a:rPr>
                  <a:t>,</a:t>
                </a:r>
                <a:r>
                  <a:rPr lang="en-US" altLang="zh-CN" b="1" dirty="0"/>
                  <a:t> </a:t>
                </a:r>
                <a14:m>
                  <m:oMath xmlns:m="http://schemas.openxmlformats.org/officeDocument/2006/math">
                    <m:sSub>
                      <m:sSubPr>
                        <m:ctrlPr>
                          <a:rPr lang="en-US" altLang="zh-CN" b="1"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𝑺</m:t>
                        </m:r>
                      </m:e>
                      <m:sub>
                        <m:r>
                          <a:rPr lang="en-US" altLang="zh-CN" b="1" i="1">
                            <a:latin typeface="Cambria Math" panose="02040503050406030204" pitchFamily="18" charset="0"/>
                            <a:ea typeface="Cambria Math" panose="02040503050406030204" pitchFamily="18" charset="0"/>
                          </a:rPr>
                          <m:t>𝒌</m:t>
                        </m:r>
                      </m:sub>
                    </m:sSub>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𝟓𝟎𝟎</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𝟔𝟎𝟎</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𝟕𝟎𝟎</m:t>
                    </m:r>
                    <m:r>
                      <a:rPr lang="en-US" altLang="zh-CN" b="1" i="1" smtClean="0">
                        <a:latin typeface="Cambria Math" panose="02040503050406030204" pitchFamily="18" charset="0"/>
                        <a:ea typeface="Cambria Math" panose="02040503050406030204" pitchFamily="18" charset="0"/>
                      </a:rPr>
                      <m:t>}</m:t>
                    </m:r>
                  </m:oMath>
                </a14:m>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b="1" dirty="0" smtClean="0">
                    <a:latin typeface="Times New Roman" panose="02020603050405020304" pitchFamily="18" charset="0"/>
                    <a:cs typeface="Times New Roman" panose="02020603050405020304" pitchFamily="18" charset="0"/>
                  </a:rPr>
                  <a:t>(2)</a:t>
                </a:r>
                <a:r>
                  <a:rPr lang="zh-CN" altLang="en-US" b="1" dirty="0" smtClean="0">
                    <a:latin typeface="Times New Roman" panose="02020603050405020304" pitchFamily="18" charset="0"/>
                    <a:cs typeface="Times New Roman" panose="02020603050405020304" pitchFamily="18" charset="0"/>
                  </a:rPr>
                  <a:t>决策变量</a:t>
                </a:r>
                <a:r>
                  <a:rPr lang="en-US" altLang="zh-CN" b="1" i="1" dirty="0" err="1" smtClean="0">
                    <a:latin typeface="Times New Roman" panose="02020603050405020304" pitchFamily="18" charset="0"/>
                    <a:cs typeface="Times New Roman" panose="02020603050405020304" pitchFamily="18" charset="0"/>
                  </a:rPr>
                  <a:t>x</a:t>
                </a:r>
                <a:r>
                  <a:rPr lang="en-US" altLang="zh-CN" b="1" i="1" baseline="-25000" dirty="0" err="1" smtClean="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：第</a:t>
                </a:r>
                <a:r>
                  <a:rPr lang="en-US" altLang="zh-CN" b="1" i="1" dirty="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周采购决策，</a:t>
                </a:r>
                <a:r>
                  <a:rPr lang="en-US" altLang="zh-CN" b="1" i="1" dirty="0" err="1" smtClean="0">
                    <a:latin typeface="Times New Roman" panose="02020603050405020304" pitchFamily="18" charset="0"/>
                    <a:cs typeface="Times New Roman" panose="02020603050405020304" pitchFamily="18" charset="0"/>
                  </a:rPr>
                  <a:t>x</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=1</a:t>
                </a:r>
                <a:r>
                  <a:rPr lang="zh-CN" altLang="en-US" b="1" dirty="0" smtClean="0">
                    <a:latin typeface="Times New Roman" panose="02020603050405020304" pitchFamily="18" charset="0"/>
                    <a:cs typeface="Times New Roman" panose="02020603050405020304" pitchFamily="18" charset="0"/>
                  </a:rPr>
                  <a:t>时决定</a:t>
                </a:r>
                <a:r>
                  <a:rPr lang="zh-CN" altLang="en-US" b="1" dirty="0">
                    <a:latin typeface="Times New Roman" panose="02020603050405020304" pitchFamily="18" charset="0"/>
                    <a:cs typeface="Times New Roman" panose="02020603050405020304" pitchFamily="18" charset="0"/>
                  </a:rPr>
                  <a:t>采购；</a:t>
                </a:r>
                <a:r>
                  <a:rPr lang="en-US" altLang="zh-CN" b="1" i="1" dirty="0" err="1">
                    <a:latin typeface="Times New Roman" panose="02020603050405020304" pitchFamily="18" charset="0"/>
                    <a:cs typeface="Times New Roman" panose="02020603050405020304" pitchFamily="18" charset="0"/>
                  </a:rPr>
                  <a:t>x</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=0</a:t>
                </a:r>
                <a:r>
                  <a:rPr lang="zh-CN" altLang="en-US" b="1" dirty="0" smtClean="0">
                    <a:latin typeface="Times New Roman" panose="02020603050405020304" pitchFamily="18" charset="0"/>
                    <a:cs typeface="Times New Roman" panose="02020603050405020304" pitchFamily="18" charset="0"/>
                  </a:rPr>
                  <a:t>时决定</a:t>
                </a:r>
                <a:r>
                  <a:rPr lang="zh-CN" altLang="en-US" b="1" dirty="0">
                    <a:latin typeface="Times New Roman" panose="02020603050405020304" pitchFamily="18" charset="0"/>
                    <a:cs typeface="Times New Roman" panose="02020603050405020304" pitchFamily="18" charset="0"/>
                  </a:rPr>
                  <a:t>等待</a:t>
                </a:r>
                <a:r>
                  <a:rPr lang="zh-CN" altLang="en-US" b="1" dirty="0" smtClean="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a:p>
                <a:r>
                  <a:rPr lang="en-US" altLang="zh-CN" b="1" dirty="0" smtClean="0">
                    <a:latin typeface="Times New Roman" panose="02020603050405020304" pitchFamily="18" charset="0"/>
                    <a:cs typeface="Times New Roman" panose="02020603050405020304" pitchFamily="18" charset="0"/>
                  </a:rPr>
                  <a:t>(4)</a:t>
                </a:r>
                <a:r>
                  <a:rPr lang="zh-CN" altLang="en-US" b="1" dirty="0" smtClean="0">
                    <a:latin typeface="Times New Roman" panose="02020603050405020304" pitchFamily="18" charset="0"/>
                    <a:cs typeface="Times New Roman" panose="02020603050405020304" pitchFamily="18" charset="0"/>
                  </a:rPr>
                  <a:t>阶段指标函数：</a:t>
                </a:r>
                <a:r>
                  <a:rPr lang="en-US" altLang="zh-CN" b="1" i="1" dirty="0" smtClean="0">
                    <a:latin typeface="Times New Roman" panose="02020603050405020304" pitchFamily="18" charset="0"/>
                    <a:cs typeface="Times New Roman" panose="02020603050405020304" pitchFamily="18" charset="0"/>
                  </a:rPr>
                  <a:t> </a:t>
                </a:r>
                <a:r>
                  <a:rPr lang="en-US" altLang="zh-CN" b="1" i="1" dirty="0" err="1" smtClean="0">
                    <a:latin typeface="Times New Roman" panose="02020603050405020304" pitchFamily="18" charset="0"/>
                    <a:cs typeface="Times New Roman" panose="02020603050405020304" pitchFamily="18" charset="0"/>
                  </a:rPr>
                  <a:t>v</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x</a:t>
                </a:r>
                <a:r>
                  <a:rPr lang="en-US" altLang="zh-CN" b="1" i="1" baseline="-25000" dirty="0" err="1">
                    <a:latin typeface="Times New Roman" panose="02020603050405020304" pitchFamily="18" charset="0"/>
                    <a:cs typeface="Times New Roman" panose="02020603050405020304" pitchFamily="18" charset="0"/>
                  </a:rPr>
                  <a:t>k</a:t>
                </a:r>
                <a:r>
                  <a:rPr lang="en-US" altLang="zh-CN" b="1" i="1" baseline="-25000"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a:t>
                </a:r>
                <a:r>
                  <a:rPr lang="en-US" altLang="zh-CN" b="1" i="1" baseline="-25000"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=min{</a:t>
                </a:r>
                <a:r>
                  <a:rPr lang="en-US" altLang="zh-CN" b="1" i="1" dirty="0" err="1">
                    <a:latin typeface="Times New Roman" panose="02020603050405020304" pitchFamily="18" charset="0"/>
                    <a:cs typeface="Times New Roman" panose="02020603050405020304" pitchFamily="18" charset="0"/>
                  </a:rPr>
                  <a:t>s</a:t>
                </a:r>
                <a:r>
                  <a:rPr lang="en-US" altLang="zh-CN" b="1" i="1" baseline="-25000" dirty="0" err="1">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 </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kE</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其中</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kE</a:t>
                </a:r>
                <a:r>
                  <a:rPr lang="zh-CN" altLang="en-US"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 </a:t>
                </a:r>
                <a:r>
                  <a:rPr lang="en-US" altLang="zh-CN" b="1" i="1" dirty="0" err="1">
                    <a:solidFill>
                      <a:srgbClr val="FF0000"/>
                    </a:solidFill>
                    <a:latin typeface="Times New Roman" panose="02020603050405020304" pitchFamily="18" charset="0"/>
                    <a:cs typeface="Times New Roman" panose="02020603050405020304" pitchFamily="18" charset="0"/>
                  </a:rPr>
                  <a:t>x</a:t>
                </a:r>
                <a:r>
                  <a:rPr lang="en-US" altLang="zh-CN" b="1" i="1" baseline="-25000" dirty="0" err="1">
                    <a:solidFill>
                      <a:srgbClr val="FF0000"/>
                    </a:solidFill>
                    <a:latin typeface="Times New Roman" panose="02020603050405020304" pitchFamily="18" charset="0"/>
                    <a:cs typeface="Times New Roman" panose="02020603050405020304" pitchFamily="18" charset="0"/>
                  </a:rPr>
                  <a:t>k</a:t>
                </a:r>
                <a:r>
                  <a:rPr lang="en-US" altLang="zh-CN" b="1" dirty="0">
                    <a:solidFill>
                      <a:srgbClr val="FF0000"/>
                    </a:solidFill>
                    <a:latin typeface="Times New Roman" panose="02020603050405020304" pitchFamily="18" charset="0"/>
                    <a:cs typeface="Times New Roman" panose="02020603050405020304" pitchFamily="18" charset="0"/>
                  </a:rPr>
                  <a:t>=0</a:t>
                </a:r>
                <a:r>
                  <a:rPr lang="zh-CN" altLang="en-US" b="1" dirty="0">
                    <a:solidFill>
                      <a:srgbClr val="FF0000"/>
                    </a:solidFill>
                    <a:latin typeface="Times New Roman" panose="02020603050405020304" pitchFamily="18" charset="0"/>
                    <a:cs typeface="Times New Roman" panose="02020603050405020304" pitchFamily="18" charset="0"/>
                  </a:rPr>
                  <a:t>时</a:t>
                </a:r>
                <a:r>
                  <a:rPr lang="zh-CN" altLang="en-US" b="1" dirty="0">
                    <a:latin typeface="Times New Roman" panose="02020603050405020304" pitchFamily="18" charset="0"/>
                    <a:cs typeface="Times New Roman" panose="02020603050405020304" pitchFamily="18" charset="0"/>
                  </a:rPr>
                  <a:t>，而</a:t>
                </a:r>
                <a:r>
                  <a:rPr lang="zh-CN" altLang="en-US" b="1" dirty="0">
                    <a:solidFill>
                      <a:srgbClr val="FF0000"/>
                    </a:solidFill>
                    <a:latin typeface="Times New Roman" panose="02020603050405020304" pitchFamily="18" charset="0"/>
                    <a:cs typeface="Times New Roman" panose="02020603050405020304" pitchFamily="18" charset="0"/>
                  </a:rPr>
                  <a:t>在以后</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i="1" dirty="0" smtClean="0">
                    <a:solidFill>
                      <a:srgbClr val="FF0000"/>
                    </a:solidFill>
                    <a:latin typeface="Times New Roman" panose="02020603050405020304" pitchFamily="18" charset="0"/>
                    <a:cs typeface="Times New Roman" panose="02020603050405020304" pitchFamily="18" charset="0"/>
                  </a:rPr>
                  <a:t>k</a:t>
                </a:r>
                <a:r>
                  <a:rPr lang="en-US" altLang="zh-CN" b="1" dirty="0" smtClean="0">
                    <a:solidFill>
                      <a:srgbClr val="FF0000"/>
                    </a:solidFill>
                    <a:latin typeface="Times New Roman" panose="02020603050405020304" pitchFamily="18" charset="0"/>
                    <a:cs typeface="Times New Roman" panose="02020603050405020304" pitchFamily="18" charset="0"/>
                  </a:rPr>
                  <a:t>+1</a:t>
                </a:r>
                <a:r>
                  <a:rPr lang="zh-CN" altLang="en-US" b="1" dirty="0" smtClean="0">
                    <a:solidFill>
                      <a:srgbClr val="FF0000"/>
                    </a:solidFill>
                    <a:latin typeface="Times New Roman" panose="02020603050405020304" pitchFamily="18" charset="0"/>
                    <a:cs typeface="Times New Roman" panose="02020603050405020304" pitchFamily="18" charset="0"/>
                  </a:rPr>
                  <a:t>阶段到</a:t>
                </a:r>
                <a:r>
                  <a:rPr lang="zh-CN" altLang="en-US" b="1" dirty="0">
                    <a:solidFill>
                      <a:srgbClr val="FF0000"/>
                    </a:solidFill>
                    <a:latin typeface="Times New Roman" panose="02020603050405020304" pitchFamily="18" charset="0"/>
                    <a:cs typeface="Times New Roman" panose="02020603050405020304" pitchFamily="18" charset="0"/>
                  </a:rPr>
                  <a:t>最后</a:t>
                </a:r>
                <a:r>
                  <a:rPr lang="en-US" altLang="zh-CN" b="1" dirty="0" smtClean="0">
                    <a:solidFill>
                      <a:srgbClr val="FF0000"/>
                    </a:solidFill>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采取最优决策时采购价格的</a:t>
                </a:r>
                <a:r>
                  <a:rPr lang="zh-CN" altLang="en-US" b="1" dirty="0">
                    <a:solidFill>
                      <a:srgbClr val="FF0000"/>
                    </a:solidFill>
                    <a:latin typeface="Times New Roman" panose="02020603050405020304" pitchFamily="18" charset="0"/>
                    <a:cs typeface="Times New Roman" panose="02020603050405020304" pitchFamily="18" charset="0"/>
                  </a:rPr>
                  <a:t>期望值</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r>
                  <a:rPr lang="en-US" altLang="zh-CN" b="1" dirty="0" smtClean="0">
                    <a:latin typeface="Times New Roman" panose="02020603050405020304" pitchFamily="18" charset="0"/>
                    <a:cs typeface="Times New Roman" panose="02020603050405020304" pitchFamily="18" charset="0"/>
                  </a:rPr>
                  <a:t>(5)</a:t>
                </a:r>
                <a:r>
                  <a:rPr lang="zh-CN" altLang="en-US" b="1" dirty="0" smtClean="0">
                    <a:latin typeface="Times New Roman" panose="02020603050405020304" pitchFamily="18" charset="0"/>
                    <a:cs typeface="Times New Roman" panose="02020603050405020304" pitchFamily="18" charset="0"/>
                  </a:rPr>
                  <a:t>最优值函数</a:t>
                </a:r>
                <a:r>
                  <a:rPr lang="en-US" altLang="zh-CN" b="1" i="1" dirty="0" err="1">
                    <a:latin typeface="Times New Roman" panose="02020603050405020304" pitchFamily="18" charset="0"/>
                    <a:cs typeface="Times New Roman" panose="02020603050405020304" pitchFamily="18" charset="0"/>
                  </a:rPr>
                  <a:t>f</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s</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：第</a:t>
                </a:r>
                <a:r>
                  <a:rPr lang="en-US" altLang="zh-CN" b="1" i="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周实际价格为</a:t>
                </a:r>
                <a:r>
                  <a:rPr lang="en-US" altLang="zh-CN" b="1" i="1" dirty="0" err="1">
                    <a:latin typeface="Times New Roman" panose="02020603050405020304" pitchFamily="18" charset="0"/>
                    <a:cs typeface="Times New Roman" panose="02020603050405020304" pitchFamily="18" charset="0"/>
                  </a:rPr>
                  <a:t>s</a:t>
                </a:r>
                <a:r>
                  <a:rPr lang="en-US" altLang="zh-CN" b="1" i="1" baseline="-25000" dirty="0" err="1">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时，从第</a:t>
                </a:r>
                <a:r>
                  <a:rPr lang="en-US" altLang="zh-CN" b="1" i="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周至第</a:t>
                </a:r>
                <a:r>
                  <a:rPr lang="en-US" altLang="zh-CN" b="1" dirty="0">
                    <a:latin typeface="Times New Roman" panose="02020603050405020304" pitchFamily="18" charset="0"/>
                    <a:cs typeface="Times New Roman" panose="02020603050405020304" pitchFamily="18" charset="0"/>
                  </a:rPr>
                  <a:t>5</a:t>
                </a:r>
                <a:r>
                  <a:rPr lang="zh-CN" altLang="en-US" b="1" dirty="0">
                    <a:latin typeface="Times New Roman" panose="02020603050405020304" pitchFamily="18" charset="0"/>
                    <a:cs typeface="Times New Roman" panose="02020603050405020304" pitchFamily="18" charset="0"/>
                  </a:rPr>
                  <a:t>周采取最优决策所得的最小期望值</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r>
                  <a:rPr lang="zh-CN" altLang="en-US" b="1" dirty="0" smtClean="0">
                    <a:latin typeface="Times New Roman" panose="02020603050405020304" pitchFamily="18" charset="0"/>
                    <a:cs typeface="Times New Roman" panose="02020603050405020304" pitchFamily="18" charset="0"/>
                  </a:rPr>
                  <a:t>由</a:t>
                </a:r>
                <a:r>
                  <a:rPr lang="en-US" altLang="zh-CN" b="1" i="1" dirty="0" err="1">
                    <a:latin typeface="Times New Roman" panose="02020603050405020304" pitchFamily="18" charset="0"/>
                    <a:cs typeface="Times New Roman" panose="02020603050405020304" pitchFamily="18" charset="0"/>
                  </a:rPr>
                  <a:t>y</a:t>
                </a:r>
                <a:r>
                  <a:rPr lang="en-US" altLang="zh-CN" b="1" i="1" baseline="-25000" dirty="0" err="1">
                    <a:latin typeface="Times New Roman" panose="02020603050405020304" pitchFamily="18" charset="0"/>
                    <a:cs typeface="Times New Roman" panose="02020603050405020304" pitchFamily="18" charset="0"/>
                  </a:rPr>
                  <a:t>kE</a:t>
                </a:r>
                <a:r>
                  <a:rPr lang="zh-CN" altLang="en-US" b="1" dirty="0">
                    <a:latin typeface="Times New Roman" panose="02020603050405020304" pitchFamily="18" charset="0"/>
                    <a:cs typeface="Times New Roman" panose="02020603050405020304" pitchFamily="18" charset="0"/>
                  </a:rPr>
                  <a:t>和</a:t>
                </a:r>
                <a:r>
                  <a:rPr lang="en-US" altLang="zh-CN" b="1" i="1" dirty="0" err="1">
                    <a:latin typeface="Times New Roman" panose="02020603050405020304" pitchFamily="18" charset="0"/>
                    <a:cs typeface="Times New Roman" panose="02020603050405020304" pitchFamily="18" charset="0"/>
                  </a:rPr>
                  <a:t>f</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y</a:t>
                </a:r>
                <a:r>
                  <a:rPr lang="en-US" altLang="zh-CN" b="1" i="1" baseline="-25000" dirty="0" err="1">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的定义可知</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altLang="zh-CN" b="1" i="1" smtClean="0">
                            <a:latin typeface="Cambria Math" panose="02040503050406030204" pitchFamily="18" charset="0"/>
                            <a:cs typeface="Times New Roman" panose="02020603050405020304" pitchFamily="18" charset="0"/>
                          </a:rPr>
                        </m:ctrlPr>
                      </m:sSubPr>
                      <m:e>
                        <m:r>
                          <a:rPr lang="en-US" altLang="zh-CN" b="1" i="1" smtClean="0">
                            <a:latin typeface="Cambria Math" panose="02040503050406030204" pitchFamily="18" charset="0"/>
                            <a:cs typeface="Times New Roman" panose="02020603050405020304" pitchFamily="18" charset="0"/>
                          </a:rPr>
                          <m:t>𝒔</m:t>
                        </m:r>
                      </m:e>
                      <m:sub>
                        <m:r>
                          <a:rPr lang="en-US" altLang="zh-CN" b="1" i="1" smtClean="0">
                            <a:latin typeface="Cambria Math" panose="02040503050406030204" pitchFamily="18" charset="0"/>
                            <a:cs typeface="Times New Roman" panose="02020603050405020304" pitchFamily="18" charset="0"/>
                          </a:rPr>
                          <m:t>𝒌𝑬</m:t>
                        </m:r>
                      </m:sub>
                    </m:sSub>
                    <m:r>
                      <a:rPr lang="en-US" altLang="zh-CN" b="1" i="1" smtClean="0">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𝑬</m:t>
                    </m:r>
                    <m:sSub>
                      <m:sSubPr>
                        <m:ctrlPr>
                          <a:rPr lang="en-US" altLang="zh-CN" b="1" i="1" smtClean="0">
                            <a:latin typeface="Cambria Math" panose="02040503050406030204" pitchFamily="18" charset="0"/>
                            <a:cs typeface="Times New Roman" panose="02020603050405020304" pitchFamily="18" charset="0"/>
                          </a:rPr>
                        </m:ctrlPr>
                      </m:sSubPr>
                      <m:e>
                        <m:r>
                          <a:rPr lang="en-US" altLang="zh-CN" b="1" i="1" smtClean="0">
                            <a:latin typeface="Cambria Math" panose="02040503050406030204" pitchFamily="18" charset="0"/>
                            <a:cs typeface="Times New Roman" panose="02020603050405020304" pitchFamily="18" charset="0"/>
                          </a:rPr>
                          <m:t>𝒇</m:t>
                        </m:r>
                      </m:e>
                      <m:sub>
                        <m:r>
                          <a:rPr lang="en-US" altLang="zh-CN" b="1" i="1" smtClean="0">
                            <a:latin typeface="Cambria Math" panose="02040503050406030204" pitchFamily="18" charset="0"/>
                            <a:cs typeface="Times New Roman" panose="02020603050405020304" pitchFamily="18" charset="0"/>
                          </a:rPr>
                          <m:t>𝒌</m:t>
                        </m:r>
                        <m:r>
                          <a:rPr lang="en-US" altLang="zh-CN" b="1" i="1" smtClean="0">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𝟏</m:t>
                        </m:r>
                      </m:sub>
                    </m:sSub>
                    <m:r>
                      <a:rPr lang="en-US" altLang="zh-CN" b="1" i="1" smtClean="0">
                        <a:latin typeface="Cambria Math" panose="02040503050406030204" pitchFamily="18" charset="0"/>
                        <a:cs typeface="Times New Roman" panose="02020603050405020304" pitchFamily="18" charset="0"/>
                      </a:rPr>
                      <m:t>(</m:t>
                    </m:r>
                    <m:sSub>
                      <m:sSubPr>
                        <m:ctrlPr>
                          <a:rPr lang="en-US" altLang="zh-CN" b="1" i="1" smtClean="0">
                            <a:latin typeface="Cambria Math" panose="02040503050406030204" pitchFamily="18" charset="0"/>
                            <a:cs typeface="Times New Roman" panose="02020603050405020304" pitchFamily="18" charset="0"/>
                          </a:rPr>
                        </m:ctrlPr>
                      </m:sSubPr>
                      <m:e>
                        <m:r>
                          <a:rPr lang="en-US" altLang="zh-CN" b="1" i="1" smtClean="0">
                            <a:latin typeface="Cambria Math" panose="02040503050406030204" pitchFamily="18" charset="0"/>
                            <a:cs typeface="Times New Roman" panose="02020603050405020304" pitchFamily="18" charset="0"/>
                          </a:rPr>
                          <m:t>𝒚</m:t>
                        </m:r>
                      </m:e>
                      <m:sub>
                        <m:r>
                          <a:rPr lang="en-US" altLang="zh-CN" b="1" i="1" smtClean="0">
                            <a:latin typeface="Cambria Math" panose="02040503050406030204" pitchFamily="18" charset="0"/>
                            <a:cs typeface="Times New Roman" panose="02020603050405020304" pitchFamily="18" charset="0"/>
                          </a:rPr>
                          <m:t>𝒌</m:t>
                        </m:r>
                        <m:r>
                          <a:rPr lang="en-US" altLang="zh-CN" b="1" i="1" smtClean="0">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𝟏</m:t>
                        </m:r>
                      </m:sub>
                    </m:sSub>
                    <m:r>
                      <a:rPr lang="en-US" altLang="zh-CN" b="1" i="1" smtClean="0">
                        <a:latin typeface="Cambria Math" panose="02040503050406030204" pitchFamily="18" charset="0"/>
                        <a:cs typeface="Times New Roman" panose="02020603050405020304" pitchFamily="18" charset="0"/>
                      </a:rPr>
                      <m:t>)</m:t>
                    </m:r>
                  </m:oMath>
                </a14:m>
                <a:r>
                  <a:rPr lang="en-US" altLang="zh-CN" b="1" dirty="0" smtClean="0">
                    <a:latin typeface="Times New Roman" panose="02020603050405020304" pitchFamily="18" charset="0"/>
                    <a:cs typeface="Times New Roman" panose="02020603050405020304" pitchFamily="18" charset="0"/>
                  </a:rPr>
                  <a:t>=0.3</a:t>
                </a:r>
                <a14:m>
                  <m:oMath xmlns:m="http://schemas.openxmlformats.org/officeDocument/2006/math">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𝒇</m:t>
                        </m:r>
                      </m:e>
                      <m:sub>
                        <m:r>
                          <a:rPr lang="en-US" altLang="zh-CN" b="1" i="1">
                            <a:latin typeface="Cambria Math" panose="02040503050406030204" pitchFamily="18" charset="0"/>
                            <a:cs typeface="Times New Roman" panose="02020603050405020304" pitchFamily="18" charset="0"/>
                          </a:rPr>
                          <m:t>𝒌</m:t>
                        </m:r>
                        <m:r>
                          <a:rPr lang="en-US" altLang="zh-CN" b="1" i="1">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𝟏</m:t>
                        </m:r>
                      </m:sub>
                    </m:sSub>
                    <m:r>
                      <a:rPr lang="en-US" altLang="zh-CN" b="1" i="1">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𝟓𝟎𝟎</m:t>
                    </m:r>
                    <m:r>
                      <a:rPr lang="en-US" altLang="zh-CN" b="1" i="1">
                        <a:latin typeface="Cambria Math" panose="02040503050406030204" pitchFamily="18" charset="0"/>
                        <a:cs typeface="Times New Roman" panose="02020603050405020304" pitchFamily="18" charset="0"/>
                      </a:rPr>
                      <m:t>)</m:t>
                    </m:r>
                  </m:oMath>
                </a14:m>
                <a:r>
                  <a:rPr lang="en-US" altLang="zh-CN" b="1" dirty="0" smtClean="0">
                    <a:latin typeface="Times New Roman" panose="02020603050405020304" pitchFamily="18" charset="0"/>
                    <a:cs typeface="Times New Roman" panose="02020603050405020304" pitchFamily="18" charset="0"/>
                  </a:rPr>
                  <a:t>+0.3</a:t>
                </a:r>
                <a14:m>
                  <m:oMath xmlns:m="http://schemas.openxmlformats.org/officeDocument/2006/math">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𝒇</m:t>
                        </m:r>
                      </m:e>
                      <m:sub>
                        <m:r>
                          <a:rPr lang="en-US" altLang="zh-CN" b="1" i="1">
                            <a:latin typeface="Cambria Math" panose="02040503050406030204" pitchFamily="18" charset="0"/>
                            <a:cs typeface="Times New Roman" panose="02020603050405020304" pitchFamily="18" charset="0"/>
                          </a:rPr>
                          <m:t>𝒌</m:t>
                        </m:r>
                        <m:r>
                          <a:rPr lang="en-US" altLang="zh-CN" b="1" i="1">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𝟏</m:t>
                        </m:r>
                      </m:sub>
                    </m:sSub>
                    <m:r>
                      <a:rPr lang="en-US" altLang="zh-CN" b="1" i="1">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𝟔𝟎𝟎</m:t>
                    </m:r>
                    <m:r>
                      <a:rPr lang="en-US" altLang="zh-CN" b="1" i="1">
                        <a:latin typeface="Cambria Math" panose="02040503050406030204" pitchFamily="18" charset="0"/>
                        <a:cs typeface="Times New Roman" panose="02020603050405020304" pitchFamily="18" charset="0"/>
                      </a:rPr>
                      <m:t>)</m:t>
                    </m:r>
                  </m:oMath>
                </a14:m>
                <a:r>
                  <a:rPr lang="en-US" altLang="zh-CN" b="1" dirty="0" smtClean="0">
                    <a:latin typeface="Times New Roman" panose="02020603050405020304" pitchFamily="18" charset="0"/>
                    <a:cs typeface="Times New Roman" panose="02020603050405020304" pitchFamily="18" charset="0"/>
                  </a:rPr>
                  <a:t>+0.4</a:t>
                </a:r>
                <a14:m>
                  <m:oMath xmlns:m="http://schemas.openxmlformats.org/officeDocument/2006/math">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𝒇</m:t>
                        </m:r>
                      </m:e>
                      <m:sub>
                        <m:r>
                          <a:rPr lang="en-US" altLang="zh-CN" b="1" i="1">
                            <a:latin typeface="Cambria Math" panose="02040503050406030204" pitchFamily="18" charset="0"/>
                            <a:cs typeface="Times New Roman" panose="02020603050405020304" pitchFamily="18" charset="0"/>
                          </a:rPr>
                          <m:t>𝒌</m:t>
                        </m:r>
                        <m:r>
                          <a:rPr lang="en-US" altLang="zh-CN" b="1" i="1">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𝟏</m:t>
                        </m:r>
                      </m:sub>
                    </m:sSub>
                    <m:r>
                      <a:rPr lang="en-US" altLang="zh-CN" b="1" i="1">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𝟕𝟎𝟎</m:t>
                    </m:r>
                    <m:r>
                      <a:rPr lang="en-US" altLang="zh-CN" b="1" i="1">
                        <a:latin typeface="Cambria Math" panose="02040503050406030204" pitchFamily="18" charset="0"/>
                        <a:cs typeface="Times New Roman" panose="02020603050405020304" pitchFamily="18" charset="0"/>
                      </a:rPr>
                      <m:t>)</m:t>
                    </m:r>
                  </m:oMath>
                </a14:m>
                <a:endParaRPr lang="en-US" altLang="zh-CN" b="1" dirty="0" smtClean="0">
                  <a:latin typeface="Times New Roman" panose="02020603050405020304" pitchFamily="18" charset="0"/>
                  <a:cs typeface="Times New Roman" panose="02020603050405020304" pitchFamily="18" charset="0"/>
                </a:endParaRPr>
              </a:p>
              <a:p>
                <a:r>
                  <a:rPr lang="en-US" altLang="zh-CN" b="1" dirty="0" smtClean="0">
                    <a:latin typeface="Times New Roman" panose="02020603050405020304" pitchFamily="18" charset="0"/>
                    <a:cs typeface="Times New Roman" panose="02020603050405020304" pitchFamily="18" charset="0"/>
                  </a:rPr>
                  <a:t>(6)</a:t>
                </a:r>
                <a:r>
                  <a:rPr lang="zh-CN" altLang="en-US" b="1" dirty="0" smtClean="0">
                    <a:latin typeface="Times New Roman" panose="02020603050405020304" pitchFamily="18" charset="0"/>
                    <a:cs typeface="Times New Roman" panose="02020603050405020304" pitchFamily="18" charset="0"/>
                  </a:rPr>
                  <a:t>递推方程</a:t>
                </a:r>
                <a:r>
                  <a:rPr lang="zh-CN" altLang="en-US" b="1" dirty="0" smtClean="0">
                    <a:cs typeface="Times New Roman" panose="02020603050405020304" pitchFamily="18" charset="0"/>
                  </a:rPr>
                  <a:t>：</a:t>
                </a:r>
                <a14:m>
                  <m:oMath xmlns:m="http://schemas.openxmlformats.org/officeDocument/2006/math">
                    <m:d>
                      <m:dPr>
                        <m:begChr m:val="{"/>
                        <m:endChr m:val=""/>
                        <m:ctrlPr>
                          <a:rPr lang="en-US" altLang="zh-CN" b="1" i="1" smtClean="0">
                            <a:latin typeface="Cambria Math" panose="02040503050406030204" pitchFamily="18" charset="0"/>
                            <a:cs typeface="Times New Roman" panose="02020603050405020304" pitchFamily="18" charset="0"/>
                          </a:rPr>
                        </m:ctrlPr>
                      </m:dPr>
                      <m:e>
                        <m:eqArr>
                          <m:eqArrPr>
                            <m:ctrlPr>
                              <a:rPr lang="en-US" altLang="zh-CN" b="1" i="1" smtClean="0">
                                <a:latin typeface="Cambria Math" panose="02040503050406030204" pitchFamily="18" charset="0"/>
                                <a:cs typeface="Times New Roman" panose="02020603050405020304" pitchFamily="18" charset="0"/>
                              </a:rPr>
                            </m:ctrlPr>
                          </m:eqArrPr>
                          <m:e>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𝒇</m:t>
                                </m:r>
                              </m:e>
                              <m:sub>
                                <m:r>
                                  <a:rPr lang="en-US" altLang="zh-CN" b="1" i="1">
                                    <a:latin typeface="Cambria Math" panose="02040503050406030204" pitchFamily="18" charset="0"/>
                                  </a:rPr>
                                  <m:t>𝒌</m:t>
                                </m:r>
                              </m:sub>
                            </m:sSub>
                            <m:d>
                              <m:dPr>
                                <m:ctrlPr>
                                  <a:rPr lang="en-US" altLang="zh-CN" b="1"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𝒔</m:t>
                                    </m:r>
                                  </m:e>
                                  <m:sub>
                                    <m:r>
                                      <a:rPr lang="en-US" altLang="zh-CN" b="1" i="1">
                                        <a:latin typeface="Cambria Math" panose="02040503050406030204" pitchFamily="18" charset="0"/>
                                      </a:rPr>
                                      <m:t>𝒌</m:t>
                                    </m:r>
                                  </m:sub>
                                </m:sSub>
                              </m:e>
                            </m:d>
                            <m:r>
                              <a:rPr lang="en-US" altLang="zh-CN" b="1" i="1">
                                <a:latin typeface="Cambria Math" panose="02040503050406030204" pitchFamily="18" charset="0"/>
                              </a:rPr>
                              <m:t>=</m:t>
                            </m:r>
                            <m:func>
                              <m:funcPr>
                                <m:ctrlPr>
                                  <a:rPr lang="en-US" altLang="zh-CN" b="1" i="1">
                                    <a:latin typeface="Cambria Math" panose="02040503050406030204" pitchFamily="18" charset="0"/>
                                  </a:rPr>
                                </m:ctrlPr>
                              </m:funcPr>
                              <m:fName>
                                <m:limLow>
                                  <m:limLowPr>
                                    <m:ctrlPr>
                                      <a:rPr lang="en-US" altLang="zh-CN" b="1" i="1">
                                        <a:latin typeface="Cambria Math" panose="02040503050406030204" pitchFamily="18" charset="0"/>
                                      </a:rPr>
                                    </m:ctrlPr>
                                  </m:limLowPr>
                                  <m:e>
                                    <m:r>
                                      <a:rPr lang="en-US" altLang="zh-CN" b="1" i="1" smtClean="0">
                                        <a:latin typeface="Cambria Math" panose="02040503050406030204" pitchFamily="18" charset="0"/>
                                      </a:rPr>
                                      <m:t>𝒎𝒊𝒏</m:t>
                                    </m:r>
                                  </m:e>
                                  <m:lim>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a:latin typeface="Cambria Math" panose="02040503050406030204" pitchFamily="18" charset="0"/>
                                          </a:rPr>
                                          <m:t>𝒌</m:t>
                                        </m:r>
                                      </m:sub>
                                    </m:sSub>
                                    <m:r>
                                      <a:rPr lang="en-US" altLang="zh-CN" b="1" i="1">
                                        <a:latin typeface="Cambria Math" panose="02040503050406030204" pitchFamily="18" charset="0"/>
                                        <a:ea typeface="Cambria Math" panose="02040503050406030204" pitchFamily="18" charset="0"/>
                                      </a:rPr>
                                      <m:t>∈</m:t>
                                    </m:r>
                                    <m:sSub>
                                      <m:sSubPr>
                                        <m:ctrlPr>
                                          <a:rPr lang="en-US" altLang="zh-CN" b="1"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𝑫</m:t>
                                        </m:r>
                                      </m:e>
                                      <m:sub>
                                        <m:r>
                                          <a:rPr lang="en-US" altLang="zh-CN" b="1" i="1">
                                            <a:latin typeface="Cambria Math" panose="02040503050406030204" pitchFamily="18" charset="0"/>
                                            <a:ea typeface="Cambria Math" panose="02040503050406030204" pitchFamily="18" charset="0"/>
                                          </a:rPr>
                                          <m:t>𝒌</m:t>
                                        </m:r>
                                      </m:sub>
                                    </m:sSub>
                                    <m:d>
                                      <m:dPr>
                                        <m:ctrlPr>
                                          <a:rPr lang="en-US" altLang="zh-CN" b="1" i="1">
                                            <a:latin typeface="Cambria Math" panose="02040503050406030204" pitchFamily="18" charset="0"/>
                                            <a:ea typeface="Cambria Math" panose="02040503050406030204" pitchFamily="18" charset="0"/>
                                          </a:rPr>
                                        </m:ctrlPr>
                                      </m:dPr>
                                      <m:e>
                                        <m:sSub>
                                          <m:sSubPr>
                                            <m:ctrlPr>
                                              <a:rPr lang="en-US" altLang="zh-CN" b="1"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𝒔</m:t>
                                            </m:r>
                                          </m:e>
                                          <m:sub>
                                            <m:r>
                                              <a:rPr lang="en-US" altLang="zh-CN" b="1" i="1">
                                                <a:latin typeface="Cambria Math" panose="02040503050406030204" pitchFamily="18" charset="0"/>
                                                <a:ea typeface="Cambria Math" panose="02040503050406030204" pitchFamily="18" charset="0"/>
                                              </a:rPr>
                                              <m:t>𝒌</m:t>
                                            </m:r>
                                          </m:sub>
                                        </m:sSub>
                                      </m:e>
                                    </m:d>
                                  </m:lim>
                                </m:limLow>
                              </m:fName>
                              <m:e>
                                <m:r>
                                  <a:rPr lang="en-US" altLang="zh-CN" b="1" i="1">
                                    <a:latin typeface="Cambria Math" panose="02040503050406030204" pitchFamily="18" charset="0"/>
                                  </a:rPr>
                                  <m:t>𝑬</m:t>
                                </m:r>
                                <m:d>
                                  <m:dPr>
                                    <m:begChr m:val="{"/>
                                    <m:endChr m:val="}"/>
                                    <m:ctrlPr>
                                      <a:rPr lang="en-US" altLang="zh-CN" b="1"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𝒗</m:t>
                                        </m:r>
                                      </m:e>
                                      <m:sub>
                                        <m:r>
                                          <a:rPr lang="en-US" altLang="zh-CN" b="1" i="1">
                                            <a:latin typeface="Cambria Math" panose="02040503050406030204" pitchFamily="18" charset="0"/>
                                          </a:rPr>
                                          <m:t>𝒌</m:t>
                                        </m:r>
                                      </m:sub>
                                    </m:sSub>
                                    <m:d>
                                      <m:dPr>
                                        <m:ctrlPr>
                                          <a:rPr lang="en-US" altLang="zh-CN" b="1"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𝒗</m:t>
                                            </m:r>
                                          </m:e>
                                          <m:sub>
                                            <m:r>
                                              <a:rPr lang="en-US" altLang="zh-CN" b="1" i="1">
                                                <a:latin typeface="Cambria Math" panose="02040503050406030204" pitchFamily="18" charset="0"/>
                                              </a:rPr>
                                              <m:t>𝒌</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a:latin typeface="Cambria Math" panose="02040503050406030204" pitchFamily="18" charset="0"/>
                                              </a:rPr>
                                              <m:t>𝒌</m:t>
                                            </m:r>
                                          </m:sub>
                                        </m:sSub>
                                      </m:e>
                                    </m:d>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𝒇</m:t>
                                        </m:r>
                                      </m:e>
                                      <m:sub>
                                        <m:r>
                                          <a:rPr lang="en-US" altLang="zh-CN" b="1" i="1">
                                            <a:latin typeface="Cambria Math" panose="02040503050406030204" pitchFamily="18" charset="0"/>
                                          </a:rPr>
                                          <m:t>𝒌</m:t>
                                        </m:r>
                                        <m:r>
                                          <a:rPr lang="en-US" altLang="zh-CN" b="1" i="1">
                                            <a:latin typeface="Cambria Math" panose="02040503050406030204" pitchFamily="18" charset="0"/>
                                          </a:rPr>
                                          <m:t>+</m:t>
                                        </m:r>
                                        <m:r>
                                          <a:rPr lang="en-US" altLang="zh-CN" b="1" i="1">
                                            <a:latin typeface="Cambria Math" panose="02040503050406030204" pitchFamily="18" charset="0"/>
                                          </a:rPr>
                                          <m:t>𝟏</m:t>
                                        </m:r>
                                      </m:sub>
                                    </m:sSub>
                                    <m:d>
                                      <m:dPr>
                                        <m:ctrlPr>
                                          <a:rPr lang="en-US" altLang="zh-CN" b="1"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𝒔</m:t>
                                            </m:r>
                                          </m:e>
                                          <m:sub>
                                            <m:r>
                                              <a:rPr lang="en-US" altLang="zh-CN" b="1" i="1">
                                                <a:latin typeface="Cambria Math" panose="02040503050406030204" pitchFamily="18" charset="0"/>
                                              </a:rPr>
                                              <m:t>𝒌</m:t>
                                            </m:r>
                                            <m:r>
                                              <a:rPr lang="en-US" altLang="zh-CN" b="1" i="1">
                                                <a:latin typeface="Cambria Math" panose="02040503050406030204" pitchFamily="18" charset="0"/>
                                              </a:rPr>
                                              <m:t>+</m:t>
                                            </m:r>
                                            <m:r>
                                              <a:rPr lang="en-US" altLang="zh-CN" b="1" i="1">
                                                <a:latin typeface="Cambria Math" panose="02040503050406030204" pitchFamily="18" charset="0"/>
                                              </a:rPr>
                                              <m:t>𝟏</m:t>
                                            </m:r>
                                          </m:sub>
                                        </m:sSub>
                                      </m:e>
                                    </m:d>
                                  </m:e>
                                </m:d>
                                <m:r>
                                  <a:rPr lang="en-US" altLang="zh-CN" b="1" i="1" smtClean="0">
                                    <a:latin typeface="Cambria Math" panose="02040503050406030204" pitchFamily="18" charset="0"/>
                                  </a:rPr>
                                  <m:t>=</m:t>
                                </m:r>
                              </m:e>
                            </m:func>
                            <m:r>
                              <a:rPr lang="en-US" altLang="zh-CN" b="1" i="1" smtClean="0">
                                <a:solidFill>
                                  <a:srgbClr val="FF0000"/>
                                </a:solidFill>
                                <a:latin typeface="Cambria Math" panose="02040503050406030204" pitchFamily="18" charset="0"/>
                              </a:rPr>
                              <m:t>𝒎𝒊𝒏</m:t>
                            </m:r>
                            <m:d>
                              <m:dPr>
                                <m:begChr m:val="{"/>
                                <m:endChr m:val="}"/>
                                <m:ctrlPr>
                                  <a:rPr lang="en-US" altLang="zh-CN" b="1" i="1" smtClean="0">
                                    <a:solidFill>
                                      <a:srgbClr val="FF0000"/>
                                    </a:solidFill>
                                    <a:latin typeface="Cambria Math" panose="02040503050406030204" pitchFamily="18" charset="0"/>
                                    <a:ea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𝒔</m:t>
                                    </m:r>
                                  </m:e>
                                  <m:sub>
                                    <m:r>
                                      <a:rPr lang="en-US" altLang="zh-CN" b="1" i="1">
                                        <a:solidFill>
                                          <a:srgbClr val="FF0000"/>
                                        </a:solidFill>
                                        <a:latin typeface="Cambria Math" panose="02040503050406030204" pitchFamily="18" charset="0"/>
                                      </a:rPr>
                                      <m:t>𝒌</m:t>
                                    </m:r>
                                  </m:sub>
                                </m:sSub>
                                <m:r>
                                  <a:rPr lang="en-US" altLang="zh-CN" b="1" i="1" smtClean="0">
                                    <a:solidFill>
                                      <a:srgbClr val="FF0000"/>
                                    </a:solidFill>
                                    <a:latin typeface="Cambria Math" panose="02040503050406030204" pitchFamily="18" charset="0"/>
                                  </a:rPr>
                                  <m:t>,</m:t>
                                </m:r>
                                <m:r>
                                  <m:rPr>
                                    <m:nor/>
                                  </m:rPr>
                                  <a:rPr lang="en-US" altLang="zh-CN" b="1" i="1" smtClean="0">
                                    <a:solidFill>
                                      <a:srgbClr val="FF0000"/>
                                    </a:solidFill>
                                    <a:latin typeface="Cambria Math" panose="02040503050406030204" pitchFamily="18" charset="0"/>
                                  </a:rPr>
                                  <m:t>s</m:t>
                                </m:r>
                                <m:r>
                                  <m:rPr>
                                    <m:nor/>
                                  </m:rPr>
                                  <a:rPr lang="en-US" altLang="zh-CN" b="1" i="1" baseline="-25000" dirty="0">
                                    <a:solidFill>
                                      <a:srgbClr val="FF0000"/>
                                    </a:solidFill>
                                    <a:latin typeface="Times New Roman" panose="02020603050405020304" pitchFamily="18" charset="0"/>
                                    <a:cs typeface="Times New Roman" panose="02020603050405020304" pitchFamily="18" charset="0"/>
                                  </a:rPr>
                                  <m:t>kE</m:t>
                                </m:r>
                              </m:e>
                            </m:d>
                            <m:r>
                              <a:rPr lang="en-US" altLang="zh-CN" b="1" i="1" smtClean="0">
                                <a:latin typeface="Cambria Math" panose="02040503050406030204" pitchFamily="18" charset="0"/>
                                <a:ea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𝒔</m:t>
                                </m:r>
                              </m:e>
                              <m:sub>
                                <m:r>
                                  <a:rPr lang="en-US" altLang="zh-CN" b="1" i="1" smtClean="0">
                                    <a:latin typeface="Cambria Math" panose="02040503050406030204" pitchFamily="18" charset="0"/>
                                  </a:rPr>
                                  <m:t>𝒌</m:t>
                                </m:r>
                              </m:sub>
                            </m:sSub>
                            <m:r>
                              <a:rPr lang="en-US" altLang="zh-CN" b="1" i="1">
                                <a:latin typeface="Cambria Math" panose="02040503050406030204" pitchFamily="18" charset="0"/>
                                <a:ea typeface="Cambria Math" panose="02040503050406030204" pitchFamily="18" charset="0"/>
                              </a:rPr>
                              <m:t>∈</m:t>
                            </m:r>
                            <m:sSub>
                              <m:sSubPr>
                                <m:ctrlPr>
                                  <a:rPr lang="en-US" altLang="zh-CN" b="1" i="1">
                                    <a:latin typeface="Cambria Math" panose="02040503050406030204" pitchFamily="18" charset="0"/>
                                    <a:ea typeface="Cambria Math" panose="02040503050406030204" pitchFamily="18" charset="0"/>
                                  </a:rPr>
                                </m:ctrlPr>
                              </m:sSubPr>
                              <m:e>
                                <m:r>
                                  <a:rPr lang="en-US" altLang="zh-CN" b="1" i="1">
                                    <a:latin typeface="Cambria Math" panose="02040503050406030204" pitchFamily="18" charset="0"/>
                                    <a:ea typeface="Cambria Math" panose="02040503050406030204" pitchFamily="18" charset="0"/>
                                  </a:rPr>
                                  <m:t>𝑺</m:t>
                                </m:r>
                              </m:e>
                              <m:sub>
                                <m:r>
                                  <a:rPr lang="en-US" altLang="zh-CN" b="1" i="1" smtClean="0">
                                    <a:latin typeface="Cambria Math" panose="02040503050406030204" pitchFamily="18" charset="0"/>
                                    <a:ea typeface="Cambria Math" panose="02040503050406030204" pitchFamily="18" charset="0"/>
                                  </a:rPr>
                                  <m:t>𝒌</m:t>
                                </m:r>
                              </m:sub>
                            </m:sSub>
                          </m:e>
                          <m:e>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smtClean="0">
                                <a:latin typeface="Times New Roman" panose="02020603050405020304" pitchFamily="18" charset="0"/>
                                <a:cs typeface="Times New Roman" panose="02020603050405020304" pitchFamily="18" charset="0"/>
                              </a:rPr>
                              <m:t>5</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0" baseline="-25000" dirty="0" smtClean="0">
                                <a:latin typeface="Times New Roman" panose="02020603050405020304" pitchFamily="18" charset="0"/>
                                <a:cs typeface="Times New Roman" panose="02020603050405020304" pitchFamily="18" charset="0"/>
                              </a:rPr>
                              <m:t>5</m:t>
                            </m:r>
                            <m:r>
                              <m:rPr>
                                <m:nor/>
                              </m:rPr>
                              <a:rPr lang="en-US" altLang="zh-CN" b="1" dirty="0">
                                <a:latin typeface="Times New Roman" panose="02020603050405020304" pitchFamily="18" charset="0"/>
                                <a:cs typeface="Times New Roman" panose="02020603050405020304" pitchFamily="18" charset="0"/>
                              </a:rPr>
                              <m:t>)</m:t>
                            </m:r>
                            <m:r>
                              <a:rPr lang="en-US" altLang="zh-CN" b="1" i="1" dirty="0" smtClean="0">
                                <a:latin typeface="Cambria Math" panose="020405030504060302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0" baseline="-25000" dirty="0" smtClean="0">
                                <a:latin typeface="Times New Roman" panose="02020603050405020304" pitchFamily="18" charset="0"/>
                                <a:cs typeface="Times New Roman" panose="02020603050405020304" pitchFamily="18" charset="0"/>
                              </a:rPr>
                              <m:t>5,</m:t>
                            </m:r>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𝟓</m:t>
                                </m:r>
                              </m:sub>
                            </m:sSub>
                            <m:r>
                              <a:rPr lang="en-US" altLang="zh-CN" b="1" i="1">
                                <a:latin typeface="Cambria Math" panose="02040503050406030204" pitchFamily="18" charset="0"/>
                                <a:ea typeface="Cambria Math" panose="02040503050406030204" pitchFamily="18" charset="0"/>
                              </a:rPr>
                              <m:t>∈</m:t>
                            </m:r>
                            <m:sSub>
                              <m:sSubPr>
                                <m:ctrlPr>
                                  <a:rPr lang="en-US" altLang="zh-CN" b="1" i="1">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𝑺</m:t>
                                </m:r>
                              </m:e>
                              <m:sub>
                                <m:r>
                                  <a:rPr lang="en-US" altLang="zh-CN" b="1" i="1" smtClean="0">
                                    <a:latin typeface="Cambria Math" panose="02040503050406030204" pitchFamily="18" charset="0"/>
                                    <a:ea typeface="Cambria Math" panose="02040503050406030204" pitchFamily="18" charset="0"/>
                                  </a:rPr>
                                  <m:t>𝟓</m:t>
                                </m:r>
                              </m:sub>
                            </m:sSub>
                            <m:r>
                              <a:rPr lang="en-US" altLang="zh-CN" b="1" i="1" smtClean="0">
                                <a:latin typeface="Cambria Math" panose="02040503050406030204" pitchFamily="18" charset="0"/>
                                <a:ea typeface="Cambria Math" panose="02040503050406030204" pitchFamily="18" charset="0"/>
                              </a:rPr>
                              <m:t>                                                                                                      </m:t>
                            </m:r>
                          </m:e>
                        </m:eqArr>
                      </m:e>
                    </m:d>
                  </m:oMath>
                </a14:m>
                <a:endParaRPr lang="zh-CN" altLang="en-US" b="1" dirty="0">
                  <a:latin typeface="Times New Roman" panose="02020603050405020304" pitchFamily="18" charset="0"/>
                  <a:cs typeface="Times New Roman" panose="02020603050405020304" pitchFamily="18" charset="0"/>
                </a:endParaRPr>
              </a:p>
            </p:txBody>
          </p:sp>
        </mc:Choice>
        <mc:Fallback xmlns="">
          <p:sp>
            <p:nvSpPr>
              <p:cNvPr id="17" name="Rectangle 20"/>
              <p:cNvSpPr>
                <a:spLocks noRot="1" noChangeAspect="1" noMove="1" noResize="1" noEditPoints="1" noAdjustHandles="1" noChangeArrowheads="1" noChangeShapeType="1" noTextEdit="1"/>
              </p:cNvSpPr>
              <p:nvPr/>
            </p:nvSpPr>
            <p:spPr bwMode="auto">
              <a:xfrm>
                <a:off x="755576" y="1883184"/>
                <a:ext cx="8064896" cy="4768228"/>
              </a:xfrm>
              <a:prstGeom prst="rect">
                <a:avLst/>
              </a:prstGeom>
              <a:blipFill>
                <a:blip r:embed="rId3"/>
                <a:stretch>
                  <a:fillRect l="-831" t="-51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428147534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2"/>
          <p:cNvSpPr>
            <a:spLocks noGrp="1" noChangeArrowheads="1"/>
          </p:cNvSpPr>
          <p:nvPr>
            <p:ph type="title"/>
          </p:nvPr>
        </p:nvSpPr>
        <p:spPr/>
        <p:txBody>
          <a:bodyPr/>
          <a:lstStyle/>
          <a:p>
            <a:r>
              <a:rPr lang="en-US" altLang="zh-CN" dirty="0" smtClean="0"/>
              <a:t>8.4.2.2 </a:t>
            </a:r>
            <a:r>
              <a:rPr lang="zh-CN" altLang="en-US" dirty="0"/>
              <a:t>不确定性的采购问题 </a:t>
            </a:r>
          </a:p>
        </p:txBody>
      </p:sp>
      <p:sp>
        <p:nvSpPr>
          <p:cNvPr id="11571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97CB991E-8065-4A9B-9B1D-AAFED9A990FE}" type="slidenum">
              <a:rPr lang="en-US" altLang="zh-CN" sz="1000"/>
              <a:pPr/>
              <a:t>65</a:t>
            </a:fld>
            <a:endParaRPr lang="en-US" altLang="zh-CN" sz="1000"/>
          </a:p>
        </p:txBody>
      </p:sp>
      <p:graphicFrame>
        <p:nvGraphicFramePr>
          <p:cNvPr id="115717" name="Object 22"/>
          <p:cNvGraphicFramePr>
            <a:graphicFrameLocks noChangeAspect="1"/>
          </p:cNvGraphicFramePr>
          <p:nvPr>
            <p:extLst>
              <p:ext uri="{D42A27DB-BD31-4B8C-83A1-F6EECF244321}">
                <p14:modId xmlns:p14="http://schemas.microsoft.com/office/powerpoint/2010/main" val="2301177276"/>
              </p:ext>
            </p:extLst>
          </p:nvPr>
        </p:nvGraphicFramePr>
        <p:xfrm>
          <a:off x="1790700" y="2525713"/>
          <a:ext cx="1584325" cy="323850"/>
        </p:xfrm>
        <a:graphic>
          <a:graphicData uri="http://schemas.openxmlformats.org/presentationml/2006/ole">
            <mc:AlternateContent xmlns:mc="http://schemas.openxmlformats.org/markup-compatibility/2006">
              <mc:Choice xmlns:v="urn:schemas-microsoft-com:vml" Requires="v">
                <p:oleObj spid="_x0000_s116125" name="Equation" r:id="rId3" imgW="1117440" imgH="228600" progId="Equation.DSMT4">
                  <p:embed/>
                </p:oleObj>
              </mc:Choice>
              <mc:Fallback>
                <p:oleObj name="Equation" r:id="rId3" imgW="1117440" imgH="228600" progId="Equation.DSMT4">
                  <p:embed/>
                  <p:pic>
                    <p:nvPicPr>
                      <p:cNvPr id="0" name="Object 22"/>
                      <p:cNvPicPr>
                        <a:picLocks noChangeAspect="1" noChangeArrowheads="1"/>
                      </p:cNvPicPr>
                      <p:nvPr/>
                    </p:nvPicPr>
                    <p:blipFill>
                      <a:blip r:embed="rId4"/>
                      <a:srcRect/>
                      <a:stretch>
                        <a:fillRect/>
                      </a:stretch>
                    </p:blipFill>
                    <p:spPr bwMode="auto">
                      <a:xfrm>
                        <a:off x="1790700" y="2525713"/>
                        <a:ext cx="15843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5718" name="Object 21"/>
          <p:cNvGraphicFramePr>
            <a:graphicFrameLocks noChangeAspect="1"/>
          </p:cNvGraphicFramePr>
          <p:nvPr>
            <p:extLst>
              <p:ext uri="{D42A27DB-BD31-4B8C-83A1-F6EECF244321}">
                <p14:modId xmlns:p14="http://schemas.microsoft.com/office/powerpoint/2010/main" val="1332800794"/>
              </p:ext>
            </p:extLst>
          </p:nvPr>
        </p:nvGraphicFramePr>
        <p:xfrm>
          <a:off x="4317943" y="2504128"/>
          <a:ext cx="3671888" cy="311150"/>
        </p:xfrm>
        <a:graphic>
          <a:graphicData uri="http://schemas.openxmlformats.org/presentationml/2006/ole">
            <mc:AlternateContent xmlns:mc="http://schemas.openxmlformats.org/markup-compatibility/2006">
              <mc:Choice xmlns:v="urn:schemas-microsoft-com:vml" Requires="v">
                <p:oleObj spid="_x0000_s116126" r:id="rId5" imgW="2692400" imgH="228600" progId="Equation.DSMT4">
                  <p:embed/>
                </p:oleObj>
              </mc:Choice>
              <mc:Fallback>
                <p:oleObj r:id="rId5" imgW="2692400" imgH="228600" progId="Equation.DSMT4">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17943" y="2504128"/>
                        <a:ext cx="3671888"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5719" name="Object 19"/>
          <p:cNvGraphicFramePr>
            <a:graphicFrameLocks noChangeAspect="1"/>
          </p:cNvGraphicFramePr>
          <p:nvPr>
            <p:extLst>
              <p:ext uri="{D42A27DB-BD31-4B8C-83A1-F6EECF244321}">
                <p14:modId xmlns:p14="http://schemas.microsoft.com/office/powerpoint/2010/main" val="2615478053"/>
              </p:ext>
            </p:extLst>
          </p:nvPr>
        </p:nvGraphicFramePr>
        <p:xfrm>
          <a:off x="1346745" y="3305175"/>
          <a:ext cx="7770682" cy="353841"/>
        </p:xfrm>
        <a:graphic>
          <a:graphicData uri="http://schemas.openxmlformats.org/presentationml/2006/ole">
            <mc:AlternateContent xmlns:mc="http://schemas.openxmlformats.org/markup-compatibility/2006">
              <mc:Choice xmlns:v="urn:schemas-microsoft-com:vml" Requires="v">
                <p:oleObj spid="_x0000_s116127" name="Equation" r:id="rId7" imgW="5067000" imgH="228600" progId="Equation.DSMT4">
                  <p:embed/>
                </p:oleObj>
              </mc:Choice>
              <mc:Fallback>
                <p:oleObj name="Equation" r:id="rId7" imgW="5067000" imgH="228600" progId="Equation.DSMT4">
                  <p:embed/>
                  <p:pic>
                    <p:nvPicPr>
                      <p:cNvPr id="0" name="Object 19"/>
                      <p:cNvPicPr>
                        <a:picLocks noChangeAspect="1" noChangeArrowheads="1"/>
                      </p:cNvPicPr>
                      <p:nvPr/>
                    </p:nvPicPr>
                    <p:blipFill>
                      <a:blip r:embed="rId8"/>
                      <a:srcRect/>
                      <a:stretch>
                        <a:fillRect/>
                      </a:stretch>
                    </p:blipFill>
                    <p:spPr bwMode="auto">
                      <a:xfrm>
                        <a:off x="1346745" y="3305175"/>
                        <a:ext cx="7770682" cy="353841"/>
                      </a:xfrm>
                      <a:prstGeom prst="rect">
                        <a:avLst/>
                      </a:prstGeom>
                      <a:noFill/>
                      <a:ln>
                        <a:noFill/>
                      </a:ln>
                      <a:extLst/>
                    </p:spPr>
                  </p:pic>
                </p:oleObj>
              </mc:Fallback>
            </mc:AlternateContent>
          </a:graphicData>
        </a:graphic>
      </p:graphicFrame>
      <p:graphicFrame>
        <p:nvGraphicFramePr>
          <p:cNvPr id="115720" name="Object 18"/>
          <p:cNvGraphicFramePr>
            <a:graphicFrameLocks noChangeAspect="1"/>
          </p:cNvGraphicFramePr>
          <p:nvPr>
            <p:extLst>
              <p:ext uri="{D42A27DB-BD31-4B8C-83A1-F6EECF244321}">
                <p14:modId xmlns:p14="http://schemas.microsoft.com/office/powerpoint/2010/main" val="2121302530"/>
              </p:ext>
            </p:extLst>
          </p:nvPr>
        </p:nvGraphicFramePr>
        <p:xfrm>
          <a:off x="1514475" y="3740150"/>
          <a:ext cx="3365260" cy="1561058"/>
        </p:xfrm>
        <a:graphic>
          <a:graphicData uri="http://schemas.openxmlformats.org/presentationml/2006/ole">
            <mc:AlternateContent xmlns:mc="http://schemas.openxmlformats.org/markup-compatibility/2006">
              <mc:Choice xmlns:v="urn:schemas-microsoft-com:vml" Requires="v">
                <p:oleObj spid="_x0000_s116128" name="Equation" r:id="rId9" imgW="2234880" imgH="1041120" progId="Equation.DSMT4">
                  <p:embed/>
                </p:oleObj>
              </mc:Choice>
              <mc:Fallback>
                <p:oleObj name="Equation" r:id="rId9" imgW="2234880" imgH="1041120" progId="Equation.DSMT4">
                  <p:embed/>
                  <p:pic>
                    <p:nvPicPr>
                      <p:cNvPr id="0" name="Object 18"/>
                      <p:cNvPicPr>
                        <a:picLocks noChangeAspect="1" noChangeArrowheads="1"/>
                      </p:cNvPicPr>
                      <p:nvPr/>
                    </p:nvPicPr>
                    <p:blipFill>
                      <a:blip r:embed="rId10"/>
                      <a:srcRect/>
                      <a:stretch>
                        <a:fillRect/>
                      </a:stretch>
                    </p:blipFill>
                    <p:spPr bwMode="auto">
                      <a:xfrm>
                        <a:off x="1514475" y="3740150"/>
                        <a:ext cx="3365260" cy="1561058"/>
                      </a:xfrm>
                      <a:prstGeom prst="rect">
                        <a:avLst/>
                      </a:prstGeom>
                      <a:noFill/>
                      <a:ln>
                        <a:noFill/>
                      </a:ln>
                      <a:extLst/>
                    </p:spPr>
                  </p:pic>
                </p:oleObj>
              </mc:Fallback>
            </mc:AlternateContent>
          </a:graphicData>
        </a:graphic>
      </p:graphicFrame>
      <p:graphicFrame>
        <p:nvGraphicFramePr>
          <p:cNvPr id="115721" name="Object 17"/>
          <p:cNvGraphicFramePr>
            <a:graphicFrameLocks noChangeAspect="1"/>
          </p:cNvGraphicFramePr>
          <p:nvPr>
            <p:extLst>
              <p:ext uri="{D42A27DB-BD31-4B8C-83A1-F6EECF244321}">
                <p14:modId xmlns:p14="http://schemas.microsoft.com/office/powerpoint/2010/main" val="3807444004"/>
              </p:ext>
            </p:extLst>
          </p:nvPr>
        </p:nvGraphicFramePr>
        <p:xfrm>
          <a:off x="3059832" y="5361804"/>
          <a:ext cx="3313113" cy="719138"/>
        </p:xfrm>
        <a:graphic>
          <a:graphicData uri="http://schemas.openxmlformats.org/presentationml/2006/ole">
            <mc:AlternateContent xmlns:mc="http://schemas.openxmlformats.org/markup-compatibility/2006">
              <mc:Choice xmlns:v="urn:schemas-microsoft-com:vml" Requires="v">
                <p:oleObj spid="_x0000_s116129" name="Equation" r:id="rId11" imgW="2234880" imgH="482400" progId="Equation.DSMT4">
                  <p:embed/>
                </p:oleObj>
              </mc:Choice>
              <mc:Fallback>
                <p:oleObj name="Equation" r:id="rId11" imgW="2234880" imgH="482400" progId="Equation.DSMT4">
                  <p:embed/>
                  <p:pic>
                    <p:nvPicPr>
                      <p:cNvPr id="0" name="Object 17"/>
                      <p:cNvPicPr>
                        <a:picLocks noChangeAspect="1" noChangeArrowheads="1"/>
                      </p:cNvPicPr>
                      <p:nvPr/>
                    </p:nvPicPr>
                    <p:blipFill>
                      <a:blip r:embed="rId12"/>
                      <a:srcRect/>
                      <a:stretch>
                        <a:fillRect/>
                      </a:stretch>
                    </p:blipFill>
                    <p:spPr bwMode="auto">
                      <a:xfrm>
                        <a:off x="3059832" y="5361804"/>
                        <a:ext cx="3313113"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5722" name="Rectangle 24"/>
          <p:cNvSpPr>
            <a:spLocks noChangeArrowheads="1"/>
          </p:cNvSpPr>
          <p:nvPr/>
        </p:nvSpPr>
        <p:spPr bwMode="auto">
          <a:xfrm>
            <a:off x="399279" y="2060848"/>
            <a:ext cx="71641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indent="0"/>
            <a:r>
              <a:rPr lang="zh-CN" altLang="en-US" b="1" dirty="0">
                <a:cs typeface="Times New Roman" panose="02020603050405020304" pitchFamily="18" charset="0"/>
              </a:rPr>
              <a:t>从最后一周开始，逐步向前递推计算，具体计算过程如下。</a:t>
            </a:r>
            <a:endParaRPr lang="zh-CN" altLang="en-US" b="1" dirty="0"/>
          </a:p>
        </p:txBody>
      </p:sp>
      <p:sp>
        <p:nvSpPr>
          <p:cNvPr id="115723" name="Rectangle 25"/>
          <p:cNvSpPr>
            <a:spLocks noChangeArrowheads="1"/>
          </p:cNvSpPr>
          <p:nvPr/>
        </p:nvSpPr>
        <p:spPr bwMode="auto">
          <a:xfrm>
            <a:off x="395163" y="2493855"/>
            <a:ext cx="13933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b="1" i="1" dirty="0">
                <a:latin typeface="Times New Roman" panose="02020603050405020304" pitchFamily="18" charset="0"/>
                <a:cs typeface="Times New Roman" panose="02020603050405020304" pitchFamily="18" charset="0"/>
              </a:rPr>
              <a:t>k</a:t>
            </a:r>
            <a:r>
              <a:rPr lang="en-US" altLang="zh-CN" b="1" dirty="0" smtClean="0">
                <a:cs typeface="Times New Roman" panose="02020603050405020304" pitchFamily="18" charset="0"/>
              </a:rPr>
              <a:t>=5</a:t>
            </a:r>
            <a:r>
              <a:rPr lang="zh-CN" altLang="en-US" b="1" dirty="0" smtClean="0">
                <a:cs typeface="Times New Roman" panose="02020603050405020304" pitchFamily="18" charset="0"/>
              </a:rPr>
              <a:t>时</a:t>
            </a:r>
            <a:r>
              <a:rPr lang="zh-CN" altLang="en-US" b="1" dirty="0">
                <a:cs typeface="Times New Roman" panose="02020603050405020304" pitchFamily="18" charset="0"/>
              </a:rPr>
              <a:t>，因</a:t>
            </a:r>
            <a:endParaRPr lang="zh-CN" altLang="en-US" b="1" dirty="0"/>
          </a:p>
        </p:txBody>
      </p:sp>
      <p:sp>
        <p:nvSpPr>
          <p:cNvPr id="115724" name="Rectangle 26"/>
          <p:cNvSpPr>
            <a:spLocks noChangeArrowheads="1"/>
          </p:cNvSpPr>
          <p:nvPr/>
        </p:nvSpPr>
        <p:spPr bwMode="auto">
          <a:xfrm>
            <a:off x="3359026" y="2457342"/>
            <a:ext cx="9589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a:cs typeface="Times New Roman" panose="02020603050405020304" pitchFamily="18" charset="0"/>
              </a:rPr>
              <a:t>，故有</a:t>
            </a:r>
            <a:endParaRPr lang="zh-CN" altLang="en-US" b="1"/>
          </a:p>
        </p:txBody>
      </p:sp>
      <p:sp>
        <p:nvSpPr>
          <p:cNvPr id="115725" name="Rectangle 27"/>
          <p:cNvSpPr>
            <a:spLocks noChangeArrowheads="1"/>
          </p:cNvSpPr>
          <p:nvPr/>
        </p:nvSpPr>
        <p:spPr bwMode="auto">
          <a:xfrm>
            <a:off x="395163" y="2859932"/>
            <a:ext cx="85693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indent="0"/>
            <a:r>
              <a:rPr lang="zh-CN" altLang="en-US" b="1" dirty="0" smtClean="0">
                <a:cs typeface="Times New Roman" panose="02020603050405020304" pitchFamily="18" charset="0"/>
              </a:rPr>
              <a:t>即</a:t>
            </a:r>
            <a:r>
              <a:rPr lang="en-US" altLang="zh-CN" b="1" i="1" dirty="0" smtClean="0">
                <a:latin typeface="Times New Roman" panose="02020603050405020304" pitchFamily="18" charset="0"/>
                <a:cs typeface="Times New Roman" panose="02020603050405020304" pitchFamily="18" charset="0"/>
              </a:rPr>
              <a:t>k</a:t>
            </a:r>
            <a:r>
              <a:rPr lang="en-US" altLang="zh-CN" b="1" dirty="0" smtClean="0">
                <a:cs typeface="Times New Roman" panose="02020603050405020304" pitchFamily="18" charset="0"/>
              </a:rPr>
              <a:t>=5</a:t>
            </a:r>
            <a:r>
              <a:rPr lang="zh-CN" altLang="en-US" b="1" dirty="0" smtClean="0">
                <a:cs typeface="Times New Roman" panose="02020603050405020304" pitchFamily="18" charset="0"/>
              </a:rPr>
              <a:t>时</a:t>
            </a:r>
            <a:r>
              <a:rPr lang="zh-CN" altLang="en-US" b="1" dirty="0">
                <a:cs typeface="Times New Roman" panose="02020603050405020304" pitchFamily="18" charset="0"/>
              </a:rPr>
              <a:t>，</a:t>
            </a:r>
            <a:r>
              <a:rPr lang="zh-CN" altLang="en-US" b="1" dirty="0" smtClean="0">
                <a:cs typeface="Times New Roman" panose="02020603050405020304" pitchFamily="18" charset="0"/>
              </a:rPr>
              <a:t>若尚未</a:t>
            </a:r>
            <a:r>
              <a:rPr lang="zh-CN" altLang="en-US" b="1" dirty="0">
                <a:cs typeface="Times New Roman" panose="02020603050405020304" pitchFamily="18" charset="0"/>
              </a:rPr>
              <a:t>买入，则无论市场价格如何，都必须采购，不能再等。</a:t>
            </a:r>
            <a:endParaRPr lang="zh-CN" altLang="en-US" b="1" dirty="0"/>
          </a:p>
        </p:txBody>
      </p:sp>
      <p:sp>
        <p:nvSpPr>
          <p:cNvPr id="115726" name="Rectangle 28"/>
          <p:cNvSpPr>
            <a:spLocks noChangeArrowheads="1"/>
          </p:cNvSpPr>
          <p:nvPr/>
        </p:nvSpPr>
        <p:spPr bwMode="auto">
          <a:xfrm>
            <a:off x="427835" y="3280586"/>
            <a:ext cx="11208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b="1" i="1" dirty="0">
                <a:latin typeface="Times New Roman" panose="02020603050405020304" pitchFamily="18" charset="0"/>
                <a:cs typeface="Times New Roman" panose="02020603050405020304" pitchFamily="18" charset="0"/>
              </a:rPr>
              <a:t>k</a:t>
            </a:r>
            <a:r>
              <a:rPr lang="en-US" altLang="zh-CN" b="1" dirty="0" smtClean="0">
                <a:cs typeface="Times New Roman" panose="02020603050405020304" pitchFamily="18" charset="0"/>
              </a:rPr>
              <a:t>=4</a:t>
            </a:r>
            <a:r>
              <a:rPr lang="zh-CN" altLang="en-US" b="1" dirty="0">
                <a:cs typeface="Times New Roman" panose="02020603050405020304" pitchFamily="18" charset="0"/>
              </a:rPr>
              <a:t>时</a:t>
            </a:r>
            <a:r>
              <a:rPr lang="zh-CN" altLang="en-US" b="1" dirty="0" smtClean="0">
                <a:cs typeface="Times New Roman" panose="02020603050405020304" pitchFamily="18" charset="0"/>
              </a:rPr>
              <a:t>，</a:t>
            </a:r>
            <a:endParaRPr lang="zh-CN" altLang="en-US" b="1" dirty="0"/>
          </a:p>
        </p:txBody>
      </p:sp>
      <p:sp>
        <p:nvSpPr>
          <p:cNvPr id="115728" name="Rectangle 30"/>
          <p:cNvSpPr>
            <a:spLocks noChangeArrowheads="1"/>
          </p:cNvSpPr>
          <p:nvPr/>
        </p:nvSpPr>
        <p:spPr bwMode="auto">
          <a:xfrm>
            <a:off x="539552" y="5333617"/>
            <a:ext cx="23920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Times New Roman" panose="02020603050405020304" pitchFamily="18" charset="0"/>
              </a:rPr>
              <a:t>即</a:t>
            </a:r>
            <a:r>
              <a:rPr lang="zh-CN" altLang="en-US" b="1" dirty="0" smtClean="0">
                <a:cs typeface="Times New Roman" panose="02020603050405020304" pitchFamily="18" charset="0"/>
              </a:rPr>
              <a:t>第</a:t>
            </a:r>
            <a:r>
              <a:rPr lang="en-US" altLang="zh-CN" b="1" dirty="0">
                <a:cs typeface="Times New Roman" panose="02020603050405020304" pitchFamily="18" charset="0"/>
              </a:rPr>
              <a:t>4</a:t>
            </a:r>
            <a:r>
              <a:rPr lang="zh-CN" altLang="en-US" b="1" dirty="0">
                <a:cs typeface="Times New Roman" panose="02020603050405020304" pitchFamily="18" charset="0"/>
              </a:rPr>
              <a:t>周最优决策为</a:t>
            </a:r>
            <a:endParaRPr lang="zh-CN" altLang="en-US" b="1" dirty="0"/>
          </a:p>
        </p:txBody>
      </p:sp>
      <p:sp>
        <p:nvSpPr>
          <p:cNvPr id="16" name="内容占位符 1"/>
          <p:cNvSpPr>
            <a:spLocks noGrp="1"/>
          </p:cNvSpPr>
          <p:nvPr>
            <p:ph idx="1"/>
          </p:nvPr>
        </p:nvSpPr>
        <p:spPr>
          <a:xfrm>
            <a:off x="539552" y="1337268"/>
            <a:ext cx="8280920" cy="461665"/>
          </a:xfrm>
        </p:spPr>
        <p:txBody>
          <a:bodyPr/>
          <a:lstStyle/>
          <a:p>
            <a:r>
              <a:rPr lang="zh-CN" altLang="en-US" dirty="0">
                <a:cs typeface="Times New Roman" panose="02020603050405020304" pitchFamily="18" charset="0"/>
              </a:rPr>
              <a:t>例</a:t>
            </a:r>
            <a:r>
              <a:rPr lang="en-US" altLang="zh-CN" dirty="0">
                <a:cs typeface="Times New Roman" panose="02020603050405020304" pitchFamily="18" charset="0"/>
              </a:rPr>
              <a:t>8-6</a:t>
            </a:r>
            <a:r>
              <a:rPr lang="zh-CN" altLang="en-US" dirty="0">
                <a:cs typeface="Times New Roman" panose="02020603050405020304" pitchFamily="18" charset="0"/>
              </a:rPr>
              <a:t>：采购问题</a:t>
            </a:r>
            <a:endParaRPr lang="zh-CN" altLang="en-US" dirty="0"/>
          </a:p>
        </p:txBody>
      </p:sp>
      <p:graphicFrame>
        <p:nvGraphicFramePr>
          <p:cNvPr id="17" name="Group 57"/>
          <p:cNvGraphicFramePr>
            <a:graphicFrameLocks noGrp="1"/>
          </p:cNvGraphicFramePr>
          <p:nvPr>
            <p:extLst>
              <p:ext uri="{D42A27DB-BD31-4B8C-83A1-F6EECF244321}">
                <p14:modId xmlns:p14="http://schemas.microsoft.com/office/powerpoint/2010/main" val="3840686144"/>
              </p:ext>
            </p:extLst>
          </p:nvPr>
        </p:nvGraphicFramePr>
        <p:xfrm>
          <a:off x="6186108" y="-10716"/>
          <a:ext cx="2938660" cy="1462896"/>
        </p:xfrm>
        <a:graphic>
          <a:graphicData uri="http://schemas.openxmlformats.org/drawingml/2006/table">
            <a:tbl>
              <a:tblPr/>
              <a:tblGrid>
                <a:gridCol w="1469330">
                  <a:extLst>
                    <a:ext uri="{9D8B030D-6E8A-4147-A177-3AD203B41FA5}">
                      <a16:colId xmlns:a16="http://schemas.microsoft.com/office/drawing/2014/main" val="20000"/>
                    </a:ext>
                  </a:extLst>
                </a:gridCol>
                <a:gridCol w="1469330">
                  <a:extLst>
                    <a:ext uri="{9D8B030D-6E8A-4147-A177-3AD203B41FA5}">
                      <a16:colId xmlns:a16="http://schemas.microsoft.com/office/drawing/2014/main" val="20001"/>
                    </a:ext>
                  </a:extLst>
                </a:gridCol>
              </a:tblGrid>
              <a:tr h="250538">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单价</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概率</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0538">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500</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0.3</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0538">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600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0.3</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0538">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700</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0.4</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8" name="Object 19"/>
          <p:cNvGraphicFramePr>
            <a:graphicFrameLocks noChangeAspect="1"/>
          </p:cNvGraphicFramePr>
          <p:nvPr>
            <p:extLst>
              <p:ext uri="{D42A27DB-BD31-4B8C-83A1-F6EECF244321}">
                <p14:modId xmlns:p14="http://schemas.microsoft.com/office/powerpoint/2010/main" val="1391273378"/>
              </p:ext>
            </p:extLst>
          </p:nvPr>
        </p:nvGraphicFramePr>
        <p:xfrm>
          <a:off x="611560" y="6144949"/>
          <a:ext cx="7789862" cy="354012"/>
        </p:xfrm>
        <a:graphic>
          <a:graphicData uri="http://schemas.openxmlformats.org/presentationml/2006/ole">
            <mc:AlternateContent xmlns:mc="http://schemas.openxmlformats.org/markup-compatibility/2006">
              <mc:Choice xmlns:v="urn:schemas-microsoft-com:vml" Requires="v">
                <p:oleObj spid="_x0000_s116130" name="Equation" r:id="rId13" imgW="5079960" imgH="228600" progId="Equation.DSMT4">
                  <p:embed/>
                </p:oleObj>
              </mc:Choice>
              <mc:Fallback>
                <p:oleObj name="Equation" r:id="rId13" imgW="5079960" imgH="228600" progId="Equation.DSMT4">
                  <p:embed/>
                  <p:pic>
                    <p:nvPicPr>
                      <p:cNvPr id="25" name="Object 19"/>
                      <p:cNvPicPr>
                        <a:picLocks noChangeAspect="1" noChangeArrowheads="1"/>
                      </p:cNvPicPr>
                      <p:nvPr/>
                    </p:nvPicPr>
                    <p:blipFill>
                      <a:blip r:embed="rId14"/>
                      <a:srcRect/>
                      <a:stretch>
                        <a:fillRect/>
                      </a:stretch>
                    </p:blipFill>
                    <p:spPr bwMode="auto">
                      <a:xfrm>
                        <a:off x="611560" y="6144949"/>
                        <a:ext cx="7789862" cy="354012"/>
                      </a:xfrm>
                      <a:prstGeom prst="rect">
                        <a:avLst/>
                      </a:prstGeom>
                      <a:noFill/>
                      <a:ln>
                        <a:noFill/>
                      </a:ln>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2"/>
          <p:cNvSpPr>
            <a:spLocks noGrp="1" noChangeArrowheads="1"/>
          </p:cNvSpPr>
          <p:nvPr>
            <p:ph type="title"/>
          </p:nvPr>
        </p:nvSpPr>
        <p:spPr/>
        <p:txBody>
          <a:bodyPr/>
          <a:lstStyle/>
          <a:p>
            <a:r>
              <a:rPr lang="en-US" altLang="zh-CN" dirty="0" smtClean="0"/>
              <a:t>8.4.2.2 </a:t>
            </a:r>
            <a:r>
              <a:rPr lang="zh-CN" altLang="en-US" dirty="0"/>
              <a:t>不确定性的采购问题 </a:t>
            </a:r>
          </a:p>
        </p:txBody>
      </p:sp>
      <p:sp>
        <p:nvSpPr>
          <p:cNvPr id="11571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97CB991E-8065-4A9B-9B1D-AAFED9A990FE}" type="slidenum">
              <a:rPr lang="en-US" altLang="zh-CN" sz="1000"/>
              <a:pPr/>
              <a:t>66</a:t>
            </a:fld>
            <a:endParaRPr lang="en-US" altLang="zh-CN" sz="1000"/>
          </a:p>
        </p:txBody>
      </p:sp>
      <p:sp>
        <p:nvSpPr>
          <p:cNvPr id="16" name="内容占位符 1"/>
          <p:cNvSpPr>
            <a:spLocks noGrp="1"/>
          </p:cNvSpPr>
          <p:nvPr>
            <p:ph idx="1"/>
          </p:nvPr>
        </p:nvSpPr>
        <p:spPr>
          <a:xfrm>
            <a:off x="539552" y="1337268"/>
            <a:ext cx="8280920" cy="461665"/>
          </a:xfrm>
        </p:spPr>
        <p:txBody>
          <a:bodyPr/>
          <a:lstStyle/>
          <a:p>
            <a:r>
              <a:rPr lang="zh-CN" altLang="en-US" dirty="0">
                <a:cs typeface="Times New Roman" panose="02020603050405020304" pitchFamily="18" charset="0"/>
              </a:rPr>
              <a:t>例</a:t>
            </a:r>
            <a:r>
              <a:rPr lang="en-US" altLang="zh-CN" dirty="0">
                <a:cs typeface="Times New Roman" panose="02020603050405020304" pitchFamily="18" charset="0"/>
              </a:rPr>
              <a:t>8-6</a:t>
            </a:r>
            <a:r>
              <a:rPr lang="zh-CN" altLang="en-US" dirty="0">
                <a:cs typeface="Times New Roman" panose="02020603050405020304" pitchFamily="18" charset="0"/>
              </a:rPr>
              <a:t>：采购问题</a:t>
            </a:r>
            <a:endParaRPr lang="zh-CN" altLang="en-US" dirty="0"/>
          </a:p>
        </p:txBody>
      </p:sp>
      <p:graphicFrame>
        <p:nvGraphicFramePr>
          <p:cNvPr id="17" name="Group 57"/>
          <p:cNvGraphicFramePr>
            <a:graphicFrameLocks noGrp="1"/>
          </p:cNvGraphicFramePr>
          <p:nvPr/>
        </p:nvGraphicFramePr>
        <p:xfrm>
          <a:off x="6186108" y="-10716"/>
          <a:ext cx="2938660" cy="1462896"/>
        </p:xfrm>
        <a:graphic>
          <a:graphicData uri="http://schemas.openxmlformats.org/drawingml/2006/table">
            <a:tbl>
              <a:tblPr/>
              <a:tblGrid>
                <a:gridCol w="1469330">
                  <a:extLst>
                    <a:ext uri="{9D8B030D-6E8A-4147-A177-3AD203B41FA5}">
                      <a16:colId xmlns:a16="http://schemas.microsoft.com/office/drawing/2014/main" val="20000"/>
                    </a:ext>
                  </a:extLst>
                </a:gridCol>
                <a:gridCol w="1469330">
                  <a:extLst>
                    <a:ext uri="{9D8B030D-6E8A-4147-A177-3AD203B41FA5}">
                      <a16:colId xmlns:a16="http://schemas.microsoft.com/office/drawing/2014/main" val="20001"/>
                    </a:ext>
                  </a:extLst>
                </a:gridCol>
              </a:tblGrid>
              <a:tr h="250538">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单价</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概率</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0538">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500</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0.3</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0538">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600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0.3</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0538">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700</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0.4</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8" name="Object 16"/>
          <p:cNvGraphicFramePr>
            <a:graphicFrameLocks noChangeAspect="1"/>
          </p:cNvGraphicFramePr>
          <p:nvPr>
            <p:extLst/>
          </p:nvPr>
        </p:nvGraphicFramePr>
        <p:xfrm>
          <a:off x="1579451" y="1974188"/>
          <a:ext cx="2801813" cy="1018424"/>
        </p:xfrm>
        <a:graphic>
          <a:graphicData uri="http://schemas.openxmlformats.org/presentationml/2006/ole">
            <mc:AlternateContent xmlns:mc="http://schemas.openxmlformats.org/markup-compatibility/2006">
              <mc:Choice xmlns:v="urn:schemas-microsoft-com:vml" Requires="v">
                <p:oleObj spid="_x0000_s231561" name="Equation" r:id="rId3" imgW="2222280" imgH="812520" progId="Equation.DSMT4">
                  <p:embed/>
                </p:oleObj>
              </mc:Choice>
              <mc:Fallback>
                <p:oleObj name="Equation" r:id="rId3" imgW="2222280" imgH="812520" progId="Equation.DSMT4">
                  <p:embed/>
                  <p:pic>
                    <p:nvPicPr>
                      <p:cNvPr id="18" name="Object 16"/>
                      <p:cNvPicPr>
                        <a:picLocks noChangeAspect="1" noChangeArrowheads="1"/>
                      </p:cNvPicPr>
                      <p:nvPr/>
                    </p:nvPicPr>
                    <p:blipFill>
                      <a:blip r:embed="rId4"/>
                      <a:srcRect/>
                      <a:stretch>
                        <a:fillRect/>
                      </a:stretch>
                    </p:blipFill>
                    <p:spPr bwMode="auto">
                      <a:xfrm>
                        <a:off x="1579451" y="1974188"/>
                        <a:ext cx="2801813" cy="1018424"/>
                      </a:xfrm>
                      <a:prstGeom prst="rect">
                        <a:avLst/>
                      </a:prstGeom>
                      <a:noFill/>
                      <a:ln>
                        <a:noFill/>
                      </a:ln>
                      <a:extLst/>
                    </p:spPr>
                  </p:pic>
                </p:oleObj>
              </mc:Fallback>
            </mc:AlternateContent>
          </a:graphicData>
        </a:graphic>
      </p:graphicFrame>
      <p:graphicFrame>
        <p:nvGraphicFramePr>
          <p:cNvPr id="19" name="Object 15"/>
          <p:cNvGraphicFramePr>
            <a:graphicFrameLocks noChangeAspect="1"/>
          </p:cNvGraphicFramePr>
          <p:nvPr>
            <p:extLst/>
          </p:nvPr>
        </p:nvGraphicFramePr>
        <p:xfrm>
          <a:off x="6268843" y="2005354"/>
          <a:ext cx="2119581" cy="559550"/>
        </p:xfrm>
        <a:graphic>
          <a:graphicData uri="http://schemas.openxmlformats.org/presentationml/2006/ole">
            <mc:AlternateContent xmlns:mc="http://schemas.openxmlformats.org/markup-compatibility/2006">
              <mc:Choice xmlns:v="urn:schemas-microsoft-com:vml" Requires="v">
                <p:oleObj spid="_x0000_s231562" name="Equation" r:id="rId5" imgW="1841400" imgH="482400" progId="Equation.DSMT4">
                  <p:embed/>
                </p:oleObj>
              </mc:Choice>
              <mc:Fallback>
                <p:oleObj name="Equation" r:id="rId5" imgW="1841400" imgH="482400" progId="Equation.DSMT4">
                  <p:embed/>
                  <p:pic>
                    <p:nvPicPr>
                      <p:cNvPr id="19" name="Object 15"/>
                      <p:cNvPicPr>
                        <a:picLocks noChangeAspect="1" noChangeArrowheads="1"/>
                      </p:cNvPicPr>
                      <p:nvPr/>
                    </p:nvPicPr>
                    <p:blipFill>
                      <a:blip r:embed="rId6"/>
                      <a:srcRect/>
                      <a:stretch>
                        <a:fillRect/>
                      </a:stretch>
                    </p:blipFill>
                    <p:spPr bwMode="auto">
                      <a:xfrm>
                        <a:off x="6268843" y="2005354"/>
                        <a:ext cx="2119581" cy="559550"/>
                      </a:xfrm>
                      <a:prstGeom prst="rect">
                        <a:avLst/>
                      </a:prstGeom>
                      <a:noFill/>
                      <a:ln>
                        <a:noFill/>
                      </a:ln>
                      <a:extLst/>
                    </p:spPr>
                  </p:pic>
                </p:oleObj>
              </mc:Fallback>
            </mc:AlternateContent>
          </a:graphicData>
        </a:graphic>
      </p:graphicFrame>
      <p:sp>
        <p:nvSpPr>
          <p:cNvPr id="20" name="Rectangle 17"/>
          <p:cNvSpPr>
            <a:spLocks noChangeArrowheads="1"/>
          </p:cNvSpPr>
          <p:nvPr/>
        </p:nvSpPr>
        <p:spPr bwMode="auto">
          <a:xfrm>
            <a:off x="395536" y="1893027"/>
            <a:ext cx="2012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Times New Roman" panose="02020603050405020304" pitchFamily="18" charset="0"/>
              </a:rPr>
              <a:t>同理求得	</a:t>
            </a:r>
            <a:endParaRPr lang="zh-CN" altLang="en-US" b="1" dirty="0"/>
          </a:p>
        </p:txBody>
      </p:sp>
      <p:sp>
        <p:nvSpPr>
          <p:cNvPr id="21" name="Rectangle 18"/>
          <p:cNvSpPr>
            <a:spLocks noChangeArrowheads="1"/>
          </p:cNvSpPr>
          <p:nvPr/>
        </p:nvSpPr>
        <p:spPr bwMode="auto">
          <a:xfrm>
            <a:off x="5663615" y="2074275"/>
            <a:ext cx="72008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smtClean="0">
                <a:cs typeface="Times New Roman" panose="02020603050405020304" pitchFamily="18" charset="0"/>
              </a:rPr>
              <a:t>所以</a:t>
            </a:r>
            <a:endParaRPr lang="zh-CN" altLang="en-US" b="1" dirty="0"/>
          </a:p>
        </p:txBody>
      </p:sp>
      <p:graphicFrame>
        <p:nvGraphicFramePr>
          <p:cNvPr id="22" name="Object 8"/>
          <p:cNvGraphicFramePr>
            <a:graphicFrameLocks noChangeAspect="1"/>
          </p:cNvGraphicFramePr>
          <p:nvPr>
            <p:extLst/>
          </p:nvPr>
        </p:nvGraphicFramePr>
        <p:xfrm>
          <a:off x="1525589" y="3378200"/>
          <a:ext cx="3046412" cy="1034030"/>
        </p:xfrm>
        <a:graphic>
          <a:graphicData uri="http://schemas.openxmlformats.org/presentationml/2006/ole">
            <mc:AlternateContent xmlns:mc="http://schemas.openxmlformats.org/markup-compatibility/2006">
              <mc:Choice xmlns:v="urn:schemas-microsoft-com:vml" Requires="v">
                <p:oleObj spid="_x0000_s231563" name="Equation" r:id="rId7" imgW="2387520" imgH="812520" progId="Equation.DSMT4">
                  <p:embed/>
                </p:oleObj>
              </mc:Choice>
              <mc:Fallback>
                <p:oleObj name="Equation" r:id="rId7" imgW="2387520" imgH="812520" progId="Equation.DSMT4">
                  <p:embed/>
                  <p:pic>
                    <p:nvPicPr>
                      <p:cNvPr id="22" name="Object 8"/>
                      <p:cNvPicPr>
                        <a:picLocks noChangeAspect="1" noChangeArrowheads="1"/>
                      </p:cNvPicPr>
                      <p:nvPr/>
                    </p:nvPicPr>
                    <p:blipFill>
                      <a:blip r:embed="rId8"/>
                      <a:srcRect/>
                      <a:stretch>
                        <a:fillRect/>
                      </a:stretch>
                    </p:blipFill>
                    <p:spPr bwMode="auto">
                      <a:xfrm>
                        <a:off x="1525589" y="3378200"/>
                        <a:ext cx="3046412" cy="1034030"/>
                      </a:xfrm>
                      <a:prstGeom prst="rect">
                        <a:avLst/>
                      </a:prstGeom>
                      <a:noFill/>
                      <a:ln>
                        <a:noFill/>
                      </a:ln>
                      <a:extLst/>
                    </p:spPr>
                  </p:pic>
                </p:oleObj>
              </mc:Fallback>
            </mc:AlternateContent>
          </a:graphicData>
        </a:graphic>
      </p:graphicFrame>
      <p:graphicFrame>
        <p:nvGraphicFramePr>
          <p:cNvPr id="23" name="Object 7"/>
          <p:cNvGraphicFramePr>
            <a:graphicFrameLocks noChangeAspect="1"/>
          </p:cNvGraphicFramePr>
          <p:nvPr>
            <p:extLst/>
          </p:nvPr>
        </p:nvGraphicFramePr>
        <p:xfrm>
          <a:off x="6268843" y="3418245"/>
          <a:ext cx="2247086" cy="586819"/>
        </p:xfrm>
        <a:graphic>
          <a:graphicData uri="http://schemas.openxmlformats.org/presentationml/2006/ole">
            <mc:AlternateContent xmlns:mc="http://schemas.openxmlformats.org/markup-compatibility/2006">
              <mc:Choice xmlns:v="urn:schemas-microsoft-com:vml" Requires="v">
                <p:oleObj spid="_x0000_s231564" name="Equation" r:id="rId9" imgW="1854000" imgH="482400" progId="Equation.DSMT4">
                  <p:embed/>
                </p:oleObj>
              </mc:Choice>
              <mc:Fallback>
                <p:oleObj name="Equation" r:id="rId9" imgW="1854000" imgH="482400" progId="Equation.DSMT4">
                  <p:embed/>
                  <p:pic>
                    <p:nvPicPr>
                      <p:cNvPr id="23" name="Object 7"/>
                      <p:cNvPicPr>
                        <a:picLocks noChangeAspect="1" noChangeArrowheads="1"/>
                      </p:cNvPicPr>
                      <p:nvPr/>
                    </p:nvPicPr>
                    <p:blipFill>
                      <a:blip r:embed="rId10"/>
                      <a:srcRect/>
                      <a:stretch>
                        <a:fillRect/>
                      </a:stretch>
                    </p:blipFill>
                    <p:spPr bwMode="auto">
                      <a:xfrm>
                        <a:off x="6268843" y="3418245"/>
                        <a:ext cx="2247086" cy="586819"/>
                      </a:xfrm>
                      <a:prstGeom prst="rect">
                        <a:avLst/>
                      </a:prstGeom>
                      <a:noFill/>
                      <a:ln>
                        <a:noFill/>
                      </a:ln>
                      <a:extLst/>
                    </p:spPr>
                  </p:pic>
                </p:oleObj>
              </mc:Fallback>
            </mc:AlternateContent>
          </a:graphicData>
        </a:graphic>
      </p:graphicFrame>
      <p:sp>
        <p:nvSpPr>
          <p:cNvPr id="24" name="Rectangle 10"/>
          <p:cNvSpPr>
            <a:spLocks noChangeArrowheads="1"/>
          </p:cNvSpPr>
          <p:nvPr/>
        </p:nvSpPr>
        <p:spPr bwMode="auto">
          <a:xfrm>
            <a:off x="5667523" y="3498587"/>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smtClean="0">
                <a:cs typeface="Times New Roman" panose="02020603050405020304" pitchFamily="18" charset="0"/>
              </a:rPr>
              <a:t>所以</a:t>
            </a:r>
            <a:endParaRPr lang="zh-CN" altLang="en-US" b="1" dirty="0"/>
          </a:p>
        </p:txBody>
      </p:sp>
      <p:graphicFrame>
        <p:nvGraphicFramePr>
          <p:cNvPr id="28" name="Object 8"/>
          <p:cNvGraphicFramePr>
            <a:graphicFrameLocks noChangeAspect="1"/>
          </p:cNvGraphicFramePr>
          <p:nvPr>
            <p:extLst/>
          </p:nvPr>
        </p:nvGraphicFramePr>
        <p:xfrm>
          <a:off x="1497013" y="4775200"/>
          <a:ext cx="3146995" cy="1051245"/>
        </p:xfrm>
        <a:graphic>
          <a:graphicData uri="http://schemas.openxmlformats.org/presentationml/2006/ole">
            <mc:AlternateContent xmlns:mc="http://schemas.openxmlformats.org/markup-compatibility/2006">
              <mc:Choice xmlns:v="urn:schemas-microsoft-com:vml" Requires="v">
                <p:oleObj spid="_x0000_s231565" name="Equation" r:id="rId11" imgW="2425680" imgH="812520" progId="Equation.DSMT4">
                  <p:embed/>
                </p:oleObj>
              </mc:Choice>
              <mc:Fallback>
                <p:oleObj name="Equation" r:id="rId11" imgW="2425680" imgH="812520" progId="Equation.DSMT4">
                  <p:embed/>
                  <p:pic>
                    <p:nvPicPr>
                      <p:cNvPr id="28" name="Object 8"/>
                      <p:cNvPicPr>
                        <a:picLocks noChangeAspect="1" noChangeArrowheads="1"/>
                      </p:cNvPicPr>
                      <p:nvPr/>
                    </p:nvPicPr>
                    <p:blipFill>
                      <a:blip r:embed="rId12"/>
                      <a:srcRect/>
                      <a:stretch>
                        <a:fillRect/>
                      </a:stretch>
                    </p:blipFill>
                    <p:spPr bwMode="auto">
                      <a:xfrm>
                        <a:off x="1497013" y="4775200"/>
                        <a:ext cx="3146995" cy="1051245"/>
                      </a:xfrm>
                      <a:prstGeom prst="rect">
                        <a:avLst/>
                      </a:prstGeom>
                      <a:noFill/>
                      <a:ln>
                        <a:noFill/>
                      </a:ln>
                      <a:extLst/>
                    </p:spPr>
                  </p:pic>
                </p:oleObj>
              </mc:Fallback>
            </mc:AlternateContent>
          </a:graphicData>
        </a:graphic>
      </p:graphicFrame>
      <p:graphicFrame>
        <p:nvGraphicFramePr>
          <p:cNvPr id="29" name="Object 7"/>
          <p:cNvGraphicFramePr>
            <a:graphicFrameLocks noChangeAspect="1"/>
          </p:cNvGraphicFramePr>
          <p:nvPr>
            <p:extLst/>
          </p:nvPr>
        </p:nvGraphicFramePr>
        <p:xfrm>
          <a:off x="6365150" y="4772174"/>
          <a:ext cx="2440512" cy="634940"/>
        </p:xfrm>
        <a:graphic>
          <a:graphicData uri="http://schemas.openxmlformats.org/presentationml/2006/ole">
            <mc:AlternateContent xmlns:mc="http://schemas.openxmlformats.org/markup-compatibility/2006">
              <mc:Choice xmlns:v="urn:schemas-microsoft-com:vml" Requires="v">
                <p:oleObj spid="_x0000_s231566" name="Equation" r:id="rId13" imgW="1866600" imgH="482400" progId="Equation.DSMT4">
                  <p:embed/>
                </p:oleObj>
              </mc:Choice>
              <mc:Fallback>
                <p:oleObj name="Equation" r:id="rId13" imgW="1866600" imgH="482400" progId="Equation.DSMT4">
                  <p:embed/>
                  <p:pic>
                    <p:nvPicPr>
                      <p:cNvPr id="29" name="Object 7"/>
                      <p:cNvPicPr>
                        <a:picLocks noChangeAspect="1" noChangeArrowheads="1"/>
                      </p:cNvPicPr>
                      <p:nvPr/>
                    </p:nvPicPr>
                    <p:blipFill>
                      <a:blip r:embed="rId14"/>
                      <a:srcRect/>
                      <a:stretch>
                        <a:fillRect/>
                      </a:stretch>
                    </p:blipFill>
                    <p:spPr bwMode="auto">
                      <a:xfrm>
                        <a:off x="6365150" y="4772174"/>
                        <a:ext cx="2440512" cy="634940"/>
                      </a:xfrm>
                      <a:prstGeom prst="rect">
                        <a:avLst/>
                      </a:prstGeom>
                      <a:noFill/>
                      <a:ln>
                        <a:noFill/>
                      </a:ln>
                      <a:extLst/>
                    </p:spPr>
                  </p:pic>
                </p:oleObj>
              </mc:Fallback>
            </mc:AlternateContent>
          </a:graphicData>
        </a:graphic>
      </p:graphicFrame>
      <p:sp>
        <p:nvSpPr>
          <p:cNvPr id="30" name="Rectangle 10"/>
          <p:cNvSpPr>
            <a:spLocks noChangeArrowheads="1"/>
          </p:cNvSpPr>
          <p:nvPr/>
        </p:nvSpPr>
        <p:spPr bwMode="auto">
          <a:xfrm>
            <a:off x="5688040" y="4869185"/>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Times New Roman" panose="02020603050405020304" pitchFamily="18" charset="0"/>
              </a:rPr>
              <a:t>所以</a:t>
            </a:r>
            <a:endParaRPr lang="zh-CN" altLang="en-US" b="1" dirty="0"/>
          </a:p>
        </p:txBody>
      </p:sp>
      <p:graphicFrame>
        <p:nvGraphicFramePr>
          <p:cNvPr id="26" name="Object 19"/>
          <p:cNvGraphicFramePr>
            <a:graphicFrameLocks noChangeAspect="1"/>
          </p:cNvGraphicFramePr>
          <p:nvPr>
            <p:extLst/>
          </p:nvPr>
        </p:nvGraphicFramePr>
        <p:xfrm>
          <a:off x="1259610" y="3031447"/>
          <a:ext cx="6736531" cy="300150"/>
        </p:xfrm>
        <a:graphic>
          <a:graphicData uri="http://schemas.openxmlformats.org/presentationml/2006/ole">
            <mc:AlternateContent xmlns:mc="http://schemas.openxmlformats.org/markup-compatibility/2006">
              <mc:Choice xmlns:v="urn:schemas-microsoft-com:vml" Requires="v">
                <p:oleObj spid="_x0000_s231567" name="Equation" r:id="rId15" imgW="5181480" imgH="228600" progId="Equation.DSMT4">
                  <p:embed/>
                </p:oleObj>
              </mc:Choice>
              <mc:Fallback>
                <p:oleObj name="Equation" r:id="rId15" imgW="5181480" imgH="228600" progId="Equation.DSMT4">
                  <p:embed/>
                  <p:pic>
                    <p:nvPicPr>
                      <p:cNvPr id="26" name="Object 19"/>
                      <p:cNvPicPr>
                        <a:picLocks noChangeAspect="1" noChangeArrowheads="1"/>
                      </p:cNvPicPr>
                      <p:nvPr/>
                    </p:nvPicPr>
                    <p:blipFill>
                      <a:blip r:embed="rId16"/>
                      <a:srcRect/>
                      <a:stretch>
                        <a:fillRect/>
                      </a:stretch>
                    </p:blipFill>
                    <p:spPr bwMode="auto">
                      <a:xfrm>
                        <a:off x="1259610" y="3031447"/>
                        <a:ext cx="6736531" cy="300150"/>
                      </a:xfrm>
                      <a:prstGeom prst="rect">
                        <a:avLst/>
                      </a:prstGeom>
                      <a:noFill/>
                      <a:ln>
                        <a:noFill/>
                      </a:ln>
                      <a:extLst/>
                    </p:spPr>
                  </p:pic>
                </p:oleObj>
              </mc:Fallback>
            </mc:AlternateContent>
          </a:graphicData>
        </a:graphic>
      </p:graphicFrame>
      <p:graphicFrame>
        <p:nvGraphicFramePr>
          <p:cNvPr id="27" name="Object 19"/>
          <p:cNvGraphicFramePr>
            <a:graphicFrameLocks noChangeAspect="1"/>
          </p:cNvGraphicFramePr>
          <p:nvPr>
            <p:extLst/>
          </p:nvPr>
        </p:nvGraphicFramePr>
        <p:xfrm>
          <a:off x="1259610" y="4377674"/>
          <a:ext cx="7116762" cy="300038"/>
        </p:xfrm>
        <a:graphic>
          <a:graphicData uri="http://schemas.openxmlformats.org/presentationml/2006/ole">
            <mc:AlternateContent xmlns:mc="http://schemas.openxmlformats.org/markup-compatibility/2006">
              <mc:Choice xmlns:v="urn:schemas-microsoft-com:vml" Requires="v">
                <p:oleObj spid="_x0000_s231568" name="Equation" r:id="rId17" imgW="5473440" imgH="228600" progId="Equation.DSMT4">
                  <p:embed/>
                </p:oleObj>
              </mc:Choice>
              <mc:Fallback>
                <p:oleObj name="Equation" r:id="rId17" imgW="5473440" imgH="228600" progId="Equation.DSMT4">
                  <p:embed/>
                  <p:pic>
                    <p:nvPicPr>
                      <p:cNvPr id="27" name="Object 19"/>
                      <p:cNvPicPr>
                        <a:picLocks noChangeAspect="1" noChangeArrowheads="1"/>
                      </p:cNvPicPr>
                      <p:nvPr/>
                    </p:nvPicPr>
                    <p:blipFill>
                      <a:blip r:embed="rId18"/>
                      <a:srcRect/>
                      <a:stretch>
                        <a:fillRect/>
                      </a:stretch>
                    </p:blipFill>
                    <p:spPr bwMode="auto">
                      <a:xfrm>
                        <a:off x="1259610" y="4377674"/>
                        <a:ext cx="7116762" cy="300038"/>
                      </a:xfrm>
                      <a:prstGeom prst="rect">
                        <a:avLst/>
                      </a:prstGeom>
                      <a:noFill/>
                      <a:ln>
                        <a:noFill/>
                      </a:ln>
                      <a:extLst/>
                    </p:spPr>
                  </p:pic>
                </p:oleObj>
              </mc:Fallback>
            </mc:AlternateContent>
          </a:graphicData>
        </a:graphic>
      </p:graphicFrame>
      <p:graphicFrame>
        <p:nvGraphicFramePr>
          <p:cNvPr id="32" name="Object 19"/>
          <p:cNvGraphicFramePr>
            <a:graphicFrameLocks noChangeAspect="1"/>
          </p:cNvGraphicFramePr>
          <p:nvPr>
            <p:extLst/>
          </p:nvPr>
        </p:nvGraphicFramePr>
        <p:xfrm>
          <a:off x="1240451" y="5749812"/>
          <a:ext cx="7381875" cy="300037"/>
        </p:xfrm>
        <a:graphic>
          <a:graphicData uri="http://schemas.openxmlformats.org/presentationml/2006/ole">
            <mc:AlternateContent xmlns:mc="http://schemas.openxmlformats.org/markup-compatibility/2006">
              <mc:Choice xmlns:v="urn:schemas-microsoft-com:vml" Requires="v">
                <p:oleObj spid="_x0000_s231569" name="Equation" r:id="rId19" imgW="5676840" imgH="228600" progId="Equation.DSMT4">
                  <p:embed/>
                </p:oleObj>
              </mc:Choice>
              <mc:Fallback>
                <p:oleObj name="Equation" r:id="rId19" imgW="5676840" imgH="228600" progId="Equation.DSMT4">
                  <p:embed/>
                  <p:pic>
                    <p:nvPicPr>
                      <p:cNvPr id="32" name="Object 19"/>
                      <p:cNvPicPr>
                        <a:picLocks noChangeAspect="1" noChangeArrowheads="1"/>
                      </p:cNvPicPr>
                      <p:nvPr/>
                    </p:nvPicPr>
                    <p:blipFill>
                      <a:blip r:embed="rId20"/>
                      <a:srcRect/>
                      <a:stretch>
                        <a:fillRect/>
                      </a:stretch>
                    </p:blipFill>
                    <p:spPr bwMode="auto">
                      <a:xfrm>
                        <a:off x="1240451" y="5749812"/>
                        <a:ext cx="7381875" cy="300037"/>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537401472"/>
      </p:ext>
    </p:extLst>
  </p:cSld>
  <p:clrMapOvr>
    <a:masterClrMapping/>
  </p:clrMapOvr>
  <p:transition spd="slow"/>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2"/>
          <p:cNvSpPr>
            <a:spLocks noGrp="1" noChangeArrowheads="1"/>
          </p:cNvSpPr>
          <p:nvPr>
            <p:ph type="title"/>
          </p:nvPr>
        </p:nvSpPr>
        <p:spPr/>
        <p:txBody>
          <a:bodyPr/>
          <a:lstStyle/>
          <a:p>
            <a:r>
              <a:rPr lang="en-US" altLang="zh-CN" dirty="0" smtClean="0"/>
              <a:t>8.4.2.2 </a:t>
            </a:r>
            <a:r>
              <a:rPr lang="zh-CN" altLang="en-US" dirty="0"/>
              <a:t>不确定性的采购问题 </a:t>
            </a:r>
          </a:p>
        </p:txBody>
      </p:sp>
      <p:sp>
        <p:nvSpPr>
          <p:cNvPr id="11571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97CB991E-8065-4A9B-9B1D-AAFED9A990FE}" type="slidenum">
              <a:rPr lang="en-US" altLang="zh-CN" sz="1000"/>
              <a:pPr/>
              <a:t>67</a:t>
            </a:fld>
            <a:endParaRPr lang="en-US" altLang="zh-CN" sz="1000"/>
          </a:p>
        </p:txBody>
      </p:sp>
      <p:sp>
        <p:nvSpPr>
          <p:cNvPr id="16" name="内容占位符 1"/>
          <p:cNvSpPr>
            <a:spLocks noGrp="1"/>
          </p:cNvSpPr>
          <p:nvPr>
            <p:ph idx="1"/>
          </p:nvPr>
        </p:nvSpPr>
        <p:spPr>
          <a:xfrm>
            <a:off x="539552" y="1337268"/>
            <a:ext cx="8280920" cy="461665"/>
          </a:xfrm>
        </p:spPr>
        <p:txBody>
          <a:bodyPr/>
          <a:lstStyle/>
          <a:p>
            <a:r>
              <a:rPr lang="zh-CN" altLang="en-US" dirty="0">
                <a:cs typeface="Times New Roman" panose="02020603050405020304" pitchFamily="18" charset="0"/>
              </a:rPr>
              <a:t>例</a:t>
            </a:r>
            <a:r>
              <a:rPr lang="en-US" altLang="zh-CN" dirty="0">
                <a:cs typeface="Times New Roman" panose="02020603050405020304" pitchFamily="18" charset="0"/>
              </a:rPr>
              <a:t>8-6</a:t>
            </a:r>
            <a:r>
              <a:rPr lang="zh-CN" altLang="en-US" dirty="0">
                <a:cs typeface="Times New Roman" panose="02020603050405020304" pitchFamily="18" charset="0"/>
              </a:rPr>
              <a:t>：采购问题</a:t>
            </a:r>
            <a:endParaRPr lang="zh-CN" altLang="en-US" dirty="0"/>
          </a:p>
        </p:txBody>
      </p:sp>
      <p:graphicFrame>
        <p:nvGraphicFramePr>
          <p:cNvPr id="17" name="Group 57"/>
          <p:cNvGraphicFramePr>
            <a:graphicFrameLocks noGrp="1"/>
          </p:cNvGraphicFramePr>
          <p:nvPr/>
        </p:nvGraphicFramePr>
        <p:xfrm>
          <a:off x="6186108" y="-10716"/>
          <a:ext cx="2938660" cy="1462896"/>
        </p:xfrm>
        <a:graphic>
          <a:graphicData uri="http://schemas.openxmlformats.org/drawingml/2006/table">
            <a:tbl>
              <a:tblPr/>
              <a:tblGrid>
                <a:gridCol w="1469330">
                  <a:extLst>
                    <a:ext uri="{9D8B030D-6E8A-4147-A177-3AD203B41FA5}">
                      <a16:colId xmlns:a16="http://schemas.microsoft.com/office/drawing/2014/main" val="20000"/>
                    </a:ext>
                  </a:extLst>
                </a:gridCol>
                <a:gridCol w="1469330">
                  <a:extLst>
                    <a:ext uri="{9D8B030D-6E8A-4147-A177-3AD203B41FA5}">
                      <a16:colId xmlns:a16="http://schemas.microsoft.com/office/drawing/2014/main" val="20001"/>
                    </a:ext>
                  </a:extLst>
                </a:gridCol>
              </a:tblGrid>
              <a:tr h="250538">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单价</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概率</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0538">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500</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0.3</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0538">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600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0.3</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0538">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700</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0.4</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9" name="Object 15"/>
          <p:cNvGraphicFramePr>
            <a:graphicFrameLocks noChangeAspect="1"/>
          </p:cNvGraphicFramePr>
          <p:nvPr>
            <p:extLst>
              <p:ext uri="{D42A27DB-BD31-4B8C-83A1-F6EECF244321}">
                <p14:modId xmlns:p14="http://schemas.microsoft.com/office/powerpoint/2010/main" val="3054689340"/>
              </p:ext>
            </p:extLst>
          </p:nvPr>
        </p:nvGraphicFramePr>
        <p:xfrm>
          <a:off x="827584" y="3360750"/>
          <a:ext cx="2119581" cy="559550"/>
        </p:xfrm>
        <a:graphic>
          <a:graphicData uri="http://schemas.openxmlformats.org/presentationml/2006/ole">
            <mc:AlternateContent xmlns:mc="http://schemas.openxmlformats.org/markup-compatibility/2006">
              <mc:Choice xmlns:v="urn:schemas-microsoft-com:vml" Requires="v">
                <p:oleObj spid="_x0000_s219396" name="Equation" r:id="rId3" imgW="1841400" imgH="482400" progId="Equation.DSMT4">
                  <p:embed/>
                </p:oleObj>
              </mc:Choice>
              <mc:Fallback>
                <p:oleObj name="Equation" r:id="rId3" imgW="1841400" imgH="482400" progId="Equation.DSMT4">
                  <p:embed/>
                  <p:pic>
                    <p:nvPicPr>
                      <p:cNvPr id="116742" name="Object 15"/>
                      <p:cNvPicPr>
                        <a:picLocks noChangeAspect="1" noChangeArrowheads="1"/>
                      </p:cNvPicPr>
                      <p:nvPr/>
                    </p:nvPicPr>
                    <p:blipFill>
                      <a:blip r:embed="rId4"/>
                      <a:srcRect/>
                      <a:stretch>
                        <a:fillRect/>
                      </a:stretch>
                    </p:blipFill>
                    <p:spPr bwMode="auto">
                      <a:xfrm>
                        <a:off x="827584" y="3360750"/>
                        <a:ext cx="2119581" cy="559550"/>
                      </a:xfrm>
                      <a:prstGeom prst="rect">
                        <a:avLst/>
                      </a:prstGeom>
                      <a:noFill/>
                      <a:ln>
                        <a:noFill/>
                      </a:ln>
                      <a:extLst/>
                    </p:spPr>
                  </p:pic>
                </p:oleObj>
              </mc:Fallback>
            </mc:AlternateContent>
          </a:graphicData>
        </a:graphic>
      </p:graphicFrame>
      <p:graphicFrame>
        <p:nvGraphicFramePr>
          <p:cNvPr id="23" name="Object 7"/>
          <p:cNvGraphicFramePr>
            <a:graphicFrameLocks noChangeAspect="1"/>
          </p:cNvGraphicFramePr>
          <p:nvPr>
            <p:extLst>
              <p:ext uri="{D42A27DB-BD31-4B8C-83A1-F6EECF244321}">
                <p14:modId xmlns:p14="http://schemas.microsoft.com/office/powerpoint/2010/main" val="4050742871"/>
              </p:ext>
            </p:extLst>
          </p:nvPr>
        </p:nvGraphicFramePr>
        <p:xfrm>
          <a:off x="827584" y="4110589"/>
          <a:ext cx="2247086" cy="586819"/>
        </p:xfrm>
        <a:graphic>
          <a:graphicData uri="http://schemas.openxmlformats.org/presentationml/2006/ole">
            <mc:AlternateContent xmlns:mc="http://schemas.openxmlformats.org/markup-compatibility/2006">
              <mc:Choice xmlns:v="urn:schemas-microsoft-com:vml" Requires="v">
                <p:oleObj spid="_x0000_s219397" name="Equation" r:id="rId5" imgW="1854000" imgH="482400" progId="Equation.DSMT4">
                  <p:embed/>
                </p:oleObj>
              </mc:Choice>
              <mc:Fallback>
                <p:oleObj name="Equation" r:id="rId5" imgW="1854000" imgH="482400" progId="Equation.DSMT4">
                  <p:embed/>
                  <p:pic>
                    <p:nvPicPr>
                      <p:cNvPr id="117766" name="Object 7"/>
                      <p:cNvPicPr>
                        <a:picLocks noChangeAspect="1" noChangeArrowheads="1"/>
                      </p:cNvPicPr>
                      <p:nvPr/>
                    </p:nvPicPr>
                    <p:blipFill>
                      <a:blip r:embed="rId6"/>
                      <a:srcRect/>
                      <a:stretch>
                        <a:fillRect/>
                      </a:stretch>
                    </p:blipFill>
                    <p:spPr bwMode="auto">
                      <a:xfrm>
                        <a:off x="827584" y="4110589"/>
                        <a:ext cx="2247086" cy="586819"/>
                      </a:xfrm>
                      <a:prstGeom prst="rect">
                        <a:avLst/>
                      </a:prstGeom>
                      <a:noFill/>
                      <a:ln>
                        <a:noFill/>
                      </a:ln>
                      <a:extLst/>
                    </p:spPr>
                  </p:pic>
                </p:oleObj>
              </mc:Fallback>
            </mc:AlternateContent>
          </a:graphicData>
        </a:graphic>
      </p:graphicFrame>
      <p:graphicFrame>
        <p:nvGraphicFramePr>
          <p:cNvPr id="29" name="Object 7"/>
          <p:cNvGraphicFramePr>
            <a:graphicFrameLocks noChangeAspect="1"/>
          </p:cNvGraphicFramePr>
          <p:nvPr>
            <p:extLst>
              <p:ext uri="{D42A27DB-BD31-4B8C-83A1-F6EECF244321}">
                <p14:modId xmlns:p14="http://schemas.microsoft.com/office/powerpoint/2010/main" val="1640890557"/>
              </p:ext>
            </p:extLst>
          </p:nvPr>
        </p:nvGraphicFramePr>
        <p:xfrm>
          <a:off x="827584" y="4954300"/>
          <a:ext cx="2440512" cy="634940"/>
        </p:xfrm>
        <a:graphic>
          <a:graphicData uri="http://schemas.openxmlformats.org/presentationml/2006/ole">
            <mc:AlternateContent xmlns:mc="http://schemas.openxmlformats.org/markup-compatibility/2006">
              <mc:Choice xmlns:v="urn:schemas-microsoft-com:vml" Requires="v">
                <p:oleObj spid="_x0000_s219398" name="Equation" r:id="rId7" imgW="1866600" imgH="482400" progId="Equation.DSMT4">
                  <p:embed/>
                </p:oleObj>
              </mc:Choice>
              <mc:Fallback>
                <p:oleObj name="Equation" r:id="rId7" imgW="1866600" imgH="482400" progId="Equation.DSMT4">
                  <p:embed/>
                  <p:pic>
                    <p:nvPicPr>
                      <p:cNvPr id="118791" name="Object 7"/>
                      <p:cNvPicPr>
                        <a:picLocks noChangeAspect="1" noChangeArrowheads="1"/>
                      </p:cNvPicPr>
                      <p:nvPr/>
                    </p:nvPicPr>
                    <p:blipFill>
                      <a:blip r:embed="rId8"/>
                      <a:srcRect/>
                      <a:stretch>
                        <a:fillRect/>
                      </a:stretch>
                    </p:blipFill>
                    <p:spPr bwMode="auto">
                      <a:xfrm>
                        <a:off x="827584" y="4954300"/>
                        <a:ext cx="2440512" cy="634940"/>
                      </a:xfrm>
                      <a:prstGeom prst="rect">
                        <a:avLst/>
                      </a:prstGeom>
                      <a:noFill/>
                      <a:ln>
                        <a:noFill/>
                      </a:ln>
                      <a:extLst/>
                    </p:spPr>
                  </p:pic>
                </p:oleObj>
              </mc:Fallback>
            </mc:AlternateContent>
          </a:graphicData>
        </a:graphic>
      </p:graphicFrame>
      <p:sp>
        <p:nvSpPr>
          <p:cNvPr id="31" name="Rectangle 11"/>
          <p:cNvSpPr>
            <a:spLocks noChangeArrowheads="1"/>
          </p:cNvSpPr>
          <p:nvPr/>
        </p:nvSpPr>
        <p:spPr bwMode="auto">
          <a:xfrm>
            <a:off x="41388" y="5843186"/>
            <a:ext cx="91247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sz="1800" b="1" dirty="0" smtClean="0">
                <a:cs typeface="Times New Roman" panose="02020603050405020304" pitchFamily="18" charset="0"/>
              </a:rPr>
              <a:t>因此，</a:t>
            </a:r>
            <a:r>
              <a:rPr lang="zh-CN" altLang="en-US" sz="1800" b="1" dirty="0">
                <a:cs typeface="Times New Roman" panose="02020603050405020304" pitchFamily="18" charset="0"/>
              </a:rPr>
              <a:t>最优采购策略为：在第一、二、三周时，若价格为</a:t>
            </a:r>
            <a:r>
              <a:rPr lang="en-US" altLang="zh-CN" sz="1800" b="1" dirty="0">
                <a:cs typeface="Times New Roman" panose="02020603050405020304" pitchFamily="18" charset="0"/>
              </a:rPr>
              <a:t>500</a:t>
            </a:r>
            <a:r>
              <a:rPr lang="zh-CN" altLang="en-US" sz="1800" b="1" dirty="0">
                <a:cs typeface="Times New Roman" panose="02020603050405020304" pitchFamily="18" charset="0"/>
              </a:rPr>
              <a:t>就采购，</a:t>
            </a:r>
            <a:r>
              <a:rPr lang="zh-CN" altLang="en-US" sz="1800" b="1" dirty="0" smtClean="0">
                <a:cs typeface="Times New Roman" panose="02020603050405020304" pitchFamily="18" charset="0"/>
              </a:rPr>
              <a:t>否则等待</a:t>
            </a:r>
            <a:r>
              <a:rPr lang="zh-CN" altLang="en-US" sz="1800" b="1" dirty="0">
                <a:cs typeface="Times New Roman" panose="02020603050405020304" pitchFamily="18" charset="0"/>
              </a:rPr>
              <a:t>；在第四周时，价格为</a:t>
            </a:r>
            <a:r>
              <a:rPr lang="en-US" altLang="zh-CN" sz="1800" b="1" dirty="0">
                <a:cs typeface="Times New Roman" panose="02020603050405020304" pitchFamily="18" charset="0"/>
              </a:rPr>
              <a:t>500</a:t>
            </a:r>
            <a:r>
              <a:rPr lang="zh-CN" altLang="en-US" sz="1800" b="1" dirty="0">
                <a:cs typeface="Times New Roman" panose="02020603050405020304" pitchFamily="18" charset="0"/>
              </a:rPr>
              <a:t>或</a:t>
            </a:r>
            <a:r>
              <a:rPr lang="en-US" altLang="zh-CN" sz="1800" b="1" dirty="0">
                <a:cs typeface="Times New Roman" panose="02020603050405020304" pitchFamily="18" charset="0"/>
              </a:rPr>
              <a:t>600</a:t>
            </a:r>
            <a:r>
              <a:rPr lang="zh-CN" altLang="en-US" sz="1800" b="1" dirty="0">
                <a:cs typeface="Times New Roman" panose="02020603050405020304" pitchFamily="18" charset="0"/>
              </a:rPr>
              <a:t>应采购，否则就等待；在第五周时，无论什么价格都要采购。</a:t>
            </a:r>
            <a:endParaRPr lang="zh-CN" altLang="en-US" sz="1800" b="1" dirty="0"/>
          </a:p>
        </p:txBody>
      </p:sp>
      <p:graphicFrame>
        <p:nvGraphicFramePr>
          <p:cNvPr id="32" name="Object 19"/>
          <p:cNvGraphicFramePr>
            <a:graphicFrameLocks noChangeAspect="1"/>
          </p:cNvGraphicFramePr>
          <p:nvPr>
            <p:extLst>
              <p:ext uri="{D42A27DB-BD31-4B8C-83A1-F6EECF244321}">
                <p14:modId xmlns:p14="http://schemas.microsoft.com/office/powerpoint/2010/main" val="3799235745"/>
              </p:ext>
            </p:extLst>
          </p:nvPr>
        </p:nvGraphicFramePr>
        <p:xfrm>
          <a:off x="809153" y="1798933"/>
          <a:ext cx="7760926" cy="315444"/>
        </p:xfrm>
        <a:graphic>
          <a:graphicData uri="http://schemas.openxmlformats.org/presentationml/2006/ole">
            <mc:AlternateContent xmlns:mc="http://schemas.openxmlformats.org/markup-compatibility/2006">
              <mc:Choice xmlns:v="urn:schemas-microsoft-com:vml" Requires="v">
                <p:oleObj spid="_x0000_s219399" name="Equation" r:id="rId9" imgW="5676840" imgH="228600" progId="Equation.DSMT4">
                  <p:embed/>
                </p:oleObj>
              </mc:Choice>
              <mc:Fallback>
                <p:oleObj name="Equation" r:id="rId9" imgW="5676840" imgH="228600" progId="Equation.DSMT4">
                  <p:embed/>
                  <p:pic>
                    <p:nvPicPr>
                      <p:cNvPr id="27" name="Object 19"/>
                      <p:cNvPicPr>
                        <a:picLocks noChangeAspect="1" noChangeArrowheads="1"/>
                      </p:cNvPicPr>
                      <p:nvPr/>
                    </p:nvPicPr>
                    <p:blipFill>
                      <a:blip r:embed="rId10"/>
                      <a:srcRect/>
                      <a:stretch>
                        <a:fillRect/>
                      </a:stretch>
                    </p:blipFill>
                    <p:spPr bwMode="auto">
                      <a:xfrm>
                        <a:off x="809153" y="1798933"/>
                        <a:ext cx="7760926" cy="315444"/>
                      </a:xfrm>
                      <a:prstGeom prst="rect">
                        <a:avLst/>
                      </a:prstGeom>
                      <a:noFill/>
                      <a:ln>
                        <a:noFill/>
                      </a:ln>
                      <a:extLst/>
                    </p:spPr>
                  </p:pic>
                </p:oleObj>
              </mc:Fallback>
            </mc:AlternateContent>
          </a:graphicData>
        </a:graphic>
      </p:graphicFrame>
      <p:graphicFrame>
        <p:nvGraphicFramePr>
          <p:cNvPr id="33" name="Object 17"/>
          <p:cNvGraphicFramePr>
            <a:graphicFrameLocks noChangeAspect="1"/>
          </p:cNvGraphicFramePr>
          <p:nvPr>
            <p:extLst>
              <p:ext uri="{D42A27DB-BD31-4B8C-83A1-F6EECF244321}">
                <p14:modId xmlns:p14="http://schemas.microsoft.com/office/powerpoint/2010/main" val="2003849196"/>
              </p:ext>
            </p:extLst>
          </p:nvPr>
        </p:nvGraphicFramePr>
        <p:xfrm>
          <a:off x="828136" y="2636912"/>
          <a:ext cx="2112398" cy="560255"/>
        </p:xfrm>
        <a:graphic>
          <a:graphicData uri="http://schemas.openxmlformats.org/presentationml/2006/ole">
            <mc:AlternateContent xmlns:mc="http://schemas.openxmlformats.org/markup-compatibility/2006">
              <mc:Choice xmlns:v="urn:schemas-microsoft-com:vml" Requires="v">
                <p:oleObj spid="_x0000_s219400" name="Equation" r:id="rId11" imgW="1828800" imgH="482400" progId="Equation.DSMT4">
                  <p:embed/>
                </p:oleObj>
              </mc:Choice>
              <mc:Fallback>
                <p:oleObj name="Equation" r:id="rId11" imgW="1828800" imgH="482400" progId="Equation.DSMT4">
                  <p:embed/>
                  <p:pic>
                    <p:nvPicPr>
                      <p:cNvPr id="115721" name="Object 17"/>
                      <p:cNvPicPr>
                        <a:picLocks noChangeAspect="1" noChangeArrowheads="1"/>
                      </p:cNvPicPr>
                      <p:nvPr/>
                    </p:nvPicPr>
                    <p:blipFill>
                      <a:blip r:embed="rId12"/>
                      <a:srcRect/>
                      <a:stretch>
                        <a:fillRect/>
                      </a:stretch>
                    </p:blipFill>
                    <p:spPr bwMode="auto">
                      <a:xfrm>
                        <a:off x="828136" y="2636912"/>
                        <a:ext cx="2112398" cy="560255"/>
                      </a:xfrm>
                      <a:prstGeom prst="rect">
                        <a:avLst/>
                      </a:prstGeom>
                      <a:noFill/>
                      <a:ln>
                        <a:noFill/>
                      </a:ln>
                      <a:extLst/>
                    </p:spPr>
                  </p:pic>
                </p:oleObj>
              </mc:Fallback>
            </mc:AlternateContent>
          </a:graphicData>
        </a:graphic>
      </p:graphicFrame>
      <p:graphicFrame>
        <p:nvGraphicFramePr>
          <p:cNvPr id="34" name="Object 17"/>
          <p:cNvGraphicFramePr>
            <a:graphicFrameLocks noChangeAspect="1"/>
          </p:cNvGraphicFramePr>
          <p:nvPr>
            <p:extLst>
              <p:ext uri="{D42A27DB-BD31-4B8C-83A1-F6EECF244321}">
                <p14:modId xmlns:p14="http://schemas.microsoft.com/office/powerpoint/2010/main" val="3247310993"/>
              </p:ext>
            </p:extLst>
          </p:nvPr>
        </p:nvGraphicFramePr>
        <p:xfrm>
          <a:off x="809153" y="2234120"/>
          <a:ext cx="2610719" cy="274297"/>
        </p:xfrm>
        <a:graphic>
          <a:graphicData uri="http://schemas.openxmlformats.org/presentationml/2006/ole">
            <mc:AlternateContent xmlns:mc="http://schemas.openxmlformats.org/markup-compatibility/2006">
              <mc:Choice xmlns:v="urn:schemas-microsoft-com:vml" Requires="v">
                <p:oleObj spid="_x0000_s219401" name="Equation" r:id="rId13" imgW="2197080" imgH="228600" progId="Equation.DSMT4">
                  <p:embed/>
                </p:oleObj>
              </mc:Choice>
              <mc:Fallback>
                <p:oleObj name="Equation" r:id="rId13" imgW="2197080" imgH="228600" progId="Equation.DSMT4">
                  <p:embed/>
                  <p:pic>
                    <p:nvPicPr>
                      <p:cNvPr id="33" name="Object 17"/>
                      <p:cNvPicPr>
                        <a:picLocks noChangeAspect="1" noChangeArrowheads="1"/>
                      </p:cNvPicPr>
                      <p:nvPr/>
                    </p:nvPicPr>
                    <p:blipFill>
                      <a:blip r:embed="rId14"/>
                      <a:srcRect/>
                      <a:stretch>
                        <a:fillRect/>
                      </a:stretch>
                    </p:blipFill>
                    <p:spPr bwMode="auto">
                      <a:xfrm>
                        <a:off x="809153" y="2234120"/>
                        <a:ext cx="2610719" cy="274297"/>
                      </a:xfrm>
                      <a:prstGeom prst="rect">
                        <a:avLst/>
                      </a:prstGeom>
                      <a:noFill/>
                      <a:ln>
                        <a:noFill/>
                      </a:ln>
                      <a:extLst/>
                    </p:spPr>
                  </p:pic>
                </p:oleObj>
              </mc:Fallback>
            </mc:AlternateContent>
          </a:graphicData>
        </a:graphic>
      </p:graphicFrame>
      <p:graphicFrame>
        <p:nvGraphicFramePr>
          <p:cNvPr id="35" name="Object 10"/>
          <p:cNvGraphicFramePr>
            <a:graphicFrameLocks noChangeAspect="1"/>
          </p:cNvGraphicFramePr>
          <p:nvPr>
            <p:extLst>
              <p:ext uri="{D42A27DB-BD31-4B8C-83A1-F6EECF244321}">
                <p14:modId xmlns:p14="http://schemas.microsoft.com/office/powerpoint/2010/main" val="1260504078"/>
              </p:ext>
            </p:extLst>
          </p:nvPr>
        </p:nvGraphicFramePr>
        <p:xfrm>
          <a:off x="3495675" y="3540125"/>
          <a:ext cx="5303838" cy="1376363"/>
        </p:xfrm>
        <a:graphic>
          <a:graphicData uri="http://schemas.openxmlformats.org/presentationml/2006/ole">
            <mc:AlternateContent xmlns:mc="http://schemas.openxmlformats.org/markup-compatibility/2006">
              <mc:Choice xmlns:v="urn:schemas-microsoft-com:vml" Requires="v">
                <p:oleObj spid="_x0000_s219402" name="Equation" r:id="rId15" imgW="3822480" imgH="990360" progId="Equation.DSMT4">
                  <p:embed/>
                </p:oleObj>
              </mc:Choice>
              <mc:Fallback>
                <p:oleObj name="Equation" r:id="rId15" imgW="3822480" imgH="990360" progId="Equation.DSMT4">
                  <p:embed/>
                  <p:pic>
                    <p:nvPicPr>
                      <p:cNvPr id="26" name="Object 10"/>
                      <p:cNvPicPr>
                        <a:picLocks noChangeAspect="1" noChangeArrowheads="1"/>
                      </p:cNvPicPr>
                      <p:nvPr/>
                    </p:nvPicPr>
                    <p:blipFill>
                      <a:blip r:embed="rId16"/>
                      <a:srcRect/>
                      <a:stretch>
                        <a:fillRect/>
                      </a:stretch>
                    </p:blipFill>
                    <p:spPr bwMode="auto">
                      <a:xfrm>
                        <a:off x="3495675" y="3540125"/>
                        <a:ext cx="5303838" cy="1376363"/>
                      </a:xfrm>
                      <a:prstGeom prst="rect">
                        <a:avLst/>
                      </a:prstGeom>
                      <a:noFill/>
                      <a:ln>
                        <a:noFill/>
                      </a:ln>
                      <a:extLst/>
                    </p:spPr>
                  </p:pic>
                </p:oleObj>
              </mc:Fallback>
            </mc:AlternateContent>
          </a:graphicData>
        </a:graphic>
      </p:graphicFrame>
      <p:graphicFrame>
        <p:nvGraphicFramePr>
          <p:cNvPr id="36" name="Object 9"/>
          <p:cNvGraphicFramePr>
            <a:graphicFrameLocks noChangeAspect="1"/>
          </p:cNvGraphicFramePr>
          <p:nvPr>
            <p:extLst>
              <p:ext uri="{D42A27DB-BD31-4B8C-83A1-F6EECF244321}">
                <p14:modId xmlns:p14="http://schemas.microsoft.com/office/powerpoint/2010/main" val="1737302732"/>
              </p:ext>
            </p:extLst>
          </p:nvPr>
        </p:nvGraphicFramePr>
        <p:xfrm>
          <a:off x="4079090" y="4973311"/>
          <a:ext cx="2885542" cy="262322"/>
        </p:xfrm>
        <a:graphic>
          <a:graphicData uri="http://schemas.openxmlformats.org/presentationml/2006/ole">
            <mc:AlternateContent xmlns:mc="http://schemas.openxmlformats.org/markup-compatibility/2006">
              <mc:Choice xmlns:v="urn:schemas-microsoft-com:vml" Requires="v">
                <p:oleObj spid="_x0000_s219403" name="Equation" r:id="rId17" imgW="1993035" imgH="177723" progId="Equation.DSMT4">
                  <p:embed/>
                </p:oleObj>
              </mc:Choice>
              <mc:Fallback>
                <p:oleObj name="Equation" r:id="rId17" imgW="1993035" imgH="177723" progId="Equation.DSMT4">
                  <p:embed/>
                  <p:pic>
                    <p:nvPicPr>
                      <p:cNvPr id="27"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79090" y="4973311"/>
                        <a:ext cx="2885542" cy="262322"/>
                      </a:xfrm>
                      <a:prstGeom prst="rect">
                        <a:avLst/>
                      </a:prstGeom>
                      <a:noFill/>
                      <a:ln>
                        <a:noFill/>
                      </a:ln>
                      <a:extLst/>
                    </p:spPr>
                  </p:pic>
                </p:oleObj>
              </mc:Fallback>
            </mc:AlternateContent>
          </a:graphicData>
        </a:graphic>
      </p:graphicFrame>
      <p:sp>
        <p:nvSpPr>
          <p:cNvPr id="37" name="Rectangle 11"/>
          <p:cNvSpPr>
            <a:spLocks noChangeArrowheads="1"/>
          </p:cNvSpPr>
          <p:nvPr/>
        </p:nvSpPr>
        <p:spPr bwMode="auto">
          <a:xfrm>
            <a:off x="3651907" y="2889163"/>
            <a:ext cx="343876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sz="1800" b="1" dirty="0">
                <a:cs typeface="Times New Roman" panose="02020603050405020304" pitchFamily="18" charset="0"/>
              </a:rPr>
              <a:t>依照上述最优策略进行采购时</a:t>
            </a:r>
            <a:r>
              <a:rPr lang="zh-CN" altLang="en-US" sz="1800" b="1" dirty="0" smtClean="0">
                <a:cs typeface="Times New Roman" panose="02020603050405020304" pitchFamily="18" charset="0"/>
              </a:rPr>
              <a:t>，</a:t>
            </a:r>
            <a:endParaRPr lang="en-US" altLang="zh-CN" sz="1800" b="1" dirty="0" smtClean="0">
              <a:cs typeface="Times New Roman" panose="02020603050405020304" pitchFamily="18" charset="0"/>
            </a:endParaRPr>
          </a:p>
          <a:p>
            <a:r>
              <a:rPr lang="zh-CN" altLang="en-US" sz="1800" b="1" dirty="0" smtClean="0">
                <a:cs typeface="Times New Roman" panose="02020603050405020304" pitchFamily="18" charset="0"/>
              </a:rPr>
              <a:t>价格</a:t>
            </a:r>
            <a:r>
              <a:rPr lang="en-US" altLang="zh-CN" sz="1800" b="1" dirty="0">
                <a:cs typeface="Times New Roman" panose="02020603050405020304" pitchFamily="18" charset="0"/>
              </a:rPr>
              <a:t>(</a:t>
            </a:r>
            <a:r>
              <a:rPr lang="zh-CN" altLang="en-US" sz="1800" b="1" dirty="0">
                <a:cs typeface="Times New Roman" panose="02020603050405020304" pitchFamily="18" charset="0"/>
              </a:rPr>
              <a:t>单价</a:t>
            </a:r>
            <a:r>
              <a:rPr lang="en-US" altLang="zh-CN" sz="1800" b="1" dirty="0">
                <a:cs typeface="Times New Roman" panose="02020603050405020304" pitchFamily="18" charset="0"/>
              </a:rPr>
              <a:t>)</a:t>
            </a:r>
            <a:r>
              <a:rPr lang="zh-CN" altLang="en-US" sz="1800" b="1" dirty="0">
                <a:cs typeface="Times New Roman" panose="02020603050405020304" pitchFamily="18" charset="0"/>
              </a:rPr>
              <a:t>的数学期望值</a:t>
            </a:r>
            <a:r>
              <a:rPr lang="zh-CN" altLang="en-US" sz="1800" b="1" dirty="0" smtClean="0">
                <a:cs typeface="Times New Roman" panose="02020603050405020304" pitchFamily="18" charset="0"/>
              </a:rPr>
              <a:t>为</a:t>
            </a:r>
            <a:r>
              <a:rPr lang="zh-CN" altLang="en-US" sz="1800" b="1" dirty="0">
                <a:cs typeface="Times New Roman" panose="02020603050405020304" pitchFamily="18" charset="0"/>
              </a:rPr>
              <a:t>	</a:t>
            </a:r>
            <a:endParaRPr lang="zh-CN" altLang="en-US" sz="1800" b="1" dirty="0"/>
          </a:p>
        </p:txBody>
      </p:sp>
      <p:sp>
        <p:nvSpPr>
          <p:cNvPr id="38" name="Rectangle 12"/>
          <p:cNvSpPr>
            <a:spLocks noChangeArrowheads="1"/>
          </p:cNvSpPr>
          <p:nvPr/>
        </p:nvSpPr>
        <p:spPr bwMode="auto">
          <a:xfrm>
            <a:off x="3651907" y="4931876"/>
            <a:ext cx="4171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sz="1800" b="1" dirty="0" smtClean="0">
                <a:cs typeface="Times New Roman" panose="02020603050405020304" pitchFamily="18" charset="0"/>
              </a:rPr>
              <a:t>且</a:t>
            </a:r>
            <a:endParaRPr lang="zh-CN" altLang="en-US" sz="1800" b="1" dirty="0"/>
          </a:p>
        </p:txBody>
      </p:sp>
    </p:spTree>
    <p:extLst>
      <p:ext uri="{BB962C8B-B14F-4D97-AF65-F5344CB8AC3E}">
        <p14:creationId xmlns:p14="http://schemas.microsoft.com/office/powerpoint/2010/main" val="143445956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6" name="Rectangle 2"/>
          <p:cNvSpPr>
            <a:spLocks noGrp="1" noChangeArrowheads="1"/>
          </p:cNvSpPr>
          <p:nvPr>
            <p:ph type="title"/>
          </p:nvPr>
        </p:nvSpPr>
        <p:spPr/>
        <p:txBody>
          <a:bodyPr/>
          <a:lstStyle/>
          <a:p>
            <a:r>
              <a:rPr lang="en-US" altLang="zh-CN" dirty="0" smtClean="0"/>
              <a:t>8.4.2.2 </a:t>
            </a:r>
            <a:r>
              <a:rPr lang="zh-CN" altLang="en-US" dirty="0"/>
              <a:t>不确定性的采购问题 </a:t>
            </a:r>
          </a:p>
        </p:txBody>
      </p:sp>
      <p:sp>
        <p:nvSpPr>
          <p:cNvPr id="2" name="内容占位符 1"/>
          <p:cNvSpPr>
            <a:spLocks noGrp="1"/>
          </p:cNvSpPr>
          <p:nvPr>
            <p:ph idx="1"/>
          </p:nvPr>
        </p:nvSpPr>
        <p:spPr>
          <a:xfrm>
            <a:off x="539552" y="1337268"/>
            <a:ext cx="8352928" cy="4819781"/>
          </a:xfrm>
        </p:spPr>
        <p:txBody>
          <a:bodyPr/>
          <a:lstStyle/>
          <a:p>
            <a:r>
              <a:rPr lang="zh-CN" altLang="en-US" dirty="0" smtClean="0"/>
              <a:t>例</a:t>
            </a:r>
            <a:r>
              <a:rPr lang="en-US" altLang="zh-CN" dirty="0" smtClean="0"/>
              <a:t>8-7</a:t>
            </a:r>
            <a:r>
              <a:rPr lang="zh-CN" altLang="en-US" dirty="0" smtClean="0"/>
              <a:t>：库存</a:t>
            </a:r>
            <a:r>
              <a:rPr lang="zh-CN" altLang="en-US" dirty="0"/>
              <a:t>管理</a:t>
            </a:r>
            <a:r>
              <a:rPr lang="zh-CN" altLang="en-US" dirty="0" smtClean="0"/>
              <a:t>问题。</a:t>
            </a:r>
            <a:endParaRPr lang="en-US" altLang="zh-CN" dirty="0" smtClean="0"/>
          </a:p>
          <a:p>
            <a:r>
              <a:rPr lang="zh-CN" altLang="en-US" dirty="0" smtClean="0"/>
              <a:t>某</a:t>
            </a:r>
            <a:r>
              <a:rPr lang="zh-CN" altLang="en-US" dirty="0"/>
              <a:t>销售商在一段时间</a:t>
            </a:r>
            <a:r>
              <a:rPr lang="en-US" altLang="zh-CN" dirty="0"/>
              <a:t>(</a:t>
            </a:r>
            <a:r>
              <a:rPr lang="en-US" altLang="zh-CN" i="1" dirty="0">
                <a:latin typeface="Times New Roman" panose="02020603050405020304" pitchFamily="18" charset="0"/>
                <a:cs typeface="Times New Roman" panose="02020603050405020304" pitchFamily="18" charset="0"/>
              </a:rPr>
              <a:t>T</a:t>
            </a:r>
            <a:r>
              <a:rPr lang="zh-CN" altLang="en-US" dirty="0"/>
              <a:t>个周期</a:t>
            </a:r>
            <a:r>
              <a:rPr lang="en-US" altLang="zh-CN" dirty="0"/>
              <a:t>)</a:t>
            </a:r>
            <a:r>
              <a:rPr lang="zh-CN" altLang="en-US" dirty="0"/>
              <a:t>内采购并销售某产品。在每周期</a:t>
            </a:r>
            <a:r>
              <a:rPr lang="zh-CN" altLang="en-US" dirty="0" smtClean="0"/>
              <a:t>初销售</a:t>
            </a:r>
            <a:r>
              <a:rPr lang="zh-CN" altLang="en-US" dirty="0"/>
              <a:t>商向上游供应商订货，单位批发价格为</a:t>
            </a:r>
            <a:r>
              <a:rPr lang="en-US" altLang="zh-CN" i="1" dirty="0">
                <a:latin typeface="Times New Roman" panose="02020603050405020304" pitchFamily="18" charset="0"/>
                <a:cs typeface="Times New Roman" panose="02020603050405020304" pitchFamily="18" charset="0"/>
              </a:rPr>
              <a:t>c</a:t>
            </a:r>
            <a:r>
              <a:rPr lang="zh-CN" altLang="en-US" dirty="0"/>
              <a:t>。假定供应商的物流运输足够快，销售商所订购货物可以认为是瞬时到达。产品的销售价格是固定的，记为</a:t>
            </a:r>
            <a:r>
              <a:rPr lang="en-US" altLang="zh-CN" i="1" dirty="0">
                <a:latin typeface="Times New Roman" panose="02020603050405020304" pitchFamily="18" charset="0"/>
                <a:cs typeface="Times New Roman" panose="02020603050405020304" pitchFamily="18" charset="0"/>
              </a:rPr>
              <a:t>p</a:t>
            </a:r>
            <a:r>
              <a:rPr lang="zh-CN" altLang="en-US" dirty="0" smtClean="0"/>
              <a:t>。</a:t>
            </a:r>
            <a:endParaRPr lang="en-US" altLang="zh-CN" dirty="0" smtClean="0"/>
          </a:p>
          <a:p>
            <a:r>
              <a:rPr lang="zh-CN" altLang="en-US" dirty="0" smtClean="0"/>
              <a:t>历史</a:t>
            </a:r>
            <a:r>
              <a:rPr lang="zh-CN" altLang="en-US" dirty="0"/>
              <a:t>销售数据表明，每周期的需求</a:t>
            </a:r>
            <a:r>
              <a:rPr lang="en-US" altLang="zh-CN" dirty="0"/>
              <a:t>(</a:t>
            </a:r>
            <a:r>
              <a:rPr lang="zh-CN" altLang="en-US" dirty="0"/>
              <a:t>记</a:t>
            </a:r>
            <a:r>
              <a:rPr lang="zh-CN" altLang="en-US" dirty="0" smtClean="0"/>
              <a:t>为</a:t>
            </a:r>
            <a:r>
              <a:rPr lang="en-US" altLang="zh-CN" i="1" dirty="0" err="1" smtClean="0">
                <a:latin typeface="Times New Roman" panose="02020603050405020304" pitchFamily="18" charset="0"/>
                <a:cs typeface="Times New Roman" panose="02020603050405020304" pitchFamily="18" charset="0"/>
              </a:rPr>
              <a:t>d</a:t>
            </a:r>
            <a:r>
              <a:rPr lang="en-US" altLang="zh-CN" i="1" baseline="-25000" dirty="0" err="1" smtClean="0">
                <a:latin typeface="Times New Roman" panose="02020603050405020304" pitchFamily="18" charset="0"/>
                <a:cs typeface="Times New Roman" panose="02020603050405020304" pitchFamily="18" charset="0"/>
              </a:rPr>
              <a:t>k</a:t>
            </a:r>
            <a:r>
              <a:rPr lang="en-US" altLang="zh-CN" dirty="0" smtClean="0"/>
              <a:t>)</a:t>
            </a:r>
            <a:r>
              <a:rPr lang="zh-CN" altLang="en-US" dirty="0"/>
              <a:t>服从一个独立同分布的连续随机分布，概率密度函数为</a:t>
            </a:r>
            <a:r>
              <a:rPr lang="en-US" altLang="zh-CN" i="1" dirty="0">
                <a:latin typeface="Times New Roman" panose="02020603050405020304" pitchFamily="18" charset="0"/>
                <a:cs typeface="Times New Roman" panose="02020603050405020304" pitchFamily="18" charset="0"/>
              </a:rPr>
              <a:t>f</a:t>
            </a:r>
            <a:r>
              <a:rPr lang="en-US" altLang="zh-CN" dirty="0"/>
              <a:t>(</a:t>
            </a:r>
            <a:r>
              <a:rPr lang="en-US" altLang="zh-CN" i="1" dirty="0">
                <a:latin typeface="Times New Roman" panose="02020603050405020304" pitchFamily="18" charset="0"/>
                <a:cs typeface="Times New Roman" panose="02020603050405020304" pitchFamily="18" charset="0"/>
              </a:rPr>
              <a:t>x</a:t>
            </a:r>
            <a:r>
              <a:rPr lang="en-US" altLang="zh-CN" dirty="0"/>
              <a:t>)</a:t>
            </a:r>
            <a:r>
              <a:rPr lang="zh-CN" altLang="en-US" dirty="0"/>
              <a:t>，累计概率分布函数为</a:t>
            </a:r>
            <a:r>
              <a:rPr lang="en-US" altLang="zh-CN" i="1" dirty="0">
                <a:latin typeface="Times New Roman" panose="02020603050405020304" pitchFamily="18" charset="0"/>
                <a:cs typeface="Times New Roman" panose="02020603050405020304" pitchFamily="18" charset="0"/>
              </a:rPr>
              <a:t>F</a:t>
            </a:r>
            <a:r>
              <a:rPr lang="en-US" altLang="zh-CN" dirty="0"/>
              <a:t>(</a:t>
            </a:r>
            <a:r>
              <a:rPr lang="en-US" altLang="zh-CN" i="1" dirty="0">
                <a:latin typeface="Times New Roman" panose="02020603050405020304" pitchFamily="18" charset="0"/>
                <a:cs typeface="Times New Roman" panose="02020603050405020304" pitchFamily="18" charset="0"/>
              </a:rPr>
              <a:t>x</a:t>
            </a:r>
            <a:r>
              <a:rPr lang="en-US" altLang="zh-CN" dirty="0"/>
              <a:t>)</a:t>
            </a:r>
            <a:r>
              <a:rPr lang="zh-CN" altLang="en-US" dirty="0" smtClean="0"/>
              <a:t>。</a:t>
            </a:r>
            <a:endParaRPr lang="en-US" altLang="zh-CN" dirty="0" smtClean="0"/>
          </a:p>
          <a:p>
            <a:r>
              <a:rPr lang="zh-CN" altLang="en-US" dirty="0" smtClean="0"/>
              <a:t>在各周期</a:t>
            </a:r>
            <a:r>
              <a:rPr lang="zh-CN" altLang="en-US" dirty="0" smtClean="0">
                <a:solidFill>
                  <a:srgbClr val="FF0000"/>
                </a:solidFill>
              </a:rPr>
              <a:t>没有满足的</a:t>
            </a:r>
            <a:r>
              <a:rPr lang="zh-CN" altLang="en-US" dirty="0">
                <a:solidFill>
                  <a:srgbClr val="FF0000"/>
                </a:solidFill>
              </a:rPr>
              <a:t>需求会损失掉</a:t>
            </a:r>
            <a:r>
              <a:rPr lang="zh-CN" altLang="en-US" dirty="0"/>
              <a:t>。当期未售出的库存可以保存到下</a:t>
            </a:r>
            <a:r>
              <a:rPr lang="zh-CN" altLang="en-US" dirty="0" smtClean="0"/>
              <a:t>一周期</a:t>
            </a:r>
            <a:r>
              <a:rPr lang="zh-CN" altLang="en-US" dirty="0"/>
              <a:t>继续销售，但是需要花费库存成本</a:t>
            </a:r>
            <a:r>
              <a:rPr lang="en-US" altLang="zh-CN" i="1" dirty="0">
                <a:latin typeface="Times New Roman" panose="02020603050405020304" pitchFamily="18" charset="0"/>
                <a:cs typeface="Times New Roman" panose="02020603050405020304" pitchFamily="18" charset="0"/>
              </a:rPr>
              <a:t>h</a:t>
            </a:r>
            <a:r>
              <a:rPr lang="zh-CN" altLang="en-US" dirty="0" smtClean="0"/>
              <a:t>。</a:t>
            </a:r>
            <a:endParaRPr lang="en-US" altLang="zh-CN" dirty="0" smtClean="0"/>
          </a:p>
          <a:p>
            <a:r>
              <a:rPr lang="zh-CN" altLang="en-US" dirty="0" smtClean="0"/>
              <a:t>试</a:t>
            </a:r>
            <a:r>
              <a:rPr lang="zh-CN" altLang="en-US" dirty="0"/>
              <a:t>帮助该销售商规划每周期的最优订货决策以最大化</a:t>
            </a:r>
            <a:r>
              <a:rPr lang="en-US" altLang="zh-CN" i="1" dirty="0">
                <a:latin typeface="Times New Roman" panose="02020603050405020304" pitchFamily="18" charset="0"/>
                <a:cs typeface="Times New Roman" panose="02020603050405020304" pitchFamily="18" charset="0"/>
              </a:rPr>
              <a:t>T</a:t>
            </a:r>
            <a:r>
              <a:rPr lang="zh-CN" altLang="en-US" dirty="0"/>
              <a:t>周期的期望利润</a:t>
            </a:r>
          </a:p>
        </p:txBody>
      </p:sp>
      <p:sp>
        <p:nvSpPr>
          <p:cNvPr id="12083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22B19E86-67E2-41C9-9699-3F55D65B1FCF}" type="slidenum">
              <a:rPr lang="en-US" altLang="zh-CN" sz="1000"/>
              <a:pPr/>
              <a:t>68</a:t>
            </a:fld>
            <a:endParaRPr lang="en-US" altLang="zh-CN" sz="1000"/>
          </a:p>
        </p:txBody>
      </p:sp>
    </p:spTree>
  </p:cSld>
  <p:clrMapOvr>
    <a:masterClrMapping/>
  </p:clrMapOvr>
  <p:transition spd="slow"/>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4" name="Rectangle 2"/>
          <p:cNvSpPr>
            <a:spLocks noGrp="1" noChangeArrowheads="1"/>
          </p:cNvSpPr>
          <p:nvPr>
            <p:ph type="title"/>
          </p:nvPr>
        </p:nvSpPr>
        <p:spPr/>
        <p:txBody>
          <a:bodyPr/>
          <a:lstStyle/>
          <a:p>
            <a:r>
              <a:rPr lang="en-US" altLang="zh-CN" dirty="0" smtClean="0"/>
              <a:t>8.4.5</a:t>
            </a:r>
            <a:r>
              <a:rPr lang="zh-CN" altLang="en-US" dirty="0" smtClean="0"/>
              <a:t>  </a:t>
            </a:r>
            <a:r>
              <a:rPr lang="zh-CN" altLang="en-US" dirty="0"/>
              <a:t>设备更新问题</a:t>
            </a:r>
          </a:p>
        </p:txBody>
      </p:sp>
      <p:sp>
        <p:nvSpPr>
          <p:cNvPr id="2" name="内容占位符 1"/>
          <p:cNvSpPr>
            <a:spLocks noGrp="1"/>
          </p:cNvSpPr>
          <p:nvPr>
            <p:ph idx="1"/>
          </p:nvPr>
        </p:nvSpPr>
        <p:spPr>
          <a:xfrm>
            <a:off x="539552" y="1337268"/>
            <a:ext cx="8280920" cy="1938992"/>
          </a:xfrm>
        </p:spPr>
        <p:txBody>
          <a:bodyPr/>
          <a:lstStyle/>
          <a:p>
            <a:r>
              <a:rPr lang="zh-CN" altLang="en-US" dirty="0">
                <a:cs typeface="Courier New" panose="02070309020205020404" pitchFamily="49" charset="0"/>
              </a:rPr>
              <a:t>现以一台机器为例，随着</a:t>
            </a:r>
            <a:r>
              <a:rPr lang="zh-CN" altLang="en-US" dirty="0">
                <a:solidFill>
                  <a:srgbClr val="FF0000"/>
                </a:solidFill>
                <a:cs typeface="Courier New" panose="02070309020205020404" pitchFamily="49" charset="0"/>
              </a:rPr>
              <a:t>使用年限的增加</a:t>
            </a:r>
            <a:r>
              <a:rPr lang="zh-CN" altLang="en-US" dirty="0">
                <a:cs typeface="Courier New" panose="02070309020205020404" pitchFamily="49" charset="0"/>
              </a:rPr>
              <a:t>，机器的使用效率降低，</a:t>
            </a:r>
            <a:r>
              <a:rPr lang="zh-CN" altLang="en-US" dirty="0">
                <a:solidFill>
                  <a:srgbClr val="FF0000"/>
                </a:solidFill>
                <a:cs typeface="Courier New" panose="02070309020205020404" pitchFamily="49" charset="0"/>
              </a:rPr>
              <a:t>收入减少</a:t>
            </a:r>
            <a:r>
              <a:rPr lang="zh-CN" altLang="en-US" dirty="0">
                <a:cs typeface="Courier New" panose="02070309020205020404" pitchFamily="49" charset="0"/>
              </a:rPr>
              <a:t>，</a:t>
            </a:r>
            <a:r>
              <a:rPr lang="zh-CN" altLang="en-US" dirty="0">
                <a:solidFill>
                  <a:srgbClr val="FF0000"/>
                </a:solidFill>
                <a:cs typeface="Courier New" panose="02070309020205020404" pitchFamily="49" charset="0"/>
              </a:rPr>
              <a:t>维修费用增加</a:t>
            </a:r>
            <a:r>
              <a:rPr lang="zh-CN" altLang="en-US" dirty="0">
                <a:cs typeface="Courier New" panose="02070309020205020404" pitchFamily="49" charset="0"/>
              </a:rPr>
              <a:t>。而且机器使用年限越长，它本身的价值就越小，因而</a:t>
            </a:r>
            <a:r>
              <a:rPr lang="zh-CN" altLang="en-US" dirty="0">
                <a:solidFill>
                  <a:srgbClr val="FF0000"/>
                </a:solidFill>
                <a:cs typeface="Courier New" panose="02070309020205020404" pitchFamily="49" charset="0"/>
              </a:rPr>
              <a:t>更新时所需的净支出费用就愈多</a:t>
            </a:r>
            <a:r>
              <a:rPr lang="zh-CN" altLang="en-US" dirty="0">
                <a:cs typeface="Courier New" panose="02070309020205020404" pitchFamily="49" charset="0"/>
              </a:rPr>
              <a:t>。</a:t>
            </a:r>
            <a:r>
              <a:rPr lang="zh-CN" altLang="en-US" dirty="0"/>
              <a:t>设：</a:t>
            </a:r>
          </a:p>
          <a:p>
            <a:endParaRPr lang="zh-CN" altLang="en-US" sz="2000" dirty="0"/>
          </a:p>
        </p:txBody>
      </p:sp>
      <p:sp>
        <p:nvSpPr>
          <p:cNvPr id="14336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4ECF4C48-36E7-4690-B03F-BBB9DF65C08C}" type="slidenum">
              <a:rPr lang="en-US" altLang="zh-CN" sz="1000"/>
              <a:pPr/>
              <a:t>69</a:t>
            </a:fld>
            <a:endParaRPr lang="en-US" altLang="zh-CN" sz="1000"/>
          </a:p>
        </p:txBody>
      </p:sp>
      <p:sp>
        <p:nvSpPr>
          <p:cNvPr id="143365"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372" name="Rectangle 17"/>
          <p:cNvSpPr>
            <a:spLocks noChangeArrowheads="1"/>
          </p:cNvSpPr>
          <p:nvPr/>
        </p:nvSpPr>
        <p:spPr bwMode="auto">
          <a:xfrm>
            <a:off x="568444" y="2940174"/>
            <a:ext cx="68082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indent="0"/>
            <a:r>
              <a:rPr lang="en-US" altLang="zh-CN" b="1" i="1" dirty="0" err="1" smtClean="0">
                <a:latin typeface="Times New Roman" panose="02020603050405020304" pitchFamily="18" charset="0"/>
                <a:cs typeface="Times New Roman" panose="02020603050405020304" pitchFamily="18" charset="0"/>
              </a:rPr>
              <a:t>I</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t</a:t>
            </a:r>
            <a:r>
              <a:rPr lang="en-US" altLang="zh-CN"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：在第</a:t>
            </a:r>
            <a:r>
              <a:rPr lang="en-US" altLang="zh-CN" b="1" i="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年</a:t>
            </a:r>
            <a:r>
              <a:rPr lang="zh-CN" altLang="en-US" b="1" dirty="0">
                <a:latin typeface="Times New Roman" panose="02020603050405020304" pitchFamily="18" charset="0"/>
                <a:cs typeface="Times New Roman" panose="02020603050405020304" pitchFamily="18" charset="0"/>
              </a:rPr>
              <a:t>运行一台役龄为</a:t>
            </a:r>
            <a:r>
              <a:rPr lang="en-US" altLang="zh-CN" b="1" i="1" dirty="0">
                <a:latin typeface="Times New Roman" panose="02020603050405020304" pitchFamily="18" charset="0"/>
                <a:cs typeface="Times New Roman" panose="02020603050405020304" pitchFamily="18" charset="0"/>
              </a:rPr>
              <a:t>t</a:t>
            </a:r>
            <a:r>
              <a:rPr lang="zh-CN" altLang="en-US" b="1" dirty="0">
                <a:latin typeface="Times New Roman" panose="02020603050405020304" pitchFamily="18" charset="0"/>
                <a:cs typeface="Times New Roman" panose="02020603050405020304" pitchFamily="18" charset="0"/>
              </a:rPr>
              <a:t>年</a:t>
            </a:r>
            <a:r>
              <a:rPr lang="zh-CN" altLang="en-US" b="1" dirty="0" smtClean="0">
                <a:latin typeface="Times New Roman" panose="02020603050405020304" pitchFamily="18" charset="0"/>
                <a:cs typeface="Times New Roman" panose="02020603050405020304" pitchFamily="18" charset="0"/>
              </a:rPr>
              <a:t>的机器</a:t>
            </a:r>
            <a:r>
              <a:rPr lang="zh-CN" altLang="en-US" b="1" dirty="0">
                <a:solidFill>
                  <a:srgbClr val="FF0000"/>
                </a:solidFill>
                <a:latin typeface="Times New Roman" panose="02020603050405020304" pitchFamily="18" charset="0"/>
                <a:cs typeface="Times New Roman" panose="02020603050405020304" pitchFamily="18" charset="0"/>
              </a:rPr>
              <a:t>运行所得的收入</a:t>
            </a:r>
            <a:r>
              <a:rPr lang="zh-CN" altLang="en-US" b="1" dirty="0">
                <a:latin typeface="Times New Roman" panose="02020603050405020304" pitchFamily="18" charset="0"/>
                <a:cs typeface="Times New Roman" panose="02020603050405020304" pitchFamily="18" charset="0"/>
              </a:rPr>
              <a:t>。</a:t>
            </a:r>
          </a:p>
        </p:txBody>
      </p:sp>
      <p:sp>
        <p:nvSpPr>
          <p:cNvPr id="143373" name="Rectangle 18"/>
          <p:cNvSpPr>
            <a:spLocks noChangeArrowheads="1"/>
          </p:cNvSpPr>
          <p:nvPr/>
        </p:nvSpPr>
        <p:spPr bwMode="auto">
          <a:xfrm>
            <a:off x="565552" y="3348131"/>
            <a:ext cx="76690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indent="0"/>
            <a:r>
              <a:rPr lang="en-US" altLang="zh-CN" b="1" i="1" dirty="0" smtClean="0">
                <a:latin typeface="Times New Roman" panose="02020603050405020304" pitchFamily="18" charset="0"/>
                <a:cs typeface="Times New Roman" panose="02020603050405020304" pitchFamily="18" charset="0"/>
              </a:rPr>
              <a:t>O</a:t>
            </a:r>
            <a:r>
              <a:rPr lang="en-US" altLang="zh-CN" b="1" i="1" baseline="-25000" dirty="0"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t</a:t>
            </a:r>
            <a:r>
              <a:rPr lang="en-US" altLang="zh-CN"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：在第</a:t>
            </a:r>
            <a:r>
              <a:rPr lang="en-US" altLang="zh-CN" b="1" i="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年运行</a:t>
            </a:r>
            <a:r>
              <a:rPr lang="zh-CN" altLang="en-US" b="1" dirty="0">
                <a:latin typeface="Times New Roman" panose="02020603050405020304" pitchFamily="18" charset="0"/>
                <a:cs typeface="Times New Roman" panose="02020603050405020304" pitchFamily="18" charset="0"/>
              </a:rPr>
              <a:t>一台</a:t>
            </a:r>
            <a:r>
              <a:rPr lang="zh-CN" altLang="en-US" b="1" dirty="0" smtClean="0">
                <a:latin typeface="Times New Roman" panose="02020603050405020304" pitchFamily="18" charset="0"/>
                <a:cs typeface="Times New Roman" panose="02020603050405020304" pitchFamily="18" charset="0"/>
              </a:rPr>
              <a:t>役龄</a:t>
            </a:r>
            <a:r>
              <a:rPr lang="zh-CN" altLang="en-US" b="1" dirty="0">
                <a:latin typeface="Times New Roman" panose="02020603050405020304" pitchFamily="18" charset="0"/>
                <a:cs typeface="Times New Roman" panose="02020603050405020304" pitchFamily="18" charset="0"/>
              </a:rPr>
              <a:t>为</a:t>
            </a:r>
            <a:r>
              <a:rPr lang="en-US" altLang="zh-CN" b="1" i="1" dirty="0">
                <a:latin typeface="Times New Roman" panose="02020603050405020304" pitchFamily="18" charset="0"/>
                <a:cs typeface="Times New Roman" panose="02020603050405020304" pitchFamily="18" charset="0"/>
              </a:rPr>
              <a:t>t</a:t>
            </a:r>
            <a:r>
              <a:rPr lang="zh-CN" altLang="en-US" b="1" dirty="0">
                <a:latin typeface="Times New Roman" panose="02020603050405020304" pitchFamily="18" charset="0"/>
                <a:cs typeface="Times New Roman" panose="02020603050405020304" pitchFamily="18" charset="0"/>
              </a:rPr>
              <a:t>年</a:t>
            </a:r>
            <a:r>
              <a:rPr lang="zh-CN" altLang="en-US" b="1" dirty="0" smtClean="0">
                <a:latin typeface="Times New Roman" panose="02020603050405020304" pitchFamily="18" charset="0"/>
                <a:cs typeface="Times New Roman" panose="02020603050405020304" pitchFamily="18" charset="0"/>
              </a:rPr>
              <a:t>的机器</a:t>
            </a:r>
            <a:r>
              <a:rPr lang="zh-CN" altLang="en-US" b="1" dirty="0">
                <a:solidFill>
                  <a:srgbClr val="FF0000"/>
                </a:solidFill>
                <a:latin typeface="Times New Roman" panose="02020603050405020304" pitchFamily="18" charset="0"/>
                <a:cs typeface="Times New Roman" panose="02020603050405020304" pitchFamily="18" charset="0"/>
              </a:rPr>
              <a:t>运行时所需的运行费用</a:t>
            </a:r>
            <a:r>
              <a:rPr lang="zh-CN" altLang="en-US" b="1" dirty="0">
                <a:latin typeface="Times New Roman" panose="02020603050405020304" pitchFamily="18" charset="0"/>
                <a:cs typeface="Times New Roman" panose="02020603050405020304" pitchFamily="18" charset="0"/>
              </a:rPr>
              <a:t>。</a:t>
            </a:r>
          </a:p>
        </p:txBody>
      </p:sp>
      <p:sp>
        <p:nvSpPr>
          <p:cNvPr id="143374" name="Rectangle 19"/>
          <p:cNvSpPr>
            <a:spLocks noChangeArrowheads="1"/>
          </p:cNvSpPr>
          <p:nvPr/>
        </p:nvSpPr>
        <p:spPr bwMode="auto">
          <a:xfrm>
            <a:off x="585520" y="3754546"/>
            <a:ext cx="765466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indent="0"/>
            <a:r>
              <a:rPr lang="en-US" altLang="zh-CN" b="1" i="1" dirty="0" err="1" smtClean="0">
                <a:latin typeface="Times New Roman" panose="02020603050405020304" pitchFamily="18" charset="0"/>
                <a:cs typeface="Times New Roman" panose="02020603050405020304" pitchFamily="18" charset="0"/>
              </a:rPr>
              <a:t>C</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t</a:t>
            </a:r>
            <a:r>
              <a:rPr lang="en-US" altLang="zh-CN"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：在第</a:t>
            </a:r>
            <a:r>
              <a:rPr lang="en-US" altLang="zh-CN" b="1" i="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年运行</a:t>
            </a:r>
            <a:r>
              <a:rPr lang="zh-CN" altLang="en-US" b="1" dirty="0">
                <a:latin typeface="Times New Roman" panose="02020603050405020304" pitchFamily="18" charset="0"/>
                <a:cs typeface="Times New Roman" panose="02020603050405020304" pitchFamily="18" charset="0"/>
              </a:rPr>
              <a:t>一台</a:t>
            </a:r>
            <a:r>
              <a:rPr lang="zh-CN" altLang="en-US" b="1" dirty="0" smtClean="0">
                <a:latin typeface="Times New Roman" panose="02020603050405020304" pitchFamily="18" charset="0"/>
                <a:cs typeface="Times New Roman" panose="02020603050405020304" pitchFamily="18" charset="0"/>
              </a:rPr>
              <a:t>役龄</a:t>
            </a:r>
            <a:r>
              <a:rPr lang="zh-CN" altLang="en-US" b="1" dirty="0">
                <a:latin typeface="Times New Roman" panose="02020603050405020304" pitchFamily="18" charset="0"/>
                <a:cs typeface="Times New Roman" panose="02020603050405020304" pitchFamily="18" charset="0"/>
              </a:rPr>
              <a:t>为</a:t>
            </a:r>
            <a:r>
              <a:rPr lang="en-US" altLang="zh-CN" b="1" i="1" dirty="0">
                <a:latin typeface="Times New Roman" panose="02020603050405020304" pitchFamily="18" charset="0"/>
                <a:cs typeface="Times New Roman" panose="02020603050405020304" pitchFamily="18" charset="0"/>
              </a:rPr>
              <a:t>t</a:t>
            </a:r>
            <a:r>
              <a:rPr lang="zh-CN" altLang="en-US" b="1" dirty="0">
                <a:latin typeface="Times New Roman" panose="02020603050405020304" pitchFamily="18" charset="0"/>
                <a:cs typeface="Times New Roman" panose="02020603050405020304" pitchFamily="18" charset="0"/>
              </a:rPr>
              <a:t>年</a:t>
            </a:r>
            <a:r>
              <a:rPr lang="zh-CN" altLang="en-US" b="1" dirty="0" smtClean="0">
                <a:latin typeface="Times New Roman" panose="02020603050405020304" pitchFamily="18" charset="0"/>
                <a:cs typeface="Times New Roman" panose="02020603050405020304" pitchFamily="18" charset="0"/>
              </a:rPr>
              <a:t>的机器</a:t>
            </a:r>
            <a:r>
              <a:rPr lang="zh-CN" altLang="en-US" b="1" dirty="0">
                <a:solidFill>
                  <a:srgbClr val="FF0000"/>
                </a:solidFill>
                <a:latin typeface="Times New Roman" panose="02020603050405020304" pitchFamily="18" charset="0"/>
                <a:cs typeface="Times New Roman" panose="02020603050405020304" pitchFamily="18" charset="0"/>
              </a:rPr>
              <a:t>更新时所需更新净费用</a:t>
            </a:r>
            <a:r>
              <a:rPr lang="zh-CN" altLang="en-US" b="1" dirty="0">
                <a:latin typeface="Times New Roman" panose="02020603050405020304" pitchFamily="18" charset="0"/>
                <a:cs typeface="Times New Roman" panose="02020603050405020304" pitchFamily="18" charset="0"/>
              </a:rPr>
              <a:t>。</a:t>
            </a:r>
          </a:p>
        </p:txBody>
      </p:sp>
      <p:sp>
        <p:nvSpPr>
          <p:cNvPr id="143375" name="Rectangle 20"/>
          <p:cNvSpPr>
            <a:spLocks noChangeArrowheads="1"/>
          </p:cNvSpPr>
          <p:nvPr/>
        </p:nvSpPr>
        <p:spPr bwMode="auto">
          <a:xfrm>
            <a:off x="565552" y="4221689"/>
            <a:ext cx="85026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l-GR" altLang="zh-CN" b="1" dirty="0">
                <a:cs typeface="Times New Roman" panose="02020603050405020304" pitchFamily="18" charset="0"/>
              </a:rPr>
              <a:t>α </a:t>
            </a:r>
            <a:r>
              <a:rPr lang="zh-CN" altLang="en-US" b="1" dirty="0" smtClean="0">
                <a:cs typeface="Times New Roman" panose="02020603050405020304" pitchFamily="18" charset="0"/>
              </a:rPr>
              <a:t>：折扣因子</a:t>
            </a:r>
            <a:r>
              <a:rPr lang="el-GR" altLang="zh-CN" b="1" dirty="0" smtClean="0">
                <a:cs typeface="Times New Roman" panose="02020603050405020304" pitchFamily="18" charset="0"/>
              </a:rPr>
              <a:t> </a:t>
            </a:r>
            <a:r>
              <a:rPr lang="en-US" altLang="zh-CN" b="1" dirty="0" smtClean="0">
                <a:cs typeface="Times New Roman" panose="02020603050405020304" pitchFamily="18" charset="0"/>
              </a:rPr>
              <a:t>(0≤</a:t>
            </a:r>
            <a:r>
              <a:rPr lang="el-GR" altLang="zh-CN" b="1" dirty="0" smtClean="0">
                <a:cs typeface="Times New Roman" panose="02020603050405020304" pitchFamily="18" charset="0"/>
              </a:rPr>
              <a:t>α≤</a:t>
            </a:r>
            <a:r>
              <a:rPr lang="en-US" altLang="zh-CN" b="1" dirty="0" smtClean="0">
                <a:cs typeface="Times New Roman" panose="02020603050405020304" pitchFamily="18" charset="0"/>
              </a:rPr>
              <a:t>1)</a:t>
            </a:r>
            <a:r>
              <a:rPr lang="zh-CN" altLang="en-US" b="1" dirty="0" smtClean="0">
                <a:cs typeface="Times New Roman" panose="02020603050405020304" pitchFamily="18" charset="0"/>
              </a:rPr>
              <a:t>表示</a:t>
            </a:r>
            <a:r>
              <a:rPr lang="zh-CN" altLang="en-US" b="1" dirty="0">
                <a:cs typeface="Times New Roman" panose="02020603050405020304" pitchFamily="18" charset="0"/>
              </a:rPr>
              <a:t>一年以后的单位收入的价值视为现年</a:t>
            </a:r>
            <a:r>
              <a:rPr lang="zh-CN" altLang="en-US" b="1" dirty="0" smtClean="0">
                <a:cs typeface="Times New Roman" panose="02020603050405020304" pitchFamily="18" charset="0"/>
              </a:rPr>
              <a:t>的</a:t>
            </a:r>
            <a:r>
              <a:rPr lang="el-GR" altLang="zh-CN" b="1" dirty="0" smtClean="0">
                <a:cs typeface="Times New Roman" panose="02020603050405020304" pitchFamily="18" charset="0"/>
              </a:rPr>
              <a:t>α</a:t>
            </a:r>
            <a:r>
              <a:rPr lang="zh-CN" altLang="en-US" b="1" dirty="0" smtClean="0">
                <a:cs typeface="Times New Roman" panose="02020603050405020304" pitchFamily="18" charset="0"/>
              </a:rPr>
              <a:t>单位。</a:t>
            </a:r>
            <a:endParaRPr lang="zh-CN" altLang="en-US" b="1" dirty="0"/>
          </a:p>
        </p:txBody>
      </p:sp>
      <p:sp>
        <p:nvSpPr>
          <p:cNvPr id="143378" name="Rectangle 23"/>
          <p:cNvSpPr>
            <a:spLocks noChangeArrowheads="1"/>
          </p:cNvSpPr>
          <p:nvPr/>
        </p:nvSpPr>
        <p:spPr bwMode="auto">
          <a:xfrm>
            <a:off x="565552" y="4662639"/>
            <a:ext cx="55034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indent="0"/>
            <a:r>
              <a:rPr lang="en-US" altLang="zh-CN" b="1" i="1" dirty="0" smtClean="0">
                <a:latin typeface="Times New Roman" panose="02020603050405020304" pitchFamily="18" charset="0"/>
                <a:cs typeface="Times New Roman" panose="02020603050405020304" pitchFamily="18" charset="0"/>
              </a:rPr>
              <a:t>T</a:t>
            </a:r>
            <a:r>
              <a:rPr lang="zh-CN" altLang="en-US" b="1" i="1" dirty="0" smtClean="0">
                <a:latin typeface="Times New Roman" panose="02020603050405020304" pitchFamily="18" charset="0"/>
                <a:cs typeface="Times New Roman" panose="02020603050405020304" pitchFamily="18" charset="0"/>
              </a:rPr>
              <a:t>：</a:t>
            </a:r>
            <a:r>
              <a:rPr lang="zh-CN" altLang="en-US" b="1" dirty="0" smtClean="0">
                <a:cs typeface="Times New Roman" panose="02020603050405020304" pitchFamily="18" charset="0"/>
              </a:rPr>
              <a:t>在</a:t>
            </a:r>
            <a:r>
              <a:rPr lang="zh-CN" altLang="en-US" b="1" dirty="0">
                <a:cs typeface="Times New Roman" panose="02020603050405020304" pitchFamily="18" charset="0"/>
              </a:rPr>
              <a:t>第一年开始时，正在使用的机器的役龄。</a:t>
            </a:r>
            <a:endParaRPr lang="zh-CN" altLang="en-US" b="1" dirty="0"/>
          </a:p>
        </p:txBody>
      </p:sp>
      <p:sp>
        <p:nvSpPr>
          <p:cNvPr id="143379" name="Rectangle 24"/>
          <p:cNvSpPr>
            <a:spLocks noChangeArrowheads="1"/>
          </p:cNvSpPr>
          <p:nvPr/>
        </p:nvSpPr>
        <p:spPr bwMode="auto">
          <a:xfrm>
            <a:off x="585520" y="5062749"/>
            <a:ext cx="26933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indent="0"/>
            <a:r>
              <a:rPr lang="en-US" altLang="zh-CN" b="1" i="1" dirty="0" smtClean="0">
                <a:latin typeface="Times New Roman" panose="02020603050405020304" pitchFamily="18" charset="0"/>
                <a:cs typeface="Times New Roman" panose="02020603050405020304" pitchFamily="18" charset="0"/>
              </a:rPr>
              <a:t>N</a:t>
            </a:r>
            <a:r>
              <a:rPr lang="zh-CN" altLang="en-US" b="1" i="1" dirty="0" smtClean="0">
                <a:latin typeface="Times New Roman" panose="02020603050405020304" pitchFamily="18" charset="0"/>
                <a:cs typeface="Times New Roman" panose="02020603050405020304" pitchFamily="18" charset="0"/>
              </a:rPr>
              <a:t>：</a:t>
            </a:r>
            <a:r>
              <a:rPr lang="zh-CN" altLang="en-US" b="1" dirty="0" smtClean="0">
                <a:cs typeface="Times New Roman" panose="02020603050405020304" pitchFamily="18" charset="0"/>
              </a:rPr>
              <a:t>计划</a:t>
            </a:r>
            <a:r>
              <a:rPr lang="zh-CN" altLang="en-US" b="1" dirty="0">
                <a:cs typeface="Times New Roman" panose="02020603050405020304" pitchFamily="18" charset="0"/>
              </a:rPr>
              <a:t>的年限总数。</a:t>
            </a:r>
            <a:endParaRPr lang="zh-CN" altLang="en-US" b="1" dirty="0"/>
          </a:p>
        </p:txBody>
      </p:sp>
      <p:sp>
        <p:nvSpPr>
          <p:cNvPr id="143380" name="Rectangle 25"/>
          <p:cNvSpPr>
            <a:spLocks noChangeArrowheads="1"/>
          </p:cNvSpPr>
          <p:nvPr/>
        </p:nvSpPr>
        <p:spPr bwMode="auto">
          <a:xfrm>
            <a:off x="549722" y="5459538"/>
            <a:ext cx="833775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marL="811213" indent="-719138"/>
            <a:r>
              <a:rPr lang="en-US" altLang="zh-CN" b="1" i="1" dirty="0" err="1" smtClean="0">
                <a:latin typeface="Times New Roman" panose="02020603050405020304" pitchFamily="18" charset="0"/>
                <a:cs typeface="Times New Roman" panose="02020603050405020304" pitchFamily="18" charset="0"/>
              </a:rPr>
              <a:t>f</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t</a:t>
            </a:r>
            <a:r>
              <a:rPr lang="en-US" altLang="zh-CN"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：在第</a:t>
            </a:r>
            <a:r>
              <a:rPr lang="en-US" altLang="zh-CN" b="1" i="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年</a:t>
            </a:r>
            <a:r>
              <a:rPr lang="zh-CN" altLang="en-US" b="1" dirty="0">
                <a:latin typeface="Times New Roman" panose="02020603050405020304" pitchFamily="18" charset="0"/>
                <a:cs typeface="Times New Roman" panose="02020603050405020304" pitchFamily="18" charset="0"/>
              </a:rPr>
              <a:t>开始使用一个役龄为</a:t>
            </a:r>
            <a:r>
              <a:rPr lang="en-US" altLang="zh-CN" b="1" i="1" dirty="0">
                <a:latin typeface="Times New Roman" panose="02020603050405020304" pitchFamily="18" charset="0"/>
                <a:cs typeface="Times New Roman" panose="02020603050405020304" pitchFamily="18" charset="0"/>
              </a:rPr>
              <a:t>t</a:t>
            </a:r>
            <a:r>
              <a:rPr lang="zh-CN" altLang="en-US" b="1" dirty="0">
                <a:latin typeface="Times New Roman" panose="02020603050405020304" pitchFamily="18" charset="0"/>
                <a:cs typeface="Times New Roman" panose="02020603050405020304" pitchFamily="18" charset="0"/>
              </a:rPr>
              <a:t>年的机器时，从</a:t>
            </a:r>
            <a:r>
              <a:rPr lang="zh-CN" altLang="en-US" b="1" dirty="0" smtClean="0">
                <a:latin typeface="Times New Roman" panose="02020603050405020304" pitchFamily="18" charset="0"/>
                <a:cs typeface="Times New Roman" panose="02020603050405020304" pitchFamily="18" charset="0"/>
              </a:rPr>
              <a:t>第</a:t>
            </a:r>
            <a:r>
              <a:rPr lang="en-US" altLang="zh-CN" b="1" i="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年</a:t>
            </a:r>
            <a:r>
              <a:rPr lang="zh-CN" altLang="en-US" b="1" dirty="0">
                <a:latin typeface="Times New Roman" panose="02020603050405020304" pitchFamily="18" charset="0"/>
                <a:cs typeface="Times New Roman" panose="02020603050405020304" pitchFamily="18" charset="0"/>
              </a:rPr>
              <a:t>至第</a:t>
            </a:r>
            <a:r>
              <a:rPr lang="en-US" altLang="zh-CN" b="1" i="1" dirty="0">
                <a:latin typeface="Times New Roman" panose="02020603050405020304" pitchFamily="18" charset="0"/>
                <a:cs typeface="Times New Roman" panose="02020603050405020304" pitchFamily="18" charset="0"/>
              </a:rPr>
              <a:t>n</a:t>
            </a:r>
            <a:r>
              <a:rPr lang="zh-CN" altLang="en-US" b="1" dirty="0">
                <a:latin typeface="Times New Roman" panose="02020603050405020304" pitchFamily="18" charset="0"/>
                <a:cs typeface="Times New Roman" panose="02020603050405020304" pitchFamily="18" charset="0"/>
              </a:rPr>
              <a:t>年内的最佳收入</a:t>
            </a:r>
            <a:r>
              <a:rPr lang="zh-CN" altLang="en-US" b="1" dirty="0" smtClean="0">
                <a:latin typeface="Times New Roman" panose="02020603050405020304" pitchFamily="18" charset="0"/>
                <a:cs typeface="Times New Roman" panose="02020603050405020304" pitchFamily="18" charset="0"/>
              </a:rPr>
              <a:t>。</a:t>
            </a:r>
            <a:r>
              <a:rPr lang="zh-CN" altLang="en-US" b="1" dirty="0" smtClean="0">
                <a:solidFill>
                  <a:srgbClr val="FF0000"/>
                </a:solidFill>
                <a:latin typeface="Times New Roman" panose="02020603050405020304" pitchFamily="18" charset="0"/>
                <a:cs typeface="Times New Roman" panose="02020603050405020304" pitchFamily="18" charset="0"/>
              </a:rPr>
              <a:t>（最优函数）</a:t>
            </a:r>
            <a:endParaRPr lang="zh-CN" altLang="en-US" b="1" dirty="0">
              <a:solidFill>
                <a:srgbClr val="FF0000"/>
              </a:solidFill>
              <a:latin typeface="Times New Roman" panose="02020603050405020304" pitchFamily="18" charset="0"/>
              <a:cs typeface="Times New Roman" panose="02020603050405020304" pitchFamily="18" charset="0"/>
            </a:endParaRPr>
          </a:p>
        </p:txBody>
      </p:sp>
      <p:sp>
        <p:nvSpPr>
          <p:cNvPr id="143381" name="Rectangle 26"/>
          <p:cNvSpPr>
            <a:spLocks noChangeArrowheads="1"/>
          </p:cNvSpPr>
          <p:nvPr/>
        </p:nvSpPr>
        <p:spPr bwMode="auto">
          <a:xfrm>
            <a:off x="585520" y="6125234"/>
            <a:ext cx="70214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b="1" i="1" dirty="0" err="1" smtClean="0">
                <a:latin typeface="Times New Roman" panose="02020603050405020304" pitchFamily="18" charset="0"/>
                <a:cs typeface="Times New Roman" panose="02020603050405020304" pitchFamily="18" charset="0"/>
              </a:rPr>
              <a:t>x</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t</a:t>
            </a:r>
            <a:r>
              <a:rPr lang="en-US" altLang="zh-CN"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：给出</a:t>
            </a:r>
            <a:r>
              <a:rPr lang="en-US" altLang="zh-CN" b="1" i="1" dirty="0" err="1" smtClean="0">
                <a:latin typeface="Times New Roman" panose="02020603050405020304" pitchFamily="18" charset="0"/>
                <a:cs typeface="Times New Roman" panose="02020603050405020304" pitchFamily="18" charset="0"/>
              </a:rPr>
              <a:t>f</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t</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时，在</a:t>
            </a:r>
            <a:r>
              <a:rPr lang="zh-CN" altLang="en-US" b="1" dirty="0" smtClean="0">
                <a:latin typeface="Times New Roman" panose="02020603050405020304" pitchFamily="18" charset="0"/>
                <a:cs typeface="Times New Roman" panose="02020603050405020304" pitchFamily="18" charset="0"/>
              </a:rPr>
              <a:t>第</a:t>
            </a:r>
            <a:r>
              <a:rPr lang="en-US" altLang="zh-CN" b="1" i="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年</a:t>
            </a:r>
            <a:r>
              <a:rPr lang="zh-CN" altLang="en-US" b="1" dirty="0">
                <a:latin typeface="Times New Roman" panose="02020603050405020304" pitchFamily="18" charset="0"/>
                <a:cs typeface="Times New Roman" panose="02020603050405020304" pitchFamily="18" charset="0"/>
              </a:rPr>
              <a:t>开始时的决策</a:t>
            </a:r>
            <a:r>
              <a:rPr lang="en-US" altLang="zh-CN" b="1" dirty="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保留</a:t>
            </a:r>
            <a:r>
              <a:rPr lang="en-US" altLang="zh-CN" b="1" dirty="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或更新</a:t>
            </a:r>
            <a:r>
              <a:rPr lang="en-US" altLang="zh-CN" b="1" dirty="0" smtClean="0">
                <a:latin typeface="Times New Roman" panose="02020603050405020304" pitchFamily="18" charset="0"/>
                <a:cs typeface="Times New Roman" panose="02020603050405020304" pitchFamily="18" charset="0"/>
              </a:rPr>
              <a:t>R)</a:t>
            </a:r>
            <a:r>
              <a:rPr lang="zh-CN" altLang="en-US" b="1" dirty="0">
                <a:latin typeface="Times New Roman" panose="02020603050405020304" pitchFamily="18" charset="0"/>
                <a:cs typeface="Times New Roman" panose="02020603050405020304" pitchFamily="18" charset="0"/>
              </a:rPr>
              <a:t>。 </a:t>
            </a:r>
          </a:p>
        </p:txBody>
      </p:sp>
    </p:spTree>
  </p:cSld>
  <p:clrMapOvr>
    <a:masterClrMapping/>
  </p:clrMapOvr>
  <p:transition spd="slow"/>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8" name="Rectangle 2"/>
          <p:cNvSpPr>
            <a:spLocks noGrp="1" noChangeArrowheads="1"/>
          </p:cNvSpPr>
          <p:nvPr>
            <p:ph type="title"/>
          </p:nvPr>
        </p:nvSpPr>
        <p:spPr/>
        <p:txBody>
          <a:bodyPr/>
          <a:lstStyle/>
          <a:p>
            <a:r>
              <a:rPr lang="en-US" altLang="zh-CN" dirty="0" smtClean="0"/>
              <a:t>8.4.5</a:t>
            </a:r>
            <a:r>
              <a:rPr lang="zh-CN" altLang="en-US" dirty="0" smtClean="0"/>
              <a:t>  </a:t>
            </a:r>
            <a:r>
              <a:rPr lang="zh-CN" altLang="en-US" dirty="0"/>
              <a:t>设备更新问题</a:t>
            </a:r>
          </a:p>
        </p:txBody>
      </p:sp>
      <p:sp>
        <p:nvSpPr>
          <p:cNvPr id="14438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FBCB7954-CABE-4902-971C-C5C08406A8BE}" type="slidenum">
              <a:rPr lang="en-US" altLang="zh-CN" sz="1000"/>
              <a:pPr/>
              <a:t>70</a:t>
            </a:fld>
            <a:endParaRPr lang="en-US" altLang="zh-CN" sz="1000"/>
          </a:p>
        </p:txBody>
      </p:sp>
      <p:sp>
        <p:nvSpPr>
          <p:cNvPr id="144389"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4390" name="Rectangle 20"/>
          <p:cNvSpPr>
            <a:spLocks noChangeArrowheads="1"/>
          </p:cNvSpPr>
          <p:nvPr/>
        </p:nvSpPr>
        <p:spPr bwMode="auto">
          <a:xfrm>
            <a:off x="773968" y="3068960"/>
            <a:ext cx="781208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nSpc>
                <a:spcPct val="110000"/>
              </a:lnSpc>
            </a:pPr>
            <a:r>
              <a:rPr lang="zh-CN" altLang="en-US" b="1" dirty="0" smtClean="0">
                <a:latin typeface="Times New Roman" panose="02020603050405020304" pitchFamily="18" charset="0"/>
                <a:cs typeface="Times New Roman" panose="02020603050405020304" pitchFamily="18" charset="0"/>
              </a:rPr>
              <a:t>为了</a:t>
            </a:r>
            <a:r>
              <a:rPr lang="zh-CN" altLang="en-US" b="1" dirty="0">
                <a:latin typeface="Times New Roman" panose="02020603050405020304" pitchFamily="18" charset="0"/>
                <a:cs typeface="Times New Roman" panose="02020603050405020304" pitchFamily="18" charset="0"/>
              </a:rPr>
              <a:t>写出递推关系式，先从两方面分析问题。</a:t>
            </a:r>
          </a:p>
          <a:p>
            <a:pPr>
              <a:lnSpc>
                <a:spcPct val="110000"/>
              </a:lnSpc>
              <a:buFontTx/>
              <a:buChar char="•"/>
            </a:pPr>
            <a:r>
              <a:rPr lang="zh-CN" altLang="en-US" b="1" dirty="0" smtClean="0">
                <a:solidFill>
                  <a:srgbClr val="FF0000"/>
                </a:solidFill>
                <a:latin typeface="Times New Roman" panose="02020603050405020304" pitchFamily="18" charset="0"/>
                <a:cs typeface="Times New Roman" panose="02020603050405020304" pitchFamily="18" charset="0"/>
              </a:rPr>
              <a:t>第</a:t>
            </a:r>
            <a:r>
              <a:rPr lang="en-US" altLang="zh-CN" b="1" i="1" dirty="0" smtClean="0">
                <a:solidFill>
                  <a:srgbClr val="FF0000"/>
                </a:solidFill>
                <a:latin typeface="Times New Roman" panose="02020603050405020304" pitchFamily="18" charset="0"/>
                <a:cs typeface="Times New Roman" panose="02020603050405020304" pitchFamily="18" charset="0"/>
              </a:rPr>
              <a:t>k</a:t>
            </a:r>
            <a:r>
              <a:rPr lang="zh-CN" altLang="en-US" b="1" dirty="0" smtClean="0">
                <a:solidFill>
                  <a:srgbClr val="FF0000"/>
                </a:solidFill>
                <a:latin typeface="Times New Roman" panose="02020603050405020304" pitchFamily="18" charset="0"/>
                <a:cs typeface="Times New Roman" panose="02020603050405020304" pitchFamily="18" charset="0"/>
              </a:rPr>
              <a:t>年</a:t>
            </a:r>
            <a:r>
              <a:rPr lang="zh-CN" altLang="en-US" b="1" dirty="0">
                <a:solidFill>
                  <a:srgbClr val="FF0000"/>
                </a:solidFill>
                <a:latin typeface="Times New Roman" panose="02020603050405020304" pitchFamily="18" charset="0"/>
                <a:cs typeface="Times New Roman" panose="02020603050405020304" pitchFamily="18" charset="0"/>
              </a:rPr>
              <a:t>开始</a:t>
            </a:r>
            <a:r>
              <a:rPr lang="zh-CN" altLang="en-US" b="1" dirty="0" smtClean="0">
                <a:solidFill>
                  <a:srgbClr val="FF0000"/>
                </a:solidFill>
                <a:latin typeface="Times New Roman" panose="02020603050405020304" pitchFamily="18" charset="0"/>
                <a:cs typeface="Times New Roman" panose="02020603050405020304" pitchFamily="18" charset="0"/>
              </a:rPr>
              <a:t>时更新机器：</a:t>
            </a:r>
            <a:r>
              <a:rPr lang="zh-CN" altLang="en-US" b="1" dirty="0" smtClean="0">
                <a:latin typeface="Times New Roman" panose="02020603050405020304" pitchFamily="18" charset="0"/>
                <a:cs typeface="Times New Roman" panose="02020603050405020304" pitchFamily="18" charset="0"/>
              </a:rPr>
              <a:t>则</a:t>
            </a:r>
            <a:r>
              <a:rPr lang="zh-CN" altLang="en-US" b="1" dirty="0">
                <a:latin typeface="Times New Roman" panose="02020603050405020304" pitchFamily="18" charset="0"/>
                <a:cs typeface="Times New Roman" panose="02020603050405020304" pitchFamily="18" charset="0"/>
              </a:rPr>
              <a:t>从</a:t>
            </a:r>
            <a:r>
              <a:rPr lang="zh-CN" altLang="en-US" b="1" dirty="0" smtClean="0">
                <a:latin typeface="Times New Roman" panose="02020603050405020304" pitchFamily="18" charset="0"/>
                <a:cs typeface="Times New Roman" panose="02020603050405020304" pitchFamily="18" charset="0"/>
              </a:rPr>
              <a:t>第</a:t>
            </a:r>
            <a:r>
              <a:rPr lang="en-US" altLang="zh-CN" b="1" i="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至</a:t>
            </a:r>
            <a:r>
              <a:rPr lang="zh-CN" altLang="en-US" b="1" dirty="0">
                <a:latin typeface="Times New Roman" panose="02020603050405020304" pitchFamily="18" charset="0"/>
                <a:cs typeface="Times New Roman" panose="02020603050405020304" pitchFamily="18" charset="0"/>
              </a:rPr>
              <a:t>第</a:t>
            </a:r>
            <a:r>
              <a:rPr lang="en-US" altLang="zh-CN" b="1" i="1" dirty="0">
                <a:latin typeface="Times New Roman" panose="02020603050405020304" pitchFamily="18" charset="0"/>
                <a:cs typeface="Times New Roman" panose="02020603050405020304" pitchFamily="18" charset="0"/>
              </a:rPr>
              <a:t>n</a:t>
            </a:r>
            <a:r>
              <a:rPr lang="zh-CN" altLang="en-US" b="1" dirty="0">
                <a:latin typeface="Times New Roman" panose="02020603050405020304" pitchFamily="18" charset="0"/>
                <a:cs typeface="Times New Roman" panose="02020603050405020304" pitchFamily="18" charset="0"/>
              </a:rPr>
              <a:t>年得到的</a:t>
            </a:r>
            <a:r>
              <a:rPr lang="zh-CN" altLang="en-US" b="1" dirty="0" smtClean="0">
                <a:latin typeface="Times New Roman" panose="02020603050405020304" pitchFamily="18" charset="0"/>
                <a:cs typeface="Times New Roman" panose="02020603050405020304" pitchFamily="18" charset="0"/>
              </a:rPr>
              <a:t>总收入</a:t>
            </a:r>
            <a:r>
              <a:rPr lang="en-US" altLang="zh-CN" b="1" i="1" dirty="0" err="1" smtClean="0">
                <a:latin typeface="Times New Roman" panose="02020603050405020304" pitchFamily="18" charset="0"/>
                <a:cs typeface="Times New Roman" panose="02020603050405020304" pitchFamily="18" charset="0"/>
              </a:rPr>
              <a:t>f</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t</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 等于</a:t>
            </a:r>
            <a:r>
              <a:rPr lang="zh-CN" altLang="en-US" b="1" dirty="0">
                <a:latin typeface="Times New Roman" panose="02020603050405020304" pitchFamily="18" charset="0"/>
                <a:cs typeface="Times New Roman" panose="02020603050405020304" pitchFamily="18" charset="0"/>
              </a:rPr>
              <a:t>在</a:t>
            </a:r>
            <a:r>
              <a:rPr lang="zh-CN" altLang="en-US" b="1" dirty="0" smtClean="0">
                <a:latin typeface="Times New Roman" panose="02020603050405020304" pitchFamily="18" charset="0"/>
                <a:cs typeface="Times New Roman" panose="02020603050405020304" pitchFamily="18" charset="0"/>
              </a:rPr>
              <a:t>第</a:t>
            </a:r>
            <a:r>
              <a:rPr lang="en-US" altLang="zh-CN" b="1" i="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年</a:t>
            </a:r>
            <a:r>
              <a:rPr lang="zh-CN" altLang="en-US" b="1" dirty="0">
                <a:latin typeface="Times New Roman" panose="02020603050405020304" pitchFamily="18" charset="0"/>
                <a:cs typeface="Times New Roman" panose="02020603050405020304" pitchFamily="18" charset="0"/>
              </a:rPr>
              <a:t>中由新机器获得的</a:t>
            </a:r>
            <a:r>
              <a:rPr lang="zh-CN" altLang="en-US" b="1" dirty="0" smtClean="0">
                <a:latin typeface="Times New Roman" panose="02020603050405020304" pitchFamily="18" charset="0"/>
                <a:cs typeface="Times New Roman" panose="02020603050405020304" pitchFamily="18" charset="0"/>
              </a:rPr>
              <a:t>收入</a:t>
            </a:r>
            <a:r>
              <a:rPr lang="en-US" altLang="zh-CN" b="1" i="1" dirty="0" err="1" smtClean="0">
                <a:latin typeface="Times New Roman" panose="02020603050405020304" pitchFamily="18" charset="0"/>
                <a:cs typeface="Times New Roman" panose="02020603050405020304" pitchFamily="18" charset="0"/>
              </a:rPr>
              <a:t>I</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0</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减去在</a:t>
            </a:r>
            <a:r>
              <a:rPr lang="zh-CN" altLang="en-US" b="1" dirty="0" smtClean="0">
                <a:latin typeface="Times New Roman" panose="02020603050405020304" pitchFamily="18" charset="0"/>
                <a:cs typeface="Times New Roman" panose="02020603050405020304" pitchFamily="18" charset="0"/>
              </a:rPr>
              <a:t>第</a:t>
            </a:r>
            <a:r>
              <a:rPr lang="en-US" altLang="zh-CN" b="1" i="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年</a:t>
            </a:r>
            <a:r>
              <a:rPr lang="zh-CN" altLang="en-US" b="1" dirty="0">
                <a:latin typeface="Times New Roman" panose="02020603050405020304" pitchFamily="18" charset="0"/>
                <a:cs typeface="Times New Roman" panose="02020603050405020304" pitchFamily="18" charset="0"/>
              </a:rPr>
              <a:t>中的运行</a:t>
            </a:r>
            <a:r>
              <a:rPr lang="zh-CN" altLang="en-US" b="1" dirty="0" smtClean="0">
                <a:latin typeface="Times New Roman" panose="02020603050405020304" pitchFamily="18" charset="0"/>
                <a:cs typeface="Times New Roman" panose="02020603050405020304" pitchFamily="18" charset="0"/>
              </a:rPr>
              <a:t>费用</a:t>
            </a:r>
            <a:r>
              <a:rPr lang="en-US" altLang="zh-CN" b="1" i="1" dirty="0" smtClean="0">
                <a:latin typeface="Times New Roman" panose="02020603050405020304" pitchFamily="18" charset="0"/>
                <a:cs typeface="Times New Roman" panose="02020603050405020304" pitchFamily="18" charset="0"/>
              </a:rPr>
              <a:t>O</a:t>
            </a:r>
            <a:r>
              <a:rPr lang="en-US" altLang="zh-CN" b="1" i="1" baseline="-25000" dirty="0" smtClean="0">
                <a:latin typeface="Times New Roman" panose="02020603050405020304" pitchFamily="18" charset="0"/>
                <a:cs typeface="Times New Roman" panose="02020603050405020304" pitchFamily="18" charset="0"/>
              </a:rPr>
              <a:t>1</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t</a:t>
            </a:r>
            <a:r>
              <a:rPr lang="en-US" altLang="zh-CN"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减去在</a:t>
            </a:r>
            <a:r>
              <a:rPr lang="zh-CN" altLang="en-US" b="1" dirty="0" smtClean="0">
                <a:latin typeface="Times New Roman" panose="02020603050405020304" pitchFamily="18" charset="0"/>
                <a:cs typeface="Times New Roman" panose="02020603050405020304" pitchFamily="18" charset="0"/>
              </a:rPr>
              <a:t>第</a:t>
            </a:r>
            <a:r>
              <a:rPr lang="en-US" altLang="zh-CN" b="1" i="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年</a:t>
            </a:r>
            <a:r>
              <a:rPr lang="zh-CN" altLang="en-US" b="1" dirty="0">
                <a:latin typeface="Times New Roman" panose="02020603050405020304" pitchFamily="18" charset="0"/>
                <a:cs typeface="Times New Roman" panose="02020603050405020304" pitchFamily="18" charset="0"/>
              </a:rPr>
              <a:t>开始时役龄为</a:t>
            </a:r>
            <a:r>
              <a:rPr lang="en-US" altLang="zh-CN" b="1" i="1" dirty="0">
                <a:latin typeface="Times New Roman" panose="02020603050405020304" pitchFamily="18" charset="0"/>
                <a:cs typeface="Times New Roman" panose="02020603050405020304" pitchFamily="18" charset="0"/>
              </a:rPr>
              <a:t>t</a:t>
            </a:r>
            <a:r>
              <a:rPr lang="zh-CN" altLang="en-US" b="1" dirty="0">
                <a:latin typeface="Times New Roman" panose="02020603050405020304" pitchFamily="18" charset="0"/>
                <a:cs typeface="Times New Roman" panose="02020603050405020304" pitchFamily="18" charset="0"/>
              </a:rPr>
              <a:t>年的机器的更新净</a:t>
            </a:r>
            <a:r>
              <a:rPr lang="zh-CN" altLang="en-US" b="1" dirty="0" smtClean="0">
                <a:latin typeface="Times New Roman" panose="02020603050405020304" pitchFamily="18" charset="0"/>
                <a:cs typeface="Times New Roman" panose="02020603050405020304" pitchFamily="18" charset="0"/>
              </a:rPr>
              <a:t>费用</a:t>
            </a:r>
            <a:r>
              <a:rPr lang="en-US" altLang="zh-CN" b="1" i="1" dirty="0" err="1" smtClean="0">
                <a:latin typeface="Times New Roman" panose="02020603050405020304" pitchFamily="18" charset="0"/>
                <a:cs typeface="Times New Roman" panose="02020603050405020304" pitchFamily="18" charset="0"/>
              </a:rPr>
              <a:t>C</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t</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，加上第</a:t>
            </a:r>
            <a:r>
              <a:rPr lang="en-US" altLang="zh-CN" b="1" i="1" dirty="0"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年开始使用役龄为</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年的机器从</a:t>
            </a:r>
            <a:r>
              <a:rPr lang="zh-CN" altLang="en-US" b="1" dirty="0" smtClean="0">
                <a:latin typeface="Times New Roman" panose="02020603050405020304" pitchFamily="18" charset="0"/>
                <a:cs typeface="Times New Roman" panose="02020603050405020304" pitchFamily="18" charset="0"/>
              </a:rPr>
              <a:t>第</a:t>
            </a:r>
            <a:r>
              <a:rPr lang="en-US" altLang="zh-CN" b="1" i="1" dirty="0"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年至第</a:t>
            </a:r>
            <a:r>
              <a:rPr lang="en-US" altLang="zh-CN" b="1" i="1" dirty="0">
                <a:latin typeface="Times New Roman" panose="02020603050405020304" pitchFamily="18" charset="0"/>
                <a:cs typeface="Times New Roman" panose="02020603050405020304" pitchFamily="18" charset="0"/>
              </a:rPr>
              <a:t>n</a:t>
            </a:r>
            <a:r>
              <a:rPr lang="zh-CN" altLang="en-US" b="1" dirty="0">
                <a:latin typeface="Times New Roman" panose="02020603050405020304" pitchFamily="18" charset="0"/>
                <a:cs typeface="Times New Roman" panose="02020603050405020304" pitchFamily="18" charset="0"/>
              </a:rPr>
              <a:t>年的最佳</a:t>
            </a:r>
            <a:r>
              <a:rPr lang="zh-CN" altLang="en-US" b="1" dirty="0" smtClean="0">
                <a:latin typeface="Times New Roman" panose="02020603050405020304" pitchFamily="18" charset="0"/>
                <a:cs typeface="Times New Roman" panose="02020603050405020304" pitchFamily="18" charset="0"/>
              </a:rPr>
              <a:t>收入</a:t>
            </a:r>
            <a:r>
              <a:rPr lang="en-US" altLang="zh-CN" b="1" i="1" dirty="0" smtClean="0">
                <a:latin typeface="Times New Roman" panose="02020603050405020304" pitchFamily="18" charset="0"/>
                <a:cs typeface="Times New Roman" panose="02020603050405020304" pitchFamily="18" charset="0"/>
              </a:rPr>
              <a:t>f</a:t>
            </a:r>
            <a:r>
              <a:rPr lang="en-US" altLang="zh-CN" b="1" i="1" baseline="-25000" dirty="0" smtClean="0">
                <a:latin typeface="Times New Roman" panose="02020603050405020304" pitchFamily="18" charset="0"/>
                <a:cs typeface="Times New Roman" panose="02020603050405020304" pitchFamily="18" charset="0"/>
              </a:rPr>
              <a:t>k+1</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1</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pPr>
              <a:lnSpc>
                <a:spcPct val="110000"/>
              </a:lnSpc>
              <a:buFontTx/>
              <a:buChar char="•"/>
            </a:pPr>
            <a:r>
              <a:rPr lang="zh-CN" altLang="en-US" b="1" dirty="0" smtClean="0">
                <a:solidFill>
                  <a:srgbClr val="FF0000"/>
                </a:solidFill>
                <a:latin typeface="Times New Roman" panose="02020603050405020304" pitchFamily="18" charset="0"/>
                <a:cs typeface="Times New Roman" panose="02020603050405020304" pitchFamily="18" charset="0"/>
              </a:rPr>
              <a:t>第</a:t>
            </a:r>
            <a:r>
              <a:rPr lang="en-US" altLang="zh-CN" b="1" i="1" dirty="0" smtClean="0">
                <a:solidFill>
                  <a:srgbClr val="FF0000"/>
                </a:solidFill>
                <a:latin typeface="Times New Roman" panose="02020603050405020304" pitchFamily="18" charset="0"/>
                <a:cs typeface="Times New Roman" panose="02020603050405020304" pitchFamily="18" charset="0"/>
              </a:rPr>
              <a:t>k</a:t>
            </a:r>
            <a:r>
              <a:rPr lang="zh-CN" altLang="en-US" b="1" dirty="0" smtClean="0">
                <a:solidFill>
                  <a:srgbClr val="FF0000"/>
                </a:solidFill>
                <a:latin typeface="Times New Roman" panose="02020603050405020304" pitchFamily="18" charset="0"/>
                <a:cs typeface="Times New Roman" panose="02020603050405020304" pitchFamily="18" charset="0"/>
              </a:rPr>
              <a:t>年</a:t>
            </a:r>
            <a:r>
              <a:rPr lang="zh-CN" altLang="en-US" b="1" dirty="0">
                <a:solidFill>
                  <a:srgbClr val="FF0000"/>
                </a:solidFill>
                <a:latin typeface="Times New Roman" panose="02020603050405020304" pitchFamily="18" charset="0"/>
                <a:cs typeface="Times New Roman" panose="02020603050405020304" pitchFamily="18" charset="0"/>
              </a:rPr>
              <a:t>开始</a:t>
            </a:r>
            <a:r>
              <a:rPr lang="zh-CN" altLang="en-US" b="1" dirty="0" smtClean="0">
                <a:solidFill>
                  <a:srgbClr val="FF0000"/>
                </a:solidFill>
                <a:latin typeface="Times New Roman" panose="02020603050405020304" pitchFamily="18" charset="0"/>
                <a:cs typeface="Times New Roman" panose="02020603050405020304" pitchFamily="18" charset="0"/>
              </a:rPr>
              <a:t>时保留役龄</a:t>
            </a:r>
            <a:r>
              <a:rPr lang="zh-CN" altLang="en-US" b="1" dirty="0">
                <a:solidFill>
                  <a:srgbClr val="FF0000"/>
                </a:solidFill>
                <a:latin typeface="Times New Roman" panose="02020603050405020304" pitchFamily="18" charset="0"/>
                <a:cs typeface="Times New Roman" panose="02020603050405020304" pitchFamily="18" charset="0"/>
              </a:rPr>
              <a:t>为</a:t>
            </a:r>
            <a:r>
              <a:rPr lang="en-US" altLang="zh-CN" b="1" i="1" dirty="0">
                <a:solidFill>
                  <a:srgbClr val="FF0000"/>
                </a:solidFill>
                <a:latin typeface="Times New Roman" panose="02020603050405020304" pitchFamily="18" charset="0"/>
                <a:cs typeface="Times New Roman" panose="02020603050405020304" pitchFamily="18" charset="0"/>
              </a:rPr>
              <a:t>t</a:t>
            </a:r>
            <a:r>
              <a:rPr lang="zh-CN" altLang="en-US" b="1" dirty="0">
                <a:solidFill>
                  <a:srgbClr val="FF0000"/>
                </a:solidFill>
                <a:latin typeface="Times New Roman" panose="02020603050405020304" pitchFamily="18" charset="0"/>
                <a:cs typeface="Times New Roman" panose="02020603050405020304" pitchFamily="18" charset="0"/>
              </a:rPr>
              <a:t>年的机器</a:t>
            </a:r>
            <a:r>
              <a:rPr lang="zh-CN" altLang="en-US" b="1" dirty="0">
                <a:latin typeface="Times New Roman" panose="02020603050405020304" pitchFamily="18" charset="0"/>
                <a:cs typeface="Times New Roman" panose="02020603050405020304" pitchFamily="18" charset="0"/>
              </a:rPr>
              <a:t>，则从</a:t>
            </a:r>
            <a:r>
              <a:rPr lang="zh-CN" altLang="en-US" b="1" dirty="0" smtClean="0">
                <a:latin typeface="Times New Roman" panose="02020603050405020304" pitchFamily="18" charset="0"/>
                <a:cs typeface="Times New Roman" panose="02020603050405020304" pitchFamily="18" charset="0"/>
              </a:rPr>
              <a:t>第</a:t>
            </a:r>
            <a:r>
              <a:rPr lang="en-US" altLang="zh-CN" b="1" i="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至</a:t>
            </a:r>
            <a:r>
              <a:rPr lang="zh-CN" altLang="en-US" b="1" dirty="0">
                <a:latin typeface="Times New Roman" panose="02020603050405020304" pitchFamily="18" charset="0"/>
                <a:cs typeface="Times New Roman" panose="02020603050405020304" pitchFamily="18" charset="0"/>
              </a:rPr>
              <a:t>第</a:t>
            </a:r>
            <a:r>
              <a:rPr lang="en-US" altLang="zh-CN" b="1" i="1" dirty="0">
                <a:latin typeface="Times New Roman" panose="02020603050405020304" pitchFamily="18" charset="0"/>
                <a:cs typeface="Times New Roman" panose="02020603050405020304" pitchFamily="18" charset="0"/>
              </a:rPr>
              <a:t>n</a:t>
            </a:r>
            <a:r>
              <a:rPr lang="zh-CN" altLang="en-US" b="1" dirty="0">
                <a:latin typeface="Times New Roman" panose="02020603050405020304" pitchFamily="18" charset="0"/>
                <a:cs typeface="Times New Roman" panose="02020603050405020304" pitchFamily="18" charset="0"/>
              </a:rPr>
              <a:t>年的</a:t>
            </a:r>
            <a:r>
              <a:rPr lang="zh-CN" altLang="en-US" b="1" dirty="0" smtClean="0">
                <a:latin typeface="Times New Roman" panose="02020603050405020304" pitchFamily="18" charset="0"/>
                <a:cs typeface="Times New Roman" panose="02020603050405020304" pitchFamily="18" charset="0"/>
              </a:rPr>
              <a:t>总收入</a:t>
            </a:r>
            <a:r>
              <a:rPr lang="en-US" altLang="zh-CN" b="1" i="1" dirty="0" err="1" smtClean="0">
                <a:latin typeface="Times New Roman" panose="02020603050405020304" pitchFamily="18" charset="0"/>
                <a:cs typeface="Times New Roman" panose="02020603050405020304" pitchFamily="18" charset="0"/>
              </a:rPr>
              <a:t>f</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t</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等于</a:t>
            </a:r>
            <a:r>
              <a:rPr lang="zh-CN" altLang="en-US" b="1" dirty="0">
                <a:latin typeface="Times New Roman" panose="02020603050405020304" pitchFamily="18" charset="0"/>
                <a:cs typeface="Times New Roman" panose="02020603050405020304" pitchFamily="18" charset="0"/>
              </a:rPr>
              <a:t>在</a:t>
            </a:r>
            <a:r>
              <a:rPr lang="zh-CN" altLang="en-US" b="1" dirty="0" smtClean="0">
                <a:latin typeface="Times New Roman" panose="02020603050405020304" pitchFamily="18" charset="0"/>
                <a:cs typeface="Times New Roman" panose="02020603050405020304" pitchFamily="18" charset="0"/>
              </a:rPr>
              <a:t>第</a:t>
            </a:r>
            <a:r>
              <a:rPr lang="en-US" altLang="zh-CN" b="1" i="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年</a:t>
            </a:r>
            <a:r>
              <a:rPr lang="zh-CN" altLang="en-US" b="1" dirty="0">
                <a:latin typeface="Times New Roman" panose="02020603050405020304" pitchFamily="18" charset="0"/>
                <a:cs typeface="Times New Roman" panose="02020603050405020304" pitchFamily="18" charset="0"/>
              </a:rPr>
              <a:t>由役龄为</a:t>
            </a:r>
            <a:r>
              <a:rPr lang="en-US" altLang="zh-CN" b="1" i="1" dirty="0">
                <a:latin typeface="Times New Roman" panose="02020603050405020304" pitchFamily="18" charset="0"/>
                <a:cs typeface="Times New Roman" panose="02020603050405020304" pitchFamily="18" charset="0"/>
              </a:rPr>
              <a:t>t</a:t>
            </a:r>
            <a:r>
              <a:rPr lang="zh-CN" altLang="en-US" b="1" dirty="0">
                <a:latin typeface="Times New Roman" panose="02020603050405020304" pitchFamily="18" charset="0"/>
                <a:cs typeface="Times New Roman" panose="02020603050405020304" pitchFamily="18" charset="0"/>
              </a:rPr>
              <a:t>年的机器得到的</a:t>
            </a:r>
            <a:r>
              <a:rPr lang="zh-CN" altLang="en-US" b="1" dirty="0" smtClean="0">
                <a:latin typeface="Times New Roman" panose="02020603050405020304" pitchFamily="18" charset="0"/>
                <a:cs typeface="Times New Roman" panose="02020603050405020304" pitchFamily="18" charset="0"/>
              </a:rPr>
              <a:t>收入</a:t>
            </a:r>
            <a:r>
              <a:rPr lang="en-US" altLang="zh-CN" b="1" i="1" dirty="0" err="1" smtClean="0">
                <a:latin typeface="Times New Roman" panose="02020603050405020304" pitchFamily="18" charset="0"/>
                <a:cs typeface="Times New Roman" panose="02020603050405020304" pitchFamily="18" charset="0"/>
              </a:rPr>
              <a:t>I</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t</a:t>
            </a:r>
            <a:r>
              <a:rPr lang="en-US" altLang="zh-CN"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减去在</a:t>
            </a:r>
            <a:r>
              <a:rPr lang="zh-CN" altLang="en-US" b="1" dirty="0" smtClean="0">
                <a:latin typeface="Times New Roman" panose="02020603050405020304" pitchFamily="18" charset="0"/>
                <a:cs typeface="Times New Roman" panose="02020603050405020304" pitchFamily="18" charset="0"/>
              </a:rPr>
              <a:t>第</a:t>
            </a:r>
            <a:r>
              <a:rPr lang="en-US" altLang="zh-CN" b="1" i="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年</a:t>
            </a:r>
            <a:r>
              <a:rPr lang="zh-CN" altLang="en-US" b="1" dirty="0">
                <a:latin typeface="Times New Roman" panose="02020603050405020304" pitchFamily="18" charset="0"/>
                <a:cs typeface="Times New Roman" panose="02020603050405020304" pitchFamily="18" charset="0"/>
              </a:rPr>
              <a:t>中役龄为</a:t>
            </a:r>
            <a:r>
              <a:rPr lang="en-US" altLang="zh-CN" b="1" i="1" dirty="0">
                <a:latin typeface="Times New Roman" panose="02020603050405020304" pitchFamily="18" charset="0"/>
                <a:cs typeface="Times New Roman" panose="02020603050405020304" pitchFamily="18" charset="0"/>
              </a:rPr>
              <a:t>t</a:t>
            </a:r>
            <a:r>
              <a:rPr lang="zh-CN" altLang="en-US" b="1" dirty="0">
                <a:latin typeface="Times New Roman" panose="02020603050405020304" pitchFamily="18" charset="0"/>
                <a:cs typeface="Times New Roman" panose="02020603050405020304" pitchFamily="18" charset="0"/>
              </a:rPr>
              <a:t>年的机器的运行</a:t>
            </a:r>
            <a:r>
              <a:rPr lang="zh-CN" altLang="en-US" b="1" dirty="0" smtClean="0">
                <a:latin typeface="Times New Roman" panose="02020603050405020304" pitchFamily="18" charset="0"/>
                <a:cs typeface="Times New Roman" panose="02020603050405020304" pitchFamily="18" charset="0"/>
              </a:rPr>
              <a:t>费用</a:t>
            </a:r>
            <a:r>
              <a:rPr lang="en-US" altLang="zh-CN" b="1" i="1" dirty="0" smtClean="0">
                <a:latin typeface="Times New Roman" panose="02020603050405020304" pitchFamily="18" charset="0"/>
                <a:cs typeface="Times New Roman" panose="02020603050405020304" pitchFamily="18" charset="0"/>
              </a:rPr>
              <a:t>O</a:t>
            </a:r>
            <a:r>
              <a:rPr lang="en-US" altLang="zh-CN" b="1" i="1" baseline="-25000" dirty="0"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t</a:t>
            </a:r>
            <a:r>
              <a:rPr lang="en-US" altLang="zh-CN"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加上在</a:t>
            </a:r>
            <a:r>
              <a:rPr lang="zh-CN" altLang="en-US" b="1" dirty="0" smtClean="0">
                <a:latin typeface="Times New Roman" panose="02020603050405020304" pitchFamily="18" charset="0"/>
                <a:cs typeface="Times New Roman" panose="02020603050405020304" pitchFamily="18" charset="0"/>
              </a:rPr>
              <a:t>第</a:t>
            </a:r>
            <a:r>
              <a:rPr lang="en-US" altLang="zh-CN" b="1" i="1" dirty="0"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年开始使用役龄为</a:t>
            </a:r>
            <a:r>
              <a:rPr lang="en-US" altLang="zh-CN" b="1" i="1" dirty="0">
                <a:latin typeface="Times New Roman" panose="02020603050405020304" pitchFamily="18" charset="0"/>
                <a:cs typeface="Times New Roman" panose="02020603050405020304" pitchFamily="18" charset="0"/>
              </a:rPr>
              <a:t>t</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年的机器从</a:t>
            </a:r>
            <a:r>
              <a:rPr lang="zh-CN" altLang="en-US" b="1" dirty="0" smtClean="0">
                <a:latin typeface="Times New Roman" panose="02020603050405020304" pitchFamily="18" charset="0"/>
                <a:cs typeface="Times New Roman" panose="02020603050405020304" pitchFamily="18" charset="0"/>
              </a:rPr>
              <a:t>第</a:t>
            </a:r>
            <a:r>
              <a:rPr lang="en-US" altLang="zh-CN" b="1" i="1" dirty="0"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年至第</a:t>
            </a:r>
            <a:r>
              <a:rPr lang="en-US" altLang="zh-CN" b="1" i="1" dirty="0">
                <a:latin typeface="Times New Roman" panose="02020603050405020304" pitchFamily="18" charset="0"/>
                <a:cs typeface="Times New Roman" panose="02020603050405020304" pitchFamily="18" charset="0"/>
              </a:rPr>
              <a:t>n</a:t>
            </a:r>
            <a:r>
              <a:rPr lang="zh-CN" altLang="en-US" b="1" dirty="0">
                <a:latin typeface="Times New Roman" panose="02020603050405020304" pitchFamily="18" charset="0"/>
                <a:cs typeface="Times New Roman" panose="02020603050405020304" pitchFamily="18" charset="0"/>
              </a:rPr>
              <a:t>年的最佳</a:t>
            </a:r>
            <a:r>
              <a:rPr lang="zh-CN" altLang="en-US" b="1" dirty="0" smtClean="0">
                <a:latin typeface="Times New Roman" panose="02020603050405020304" pitchFamily="18" charset="0"/>
                <a:cs typeface="Times New Roman" panose="02020603050405020304" pitchFamily="18" charset="0"/>
              </a:rPr>
              <a:t>收入</a:t>
            </a:r>
            <a:r>
              <a:rPr lang="en-US" altLang="zh-CN" b="1" i="1" dirty="0" smtClean="0">
                <a:latin typeface="Times New Roman" panose="02020603050405020304" pitchFamily="18" charset="0"/>
                <a:cs typeface="Times New Roman" panose="02020603050405020304" pitchFamily="18" charset="0"/>
              </a:rPr>
              <a:t>f</a:t>
            </a:r>
            <a:r>
              <a:rPr lang="en-US" altLang="zh-CN" b="1" i="1" baseline="-25000" dirty="0" smtClean="0">
                <a:latin typeface="Times New Roman" panose="02020603050405020304" pitchFamily="18" charset="0"/>
                <a:cs typeface="Times New Roman" panose="02020603050405020304" pitchFamily="18" charset="0"/>
              </a:rPr>
              <a:t>k+1</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t+1</a:t>
            </a:r>
            <a:r>
              <a:rPr lang="en-US" altLang="zh-CN"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pPr>
              <a:lnSpc>
                <a:spcPct val="110000"/>
              </a:lnSpc>
              <a:buFontTx/>
              <a:buChar char="•"/>
            </a:pPr>
            <a:r>
              <a:rPr lang="zh-CN" altLang="en-US" b="1" dirty="0" smtClean="0">
                <a:latin typeface="Times New Roman" panose="02020603050405020304" pitchFamily="18" charset="0"/>
                <a:cs typeface="Times New Roman" panose="02020603050405020304" pitchFamily="18" charset="0"/>
              </a:rPr>
              <a:t>比较</a:t>
            </a:r>
            <a:r>
              <a:rPr lang="zh-CN" altLang="en-US" b="1" dirty="0">
                <a:latin typeface="Times New Roman" panose="02020603050405020304" pitchFamily="18" charset="0"/>
                <a:cs typeface="Times New Roman" panose="02020603050405020304" pitchFamily="18" charset="0"/>
              </a:rPr>
              <a:t>它们的大小，</a:t>
            </a:r>
            <a:r>
              <a:rPr lang="zh-CN" altLang="en-US" b="1" dirty="0">
                <a:solidFill>
                  <a:srgbClr val="FF0000"/>
                </a:solidFill>
                <a:latin typeface="Times New Roman" panose="02020603050405020304" pitchFamily="18" charset="0"/>
                <a:cs typeface="Times New Roman" panose="02020603050405020304" pitchFamily="18" charset="0"/>
              </a:rPr>
              <a:t>选取大</a:t>
            </a:r>
            <a:r>
              <a:rPr lang="zh-CN" altLang="en-US" b="1" dirty="0">
                <a:latin typeface="Times New Roman" panose="02020603050405020304" pitchFamily="18" charset="0"/>
                <a:cs typeface="Times New Roman" panose="02020603050405020304" pitchFamily="18" charset="0"/>
              </a:rPr>
              <a:t>的，并相应得出是更新还是保留的决策。</a:t>
            </a:r>
          </a:p>
        </p:txBody>
      </p:sp>
      <p:sp>
        <p:nvSpPr>
          <p:cNvPr id="6" name="内容占位符 1"/>
          <p:cNvSpPr>
            <a:spLocks noGrp="1"/>
          </p:cNvSpPr>
          <p:nvPr>
            <p:ph idx="1"/>
          </p:nvPr>
        </p:nvSpPr>
        <p:spPr>
          <a:xfrm>
            <a:off x="539552" y="1337268"/>
            <a:ext cx="8280920" cy="1938992"/>
          </a:xfrm>
        </p:spPr>
        <p:txBody>
          <a:bodyPr/>
          <a:lstStyle/>
          <a:p>
            <a:r>
              <a:rPr lang="zh-CN" altLang="en-US" dirty="0">
                <a:cs typeface="Courier New" panose="02070309020205020404" pitchFamily="49" charset="0"/>
              </a:rPr>
              <a:t>现以一台机器为例，随着</a:t>
            </a:r>
            <a:r>
              <a:rPr lang="zh-CN" altLang="en-US" dirty="0">
                <a:solidFill>
                  <a:srgbClr val="FF0000"/>
                </a:solidFill>
                <a:cs typeface="Courier New" panose="02070309020205020404" pitchFamily="49" charset="0"/>
              </a:rPr>
              <a:t>使用年限的增加</a:t>
            </a:r>
            <a:r>
              <a:rPr lang="zh-CN" altLang="en-US" dirty="0">
                <a:cs typeface="Courier New" panose="02070309020205020404" pitchFamily="49" charset="0"/>
              </a:rPr>
              <a:t>，机器的使用效率降低，</a:t>
            </a:r>
            <a:r>
              <a:rPr lang="zh-CN" altLang="en-US" dirty="0">
                <a:solidFill>
                  <a:srgbClr val="FF0000"/>
                </a:solidFill>
                <a:cs typeface="Courier New" panose="02070309020205020404" pitchFamily="49" charset="0"/>
              </a:rPr>
              <a:t>收入减少</a:t>
            </a:r>
            <a:r>
              <a:rPr lang="zh-CN" altLang="en-US" dirty="0">
                <a:cs typeface="Courier New" panose="02070309020205020404" pitchFamily="49" charset="0"/>
              </a:rPr>
              <a:t>，</a:t>
            </a:r>
            <a:r>
              <a:rPr lang="zh-CN" altLang="en-US" dirty="0">
                <a:solidFill>
                  <a:srgbClr val="FF0000"/>
                </a:solidFill>
                <a:cs typeface="Courier New" panose="02070309020205020404" pitchFamily="49" charset="0"/>
              </a:rPr>
              <a:t>维修费用增加</a:t>
            </a:r>
            <a:r>
              <a:rPr lang="zh-CN" altLang="en-US" dirty="0">
                <a:cs typeface="Courier New" panose="02070309020205020404" pitchFamily="49" charset="0"/>
              </a:rPr>
              <a:t>。而且机器使用年限越长，它本身的价值就越小，因而</a:t>
            </a:r>
            <a:r>
              <a:rPr lang="zh-CN" altLang="en-US" dirty="0">
                <a:solidFill>
                  <a:srgbClr val="FF0000"/>
                </a:solidFill>
                <a:cs typeface="Courier New" panose="02070309020205020404" pitchFamily="49" charset="0"/>
              </a:rPr>
              <a:t>更新时所需的净支出费用就愈多</a:t>
            </a:r>
            <a:r>
              <a:rPr lang="zh-CN" altLang="en-US" dirty="0">
                <a:cs typeface="Courier New" panose="02070309020205020404" pitchFamily="49" charset="0"/>
              </a:rPr>
              <a:t>。</a:t>
            </a:r>
            <a:r>
              <a:rPr lang="zh-CN" altLang="en-US" dirty="0" smtClean="0"/>
              <a:t>设</a:t>
            </a:r>
            <a:r>
              <a:rPr lang="zh-CN" altLang="en-US" dirty="0"/>
              <a:t>：</a:t>
            </a:r>
          </a:p>
          <a:p>
            <a:endParaRPr lang="zh-CN" altLang="en-US" sz="2000" dirty="0"/>
          </a:p>
        </p:txBody>
      </p:sp>
    </p:spTree>
  </p:cSld>
  <p:clrMapOvr>
    <a:masterClrMapping/>
  </p:clrMapOvr>
  <p:transition spd="slow"/>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8.4.5</a:t>
            </a:r>
            <a:r>
              <a:rPr lang="zh-CN" altLang="en-US" dirty="0"/>
              <a:t>  设备更新问题</a:t>
            </a:r>
          </a:p>
        </p:txBody>
      </p:sp>
      <p:sp>
        <p:nvSpPr>
          <p:cNvPr id="3" name="内容占位符 2"/>
          <p:cNvSpPr>
            <a:spLocks noGrp="1"/>
          </p:cNvSpPr>
          <p:nvPr>
            <p:ph idx="1"/>
          </p:nvPr>
        </p:nvSpPr>
        <p:spPr>
          <a:xfrm>
            <a:off x="539552" y="1196752"/>
            <a:ext cx="8280920" cy="2012859"/>
          </a:xfrm>
        </p:spPr>
        <p:txBody>
          <a:bodyPr/>
          <a:lstStyle/>
          <a:p>
            <a:r>
              <a:rPr lang="zh-CN" altLang="en-US" dirty="0">
                <a:cs typeface="Courier New" panose="02070309020205020404" pitchFamily="49" charset="0"/>
              </a:rPr>
              <a:t>现以一台机器为例，随着</a:t>
            </a:r>
            <a:r>
              <a:rPr lang="zh-CN" altLang="en-US" dirty="0">
                <a:solidFill>
                  <a:srgbClr val="FF0000"/>
                </a:solidFill>
                <a:cs typeface="Courier New" panose="02070309020205020404" pitchFamily="49" charset="0"/>
              </a:rPr>
              <a:t>使用年限的增加</a:t>
            </a:r>
            <a:r>
              <a:rPr lang="zh-CN" altLang="en-US" dirty="0">
                <a:cs typeface="Courier New" panose="02070309020205020404" pitchFamily="49" charset="0"/>
              </a:rPr>
              <a:t>，机器的使用效率降低，</a:t>
            </a:r>
            <a:r>
              <a:rPr lang="zh-CN" altLang="en-US" dirty="0">
                <a:solidFill>
                  <a:srgbClr val="FF0000"/>
                </a:solidFill>
                <a:cs typeface="Courier New" panose="02070309020205020404" pitchFamily="49" charset="0"/>
              </a:rPr>
              <a:t>收入减少</a:t>
            </a:r>
            <a:r>
              <a:rPr lang="zh-CN" altLang="en-US" dirty="0">
                <a:cs typeface="Courier New" panose="02070309020205020404" pitchFamily="49" charset="0"/>
              </a:rPr>
              <a:t>，</a:t>
            </a:r>
            <a:r>
              <a:rPr lang="zh-CN" altLang="en-US" dirty="0">
                <a:solidFill>
                  <a:srgbClr val="FF0000"/>
                </a:solidFill>
                <a:cs typeface="Courier New" panose="02070309020205020404" pitchFamily="49" charset="0"/>
              </a:rPr>
              <a:t>维修费用增加</a:t>
            </a:r>
            <a:r>
              <a:rPr lang="zh-CN" altLang="en-US" dirty="0">
                <a:cs typeface="Courier New" panose="02070309020205020404" pitchFamily="49" charset="0"/>
              </a:rPr>
              <a:t>。而且机器使用年限越长，它本身的价值就越小，因而</a:t>
            </a:r>
            <a:r>
              <a:rPr lang="zh-CN" altLang="en-US" dirty="0">
                <a:solidFill>
                  <a:srgbClr val="FF0000"/>
                </a:solidFill>
                <a:cs typeface="Courier New" panose="02070309020205020404" pitchFamily="49" charset="0"/>
              </a:rPr>
              <a:t>更新时所需的净支出费用就愈多</a:t>
            </a:r>
            <a:r>
              <a:rPr lang="zh-CN" altLang="en-US" dirty="0" smtClean="0">
                <a:cs typeface="Courier New" panose="02070309020205020404" pitchFamily="49" charset="0"/>
              </a:rPr>
              <a:t>。</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D6B2FC51-1DE3-4359-9B39-6CC27C545D80}" type="slidenum">
              <a:rPr lang="en-US" altLang="zh-CN" smtClean="0"/>
              <a:pPr/>
              <a:t>71</a:t>
            </a:fld>
            <a:endParaRPr lang="en-US" altLang="zh-CN"/>
          </a:p>
        </p:txBody>
      </p:sp>
      <mc:AlternateContent xmlns:mc="http://schemas.openxmlformats.org/markup-compatibility/2006" xmlns:a14="http://schemas.microsoft.com/office/drawing/2010/main">
        <mc:Choice Requires="a14">
          <p:sp>
            <p:nvSpPr>
              <p:cNvPr id="5" name="Rectangle 36"/>
              <p:cNvSpPr>
                <a:spLocks noChangeArrowheads="1"/>
              </p:cNvSpPr>
              <p:nvPr/>
            </p:nvSpPr>
            <p:spPr bwMode="auto">
              <a:xfrm>
                <a:off x="518353" y="2809200"/>
                <a:ext cx="8640960" cy="3738716"/>
              </a:xfrm>
              <a:prstGeom prst="rect">
                <a:avLst/>
              </a:prstGeom>
              <a:noFill/>
              <a:ln>
                <a:noFill/>
              </a:ln>
              <a:effectLst/>
              <a:extLst>
                <a:ext uri="{909E8E84-426E-40DD-AFC4-6F175D3DCCD1}">
                  <a14:hiddenFill>
                    <a:solidFill>
                      <a:schemeClr val="accent1"/>
                    </a:solidFill>
                  </a14:hiddenFill>
                </a:ext>
                <a:ext uri="{91240B29-F687-4F45-9708-019B960494DF}">
                  <a14:hiddenLine w="9525" algn="ctr">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sz="1800" b="1" dirty="0" smtClean="0">
                    <a:latin typeface="Times New Roman" panose="02020603050405020304" pitchFamily="18" charset="0"/>
                    <a:cs typeface="Times New Roman" panose="02020603050405020304" pitchFamily="18" charset="0"/>
                  </a:rPr>
                  <a:t>解</a:t>
                </a:r>
                <a:r>
                  <a:rPr lang="en-US" altLang="zh-CN" sz="1800" b="1" dirty="0">
                    <a:latin typeface="Times New Roman" panose="02020603050405020304" pitchFamily="18" charset="0"/>
                    <a:cs typeface="Times New Roman" panose="02020603050405020304" pitchFamily="18" charset="0"/>
                  </a:rPr>
                  <a:t>:  </a:t>
                </a:r>
                <a:r>
                  <a:rPr lang="zh-CN" altLang="en-US" sz="1800" b="1" dirty="0">
                    <a:latin typeface="Times New Roman" panose="02020603050405020304" pitchFamily="18" charset="0"/>
                    <a:cs typeface="Times New Roman" panose="02020603050405020304" pitchFamily="18" charset="0"/>
                  </a:rPr>
                  <a:t>将问题</a:t>
                </a:r>
                <a:r>
                  <a:rPr lang="zh-CN" altLang="en-US" sz="1800" b="1" dirty="0" smtClean="0">
                    <a:latin typeface="Times New Roman" panose="02020603050405020304" pitchFamily="18" charset="0"/>
                    <a:cs typeface="Times New Roman" panose="02020603050405020304" pitchFamily="18" charset="0"/>
                  </a:rPr>
                  <a:t>按计划年限分为</a:t>
                </a:r>
                <a:r>
                  <a:rPr lang="en-US" altLang="zh-CN" sz="1800" b="1" dirty="0" smtClean="0">
                    <a:latin typeface="Times New Roman" panose="02020603050405020304" pitchFamily="18" charset="0"/>
                    <a:cs typeface="Times New Roman" panose="02020603050405020304" pitchFamily="18" charset="0"/>
                  </a:rPr>
                  <a:t>5</a:t>
                </a:r>
                <a:r>
                  <a:rPr lang="zh-CN" altLang="en-US" sz="1800" b="1" dirty="0" smtClean="0">
                    <a:latin typeface="Times New Roman" panose="02020603050405020304" pitchFamily="18" charset="0"/>
                    <a:cs typeface="Times New Roman" panose="02020603050405020304" pitchFamily="18" charset="0"/>
                  </a:rPr>
                  <a:t>段，编号为</a:t>
                </a:r>
                <a:r>
                  <a:rPr lang="en-US" altLang="zh-CN" sz="1800" b="1" i="1" dirty="0">
                    <a:latin typeface="Times New Roman" panose="02020603050405020304" pitchFamily="18" charset="0"/>
                    <a:cs typeface="Times New Roman" panose="02020603050405020304" pitchFamily="18" charset="0"/>
                  </a:rPr>
                  <a:t>k </a:t>
                </a:r>
                <a:r>
                  <a:rPr lang="en-US" altLang="zh-CN" sz="1800" b="1" i="1" dirty="0" smtClean="0">
                    <a:latin typeface="Times New Roman" panose="02020603050405020304" pitchFamily="18" charset="0"/>
                    <a:cs typeface="Times New Roman" panose="02020603050405020304" pitchFamily="18" charset="0"/>
                  </a:rPr>
                  <a:t>=</a:t>
                </a:r>
                <a:r>
                  <a:rPr lang="en-US" altLang="zh-CN" sz="1800" b="1" dirty="0" smtClean="0">
                    <a:latin typeface="Times New Roman" panose="02020603050405020304" pitchFamily="18" charset="0"/>
                    <a:cs typeface="Times New Roman" panose="02020603050405020304" pitchFamily="18" charset="0"/>
                  </a:rPr>
                  <a:t>1</a:t>
                </a:r>
                <a:r>
                  <a:rPr lang="zh-CN" altLang="en-US" sz="1800" b="1" dirty="0">
                    <a:latin typeface="Times New Roman" panose="02020603050405020304" pitchFamily="18" charset="0"/>
                    <a:cs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rPr>
                  <a:t>2</a:t>
                </a:r>
                <a:r>
                  <a:rPr lang="zh-CN" altLang="en-US" sz="1800" b="1" dirty="0">
                    <a:latin typeface="Times New Roman" panose="02020603050405020304" pitchFamily="18" charset="0"/>
                    <a:cs typeface="Times New Roman" panose="02020603050405020304" pitchFamily="18" charset="0"/>
                  </a:rPr>
                  <a:t>、</a:t>
                </a:r>
                <a:r>
                  <a:rPr lang="en-US" altLang="zh-CN" sz="1800" b="1" dirty="0" smtClean="0">
                    <a:latin typeface="Times New Roman" panose="02020603050405020304" pitchFamily="18" charset="0"/>
                    <a:cs typeface="Times New Roman" panose="02020603050405020304" pitchFamily="18" charset="0"/>
                  </a:rPr>
                  <a:t>3</a:t>
                </a:r>
                <a:r>
                  <a:rPr lang="zh-CN" altLang="en-US" sz="1800" b="1" dirty="0" smtClean="0">
                    <a:latin typeface="Times New Roman" panose="02020603050405020304" pitchFamily="18" charset="0"/>
                    <a:cs typeface="Times New Roman" panose="02020603050405020304" pitchFamily="18" charset="0"/>
                  </a:rPr>
                  <a:t>、</a:t>
                </a:r>
                <a:r>
                  <a:rPr lang="en-US" altLang="zh-CN" sz="1800" b="1" dirty="0" smtClean="0">
                    <a:latin typeface="Times New Roman" panose="02020603050405020304" pitchFamily="18" charset="0"/>
                    <a:cs typeface="Times New Roman" panose="02020603050405020304" pitchFamily="18" charset="0"/>
                  </a:rPr>
                  <a:t>4</a:t>
                </a:r>
                <a:r>
                  <a:rPr lang="zh-CN" altLang="en-US" sz="1800" b="1" dirty="0" smtClean="0">
                    <a:latin typeface="Times New Roman" panose="02020603050405020304" pitchFamily="18" charset="0"/>
                    <a:cs typeface="Times New Roman" panose="02020603050405020304" pitchFamily="18" charset="0"/>
                  </a:rPr>
                  <a:t>、</a:t>
                </a:r>
                <a:r>
                  <a:rPr lang="en-US" altLang="zh-CN" sz="1800" b="1" dirty="0" smtClean="0">
                    <a:latin typeface="Times New Roman" panose="02020603050405020304" pitchFamily="18" charset="0"/>
                    <a:cs typeface="Times New Roman" panose="02020603050405020304" pitchFamily="18" charset="0"/>
                  </a:rPr>
                  <a:t>5</a:t>
                </a:r>
                <a:endParaRPr lang="en-US" altLang="zh-CN" sz="1800" b="1" dirty="0">
                  <a:latin typeface="Times New Roman" panose="02020603050405020304" pitchFamily="18" charset="0"/>
                  <a:cs typeface="Times New Roman" panose="02020603050405020304" pitchFamily="18" charset="0"/>
                </a:endParaRPr>
              </a:p>
              <a:p>
                <a:r>
                  <a:rPr lang="zh-CN" altLang="en-US" sz="1800" b="1" dirty="0" smtClean="0">
                    <a:latin typeface="Times New Roman" panose="02020603050405020304" pitchFamily="18" charset="0"/>
                    <a:cs typeface="Times New Roman" panose="02020603050405020304" pitchFamily="18" charset="0"/>
                  </a:rPr>
                  <a:t>（</a:t>
                </a:r>
                <a:r>
                  <a:rPr lang="en-US" altLang="zh-CN" sz="1800" b="1" dirty="0" smtClean="0">
                    <a:latin typeface="Times New Roman" panose="02020603050405020304" pitchFamily="18" charset="0"/>
                    <a:cs typeface="Times New Roman" panose="02020603050405020304" pitchFamily="18" charset="0"/>
                  </a:rPr>
                  <a:t>1</a:t>
                </a:r>
                <a:r>
                  <a:rPr lang="zh-CN" altLang="en-US" sz="1800" b="1" dirty="0" smtClean="0">
                    <a:latin typeface="Times New Roman" panose="02020603050405020304" pitchFamily="18" charset="0"/>
                    <a:cs typeface="Times New Roman" panose="02020603050405020304" pitchFamily="18" charset="0"/>
                  </a:rPr>
                  <a:t>）状态变量</a:t>
                </a:r>
                <a:r>
                  <a:rPr lang="en-US" altLang="zh-CN" sz="1800" b="1" i="1" dirty="0" err="1" smtClean="0">
                    <a:latin typeface="Times New Roman" panose="02020603050405020304" pitchFamily="18" charset="0"/>
                    <a:cs typeface="Times New Roman" panose="02020603050405020304" pitchFamily="18" charset="0"/>
                  </a:rPr>
                  <a:t>s</a:t>
                </a:r>
                <a:r>
                  <a:rPr lang="en-US" altLang="zh-CN" sz="1800" b="1" i="1" baseline="-25000" dirty="0" err="1" smtClean="0">
                    <a:latin typeface="Times New Roman" panose="02020603050405020304" pitchFamily="18" charset="0"/>
                    <a:cs typeface="Times New Roman" panose="02020603050405020304" pitchFamily="18" charset="0"/>
                  </a:rPr>
                  <a:t>k</a:t>
                </a:r>
                <a:r>
                  <a:rPr lang="zh-CN" altLang="en-US" sz="1800" b="1" dirty="0" smtClean="0">
                    <a:latin typeface="Times New Roman" panose="02020603050405020304" pitchFamily="18" charset="0"/>
                    <a:cs typeface="Times New Roman" panose="02020603050405020304" pitchFamily="18" charset="0"/>
                  </a:rPr>
                  <a:t>：机器役龄</a:t>
                </a:r>
                <a:r>
                  <a:rPr lang="en-US" altLang="zh-CN" sz="1800" b="1" i="1" dirty="0" smtClean="0">
                    <a:latin typeface="Times New Roman" panose="02020603050405020304" pitchFamily="18" charset="0"/>
                    <a:cs typeface="Times New Roman" panose="02020603050405020304" pitchFamily="18" charset="0"/>
                  </a:rPr>
                  <a:t>t</a:t>
                </a:r>
              </a:p>
              <a:p>
                <a:r>
                  <a:rPr lang="zh-CN" altLang="en-US" sz="1800" b="1" dirty="0" smtClean="0">
                    <a:latin typeface="Times New Roman" panose="02020603050405020304" pitchFamily="18" charset="0"/>
                    <a:cs typeface="Times New Roman" panose="02020603050405020304" pitchFamily="18" charset="0"/>
                  </a:rPr>
                  <a:t>（</a:t>
                </a:r>
                <a:r>
                  <a:rPr lang="en-US" altLang="zh-CN" sz="1800" b="1" dirty="0" smtClean="0">
                    <a:latin typeface="Times New Roman" panose="02020603050405020304" pitchFamily="18" charset="0"/>
                    <a:cs typeface="Times New Roman" panose="02020603050405020304" pitchFamily="18" charset="0"/>
                  </a:rPr>
                  <a:t>2</a:t>
                </a:r>
                <a:r>
                  <a:rPr lang="zh-CN" altLang="en-US" sz="1800" b="1" dirty="0" smtClean="0">
                    <a:latin typeface="Times New Roman" panose="02020603050405020304" pitchFamily="18" charset="0"/>
                    <a:cs typeface="Times New Roman" panose="02020603050405020304" pitchFamily="18" charset="0"/>
                  </a:rPr>
                  <a:t>）决策变量</a:t>
                </a:r>
                <a:r>
                  <a:rPr lang="en-US" altLang="zh-CN" sz="1800" b="1" i="1" dirty="0" err="1" smtClean="0">
                    <a:latin typeface="Times New Roman" panose="02020603050405020304" pitchFamily="18" charset="0"/>
                    <a:cs typeface="Times New Roman" panose="02020603050405020304" pitchFamily="18" charset="0"/>
                  </a:rPr>
                  <a:t>x</a:t>
                </a:r>
                <a:r>
                  <a:rPr lang="en-US" altLang="zh-CN" sz="1800" b="1" i="1" baseline="-25000" dirty="0" err="1" smtClean="0">
                    <a:latin typeface="Times New Roman" panose="02020603050405020304" pitchFamily="18" charset="0"/>
                    <a:cs typeface="Times New Roman" panose="02020603050405020304" pitchFamily="18" charset="0"/>
                  </a:rPr>
                  <a:t>k</a:t>
                </a:r>
                <a:r>
                  <a:rPr lang="zh-CN" altLang="en-US" sz="1800" b="1" dirty="0">
                    <a:latin typeface="Times New Roman" panose="02020603050405020304" pitchFamily="18" charset="0"/>
                    <a:cs typeface="Times New Roman" panose="02020603050405020304" pitchFamily="18" charset="0"/>
                  </a:rPr>
                  <a:t>：在</a:t>
                </a:r>
                <a:r>
                  <a:rPr lang="zh-CN" altLang="en-US" sz="1800" b="1" dirty="0" smtClean="0">
                    <a:latin typeface="Times New Roman" panose="02020603050405020304" pitchFamily="18" charset="0"/>
                    <a:cs typeface="Times New Roman" panose="02020603050405020304" pitchFamily="18" charset="0"/>
                  </a:rPr>
                  <a:t>第</a:t>
                </a:r>
                <a:r>
                  <a:rPr lang="en-US" altLang="zh-CN" sz="1800" b="1" i="1" dirty="0" smtClean="0">
                    <a:latin typeface="Times New Roman" panose="02020603050405020304" pitchFamily="18" charset="0"/>
                    <a:cs typeface="Times New Roman" panose="02020603050405020304" pitchFamily="18" charset="0"/>
                  </a:rPr>
                  <a:t>k</a:t>
                </a:r>
                <a:r>
                  <a:rPr lang="zh-CN" altLang="en-US" sz="1800" b="1" dirty="0" smtClean="0">
                    <a:latin typeface="Times New Roman" panose="02020603050405020304" pitchFamily="18" charset="0"/>
                    <a:cs typeface="Times New Roman" panose="02020603050405020304" pitchFamily="18" charset="0"/>
                  </a:rPr>
                  <a:t>年</a:t>
                </a:r>
                <a:r>
                  <a:rPr lang="zh-CN" altLang="en-US" sz="1800" b="1" dirty="0">
                    <a:latin typeface="Times New Roman" panose="02020603050405020304" pitchFamily="18" charset="0"/>
                    <a:cs typeface="Times New Roman" panose="02020603050405020304" pitchFamily="18" charset="0"/>
                  </a:rPr>
                  <a:t>开始时的决策</a:t>
                </a:r>
                <a:r>
                  <a:rPr lang="en-US" altLang="zh-CN" sz="1800" b="1"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𝒙</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a:latin typeface="Cambria Math" panose="02040503050406030204" pitchFamily="18" charset="0"/>
                        <a:cs typeface="Times New Roman" panose="02020603050405020304" pitchFamily="18" charset="0"/>
                      </a:rPr>
                      <m:t>=</m:t>
                    </m:r>
                    <m:r>
                      <a:rPr lang="en-US" altLang="zh-CN" sz="1800" b="1" i="1">
                        <a:latin typeface="Cambria Math" panose="02040503050406030204" pitchFamily="18" charset="0"/>
                        <a:cs typeface="Times New Roman" panose="02020603050405020304" pitchFamily="18" charset="0"/>
                      </a:rPr>
                      <m:t>𝑲</m:t>
                    </m:r>
                  </m:oMath>
                </a14:m>
                <a:r>
                  <a:rPr lang="zh-CN" altLang="en-US" sz="1800" b="1" dirty="0">
                    <a:latin typeface="Times New Roman" panose="02020603050405020304" pitchFamily="18" charset="0"/>
                    <a:cs typeface="Times New Roman" panose="02020603050405020304" pitchFamily="18" charset="0"/>
                  </a:rPr>
                  <a:t>保留或</a:t>
                </a:r>
                <a14:m>
                  <m:oMath xmlns:m="http://schemas.openxmlformats.org/officeDocument/2006/math">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𝒙</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a:latin typeface="Cambria Math" panose="02040503050406030204" pitchFamily="18" charset="0"/>
                        <a:cs typeface="Times New Roman" panose="02020603050405020304" pitchFamily="18" charset="0"/>
                      </a:rPr>
                      <m:t>=</m:t>
                    </m:r>
                    <m:r>
                      <a:rPr lang="en-US" altLang="zh-CN" sz="1800" b="1" i="1">
                        <a:latin typeface="Cambria Math" panose="02040503050406030204" pitchFamily="18" charset="0"/>
                        <a:cs typeface="Times New Roman" panose="02020603050405020304" pitchFamily="18" charset="0"/>
                      </a:rPr>
                      <m:t>𝑹</m:t>
                    </m:r>
                  </m:oMath>
                </a14:m>
                <a:r>
                  <a:rPr lang="zh-CN" altLang="en-US" sz="1800" b="1" dirty="0">
                    <a:latin typeface="Times New Roman" panose="02020603050405020304" pitchFamily="18" charset="0"/>
                    <a:cs typeface="Times New Roman" panose="02020603050405020304" pitchFamily="18" charset="0"/>
                  </a:rPr>
                  <a:t>更新</a:t>
                </a:r>
                <a:r>
                  <a:rPr lang="en-US" altLang="zh-CN" sz="1800" b="1" dirty="0">
                    <a:latin typeface="Times New Roman" panose="02020603050405020304" pitchFamily="18" charset="0"/>
                    <a:cs typeface="Times New Roman" panose="02020603050405020304" pitchFamily="18" charset="0"/>
                  </a:rPr>
                  <a:t>)</a:t>
                </a:r>
                <a:endParaRPr lang="en-US" altLang="zh-CN" sz="1800" b="1" dirty="0" smtClean="0">
                  <a:latin typeface="Times New Roman" panose="02020603050405020304" pitchFamily="18" charset="0"/>
                  <a:cs typeface="Times New Roman" panose="02020603050405020304" pitchFamily="18" charset="0"/>
                </a:endParaRPr>
              </a:p>
              <a:p>
                <a:r>
                  <a:rPr lang="zh-CN" altLang="en-US" sz="1800" b="1" dirty="0" smtClean="0">
                    <a:latin typeface="Times New Roman" panose="02020603050405020304" pitchFamily="18" charset="0"/>
                    <a:cs typeface="Times New Roman" panose="02020603050405020304" pitchFamily="18" charset="0"/>
                  </a:rPr>
                  <a:t>（</a:t>
                </a:r>
                <a:r>
                  <a:rPr lang="en-US" altLang="zh-CN" sz="1800" b="1" dirty="0" smtClean="0">
                    <a:latin typeface="Times New Roman" panose="02020603050405020304" pitchFamily="18" charset="0"/>
                    <a:cs typeface="Times New Roman" panose="02020603050405020304" pitchFamily="18" charset="0"/>
                  </a:rPr>
                  <a:t>3</a:t>
                </a:r>
                <a:r>
                  <a:rPr lang="zh-CN" altLang="en-US" sz="1800" b="1" dirty="0" smtClean="0">
                    <a:latin typeface="Times New Roman" panose="02020603050405020304" pitchFamily="18" charset="0"/>
                    <a:cs typeface="Times New Roman" panose="02020603050405020304" pitchFamily="18" charset="0"/>
                  </a:rPr>
                  <a:t>）状态转移方程：</a:t>
                </a:r>
                <a14:m>
                  <m:oMath xmlns:m="http://schemas.openxmlformats.org/officeDocument/2006/math">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𝒔</m:t>
                        </m:r>
                      </m:e>
                      <m:sub>
                        <m:r>
                          <a:rPr lang="en-US" altLang="zh-CN" sz="1800" b="1" i="1">
                            <a:latin typeface="Cambria Math" panose="02040503050406030204" pitchFamily="18" charset="0"/>
                            <a:cs typeface="Times New Roman" panose="02020603050405020304" pitchFamily="18" charset="0"/>
                          </a:rPr>
                          <m:t>𝒌</m:t>
                        </m:r>
                        <m:r>
                          <a:rPr lang="en-US" altLang="zh-CN" sz="1800" b="1" i="1">
                            <a:latin typeface="Cambria Math" panose="02040503050406030204" pitchFamily="18" charset="0"/>
                            <a:cs typeface="Times New Roman" panose="02020603050405020304" pitchFamily="18" charset="0"/>
                          </a:rPr>
                          <m:t>+</m:t>
                        </m:r>
                        <m:r>
                          <a:rPr lang="en-US" altLang="zh-CN" sz="1800" b="1" i="1">
                            <a:latin typeface="Cambria Math" panose="02040503050406030204" pitchFamily="18" charset="0"/>
                            <a:cs typeface="Times New Roman" panose="02020603050405020304" pitchFamily="18" charset="0"/>
                          </a:rPr>
                          <m:t>𝟏</m:t>
                        </m:r>
                      </m:sub>
                    </m:sSub>
                    <m:r>
                      <a:rPr lang="en-US" altLang="zh-CN" sz="1800" b="1" i="1">
                        <a:latin typeface="Cambria Math" panose="02040503050406030204" pitchFamily="18" charset="0"/>
                        <a:cs typeface="Times New Roman" panose="02020603050405020304" pitchFamily="18" charset="0"/>
                      </a:rPr>
                      <m:t>=</m:t>
                    </m:r>
                    <m:d>
                      <m:dPr>
                        <m:begChr m:val="{"/>
                        <m:endChr m:val=""/>
                        <m:ctrlPr>
                          <a:rPr lang="en-US" altLang="zh-CN" sz="1800" b="1" i="1">
                            <a:latin typeface="Cambria Math" panose="02040503050406030204" pitchFamily="18" charset="0"/>
                            <a:cs typeface="Times New Roman" panose="02020603050405020304" pitchFamily="18" charset="0"/>
                          </a:rPr>
                        </m:ctrlPr>
                      </m:dPr>
                      <m:e>
                        <m:eqArr>
                          <m:eqArrPr>
                            <m:ctrlPr>
                              <a:rPr lang="en-US" altLang="zh-CN" sz="1800" b="1" i="1">
                                <a:latin typeface="Cambria Math" panose="02040503050406030204" pitchFamily="18" charset="0"/>
                                <a:cs typeface="Times New Roman" panose="02020603050405020304" pitchFamily="18" charset="0"/>
                              </a:rPr>
                            </m:ctrlPr>
                          </m:eqArrPr>
                          <m:e>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𝒔</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dirty="0" smtClean="0">
                                <a:latin typeface="Cambria Math" panose="02040503050406030204" pitchFamily="18" charset="0"/>
                                <a:cs typeface="Times New Roman" panose="02020603050405020304" pitchFamily="18" charset="0"/>
                              </a:rPr>
                              <m:t>+</m:t>
                            </m:r>
                            <m:r>
                              <a:rPr lang="en-US" altLang="zh-CN" sz="1800" b="1" i="1" dirty="0" smtClean="0">
                                <a:latin typeface="Cambria Math" panose="02040503050406030204" pitchFamily="18" charset="0"/>
                                <a:cs typeface="Times New Roman" panose="02020603050405020304" pitchFamily="18" charset="0"/>
                              </a:rPr>
                              <m:t>𝟏</m:t>
                            </m:r>
                            <m:r>
                              <a:rPr lang="zh-CN" altLang="en-US" sz="1800" b="1" i="1" dirty="0" smtClean="0">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𝒙</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smtClean="0">
                                <a:latin typeface="Cambria Math" panose="02040503050406030204" pitchFamily="18" charset="0"/>
                                <a:cs typeface="Times New Roman" panose="02020603050405020304" pitchFamily="18" charset="0"/>
                              </a:rPr>
                              <m:t>=</m:t>
                            </m:r>
                            <m:r>
                              <a:rPr lang="en-US" altLang="zh-CN" sz="1800" b="1" i="1" smtClean="0">
                                <a:latin typeface="Cambria Math" panose="02040503050406030204" pitchFamily="18" charset="0"/>
                                <a:cs typeface="Times New Roman" panose="02020603050405020304" pitchFamily="18" charset="0"/>
                              </a:rPr>
                              <m:t>𝑲</m:t>
                            </m:r>
                          </m:e>
                          <m:e>
                            <m:r>
                              <a:rPr lang="en-US" altLang="zh-CN" sz="1800" b="1" i="1" smtClean="0">
                                <a:latin typeface="Cambria Math" panose="02040503050406030204" pitchFamily="18" charset="0"/>
                                <a:cs typeface="Times New Roman" panose="02020603050405020304" pitchFamily="18" charset="0"/>
                              </a:rPr>
                              <m:t>𝟏</m:t>
                            </m:r>
                            <m:r>
                              <a:rPr lang="zh-CN" altLang="en-US" sz="1800" b="1" i="1" smtClean="0">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𝒙</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a:latin typeface="Cambria Math" panose="02040503050406030204" pitchFamily="18" charset="0"/>
                                <a:cs typeface="Times New Roman" panose="02020603050405020304" pitchFamily="18" charset="0"/>
                              </a:rPr>
                              <m:t>=</m:t>
                            </m:r>
                            <m:r>
                              <a:rPr lang="en-US" altLang="zh-CN" sz="1800" b="1" i="1" smtClean="0">
                                <a:latin typeface="Cambria Math" panose="02040503050406030204" pitchFamily="18" charset="0"/>
                                <a:cs typeface="Times New Roman" panose="02020603050405020304" pitchFamily="18" charset="0"/>
                              </a:rPr>
                              <m:t>𝑹</m:t>
                            </m:r>
                          </m:e>
                        </m:eqArr>
                      </m:e>
                    </m:d>
                  </m:oMath>
                </a14:m>
                <a:endParaRPr lang="en-US" altLang="zh-CN" sz="1800" b="1" dirty="0" smtClean="0">
                  <a:latin typeface="Times New Roman" panose="02020603050405020304" pitchFamily="18" charset="0"/>
                  <a:cs typeface="Times New Roman" panose="02020603050405020304" pitchFamily="18" charset="0"/>
                </a:endParaRPr>
              </a:p>
              <a:p>
                <a:r>
                  <a:rPr lang="zh-CN" altLang="en-US" sz="1800" b="1" dirty="0" smtClean="0">
                    <a:latin typeface="Times New Roman" panose="02020603050405020304" pitchFamily="18" charset="0"/>
                    <a:cs typeface="Times New Roman" panose="02020603050405020304" pitchFamily="18" charset="0"/>
                  </a:rPr>
                  <a:t>（</a:t>
                </a:r>
                <a:r>
                  <a:rPr lang="en-US" altLang="zh-CN" sz="1800" b="1" dirty="0" smtClean="0">
                    <a:latin typeface="Times New Roman" panose="02020603050405020304" pitchFamily="18" charset="0"/>
                    <a:cs typeface="Times New Roman" panose="02020603050405020304" pitchFamily="18" charset="0"/>
                  </a:rPr>
                  <a:t>4</a:t>
                </a:r>
                <a:r>
                  <a:rPr lang="zh-CN" altLang="en-US" sz="1800" b="1" dirty="0" smtClean="0">
                    <a:latin typeface="Times New Roman" panose="02020603050405020304" pitchFamily="18" charset="0"/>
                    <a:cs typeface="Times New Roman" panose="02020603050405020304" pitchFamily="18" charset="0"/>
                  </a:rPr>
                  <a:t>）阶段指标函数</a:t>
                </a:r>
                <a14:m>
                  <m:oMath xmlns:m="http://schemas.openxmlformats.org/officeDocument/2006/math">
                    <m:r>
                      <m:rPr>
                        <m:nor/>
                      </m:rPr>
                      <a:rPr lang="zh-CN" altLang="en-US" sz="1800" b="1" dirty="0">
                        <a:latin typeface="Times New Roman" panose="020206030504050203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smtClean="0">
                            <a:latin typeface="Cambria Math" panose="02040503050406030204" pitchFamily="18" charset="0"/>
                            <a:cs typeface="Times New Roman" panose="02020603050405020304" pitchFamily="18" charset="0"/>
                          </a:rPr>
                          <m:t>𝒗</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smtClean="0">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𝒔</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smtClean="0">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𝒙</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smtClean="0">
                        <a:latin typeface="Cambria Math" panose="02040503050406030204" pitchFamily="18" charset="0"/>
                        <a:cs typeface="Times New Roman" panose="02020603050405020304" pitchFamily="18" charset="0"/>
                      </a:rPr>
                      <m:t>)</m:t>
                    </m:r>
                  </m:oMath>
                </a14:m>
                <a:r>
                  <a:rPr lang="zh-CN" altLang="en-US" sz="1800" b="1"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800" b="1" i="1">
                        <a:latin typeface="Cambria Math" panose="02040503050406030204" pitchFamily="18" charset="0"/>
                        <a:cs typeface="Times New Roman" panose="02020603050405020304" pitchFamily="18" charset="0"/>
                      </a:rPr>
                      <m:t>=</m:t>
                    </m:r>
                    <m:d>
                      <m:dPr>
                        <m:begChr m:val="{"/>
                        <m:endChr m:val=""/>
                        <m:ctrlPr>
                          <a:rPr lang="en-US" altLang="zh-CN" sz="1800" b="1" i="1">
                            <a:latin typeface="Cambria Math" panose="02040503050406030204" pitchFamily="18" charset="0"/>
                            <a:cs typeface="Times New Roman" panose="02020603050405020304" pitchFamily="18" charset="0"/>
                          </a:rPr>
                        </m:ctrlPr>
                      </m:dPr>
                      <m:e>
                        <m:eqArr>
                          <m:eqArrPr>
                            <m:ctrlPr>
                              <a:rPr lang="en-US" altLang="zh-CN" sz="1800" b="1" i="1">
                                <a:latin typeface="Cambria Math" panose="02040503050406030204" pitchFamily="18" charset="0"/>
                                <a:cs typeface="Times New Roman" panose="02020603050405020304" pitchFamily="18" charset="0"/>
                              </a:rPr>
                            </m:ctrlPr>
                          </m:eqArrPr>
                          <m:e>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smtClean="0">
                                    <a:latin typeface="Cambria Math" panose="02040503050406030204" pitchFamily="18" charset="0"/>
                                    <a:cs typeface="Times New Roman" panose="02020603050405020304" pitchFamily="18" charset="0"/>
                                  </a:rPr>
                                  <m:t>𝑰</m:t>
                                </m:r>
                              </m:e>
                              <m:sub>
                                <m:r>
                                  <a:rPr lang="en-US" altLang="zh-CN" sz="1800" b="1" i="1">
                                    <a:latin typeface="Cambria Math" panose="02040503050406030204" pitchFamily="18" charset="0"/>
                                    <a:cs typeface="Times New Roman" panose="02020603050405020304" pitchFamily="18" charset="0"/>
                                  </a:rPr>
                                  <m:t>𝒌</m:t>
                                </m:r>
                              </m:sub>
                            </m:sSub>
                            <m:d>
                              <m:dPr>
                                <m:ctrlPr>
                                  <a:rPr lang="en-US" altLang="zh-CN" sz="1800" b="1" i="1" smtClean="0">
                                    <a:latin typeface="Cambria Math" panose="02040503050406030204" pitchFamily="18" charset="0"/>
                                    <a:cs typeface="Times New Roman" panose="02020603050405020304" pitchFamily="18" charset="0"/>
                                  </a:rPr>
                                </m:ctrlPr>
                              </m:dPr>
                              <m:e>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𝒔</m:t>
                                    </m:r>
                                  </m:e>
                                  <m:sub>
                                    <m:r>
                                      <a:rPr lang="en-US" altLang="zh-CN" sz="1800" b="1" i="1">
                                        <a:latin typeface="Cambria Math" panose="02040503050406030204" pitchFamily="18" charset="0"/>
                                        <a:cs typeface="Times New Roman" panose="02020603050405020304" pitchFamily="18" charset="0"/>
                                      </a:rPr>
                                      <m:t>𝒌</m:t>
                                    </m:r>
                                  </m:sub>
                                </m:sSub>
                              </m:e>
                            </m:d>
                            <m:r>
                              <a:rPr lang="en-US" altLang="zh-CN" sz="1800" b="1" i="1" smtClean="0">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smtClean="0">
                                    <a:latin typeface="Cambria Math" panose="02040503050406030204" pitchFamily="18" charset="0"/>
                                    <a:cs typeface="Times New Roman" panose="02020603050405020304" pitchFamily="18" charset="0"/>
                                  </a:rPr>
                                  <m:t>𝑶</m:t>
                                </m:r>
                              </m:e>
                              <m:sub>
                                <m:r>
                                  <a:rPr lang="en-US" altLang="zh-CN" sz="1800" b="1" i="1">
                                    <a:latin typeface="Cambria Math" panose="02040503050406030204" pitchFamily="18" charset="0"/>
                                    <a:cs typeface="Times New Roman" panose="02020603050405020304" pitchFamily="18" charset="0"/>
                                  </a:rPr>
                                  <m:t>𝒌</m:t>
                                </m:r>
                              </m:sub>
                            </m:sSub>
                            <m:d>
                              <m:dPr>
                                <m:ctrlPr>
                                  <a:rPr lang="en-US" altLang="zh-CN" sz="1800" b="1" i="1">
                                    <a:latin typeface="Cambria Math" panose="02040503050406030204" pitchFamily="18" charset="0"/>
                                    <a:cs typeface="Times New Roman" panose="02020603050405020304" pitchFamily="18" charset="0"/>
                                  </a:rPr>
                                </m:ctrlPr>
                              </m:dPr>
                              <m:e>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𝒔</m:t>
                                    </m:r>
                                  </m:e>
                                  <m:sub>
                                    <m:r>
                                      <a:rPr lang="en-US" altLang="zh-CN" sz="1800" b="1" i="1">
                                        <a:latin typeface="Cambria Math" panose="02040503050406030204" pitchFamily="18" charset="0"/>
                                        <a:cs typeface="Times New Roman" panose="02020603050405020304" pitchFamily="18" charset="0"/>
                                      </a:rPr>
                                      <m:t>𝒌</m:t>
                                    </m:r>
                                  </m:sub>
                                </m:sSub>
                              </m:e>
                            </m:d>
                            <m:r>
                              <a:rPr lang="zh-CN" altLang="en-US" sz="1800" b="1" i="1" dirty="0">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smtClean="0">
                                    <a:latin typeface="Cambria Math" panose="02040503050406030204" pitchFamily="18" charset="0"/>
                                    <a:cs typeface="Times New Roman" panose="02020603050405020304" pitchFamily="18" charset="0"/>
                                  </a:rPr>
                                  <m:t>              </m:t>
                                </m:r>
                                <m:r>
                                  <a:rPr lang="en-US" altLang="zh-CN" sz="1800" b="1" i="1">
                                    <a:latin typeface="Cambria Math" panose="02040503050406030204" pitchFamily="18" charset="0"/>
                                    <a:cs typeface="Times New Roman" panose="02020603050405020304" pitchFamily="18" charset="0"/>
                                  </a:rPr>
                                  <m:t>𝒙</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a:latin typeface="Cambria Math" panose="02040503050406030204" pitchFamily="18" charset="0"/>
                                <a:cs typeface="Times New Roman" panose="02020603050405020304" pitchFamily="18" charset="0"/>
                              </a:rPr>
                              <m:t>=</m:t>
                            </m:r>
                            <m:r>
                              <a:rPr lang="en-US" altLang="zh-CN" sz="1800" b="1" i="1">
                                <a:latin typeface="Cambria Math" panose="02040503050406030204" pitchFamily="18" charset="0"/>
                                <a:cs typeface="Times New Roman" panose="02020603050405020304" pitchFamily="18" charset="0"/>
                              </a:rPr>
                              <m:t>𝑲</m:t>
                            </m:r>
                          </m:e>
                          <m:e>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𝑰</m:t>
                                </m:r>
                              </m:e>
                              <m:sub>
                                <m:r>
                                  <a:rPr lang="en-US" altLang="zh-CN" sz="1800" b="1" i="1">
                                    <a:latin typeface="Cambria Math" panose="02040503050406030204" pitchFamily="18" charset="0"/>
                                    <a:cs typeface="Times New Roman" panose="02020603050405020304" pitchFamily="18" charset="0"/>
                                  </a:rPr>
                                  <m:t>𝒌</m:t>
                                </m:r>
                              </m:sub>
                            </m:sSub>
                            <m:d>
                              <m:dPr>
                                <m:ctrlPr>
                                  <a:rPr lang="en-US" altLang="zh-CN" sz="1800" b="1" i="1">
                                    <a:latin typeface="Cambria Math" panose="02040503050406030204" pitchFamily="18" charset="0"/>
                                    <a:cs typeface="Times New Roman" panose="02020603050405020304" pitchFamily="18" charset="0"/>
                                  </a:rPr>
                                </m:ctrlPr>
                              </m:dPr>
                              <m:e>
                                <m:r>
                                  <a:rPr lang="en-US" altLang="zh-CN" sz="1800" b="1" i="1" smtClean="0">
                                    <a:latin typeface="Cambria Math" panose="02040503050406030204" pitchFamily="18" charset="0"/>
                                    <a:cs typeface="Times New Roman" panose="02020603050405020304" pitchFamily="18" charset="0"/>
                                  </a:rPr>
                                  <m:t>𝟎</m:t>
                                </m:r>
                              </m:e>
                            </m:d>
                            <m:r>
                              <a:rPr lang="en-US" altLang="zh-CN" sz="1800" b="1" i="1">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𝑶</m:t>
                                </m:r>
                              </m:e>
                              <m:sub>
                                <m:r>
                                  <a:rPr lang="en-US" altLang="zh-CN" sz="1800" b="1" i="1">
                                    <a:latin typeface="Cambria Math" panose="02040503050406030204" pitchFamily="18" charset="0"/>
                                    <a:cs typeface="Times New Roman" panose="02020603050405020304" pitchFamily="18" charset="0"/>
                                  </a:rPr>
                                  <m:t>𝒌</m:t>
                                </m:r>
                              </m:sub>
                            </m:sSub>
                            <m:d>
                              <m:dPr>
                                <m:ctrlPr>
                                  <a:rPr lang="en-US" altLang="zh-CN" sz="1800" b="1" i="1">
                                    <a:latin typeface="Cambria Math" panose="02040503050406030204" pitchFamily="18" charset="0"/>
                                    <a:cs typeface="Times New Roman" panose="02020603050405020304" pitchFamily="18" charset="0"/>
                                  </a:rPr>
                                </m:ctrlPr>
                              </m:dPr>
                              <m:e>
                                <m:r>
                                  <a:rPr lang="en-US" altLang="zh-CN" sz="1800" b="1" i="1" smtClean="0">
                                    <a:latin typeface="Cambria Math" panose="02040503050406030204" pitchFamily="18" charset="0"/>
                                    <a:cs typeface="Times New Roman" panose="02020603050405020304" pitchFamily="18" charset="0"/>
                                  </a:rPr>
                                  <m:t>𝟎</m:t>
                                </m:r>
                              </m:e>
                            </m:d>
                            <m:r>
                              <a:rPr lang="en-US" altLang="zh-CN" sz="1800" b="1" i="1" smtClean="0">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smtClean="0">
                                    <a:latin typeface="Cambria Math" panose="02040503050406030204" pitchFamily="18" charset="0"/>
                                    <a:cs typeface="Times New Roman" panose="02020603050405020304" pitchFamily="18" charset="0"/>
                                  </a:rPr>
                                  <m:t>𝑪</m:t>
                                </m:r>
                              </m:e>
                              <m:sub>
                                <m:r>
                                  <a:rPr lang="en-US" altLang="zh-CN" sz="1800" b="1" i="1">
                                    <a:latin typeface="Cambria Math" panose="02040503050406030204" pitchFamily="18" charset="0"/>
                                    <a:cs typeface="Times New Roman" panose="02020603050405020304" pitchFamily="18" charset="0"/>
                                  </a:rPr>
                                  <m:t>𝒌</m:t>
                                </m:r>
                              </m:sub>
                            </m:sSub>
                            <m:d>
                              <m:dPr>
                                <m:ctrlPr>
                                  <a:rPr lang="en-US" altLang="zh-CN" sz="1800" b="1" i="1">
                                    <a:latin typeface="Cambria Math" panose="02040503050406030204" pitchFamily="18" charset="0"/>
                                    <a:cs typeface="Times New Roman" panose="02020603050405020304" pitchFamily="18" charset="0"/>
                                  </a:rPr>
                                </m:ctrlPr>
                              </m:dPr>
                              <m:e>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𝒔</m:t>
                                    </m:r>
                                  </m:e>
                                  <m:sub>
                                    <m:r>
                                      <a:rPr lang="en-US" altLang="zh-CN" sz="1800" b="1" i="1">
                                        <a:latin typeface="Cambria Math" panose="02040503050406030204" pitchFamily="18" charset="0"/>
                                        <a:cs typeface="Times New Roman" panose="02020603050405020304" pitchFamily="18" charset="0"/>
                                      </a:rPr>
                                      <m:t>𝒌</m:t>
                                    </m:r>
                                  </m:sub>
                                </m:sSub>
                              </m:e>
                            </m:d>
                            <m:r>
                              <a:rPr lang="zh-CN" altLang="en-US" sz="1800" b="1" i="1">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𝒙</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a:latin typeface="Cambria Math" panose="02040503050406030204" pitchFamily="18" charset="0"/>
                                <a:cs typeface="Times New Roman" panose="02020603050405020304" pitchFamily="18" charset="0"/>
                              </a:rPr>
                              <m:t>=</m:t>
                            </m:r>
                            <m:r>
                              <a:rPr lang="en-US" altLang="zh-CN" sz="1800" b="1" i="1">
                                <a:latin typeface="Cambria Math" panose="02040503050406030204" pitchFamily="18" charset="0"/>
                                <a:cs typeface="Times New Roman" panose="02020603050405020304" pitchFamily="18" charset="0"/>
                              </a:rPr>
                              <m:t>𝑹</m:t>
                            </m:r>
                          </m:e>
                        </m:eqArr>
                      </m:e>
                    </m:d>
                  </m:oMath>
                </a14:m>
                <a:endParaRPr lang="en-US" altLang="zh-CN" sz="1800" b="1" dirty="0" smtClean="0">
                  <a:latin typeface="Times New Roman" panose="02020603050405020304" pitchFamily="18" charset="0"/>
                  <a:cs typeface="Times New Roman" panose="02020603050405020304" pitchFamily="18" charset="0"/>
                </a:endParaRPr>
              </a:p>
              <a:p>
                <a:pPr marL="269875" indent="-3175"/>
                <a:r>
                  <a:rPr lang="zh-CN" altLang="en-US" sz="1800" b="1" dirty="0" smtClean="0">
                    <a:latin typeface="Times New Roman" panose="02020603050405020304" pitchFamily="18" charset="0"/>
                    <a:cs typeface="Times New Roman" panose="02020603050405020304" pitchFamily="18" charset="0"/>
                  </a:rPr>
                  <a:t>（</a:t>
                </a:r>
                <a:r>
                  <a:rPr lang="en-US" altLang="zh-CN" sz="1800" b="1" dirty="0" smtClean="0">
                    <a:latin typeface="Times New Roman" panose="02020603050405020304" pitchFamily="18" charset="0"/>
                    <a:cs typeface="Times New Roman" panose="02020603050405020304" pitchFamily="18" charset="0"/>
                  </a:rPr>
                  <a:t>5</a:t>
                </a:r>
                <a:r>
                  <a:rPr lang="zh-CN" altLang="en-US" sz="1800" b="1" dirty="0" smtClean="0">
                    <a:latin typeface="Times New Roman" panose="02020603050405020304" pitchFamily="18" charset="0"/>
                    <a:cs typeface="Times New Roman" panose="02020603050405020304" pitchFamily="18" charset="0"/>
                  </a:rPr>
                  <a:t>）最优指标函数</a:t>
                </a:r>
                <a14:m>
                  <m:oMath xmlns:m="http://schemas.openxmlformats.org/officeDocument/2006/math">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smtClean="0">
                            <a:latin typeface="Cambria Math" panose="02040503050406030204" pitchFamily="18" charset="0"/>
                            <a:cs typeface="Times New Roman" panose="02020603050405020304" pitchFamily="18" charset="0"/>
                          </a:rPr>
                          <m:t>𝒇</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𝒔</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a:latin typeface="Cambria Math" panose="02040503050406030204" pitchFamily="18" charset="0"/>
                        <a:cs typeface="Times New Roman" panose="02020603050405020304" pitchFamily="18" charset="0"/>
                      </a:rPr>
                      <m:t>)</m:t>
                    </m:r>
                  </m:oMath>
                </a14:m>
                <a:r>
                  <a:rPr lang="zh-CN" altLang="en-US" sz="1800" b="1" dirty="0">
                    <a:latin typeface="Times New Roman" panose="02020603050405020304" pitchFamily="18" charset="0"/>
                    <a:cs typeface="Times New Roman" panose="02020603050405020304" pitchFamily="18" charset="0"/>
                  </a:rPr>
                  <a:t> ：在第</a:t>
                </a:r>
                <a:r>
                  <a:rPr lang="en-US" altLang="zh-CN" sz="1800" b="1" dirty="0">
                    <a:latin typeface="Times New Roman" panose="02020603050405020304" pitchFamily="18" charset="0"/>
                    <a:cs typeface="Times New Roman" panose="02020603050405020304" pitchFamily="18" charset="0"/>
                  </a:rPr>
                  <a:t>k</a:t>
                </a:r>
                <a:r>
                  <a:rPr lang="zh-CN" altLang="en-US" sz="1800" b="1" dirty="0">
                    <a:latin typeface="Times New Roman" panose="02020603050405020304" pitchFamily="18" charset="0"/>
                    <a:cs typeface="Times New Roman" panose="02020603050405020304" pitchFamily="18" charset="0"/>
                  </a:rPr>
                  <a:t>年开始使用一个役龄为</a:t>
                </a:r>
                <a:r>
                  <a:rPr lang="en-US" altLang="zh-CN" sz="1800" b="1" dirty="0">
                    <a:latin typeface="Times New Roman" panose="02020603050405020304" pitchFamily="18" charset="0"/>
                    <a:cs typeface="Times New Roman" panose="02020603050405020304" pitchFamily="18" charset="0"/>
                  </a:rPr>
                  <a:t>t</a:t>
                </a:r>
                <a:r>
                  <a:rPr lang="zh-CN" altLang="en-US" sz="1800" b="1" dirty="0">
                    <a:latin typeface="Times New Roman" panose="02020603050405020304" pitchFamily="18" charset="0"/>
                    <a:cs typeface="Times New Roman" panose="02020603050405020304" pitchFamily="18" charset="0"/>
                  </a:rPr>
                  <a:t>年的机器时，从第</a:t>
                </a:r>
                <a:r>
                  <a:rPr lang="en-US" altLang="zh-CN" sz="1800" b="1" i="1" dirty="0">
                    <a:latin typeface="Times New Roman" panose="02020603050405020304" pitchFamily="18" charset="0"/>
                    <a:cs typeface="Times New Roman" panose="02020603050405020304" pitchFamily="18" charset="0"/>
                  </a:rPr>
                  <a:t>k</a:t>
                </a:r>
                <a:r>
                  <a:rPr lang="zh-CN" altLang="en-US" sz="1800" b="1" dirty="0">
                    <a:latin typeface="Times New Roman" panose="02020603050405020304" pitchFamily="18" charset="0"/>
                    <a:cs typeface="Times New Roman" panose="02020603050405020304" pitchFamily="18" charset="0"/>
                  </a:rPr>
                  <a:t>年至第</a:t>
                </a:r>
                <a:r>
                  <a:rPr lang="en-US" altLang="zh-CN" sz="1800" b="1" dirty="0">
                    <a:latin typeface="Times New Roman" panose="02020603050405020304" pitchFamily="18" charset="0"/>
                    <a:cs typeface="Times New Roman" panose="02020603050405020304" pitchFamily="18" charset="0"/>
                  </a:rPr>
                  <a:t>n</a:t>
                </a:r>
                <a:r>
                  <a:rPr lang="zh-CN" altLang="en-US" sz="1800" b="1" dirty="0">
                    <a:latin typeface="Times New Roman" panose="02020603050405020304" pitchFamily="18" charset="0"/>
                    <a:cs typeface="Times New Roman" panose="02020603050405020304" pitchFamily="18" charset="0"/>
                  </a:rPr>
                  <a:t>年内的最佳收入</a:t>
                </a:r>
                <a:endParaRPr lang="en-US" altLang="zh-CN" sz="1800" b="1" dirty="0" smtClean="0">
                  <a:latin typeface="Times New Roman" panose="02020603050405020304" pitchFamily="18" charset="0"/>
                  <a:cs typeface="Times New Roman" panose="02020603050405020304" pitchFamily="18" charset="0"/>
                </a:endParaRPr>
              </a:p>
              <a:p>
                <a:r>
                  <a:rPr lang="zh-CN" altLang="en-US" sz="1800" b="1" dirty="0" smtClean="0">
                    <a:latin typeface="Times New Roman" panose="02020603050405020304" pitchFamily="18" charset="0"/>
                    <a:cs typeface="Times New Roman" panose="02020603050405020304" pitchFamily="18" charset="0"/>
                  </a:rPr>
                  <a:t>（</a:t>
                </a:r>
                <a:r>
                  <a:rPr lang="en-US" altLang="zh-CN" sz="1800" b="1" dirty="0" smtClean="0">
                    <a:latin typeface="Times New Roman" panose="02020603050405020304" pitchFamily="18" charset="0"/>
                    <a:cs typeface="Times New Roman" panose="02020603050405020304" pitchFamily="18" charset="0"/>
                  </a:rPr>
                  <a:t>6</a:t>
                </a:r>
                <a:r>
                  <a:rPr lang="zh-CN" altLang="en-US" sz="1800" b="1" dirty="0" smtClean="0">
                    <a:latin typeface="Times New Roman" panose="02020603050405020304" pitchFamily="18" charset="0"/>
                    <a:cs typeface="Times New Roman" panose="02020603050405020304" pitchFamily="18" charset="0"/>
                  </a:rPr>
                  <a:t>）递推方程：</a:t>
                </a:r>
                <a14:m>
                  <m:oMath xmlns:m="http://schemas.openxmlformats.org/officeDocument/2006/math">
                    <m:d>
                      <m:dPr>
                        <m:begChr m:val="{"/>
                        <m:endChr m:val=""/>
                        <m:ctrlPr>
                          <a:rPr lang="en-US" altLang="zh-CN" sz="1800" b="1" i="1">
                            <a:latin typeface="Cambria Math" panose="02040503050406030204" pitchFamily="18" charset="0"/>
                            <a:cs typeface="Times New Roman" panose="02020603050405020304" pitchFamily="18" charset="0"/>
                          </a:rPr>
                        </m:ctrlPr>
                      </m:dPr>
                      <m:e>
                        <m:eqArr>
                          <m:eqArrPr>
                            <m:ctrlPr>
                              <a:rPr lang="en-US" altLang="zh-CN" sz="1800" b="1" i="1">
                                <a:latin typeface="Cambria Math" panose="02040503050406030204" pitchFamily="18" charset="0"/>
                                <a:cs typeface="Times New Roman" panose="02020603050405020304" pitchFamily="18" charset="0"/>
                              </a:rPr>
                            </m:ctrlPr>
                          </m:eqArrPr>
                          <m:e>
                            <m:r>
                              <m:rPr>
                                <m:nor/>
                              </m:rPr>
                              <a:rPr lang="en-US" altLang="zh-CN" sz="1800" b="1" i="1" dirty="0">
                                <a:latin typeface="Times New Roman" panose="02020603050405020304" pitchFamily="18" charset="0"/>
                                <a:cs typeface="Times New Roman" panose="02020603050405020304" pitchFamily="18" charset="0"/>
                              </a:rPr>
                              <m:t>f</m:t>
                            </m:r>
                            <m:r>
                              <m:rPr>
                                <m:nor/>
                              </m:rPr>
                              <a:rPr lang="en-US" altLang="zh-CN" sz="1800" b="1" i="1" baseline="-25000" dirty="0">
                                <a:latin typeface="Times New Roman" panose="02020603050405020304" pitchFamily="18" charset="0"/>
                                <a:cs typeface="Times New Roman" panose="02020603050405020304" pitchFamily="18" charset="0"/>
                              </a:rPr>
                              <m:t>k</m:t>
                            </m:r>
                            <m:r>
                              <m:rPr>
                                <m:nor/>
                              </m:rPr>
                              <a:rPr lang="en-US" altLang="zh-CN" sz="1800" b="1" dirty="0">
                                <a:latin typeface="Times New Roman" panose="02020603050405020304" pitchFamily="18" charset="0"/>
                                <a:cs typeface="Times New Roman" panose="02020603050405020304" pitchFamily="18" charset="0"/>
                              </a:rPr>
                              <m:t>(</m:t>
                            </m:r>
                            <m:r>
                              <m:rPr>
                                <m:nor/>
                              </m:rPr>
                              <a:rPr lang="en-US" altLang="zh-CN" sz="1800" b="1" i="1" dirty="0">
                                <a:latin typeface="Times New Roman" panose="02020603050405020304" pitchFamily="18" charset="0"/>
                                <a:cs typeface="Times New Roman" panose="02020603050405020304" pitchFamily="18" charset="0"/>
                              </a:rPr>
                              <m:t>s</m:t>
                            </m:r>
                            <m:r>
                              <m:rPr>
                                <m:nor/>
                              </m:rPr>
                              <a:rPr lang="en-US" altLang="zh-CN" sz="1800" b="1" i="1" baseline="-25000" dirty="0">
                                <a:latin typeface="Times New Roman" panose="02020603050405020304" pitchFamily="18" charset="0"/>
                                <a:cs typeface="Times New Roman" panose="02020603050405020304" pitchFamily="18" charset="0"/>
                              </a:rPr>
                              <m:t>k</m:t>
                            </m:r>
                            <m:r>
                              <m:rPr>
                                <m:nor/>
                              </m:rPr>
                              <a:rPr lang="en-US" altLang="zh-CN" sz="1800" b="1" dirty="0">
                                <a:latin typeface="Times New Roman" panose="02020603050405020304" pitchFamily="18" charset="0"/>
                                <a:cs typeface="Times New Roman" panose="02020603050405020304" pitchFamily="18" charset="0"/>
                              </a:rPr>
                              <m:t>)</m:t>
                            </m:r>
                            <m:r>
                              <a:rPr lang="en-US" altLang="zh-CN" sz="1800" b="1" i="1">
                                <a:latin typeface="Cambria Math" panose="02040503050406030204" pitchFamily="18" charset="0"/>
                                <a:cs typeface="Times New Roman" panose="02020603050405020304" pitchFamily="18" charset="0"/>
                              </a:rPr>
                              <m:t>=</m:t>
                            </m:r>
                            <m:func>
                              <m:funcPr>
                                <m:ctrlPr>
                                  <a:rPr lang="en-US" altLang="zh-CN" sz="1800" b="1" i="1">
                                    <a:latin typeface="Cambria Math" panose="02040503050406030204" pitchFamily="18" charset="0"/>
                                    <a:cs typeface="Times New Roman" panose="02020603050405020304" pitchFamily="18" charset="0"/>
                                  </a:rPr>
                                </m:ctrlPr>
                              </m:funcPr>
                              <m:fName>
                                <m:r>
                                  <a:rPr lang="en-US" altLang="zh-CN" sz="1800" b="1" i="1" smtClean="0">
                                    <a:latin typeface="Cambria Math" panose="02040503050406030204" pitchFamily="18" charset="0"/>
                                    <a:cs typeface="Times New Roman" panose="02020603050405020304" pitchFamily="18" charset="0"/>
                                  </a:rPr>
                                  <m:t>𝒎𝒂𝒙</m:t>
                                </m:r>
                              </m:fName>
                              <m:e>
                                <m:d>
                                  <m:dPr>
                                    <m:begChr m:val="{"/>
                                    <m:endChr m:val=""/>
                                    <m:ctrlPr>
                                      <a:rPr lang="en-US" altLang="zh-CN" sz="1800" b="1" i="1">
                                        <a:latin typeface="Cambria Math" panose="02040503050406030204" pitchFamily="18" charset="0"/>
                                        <a:cs typeface="Times New Roman" panose="02020603050405020304" pitchFamily="18" charset="0"/>
                                      </a:rPr>
                                    </m:ctrlPr>
                                  </m:dPr>
                                  <m:e>
                                    <m:eqArr>
                                      <m:eqArrPr>
                                        <m:ctrlPr>
                                          <a:rPr lang="en-US" altLang="zh-CN" sz="1800" b="1" i="1">
                                            <a:latin typeface="Cambria Math" panose="02040503050406030204" pitchFamily="18" charset="0"/>
                                            <a:cs typeface="Times New Roman" panose="02020603050405020304" pitchFamily="18" charset="0"/>
                                          </a:rPr>
                                        </m:ctrlPr>
                                      </m:eqArrPr>
                                      <m:e>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𝑰</m:t>
                                            </m:r>
                                          </m:e>
                                          <m:sub>
                                            <m:r>
                                              <a:rPr lang="en-US" altLang="zh-CN" sz="1800" b="1" i="1">
                                                <a:latin typeface="Cambria Math" panose="02040503050406030204" pitchFamily="18" charset="0"/>
                                                <a:cs typeface="Times New Roman" panose="02020603050405020304" pitchFamily="18" charset="0"/>
                                              </a:rPr>
                                              <m:t>𝒌</m:t>
                                            </m:r>
                                          </m:sub>
                                        </m:sSub>
                                        <m:d>
                                          <m:dPr>
                                            <m:ctrlPr>
                                              <a:rPr lang="en-US" altLang="zh-CN" sz="1800" b="1" i="1">
                                                <a:latin typeface="Cambria Math" panose="02040503050406030204" pitchFamily="18" charset="0"/>
                                                <a:cs typeface="Times New Roman" panose="02020603050405020304" pitchFamily="18" charset="0"/>
                                              </a:rPr>
                                            </m:ctrlPr>
                                          </m:dPr>
                                          <m:e>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𝒔</m:t>
                                                </m:r>
                                              </m:e>
                                              <m:sub>
                                                <m:r>
                                                  <a:rPr lang="en-US" altLang="zh-CN" sz="1800" b="1" i="1">
                                                    <a:latin typeface="Cambria Math" panose="02040503050406030204" pitchFamily="18" charset="0"/>
                                                    <a:cs typeface="Times New Roman" panose="02020603050405020304" pitchFamily="18" charset="0"/>
                                                  </a:rPr>
                                                  <m:t>𝒌</m:t>
                                                </m:r>
                                              </m:sub>
                                            </m:sSub>
                                          </m:e>
                                        </m:d>
                                        <m:r>
                                          <a:rPr lang="en-US" altLang="zh-CN" sz="1800" b="1" i="1">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𝑶</m:t>
                                            </m:r>
                                          </m:e>
                                          <m:sub>
                                            <m:r>
                                              <a:rPr lang="en-US" altLang="zh-CN" sz="1800" b="1" i="1">
                                                <a:latin typeface="Cambria Math" panose="02040503050406030204" pitchFamily="18" charset="0"/>
                                                <a:cs typeface="Times New Roman" panose="02020603050405020304" pitchFamily="18" charset="0"/>
                                              </a:rPr>
                                              <m:t>𝒌</m:t>
                                            </m:r>
                                          </m:sub>
                                        </m:sSub>
                                        <m:d>
                                          <m:dPr>
                                            <m:ctrlPr>
                                              <a:rPr lang="en-US" altLang="zh-CN" sz="1800" b="1" i="1">
                                                <a:latin typeface="Cambria Math" panose="02040503050406030204" pitchFamily="18" charset="0"/>
                                                <a:cs typeface="Times New Roman" panose="02020603050405020304" pitchFamily="18" charset="0"/>
                                              </a:rPr>
                                            </m:ctrlPr>
                                          </m:dPr>
                                          <m:e>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𝒔</m:t>
                                                </m:r>
                                              </m:e>
                                              <m:sub>
                                                <m:r>
                                                  <a:rPr lang="en-US" altLang="zh-CN" sz="1800" b="1" i="1">
                                                    <a:latin typeface="Cambria Math" panose="02040503050406030204" pitchFamily="18" charset="0"/>
                                                    <a:cs typeface="Times New Roman" panose="02020603050405020304" pitchFamily="18" charset="0"/>
                                                  </a:rPr>
                                                  <m:t>𝒌</m:t>
                                                </m:r>
                                              </m:sub>
                                            </m:sSub>
                                          </m:e>
                                        </m:d>
                                        <m:r>
                                          <a:rPr lang="en-US" altLang="zh-CN" sz="1800" b="1" i="1" smtClean="0">
                                            <a:latin typeface="Cambria Math" panose="02040503050406030204" pitchFamily="18" charset="0"/>
                                            <a:cs typeface="Times New Roman" panose="02020603050405020304" pitchFamily="18" charset="0"/>
                                          </a:rPr>
                                          <m:t>+</m:t>
                                        </m:r>
                                        <m:r>
                                          <m:rPr>
                                            <m:nor/>
                                          </m:rPr>
                                          <a:rPr lang="en-US" altLang="zh-CN" sz="1800" b="1" i="1" smtClean="0">
                                            <a:latin typeface="Cambria Math" panose="02040503050406030204" pitchFamily="18" charset="0"/>
                                            <a:cs typeface="Times New Roman" panose="02020603050405020304" pitchFamily="18" charset="0"/>
                                          </a:rPr>
                                          <m:t>a</m:t>
                                        </m:r>
                                        <m:r>
                                          <m:rPr>
                                            <m:nor/>
                                          </m:rPr>
                                          <a:rPr lang="en-US" altLang="zh-CN" sz="1800" b="1" i="1" dirty="0">
                                            <a:latin typeface="Times New Roman" panose="02020603050405020304" pitchFamily="18" charset="0"/>
                                            <a:cs typeface="Times New Roman" panose="02020603050405020304" pitchFamily="18" charset="0"/>
                                          </a:rPr>
                                          <m:t>f</m:t>
                                        </m:r>
                                        <m:r>
                                          <m:rPr>
                                            <m:nor/>
                                          </m:rPr>
                                          <a:rPr lang="en-US" altLang="zh-CN" sz="1800" b="1" i="1" baseline="-25000" dirty="0">
                                            <a:latin typeface="Times New Roman" panose="02020603050405020304" pitchFamily="18" charset="0"/>
                                            <a:cs typeface="Times New Roman" panose="02020603050405020304" pitchFamily="18" charset="0"/>
                                          </a:rPr>
                                          <m:t>k</m:t>
                                        </m:r>
                                        <m:r>
                                          <m:rPr>
                                            <m:nor/>
                                          </m:rPr>
                                          <a:rPr lang="en-US" altLang="zh-CN" sz="1800" b="1" i="1" baseline="-25000" dirty="0">
                                            <a:latin typeface="Times New Roman" panose="02020603050405020304" pitchFamily="18" charset="0"/>
                                            <a:cs typeface="Times New Roman" panose="02020603050405020304" pitchFamily="18" charset="0"/>
                                          </a:rPr>
                                          <m:t>+1</m:t>
                                        </m:r>
                                        <m:r>
                                          <m:rPr>
                                            <m:nor/>
                                          </m:rPr>
                                          <a:rPr lang="en-US" altLang="zh-CN" sz="1800" b="1" i="0" dirty="0" smtClean="0">
                                            <a:latin typeface="Times New Roman" panose="02020603050405020304" pitchFamily="18" charset="0"/>
                                            <a:cs typeface="Times New Roman" panose="02020603050405020304" pitchFamily="18" charset="0"/>
                                          </a:rPr>
                                          <m:t>(</m:t>
                                        </m:r>
                                        <m:r>
                                          <m:rPr>
                                            <m:nor/>
                                          </m:rPr>
                                          <a:rPr lang="en-US" altLang="zh-CN" sz="1800" b="1" i="1" dirty="0">
                                            <a:latin typeface="Times New Roman" panose="02020603050405020304" pitchFamily="18" charset="0"/>
                                            <a:cs typeface="Times New Roman" panose="02020603050405020304" pitchFamily="18" charset="0"/>
                                          </a:rPr>
                                          <m:t>s</m:t>
                                        </m:r>
                                        <m:r>
                                          <m:rPr>
                                            <m:nor/>
                                          </m:rPr>
                                          <a:rPr lang="en-US" altLang="zh-CN" sz="1800" b="1" i="1" baseline="-25000" dirty="0">
                                            <a:latin typeface="Times New Roman" panose="02020603050405020304" pitchFamily="18" charset="0"/>
                                            <a:cs typeface="Times New Roman" panose="02020603050405020304" pitchFamily="18" charset="0"/>
                                          </a:rPr>
                                          <m:t>k</m:t>
                                        </m:r>
                                        <m:r>
                                          <m:rPr>
                                            <m:nor/>
                                          </m:rPr>
                                          <a:rPr lang="en-US" altLang="zh-CN" sz="1800" b="1" i="1" baseline="-25000" dirty="0">
                                            <a:latin typeface="Times New Roman" panose="02020603050405020304" pitchFamily="18" charset="0"/>
                                            <a:cs typeface="Times New Roman" panose="02020603050405020304" pitchFamily="18" charset="0"/>
                                          </a:rPr>
                                          <m:t>+1</m:t>
                                        </m:r>
                                        <m:sSub>
                                          <m:sSubPr>
                                            <m:ctrlPr>
                                              <a:rPr lang="en-US" altLang="zh-CN" sz="1800" b="1" i="1">
                                                <a:latin typeface="Cambria Math" panose="02040503050406030204" pitchFamily="18" charset="0"/>
                                                <a:cs typeface="Times New Roman" panose="02020603050405020304" pitchFamily="18" charset="0"/>
                                              </a:rPr>
                                            </m:ctrlPr>
                                          </m:sSubPr>
                                          <m:e>
                                            <m:r>
                                              <m:rPr>
                                                <m:nor/>
                                              </m:rPr>
                                              <a:rPr lang="en-US" altLang="zh-CN" sz="1800" b="1" dirty="0">
                                                <a:latin typeface="Times New Roman" panose="02020603050405020304" pitchFamily="18" charset="0"/>
                                                <a:cs typeface="Times New Roman" panose="02020603050405020304" pitchFamily="18" charset="0"/>
                                              </a:rPr>
                                              <m:t>)</m:t>
                                            </m:r>
                                            <m:r>
                                              <m:rPr>
                                                <m:nor/>
                                              </m:rPr>
                                              <a:rPr lang="en-US" altLang="zh-CN" sz="1800" b="1" i="0" dirty="0" smtClean="0">
                                                <a:latin typeface="Times New Roman" panose="02020603050405020304" pitchFamily="18" charset="0"/>
                                                <a:cs typeface="Times New Roman" panose="02020603050405020304" pitchFamily="18" charset="0"/>
                                              </a:rPr>
                                              <m:t>, </m:t>
                                            </m:r>
                                            <m:r>
                                              <a:rPr lang="en-US" altLang="zh-CN" sz="1800" b="1" i="1" dirty="0" smtClean="0">
                                                <a:latin typeface="Cambria Math" panose="02040503050406030204" pitchFamily="18" charset="0"/>
                                                <a:cs typeface="Times New Roman" panose="02020603050405020304" pitchFamily="18" charset="0"/>
                                              </a:rPr>
                                              <m:t>              </m:t>
                                            </m:r>
                                            <m:r>
                                              <a:rPr lang="en-US" altLang="zh-CN" sz="1800" b="1" i="1">
                                                <a:latin typeface="Cambria Math" panose="02040503050406030204" pitchFamily="18" charset="0"/>
                                                <a:cs typeface="Times New Roman" panose="02020603050405020304" pitchFamily="18" charset="0"/>
                                              </a:rPr>
                                              <m:t>𝒙</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a:latin typeface="Cambria Math" panose="02040503050406030204" pitchFamily="18" charset="0"/>
                                            <a:cs typeface="Times New Roman" panose="02020603050405020304" pitchFamily="18" charset="0"/>
                                          </a:rPr>
                                          <m:t>=</m:t>
                                        </m:r>
                                        <m:r>
                                          <a:rPr lang="en-US" altLang="zh-CN" sz="1800" b="1" i="1">
                                            <a:latin typeface="Cambria Math" panose="02040503050406030204" pitchFamily="18" charset="0"/>
                                            <a:cs typeface="Times New Roman" panose="02020603050405020304" pitchFamily="18" charset="0"/>
                                          </a:rPr>
                                          <m:t>𝑲</m:t>
                                        </m:r>
                                      </m:e>
                                      <m:e>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𝑰</m:t>
                                            </m:r>
                                          </m:e>
                                          <m:sub>
                                            <m:r>
                                              <a:rPr lang="en-US" altLang="zh-CN" sz="1800" b="1" i="1">
                                                <a:latin typeface="Cambria Math" panose="02040503050406030204" pitchFamily="18" charset="0"/>
                                                <a:cs typeface="Times New Roman" panose="02020603050405020304" pitchFamily="18" charset="0"/>
                                              </a:rPr>
                                              <m:t>𝒌</m:t>
                                            </m:r>
                                          </m:sub>
                                        </m:sSub>
                                        <m:d>
                                          <m:dPr>
                                            <m:ctrlPr>
                                              <a:rPr lang="en-US" altLang="zh-CN" sz="1800" b="1" i="1">
                                                <a:latin typeface="Cambria Math" panose="02040503050406030204" pitchFamily="18" charset="0"/>
                                                <a:cs typeface="Times New Roman" panose="02020603050405020304" pitchFamily="18" charset="0"/>
                                              </a:rPr>
                                            </m:ctrlPr>
                                          </m:dPr>
                                          <m:e>
                                            <m:r>
                                              <a:rPr lang="en-US" altLang="zh-CN" sz="1800" b="1" i="1">
                                                <a:latin typeface="Cambria Math" panose="02040503050406030204" pitchFamily="18" charset="0"/>
                                                <a:cs typeface="Times New Roman" panose="02020603050405020304" pitchFamily="18" charset="0"/>
                                              </a:rPr>
                                              <m:t>𝟎</m:t>
                                            </m:r>
                                          </m:e>
                                        </m:d>
                                        <m:r>
                                          <a:rPr lang="en-US" altLang="zh-CN" sz="1800" b="1" i="1">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𝑶</m:t>
                                            </m:r>
                                          </m:e>
                                          <m:sub>
                                            <m:r>
                                              <a:rPr lang="en-US" altLang="zh-CN" sz="1800" b="1" i="1">
                                                <a:latin typeface="Cambria Math" panose="02040503050406030204" pitchFamily="18" charset="0"/>
                                                <a:cs typeface="Times New Roman" panose="02020603050405020304" pitchFamily="18" charset="0"/>
                                              </a:rPr>
                                              <m:t>𝒌</m:t>
                                            </m:r>
                                          </m:sub>
                                        </m:sSub>
                                        <m:d>
                                          <m:dPr>
                                            <m:ctrlPr>
                                              <a:rPr lang="en-US" altLang="zh-CN" sz="1800" b="1" i="1">
                                                <a:latin typeface="Cambria Math" panose="02040503050406030204" pitchFamily="18" charset="0"/>
                                                <a:cs typeface="Times New Roman" panose="02020603050405020304" pitchFamily="18" charset="0"/>
                                              </a:rPr>
                                            </m:ctrlPr>
                                          </m:dPr>
                                          <m:e>
                                            <m:r>
                                              <a:rPr lang="en-US" altLang="zh-CN" sz="1800" b="1" i="1">
                                                <a:latin typeface="Cambria Math" panose="02040503050406030204" pitchFamily="18" charset="0"/>
                                                <a:cs typeface="Times New Roman" panose="02020603050405020304" pitchFamily="18" charset="0"/>
                                              </a:rPr>
                                              <m:t>𝟎</m:t>
                                            </m:r>
                                          </m:e>
                                        </m:d>
                                        <m:r>
                                          <a:rPr lang="en-US" altLang="zh-CN" sz="1800" b="1" i="1">
                                            <a:latin typeface="Cambria Math" panose="02040503050406030204" pitchFamily="18" charset="0"/>
                                            <a:cs typeface="Times New Roman" panose="02020603050405020304" pitchFamily="18" charset="0"/>
                                          </a:rPr>
                                          <m:t>−</m:t>
                                        </m:r>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𝑪</m:t>
                                            </m:r>
                                          </m:e>
                                          <m:sub>
                                            <m:r>
                                              <a:rPr lang="en-US" altLang="zh-CN" sz="1800" b="1" i="1">
                                                <a:latin typeface="Cambria Math" panose="02040503050406030204" pitchFamily="18" charset="0"/>
                                                <a:cs typeface="Times New Roman" panose="02020603050405020304" pitchFamily="18" charset="0"/>
                                              </a:rPr>
                                              <m:t>𝒌</m:t>
                                            </m:r>
                                          </m:sub>
                                        </m:sSub>
                                        <m:d>
                                          <m:dPr>
                                            <m:ctrlPr>
                                              <a:rPr lang="en-US" altLang="zh-CN" sz="1800" b="1" i="1">
                                                <a:latin typeface="Cambria Math" panose="02040503050406030204" pitchFamily="18" charset="0"/>
                                                <a:cs typeface="Times New Roman" panose="02020603050405020304" pitchFamily="18" charset="0"/>
                                              </a:rPr>
                                            </m:ctrlPr>
                                          </m:dPr>
                                          <m:e>
                                            <m:sSub>
                                              <m:sSubPr>
                                                <m:ctrlPr>
                                                  <a:rPr lang="en-US"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𝒔</m:t>
                                                </m:r>
                                              </m:e>
                                              <m:sub>
                                                <m:r>
                                                  <a:rPr lang="en-US" altLang="zh-CN" sz="1800" b="1" i="1">
                                                    <a:latin typeface="Cambria Math" panose="02040503050406030204" pitchFamily="18" charset="0"/>
                                                    <a:cs typeface="Times New Roman" panose="02020603050405020304" pitchFamily="18" charset="0"/>
                                                  </a:rPr>
                                                  <m:t>𝒌</m:t>
                                                </m:r>
                                              </m:sub>
                                            </m:sSub>
                                          </m:e>
                                        </m:d>
                                        <m:r>
                                          <m:rPr>
                                            <m:nor/>
                                          </m:rPr>
                                          <a:rPr lang="en-US" altLang="zh-CN" sz="1800" b="1" i="1" smtClean="0">
                                            <a:latin typeface="Cambria Math" panose="02040503050406030204" pitchFamily="18" charset="0"/>
                                            <a:cs typeface="Times New Roman" panose="02020603050405020304" pitchFamily="18" charset="0"/>
                                          </a:rPr>
                                          <m:t>+</m:t>
                                        </m:r>
                                        <m:r>
                                          <m:rPr>
                                            <m:nor/>
                                          </m:rPr>
                                          <a:rPr lang="en-US" altLang="zh-CN" sz="1800" b="1" i="1">
                                            <a:latin typeface="Cambria Math" panose="02040503050406030204" pitchFamily="18" charset="0"/>
                                            <a:cs typeface="Times New Roman" panose="02020603050405020304" pitchFamily="18" charset="0"/>
                                          </a:rPr>
                                          <m:t>a</m:t>
                                        </m:r>
                                        <m:r>
                                          <m:rPr>
                                            <m:nor/>
                                          </m:rPr>
                                          <a:rPr lang="en-US" altLang="zh-CN" sz="1800" b="1" i="1" dirty="0">
                                            <a:latin typeface="Times New Roman" panose="02020603050405020304" pitchFamily="18" charset="0"/>
                                            <a:cs typeface="Times New Roman" panose="02020603050405020304" pitchFamily="18" charset="0"/>
                                          </a:rPr>
                                          <m:t>f</m:t>
                                        </m:r>
                                        <m:r>
                                          <m:rPr>
                                            <m:nor/>
                                          </m:rPr>
                                          <a:rPr lang="en-US" altLang="zh-CN" sz="1800" b="1" i="1" baseline="-25000" dirty="0">
                                            <a:latin typeface="Times New Roman" panose="02020603050405020304" pitchFamily="18" charset="0"/>
                                            <a:cs typeface="Times New Roman" panose="02020603050405020304" pitchFamily="18" charset="0"/>
                                          </a:rPr>
                                          <m:t>k</m:t>
                                        </m:r>
                                        <m:r>
                                          <m:rPr>
                                            <m:nor/>
                                          </m:rPr>
                                          <a:rPr lang="en-US" altLang="zh-CN" sz="1800" b="1" i="1" baseline="-25000" dirty="0">
                                            <a:latin typeface="Times New Roman" panose="02020603050405020304" pitchFamily="18" charset="0"/>
                                            <a:cs typeface="Times New Roman" panose="02020603050405020304" pitchFamily="18" charset="0"/>
                                          </a:rPr>
                                          <m:t>+1</m:t>
                                        </m:r>
                                        <m:r>
                                          <m:rPr>
                                            <m:nor/>
                                          </m:rPr>
                                          <a:rPr lang="en-US" altLang="zh-CN" sz="1800" b="1" dirty="0">
                                            <a:latin typeface="Times New Roman" panose="02020603050405020304" pitchFamily="18" charset="0"/>
                                            <a:cs typeface="Times New Roman" panose="02020603050405020304" pitchFamily="18" charset="0"/>
                                          </a:rPr>
                                          <m:t>(</m:t>
                                        </m:r>
                                        <m:r>
                                          <m:rPr>
                                            <m:nor/>
                                          </m:rPr>
                                          <a:rPr lang="en-US" altLang="zh-CN" sz="1800" b="1" i="1" dirty="0">
                                            <a:latin typeface="Times New Roman" panose="02020603050405020304" pitchFamily="18" charset="0"/>
                                            <a:cs typeface="Times New Roman" panose="02020603050405020304" pitchFamily="18" charset="0"/>
                                          </a:rPr>
                                          <m:t>s</m:t>
                                        </m:r>
                                        <m:r>
                                          <m:rPr>
                                            <m:nor/>
                                          </m:rPr>
                                          <a:rPr lang="en-US" altLang="zh-CN" sz="1800" b="1" i="1" baseline="-25000" dirty="0">
                                            <a:latin typeface="Times New Roman" panose="02020603050405020304" pitchFamily="18" charset="0"/>
                                            <a:cs typeface="Times New Roman" panose="02020603050405020304" pitchFamily="18" charset="0"/>
                                          </a:rPr>
                                          <m:t>k</m:t>
                                        </m:r>
                                        <m:r>
                                          <m:rPr>
                                            <m:nor/>
                                          </m:rPr>
                                          <a:rPr lang="en-US" altLang="zh-CN" sz="1800" b="1" i="1" baseline="-25000" dirty="0">
                                            <a:latin typeface="Times New Roman" panose="02020603050405020304" pitchFamily="18" charset="0"/>
                                            <a:cs typeface="Times New Roman" panose="02020603050405020304" pitchFamily="18" charset="0"/>
                                          </a:rPr>
                                          <m:t>+1</m:t>
                                        </m:r>
                                        <m:sSub>
                                          <m:sSubPr>
                                            <m:ctrlPr>
                                              <a:rPr lang="en-US" altLang="zh-CN" sz="1800" b="1" i="1">
                                                <a:latin typeface="Cambria Math" panose="02040503050406030204" pitchFamily="18" charset="0"/>
                                                <a:cs typeface="Times New Roman" panose="02020603050405020304" pitchFamily="18" charset="0"/>
                                              </a:rPr>
                                            </m:ctrlPr>
                                          </m:sSubPr>
                                          <m:e>
                                            <m:r>
                                              <m:rPr>
                                                <m:nor/>
                                              </m:rPr>
                                              <a:rPr lang="en-US" altLang="zh-CN" sz="1800" b="1" dirty="0">
                                                <a:latin typeface="Times New Roman" panose="02020603050405020304" pitchFamily="18" charset="0"/>
                                                <a:cs typeface="Times New Roman" panose="02020603050405020304" pitchFamily="18" charset="0"/>
                                              </a:rPr>
                                              <m:t>)</m:t>
                                            </m:r>
                                            <m:r>
                                              <a:rPr lang="zh-CN" altLang="en-US" sz="1800" b="1" i="1">
                                                <a:latin typeface="Cambria Math" panose="02040503050406030204" pitchFamily="18" charset="0"/>
                                                <a:cs typeface="Times New Roman" panose="02020603050405020304" pitchFamily="18" charset="0"/>
                                              </a:rPr>
                                              <m:t>，</m:t>
                                            </m:r>
                                            <m:r>
                                              <a:rPr lang="en-US" altLang="zh-CN" sz="1800" b="1" i="1">
                                                <a:latin typeface="Cambria Math" panose="02040503050406030204" pitchFamily="18" charset="0"/>
                                                <a:cs typeface="Times New Roman" panose="02020603050405020304" pitchFamily="18" charset="0"/>
                                              </a:rPr>
                                              <m:t>𝒙</m:t>
                                            </m:r>
                                          </m:e>
                                          <m:sub>
                                            <m:r>
                                              <a:rPr lang="en-US" altLang="zh-CN" sz="1800" b="1" i="1">
                                                <a:latin typeface="Cambria Math" panose="02040503050406030204" pitchFamily="18" charset="0"/>
                                                <a:cs typeface="Times New Roman" panose="02020603050405020304" pitchFamily="18" charset="0"/>
                                              </a:rPr>
                                              <m:t>𝒌</m:t>
                                            </m:r>
                                          </m:sub>
                                        </m:sSub>
                                        <m:r>
                                          <a:rPr lang="en-US" altLang="zh-CN" sz="1800" b="1" i="1">
                                            <a:latin typeface="Cambria Math" panose="02040503050406030204" pitchFamily="18" charset="0"/>
                                            <a:cs typeface="Times New Roman" panose="02020603050405020304" pitchFamily="18" charset="0"/>
                                          </a:rPr>
                                          <m:t>=</m:t>
                                        </m:r>
                                        <m:r>
                                          <a:rPr lang="en-US" altLang="zh-CN" sz="1800" b="1" i="1">
                                            <a:latin typeface="Cambria Math" panose="02040503050406030204" pitchFamily="18" charset="0"/>
                                            <a:cs typeface="Times New Roman" panose="02020603050405020304" pitchFamily="18" charset="0"/>
                                          </a:rPr>
                                          <m:t>𝑹</m:t>
                                        </m:r>
                                      </m:e>
                                    </m:eqArr>
                                  </m:e>
                                </m:d>
                              </m:e>
                            </m:func>
                          </m:e>
                          <m:e>
                            <m:r>
                              <m:rPr>
                                <m:nor/>
                              </m:rPr>
                              <a:rPr lang="en-US" altLang="zh-CN" sz="1800" b="1" i="1" dirty="0">
                                <a:latin typeface="Times New Roman" panose="02020603050405020304" pitchFamily="18" charset="0"/>
                                <a:cs typeface="Times New Roman" panose="02020603050405020304" pitchFamily="18" charset="0"/>
                              </a:rPr>
                              <m:t>f</m:t>
                            </m:r>
                            <m:r>
                              <m:rPr>
                                <m:nor/>
                              </m:rPr>
                              <a:rPr lang="en-US" altLang="zh-CN" sz="1800" b="1" i="1" baseline="-25000" dirty="0" smtClean="0">
                                <a:latin typeface="Times New Roman" panose="02020603050405020304" pitchFamily="18" charset="0"/>
                                <a:cs typeface="Times New Roman" panose="02020603050405020304" pitchFamily="18" charset="0"/>
                              </a:rPr>
                              <m:t>n</m:t>
                            </m:r>
                            <m:r>
                              <m:rPr>
                                <m:nor/>
                              </m:rPr>
                              <a:rPr lang="en-US" altLang="zh-CN" sz="1800" b="1" i="1" baseline="-25000" dirty="0">
                                <a:latin typeface="Times New Roman" panose="02020603050405020304" pitchFamily="18" charset="0"/>
                                <a:cs typeface="Times New Roman" panose="02020603050405020304" pitchFamily="18" charset="0"/>
                              </a:rPr>
                              <m:t>+1</m:t>
                            </m:r>
                            <m:r>
                              <m:rPr>
                                <m:nor/>
                              </m:rPr>
                              <a:rPr lang="en-US" altLang="zh-CN" sz="1800" b="1" dirty="0">
                                <a:latin typeface="Times New Roman" panose="02020603050405020304" pitchFamily="18" charset="0"/>
                                <a:cs typeface="Times New Roman" panose="02020603050405020304" pitchFamily="18" charset="0"/>
                              </a:rPr>
                              <m:t>(</m:t>
                            </m:r>
                            <m:r>
                              <m:rPr>
                                <m:nor/>
                              </m:rPr>
                              <a:rPr lang="en-US" altLang="zh-CN" sz="1800" b="1" i="1" dirty="0">
                                <a:latin typeface="Times New Roman" panose="02020603050405020304" pitchFamily="18" charset="0"/>
                                <a:cs typeface="Times New Roman" panose="02020603050405020304" pitchFamily="18" charset="0"/>
                              </a:rPr>
                              <m:t>s</m:t>
                            </m:r>
                            <m:r>
                              <m:rPr>
                                <m:nor/>
                              </m:rPr>
                              <a:rPr lang="en-US" altLang="zh-CN" sz="1800" b="1" i="0" baseline="-25000" dirty="0" smtClean="0">
                                <a:latin typeface="Times New Roman" panose="02020603050405020304" pitchFamily="18" charset="0"/>
                                <a:cs typeface="Times New Roman" panose="02020603050405020304" pitchFamily="18" charset="0"/>
                              </a:rPr>
                              <m:t>k</m:t>
                            </m:r>
                            <m:r>
                              <m:rPr>
                                <m:nor/>
                              </m:rPr>
                              <a:rPr lang="en-US" altLang="zh-CN" sz="1800" b="1" dirty="0">
                                <a:latin typeface="Times New Roman" panose="02020603050405020304" pitchFamily="18" charset="0"/>
                                <a:cs typeface="Times New Roman" panose="02020603050405020304" pitchFamily="18" charset="0"/>
                              </a:rPr>
                              <m:t>)</m:t>
                            </m:r>
                            <m:r>
                              <a:rPr lang="en-US" altLang="zh-CN" sz="1800" b="1" i="1" dirty="0">
                                <a:latin typeface="Cambria Math" panose="02040503050406030204" pitchFamily="18" charset="0"/>
                                <a:cs typeface="Times New Roman" panose="02020603050405020304" pitchFamily="18" charset="0"/>
                              </a:rPr>
                              <m:t>=</m:t>
                            </m:r>
                            <m:r>
                              <a:rPr lang="en-US" altLang="zh-CN" sz="1800" b="1" i="1" dirty="0">
                                <a:latin typeface="Cambria Math" panose="02040503050406030204" pitchFamily="18" charset="0"/>
                                <a:cs typeface="Times New Roman" panose="02020603050405020304" pitchFamily="18" charset="0"/>
                              </a:rPr>
                              <m:t>𝟎</m:t>
                            </m:r>
                            <m:r>
                              <a:rPr lang="en-US" altLang="zh-CN" sz="1800" b="1" i="1" dirty="0">
                                <a:latin typeface="Cambria Math" panose="02040503050406030204" pitchFamily="18" charset="0"/>
                                <a:cs typeface="Times New Roman" panose="02020603050405020304" pitchFamily="18" charset="0"/>
                              </a:rPr>
                              <m:t>                                        </m:t>
                            </m:r>
                            <m:r>
                              <a:rPr lang="en-US" altLang="zh-CN" sz="1800" b="1" i="1" dirty="0" smtClean="0">
                                <a:latin typeface="Cambria Math" panose="02040503050406030204" pitchFamily="18" charset="0"/>
                                <a:cs typeface="Times New Roman" panose="02020603050405020304" pitchFamily="18" charset="0"/>
                              </a:rPr>
                              <m:t>                                                </m:t>
                            </m:r>
                            <m:r>
                              <a:rPr lang="en-US" altLang="zh-CN" sz="1800" b="1" i="1" dirty="0">
                                <a:latin typeface="Cambria Math" panose="02040503050406030204" pitchFamily="18" charset="0"/>
                                <a:cs typeface="Times New Roman" panose="02020603050405020304" pitchFamily="18" charset="0"/>
                              </a:rPr>
                              <m:t> </m:t>
                            </m:r>
                          </m:e>
                        </m:eqArr>
                      </m:e>
                    </m:d>
                  </m:oMath>
                </a14:m>
                <a:endParaRPr lang="zh-CN" altLang="en-US" sz="1800" b="1" dirty="0">
                  <a:latin typeface="Times New Roman" panose="02020603050405020304" pitchFamily="18" charset="0"/>
                  <a:cs typeface="Times New Roman" panose="02020603050405020304" pitchFamily="18" charset="0"/>
                </a:endParaRPr>
              </a:p>
            </p:txBody>
          </p:sp>
        </mc:Choice>
        <mc:Fallback xmlns="">
          <p:sp>
            <p:nvSpPr>
              <p:cNvPr id="5" name="Rectangle 36"/>
              <p:cNvSpPr>
                <a:spLocks noRot="1" noChangeAspect="1" noMove="1" noResize="1" noEditPoints="1" noAdjustHandles="1" noChangeArrowheads="1" noChangeShapeType="1" noTextEdit="1"/>
              </p:cNvSpPr>
              <p:nvPr/>
            </p:nvSpPr>
            <p:spPr bwMode="auto">
              <a:xfrm>
                <a:off x="518353" y="2809200"/>
                <a:ext cx="8640960" cy="3738716"/>
              </a:xfrm>
              <a:prstGeom prst="rect">
                <a:avLst/>
              </a:prstGeom>
              <a:blipFill>
                <a:blip r:embed="rId3"/>
                <a:stretch>
                  <a:fillRect t="-81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109676292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6" name="Rectangle 2"/>
          <p:cNvSpPr>
            <a:spLocks noGrp="1" noChangeArrowheads="1"/>
          </p:cNvSpPr>
          <p:nvPr>
            <p:ph type="title"/>
          </p:nvPr>
        </p:nvSpPr>
        <p:spPr/>
        <p:txBody>
          <a:bodyPr/>
          <a:lstStyle/>
          <a:p>
            <a:r>
              <a:rPr lang="en-US" altLang="zh-CN" dirty="0" smtClean="0"/>
              <a:t>8.4.5</a:t>
            </a:r>
            <a:r>
              <a:rPr lang="zh-CN" altLang="en-US" dirty="0" smtClean="0"/>
              <a:t>  </a:t>
            </a:r>
            <a:r>
              <a:rPr lang="zh-CN" altLang="en-US" dirty="0"/>
              <a:t>设备更新问题</a:t>
            </a:r>
          </a:p>
        </p:txBody>
      </p:sp>
      <p:sp>
        <p:nvSpPr>
          <p:cNvPr id="2" name="内容占位符 1"/>
          <p:cNvSpPr>
            <a:spLocks noGrp="1"/>
          </p:cNvSpPr>
          <p:nvPr>
            <p:ph idx="1"/>
          </p:nvPr>
        </p:nvSpPr>
        <p:spPr>
          <a:xfrm>
            <a:off x="539552" y="1337268"/>
            <a:ext cx="8504984" cy="830997"/>
          </a:xfrm>
        </p:spPr>
        <p:txBody>
          <a:bodyPr/>
          <a:lstStyle/>
          <a:p>
            <a:r>
              <a:rPr lang="zh-CN" altLang="en-US" dirty="0" smtClean="0">
                <a:cs typeface="Times New Roman" panose="02020603050405020304" pitchFamily="18" charset="0"/>
              </a:rPr>
              <a:t>例</a:t>
            </a:r>
            <a:r>
              <a:rPr lang="en-US" altLang="zh-CN" dirty="0" smtClean="0">
                <a:cs typeface="Times New Roman" panose="02020603050405020304" pitchFamily="18" charset="0"/>
              </a:rPr>
              <a:t>8-8:</a:t>
            </a:r>
            <a:r>
              <a:rPr lang="zh-CN" altLang="en-US" dirty="0" smtClean="0">
                <a:cs typeface="Times New Roman" panose="02020603050405020304" pitchFamily="18" charset="0"/>
              </a:rPr>
              <a:t>假设</a:t>
            </a:r>
            <a:r>
              <a:rPr lang="en-US" altLang="zh-CN" i="1" dirty="0" smtClean="0">
                <a:latin typeface="Times New Roman" panose="02020603050405020304" pitchFamily="18" charset="0"/>
                <a:cs typeface="Times New Roman" panose="02020603050405020304" pitchFamily="18" charset="0"/>
              </a:rPr>
              <a:t>n</a:t>
            </a:r>
            <a:r>
              <a:rPr lang="en-US" altLang="zh-CN" dirty="0" smtClean="0">
                <a:latin typeface="Times New Roman" panose="02020603050405020304" pitchFamily="18" charset="0"/>
                <a:cs typeface="Times New Roman" panose="02020603050405020304" pitchFamily="18" charset="0"/>
              </a:rPr>
              <a:t>=5,</a:t>
            </a:r>
            <a:r>
              <a:rPr lang="en-US" altLang="zh-CN" i="1" dirty="0" smtClean="0">
                <a:latin typeface="Times New Roman" panose="02020603050405020304" pitchFamily="18" charset="0"/>
                <a:cs typeface="Times New Roman" panose="02020603050405020304" pitchFamily="18" charset="0"/>
              </a:rPr>
              <a:t>a</a:t>
            </a:r>
            <a:r>
              <a:rPr lang="en-US" altLang="zh-CN" dirty="0" smtClean="0">
                <a:latin typeface="Times New Roman" panose="02020603050405020304" pitchFamily="18" charset="0"/>
                <a:cs typeface="Times New Roman" panose="02020603050405020304" pitchFamily="18" charset="0"/>
              </a:rPr>
              <a:t>=1,</a:t>
            </a:r>
            <a:r>
              <a:rPr lang="en-US" altLang="zh-CN" i="1" dirty="0" smtClean="0">
                <a:latin typeface="Times New Roman" panose="02020603050405020304" pitchFamily="18" charset="0"/>
                <a:cs typeface="Times New Roman" panose="02020603050405020304" pitchFamily="18" charset="0"/>
              </a:rPr>
              <a:t>T</a:t>
            </a:r>
            <a:r>
              <a:rPr lang="en-US" altLang="zh-CN" dirty="0" smtClean="0">
                <a:latin typeface="Times New Roman" panose="02020603050405020304" pitchFamily="18" charset="0"/>
                <a:cs typeface="Times New Roman" panose="02020603050405020304" pitchFamily="18" charset="0"/>
              </a:rPr>
              <a:t>=1,</a:t>
            </a:r>
            <a:r>
              <a:rPr lang="zh-CN" altLang="en-US" dirty="0" smtClean="0">
                <a:cs typeface="Times New Roman" panose="02020603050405020304" pitchFamily="18" charset="0"/>
              </a:rPr>
              <a:t>有关</a:t>
            </a:r>
            <a:r>
              <a:rPr lang="zh-CN" altLang="en-US" dirty="0">
                <a:cs typeface="Times New Roman" panose="02020603050405020304" pitchFamily="18" charset="0"/>
              </a:rPr>
              <a:t>数据如</a:t>
            </a:r>
            <a:r>
              <a:rPr lang="zh-CN" altLang="en-US" dirty="0" smtClean="0">
                <a:cs typeface="Times New Roman" panose="02020603050405020304" pitchFamily="18" charset="0"/>
              </a:rPr>
              <a:t>表</a:t>
            </a:r>
            <a:r>
              <a:rPr lang="en-US" altLang="zh-CN" dirty="0" smtClean="0">
                <a:cs typeface="Times New Roman" panose="02020603050405020304" pitchFamily="18" charset="0"/>
              </a:rPr>
              <a:t>8-11</a:t>
            </a:r>
            <a:r>
              <a:rPr lang="zh-CN" altLang="en-US" dirty="0">
                <a:cs typeface="Times New Roman" panose="02020603050405020304" pitchFamily="18" charset="0"/>
              </a:rPr>
              <a:t>所示。试制定</a:t>
            </a:r>
            <a:r>
              <a:rPr lang="en-US" altLang="zh-CN" dirty="0">
                <a:cs typeface="Times New Roman" panose="02020603050405020304" pitchFamily="18" charset="0"/>
              </a:rPr>
              <a:t>5</a:t>
            </a:r>
            <a:r>
              <a:rPr lang="zh-CN" altLang="en-US" dirty="0">
                <a:cs typeface="Times New Roman" panose="02020603050405020304" pitchFamily="18" charset="0"/>
              </a:rPr>
              <a:t>年中的设备更新策略，使在</a:t>
            </a:r>
            <a:r>
              <a:rPr lang="en-US" altLang="zh-CN" dirty="0">
                <a:cs typeface="Times New Roman" panose="02020603050405020304" pitchFamily="18" charset="0"/>
              </a:rPr>
              <a:t>5</a:t>
            </a:r>
            <a:r>
              <a:rPr lang="zh-CN" altLang="en-US" dirty="0">
                <a:cs typeface="Times New Roman" panose="02020603050405020304" pitchFamily="18" charset="0"/>
              </a:rPr>
              <a:t>年内的总收入达到最大</a:t>
            </a:r>
            <a:r>
              <a:rPr lang="zh-CN" altLang="en-US" dirty="0" smtClean="0">
                <a:cs typeface="Times New Roman" panose="02020603050405020304" pitchFamily="18" charset="0"/>
              </a:rPr>
              <a:t>。</a:t>
            </a:r>
            <a:endParaRPr lang="zh-CN" altLang="en-US" dirty="0"/>
          </a:p>
        </p:txBody>
      </p:sp>
      <p:sp>
        <p:nvSpPr>
          <p:cNvPr id="14643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B63D95E1-19F5-4701-9088-8180957AB165}" type="slidenum">
              <a:rPr lang="en-US" altLang="zh-CN" sz="1000"/>
              <a:pPr/>
              <a:t>72</a:t>
            </a:fld>
            <a:endParaRPr lang="en-US" altLang="zh-CN" sz="1000"/>
          </a:p>
        </p:txBody>
      </p:sp>
      <p:sp>
        <p:nvSpPr>
          <p:cNvPr id="14643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6441" name="Rectangle 13"/>
          <p:cNvSpPr>
            <a:spLocks noChangeArrowheads="1"/>
          </p:cNvSpPr>
          <p:nvPr/>
        </p:nvSpPr>
        <p:spPr bwMode="auto">
          <a:xfrm>
            <a:off x="611188" y="1633538"/>
            <a:ext cx="11525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371370" name="Group 682"/>
          <p:cNvGraphicFramePr>
            <a:graphicFrameLocks noGrp="1"/>
          </p:cNvGraphicFramePr>
          <p:nvPr>
            <p:extLst>
              <p:ext uri="{D42A27DB-BD31-4B8C-83A1-F6EECF244321}">
                <p14:modId xmlns:p14="http://schemas.microsoft.com/office/powerpoint/2010/main" val="3541438592"/>
              </p:ext>
            </p:extLst>
          </p:nvPr>
        </p:nvGraphicFramePr>
        <p:xfrm>
          <a:off x="152059" y="2524785"/>
          <a:ext cx="8892477" cy="1463040"/>
        </p:xfrm>
        <a:graphic>
          <a:graphicData uri="http://schemas.openxmlformats.org/drawingml/2006/table">
            <a:tbl>
              <a:tblPr/>
              <a:tblGrid>
                <a:gridCol w="889276">
                  <a:extLst>
                    <a:ext uri="{9D8B030D-6E8A-4147-A177-3AD203B41FA5}">
                      <a16:colId xmlns:a16="http://schemas.microsoft.com/office/drawing/2014/main" val="20000"/>
                    </a:ext>
                  </a:extLst>
                </a:gridCol>
                <a:gridCol w="427095">
                  <a:extLst>
                    <a:ext uri="{9D8B030D-6E8A-4147-A177-3AD203B41FA5}">
                      <a16:colId xmlns:a16="http://schemas.microsoft.com/office/drawing/2014/main" val="20001"/>
                    </a:ext>
                  </a:extLst>
                </a:gridCol>
                <a:gridCol w="427095">
                  <a:extLst>
                    <a:ext uri="{9D8B030D-6E8A-4147-A177-3AD203B41FA5}">
                      <a16:colId xmlns:a16="http://schemas.microsoft.com/office/drawing/2014/main" val="20002"/>
                    </a:ext>
                  </a:extLst>
                </a:gridCol>
                <a:gridCol w="427095">
                  <a:extLst>
                    <a:ext uri="{9D8B030D-6E8A-4147-A177-3AD203B41FA5}">
                      <a16:colId xmlns:a16="http://schemas.microsoft.com/office/drawing/2014/main" val="20003"/>
                    </a:ext>
                  </a:extLst>
                </a:gridCol>
                <a:gridCol w="427095">
                  <a:extLst>
                    <a:ext uri="{9D8B030D-6E8A-4147-A177-3AD203B41FA5}">
                      <a16:colId xmlns:a16="http://schemas.microsoft.com/office/drawing/2014/main" val="20004"/>
                    </a:ext>
                  </a:extLst>
                </a:gridCol>
                <a:gridCol w="355912">
                  <a:extLst>
                    <a:ext uri="{9D8B030D-6E8A-4147-A177-3AD203B41FA5}">
                      <a16:colId xmlns:a16="http://schemas.microsoft.com/office/drawing/2014/main" val="20005"/>
                    </a:ext>
                  </a:extLst>
                </a:gridCol>
                <a:gridCol w="427095">
                  <a:extLst>
                    <a:ext uri="{9D8B030D-6E8A-4147-A177-3AD203B41FA5}">
                      <a16:colId xmlns:a16="http://schemas.microsoft.com/office/drawing/2014/main" val="20006"/>
                    </a:ext>
                  </a:extLst>
                </a:gridCol>
                <a:gridCol w="355912">
                  <a:extLst>
                    <a:ext uri="{9D8B030D-6E8A-4147-A177-3AD203B41FA5}">
                      <a16:colId xmlns:a16="http://schemas.microsoft.com/office/drawing/2014/main" val="20007"/>
                    </a:ext>
                  </a:extLst>
                </a:gridCol>
                <a:gridCol w="355912">
                  <a:extLst>
                    <a:ext uri="{9D8B030D-6E8A-4147-A177-3AD203B41FA5}">
                      <a16:colId xmlns:a16="http://schemas.microsoft.com/office/drawing/2014/main" val="20008"/>
                    </a:ext>
                  </a:extLst>
                </a:gridCol>
                <a:gridCol w="355912">
                  <a:extLst>
                    <a:ext uri="{9D8B030D-6E8A-4147-A177-3AD203B41FA5}">
                      <a16:colId xmlns:a16="http://schemas.microsoft.com/office/drawing/2014/main" val="20009"/>
                    </a:ext>
                  </a:extLst>
                </a:gridCol>
                <a:gridCol w="355912">
                  <a:extLst>
                    <a:ext uri="{9D8B030D-6E8A-4147-A177-3AD203B41FA5}">
                      <a16:colId xmlns:a16="http://schemas.microsoft.com/office/drawing/2014/main" val="20010"/>
                    </a:ext>
                  </a:extLst>
                </a:gridCol>
                <a:gridCol w="355912">
                  <a:extLst>
                    <a:ext uri="{9D8B030D-6E8A-4147-A177-3AD203B41FA5}">
                      <a16:colId xmlns:a16="http://schemas.microsoft.com/office/drawing/2014/main" val="20011"/>
                    </a:ext>
                  </a:extLst>
                </a:gridCol>
                <a:gridCol w="355912">
                  <a:extLst>
                    <a:ext uri="{9D8B030D-6E8A-4147-A177-3AD203B41FA5}">
                      <a16:colId xmlns:a16="http://schemas.microsoft.com/office/drawing/2014/main" val="20012"/>
                    </a:ext>
                  </a:extLst>
                </a:gridCol>
                <a:gridCol w="427095">
                  <a:extLst>
                    <a:ext uri="{9D8B030D-6E8A-4147-A177-3AD203B41FA5}">
                      <a16:colId xmlns:a16="http://schemas.microsoft.com/office/drawing/2014/main" val="20013"/>
                    </a:ext>
                  </a:extLst>
                </a:gridCol>
                <a:gridCol w="355912">
                  <a:extLst>
                    <a:ext uri="{9D8B030D-6E8A-4147-A177-3AD203B41FA5}">
                      <a16:colId xmlns:a16="http://schemas.microsoft.com/office/drawing/2014/main" val="20014"/>
                    </a:ext>
                  </a:extLst>
                </a:gridCol>
                <a:gridCol w="427095">
                  <a:extLst>
                    <a:ext uri="{9D8B030D-6E8A-4147-A177-3AD203B41FA5}">
                      <a16:colId xmlns:a16="http://schemas.microsoft.com/office/drawing/2014/main" val="20015"/>
                    </a:ext>
                  </a:extLst>
                </a:gridCol>
                <a:gridCol w="427095">
                  <a:extLst>
                    <a:ext uri="{9D8B030D-6E8A-4147-A177-3AD203B41FA5}">
                      <a16:colId xmlns:a16="http://schemas.microsoft.com/office/drawing/2014/main" val="20016"/>
                    </a:ext>
                  </a:extLst>
                </a:gridCol>
                <a:gridCol w="427095">
                  <a:extLst>
                    <a:ext uri="{9D8B030D-6E8A-4147-A177-3AD203B41FA5}">
                      <a16:colId xmlns:a16="http://schemas.microsoft.com/office/drawing/2014/main" val="20017"/>
                    </a:ext>
                  </a:extLst>
                </a:gridCol>
                <a:gridCol w="427095">
                  <a:extLst>
                    <a:ext uri="{9D8B030D-6E8A-4147-A177-3AD203B41FA5}">
                      <a16:colId xmlns:a16="http://schemas.microsoft.com/office/drawing/2014/main" val="20018"/>
                    </a:ext>
                  </a:extLst>
                </a:gridCol>
                <a:gridCol w="427095">
                  <a:extLst>
                    <a:ext uri="{9D8B030D-6E8A-4147-A177-3AD203B41FA5}">
                      <a16:colId xmlns:a16="http://schemas.microsoft.com/office/drawing/2014/main" val="20019"/>
                    </a:ext>
                  </a:extLst>
                </a:gridCol>
                <a:gridCol w="457860">
                  <a:extLst>
                    <a:ext uri="{9D8B030D-6E8A-4147-A177-3AD203B41FA5}">
                      <a16:colId xmlns:a16="http://schemas.microsoft.com/office/drawing/2014/main" val="20020"/>
                    </a:ext>
                  </a:extLst>
                </a:gridCol>
              </a:tblGrid>
              <a:tr h="177391">
                <a:tc rowSpan="2">
                  <a:txBody>
                    <a:bodyPr/>
                    <a:lstStyle>
                      <a:lvl1pPr indent="133350">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产品年序</a:t>
                      </a:r>
                      <a:endParaRPr kumimoji="0" lang="en-US" altLang="zh-CN"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13335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役龄</a:t>
                      </a:r>
                      <a:endParaRPr kumimoji="0" lang="en-US" altLang="zh-CN"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13335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项目</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第一年</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第二年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第三年</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第四年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五</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期前</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44033">
                <a:tc vMerge="1">
                  <a:txBody>
                    <a:bodyPr/>
                    <a:lstStyle/>
                    <a:p>
                      <a:endParaRPr lang="zh-CN" altLang="en-US"/>
                    </a:p>
                  </a:txBody>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收入</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21</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27</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运行费用</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更新费用</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27</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37</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46566" name="Rectangle 653"/>
          <p:cNvSpPr>
            <a:spLocks noChangeArrowheads="1"/>
          </p:cNvSpPr>
          <p:nvPr/>
        </p:nvSpPr>
        <p:spPr bwMode="auto">
          <a:xfrm>
            <a:off x="3652148" y="2134654"/>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47675" indent="-447675">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None/>
            </a:pPr>
            <a:r>
              <a:rPr lang="zh-CN" altLang="en-US" dirty="0" smtClean="0"/>
              <a:t>表</a:t>
            </a:r>
            <a:r>
              <a:rPr lang="en-US" altLang="zh-CN" dirty="0" smtClean="0"/>
              <a:t>8-11</a:t>
            </a:r>
            <a:endParaRPr lang="en-US" altLang="zh-CN" dirty="0"/>
          </a:p>
        </p:txBody>
      </p:sp>
      <p:sp>
        <p:nvSpPr>
          <p:cNvPr id="12" name="Rectangle 157"/>
          <p:cNvSpPr>
            <a:spLocks noChangeArrowheads="1"/>
          </p:cNvSpPr>
          <p:nvPr/>
        </p:nvSpPr>
        <p:spPr bwMode="auto">
          <a:xfrm>
            <a:off x="152059" y="4293096"/>
            <a:ext cx="8892477"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nSpc>
                <a:spcPct val="110000"/>
              </a:lnSpc>
            </a:pPr>
            <a:r>
              <a:rPr lang="zh-CN" altLang="en-US" b="1" dirty="0">
                <a:latin typeface="Times New Roman" panose="02020603050405020304" pitchFamily="18" charset="0"/>
                <a:cs typeface="Times New Roman" panose="02020603050405020304" pitchFamily="18" charset="0"/>
              </a:rPr>
              <a:t>解：因</a:t>
            </a:r>
            <a:r>
              <a:rPr lang="zh-CN" altLang="en-US" b="1" dirty="0" smtClean="0">
                <a:latin typeface="Times New Roman" panose="02020603050405020304" pitchFamily="18" charset="0"/>
                <a:cs typeface="Times New Roman" panose="02020603050405020304" pitchFamily="18" charset="0"/>
              </a:rPr>
              <a:t>第</a:t>
            </a:r>
            <a:r>
              <a:rPr lang="en-US" altLang="zh-CN" b="1" i="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年开始</a:t>
            </a:r>
            <a:r>
              <a:rPr lang="zh-CN" altLang="en-US" b="1" dirty="0">
                <a:latin typeface="Times New Roman" panose="02020603050405020304" pitchFamily="18" charset="0"/>
                <a:cs typeface="Times New Roman" panose="02020603050405020304" pitchFamily="18" charset="0"/>
              </a:rPr>
              <a:t>役龄</a:t>
            </a:r>
            <a:r>
              <a:rPr lang="zh-CN" altLang="en-US" b="1" dirty="0" smtClean="0">
                <a:latin typeface="Times New Roman" panose="02020603050405020304" pitchFamily="18" charset="0"/>
                <a:cs typeface="Times New Roman" panose="02020603050405020304" pitchFamily="18" charset="0"/>
              </a:rPr>
              <a:t>为</a:t>
            </a:r>
            <a:r>
              <a:rPr lang="en-US" altLang="zh-CN" b="1" i="1" dirty="0">
                <a:latin typeface="Times New Roman" panose="02020603050405020304" pitchFamily="18" charset="0"/>
                <a:cs typeface="Times New Roman" panose="02020603050405020304" pitchFamily="18" charset="0"/>
              </a:rPr>
              <a:t>t</a:t>
            </a:r>
            <a:r>
              <a:rPr lang="zh-CN" altLang="en-US" b="1" dirty="0">
                <a:latin typeface="Times New Roman" panose="02020603050405020304" pitchFamily="18" charset="0"/>
                <a:cs typeface="Times New Roman" panose="02020603050405020304" pitchFamily="18" charset="0"/>
              </a:rPr>
              <a:t>年的机器，</a:t>
            </a:r>
            <a:r>
              <a:rPr lang="zh-CN" altLang="en-US" b="1" dirty="0" smtClean="0">
                <a:latin typeface="Times New Roman" panose="02020603050405020304" pitchFamily="18" charset="0"/>
                <a:cs typeface="Times New Roman" panose="02020603050405020304" pitchFamily="18" charset="0"/>
              </a:rPr>
              <a:t>其产品年</a:t>
            </a:r>
            <a:r>
              <a:rPr lang="zh-CN" altLang="en-US" b="1" dirty="0">
                <a:latin typeface="Times New Roman" panose="02020603050405020304" pitchFamily="18" charset="0"/>
                <a:cs typeface="Times New Roman" panose="02020603050405020304" pitchFamily="18" charset="0"/>
              </a:rPr>
              <a:t>序应</a:t>
            </a:r>
            <a:r>
              <a:rPr lang="zh-CN" altLang="en-US" b="1" dirty="0" smtClean="0">
                <a:latin typeface="Times New Roman" panose="02020603050405020304" pitchFamily="18" charset="0"/>
                <a:cs typeface="Times New Roman" panose="02020603050405020304" pitchFamily="18" charset="0"/>
              </a:rPr>
              <a:t>为</a:t>
            </a:r>
            <a:r>
              <a:rPr lang="en-US" altLang="zh-CN" b="1" i="1" dirty="0" smtClean="0">
                <a:latin typeface="Times New Roman" panose="02020603050405020304" pitchFamily="18" charset="0"/>
                <a:cs typeface="Times New Roman" panose="02020603050405020304" pitchFamily="18" charset="0"/>
              </a:rPr>
              <a:t>k </a:t>
            </a:r>
            <a:r>
              <a:rPr lang="en-US" altLang="zh-CN" b="1" dirty="0" smtClean="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t</a:t>
            </a:r>
            <a:r>
              <a:rPr lang="zh-CN" altLang="en-US" b="1" dirty="0" smtClean="0">
                <a:latin typeface="Times New Roman" panose="02020603050405020304" pitchFamily="18" charset="0"/>
                <a:cs typeface="Times New Roman" panose="02020603050405020304" pitchFamily="18" charset="0"/>
              </a:rPr>
              <a:t>年。因此：</a:t>
            </a:r>
            <a:endParaRPr lang="en-US" altLang="zh-CN" b="1" dirty="0" smtClean="0">
              <a:latin typeface="Times New Roman" panose="02020603050405020304" pitchFamily="18" charset="0"/>
              <a:cs typeface="Times New Roman" panose="02020603050405020304" pitchFamily="18" charset="0"/>
            </a:endParaRPr>
          </a:p>
          <a:p>
            <a:pPr>
              <a:lnSpc>
                <a:spcPct val="110000"/>
              </a:lnSpc>
            </a:pPr>
            <a:r>
              <a:rPr lang="en-US" altLang="zh-CN" b="1" i="1" dirty="0" smtClean="0">
                <a:latin typeface="Times New Roman" panose="02020603050405020304" pitchFamily="18" charset="0"/>
                <a:cs typeface="Times New Roman" panose="02020603050405020304" pitchFamily="18" charset="0"/>
              </a:rPr>
              <a:t>I</a:t>
            </a:r>
            <a:r>
              <a:rPr lang="en-US" altLang="zh-CN" b="1" baseline="-25000" dirty="0" smtClean="0">
                <a:latin typeface="Times New Roman" panose="02020603050405020304" pitchFamily="18" charset="0"/>
                <a:cs typeface="Times New Roman" panose="02020603050405020304" pitchFamily="18" charset="0"/>
              </a:rPr>
              <a:t>5</a:t>
            </a:r>
            <a:r>
              <a:rPr lang="en-US" altLang="zh-CN" b="1" dirty="0" smtClean="0">
                <a:latin typeface="Times New Roman" panose="02020603050405020304" pitchFamily="18" charset="0"/>
                <a:cs typeface="Times New Roman" panose="02020603050405020304" pitchFamily="18" charset="0"/>
              </a:rPr>
              <a:t>(0</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为第五年新产品的收入，</a:t>
            </a:r>
            <a:r>
              <a:rPr lang="zh-CN" altLang="en-US" b="1" dirty="0" smtClean="0">
                <a:latin typeface="Times New Roman" panose="02020603050405020304" pitchFamily="18" charset="0"/>
                <a:cs typeface="Times New Roman" panose="02020603050405020304" pitchFamily="18" charset="0"/>
              </a:rPr>
              <a:t>故</a:t>
            </a:r>
            <a:r>
              <a:rPr lang="en-US" altLang="zh-CN" b="1" i="1" dirty="0">
                <a:latin typeface="Times New Roman" panose="02020603050405020304" pitchFamily="18" charset="0"/>
                <a:cs typeface="Times New Roman" panose="02020603050405020304" pitchFamily="18" charset="0"/>
              </a:rPr>
              <a:t>I</a:t>
            </a:r>
            <a:r>
              <a:rPr lang="en-US" altLang="zh-CN" b="1" baseline="-25000" dirty="0" smtClean="0">
                <a:latin typeface="Times New Roman" panose="02020603050405020304" pitchFamily="18" charset="0"/>
                <a:cs typeface="Times New Roman" panose="02020603050405020304" pitchFamily="18" charset="0"/>
              </a:rPr>
              <a:t>5</a:t>
            </a:r>
            <a:r>
              <a:rPr lang="en-US" altLang="zh-CN" b="1" dirty="0" smtClean="0">
                <a:latin typeface="Times New Roman" panose="02020603050405020304" pitchFamily="18" charset="0"/>
                <a:cs typeface="Times New Roman" panose="02020603050405020304" pitchFamily="18" charset="0"/>
              </a:rPr>
              <a:t>(0</a:t>
            </a:r>
            <a:r>
              <a:rPr lang="en-US" altLang="zh-CN" b="1" dirty="0">
                <a:latin typeface="Times New Roman" panose="02020603050405020304" pitchFamily="18" charset="0"/>
                <a:cs typeface="Times New Roman" panose="02020603050405020304" pitchFamily="18" charset="0"/>
              </a:rPr>
              <a:t>)=32</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pPr>
              <a:lnSpc>
                <a:spcPct val="110000"/>
              </a:lnSpc>
            </a:pPr>
            <a:r>
              <a:rPr lang="en-US" altLang="zh-CN" b="1" i="1" dirty="0" smtClean="0">
                <a:latin typeface="Times New Roman" panose="02020603050405020304" pitchFamily="18" charset="0"/>
                <a:cs typeface="Times New Roman" panose="02020603050405020304" pitchFamily="18" charset="0"/>
              </a:rPr>
              <a:t>I</a:t>
            </a:r>
            <a:r>
              <a:rPr lang="en-US" altLang="zh-CN" b="1" baseline="-25000" dirty="0" smtClean="0">
                <a:latin typeface="Times New Roman" panose="02020603050405020304" pitchFamily="18" charset="0"/>
                <a:cs typeface="Times New Roman" panose="02020603050405020304" pitchFamily="18" charset="0"/>
              </a:rPr>
              <a:t>1</a:t>
            </a:r>
            <a:r>
              <a:rPr lang="en-US" altLang="zh-CN" b="1" dirty="0" smtClean="0">
                <a:latin typeface="Times New Roman" panose="02020603050405020304" pitchFamily="18" charset="0"/>
                <a:cs typeface="Times New Roman" panose="02020603050405020304" pitchFamily="18" charset="0"/>
              </a:rPr>
              <a:t>(2</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为第一年役龄为</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年</a:t>
            </a:r>
            <a:r>
              <a:rPr lang="zh-CN" altLang="en-US" b="1" dirty="0" smtClean="0">
                <a:latin typeface="Times New Roman" panose="02020603050405020304" pitchFamily="18" charset="0"/>
                <a:cs typeface="Times New Roman" panose="02020603050405020304" pitchFamily="18" charset="0"/>
              </a:rPr>
              <a:t>的产品的收入</a:t>
            </a:r>
            <a:r>
              <a:rPr lang="zh-CN" altLang="en-US" b="1" dirty="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故</a:t>
            </a:r>
            <a:r>
              <a:rPr lang="en-US" altLang="zh-CN" b="1" i="1" dirty="0" smtClean="0">
                <a:latin typeface="Times New Roman" panose="02020603050405020304" pitchFamily="18" charset="0"/>
                <a:cs typeface="Times New Roman" panose="02020603050405020304" pitchFamily="18" charset="0"/>
              </a:rPr>
              <a:t>I</a:t>
            </a:r>
            <a:r>
              <a:rPr lang="en-US" altLang="zh-CN" b="1" baseline="-25000" dirty="0" smtClean="0">
                <a:latin typeface="Times New Roman" panose="02020603050405020304" pitchFamily="18" charset="0"/>
                <a:cs typeface="Times New Roman" panose="02020603050405020304" pitchFamily="18" charset="0"/>
              </a:rPr>
              <a:t>1</a:t>
            </a:r>
            <a:r>
              <a:rPr lang="en-US" altLang="zh-CN" b="1" dirty="0" smtClean="0">
                <a:latin typeface="Times New Roman" panose="02020603050405020304" pitchFamily="18" charset="0"/>
                <a:cs typeface="Times New Roman" panose="02020603050405020304" pitchFamily="18" charset="0"/>
              </a:rPr>
              <a:t>(2)=</a:t>
            </a:r>
            <a:r>
              <a:rPr lang="zh-CN" altLang="en-US" b="1" dirty="0" smtClean="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同理</a:t>
            </a:r>
            <a:r>
              <a:rPr lang="en-US" altLang="zh-CN" b="1" i="1" dirty="0">
                <a:latin typeface="Times New Roman" panose="02020603050405020304" pitchFamily="18" charset="0"/>
                <a:cs typeface="Times New Roman" panose="02020603050405020304" pitchFamily="18" charset="0"/>
              </a:rPr>
              <a:t>O</a:t>
            </a:r>
            <a:r>
              <a:rPr lang="en-US" altLang="zh-CN" b="1" baseline="-25000" dirty="0">
                <a:latin typeface="Times New Roman" panose="02020603050405020304" pitchFamily="18" charset="0"/>
                <a:cs typeface="Times New Roman" panose="02020603050405020304" pitchFamily="18" charset="0"/>
              </a:rPr>
              <a:t>5</a:t>
            </a:r>
            <a:r>
              <a:rPr lang="en-US" altLang="zh-CN" b="1" dirty="0">
                <a:latin typeface="Times New Roman" panose="02020603050405020304" pitchFamily="18" charset="0"/>
                <a:cs typeface="Times New Roman" panose="02020603050405020304" pitchFamily="18" charset="0"/>
              </a:rPr>
              <a:t>(0</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O</a:t>
            </a:r>
            <a:r>
              <a:rPr lang="en-US" altLang="zh-CN" b="1" baseline="-25000" dirty="0" smtClean="0">
                <a:latin typeface="Times New Roman" panose="02020603050405020304" pitchFamily="18" charset="0"/>
                <a:cs typeface="Times New Roman" panose="02020603050405020304" pitchFamily="18" charset="0"/>
              </a:rPr>
              <a:t>1</a:t>
            </a:r>
            <a:r>
              <a:rPr lang="en-US" altLang="zh-CN" b="1" dirty="0" smtClean="0">
                <a:latin typeface="Times New Roman" panose="02020603050405020304" pitchFamily="18" charset="0"/>
                <a:cs typeface="Times New Roman" panose="02020603050405020304" pitchFamily="18" charset="0"/>
              </a:rPr>
              <a:t>(2)=</a:t>
            </a:r>
            <a:r>
              <a:rPr lang="zh-CN" altLang="en-US"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C</a:t>
            </a:r>
            <a:r>
              <a:rPr lang="en-US" altLang="zh-CN" b="1" baseline="-25000" dirty="0" smtClean="0">
                <a:latin typeface="Times New Roman" panose="02020603050405020304" pitchFamily="18" charset="0"/>
                <a:cs typeface="Times New Roman" panose="02020603050405020304" pitchFamily="18" charset="0"/>
              </a:rPr>
              <a:t>5</a:t>
            </a:r>
            <a:r>
              <a:rPr lang="en-US" altLang="zh-CN" b="1" dirty="0" smtClean="0">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是第</a:t>
            </a:r>
            <a:r>
              <a:rPr lang="en-US" altLang="zh-CN" b="1" dirty="0">
                <a:latin typeface="Times New Roman" panose="02020603050405020304" pitchFamily="18" charset="0"/>
                <a:cs typeface="Times New Roman" panose="02020603050405020304" pitchFamily="18" charset="0"/>
              </a:rPr>
              <a:t>5</a:t>
            </a:r>
            <a:r>
              <a:rPr lang="zh-CN" altLang="en-US" b="1" dirty="0">
                <a:latin typeface="Times New Roman" panose="02020603050405020304" pitchFamily="18" charset="0"/>
                <a:cs typeface="Times New Roman" panose="02020603050405020304" pitchFamily="18" charset="0"/>
              </a:rPr>
              <a:t>年机龄为</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年的机器</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应为第四年的产品</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的更新费用，</a:t>
            </a:r>
            <a:r>
              <a:rPr lang="zh-CN" altLang="en-US" b="1" dirty="0" smtClean="0">
                <a:latin typeface="Times New Roman" panose="02020603050405020304" pitchFamily="18" charset="0"/>
                <a:cs typeface="Times New Roman" panose="02020603050405020304" pitchFamily="18" charset="0"/>
              </a:rPr>
              <a:t>故</a:t>
            </a:r>
            <a:r>
              <a:rPr lang="en-US" altLang="zh-CN" b="1" i="1" dirty="0">
                <a:latin typeface="Times New Roman" panose="02020603050405020304" pitchFamily="18" charset="0"/>
                <a:cs typeface="Times New Roman" panose="02020603050405020304" pitchFamily="18" charset="0"/>
              </a:rPr>
              <a:t>C</a:t>
            </a:r>
            <a:r>
              <a:rPr lang="en-US" altLang="zh-CN" b="1" baseline="-25000" dirty="0" smtClean="0">
                <a:latin typeface="Times New Roman" panose="02020603050405020304" pitchFamily="18" charset="0"/>
                <a:cs typeface="Times New Roman" panose="02020603050405020304" pitchFamily="18" charset="0"/>
              </a:rPr>
              <a:t>5</a:t>
            </a:r>
            <a:r>
              <a:rPr lang="en-US" altLang="zh-CN" b="1" dirty="0" smtClean="0">
                <a:latin typeface="Times New Roman" panose="02020603050405020304" pitchFamily="18" charset="0"/>
                <a:cs typeface="Times New Roman" panose="02020603050405020304" pitchFamily="18" charset="0"/>
              </a:rPr>
              <a:t>(1)=</a:t>
            </a:r>
            <a:r>
              <a:rPr lang="zh-CN" altLang="en-US" b="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同理</a:t>
            </a:r>
            <a:r>
              <a:rPr lang="en-US" altLang="zh-CN" b="1" i="1" dirty="0">
                <a:latin typeface="Times New Roman" panose="02020603050405020304" pitchFamily="18" charset="0"/>
                <a:cs typeface="Times New Roman" panose="02020603050405020304" pitchFamily="18" charset="0"/>
              </a:rPr>
              <a:t>C</a:t>
            </a:r>
            <a:r>
              <a:rPr lang="en-US" altLang="zh-CN" b="1" baseline="-25000" dirty="0" smtClean="0">
                <a:latin typeface="Times New Roman" panose="02020603050405020304" pitchFamily="18" charset="0"/>
                <a:cs typeface="Times New Roman" panose="02020603050405020304" pitchFamily="18" charset="0"/>
              </a:rPr>
              <a:t>5</a:t>
            </a:r>
            <a:r>
              <a:rPr lang="en-US" altLang="zh-CN" b="1" dirty="0" smtClean="0">
                <a:latin typeface="Times New Roman" panose="02020603050405020304" pitchFamily="18" charset="0"/>
                <a:cs typeface="Times New Roman" panose="02020603050405020304" pitchFamily="18" charset="0"/>
              </a:rPr>
              <a:t>(2)=</a:t>
            </a:r>
            <a:r>
              <a:rPr lang="zh-CN" altLang="en-US" b="1" dirty="0" smtClean="0">
                <a:latin typeface="Times New Roman" panose="02020603050405020304" pitchFamily="18" charset="0"/>
                <a:cs typeface="Times New Roman" panose="02020603050405020304" pitchFamily="18" charset="0"/>
              </a:rPr>
              <a:t>？其余</a:t>
            </a:r>
            <a:r>
              <a:rPr lang="zh-CN" altLang="en-US" b="1" dirty="0">
                <a:latin typeface="Times New Roman" panose="02020603050405020304" pitchFamily="18" charset="0"/>
                <a:cs typeface="Times New Roman" panose="02020603050405020304" pitchFamily="18" charset="0"/>
              </a:rPr>
              <a:t>类推。 </a:t>
            </a:r>
          </a:p>
        </p:txBody>
      </p:sp>
    </p:spTree>
  </p:cSld>
  <p:clrMapOvr>
    <a:masterClrMapping/>
  </p:clrMapOvr>
  <p:transition spd="slow"/>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8B89B67F-1689-435D-B95B-A2CB74905A01}" type="slidenum">
              <a:rPr lang="en-US" altLang="zh-CN" sz="1000"/>
              <a:pPr/>
              <a:t>73</a:t>
            </a:fld>
            <a:endParaRPr lang="en-US" altLang="zh-CN" sz="1000"/>
          </a:p>
        </p:txBody>
      </p:sp>
      <p:sp>
        <p:nvSpPr>
          <p:cNvPr id="149508" name="Rectangle 2"/>
          <p:cNvSpPr>
            <a:spLocks noGrp="1" noChangeArrowheads="1"/>
          </p:cNvSpPr>
          <p:nvPr>
            <p:ph type="title"/>
          </p:nvPr>
        </p:nvSpPr>
        <p:spPr/>
        <p:txBody>
          <a:bodyPr/>
          <a:lstStyle/>
          <a:p>
            <a:r>
              <a:rPr lang="en-US" altLang="zh-CN" dirty="0" smtClean="0"/>
              <a:t>8.4.5</a:t>
            </a:r>
            <a:r>
              <a:rPr lang="zh-CN" altLang="en-US" dirty="0" smtClean="0"/>
              <a:t>  </a:t>
            </a:r>
            <a:r>
              <a:rPr lang="zh-CN" altLang="en-US" dirty="0"/>
              <a:t>设备更新问题</a:t>
            </a:r>
          </a:p>
        </p:txBody>
      </p:sp>
      <p:sp>
        <p:nvSpPr>
          <p:cNvPr id="149509"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149510" name="Object 8"/>
          <p:cNvGraphicFramePr>
            <a:graphicFrameLocks noChangeAspect="1"/>
          </p:cNvGraphicFramePr>
          <p:nvPr>
            <p:extLst>
              <p:ext uri="{D42A27DB-BD31-4B8C-83A1-F6EECF244321}">
                <p14:modId xmlns:p14="http://schemas.microsoft.com/office/powerpoint/2010/main" val="3598887506"/>
              </p:ext>
            </p:extLst>
          </p:nvPr>
        </p:nvGraphicFramePr>
        <p:xfrm>
          <a:off x="1338263" y="3724275"/>
          <a:ext cx="3833812" cy="646113"/>
        </p:xfrm>
        <a:graphic>
          <a:graphicData uri="http://schemas.openxmlformats.org/presentationml/2006/ole">
            <mc:AlternateContent xmlns:mc="http://schemas.openxmlformats.org/markup-compatibility/2006">
              <mc:Choice xmlns:v="urn:schemas-microsoft-com:vml" Requires="v">
                <p:oleObj spid="_x0000_s149811" name="Equation" r:id="rId3" imgW="2882880" imgH="482400" progId="Equation.DSMT4">
                  <p:embed/>
                </p:oleObj>
              </mc:Choice>
              <mc:Fallback>
                <p:oleObj name="Equation" r:id="rId3" imgW="2882880" imgH="482400" progId="Equation.DSMT4">
                  <p:embed/>
                  <p:pic>
                    <p:nvPicPr>
                      <p:cNvPr id="0" name="Object 8"/>
                      <p:cNvPicPr>
                        <a:picLocks noChangeAspect="1" noChangeArrowheads="1"/>
                      </p:cNvPicPr>
                      <p:nvPr/>
                    </p:nvPicPr>
                    <p:blipFill>
                      <a:blip r:embed="rId4"/>
                      <a:srcRect/>
                      <a:stretch>
                        <a:fillRect/>
                      </a:stretch>
                    </p:blipFill>
                    <p:spPr bwMode="auto">
                      <a:xfrm>
                        <a:off x="1338263" y="3724275"/>
                        <a:ext cx="38338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9511" name="Object 7"/>
          <p:cNvGraphicFramePr>
            <a:graphicFrameLocks noChangeAspect="1"/>
          </p:cNvGraphicFramePr>
          <p:nvPr>
            <p:extLst>
              <p:ext uri="{D42A27DB-BD31-4B8C-83A1-F6EECF244321}">
                <p14:modId xmlns:p14="http://schemas.microsoft.com/office/powerpoint/2010/main" val="1598864123"/>
              </p:ext>
            </p:extLst>
          </p:nvPr>
        </p:nvGraphicFramePr>
        <p:xfrm>
          <a:off x="1289050" y="4465638"/>
          <a:ext cx="5199063" cy="636587"/>
        </p:xfrm>
        <a:graphic>
          <a:graphicData uri="http://schemas.openxmlformats.org/presentationml/2006/ole">
            <mc:AlternateContent xmlns:mc="http://schemas.openxmlformats.org/markup-compatibility/2006">
              <mc:Choice xmlns:v="urn:schemas-microsoft-com:vml" Requires="v">
                <p:oleObj spid="_x0000_s149812" name="Equation" r:id="rId5" imgW="3733560" imgH="457200" progId="Equation.DSMT4">
                  <p:embed/>
                </p:oleObj>
              </mc:Choice>
              <mc:Fallback>
                <p:oleObj name="Equation" r:id="rId5" imgW="3733560" imgH="457200" progId="Equation.DSMT4">
                  <p:embed/>
                  <p:pic>
                    <p:nvPicPr>
                      <p:cNvPr id="0" name="Object 7"/>
                      <p:cNvPicPr>
                        <a:picLocks noChangeAspect="1" noChangeArrowheads="1"/>
                      </p:cNvPicPr>
                      <p:nvPr/>
                    </p:nvPicPr>
                    <p:blipFill>
                      <a:blip r:embed="rId6"/>
                      <a:srcRect/>
                      <a:stretch>
                        <a:fillRect/>
                      </a:stretch>
                    </p:blipFill>
                    <p:spPr bwMode="auto">
                      <a:xfrm>
                        <a:off x="1289050" y="4465638"/>
                        <a:ext cx="5199063"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9512" name="Object 6"/>
          <p:cNvGraphicFramePr>
            <a:graphicFrameLocks noChangeAspect="1"/>
          </p:cNvGraphicFramePr>
          <p:nvPr>
            <p:extLst>
              <p:ext uri="{D42A27DB-BD31-4B8C-83A1-F6EECF244321}">
                <p14:modId xmlns:p14="http://schemas.microsoft.com/office/powerpoint/2010/main" val="1146531930"/>
              </p:ext>
            </p:extLst>
          </p:nvPr>
        </p:nvGraphicFramePr>
        <p:xfrm>
          <a:off x="1316038" y="5186363"/>
          <a:ext cx="5000625" cy="619125"/>
        </p:xfrm>
        <a:graphic>
          <a:graphicData uri="http://schemas.openxmlformats.org/presentationml/2006/ole">
            <mc:AlternateContent xmlns:mc="http://schemas.openxmlformats.org/markup-compatibility/2006">
              <mc:Choice xmlns:v="urn:schemas-microsoft-com:vml" Requires="v">
                <p:oleObj spid="_x0000_s149813" name="Equation" r:id="rId7" imgW="3695400" imgH="457200" progId="Equation.DSMT4">
                  <p:embed/>
                </p:oleObj>
              </mc:Choice>
              <mc:Fallback>
                <p:oleObj name="Equation" r:id="rId7" imgW="3695400" imgH="457200" progId="Equation.DSMT4">
                  <p:embed/>
                  <p:pic>
                    <p:nvPicPr>
                      <p:cNvPr id="0" name="Object 6"/>
                      <p:cNvPicPr>
                        <a:picLocks noChangeAspect="1" noChangeArrowheads="1"/>
                      </p:cNvPicPr>
                      <p:nvPr/>
                    </p:nvPicPr>
                    <p:blipFill>
                      <a:blip r:embed="rId8"/>
                      <a:srcRect/>
                      <a:stretch>
                        <a:fillRect/>
                      </a:stretch>
                    </p:blipFill>
                    <p:spPr bwMode="auto">
                      <a:xfrm>
                        <a:off x="1316038" y="5186363"/>
                        <a:ext cx="50006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9513" name="Object 5"/>
          <p:cNvGraphicFramePr>
            <a:graphicFrameLocks noChangeAspect="1"/>
          </p:cNvGraphicFramePr>
          <p:nvPr>
            <p:extLst>
              <p:ext uri="{D42A27DB-BD31-4B8C-83A1-F6EECF244321}">
                <p14:modId xmlns:p14="http://schemas.microsoft.com/office/powerpoint/2010/main" val="1125368804"/>
              </p:ext>
            </p:extLst>
          </p:nvPr>
        </p:nvGraphicFramePr>
        <p:xfrm>
          <a:off x="1300163" y="5986501"/>
          <a:ext cx="5016500" cy="300038"/>
        </p:xfrm>
        <a:graphic>
          <a:graphicData uri="http://schemas.openxmlformats.org/presentationml/2006/ole">
            <mc:AlternateContent xmlns:mc="http://schemas.openxmlformats.org/markup-compatibility/2006">
              <mc:Choice xmlns:v="urn:schemas-microsoft-com:vml" Requires="v">
                <p:oleObj spid="_x0000_s149814" name="Equation" r:id="rId9" imgW="3822480" imgH="228600" progId="Equation.DSMT4">
                  <p:embed/>
                </p:oleObj>
              </mc:Choice>
              <mc:Fallback>
                <p:oleObj name="Equation" r:id="rId9" imgW="3822480" imgH="228600" progId="Equation.DSMT4">
                  <p:embed/>
                  <p:pic>
                    <p:nvPicPr>
                      <p:cNvPr id="0" name="Object 5"/>
                      <p:cNvPicPr>
                        <a:picLocks noChangeAspect="1" noChangeArrowheads="1"/>
                      </p:cNvPicPr>
                      <p:nvPr/>
                    </p:nvPicPr>
                    <p:blipFill>
                      <a:blip r:embed="rId10"/>
                      <a:srcRect/>
                      <a:stretch>
                        <a:fillRect/>
                      </a:stretch>
                    </p:blipFill>
                    <p:spPr bwMode="auto">
                      <a:xfrm>
                        <a:off x="1300163" y="5986501"/>
                        <a:ext cx="5016500"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9514" name="Rectangle 11"/>
          <p:cNvSpPr>
            <a:spLocks noChangeArrowheads="1"/>
          </p:cNvSpPr>
          <p:nvPr/>
        </p:nvSpPr>
        <p:spPr bwMode="auto">
          <a:xfrm>
            <a:off x="468313" y="3015357"/>
            <a:ext cx="84963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smtClean="0">
                <a:latin typeface="Times New Roman" panose="02020603050405020304" pitchFamily="18" charset="0"/>
                <a:cs typeface="Times New Roman" panose="02020603050405020304" pitchFamily="18" charset="0"/>
              </a:rPr>
              <a:t>当</a:t>
            </a:r>
            <a:r>
              <a:rPr lang="en-US" altLang="zh-CN" b="1" i="1" dirty="0"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=5</a:t>
            </a:r>
            <a:r>
              <a:rPr lang="zh-CN" altLang="en-US" b="1" dirty="0" smtClean="0">
                <a:latin typeface="Times New Roman" panose="02020603050405020304" pitchFamily="18" charset="0"/>
                <a:cs typeface="Times New Roman" panose="02020603050405020304" pitchFamily="18" charset="0"/>
              </a:rPr>
              <a:t>时，由于设</a:t>
            </a:r>
            <a:r>
              <a:rPr lang="en-US" altLang="zh-CN" b="1" i="1" dirty="0" smtClean="0">
                <a:latin typeface="Times New Roman" panose="02020603050405020304" pitchFamily="18" charset="0"/>
                <a:cs typeface="Times New Roman" panose="02020603050405020304" pitchFamily="18" charset="0"/>
              </a:rPr>
              <a:t>T</a:t>
            </a:r>
            <a:r>
              <a:rPr lang="en-US" altLang="zh-CN" b="1" dirty="0" smtClean="0">
                <a:latin typeface="Times New Roman" panose="02020603050405020304" pitchFamily="18" charset="0"/>
                <a:cs typeface="Times New Roman" panose="02020603050405020304" pitchFamily="18" charset="0"/>
              </a:rPr>
              <a:t>=1 </a:t>
            </a:r>
            <a:r>
              <a:rPr lang="zh-CN" altLang="en-US" b="1" dirty="0" smtClean="0">
                <a:latin typeface="Times New Roman" panose="02020603050405020304" pitchFamily="18" charset="0"/>
                <a:cs typeface="Times New Roman" panose="02020603050405020304" pitchFamily="18" charset="0"/>
              </a:rPr>
              <a:t>，故从</a:t>
            </a:r>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5</a:t>
            </a:r>
            <a:r>
              <a:rPr lang="zh-CN" altLang="en-US" b="1" dirty="0">
                <a:latin typeface="Times New Roman" panose="02020603050405020304" pitchFamily="18" charset="0"/>
                <a:cs typeface="Times New Roman" panose="02020603050405020304" pitchFamily="18" charset="0"/>
              </a:rPr>
              <a:t>年开始计算时，机器使用了</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3</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4</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5</a:t>
            </a:r>
            <a:r>
              <a:rPr lang="zh-CN" altLang="en-US" b="1" dirty="0">
                <a:latin typeface="Times New Roman" panose="02020603050405020304" pitchFamily="18" charset="0"/>
                <a:cs typeface="Times New Roman" panose="02020603050405020304" pitchFamily="18" charset="0"/>
              </a:rPr>
              <a:t>年，则递</a:t>
            </a:r>
            <a:r>
              <a:rPr lang="zh-CN" altLang="en-US" b="1" dirty="0" smtClean="0">
                <a:latin typeface="Times New Roman" panose="02020603050405020304" pitchFamily="18" charset="0"/>
                <a:cs typeface="Times New Roman" panose="02020603050405020304" pitchFamily="18" charset="0"/>
              </a:rPr>
              <a:t>推关系式</a:t>
            </a:r>
            <a:r>
              <a:rPr lang="zh-CN" altLang="en-US" b="1" dirty="0">
                <a:latin typeface="Times New Roman" panose="02020603050405020304" pitchFamily="18" charset="0"/>
                <a:cs typeface="Times New Roman" panose="02020603050405020304" pitchFamily="18" charset="0"/>
              </a:rPr>
              <a:t>为</a:t>
            </a:r>
          </a:p>
        </p:txBody>
      </p:sp>
      <p:sp>
        <p:nvSpPr>
          <p:cNvPr id="149515" name="Rectangle 14"/>
          <p:cNvSpPr>
            <a:spLocks noChangeArrowheads="1"/>
          </p:cNvSpPr>
          <p:nvPr/>
        </p:nvSpPr>
        <p:spPr bwMode="auto">
          <a:xfrm>
            <a:off x="528370" y="4653329"/>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Times New Roman" panose="02020603050405020304" pitchFamily="18" charset="0"/>
              </a:rPr>
              <a:t>因此</a:t>
            </a:r>
            <a:r>
              <a:rPr lang="zh-CN" altLang="en-US" b="1" dirty="0">
                <a:cs typeface="Courier New" panose="02070309020205020404" pitchFamily="49" charset="0"/>
              </a:rPr>
              <a:t>	</a:t>
            </a:r>
            <a:endParaRPr lang="zh-CN" altLang="en-US" b="1" dirty="0"/>
          </a:p>
        </p:txBody>
      </p:sp>
      <p:sp>
        <p:nvSpPr>
          <p:cNvPr id="149516" name="Rectangle 15"/>
          <p:cNvSpPr>
            <a:spLocks noChangeArrowheads="1"/>
          </p:cNvSpPr>
          <p:nvPr/>
        </p:nvSpPr>
        <p:spPr bwMode="auto">
          <a:xfrm>
            <a:off x="468313" y="5105176"/>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b="1">
                <a:cs typeface="Courier New" panose="02070309020205020404" pitchFamily="49" charset="0"/>
              </a:rPr>
              <a:t>	</a:t>
            </a:r>
            <a:endParaRPr lang="en-US" altLang="zh-CN" b="1"/>
          </a:p>
        </p:txBody>
      </p:sp>
      <p:sp>
        <p:nvSpPr>
          <p:cNvPr id="149517" name="Rectangle 16"/>
          <p:cNvSpPr>
            <a:spLocks noChangeArrowheads="1"/>
          </p:cNvSpPr>
          <p:nvPr/>
        </p:nvSpPr>
        <p:spPr bwMode="auto">
          <a:xfrm>
            <a:off x="528370" y="5940697"/>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latin typeface="Times New Roman" panose="02020603050405020304" pitchFamily="18" charset="0"/>
                <a:cs typeface="Times New Roman" panose="02020603050405020304" pitchFamily="18" charset="0"/>
              </a:rPr>
              <a:t>同理	</a:t>
            </a:r>
            <a:endParaRPr lang="zh-CN" altLang="en-US" b="1" dirty="0"/>
          </a:p>
        </p:txBody>
      </p:sp>
      <p:sp>
        <p:nvSpPr>
          <p:cNvPr id="14" name="内容占位符 1"/>
          <p:cNvSpPr>
            <a:spLocks noGrp="1"/>
          </p:cNvSpPr>
          <p:nvPr>
            <p:ph idx="1"/>
          </p:nvPr>
        </p:nvSpPr>
        <p:spPr>
          <a:xfrm>
            <a:off x="0" y="1108576"/>
            <a:ext cx="8280920" cy="461665"/>
          </a:xfrm>
        </p:spPr>
        <p:txBody>
          <a:bodyPr/>
          <a:lstStyle/>
          <a:p>
            <a:r>
              <a:rPr lang="zh-CN" altLang="en-US" dirty="0">
                <a:cs typeface="Times New Roman" panose="02020603050405020304" pitchFamily="18" charset="0"/>
              </a:rPr>
              <a:t>例</a:t>
            </a:r>
            <a:r>
              <a:rPr lang="en-US" altLang="zh-CN" dirty="0">
                <a:cs typeface="Times New Roman" panose="02020603050405020304" pitchFamily="18" charset="0"/>
              </a:rPr>
              <a:t>8-8:</a:t>
            </a:r>
            <a:endParaRPr lang="zh-CN" altLang="en-US" dirty="0"/>
          </a:p>
        </p:txBody>
      </p:sp>
      <p:graphicFrame>
        <p:nvGraphicFramePr>
          <p:cNvPr id="15" name="Group 682"/>
          <p:cNvGraphicFramePr>
            <a:graphicFrameLocks noGrp="1"/>
          </p:cNvGraphicFramePr>
          <p:nvPr>
            <p:extLst>
              <p:ext uri="{D42A27DB-BD31-4B8C-83A1-F6EECF244321}">
                <p14:modId xmlns:p14="http://schemas.microsoft.com/office/powerpoint/2010/main" val="3038937566"/>
              </p:ext>
            </p:extLst>
          </p:nvPr>
        </p:nvGraphicFramePr>
        <p:xfrm>
          <a:off x="248819" y="1542914"/>
          <a:ext cx="8892477" cy="1463040"/>
        </p:xfrm>
        <a:graphic>
          <a:graphicData uri="http://schemas.openxmlformats.org/drawingml/2006/table">
            <a:tbl>
              <a:tblPr/>
              <a:tblGrid>
                <a:gridCol w="889276">
                  <a:extLst>
                    <a:ext uri="{9D8B030D-6E8A-4147-A177-3AD203B41FA5}">
                      <a16:colId xmlns:a16="http://schemas.microsoft.com/office/drawing/2014/main" val="20000"/>
                    </a:ext>
                  </a:extLst>
                </a:gridCol>
                <a:gridCol w="427095">
                  <a:extLst>
                    <a:ext uri="{9D8B030D-6E8A-4147-A177-3AD203B41FA5}">
                      <a16:colId xmlns:a16="http://schemas.microsoft.com/office/drawing/2014/main" val="20001"/>
                    </a:ext>
                  </a:extLst>
                </a:gridCol>
                <a:gridCol w="427095">
                  <a:extLst>
                    <a:ext uri="{9D8B030D-6E8A-4147-A177-3AD203B41FA5}">
                      <a16:colId xmlns:a16="http://schemas.microsoft.com/office/drawing/2014/main" val="20002"/>
                    </a:ext>
                  </a:extLst>
                </a:gridCol>
                <a:gridCol w="427095">
                  <a:extLst>
                    <a:ext uri="{9D8B030D-6E8A-4147-A177-3AD203B41FA5}">
                      <a16:colId xmlns:a16="http://schemas.microsoft.com/office/drawing/2014/main" val="20003"/>
                    </a:ext>
                  </a:extLst>
                </a:gridCol>
                <a:gridCol w="427095">
                  <a:extLst>
                    <a:ext uri="{9D8B030D-6E8A-4147-A177-3AD203B41FA5}">
                      <a16:colId xmlns:a16="http://schemas.microsoft.com/office/drawing/2014/main" val="20004"/>
                    </a:ext>
                  </a:extLst>
                </a:gridCol>
                <a:gridCol w="355912">
                  <a:extLst>
                    <a:ext uri="{9D8B030D-6E8A-4147-A177-3AD203B41FA5}">
                      <a16:colId xmlns:a16="http://schemas.microsoft.com/office/drawing/2014/main" val="20005"/>
                    </a:ext>
                  </a:extLst>
                </a:gridCol>
                <a:gridCol w="427095">
                  <a:extLst>
                    <a:ext uri="{9D8B030D-6E8A-4147-A177-3AD203B41FA5}">
                      <a16:colId xmlns:a16="http://schemas.microsoft.com/office/drawing/2014/main" val="20006"/>
                    </a:ext>
                  </a:extLst>
                </a:gridCol>
                <a:gridCol w="355912">
                  <a:extLst>
                    <a:ext uri="{9D8B030D-6E8A-4147-A177-3AD203B41FA5}">
                      <a16:colId xmlns:a16="http://schemas.microsoft.com/office/drawing/2014/main" val="20007"/>
                    </a:ext>
                  </a:extLst>
                </a:gridCol>
                <a:gridCol w="355912">
                  <a:extLst>
                    <a:ext uri="{9D8B030D-6E8A-4147-A177-3AD203B41FA5}">
                      <a16:colId xmlns:a16="http://schemas.microsoft.com/office/drawing/2014/main" val="20008"/>
                    </a:ext>
                  </a:extLst>
                </a:gridCol>
                <a:gridCol w="355912">
                  <a:extLst>
                    <a:ext uri="{9D8B030D-6E8A-4147-A177-3AD203B41FA5}">
                      <a16:colId xmlns:a16="http://schemas.microsoft.com/office/drawing/2014/main" val="20009"/>
                    </a:ext>
                  </a:extLst>
                </a:gridCol>
                <a:gridCol w="355912">
                  <a:extLst>
                    <a:ext uri="{9D8B030D-6E8A-4147-A177-3AD203B41FA5}">
                      <a16:colId xmlns:a16="http://schemas.microsoft.com/office/drawing/2014/main" val="20010"/>
                    </a:ext>
                  </a:extLst>
                </a:gridCol>
                <a:gridCol w="355912">
                  <a:extLst>
                    <a:ext uri="{9D8B030D-6E8A-4147-A177-3AD203B41FA5}">
                      <a16:colId xmlns:a16="http://schemas.microsoft.com/office/drawing/2014/main" val="20011"/>
                    </a:ext>
                  </a:extLst>
                </a:gridCol>
                <a:gridCol w="355912">
                  <a:extLst>
                    <a:ext uri="{9D8B030D-6E8A-4147-A177-3AD203B41FA5}">
                      <a16:colId xmlns:a16="http://schemas.microsoft.com/office/drawing/2014/main" val="20012"/>
                    </a:ext>
                  </a:extLst>
                </a:gridCol>
                <a:gridCol w="427095">
                  <a:extLst>
                    <a:ext uri="{9D8B030D-6E8A-4147-A177-3AD203B41FA5}">
                      <a16:colId xmlns:a16="http://schemas.microsoft.com/office/drawing/2014/main" val="20013"/>
                    </a:ext>
                  </a:extLst>
                </a:gridCol>
                <a:gridCol w="355912">
                  <a:extLst>
                    <a:ext uri="{9D8B030D-6E8A-4147-A177-3AD203B41FA5}">
                      <a16:colId xmlns:a16="http://schemas.microsoft.com/office/drawing/2014/main" val="20014"/>
                    </a:ext>
                  </a:extLst>
                </a:gridCol>
                <a:gridCol w="427095">
                  <a:extLst>
                    <a:ext uri="{9D8B030D-6E8A-4147-A177-3AD203B41FA5}">
                      <a16:colId xmlns:a16="http://schemas.microsoft.com/office/drawing/2014/main" val="20015"/>
                    </a:ext>
                  </a:extLst>
                </a:gridCol>
                <a:gridCol w="427095">
                  <a:extLst>
                    <a:ext uri="{9D8B030D-6E8A-4147-A177-3AD203B41FA5}">
                      <a16:colId xmlns:a16="http://schemas.microsoft.com/office/drawing/2014/main" val="20016"/>
                    </a:ext>
                  </a:extLst>
                </a:gridCol>
                <a:gridCol w="427095">
                  <a:extLst>
                    <a:ext uri="{9D8B030D-6E8A-4147-A177-3AD203B41FA5}">
                      <a16:colId xmlns:a16="http://schemas.microsoft.com/office/drawing/2014/main" val="20017"/>
                    </a:ext>
                  </a:extLst>
                </a:gridCol>
                <a:gridCol w="427095">
                  <a:extLst>
                    <a:ext uri="{9D8B030D-6E8A-4147-A177-3AD203B41FA5}">
                      <a16:colId xmlns:a16="http://schemas.microsoft.com/office/drawing/2014/main" val="20018"/>
                    </a:ext>
                  </a:extLst>
                </a:gridCol>
                <a:gridCol w="427095">
                  <a:extLst>
                    <a:ext uri="{9D8B030D-6E8A-4147-A177-3AD203B41FA5}">
                      <a16:colId xmlns:a16="http://schemas.microsoft.com/office/drawing/2014/main" val="20019"/>
                    </a:ext>
                  </a:extLst>
                </a:gridCol>
                <a:gridCol w="457860">
                  <a:extLst>
                    <a:ext uri="{9D8B030D-6E8A-4147-A177-3AD203B41FA5}">
                      <a16:colId xmlns:a16="http://schemas.microsoft.com/office/drawing/2014/main" val="20020"/>
                    </a:ext>
                  </a:extLst>
                </a:gridCol>
              </a:tblGrid>
              <a:tr h="177391">
                <a:tc rowSpan="2">
                  <a:txBody>
                    <a:bodyPr/>
                    <a:lstStyle>
                      <a:lvl1pPr indent="133350">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产品年序</a:t>
                      </a:r>
                      <a:endParaRPr kumimoji="0" lang="en-US" altLang="zh-CN"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13335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役龄</a:t>
                      </a:r>
                      <a:endParaRPr kumimoji="0" lang="en-US" altLang="zh-CN"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13335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项目</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第一年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第二年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第三年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第四年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五</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期前</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44033">
                <a:tc vMerge="1">
                  <a:txBody>
                    <a:bodyPr/>
                    <a:lstStyle/>
                    <a:p>
                      <a:endParaRPr lang="zh-CN" altLang="en-US"/>
                    </a:p>
                  </a:txBody>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收入</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21</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27</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运行费用</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更新费用</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27</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37</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spd="slow"/>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8B89B67F-1689-435D-B95B-A2CB74905A01}" type="slidenum">
              <a:rPr lang="en-US" altLang="zh-CN" sz="1000"/>
              <a:pPr/>
              <a:t>74</a:t>
            </a:fld>
            <a:endParaRPr lang="en-US" altLang="zh-CN" sz="1000"/>
          </a:p>
        </p:txBody>
      </p:sp>
      <p:sp>
        <p:nvSpPr>
          <p:cNvPr id="149508" name="Rectangle 2"/>
          <p:cNvSpPr>
            <a:spLocks noGrp="1" noChangeArrowheads="1"/>
          </p:cNvSpPr>
          <p:nvPr>
            <p:ph type="title"/>
          </p:nvPr>
        </p:nvSpPr>
        <p:spPr/>
        <p:txBody>
          <a:bodyPr/>
          <a:lstStyle/>
          <a:p>
            <a:r>
              <a:rPr lang="en-US" altLang="zh-CN" dirty="0" smtClean="0"/>
              <a:t>8.4.5</a:t>
            </a:r>
            <a:r>
              <a:rPr lang="zh-CN" altLang="en-US" dirty="0" smtClean="0"/>
              <a:t>  </a:t>
            </a:r>
            <a:r>
              <a:rPr lang="zh-CN" altLang="en-US" dirty="0"/>
              <a:t>设备更新问题</a:t>
            </a:r>
          </a:p>
        </p:txBody>
      </p:sp>
      <p:sp>
        <p:nvSpPr>
          <p:cNvPr id="149509"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9514" name="Rectangle 11"/>
          <p:cNvSpPr>
            <a:spLocks noChangeArrowheads="1"/>
          </p:cNvSpPr>
          <p:nvPr/>
        </p:nvSpPr>
        <p:spPr bwMode="auto">
          <a:xfrm>
            <a:off x="468313" y="3166139"/>
            <a:ext cx="84963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smtClean="0">
                <a:latin typeface="Times New Roman" panose="02020603050405020304" pitchFamily="18" charset="0"/>
                <a:cs typeface="Times New Roman" panose="02020603050405020304" pitchFamily="18" charset="0"/>
              </a:rPr>
              <a:t>当</a:t>
            </a:r>
            <a:r>
              <a:rPr lang="en-US" altLang="zh-CN" b="1" i="1" dirty="0"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=4</a:t>
            </a:r>
            <a:r>
              <a:rPr lang="zh-CN" altLang="en-US" b="1" dirty="0" smtClean="0">
                <a:latin typeface="Times New Roman" panose="02020603050405020304" pitchFamily="18" charset="0"/>
                <a:cs typeface="Times New Roman" panose="02020603050405020304" pitchFamily="18" charset="0"/>
              </a:rPr>
              <a:t>时，则</a:t>
            </a:r>
            <a:r>
              <a:rPr lang="zh-CN" altLang="en-US" b="1" dirty="0">
                <a:latin typeface="Times New Roman" panose="02020603050405020304" pitchFamily="18" charset="0"/>
                <a:cs typeface="Times New Roman" panose="02020603050405020304" pitchFamily="18" charset="0"/>
              </a:rPr>
              <a:t>递推关系式为</a:t>
            </a:r>
          </a:p>
        </p:txBody>
      </p:sp>
      <p:sp>
        <p:nvSpPr>
          <p:cNvPr id="149515" name="Rectangle 14"/>
          <p:cNvSpPr>
            <a:spLocks noChangeArrowheads="1"/>
          </p:cNvSpPr>
          <p:nvPr/>
        </p:nvSpPr>
        <p:spPr bwMode="auto">
          <a:xfrm>
            <a:off x="528370" y="4760317"/>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Times New Roman" panose="02020603050405020304" pitchFamily="18" charset="0"/>
              </a:rPr>
              <a:t>因此</a:t>
            </a:r>
            <a:r>
              <a:rPr lang="zh-CN" altLang="en-US" b="1" dirty="0">
                <a:cs typeface="Courier New" panose="02070309020205020404" pitchFamily="49" charset="0"/>
              </a:rPr>
              <a:t>	</a:t>
            </a:r>
            <a:endParaRPr lang="zh-CN" altLang="en-US" b="1" dirty="0"/>
          </a:p>
        </p:txBody>
      </p:sp>
      <p:sp>
        <p:nvSpPr>
          <p:cNvPr id="149516" name="Rectangle 15"/>
          <p:cNvSpPr>
            <a:spLocks noChangeArrowheads="1"/>
          </p:cNvSpPr>
          <p:nvPr/>
        </p:nvSpPr>
        <p:spPr bwMode="auto">
          <a:xfrm>
            <a:off x="468313" y="5105176"/>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b="1">
                <a:cs typeface="Courier New" panose="02070309020205020404" pitchFamily="49" charset="0"/>
              </a:rPr>
              <a:t>	</a:t>
            </a:r>
            <a:endParaRPr lang="en-US" altLang="zh-CN" b="1"/>
          </a:p>
        </p:txBody>
      </p:sp>
      <p:sp>
        <p:nvSpPr>
          <p:cNvPr id="149517" name="Rectangle 16"/>
          <p:cNvSpPr>
            <a:spLocks noChangeArrowheads="1"/>
          </p:cNvSpPr>
          <p:nvPr/>
        </p:nvSpPr>
        <p:spPr bwMode="auto">
          <a:xfrm>
            <a:off x="562640" y="5677841"/>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latin typeface="Times New Roman" panose="02020603050405020304" pitchFamily="18" charset="0"/>
                <a:cs typeface="Times New Roman" panose="02020603050405020304" pitchFamily="18" charset="0"/>
              </a:rPr>
              <a:t>同理	</a:t>
            </a:r>
            <a:endParaRPr lang="zh-CN" altLang="en-US" b="1" dirty="0"/>
          </a:p>
        </p:txBody>
      </p:sp>
      <p:sp>
        <p:nvSpPr>
          <p:cNvPr id="14" name="内容占位符 1"/>
          <p:cNvSpPr>
            <a:spLocks noGrp="1"/>
          </p:cNvSpPr>
          <p:nvPr>
            <p:ph idx="1"/>
          </p:nvPr>
        </p:nvSpPr>
        <p:spPr>
          <a:xfrm>
            <a:off x="0" y="1108576"/>
            <a:ext cx="8280920" cy="461665"/>
          </a:xfrm>
        </p:spPr>
        <p:txBody>
          <a:bodyPr/>
          <a:lstStyle/>
          <a:p>
            <a:r>
              <a:rPr lang="zh-CN" altLang="en-US" dirty="0">
                <a:cs typeface="Times New Roman" panose="02020603050405020304" pitchFamily="18" charset="0"/>
              </a:rPr>
              <a:t>例</a:t>
            </a:r>
            <a:r>
              <a:rPr lang="en-US" altLang="zh-CN" dirty="0">
                <a:cs typeface="Times New Roman" panose="02020603050405020304" pitchFamily="18" charset="0"/>
              </a:rPr>
              <a:t>8-8:</a:t>
            </a:r>
            <a:endParaRPr lang="zh-CN" altLang="en-US" dirty="0"/>
          </a:p>
        </p:txBody>
      </p:sp>
      <p:graphicFrame>
        <p:nvGraphicFramePr>
          <p:cNvPr id="15" name="Group 682"/>
          <p:cNvGraphicFramePr>
            <a:graphicFrameLocks noGrp="1"/>
          </p:cNvGraphicFramePr>
          <p:nvPr/>
        </p:nvGraphicFramePr>
        <p:xfrm>
          <a:off x="248819" y="1542914"/>
          <a:ext cx="8892477" cy="1463040"/>
        </p:xfrm>
        <a:graphic>
          <a:graphicData uri="http://schemas.openxmlformats.org/drawingml/2006/table">
            <a:tbl>
              <a:tblPr/>
              <a:tblGrid>
                <a:gridCol w="889276">
                  <a:extLst>
                    <a:ext uri="{9D8B030D-6E8A-4147-A177-3AD203B41FA5}">
                      <a16:colId xmlns:a16="http://schemas.microsoft.com/office/drawing/2014/main" val="20000"/>
                    </a:ext>
                  </a:extLst>
                </a:gridCol>
                <a:gridCol w="427095">
                  <a:extLst>
                    <a:ext uri="{9D8B030D-6E8A-4147-A177-3AD203B41FA5}">
                      <a16:colId xmlns:a16="http://schemas.microsoft.com/office/drawing/2014/main" val="20001"/>
                    </a:ext>
                  </a:extLst>
                </a:gridCol>
                <a:gridCol w="427095">
                  <a:extLst>
                    <a:ext uri="{9D8B030D-6E8A-4147-A177-3AD203B41FA5}">
                      <a16:colId xmlns:a16="http://schemas.microsoft.com/office/drawing/2014/main" val="20002"/>
                    </a:ext>
                  </a:extLst>
                </a:gridCol>
                <a:gridCol w="427095">
                  <a:extLst>
                    <a:ext uri="{9D8B030D-6E8A-4147-A177-3AD203B41FA5}">
                      <a16:colId xmlns:a16="http://schemas.microsoft.com/office/drawing/2014/main" val="20003"/>
                    </a:ext>
                  </a:extLst>
                </a:gridCol>
                <a:gridCol w="427095">
                  <a:extLst>
                    <a:ext uri="{9D8B030D-6E8A-4147-A177-3AD203B41FA5}">
                      <a16:colId xmlns:a16="http://schemas.microsoft.com/office/drawing/2014/main" val="20004"/>
                    </a:ext>
                  </a:extLst>
                </a:gridCol>
                <a:gridCol w="355912">
                  <a:extLst>
                    <a:ext uri="{9D8B030D-6E8A-4147-A177-3AD203B41FA5}">
                      <a16:colId xmlns:a16="http://schemas.microsoft.com/office/drawing/2014/main" val="20005"/>
                    </a:ext>
                  </a:extLst>
                </a:gridCol>
                <a:gridCol w="427095">
                  <a:extLst>
                    <a:ext uri="{9D8B030D-6E8A-4147-A177-3AD203B41FA5}">
                      <a16:colId xmlns:a16="http://schemas.microsoft.com/office/drawing/2014/main" val="20006"/>
                    </a:ext>
                  </a:extLst>
                </a:gridCol>
                <a:gridCol w="355912">
                  <a:extLst>
                    <a:ext uri="{9D8B030D-6E8A-4147-A177-3AD203B41FA5}">
                      <a16:colId xmlns:a16="http://schemas.microsoft.com/office/drawing/2014/main" val="20007"/>
                    </a:ext>
                  </a:extLst>
                </a:gridCol>
                <a:gridCol w="355912">
                  <a:extLst>
                    <a:ext uri="{9D8B030D-6E8A-4147-A177-3AD203B41FA5}">
                      <a16:colId xmlns:a16="http://schemas.microsoft.com/office/drawing/2014/main" val="20008"/>
                    </a:ext>
                  </a:extLst>
                </a:gridCol>
                <a:gridCol w="355912">
                  <a:extLst>
                    <a:ext uri="{9D8B030D-6E8A-4147-A177-3AD203B41FA5}">
                      <a16:colId xmlns:a16="http://schemas.microsoft.com/office/drawing/2014/main" val="20009"/>
                    </a:ext>
                  </a:extLst>
                </a:gridCol>
                <a:gridCol w="355912">
                  <a:extLst>
                    <a:ext uri="{9D8B030D-6E8A-4147-A177-3AD203B41FA5}">
                      <a16:colId xmlns:a16="http://schemas.microsoft.com/office/drawing/2014/main" val="20010"/>
                    </a:ext>
                  </a:extLst>
                </a:gridCol>
                <a:gridCol w="355912">
                  <a:extLst>
                    <a:ext uri="{9D8B030D-6E8A-4147-A177-3AD203B41FA5}">
                      <a16:colId xmlns:a16="http://schemas.microsoft.com/office/drawing/2014/main" val="20011"/>
                    </a:ext>
                  </a:extLst>
                </a:gridCol>
                <a:gridCol w="355912">
                  <a:extLst>
                    <a:ext uri="{9D8B030D-6E8A-4147-A177-3AD203B41FA5}">
                      <a16:colId xmlns:a16="http://schemas.microsoft.com/office/drawing/2014/main" val="20012"/>
                    </a:ext>
                  </a:extLst>
                </a:gridCol>
                <a:gridCol w="427095">
                  <a:extLst>
                    <a:ext uri="{9D8B030D-6E8A-4147-A177-3AD203B41FA5}">
                      <a16:colId xmlns:a16="http://schemas.microsoft.com/office/drawing/2014/main" val="20013"/>
                    </a:ext>
                  </a:extLst>
                </a:gridCol>
                <a:gridCol w="355912">
                  <a:extLst>
                    <a:ext uri="{9D8B030D-6E8A-4147-A177-3AD203B41FA5}">
                      <a16:colId xmlns:a16="http://schemas.microsoft.com/office/drawing/2014/main" val="20014"/>
                    </a:ext>
                  </a:extLst>
                </a:gridCol>
                <a:gridCol w="427095">
                  <a:extLst>
                    <a:ext uri="{9D8B030D-6E8A-4147-A177-3AD203B41FA5}">
                      <a16:colId xmlns:a16="http://schemas.microsoft.com/office/drawing/2014/main" val="20015"/>
                    </a:ext>
                  </a:extLst>
                </a:gridCol>
                <a:gridCol w="427095">
                  <a:extLst>
                    <a:ext uri="{9D8B030D-6E8A-4147-A177-3AD203B41FA5}">
                      <a16:colId xmlns:a16="http://schemas.microsoft.com/office/drawing/2014/main" val="20016"/>
                    </a:ext>
                  </a:extLst>
                </a:gridCol>
                <a:gridCol w="427095">
                  <a:extLst>
                    <a:ext uri="{9D8B030D-6E8A-4147-A177-3AD203B41FA5}">
                      <a16:colId xmlns:a16="http://schemas.microsoft.com/office/drawing/2014/main" val="20017"/>
                    </a:ext>
                  </a:extLst>
                </a:gridCol>
                <a:gridCol w="427095">
                  <a:extLst>
                    <a:ext uri="{9D8B030D-6E8A-4147-A177-3AD203B41FA5}">
                      <a16:colId xmlns:a16="http://schemas.microsoft.com/office/drawing/2014/main" val="20018"/>
                    </a:ext>
                  </a:extLst>
                </a:gridCol>
                <a:gridCol w="427095">
                  <a:extLst>
                    <a:ext uri="{9D8B030D-6E8A-4147-A177-3AD203B41FA5}">
                      <a16:colId xmlns:a16="http://schemas.microsoft.com/office/drawing/2014/main" val="20019"/>
                    </a:ext>
                  </a:extLst>
                </a:gridCol>
                <a:gridCol w="457860">
                  <a:extLst>
                    <a:ext uri="{9D8B030D-6E8A-4147-A177-3AD203B41FA5}">
                      <a16:colId xmlns:a16="http://schemas.microsoft.com/office/drawing/2014/main" val="20020"/>
                    </a:ext>
                  </a:extLst>
                </a:gridCol>
              </a:tblGrid>
              <a:tr h="177391">
                <a:tc rowSpan="2">
                  <a:txBody>
                    <a:bodyPr/>
                    <a:lstStyle>
                      <a:lvl1pPr indent="133350">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产品年序</a:t>
                      </a:r>
                      <a:endParaRPr kumimoji="0" lang="en-US" altLang="zh-CN"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13335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役龄</a:t>
                      </a:r>
                      <a:endParaRPr kumimoji="0" lang="en-US" altLang="zh-CN"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13335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项目</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第一年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第二年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第三年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第四年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五</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期前</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44033">
                <a:tc vMerge="1">
                  <a:txBody>
                    <a:bodyPr/>
                    <a:lstStyle/>
                    <a:p>
                      <a:endParaRPr lang="zh-CN" altLang="en-US"/>
                    </a:p>
                  </a:txBody>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收入</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21</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27</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运行费用</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更新费用</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27</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37</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6" name="Object 15"/>
          <p:cNvGraphicFramePr>
            <a:graphicFrameLocks noChangeAspect="1"/>
          </p:cNvGraphicFramePr>
          <p:nvPr>
            <p:extLst>
              <p:ext uri="{D42A27DB-BD31-4B8C-83A1-F6EECF244321}">
                <p14:modId xmlns:p14="http://schemas.microsoft.com/office/powerpoint/2010/main" val="3653739517"/>
              </p:ext>
            </p:extLst>
          </p:nvPr>
        </p:nvGraphicFramePr>
        <p:xfrm>
          <a:off x="1258888" y="3673475"/>
          <a:ext cx="3978275" cy="673100"/>
        </p:xfrm>
        <a:graphic>
          <a:graphicData uri="http://schemas.openxmlformats.org/presentationml/2006/ole">
            <mc:AlternateContent xmlns:mc="http://schemas.openxmlformats.org/markup-compatibility/2006">
              <mc:Choice xmlns:v="urn:schemas-microsoft-com:vml" Requires="v">
                <p:oleObj spid="_x0000_s222297" name="Equation" r:id="rId3" imgW="2869920" imgH="482400" progId="Equation.DSMT4">
                  <p:embed/>
                </p:oleObj>
              </mc:Choice>
              <mc:Fallback>
                <p:oleObj name="Equation" r:id="rId3" imgW="2869920" imgH="482400" progId="Equation.DSMT4">
                  <p:embed/>
                  <p:pic>
                    <p:nvPicPr>
                      <p:cNvPr id="150534" name="Object 15"/>
                      <p:cNvPicPr>
                        <a:picLocks noChangeAspect="1" noChangeArrowheads="1"/>
                      </p:cNvPicPr>
                      <p:nvPr/>
                    </p:nvPicPr>
                    <p:blipFill>
                      <a:blip r:embed="rId4"/>
                      <a:srcRect/>
                      <a:stretch>
                        <a:fillRect/>
                      </a:stretch>
                    </p:blipFill>
                    <p:spPr bwMode="auto">
                      <a:xfrm>
                        <a:off x="1258888" y="3673475"/>
                        <a:ext cx="397827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4"/>
          <p:cNvGraphicFramePr>
            <a:graphicFrameLocks noChangeAspect="1"/>
          </p:cNvGraphicFramePr>
          <p:nvPr>
            <p:extLst>
              <p:ext uri="{D42A27DB-BD31-4B8C-83A1-F6EECF244321}">
                <p14:modId xmlns:p14="http://schemas.microsoft.com/office/powerpoint/2010/main" val="974372054"/>
              </p:ext>
            </p:extLst>
          </p:nvPr>
        </p:nvGraphicFramePr>
        <p:xfrm>
          <a:off x="1233488" y="4637088"/>
          <a:ext cx="5332412" cy="663575"/>
        </p:xfrm>
        <a:graphic>
          <a:graphicData uri="http://schemas.openxmlformats.org/presentationml/2006/ole">
            <mc:AlternateContent xmlns:mc="http://schemas.openxmlformats.org/markup-compatibility/2006">
              <mc:Choice xmlns:v="urn:schemas-microsoft-com:vml" Requires="v">
                <p:oleObj spid="_x0000_s222298" name="Equation" r:id="rId5" imgW="3670200" imgH="457200" progId="Equation.DSMT4">
                  <p:embed/>
                </p:oleObj>
              </mc:Choice>
              <mc:Fallback>
                <p:oleObj name="Equation" r:id="rId5" imgW="3670200" imgH="457200" progId="Equation.DSMT4">
                  <p:embed/>
                  <p:pic>
                    <p:nvPicPr>
                      <p:cNvPr id="150535" name="Object 14"/>
                      <p:cNvPicPr>
                        <a:picLocks noChangeAspect="1" noChangeArrowheads="1"/>
                      </p:cNvPicPr>
                      <p:nvPr/>
                    </p:nvPicPr>
                    <p:blipFill>
                      <a:blip r:embed="rId6"/>
                      <a:srcRect/>
                      <a:stretch>
                        <a:fillRect/>
                      </a:stretch>
                    </p:blipFill>
                    <p:spPr bwMode="auto">
                      <a:xfrm>
                        <a:off x="1233488" y="4637088"/>
                        <a:ext cx="5332412"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3"/>
          <p:cNvGraphicFramePr>
            <a:graphicFrameLocks noChangeAspect="1"/>
          </p:cNvGraphicFramePr>
          <p:nvPr>
            <p:extLst>
              <p:ext uri="{D42A27DB-BD31-4B8C-83A1-F6EECF244321}">
                <p14:modId xmlns:p14="http://schemas.microsoft.com/office/powerpoint/2010/main" val="3038458576"/>
              </p:ext>
            </p:extLst>
          </p:nvPr>
        </p:nvGraphicFramePr>
        <p:xfrm>
          <a:off x="1482489" y="5736578"/>
          <a:ext cx="5797550" cy="338138"/>
        </p:xfrm>
        <a:graphic>
          <a:graphicData uri="http://schemas.openxmlformats.org/presentationml/2006/ole">
            <mc:AlternateContent xmlns:mc="http://schemas.openxmlformats.org/markup-compatibility/2006">
              <mc:Choice xmlns:v="urn:schemas-microsoft-com:vml" Requires="v">
                <p:oleObj spid="_x0000_s222299" name="Equation" r:id="rId7" imgW="3936960" imgH="228600" progId="Equation.DSMT4">
                  <p:embed/>
                </p:oleObj>
              </mc:Choice>
              <mc:Fallback>
                <p:oleObj name="Equation" r:id="rId7" imgW="3936960" imgH="228600" progId="Equation.DSMT4">
                  <p:embed/>
                  <p:pic>
                    <p:nvPicPr>
                      <p:cNvPr id="150536" name="Object 13"/>
                      <p:cNvPicPr>
                        <a:picLocks noChangeAspect="1" noChangeArrowheads="1"/>
                      </p:cNvPicPr>
                      <p:nvPr/>
                    </p:nvPicPr>
                    <p:blipFill>
                      <a:blip r:embed="rId8"/>
                      <a:srcRect/>
                      <a:stretch>
                        <a:fillRect/>
                      </a:stretch>
                    </p:blipFill>
                    <p:spPr bwMode="auto">
                      <a:xfrm>
                        <a:off x="1482489" y="5736578"/>
                        <a:ext cx="57975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66141850"/>
      </p:ext>
    </p:extLst>
  </p:cSld>
  <p:clrMapOvr>
    <a:masterClrMapping/>
  </p:clrMapOvr>
  <p:transition spd="slow"/>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8B89B67F-1689-435D-B95B-A2CB74905A01}" type="slidenum">
              <a:rPr lang="en-US" altLang="zh-CN" sz="1000"/>
              <a:pPr/>
              <a:t>75</a:t>
            </a:fld>
            <a:endParaRPr lang="en-US" altLang="zh-CN" sz="1000"/>
          </a:p>
        </p:txBody>
      </p:sp>
      <p:sp>
        <p:nvSpPr>
          <p:cNvPr id="149508" name="Rectangle 2"/>
          <p:cNvSpPr>
            <a:spLocks noGrp="1" noChangeArrowheads="1"/>
          </p:cNvSpPr>
          <p:nvPr>
            <p:ph type="title"/>
          </p:nvPr>
        </p:nvSpPr>
        <p:spPr/>
        <p:txBody>
          <a:bodyPr/>
          <a:lstStyle/>
          <a:p>
            <a:r>
              <a:rPr lang="en-US" altLang="zh-CN" dirty="0" smtClean="0"/>
              <a:t>8.4.5</a:t>
            </a:r>
            <a:r>
              <a:rPr lang="zh-CN" altLang="en-US" dirty="0" smtClean="0"/>
              <a:t>  </a:t>
            </a:r>
            <a:r>
              <a:rPr lang="zh-CN" altLang="en-US" dirty="0"/>
              <a:t>设备更新问题</a:t>
            </a:r>
          </a:p>
        </p:txBody>
      </p:sp>
      <p:sp>
        <p:nvSpPr>
          <p:cNvPr id="149509"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9514" name="Rectangle 11"/>
          <p:cNvSpPr>
            <a:spLocks noChangeArrowheads="1"/>
          </p:cNvSpPr>
          <p:nvPr/>
        </p:nvSpPr>
        <p:spPr bwMode="auto">
          <a:xfrm>
            <a:off x="468313" y="3166139"/>
            <a:ext cx="84963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smtClean="0">
                <a:latin typeface="Times New Roman" panose="02020603050405020304" pitchFamily="18" charset="0"/>
                <a:cs typeface="Times New Roman" panose="02020603050405020304" pitchFamily="18" charset="0"/>
              </a:rPr>
              <a:t>当</a:t>
            </a:r>
            <a:r>
              <a:rPr lang="en-US" altLang="zh-CN" b="1" i="1" dirty="0"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=3</a:t>
            </a:r>
            <a:r>
              <a:rPr lang="zh-CN" altLang="en-US" b="1" dirty="0" smtClean="0">
                <a:latin typeface="Times New Roman" panose="02020603050405020304" pitchFamily="18" charset="0"/>
                <a:cs typeface="Times New Roman" panose="02020603050405020304" pitchFamily="18" charset="0"/>
              </a:rPr>
              <a:t>时，则</a:t>
            </a:r>
            <a:r>
              <a:rPr lang="zh-CN" altLang="en-US" b="1" dirty="0">
                <a:latin typeface="Times New Roman" panose="02020603050405020304" pitchFamily="18" charset="0"/>
                <a:cs typeface="Times New Roman" panose="02020603050405020304" pitchFamily="18" charset="0"/>
              </a:rPr>
              <a:t>递推关系式为</a:t>
            </a:r>
          </a:p>
        </p:txBody>
      </p:sp>
      <p:sp>
        <p:nvSpPr>
          <p:cNvPr id="149515" name="Rectangle 14"/>
          <p:cNvSpPr>
            <a:spLocks noChangeArrowheads="1"/>
          </p:cNvSpPr>
          <p:nvPr/>
        </p:nvSpPr>
        <p:spPr bwMode="auto">
          <a:xfrm>
            <a:off x="528370" y="4760317"/>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Times New Roman" panose="02020603050405020304" pitchFamily="18" charset="0"/>
              </a:rPr>
              <a:t>因此</a:t>
            </a:r>
            <a:r>
              <a:rPr lang="zh-CN" altLang="en-US" b="1" dirty="0">
                <a:cs typeface="Courier New" panose="02070309020205020404" pitchFamily="49" charset="0"/>
              </a:rPr>
              <a:t>	</a:t>
            </a:r>
            <a:endParaRPr lang="zh-CN" altLang="en-US" b="1" dirty="0"/>
          </a:p>
        </p:txBody>
      </p:sp>
      <p:sp>
        <p:nvSpPr>
          <p:cNvPr id="149516" name="Rectangle 15"/>
          <p:cNvSpPr>
            <a:spLocks noChangeArrowheads="1"/>
          </p:cNvSpPr>
          <p:nvPr/>
        </p:nvSpPr>
        <p:spPr bwMode="auto">
          <a:xfrm>
            <a:off x="468313" y="5105176"/>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b="1">
                <a:cs typeface="Courier New" panose="02070309020205020404" pitchFamily="49" charset="0"/>
              </a:rPr>
              <a:t>	</a:t>
            </a:r>
            <a:endParaRPr lang="en-US" altLang="zh-CN" b="1"/>
          </a:p>
        </p:txBody>
      </p:sp>
      <p:sp>
        <p:nvSpPr>
          <p:cNvPr id="149517" name="Rectangle 16"/>
          <p:cNvSpPr>
            <a:spLocks noChangeArrowheads="1"/>
          </p:cNvSpPr>
          <p:nvPr/>
        </p:nvSpPr>
        <p:spPr bwMode="auto">
          <a:xfrm>
            <a:off x="528370" y="5940697"/>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latin typeface="Times New Roman" panose="02020603050405020304" pitchFamily="18" charset="0"/>
                <a:cs typeface="Times New Roman" panose="02020603050405020304" pitchFamily="18" charset="0"/>
              </a:rPr>
              <a:t>同理	</a:t>
            </a:r>
            <a:endParaRPr lang="zh-CN" altLang="en-US" b="1" dirty="0"/>
          </a:p>
        </p:txBody>
      </p:sp>
      <p:sp>
        <p:nvSpPr>
          <p:cNvPr id="14" name="内容占位符 1"/>
          <p:cNvSpPr>
            <a:spLocks noGrp="1"/>
          </p:cNvSpPr>
          <p:nvPr>
            <p:ph idx="1"/>
          </p:nvPr>
        </p:nvSpPr>
        <p:spPr>
          <a:xfrm>
            <a:off x="0" y="1108576"/>
            <a:ext cx="8280920" cy="461665"/>
          </a:xfrm>
        </p:spPr>
        <p:txBody>
          <a:bodyPr/>
          <a:lstStyle/>
          <a:p>
            <a:r>
              <a:rPr lang="zh-CN" altLang="en-US" dirty="0">
                <a:cs typeface="Times New Roman" panose="02020603050405020304" pitchFamily="18" charset="0"/>
              </a:rPr>
              <a:t>例</a:t>
            </a:r>
            <a:r>
              <a:rPr lang="en-US" altLang="zh-CN" dirty="0">
                <a:cs typeface="Times New Roman" panose="02020603050405020304" pitchFamily="18" charset="0"/>
              </a:rPr>
              <a:t>8-8:</a:t>
            </a:r>
            <a:endParaRPr lang="zh-CN" altLang="en-US" dirty="0"/>
          </a:p>
        </p:txBody>
      </p:sp>
      <p:graphicFrame>
        <p:nvGraphicFramePr>
          <p:cNvPr id="15" name="Group 682"/>
          <p:cNvGraphicFramePr>
            <a:graphicFrameLocks noGrp="1"/>
          </p:cNvGraphicFramePr>
          <p:nvPr/>
        </p:nvGraphicFramePr>
        <p:xfrm>
          <a:off x="248819" y="1542914"/>
          <a:ext cx="8892477" cy="1463040"/>
        </p:xfrm>
        <a:graphic>
          <a:graphicData uri="http://schemas.openxmlformats.org/drawingml/2006/table">
            <a:tbl>
              <a:tblPr/>
              <a:tblGrid>
                <a:gridCol w="889276">
                  <a:extLst>
                    <a:ext uri="{9D8B030D-6E8A-4147-A177-3AD203B41FA5}">
                      <a16:colId xmlns:a16="http://schemas.microsoft.com/office/drawing/2014/main" val="20000"/>
                    </a:ext>
                  </a:extLst>
                </a:gridCol>
                <a:gridCol w="427095">
                  <a:extLst>
                    <a:ext uri="{9D8B030D-6E8A-4147-A177-3AD203B41FA5}">
                      <a16:colId xmlns:a16="http://schemas.microsoft.com/office/drawing/2014/main" val="20001"/>
                    </a:ext>
                  </a:extLst>
                </a:gridCol>
                <a:gridCol w="427095">
                  <a:extLst>
                    <a:ext uri="{9D8B030D-6E8A-4147-A177-3AD203B41FA5}">
                      <a16:colId xmlns:a16="http://schemas.microsoft.com/office/drawing/2014/main" val="20002"/>
                    </a:ext>
                  </a:extLst>
                </a:gridCol>
                <a:gridCol w="427095">
                  <a:extLst>
                    <a:ext uri="{9D8B030D-6E8A-4147-A177-3AD203B41FA5}">
                      <a16:colId xmlns:a16="http://schemas.microsoft.com/office/drawing/2014/main" val="20003"/>
                    </a:ext>
                  </a:extLst>
                </a:gridCol>
                <a:gridCol w="427095">
                  <a:extLst>
                    <a:ext uri="{9D8B030D-6E8A-4147-A177-3AD203B41FA5}">
                      <a16:colId xmlns:a16="http://schemas.microsoft.com/office/drawing/2014/main" val="20004"/>
                    </a:ext>
                  </a:extLst>
                </a:gridCol>
                <a:gridCol w="355912">
                  <a:extLst>
                    <a:ext uri="{9D8B030D-6E8A-4147-A177-3AD203B41FA5}">
                      <a16:colId xmlns:a16="http://schemas.microsoft.com/office/drawing/2014/main" val="20005"/>
                    </a:ext>
                  </a:extLst>
                </a:gridCol>
                <a:gridCol w="427095">
                  <a:extLst>
                    <a:ext uri="{9D8B030D-6E8A-4147-A177-3AD203B41FA5}">
                      <a16:colId xmlns:a16="http://schemas.microsoft.com/office/drawing/2014/main" val="20006"/>
                    </a:ext>
                  </a:extLst>
                </a:gridCol>
                <a:gridCol w="355912">
                  <a:extLst>
                    <a:ext uri="{9D8B030D-6E8A-4147-A177-3AD203B41FA5}">
                      <a16:colId xmlns:a16="http://schemas.microsoft.com/office/drawing/2014/main" val="20007"/>
                    </a:ext>
                  </a:extLst>
                </a:gridCol>
                <a:gridCol w="355912">
                  <a:extLst>
                    <a:ext uri="{9D8B030D-6E8A-4147-A177-3AD203B41FA5}">
                      <a16:colId xmlns:a16="http://schemas.microsoft.com/office/drawing/2014/main" val="20008"/>
                    </a:ext>
                  </a:extLst>
                </a:gridCol>
                <a:gridCol w="355912">
                  <a:extLst>
                    <a:ext uri="{9D8B030D-6E8A-4147-A177-3AD203B41FA5}">
                      <a16:colId xmlns:a16="http://schemas.microsoft.com/office/drawing/2014/main" val="20009"/>
                    </a:ext>
                  </a:extLst>
                </a:gridCol>
                <a:gridCol w="355912">
                  <a:extLst>
                    <a:ext uri="{9D8B030D-6E8A-4147-A177-3AD203B41FA5}">
                      <a16:colId xmlns:a16="http://schemas.microsoft.com/office/drawing/2014/main" val="20010"/>
                    </a:ext>
                  </a:extLst>
                </a:gridCol>
                <a:gridCol w="355912">
                  <a:extLst>
                    <a:ext uri="{9D8B030D-6E8A-4147-A177-3AD203B41FA5}">
                      <a16:colId xmlns:a16="http://schemas.microsoft.com/office/drawing/2014/main" val="20011"/>
                    </a:ext>
                  </a:extLst>
                </a:gridCol>
                <a:gridCol w="355912">
                  <a:extLst>
                    <a:ext uri="{9D8B030D-6E8A-4147-A177-3AD203B41FA5}">
                      <a16:colId xmlns:a16="http://schemas.microsoft.com/office/drawing/2014/main" val="20012"/>
                    </a:ext>
                  </a:extLst>
                </a:gridCol>
                <a:gridCol w="427095">
                  <a:extLst>
                    <a:ext uri="{9D8B030D-6E8A-4147-A177-3AD203B41FA5}">
                      <a16:colId xmlns:a16="http://schemas.microsoft.com/office/drawing/2014/main" val="20013"/>
                    </a:ext>
                  </a:extLst>
                </a:gridCol>
                <a:gridCol w="355912">
                  <a:extLst>
                    <a:ext uri="{9D8B030D-6E8A-4147-A177-3AD203B41FA5}">
                      <a16:colId xmlns:a16="http://schemas.microsoft.com/office/drawing/2014/main" val="20014"/>
                    </a:ext>
                  </a:extLst>
                </a:gridCol>
                <a:gridCol w="427095">
                  <a:extLst>
                    <a:ext uri="{9D8B030D-6E8A-4147-A177-3AD203B41FA5}">
                      <a16:colId xmlns:a16="http://schemas.microsoft.com/office/drawing/2014/main" val="20015"/>
                    </a:ext>
                  </a:extLst>
                </a:gridCol>
                <a:gridCol w="427095">
                  <a:extLst>
                    <a:ext uri="{9D8B030D-6E8A-4147-A177-3AD203B41FA5}">
                      <a16:colId xmlns:a16="http://schemas.microsoft.com/office/drawing/2014/main" val="20016"/>
                    </a:ext>
                  </a:extLst>
                </a:gridCol>
                <a:gridCol w="427095">
                  <a:extLst>
                    <a:ext uri="{9D8B030D-6E8A-4147-A177-3AD203B41FA5}">
                      <a16:colId xmlns:a16="http://schemas.microsoft.com/office/drawing/2014/main" val="20017"/>
                    </a:ext>
                  </a:extLst>
                </a:gridCol>
                <a:gridCol w="427095">
                  <a:extLst>
                    <a:ext uri="{9D8B030D-6E8A-4147-A177-3AD203B41FA5}">
                      <a16:colId xmlns:a16="http://schemas.microsoft.com/office/drawing/2014/main" val="20018"/>
                    </a:ext>
                  </a:extLst>
                </a:gridCol>
                <a:gridCol w="427095">
                  <a:extLst>
                    <a:ext uri="{9D8B030D-6E8A-4147-A177-3AD203B41FA5}">
                      <a16:colId xmlns:a16="http://schemas.microsoft.com/office/drawing/2014/main" val="20019"/>
                    </a:ext>
                  </a:extLst>
                </a:gridCol>
                <a:gridCol w="457860">
                  <a:extLst>
                    <a:ext uri="{9D8B030D-6E8A-4147-A177-3AD203B41FA5}">
                      <a16:colId xmlns:a16="http://schemas.microsoft.com/office/drawing/2014/main" val="20020"/>
                    </a:ext>
                  </a:extLst>
                </a:gridCol>
              </a:tblGrid>
              <a:tr h="177391">
                <a:tc rowSpan="2">
                  <a:txBody>
                    <a:bodyPr/>
                    <a:lstStyle>
                      <a:lvl1pPr indent="133350">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产品年序</a:t>
                      </a:r>
                      <a:endParaRPr kumimoji="0" lang="en-US" altLang="zh-CN"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13335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役龄</a:t>
                      </a:r>
                      <a:endParaRPr kumimoji="0" lang="en-US" altLang="zh-CN"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13335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项目</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第一年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第二年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第三年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第四年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五</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期前</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44033">
                <a:tc vMerge="1">
                  <a:txBody>
                    <a:bodyPr/>
                    <a:lstStyle/>
                    <a:p>
                      <a:endParaRPr lang="zh-CN" altLang="en-US"/>
                    </a:p>
                  </a:txBody>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收入</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21</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27</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运行费用</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更新费用</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27</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37</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9" name="Object 12"/>
          <p:cNvGraphicFramePr>
            <a:graphicFrameLocks noChangeAspect="1"/>
          </p:cNvGraphicFramePr>
          <p:nvPr>
            <p:extLst>
              <p:ext uri="{D42A27DB-BD31-4B8C-83A1-F6EECF244321}">
                <p14:modId xmlns:p14="http://schemas.microsoft.com/office/powerpoint/2010/main" val="2172819924"/>
              </p:ext>
            </p:extLst>
          </p:nvPr>
        </p:nvGraphicFramePr>
        <p:xfrm>
          <a:off x="1466850" y="3644900"/>
          <a:ext cx="3833813" cy="655638"/>
        </p:xfrm>
        <a:graphic>
          <a:graphicData uri="http://schemas.openxmlformats.org/presentationml/2006/ole">
            <mc:AlternateContent xmlns:mc="http://schemas.openxmlformats.org/markup-compatibility/2006">
              <mc:Choice xmlns:v="urn:schemas-microsoft-com:vml" Requires="v">
                <p:oleObj spid="_x0000_s223321" name="Equation" r:id="rId3" imgW="2844720" imgH="482400" progId="Equation.DSMT4">
                  <p:embed/>
                </p:oleObj>
              </mc:Choice>
              <mc:Fallback>
                <p:oleObj name="Equation" r:id="rId3" imgW="2844720" imgH="482400" progId="Equation.DSMT4">
                  <p:embed/>
                  <p:pic>
                    <p:nvPicPr>
                      <p:cNvPr id="151558" name="Object 12"/>
                      <p:cNvPicPr>
                        <a:picLocks noChangeAspect="1" noChangeArrowheads="1"/>
                      </p:cNvPicPr>
                      <p:nvPr/>
                    </p:nvPicPr>
                    <p:blipFill>
                      <a:blip r:embed="rId4"/>
                      <a:srcRect/>
                      <a:stretch>
                        <a:fillRect/>
                      </a:stretch>
                    </p:blipFill>
                    <p:spPr bwMode="auto">
                      <a:xfrm>
                        <a:off x="1466850" y="3644900"/>
                        <a:ext cx="3833813"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11"/>
          <p:cNvGraphicFramePr>
            <a:graphicFrameLocks noChangeAspect="1"/>
          </p:cNvGraphicFramePr>
          <p:nvPr>
            <p:extLst>
              <p:ext uri="{D42A27DB-BD31-4B8C-83A1-F6EECF244321}">
                <p14:modId xmlns:p14="http://schemas.microsoft.com/office/powerpoint/2010/main" val="1072732889"/>
              </p:ext>
            </p:extLst>
          </p:nvPr>
        </p:nvGraphicFramePr>
        <p:xfrm>
          <a:off x="1465263" y="4649788"/>
          <a:ext cx="5275262" cy="655637"/>
        </p:xfrm>
        <a:graphic>
          <a:graphicData uri="http://schemas.openxmlformats.org/presentationml/2006/ole">
            <mc:AlternateContent xmlns:mc="http://schemas.openxmlformats.org/markup-compatibility/2006">
              <mc:Choice xmlns:v="urn:schemas-microsoft-com:vml" Requires="v">
                <p:oleObj spid="_x0000_s223322" name="Equation" r:id="rId5" imgW="3682800" imgH="457200" progId="Equation.DSMT4">
                  <p:embed/>
                </p:oleObj>
              </mc:Choice>
              <mc:Fallback>
                <p:oleObj name="Equation" r:id="rId5" imgW="3682800" imgH="457200" progId="Equation.DSMT4">
                  <p:embed/>
                  <p:pic>
                    <p:nvPicPr>
                      <p:cNvPr id="151559" name="Object 11"/>
                      <p:cNvPicPr>
                        <a:picLocks noChangeAspect="1" noChangeArrowheads="1"/>
                      </p:cNvPicPr>
                      <p:nvPr/>
                    </p:nvPicPr>
                    <p:blipFill>
                      <a:blip r:embed="rId6"/>
                      <a:srcRect/>
                      <a:stretch>
                        <a:fillRect/>
                      </a:stretch>
                    </p:blipFill>
                    <p:spPr bwMode="auto">
                      <a:xfrm>
                        <a:off x="1465263" y="4649788"/>
                        <a:ext cx="5275262"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10"/>
          <p:cNvGraphicFramePr>
            <a:graphicFrameLocks noChangeAspect="1"/>
          </p:cNvGraphicFramePr>
          <p:nvPr>
            <p:extLst>
              <p:ext uri="{D42A27DB-BD31-4B8C-83A1-F6EECF244321}">
                <p14:modId xmlns:p14="http://schemas.microsoft.com/office/powerpoint/2010/main" val="438886562"/>
              </p:ext>
            </p:extLst>
          </p:nvPr>
        </p:nvGraphicFramePr>
        <p:xfrm>
          <a:off x="1472804" y="5917576"/>
          <a:ext cx="4249042" cy="376187"/>
        </p:xfrm>
        <a:graphic>
          <a:graphicData uri="http://schemas.openxmlformats.org/presentationml/2006/ole">
            <mc:AlternateContent xmlns:mc="http://schemas.openxmlformats.org/markup-compatibility/2006">
              <mc:Choice xmlns:v="urn:schemas-microsoft-com:vml" Requires="v">
                <p:oleObj spid="_x0000_s223323" name="Equation" r:id="rId7" imgW="2577960" imgH="228600" progId="Equation.DSMT4">
                  <p:embed/>
                </p:oleObj>
              </mc:Choice>
              <mc:Fallback>
                <p:oleObj name="Equation" r:id="rId7" imgW="2577960" imgH="228600" progId="Equation.DSMT4">
                  <p:embed/>
                  <p:pic>
                    <p:nvPicPr>
                      <p:cNvPr id="151560" name="Object 10"/>
                      <p:cNvPicPr>
                        <a:picLocks noChangeAspect="1" noChangeArrowheads="1"/>
                      </p:cNvPicPr>
                      <p:nvPr/>
                    </p:nvPicPr>
                    <p:blipFill>
                      <a:blip r:embed="rId8"/>
                      <a:srcRect/>
                      <a:stretch>
                        <a:fillRect/>
                      </a:stretch>
                    </p:blipFill>
                    <p:spPr bwMode="auto">
                      <a:xfrm>
                        <a:off x="1472804" y="5917576"/>
                        <a:ext cx="4249042" cy="376187"/>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314545641"/>
      </p:ext>
    </p:extLst>
  </p:cSld>
  <p:clrMapOvr>
    <a:masterClrMapping/>
  </p:clrMapOvr>
  <p:transition spd="slow"/>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8B89B67F-1689-435D-B95B-A2CB74905A01}" type="slidenum">
              <a:rPr lang="en-US" altLang="zh-CN" sz="1000"/>
              <a:pPr/>
              <a:t>76</a:t>
            </a:fld>
            <a:endParaRPr lang="en-US" altLang="zh-CN" sz="1000"/>
          </a:p>
        </p:txBody>
      </p:sp>
      <p:sp>
        <p:nvSpPr>
          <p:cNvPr id="149508" name="Rectangle 2"/>
          <p:cNvSpPr>
            <a:spLocks noGrp="1" noChangeArrowheads="1"/>
          </p:cNvSpPr>
          <p:nvPr>
            <p:ph type="title"/>
          </p:nvPr>
        </p:nvSpPr>
        <p:spPr/>
        <p:txBody>
          <a:bodyPr/>
          <a:lstStyle/>
          <a:p>
            <a:r>
              <a:rPr lang="en-US" altLang="zh-CN" dirty="0" smtClean="0"/>
              <a:t>8.4.5</a:t>
            </a:r>
            <a:r>
              <a:rPr lang="zh-CN" altLang="en-US" dirty="0" smtClean="0"/>
              <a:t>  </a:t>
            </a:r>
            <a:r>
              <a:rPr lang="zh-CN" altLang="en-US" dirty="0"/>
              <a:t>设备更新问题</a:t>
            </a:r>
          </a:p>
        </p:txBody>
      </p:sp>
      <p:sp>
        <p:nvSpPr>
          <p:cNvPr id="149509"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9514" name="Rectangle 11"/>
          <p:cNvSpPr>
            <a:spLocks noChangeArrowheads="1"/>
          </p:cNvSpPr>
          <p:nvPr/>
        </p:nvSpPr>
        <p:spPr bwMode="auto">
          <a:xfrm>
            <a:off x="468313" y="3166139"/>
            <a:ext cx="84963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smtClean="0">
                <a:latin typeface="Times New Roman" panose="02020603050405020304" pitchFamily="18" charset="0"/>
                <a:cs typeface="Times New Roman" panose="02020603050405020304" pitchFamily="18" charset="0"/>
              </a:rPr>
              <a:t>当</a:t>
            </a:r>
            <a:r>
              <a:rPr lang="en-US" altLang="zh-CN" b="1" i="1" dirty="0"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=2</a:t>
            </a:r>
            <a:r>
              <a:rPr lang="zh-CN" altLang="en-US" b="1" dirty="0" smtClean="0">
                <a:latin typeface="Times New Roman" panose="02020603050405020304" pitchFamily="18" charset="0"/>
                <a:cs typeface="Times New Roman" panose="02020603050405020304" pitchFamily="18" charset="0"/>
              </a:rPr>
              <a:t>时，则</a:t>
            </a:r>
            <a:r>
              <a:rPr lang="zh-CN" altLang="en-US" b="1" dirty="0">
                <a:latin typeface="Times New Roman" panose="02020603050405020304" pitchFamily="18" charset="0"/>
                <a:cs typeface="Times New Roman" panose="02020603050405020304" pitchFamily="18" charset="0"/>
              </a:rPr>
              <a:t>递推关系式为</a:t>
            </a:r>
          </a:p>
        </p:txBody>
      </p:sp>
      <p:sp>
        <p:nvSpPr>
          <p:cNvPr id="149515" name="Rectangle 14"/>
          <p:cNvSpPr>
            <a:spLocks noChangeArrowheads="1"/>
          </p:cNvSpPr>
          <p:nvPr/>
        </p:nvSpPr>
        <p:spPr bwMode="auto">
          <a:xfrm>
            <a:off x="528370" y="4760317"/>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Times New Roman" panose="02020603050405020304" pitchFamily="18" charset="0"/>
              </a:rPr>
              <a:t>因此</a:t>
            </a:r>
            <a:r>
              <a:rPr lang="zh-CN" altLang="en-US" b="1" dirty="0">
                <a:cs typeface="Courier New" panose="02070309020205020404" pitchFamily="49" charset="0"/>
              </a:rPr>
              <a:t>	</a:t>
            </a:r>
            <a:endParaRPr lang="zh-CN" altLang="en-US" b="1" dirty="0"/>
          </a:p>
        </p:txBody>
      </p:sp>
      <p:sp>
        <p:nvSpPr>
          <p:cNvPr id="149516" name="Rectangle 15"/>
          <p:cNvSpPr>
            <a:spLocks noChangeArrowheads="1"/>
          </p:cNvSpPr>
          <p:nvPr/>
        </p:nvSpPr>
        <p:spPr bwMode="auto">
          <a:xfrm>
            <a:off x="468313" y="5105176"/>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b="1">
                <a:cs typeface="Courier New" panose="02070309020205020404" pitchFamily="49" charset="0"/>
              </a:rPr>
              <a:t>	</a:t>
            </a:r>
            <a:endParaRPr lang="en-US" altLang="zh-CN" b="1"/>
          </a:p>
        </p:txBody>
      </p:sp>
      <p:sp>
        <p:nvSpPr>
          <p:cNvPr id="149517" name="Rectangle 16"/>
          <p:cNvSpPr>
            <a:spLocks noChangeArrowheads="1"/>
          </p:cNvSpPr>
          <p:nvPr/>
        </p:nvSpPr>
        <p:spPr bwMode="auto">
          <a:xfrm>
            <a:off x="528370" y="5940697"/>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latin typeface="Times New Roman" panose="02020603050405020304" pitchFamily="18" charset="0"/>
                <a:cs typeface="Times New Roman" panose="02020603050405020304" pitchFamily="18" charset="0"/>
              </a:rPr>
              <a:t>同理	</a:t>
            </a:r>
            <a:endParaRPr lang="zh-CN" altLang="en-US" b="1" dirty="0"/>
          </a:p>
        </p:txBody>
      </p:sp>
      <p:sp>
        <p:nvSpPr>
          <p:cNvPr id="14" name="内容占位符 1"/>
          <p:cNvSpPr>
            <a:spLocks noGrp="1"/>
          </p:cNvSpPr>
          <p:nvPr>
            <p:ph idx="1"/>
          </p:nvPr>
        </p:nvSpPr>
        <p:spPr>
          <a:xfrm>
            <a:off x="0" y="1108576"/>
            <a:ext cx="8280920" cy="461665"/>
          </a:xfrm>
        </p:spPr>
        <p:txBody>
          <a:bodyPr/>
          <a:lstStyle/>
          <a:p>
            <a:r>
              <a:rPr lang="zh-CN" altLang="en-US" dirty="0">
                <a:cs typeface="Times New Roman" panose="02020603050405020304" pitchFamily="18" charset="0"/>
              </a:rPr>
              <a:t>例</a:t>
            </a:r>
            <a:r>
              <a:rPr lang="en-US" altLang="zh-CN" dirty="0">
                <a:cs typeface="Times New Roman" panose="02020603050405020304" pitchFamily="18" charset="0"/>
              </a:rPr>
              <a:t>8-8:</a:t>
            </a:r>
            <a:endParaRPr lang="zh-CN" altLang="en-US" dirty="0"/>
          </a:p>
        </p:txBody>
      </p:sp>
      <p:graphicFrame>
        <p:nvGraphicFramePr>
          <p:cNvPr id="15" name="Group 682"/>
          <p:cNvGraphicFramePr>
            <a:graphicFrameLocks noGrp="1"/>
          </p:cNvGraphicFramePr>
          <p:nvPr/>
        </p:nvGraphicFramePr>
        <p:xfrm>
          <a:off x="248819" y="1542914"/>
          <a:ext cx="8892477" cy="1463040"/>
        </p:xfrm>
        <a:graphic>
          <a:graphicData uri="http://schemas.openxmlformats.org/drawingml/2006/table">
            <a:tbl>
              <a:tblPr/>
              <a:tblGrid>
                <a:gridCol w="889276">
                  <a:extLst>
                    <a:ext uri="{9D8B030D-6E8A-4147-A177-3AD203B41FA5}">
                      <a16:colId xmlns:a16="http://schemas.microsoft.com/office/drawing/2014/main" val="20000"/>
                    </a:ext>
                  </a:extLst>
                </a:gridCol>
                <a:gridCol w="427095">
                  <a:extLst>
                    <a:ext uri="{9D8B030D-6E8A-4147-A177-3AD203B41FA5}">
                      <a16:colId xmlns:a16="http://schemas.microsoft.com/office/drawing/2014/main" val="20001"/>
                    </a:ext>
                  </a:extLst>
                </a:gridCol>
                <a:gridCol w="427095">
                  <a:extLst>
                    <a:ext uri="{9D8B030D-6E8A-4147-A177-3AD203B41FA5}">
                      <a16:colId xmlns:a16="http://schemas.microsoft.com/office/drawing/2014/main" val="20002"/>
                    </a:ext>
                  </a:extLst>
                </a:gridCol>
                <a:gridCol w="427095">
                  <a:extLst>
                    <a:ext uri="{9D8B030D-6E8A-4147-A177-3AD203B41FA5}">
                      <a16:colId xmlns:a16="http://schemas.microsoft.com/office/drawing/2014/main" val="20003"/>
                    </a:ext>
                  </a:extLst>
                </a:gridCol>
                <a:gridCol w="427095">
                  <a:extLst>
                    <a:ext uri="{9D8B030D-6E8A-4147-A177-3AD203B41FA5}">
                      <a16:colId xmlns:a16="http://schemas.microsoft.com/office/drawing/2014/main" val="20004"/>
                    </a:ext>
                  </a:extLst>
                </a:gridCol>
                <a:gridCol w="355912">
                  <a:extLst>
                    <a:ext uri="{9D8B030D-6E8A-4147-A177-3AD203B41FA5}">
                      <a16:colId xmlns:a16="http://schemas.microsoft.com/office/drawing/2014/main" val="20005"/>
                    </a:ext>
                  </a:extLst>
                </a:gridCol>
                <a:gridCol w="427095">
                  <a:extLst>
                    <a:ext uri="{9D8B030D-6E8A-4147-A177-3AD203B41FA5}">
                      <a16:colId xmlns:a16="http://schemas.microsoft.com/office/drawing/2014/main" val="20006"/>
                    </a:ext>
                  </a:extLst>
                </a:gridCol>
                <a:gridCol w="355912">
                  <a:extLst>
                    <a:ext uri="{9D8B030D-6E8A-4147-A177-3AD203B41FA5}">
                      <a16:colId xmlns:a16="http://schemas.microsoft.com/office/drawing/2014/main" val="20007"/>
                    </a:ext>
                  </a:extLst>
                </a:gridCol>
                <a:gridCol w="355912">
                  <a:extLst>
                    <a:ext uri="{9D8B030D-6E8A-4147-A177-3AD203B41FA5}">
                      <a16:colId xmlns:a16="http://schemas.microsoft.com/office/drawing/2014/main" val="20008"/>
                    </a:ext>
                  </a:extLst>
                </a:gridCol>
                <a:gridCol w="355912">
                  <a:extLst>
                    <a:ext uri="{9D8B030D-6E8A-4147-A177-3AD203B41FA5}">
                      <a16:colId xmlns:a16="http://schemas.microsoft.com/office/drawing/2014/main" val="20009"/>
                    </a:ext>
                  </a:extLst>
                </a:gridCol>
                <a:gridCol w="355912">
                  <a:extLst>
                    <a:ext uri="{9D8B030D-6E8A-4147-A177-3AD203B41FA5}">
                      <a16:colId xmlns:a16="http://schemas.microsoft.com/office/drawing/2014/main" val="20010"/>
                    </a:ext>
                  </a:extLst>
                </a:gridCol>
                <a:gridCol w="355912">
                  <a:extLst>
                    <a:ext uri="{9D8B030D-6E8A-4147-A177-3AD203B41FA5}">
                      <a16:colId xmlns:a16="http://schemas.microsoft.com/office/drawing/2014/main" val="20011"/>
                    </a:ext>
                  </a:extLst>
                </a:gridCol>
                <a:gridCol w="355912">
                  <a:extLst>
                    <a:ext uri="{9D8B030D-6E8A-4147-A177-3AD203B41FA5}">
                      <a16:colId xmlns:a16="http://schemas.microsoft.com/office/drawing/2014/main" val="20012"/>
                    </a:ext>
                  </a:extLst>
                </a:gridCol>
                <a:gridCol w="427095">
                  <a:extLst>
                    <a:ext uri="{9D8B030D-6E8A-4147-A177-3AD203B41FA5}">
                      <a16:colId xmlns:a16="http://schemas.microsoft.com/office/drawing/2014/main" val="20013"/>
                    </a:ext>
                  </a:extLst>
                </a:gridCol>
                <a:gridCol w="355912">
                  <a:extLst>
                    <a:ext uri="{9D8B030D-6E8A-4147-A177-3AD203B41FA5}">
                      <a16:colId xmlns:a16="http://schemas.microsoft.com/office/drawing/2014/main" val="20014"/>
                    </a:ext>
                  </a:extLst>
                </a:gridCol>
                <a:gridCol w="427095">
                  <a:extLst>
                    <a:ext uri="{9D8B030D-6E8A-4147-A177-3AD203B41FA5}">
                      <a16:colId xmlns:a16="http://schemas.microsoft.com/office/drawing/2014/main" val="20015"/>
                    </a:ext>
                  </a:extLst>
                </a:gridCol>
                <a:gridCol w="427095">
                  <a:extLst>
                    <a:ext uri="{9D8B030D-6E8A-4147-A177-3AD203B41FA5}">
                      <a16:colId xmlns:a16="http://schemas.microsoft.com/office/drawing/2014/main" val="20016"/>
                    </a:ext>
                  </a:extLst>
                </a:gridCol>
                <a:gridCol w="427095">
                  <a:extLst>
                    <a:ext uri="{9D8B030D-6E8A-4147-A177-3AD203B41FA5}">
                      <a16:colId xmlns:a16="http://schemas.microsoft.com/office/drawing/2014/main" val="20017"/>
                    </a:ext>
                  </a:extLst>
                </a:gridCol>
                <a:gridCol w="427095">
                  <a:extLst>
                    <a:ext uri="{9D8B030D-6E8A-4147-A177-3AD203B41FA5}">
                      <a16:colId xmlns:a16="http://schemas.microsoft.com/office/drawing/2014/main" val="20018"/>
                    </a:ext>
                  </a:extLst>
                </a:gridCol>
                <a:gridCol w="427095">
                  <a:extLst>
                    <a:ext uri="{9D8B030D-6E8A-4147-A177-3AD203B41FA5}">
                      <a16:colId xmlns:a16="http://schemas.microsoft.com/office/drawing/2014/main" val="20019"/>
                    </a:ext>
                  </a:extLst>
                </a:gridCol>
                <a:gridCol w="457860">
                  <a:extLst>
                    <a:ext uri="{9D8B030D-6E8A-4147-A177-3AD203B41FA5}">
                      <a16:colId xmlns:a16="http://schemas.microsoft.com/office/drawing/2014/main" val="20020"/>
                    </a:ext>
                  </a:extLst>
                </a:gridCol>
              </a:tblGrid>
              <a:tr h="177391">
                <a:tc rowSpan="2">
                  <a:txBody>
                    <a:bodyPr/>
                    <a:lstStyle>
                      <a:lvl1pPr indent="133350">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产品年序</a:t>
                      </a:r>
                      <a:endParaRPr kumimoji="0" lang="en-US" altLang="zh-CN"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13335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役龄</a:t>
                      </a:r>
                      <a:endParaRPr kumimoji="0" lang="en-US" altLang="zh-CN"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13335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项目</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第一年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第二年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第三年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第四年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五</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期前</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44033">
                <a:tc vMerge="1">
                  <a:txBody>
                    <a:bodyPr/>
                    <a:lstStyle/>
                    <a:p>
                      <a:endParaRPr lang="zh-CN" altLang="en-US"/>
                    </a:p>
                  </a:txBody>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收入</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21</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27</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运行费用</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更新费用</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27</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37</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6" name="Object 12"/>
          <p:cNvGraphicFramePr>
            <a:graphicFrameLocks noChangeAspect="1"/>
          </p:cNvGraphicFramePr>
          <p:nvPr>
            <p:extLst>
              <p:ext uri="{D42A27DB-BD31-4B8C-83A1-F6EECF244321}">
                <p14:modId xmlns:p14="http://schemas.microsoft.com/office/powerpoint/2010/main" val="2858619190"/>
              </p:ext>
            </p:extLst>
          </p:nvPr>
        </p:nvGraphicFramePr>
        <p:xfrm>
          <a:off x="1406525" y="3519488"/>
          <a:ext cx="3849688" cy="650875"/>
        </p:xfrm>
        <a:graphic>
          <a:graphicData uri="http://schemas.openxmlformats.org/presentationml/2006/ole">
            <mc:AlternateContent xmlns:mc="http://schemas.openxmlformats.org/markup-compatibility/2006">
              <mc:Choice xmlns:v="urn:schemas-microsoft-com:vml" Requires="v">
                <p:oleObj spid="_x0000_s224345" name="Equation" r:id="rId3" imgW="2869920" imgH="482400" progId="Equation.DSMT4">
                  <p:embed/>
                </p:oleObj>
              </mc:Choice>
              <mc:Fallback>
                <p:oleObj name="Equation" r:id="rId3" imgW="2869920" imgH="482400" progId="Equation.DSMT4">
                  <p:embed/>
                  <p:pic>
                    <p:nvPicPr>
                      <p:cNvPr id="152582" name="Object 12"/>
                      <p:cNvPicPr>
                        <a:picLocks noChangeAspect="1" noChangeArrowheads="1"/>
                      </p:cNvPicPr>
                      <p:nvPr/>
                    </p:nvPicPr>
                    <p:blipFill>
                      <a:blip r:embed="rId4"/>
                      <a:srcRect/>
                      <a:stretch>
                        <a:fillRect/>
                      </a:stretch>
                    </p:blipFill>
                    <p:spPr bwMode="auto">
                      <a:xfrm>
                        <a:off x="1406525" y="3519488"/>
                        <a:ext cx="3849688"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1"/>
          <p:cNvGraphicFramePr>
            <a:graphicFrameLocks noChangeAspect="1"/>
          </p:cNvGraphicFramePr>
          <p:nvPr>
            <p:extLst>
              <p:ext uri="{D42A27DB-BD31-4B8C-83A1-F6EECF244321}">
                <p14:modId xmlns:p14="http://schemas.microsoft.com/office/powerpoint/2010/main" val="2388841194"/>
              </p:ext>
            </p:extLst>
          </p:nvPr>
        </p:nvGraphicFramePr>
        <p:xfrm>
          <a:off x="1406525" y="4694238"/>
          <a:ext cx="4640263" cy="563562"/>
        </p:xfrm>
        <a:graphic>
          <a:graphicData uri="http://schemas.openxmlformats.org/presentationml/2006/ole">
            <mc:AlternateContent xmlns:mc="http://schemas.openxmlformats.org/markup-compatibility/2006">
              <mc:Choice xmlns:v="urn:schemas-microsoft-com:vml" Requires="v">
                <p:oleObj spid="_x0000_s224346" name="Equation" r:id="rId5" imgW="3759120" imgH="457200" progId="Equation.DSMT4">
                  <p:embed/>
                </p:oleObj>
              </mc:Choice>
              <mc:Fallback>
                <p:oleObj name="Equation" r:id="rId5" imgW="3759120" imgH="457200" progId="Equation.DSMT4">
                  <p:embed/>
                  <p:pic>
                    <p:nvPicPr>
                      <p:cNvPr id="152583" name="Object 11"/>
                      <p:cNvPicPr>
                        <a:picLocks noChangeAspect="1" noChangeArrowheads="1"/>
                      </p:cNvPicPr>
                      <p:nvPr/>
                    </p:nvPicPr>
                    <p:blipFill>
                      <a:blip r:embed="rId6"/>
                      <a:srcRect/>
                      <a:stretch>
                        <a:fillRect/>
                      </a:stretch>
                    </p:blipFill>
                    <p:spPr bwMode="auto">
                      <a:xfrm>
                        <a:off x="1406525" y="4694238"/>
                        <a:ext cx="4640263"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0"/>
          <p:cNvGraphicFramePr>
            <a:graphicFrameLocks noChangeAspect="1"/>
          </p:cNvGraphicFramePr>
          <p:nvPr>
            <p:extLst>
              <p:ext uri="{D42A27DB-BD31-4B8C-83A1-F6EECF244321}">
                <p14:modId xmlns:p14="http://schemas.microsoft.com/office/powerpoint/2010/main" val="3570795434"/>
              </p:ext>
            </p:extLst>
          </p:nvPr>
        </p:nvGraphicFramePr>
        <p:xfrm>
          <a:off x="1404938" y="5776913"/>
          <a:ext cx="4859337" cy="609600"/>
        </p:xfrm>
        <a:graphic>
          <a:graphicData uri="http://schemas.openxmlformats.org/presentationml/2006/ole">
            <mc:AlternateContent xmlns:mc="http://schemas.openxmlformats.org/markup-compatibility/2006">
              <mc:Choice xmlns:v="urn:schemas-microsoft-com:vml" Requires="v">
                <p:oleObj spid="_x0000_s224347" name="Equation" r:id="rId7" imgW="3644640" imgH="457200" progId="Equation.DSMT4">
                  <p:embed/>
                </p:oleObj>
              </mc:Choice>
              <mc:Fallback>
                <p:oleObj name="Equation" r:id="rId7" imgW="3644640" imgH="457200" progId="Equation.DSMT4">
                  <p:embed/>
                  <p:pic>
                    <p:nvPicPr>
                      <p:cNvPr id="152584" name="Object 10"/>
                      <p:cNvPicPr>
                        <a:picLocks noChangeAspect="1" noChangeArrowheads="1"/>
                      </p:cNvPicPr>
                      <p:nvPr/>
                    </p:nvPicPr>
                    <p:blipFill>
                      <a:blip r:embed="rId8"/>
                      <a:srcRect/>
                      <a:stretch>
                        <a:fillRect/>
                      </a:stretch>
                    </p:blipFill>
                    <p:spPr bwMode="auto">
                      <a:xfrm>
                        <a:off x="1404938" y="5776913"/>
                        <a:ext cx="48593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68670981"/>
      </p:ext>
    </p:extLst>
  </p:cSld>
  <p:clrMapOvr>
    <a:masterClrMapping/>
  </p:clrMapOvr>
  <p:transition spd="slow"/>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8B89B67F-1689-435D-B95B-A2CB74905A01}" type="slidenum">
              <a:rPr lang="en-US" altLang="zh-CN" sz="1000"/>
              <a:pPr/>
              <a:t>77</a:t>
            </a:fld>
            <a:endParaRPr lang="en-US" altLang="zh-CN" sz="1000"/>
          </a:p>
        </p:txBody>
      </p:sp>
      <p:sp>
        <p:nvSpPr>
          <p:cNvPr id="149508" name="Rectangle 2"/>
          <p:cNvSpPr>
            <a:spLocks noGrp="1" noChangeArrowheads="1"/>
          </p:cNvSpPr>
          <p:nvPr>
            <p:ph type="title"/>
          </p:nvPr>
        </p:nvSpPr>
        <p:spPr/>
        <p:txBody>
          <a:bodyPr/>
          <a:lstStyle/>
          <a:p>
            <a:r>
              <a:rPr lang="en-US" altLang="zh-CN" dirty="0" smtClean="0"/>
              <a:t>8.4.5</a:t>
            </a:r>
            <a:r>
              <a:rPr lang="zh-CN" altLang="en-US" dirty="0" smtClean="0"/>
              <a:t>  </a:t>
            </a:r>
            <a:r>
              <a:rPr lang="zh-CN" altLang="en-US" dirty="0"/>
              <a:t>设备更新问题</a:t>
            </a:r>
          </a:p>
        </p:txBody>
      </p:sp>
      <p:sp>
        <p:nvSpPr>
          <p:cNvPr id="149509"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9514" name="Rectangle 11"/>
          <p:cNvSpPr>
            <a:spLocks noChangeArrowheads="1"/>
          </p:cNvSpPr>
          <p:nvPr/>
        </p:nvSpPr>
        <p:spPr bwMode="auto">
          <a:xfrm>
            <a:off x="468313" y="3166139"/>
            <a:ext cx="84963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smtClean="0">
                <a:latin typeface="Times New Roman" panose="02020603050405020304" pitchFamily="18" charset="0"/>
                <a:cs typeface="Times New Roman" panose="02020603050405020304" pitchFamily="18" charset="0"/>
              </a:rPr>
              <a:t>当</a:t>
            </a:r>
            <a:r>
              <a:rPr lang="en-US" altLang="zh-CN" b="1" i="1" dirty="0"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=1</a:t>
            </a:r>
            <a:r>
              <a:rPr lang="zh-CN" altLang="en-US" b="1" dirty="0" smtClean="0">
                <a:latin typeface="Times New Roman" panose="02020603050405020304" pitchFamily="18" charset="0"/>
                <a:cs typeface="Times New Roman" panose="02020603050405020304" pitchFamily="18" charset="0"/>
              </a:rPr>
              <a:t>时，则</a:t>
            </a:r>
            <a:r>
              <a:rPr lang="zh-CN" altLang="en-US" b="1" dirty="0">
                <a:latin typeface="Times New Roman" panose="02020603050405020304" pitchFamily="18" charset="0"/>
                <a:cs typeface="Times New Roman" panose="02020603050405020304" pitchFamily="18" charset="0"/>
              </a:rPr>
              <a:t>递推关系式为</a:t>
            </a:r>
          </a:p>
        </p:txBody>
      </p:sp>
      <p:sp>
        <p:nvSpPr>
          <p:cNvPr id="149515" name="Rectangle 14"/>
          <p:cNvSpPr>
            <a:spLocks noChangeArrowheads="1"/>
          </p:cNvSpPr>
          <p:nvPr/>
        </p:nvSpPr>
        <p:spPr bwMode="auto">
          <a:xfrm>
            <a:off x="468313" y="4557443"/>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Times New Roman" panose="02020603050405020304" pitchFamily="18" charset="0"/>
              </a:rPr>
              <a:t>故</a:t>
            </a:r>
            <a:r>
              <a:rPr lang="zh-CN" altLang="en-US" b="1" dirty="0">
                <a:cs typeface="Courier New" panose="02070309020205020404" pitchFamily="49" charset="0"/>
              </a:rPr>
              <a:t>	</a:t>
            </a:r>
            <a:endParaRPr lang="zh-CN" altLang="en-US" b="1" dirty="0"/>
          </a:p>
        </p:txBody>
      </p:sp>
      <p:sp>
        <p:nvSpPr>
          <p:cNvPr id="149516" name="Rectangle 15"/>
          <p:cNvSpPr>
            <a:spLocks noChangeArrowheads="1"/>
          </p:cNvSpPr>
          <p:nvPr/>
        </p:nvSpPr>
        <p:spPr bwMode="auto">
          <a:xfrm>
            <a:off x="468313" y="5105176"/>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b="1">
                <a:cs typeface="Courier New" panose="02070309020205020404" pitchFamily="49" charset="0"/>
              </a:rPr>
              <a:t>	</a:t>
            </a:r>
            <a:endParaRPr lang="en-US" altLang="zh-CN" b="1"/>
          </a:p>
        </p:txBody>
      </p:sp>
      <p:sp>
        <p:nvSpPr>
          <p:cNvPr id="14" name="内容占位符 1"/>
          <p:cNvSpPr>
            <a:spLocks noGrp="1"/>
          </p:cNvSpPr>
          <p:nvPr>
            <p:ph idx="1"/>
          </p:nvPr>
        </p:nvSpPr>
        <p:spPr>
          <a:xfrm>
            <a:off x="0" y="1108576"/>
            <a:ext cx="8280920" cy="461665"/>
          </a:xfrm>
        </p:spPr>
        <p:txBody>
          <a:bodyPr/>
          <a:lstStyle/>
          <a:p>
            <a:r>
              <a:rPr lang="zh-CN" altLang="en-US" dirty="0">
                <a:cs typeface="Times New Roman" panose="02020603050405020304" pitchFamily="18" charset="0"/>
              </a:rPr>
              <a:t>例</a:t>
            </a:r>
            <a:r>
              <a:rPr lang="en-US" altLang="zh-CN" dirty="0">
                <a:cs typeface="Times New Roman" panose="02020603050405020304" pitchFamily="18" charset="0"/>
              </a:rPr>
              <a:t>8-8:</a:t>
            </a:r>
            <a:endParaRPr lang="zh-CN" altLang="en-US" dirty="0"/>
          </a:p>
        </p:txBody>
      </p:sp>
      <p:graphicFrame>
        <p:nvGraphicFramePr>
          <p:cNvPr id="15" name="Group 682"/>
          <p:cNvGraphicFramePr>
            <a:graphicFrameLocks noGrp="1"/>
          </p:cNvGraphicFramePr>
          <p:nvPr/>
        </p:nvGraphicFramePr>
        <p:xfrm>
          <a:off x="248819" y="1542914"/>
          <a:ext cx="8892477" cy="1463040"/>
        </p:xfrm>
        <a:graphic>
          <a:graphicData uri="http://schemas.openxmlformats.org/drawingml/2006/table">
            <a:tbl>
              <a:tblPr/>
              <a:tblGrid>
                <a:gridCol w="889276">
                  <a:extLst>
                    <a:ext uri="{9D8B030D-6E8A-4147-A177-3AD203B41FA5}">
                      <a16:colId xmlns:a16="http://schemas.microsoft.com/office/drawing/2014/main" val="20000"/>
                    </a:ext>
                  </a:extLst>
                </a:gridCol>
                <a:gridCol w="427095">
                  <a:extLst>
                    <a:ext uri="{9D8B030D-6E8A-4147-A177-3AD203B41FA5}">
                      <a16:colId xmlns:a16="http://schemas.microsoft.com/office/drawing/2014/main" val="20001"/>
                    </a:ext>
                  </a:extLst>
                </a:gridCol>
                <a:gridCol w="427095">
                  <a:extLst>
                    <a:ext uri="{9D8B030D-6E8A-4147-A177-3AD203B41FA5}">
                      <a16:colId xmlns:a16="http://schemas.microsoft.com/office/drawing/2014/main" val="20002"/>
                    </a:ext>
                  </a:extLst>
                </a:gridCol>
                <a:gridCol w="427095">
                  <a:extLst>
                    <a:ext uri="{9D8B030D-6E8A-4147-A177-3AD203B41FA5}">
                      <a16:colId xmlns:a16="http://schemas.microsoft.com/office/drawing/2014/main" val="20003"/>
                    </a:ext>
                  </a:extLst>
                </a:gridCol>
                <a:gridCol w="427095">
                  <a:extLst>
                    <a:ext uri="{9D8B030D-6E8A-4147-A177-3AD203B41FA5}">
                      <a16:colId xmlns:a16="http://schemas.microsoft.com/office/drawing/2014/main" val="20004"/>
                    </a:ext>
                  </a:extLst>
                </a:gridCol>
                <a:gridCol w="355912">
                  <a:extLst>
                    <a:ext uri="{9D8B030D-6E8A-4147-A177-3AD203B41FA5}">
                      <a16:colId xmlns:a16="http://schemas.microsoft.com/office/drawing/2014/main" val="20005"/>
                    </a:ext>
                  </a:extLst>
                </a:gridCol>
                <a:gridCol w="427095">
                  <a:extLst>
                    <a:ext uri="{9D8B030D-6E8A-4147-A177-3AD203B41FA5}">
                      <a16:colId xmlns:a16="http://schemas.microsoft.com/office/drawing/2014/main" val="20006"/>
                    </a:ext>
                  </a:extLst>
                </a:gridCol>
                <a:gridCol w="355912">
                  <a:extLst>
                    <a:ext uri="{9D8B030D-6E8A-4147-A177-3AD203B41FA5}">
                      <a16:colId xmlns:a16="http://schemas.microsoft.com/office/drawing/2014/main" val="20007"/>
                    </a:ext>
                  </a:extLst>
                </a:gridCol>
                <a:gridCol w="355912">
                  <a:extLst>
                    <a:ext uri="{9D8B030D-6E8A-4147-A177-3AD203B41FA5}">
                      <a16:colId xmlns:a16="http://schemas.microsoft.com/office/drawing/2014/main" val="20008"/>
                    </a:ext>
                  </a:extLst>
                </a:gridCol>
                <a:gridCol w="355912">
                  <a:extLst>
                    <a:ext uri="{9D8B030D-6E8A-4147-A177-3AD203B41FA5}">
                      <a16:colId xmlns:a16="http://schemas.microsoft.com/office/drawing/2014/main" val="20009"/>
                    </a:ext>
                  </a:extLst>
                </a:gridCol>
                <a:gridCol w="355912">
                  <a:extLst>
                    <a:ext uri="{9D8B030D-6E8A-4147-A177-3AD203B41FA5}">
                      <a16:colId xmlns:a16="http://schemas.microsoft.com/office/drawing/2014/main" val="20010"/>
                    </a:ext>
                  </a:extLst>
                </a:gridCol>
                <a:gridCol w="355912">
                  <a:extLst>
                    <a:ext uri="{9D8B030D-6E8A-4147-A177-3AD203B41FA5}">
                      <a16:colId xmlns:a16="http://schemas.microsoft.com/office/drawing/2014/main" val="20011"/>
                    </a:ext>
                  </a:extLst>
                </a:gridCol>
                <a:gridCol w="355912">
                  <a:extLst>
                    <a:ext uri="{9D8B030D-6E8A-4147-A177-3AD203B41FA5}">
                      <a16:colId xmlns:a16="http://schemas.microsoft.com/office/drawing/2014/main" val="20012"/>
                    </a:ext>
                  </a:extLst>
                </a:gridCol>
                <a:gridCol w="427095">
                  <a:extLst>
                    <a:ext uri="{9D8B030D-6E8A-4147-A177-3AD203B41FA5}">
                      <a16:colId xmlns:a16="http://schemas.microsoft.com/office/drawing/2014/main" val="20013"/>
                    </a:ext>
                  </a:extLst>
                </a:gridCol>
                <a:gridCol w="355912">
                  <a:extLst>
                    <a:ext uri="{9D8B030D-6E8A-4147-A177-3AD203B41FA5}">
                      <a16:colId xmlns:a16="http://schemas.microsoft.com/office/drawing/2014/main" val="20014"/>
                    </a:ext>
                  </a:extLst>
                </a:gridCol>
                <a:gridCol w="427095">
                  <a:extLst>
                    <a:ext uri="{9D8B030D-6E8A-4147-A177-3AD203B41FA5}">
                      <a16:colId xmlns:a16="http://schemas.microsoft.com/office/drawing/2014/main" val="20015"/>
                    </a:ext>
                  </a:extLst>
                </a:gridCol>
                <a:gridCol w="427095">
                  <a:extLst>
                    <a:ext uri="{9D8B030D-6E8A-4147-A177-3AD203B41FA5}">
                      <a16:colId xmlns:a16="http://schemas.microsoft.com/office/drawing/2014/main" val="20016"/>
                    </a:ext>
                  </a:extLst>
                </a:gridCol>
                <a:gridCol w="427095">
                  <a:extLst>
                    <a:ext uri="{9D8B030D-6E8A-4147-A177-3AD203B41FA5}">
                      <a16:colId xmlns:a16="http://schemas.microsoft.com/office/drawing/2014/main" val="20017"/>
                    </a:ext>
                  </a:extLst>
                </a:gridCol>
                <a:gridCol w="427095">
                  <a:extLst>
                    <a:ext uri="{9D8B030D-6E8A-4147-A177-3AD203B41FA5}">
                      <a16:colId xmlns:a16="http://schemas.microsoft.com/office/drawing/2014/main" val="20018"/>
                    </a:ext>
                  </a:extLst>
                </a:gridCol>
                <a:gridCol w="427095">
                  <a:extLst>
                    <a:ext uri="{9D8B030D-6E8A-4147-A177-3AD203B41FA5}">
                      <a16:colId xmlns:a16="http://schemas.microsoft.com/office/drawing/2014/main" val="20019"/>
                    </a:ext>
                  </a:extLst>
                </a:gridCol>
                <a:gridCol w="457860">
                  <a:extLst>
                    <a:ext uri="{9D8B030D-6E8A-4147-A177-3AD203B41FA5}">
                      <a16:colId xmlns:a16="http://schemas.microsoft.com/office/drawing/2014/main" val="20020"/>
                    </a:ext>
                  </a:extLst>
                </a:gridCol>
              </a:tblGrid>
              <a:tr h="177391">
                <a:tc rowSpan="2">
                  <a:txBody>
                    <a:bodyPr/>
                    <a:lstStyle>
                      <a:lvl1pPr indent="133350">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产品年序</a:t>
                      </a:r>
                      <a:endParaRPr kumimoji="0" lang="en-US" altLang="zh-CN"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13335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役龄</a:t>
                      </a:r>
                      <a:endParaRPr kumimoji="0" lang="en-US" altLang="zh-CN"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13335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项目</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第一年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第二年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第三年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第四年</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五</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期前</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44033">
                <a:tc vMerge="1">
                  <a:txBody>
                    <a:bodyPr/>
                    <a:lstStyle/>
                    <a:p>
                      <a:endParaRPr lang="zh-CN" altLang="en-US"/>
                    </a:p>
                  </a:txBody>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收入</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21</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27</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运行费用</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4033">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更新费用</a:t>
                      </a:r>
                      <a:endPar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27</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37</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29</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31</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33</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32</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34</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36</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38</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7" marR="9143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9" name="Object 11"/>
          <p:cNvGraphicFramePr>
            <a:graphicFrameLocks noChangeAspect="1"/>
          </p:cNvGraphicFramePr>
          <p:nvPr>
            <p:extLst>
              <p:ext uri="{D42A27DB-BD31-4B8C-83A1-F6EECF244321}">
                <p14:modId xmlns:p14="http://schemas.microsoft.com/office/powerpoint/2010/main" val="2756538274"/>
              </p:ext>
            </p:extLst>
          </p:nvPr>
        </p:nvGraphicFramePr>
        <p:xfrm>
          <a:off x="1387475" y="3692525"/>
          <a:ext cx="3705225" cy="639763"/>
        </p:xfrm>
        <a:graphic>
          <a:graphicData uri="http://schemas.openxmlformats.org/presentationml/2006/ole">
            <mc:AlternateContent xmlns:mc="http://schemas.openxmlformats.org/markup-compatibility/2006">
              <mc:Choice xmlns:v="urn:schemas-microsoft-com:vml" Requires="v">
                <p:oleObj spid="_x0000_s225342" name="Equation" r:id="rId3" imgW="2819160" imgH="482400" progId="Equation.DSMT4">
                  <p:embed/>
                </p:oleObj>
              </mc:Choice>
              <mc:Fallback>
                <p:oleObj name="Equation" r:id="rId3" imgW="2819160" imgH="482400" progId="Equation.DSMT4">
                  <p:embed/>
                  <p:pic>
                    <p:nvPicPr>
                      <p:cNvPr id="153606" name="Object 11"/>
                      <p:cNvPicPr>
                        <a:picLocks noChangeAspect="1" noChangeArrowheads="1"/>
                      </p:cNvPicPr>
                      <p:nvPr/>
                    </p:nvPicPr>
                    <p:blipFill>
                      <a:blip r:embed="rId4"/>
                      <a:srcRect/>
                      <a:stretch>
                        <a:fillRect/>
                      </a:stretch>
                    </p:blipFill>
                    <p:spPr bwMode="auto">
                      <a:xfrm>
                        <a:off x="1387475" y="3692525"/>
                        <a:ext cx="3705225"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10"/>
          <p:cNvGraphicFramePr>
            <a:graphicFrameLocks noChangeAspect="1"/>
          </p:cNvGraphicFramePr>
          <p:nvPr>
            <p:extLst>
              <p:ext uri="{D42A27DB-BD31-4B8C-83A1-F6EECF244321}">
                <p14:modId xmlns:p14="http://schemas.microsoft.com/office/powerpoint/2010/main" val="3727928730"/>
              </p:ext>
            </p:extLst>
          </p:nvPr>
        </p:nvGraphicFramePr>
        <p:xfrm>
          <a:off x="1417390" y="4533748"/>
          <a:ext cx="3849687" cy="966788"/>
        </p:xfrm>
        <a:graphic>
          <a:graphicData uri="http://schemas.openxmlformats.org/presentationml/2006/ole">
            <mc:AlternateContent xmlns:mc="http://schemas.openxmlformats.org/markup-compatibility/2006">
              <mc:Choice xmlns:v="urn:schemas-microsoft-com:vml" Requires="v">
                <p:oleObj spid="_x0000_s225343" name="Equation" r:id="rId5" imgW="2831760" imgH="711000" progId="Equation.DSMT4">
                  <p:embed/>
                </p:oleObj>
              </mc:Choice>
              <mc:Fallback>
                <p:oleObj name="Equation" r:id="rId5" imgW="2831760" imgH="711000" progId="Equation.DSMT4">
                  <p:embed/>
                  <p:pic>
                    <p:nvPicPr>
                      <p:cNvPr id="153607" name="Object 10"/>
                      <p:cNvPicPr>
                        <a:picLocks noChangeAspect="1" noChangeArrowheads="1"/>
                      </p:cNvPicPr>
                      <p:nvPr/>
                    </p:nvPicPr>
                    <p:blipFill>
                      <a:blip r:embed="rId6"/>
                      <a:srcRect/>
                      <a:stretch>
                        <a:fillRect/>
                      </a:stretch>
                    </p:blipFill>
                    <p:spPr bwMode="auto">
                      <a:xfrm>
                        <a:off x="1417390" y="4533748"/>
                        <a:ext cx="3849687"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Rectangle 16"/>
          <p:cNvSpPr>
            <a:spLocks noChangeArrowheads="1"/>
          </p:cNvSpPr>
          <p:nvPr/>
        </p:nvSpPr>
        <p:spPr bwMode="auto">
          <a:xfrm>
            <a:off x="468313" y="5694234"/>
            <a:ext cx="555342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indent="0"/>
            <a:r>
              <a:rPr lang="zh-CN" altLang="en-US" b="1" dirty="0">
                <a:cs typeface="Times New Roman" panose="02020603050405020304" pitchFamily="18" charset="0"/>
              </a:rPr>
              <a:t>根据</a:t>
            </a:r>
            <a:r>
              <a:rPr lang="zh-CN" altLang="en-US" b="1" dirty="0" smtClean="0">
                <a:cs typeface="Times New Roman" panose="02020603050405020304" pitchFamily="18" charset="0"/>
              </a:rPr>
              <a:t>上面过程</a:t>
            </a:r>
            <a:r>
              <a:rPr lang="zh-CN" altLang="en-US" b="1" dirty="0">
                <a:cs typeface="Times New Roman" panose="02020603050405020304" pitchFamily="18" charset="0"/>
              </a:rPr>
              <a:t>反推之</a:t>
            </a:r>
            <a:r>
              <a:rPr lang="zh-CN" altLang="en-US" b="1" dirty="0" smtClean="0">
                <a:cs typeface="Times New Roman" panose="02020603050405020304" pitchFamily="18" charset="0"/>
              </a:rPr>
              <a:t>，求得</a:t>
            </a:r>
            <a:r>
              <a:rPr lang="zh-CN" altLang="en-US" b="1" dirty="0">
                <a:cs typeface="Times New Roman" panose="02020603050405020304" pitchFamily="18" charset="0"/>
              </a:rPr>
              <a:t>最优策略如</a:t>
            </a:r>
            <a:r>
              <a:rPr lang="zh-CN" altLang="en-US" b="1" dirty="0" smtClean="0">
                <a:cs typeface="Times New Roman" panose="02020603050405020304" pitchFamily="18" charset="0"/>
              </a:rPr>
              <a:t>表</a:t>
            </a:r>
            <a:r>
              <a:rPr lang="en-US" altLang="zh-CN" b="1" dirty="0" smtClean="0">
                <a:cs typeface="Times New Roman" panose="02020603050405020304" pitchFamily="18" charset="0"/>
              </a:rPr>
              <a:t>8-12</a:t>
            </a:r>
            <a:r>
              <a:rPr lang="zh-CN" altLang="en-US" b="1" dirty="0" smtClean="0">
                <a:cs typeface="Times New Roman" panose="02020603050405020304" pitchFamily="18" charset="0"/>
              </a:rPr>
              <a:t>，</a:t>
            </a:r>
            <a:endParaRPr lang="en-US" altLang="zh-CN" b="1" dirty="0" smtClean="0">
              <a:cs typeface="Times New Roman" panose="02020603050405020304" pitchFamily="18" charset="0"/>
            </a:endParaRPr>
          </a:p>
          <a:p>
            <a:pPr indent="0"/>
            <a:r>
              <a:rPr lang="zh-CN" altLang="en-US" b="1" dirty="0" smtClean="0">
                <a:cs typeface="Times New Roman" panose="02020603050405020304" pitchFamily="18" charset="0"/>
              </a:rPr>
              <a:t>相应</a:t>
            </a:r>
            <a:r>
              <a:rPr lang="zh-CN" altLang="en-US" b="1" dirty="0">
                <a:cs typeface="Times New Roman" panose="02020603050405020304" pitchFamily="18" charset="0"/>
              </a:rPr>
              <a:t>最佳收益为</a:t>
            </a:r>
            <a:r>
              <a:rPr lang="en-US" altLang="zh-CN" b="1" dirty="0">
                <a:cs typeface="Times New Roman" panose="02020603050405020304" pitchFamily="18" charset="0"/>
              </a:rPr>
              <a:t>46</a:t>
            </a:r>
            <a:r>
              <a:rPr lang="zh-CN" altLang="en-US" b="1" dirty="0">
                <a:cs typeface="Times New Roman" panose="02020603050405020304" pitchFamily="18" charset="0"/>
              </a:rPr>
              <a:t>单位。</a:t>
            </a:r>
            <a:endParaRPr lang="zh-CN" altLang="en-US" b="1" dirty="0"/>
          </a:p>
        </p:txBody>
      </p:sp>
      <p:graphicFrame>
        <p:nvGraphicFramePr>
          <p:cNvPr id="22" name="Group 134"/>
          <p:cNvGraphicFramePr>
            <a:graphicFrameLocks noGrp="1"/>
          </p:cNvGraphicFramePr>
          <p:nvPr>
            <p:extLst>
              <p:ext uri="{D42A27DB-BD31-4B8C-83A1-F6EECF244321}">
                <p14:modId xmlns:p14="http://schemas.microsoft.com/office/powerpoint/2010/main" val="4031222873"/>
              </p:ext>
            </p:extLst>
          </p:nvPr>
        </p:nvGraphicFramePr>
        <p:xfrm>
          <a:off x="6109544" y="4245352"/>
          <a:ext cx="2854944" cy="2255436"/>
        </p:xfrm>
        <a:graphic>
          <a:graphicData uri="http://schemas.openxmlformats.org/drawingml/2006/table">
            <a:tbl>
              <a:tblPr/>
              <a:tblGrid>
                <a:gridCol w="951648">
                  <a:extLst>
                    <a:ext uri="{9D8B030D-6E8A-4147-A177-3AD203B41FA5}">
                      <a16:colId xmlns:a16="http://schemas.microsoft.com/office/drawing/2014/main" val="20000"/>
                    </a:ext>
                  </a:extLst>
                </a:gridCol>
                <a:gridCol w="951648">
                  <a:extLst>
                    <a:ext uri="{9D8B030D-6E8A-4147-A177-3AD203B41FA5}">
                      <a16:colId xmlns:a16="http://schemas.microsoft.com/office/drawing/2014/main" val="20001"/>
                    </a:ext>
                  </a:extLst>
                </a:gridCol>
                <a:gridCol w="951648">
                  <a:extLst>
                    <a:ext uri="{9D8B030D-6E8A-4147-A177-3AD203B41FA5}">
                      <a16:colId xmlns:a16="http://schemas.microsoft.com/office/drawing/2014/main" val="20002"/>
                    </a:ext>
                  </a:extLst>
                </a:gridCol>
              </a:tblGrid>
              <a:tr h="219141">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年</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机龄</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最 佳 策 略</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9141">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K</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9141">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R</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19141">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K</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19141">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K</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19141">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K</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3" name="Rectangle 132"/>
          <p:cNvSpPr>
            <a:spLocks noChangeArrowheads="1"/>
          </p:cNvSpPr>
          <p:nvPr/>
        </p:nvSpPr>
        <p:spPr bwMode="auto">
          <a:xfrm>
            <a:off x="7019032" y="3846066"/>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47675" indent="-447675">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dirty="0" smtClean="0"/>
              <a:t>表</a:t>
            </a:r>
            <a:r>
              <a:rPr lang="en-US" altLang="zh-CN" dirty="0" smtClean="0"/>
              <a:t>8-12</a:t>
            </a:r>
            <a:endParaRPr lang="en-US" altLang="zh-CN" dirty="0"/>
          </a:p>
        </p:txBody>
      </p:sp>
    </p:spTree>
    <p:extLst>
      <p:ext uri="{BB962C8B-B14F-4D97-AF65-F5344CB8AC3E}">
        <p14:creationId xmlns:p14="http://schemas.microsoft.com/office/powerpoint/2010/main" val="4275971007"/>
      </p:ext>
    </p:extLst>
  </p:cSld>
  <p:clrMapOvr>
    <a:masterClrMapping/>
  </p:clrMapOvr>
  <p:transition spd="slow"/>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8" name="Rectangle 2"/>
          <p:cNvSpPr>
            <a:spLocks noGrp="1" noChangeArrowheads="1"/>
          </p:cNvSpPr>
          <p:nvPr>
            <p:ph type="title"/>
          </p:nvPr>
        </p:nvSpPr>
        <p:spPr/>
        <p:txBody>
          <a:bodyPr/>
          <a:lstStyle/>
          <a:p>
            <a:r>
              <a:rPr lang="en-US" altLang="zh-CN" dirty="0" smtClean="0"/>
              <a:t>8.4.6</a:t>
            </a:r>
            <a:r>
              <a:rPr lang="zh-CN" altLang="en-US" dirty="0" smtClean="0"/>
              <a:t> </a:t>
            </a:r>
            <a:r>
              <a:rPr lang="zh-CN" altLang="en-US" dirty="0"/>
              <a:t>货郎担问题</a:t>
            </a:r>
          </a:p>
        </p:txBody>
      </p:sp>
      <p:sp>
        <p:nvSpPr>
          <p:cNvPr id="2" name="内容占位符 1"/>
          <p:cNvSpPr>
            <a:spLocks noGrp="1"/>
          </p:cNvSpPr>
          <p:nvPr>
            <p:ph idx="1"/>
          </p:nvPr>
        </p:nvSpPr>
        <p:spPr>
          <a:xfrm>
            <a:off x="539552" y="1337268"/>
            <a:ext cx="8280920" cy="4745915"/>
          </a:xfrm>
        </p:spPr>
        <p:txBody>
          <a:bodyPr/>
          <a:lstStyle/>
          <a:p>
            <a:r>
              <a:rPr lang="zh-CN" altLang="en-US" dirty="0" smtClean="0"/>
              <a:t>运筹学</a:t>
            </a:r>
            <a:r>
              <a:rPr lang="zh-CN" altLang="en-US" dirty="0"/>
              <a:t>里是一个著名的命题</a:t>
            </a:r>
            <a:r>
              <a:rPr lang="zh-CN" altLang="en-US" dirty="0" smtClean="0"/>
              <a:t>。</a:t>
            </a:r>
            <a:endParaRPr lang="en-US" altLang="zh-CN" dirty="0" smtClean="0"/>
          </a:p>
          <a:p>
            <a:r>
              <a:rPr lang="zh-CN" altLang="en-US" dirty="0" smtClean="0"/>
              <a:t>有</a:t>
            </a:r>
            <a:r>
              <a:rPr lang="zh-CN" altLang="en-US" dirty="0"/>
              <a:t>一个串村走户卖货郎，他从某个村庄出发，通过若干个村庄一次且仅一次，最后仍回到原出发的村庄。问应如何选择行走路线，能使总的行程最短。类似的问题有旅行路线问题，应如何选择行走路线，使总路程最短或费用最少等</a:t>
            </a:r>
            <a:r>
              <a:rPr lang="zh-CN" altLang="en-US" dirty="0" smtClean="0"/>
              <a:t>。</a:t>
            </a:r>
            <a:endParaRPr lang="en-US" altLang="zh-CN" dirty="0" smtClean="0"/>
          </a:p>
          <a:p>
            <a:endParaRPr lang="en-US" altLang="zh-CN" dirty="0"/>
          </a:p>
          <a:p>
            <a:r>
              <a:rPr lang="zh-CN" altLang="en-US" dirty="0" smtClean="0">
                <a:latin typeface="Times New Roman" panose="02020603050405020304" pitchFamily="18" charset="0"/>
                <a:cs typeface="Times New Roman" panose="02020603050405020304" pitchFamily="18" charset="0"/>
              </a:rPr>
              <a:t>问题一般化</a:t>
            </a:r>
            <a:r>
              <a:rPr lang="en-US" altLang="zh-CN" dirty="0" smtClean="0">
                <a:latin typeface="Times New Roman" panose="02020603050405020304" pitchFamily="18" charset="0"/>
                <a:cs typeface="Times New Roman" panose="02020603050405020304" pitchFamily="18" charset="0"/>
              </a:rPr>
              <a:t>:</a:t>
            </a:r>
            <a:r>
              <a:rPr lang="zh-CN" altLang="en-US" dirty="0" smtClean="0">
                <a:latin typeface="Times New Roman" panose="02020603050405020304" pitchFamily="18" charset="0"/>
                <a:cs typeface="Times New Roman" panose="02020603050405020304" pitchFamily="18" charset="0"/>
              </a:rPr>
              <a:t>设有</a:t>
            </a:r>
            <a:r>
              <a:rPr lang="en-US" altLang="zh-CN" i="1"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个城市，以</a:t>
            </a:r>
            <a:r>
              <a:rPr lang="en-US" altLang="zh-CN" dirty="0" smtClean="0">
                <a:latin typeface="Times New Roman" panose="02020603050405020304" pitchFamily="18" charset="0"/>
                <a:cs typeface="Times New Roman" panose="02020603050405020304" pitchFamily="18" charset="0"/>
              </a:rPr>
              <a:t>1,2,…,</a:t>
            </a:r>
            <a:r>
              <a:rPr lang="en-US" altLang="zh-CN" i="1" dirty="0" smtClean="0">
                <a:latin typeface="Times New Roman" panose="02020603050405020304" pitchFamily="18" charset="0"/>
                <a:cs typeface="Times New Roman" panose="02020603050405020304" pitchFamily="18" charset="0"/>
              </a:rPr>
              <a:t>n</a:t>
            </a:r>
            <a:r>
              <a:rPr lang="zh-CN" altLang="en-US" dirty="0" smtClean="0">
                <a:latin typeface="Times New Roman" panose="02020603050405020304" pitchFamily="18" charset="0"/>
                <a:cs typeface="Times New Roman" panose="02020603050405020304" pitchFamily="18" charset="0"/>
              </a:rPr>
              <a:t>表示。</a:t>
            </a:r>
            <a:r>
              <a:rPr lang="en-US" altLang="zh-CN" i="1" dirty="0" err="1">
                <a:latin typeface="Times New Roman" panose="02020603050405020304" pitchFamily="18" charset="0"/>
                <a:cs typeface="Times New Roman" panose="02020603050405020304" pitchFamily="18" charset="0"/>
              </a:rPr>
              <a:t>d</a:t>
            </a:r>
            <a:r>
              <a:rPr lang="en-US" altLang="zh-CN" i="1" baseline="-25000" dirty="0" err="1">
                <a:latin typeface="Times New Roman" panose="02020603050405020304" pitchFamily="18" charset="0"/>
                <a:cs typeface="Times New Roman" panose="02020603050405020304" pitchFamily="18" charset="0"/>
              </a:rPr>
              <a:t>ij</a:t>
            </a:r>
            <a:r>
              <a:rPr lang="zh-CN" altLang="en-US" dirty="0">
                <a:latin typeface="Times New Roman" panose="02020603050405020304" pitchFamily="18" charset="0"/>
                <a:cs typeface="Times New Roman" panose="02020603050405020304" pitchFamily="18" charset="0"/>
              </a:rPr>
              <a:t>表示从</a:t>
            </a:r>
            <a:r>
              <a:rPr lang="en-US" altLang="zh-CN" i="1" dirty="0" err="1">
                <a:latin typeface="Times New Roman" panose="02020603050405020304" pitchFamily="18" charset="0"/>
                <a:cs typeface="Times New Roman" panose="02020603050405020304" pitchFamily="18" charset="0"/>
              </a:rPr>
              <a:t>i</a:t>
            </a:r>
            <a:r>
              <a:rPr lang="zh-CN" altLang="en-US" dirty="0">
                <a:latin typeface="Times New Roman" panose="02020603050405020304" pitchFamily="18" charset="0"/>
                <a:cs typeface="Times New Roman" panose="02020603050405020304" pitchFamily="18" charset="0"/>
              </a:rPr>
              <a:t>城到</a:t>
            </a:r>
            <a:r>
              <a:rPr lang="en-US" altLang="zh-CN" i="1" dirty="0">
                <a:latin typeface="Times New Roman" panose="02020603050405020304" pitchFamily="18" charset="0"/>
                <a:cs typeface="Times New Roman" panose="02020603050405020304" pitchFamily="18" charset="0"/>
              </a:rPr>
              <a:t>j</a:t>
            </a:r>
            <a:r>
              <a:rPr lang="zh-CN" altLang="en-US" dirty="0">
                <a:latin typeface="Times New Roman" panose="02020603050405020304" pitchFamily="18" charset="0"/>
                <a:cs typeface="Times New Roman" panose="02020603050405020304" pitchFamily="18" charset="0"/>
              </a:rPr>
              <a:t>城的距离。一个推销员从</a:t>
            </a:r>
            <a:r>
              <a:rPr lang="zh-CN" altLang="en-US" dirty="0">
                <a:solidFill>
                  <a:srgbClr val="FF0000"/>
                </a:solidFill>
                <a:latin typeface="Times New Roman" panose="02020603050405020304" pitchFamily="18" charset="0"/>
                <a:cs typeface="Times New Roman" panose="02020603050405020304" pitchFamily="18" charset="0"/>
              </a:rPr>
              <a:t>城市</a:t>
            </a:r>
            <a:r>
              <a:rPr lang="en-US" altLang="zh-CN" dirty="0">
                <a:solidFill>
                  <a:srgbClr val="FF0000"/>
                </a:solidFill>
                <a:latin typeface="Times New Roman" panose="02020603050405020304" pitchFamily="18" charset="0"/>
                <a:cs typeface="Times New Roman" panose="02020603050405020304" pitchFamily="18" charset="0"/>
              </a:rPr>
              <a:t>1</a:t>
            </a:r>
            <a:r>
              <a:rPr lang="zh-CN" altLang="en-US" dirty="0">
                <a:solidFill>
                  <a:srgbClr val="FF0000"/>
                </a:solidFill>
                <a:latin typeface="Times New Roman" panose="02020603050405020304" pitchFamily="18" charset="0"/>
                <a:cs typeface="Times New Roman" panose="02020603050405020304" pitchFamily="18" charset="0"/>
              </a:rPr>
              <a:t>出发</a:t>
            </a:r>
            <a:r>
              <a:rPr lang="zh-CN" altLang="en-US" dirty="0">
                <a:latin typeface="Times New Roman" panose="02020603050405020304" pitchFamily="18" charset="0"/>
                <a:cs typeface="Times New Roman" panose="02020603050405020304" pitchFamily="18" charset="0"/>
              </a:rPr>
              <a:t>到其他每个城市</a:t>
            </a:r>
            <a:r>
              <a:rPr lang="zh-CN" altLang="en-US" dirty="0">
                <a:solidFill>
                  <a:srgbClr val="FF0000"/>
                </a:solidFill>
                <a:latin typeface="Times New Roman" panose="02020603050405020304" pitchFamily="18" charset="0"/>
                <a:cs typeface="Times New Roman" panose="02020603050405020304" pitchFamily="18" charset="0"/>
              </a:rPr>
              <a:t>去一次且仅仅是一次</a:t>
            </a:r>
            <a:r>
              <a:rPr lang="zh-CN" altLang="en-US" dirty="0">
                <a:latin typeface="Times New Roman" panose="02020603050405020304" pitchFamily="18" charset="0"/>
                <a:cs typeface="Times New Roman" panose="02020603050405020304" pitchFamily="18" charset="0"/>
              </a:rPr>
              <a:t>，然后</a:t>
            </a:r>
            <a:r>
              <a:rPr lang="zh-CN" altLang="en-US" dirty="0">
                <a:solidFill>
                  <a:srgbClr val="FF0000"/>
                </a:solidFill>
                <a:latin typeface="Times New Roman" panose="02020603050405020304" pitchFamily="18" charset="0"/>
                <a:cs typeface="Times New Roman" panose="02020603050405020304" pitchFamily="18" charset="0"/>
              </a:rPr>
              <a:t>回到城市</a:t>
            </a:r>
            <a:r>
              <a:rPr lang="en-US" altLang="zh-CN" dirty="0">
                <a:solidFill>
                  <a:srgbClr val="FF0000"/>
                </a:solidFill>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。问他如何选择行走的路线，使总的路程最短。这个问题属于组合最优化问题，</a:t>
            </a:r>
            <a:r>
              <a:rPr lang="zh-CN" altLang="en-US" dirty="0" smtClean="0">
                <a:latin typeface="Times New Roman" panose="02020603050405020304" pitchFamily="18" charset="0"/>
                <a:cs typeface="Times New Roman" panose="02020603050405020304" pitchFamily="18" charset="0"/>
              </a:rPr>
              <a:t>当</a:t>
            </a:r>
            <a:r>
              <a:rPr lang="en-US" altLang="zh-CN" i="1" dirty="0">
                <a:latin typeface="Times New Roman" panose="02020603050405020304" pitchFamily="18" charset="0"/>
                <a:cs typeface="Times New Roman" panose="02020603050405020304" pitchFamily="18" charset="0"/>
              </a:rPr>
              <a:t>n</a:t>
            </a:r>
            <a:r>
              <a:rPr lang="zh-CN" altLang="en-US" dirty="0" smtClean="0">
                <a:latin typeface="Times New Roman" panose="02020603050405020304" pitchFamily="18" charset="0"/>
                <a:cs typeface="Times New Roman" panose="02020603050405020304" pitchFamily="18" charset="0"/>
              </a:rPr>
              <a:t>不</a:t>
            </a:r>
            <a:r>
              <a:rPr lang="zh-CN" altLang="en-US" dirty="0">
                <a:latin typeface="Times New Roman" panose="02020603050405020304" pitchFamily="18" charset="0"/>
                <a:cs typeface="Times New Roman" panose="02020603050405020304" pitchFamily="18" charset="0"/>
              </a:rPr>
              <a:t>太大时，利用动态规划方法求解是很方便的</a:t>
            </a:r>
            <a:r>
              <a:rPr lang="zh-CN" altLang="en-US" dirty="0" smtClean="0">
                <a:latin typeface="Times New Roman" panose="02020603050405020304" pitchFamily="18" charset="0"/>
                <a:cs typeface="Times New Roman" panose="02020603050405020304" pitchFamily="18" charset="0"/>
              </a:rPr>
              <a:t>。</a:t>
            </a:r>
            <a:endParaRPr lang="zh-CN" altLang="en-US" dirty="0"/>
          </a:p>
        </p:txBody>
      </p:sp>
      <p:sp>
        <p:nvSpPr>
          <p:cNvPr id="15462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CCA23680-4249-4DDE-91E3-CF06AA52F79E}" type="slidenum">
              <a:rPr lang="en-US" altLang="zh-CN" sz="1000"/>
              <a:pPr/>
              <a:t>78</a:t>
            </a:fld>
            <a:endParaRPr lang="en-US" altLang="zh-CN" sz="1000"/>
          </a:p>
        </p:txBody>
      </p:sp>
      <p:sp>
        <p:nvSpPr>
          <p:cNvPr id="154629" name="Rectangle 5"/>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spd="slow"/>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8.4.6 </a:t>
            </a:r>
            <a:r>
              <a:rPr lang="zh-CN" altLang="en-US" dirty="0"/>
              <a:t>货郎担问题</a:t>
            </a:r>
          </a:p>
        </p:txBody>
      </p:sp>
      <p:sp>
        <p:nvSpPr>
          <p:cNvPr id="3" name="内容占位符 2"/>
          <p:cNvSpPr>
            <a:spLocks noGrp="1"/>
          </p:cNvSpPr>
          <p:nvPr>
            <p:ph idx="1"/>
          </p:nvPr>
        </p:nvSpPr>
        <p:spPr>
          <a:xfrm>
            <a:off x="539552" y="1337268"/>
            <a:ext cx="8280920" cy="461665"/>
          </a:xfrm>
        </p:spPr>
        <p:txBody>
          <a:bodyPr/>
          <a:lstStyle/>
          <a:p>
            <a:r>
              <a:rPr lang="zh-CN" altLang="en-US" dirty="0" smtClean="0"/>
              <a:t>问题建模</a:t>
            </a:r>
            <a:endParaRPr lang="zh-CN" altLang="en-US" dirty="0"/>
          </a:p>
        </p:txBody>
      </p:sp>
      <p:sp>
        <p:nvSpPr>
          <p:cNvPr id="4" name="灯片编号占位符 3"/>
          <p:cNvSpPr>
            <a:spLocks noGrp="1"/>
          </p:cNvSpPr>
          <p:nvPr>
            <p:ph type="sldNum" sz="quarter" idx="12"/>
          </p:nvPr>
        </p:nvSpPr>
        <p:spPr/>
        <p:txBody>
          <a:bodyPr/>
          <a:lstStyle/>
          <a:p>
            <a:fld id="{D6B2FC51-1DE3-4359-9B39-6CC27C545D80}" type="slidenum">
              <a:rPr lang="en-US" altLang="zh-CN" smtClean="0"/>
              <a:pPr/>
              <a:t>79</a:t>
            </a:fld>
            <a:endParaRPr lang="en-US" altLang="zh-CN"/>
          </a:p>
        </p:txBody>
      </p:sp>
      <mc:AlternateContent xmlns:mc="http://schemas.openxmlformats.org/markup-compatibility/2006" xmlns:a14="http://schemas.microsoft.com/office/drawing/2010/main">
        <mc:Choice Requires="a14">
          <p:sp>
            <p:nvSpPr>
              <p:cNvPr id="5" name="Rectangle 20"/>
              <p:cNvSpPr>
                <a:spLocks noChangeArrowheads="1"/>
              </p:cNvSpPr>
              <p:nvPr/>
            </p:nvSpPr>
            <p:spPr bwMode="auto">
              <a:xfrm>
                <a:off x="899592" y="1916832"/>
                <a:ext cx="8064896" cy="3844899"/>
              </a:xfrm>
              <a:prstGeom prst="rect">
                <a:avLst/>
              </a:prstGeom>
              <a:noFill/>
              <a:ln>
                <a:noFill/>
              </a:ln>
              <a:effectLst/>
              <a:extLst>
                <a:ext uri="{909E8E84-426E-40DD-AFC4-6F175D3DCCD1}">
                  <a14:hiddenFill>
                    <a:solidFill>
                      <a:schemeClr val="accent1"/>
                    </a:solidFill>
                  </a14:hiddenFill>
                </a:ext>
                <a:ext uri="{91240B29-F687-4F45-9708-019B960494DF}">
                  <a14:hiddenLine w="9525" algn="ctr">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r>
                  <a:rPr lang="zh-CN" altLang="en-US" b="1" dirty="0" smtClean="0">
                    <a:latin typeface="Times New Roman" panose="02020603050405020304" pitchFamily="18" charset="0"/>
                    <a:cs typeface="Times New Roman" panose="02020603050405020304" pitchFamily="18" charset="0"/>
                  </a:rPr>
                  <a:t>用动态规划方法来求解，可看作一个</a:t>
                </a:r>
                <a:r>
                  <a:rPr lang="en-US" altLang="zh-CN" b="1" i="1" dirty="0">
                    <a:latin typeface="Times New Roman" panose="02020603050405020304" pitchFamily="18" charset="0"/>
                    <a:cs typeface="Times New Roman" panose="02020603050405020304" pitchFamily="18" charset="0"/>
                  </a:rPr>
                  <a:t>n</a:t>
                </a:r>
                <a:r>
                  <a:rPr lang="zh-CN" altLang="en-US" b="1" dirty="0">
                    <a:latin typeface="Times New Roman" panose="02020603050405020304" pitchFamily="18" charset="0"/>
                    <a:cs typeface="Times New Roman" panose="02020603050405020304" pitchFamily="18" charset="0"/>
                  </a:rPr>
                  <a:t>阶段决策问题。阶段可以定义</a:t>
                </a:r>
                <a:r>
                  <a:rPr lang="zh-CN" altLang="en-US" b="1" dirty="0" smtClean="0">
                    <a:latin typeface="Times New Roman" panose="02020603050405020304" pitchFamily="18" charset="0"/>
                    <a:cs typeface="Times New Roman" panose="02020603050405020304" pitchFamily="18" charset="0"/>
                  </a:rPr>
                  <a:t>为从</a:t>
                </a:r>
                <a:r>
                  <a:rPr lang="zh-CN" altLang="en-US" b="1" dirty="0">
                    <a:latin typeface="Times New Roman" panose="02020603050405020304" pitchFamily="18" charset="0"/>
                    <a:cs typeface="Times New Roman" panose="02020603050405020304" pitchFamily="18" charset="0"/>
                  </a:rPr>
                  <a:t>起点出发经过</a:t>
                </a:r>
                <a:r>
                  <a:rPr lang="en-US" altLang="zh-CN" b="1" i="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个不同的城市为第</a:t>
                </a:r>
                <a:r>
                  <a:rPr lang="en-US" altLang="zh-CN" b="1" i="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阶段。如，从</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城直达</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城，那么在</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城就视为第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阶段；如果是</a:t>
                </a:r>
                <a:r>
                  <a:rPr lang="en-US" altLang="zh-CN" b="1" dirty="0">
                    <a:latin typeface="Times New Roman" panose="02020603050405020304" pitchFamily="18" charset="0"/>
                    <a:cs typeface="Times New Roman" panose="02020603050405020304" pitchFamily="18" charset="0"/>
                  </a:rPr>
                  <a:t>1→5→4</a:t>
                </a:r>
                <a:r>
                  <a:rPr lang="zh-CN" altLang="en-US" b="1" dirty="0">
                    <a:latin typeface="Times New Roman" panose="02020603050405020304" pitchFamily="18" charset="0"/>
                    <a:cs typeface="Times New Roman" panose="02020603050405020304" pitchFamily="18" charset="0"/>
                  </a:rPr>
                  <a:t>，则在</a:t>
                </a:r>
                <a:r>
                  <a:rPr lang="en-US" altLang="zh-CN" b="1" dirty="0">
                    <a:latin typeface="Times New Roman" panose="02020603050405020304" pitchFamily="18" charset="0"/>
                    <a:cs typeface="Times New Roman" panose="02020603050405020304" pitchFamily="18" charset="0"/>
                  </a:rPr>
                  <a:t>4</a:t>
                </a:r>
                <a:r>
                  <a:rPr lang="zh-CN" altLang="en-US" b="1" dirty="0">
                    <a:latin typeface="Times New Roman" panose="02020603050405020304" pitchFamily="18" charset="0"/>
                    <a:cs typeface="Times New Roman" panose="02020603050405020304" pitchFamily="18" charset="0"/>
                  </a:rPr>
                  <a:t>城就视为第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阶段。 </a:t>
                </a:r>
                <a:endParaRPr lang="en-US" altLang="zh-CN" b="1" dirty="0" smtClean="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b="1" dirty="0" smtClean="0">
                    <a:latin typeface="Times New Roman" panose="02020603050405020304" pitchFamily="18" charset="0"/>
                    <a:cs typeface="Times New Roman" panose="02020603050405020304" pitchFamily="18" charset="0"/>
                  </a:rPr>
                  <a:t>(1)</a:t>
                </a:r>
                <a:r>
                  <a:rPr lang="zh-CN" altLang="en-US" b="1" dirty="0" smtClean="0">
                    <a:latin typeface="Times New Roman" panose="02020603050405020304" pitchFamily="18" charset="0"/>
                    <a:cs typeface="Times New Roman" panose="02020603050405020304" pitchFamily="18" charset="0"/>
                  </a:rPr>
                  <a:t>状态变量</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：第</a:t>
                </a:r>
                <a:r>
                  <a:rPr lang="en-US" altLang="zh-CN" b="1" i="1" dirty="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阶段所有</a:t>
                </a:r>
                <a:r>
                  <a:rPr lang="zh-CN" altLang="en-US" b="1" dirty="0">
                    <a:latin typeface="Times New Roman" panose="02020603050405020304" pitchFamily="18" charset="0"/>
                    <a:cs typeface="Times New Roman" panose="02020603050405020304" pitchFamily="18" charset="0"/>
                  </a:rPr>
                  <a:t>已经到过的</a:t>
                </a:r>
                <a:r>
                  <a:rPr lang="zh-CN" altLang="en-US" b="1" dirty="0" smtClean="0">
                    <a:latin typeface="Times New Roman" panose="02020603050405020304" pitchFamily="18" charset="0"/>
                    <a:cs typeface="Times New Roman" panose="02020603050405020304" pitchFamily="18" charset="0"/>
                  </a:rPr>
                  <a:t>城市集合及当前终点</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i,S</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b="1" dirty="0" smtClean="0">
                    <a:latin typeface="Times New Roman" panose="02020603050405020304" pitchFamily="18" charset="0"/>
                    <a:cs typeface="Times New Roman" panose="02020603050405020304" pitchFamily="18" charset="0"/>
                  </a:rPr>
                  <a:t>(2)</a:t>
                </a:r>
                <a:r>
                  <a:rPr lang="zh-CN" altLang="en-US" b="1" dirty="0" smtClean="0">
                    <a:latin typeface="Times New Roman" panose="02020603050405020304" pitchFamily="18" charset="0"/>
                    <a:cs typeface="Times New Roman" panose="02020603050405020304" pitchFamily="18" charset="0"/>
                  </a:rPr>
                  <a:t>决策变量</a:t>
                </a:r>
                <a:r>
                  <a:rPr lang="en-US" altLang="zh-CN" b="1" i="1" dirty="0" err="1" smtClean="0">
                    <a:latin typeface="Times New Roman" panose="02020603050405020304" pitchFamily="18" charset="0"/>
                    <a:cs typeface="Times New Roman" panose="02020603050405020304" pitchFamily="18" charset="0"/>
                  </a:rPr>
                  <a:t>x</a:t>
                </a:r>
                <a:r>
                  <a:rPr lang="en-US" altLang="zh-CN" b="1" i="1" baseline="-25000" dirty="0" err="1"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：第</a:t>
                </a:r>
                <a:r>
                  <a:rPr lang="en-US" altLang="zh-CN" b="1" i="1" dirty="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阶段由当前城市</a:t>
                </a:r>
                <a:r>
                  <a:rPr lang="zh-CN" altLang="en-US" b="1" dirty="0">
                    <a:latin typeface="Times New Roman" panose="02020603050405020304" pitchFamily="18" charset="0"/>
                    <a:cs typeface="Times New Roman" panose="02020603050405020304" pitchFamily="18" charset="0"/>
                  </a:rPr>
                  <a:t>走到另一个</a:t>
                </a:r>
                <a:r>
                  <a:rPr lang="zh-CN" altLang="en-US" b="1" dirty="0" smtClean="0">
                    <a:latin typeface="Times New Roman" panose="02020603050405020304" pitchFamily="18" charset="0"/>
                    <a:cs typeface="Times New Roman" panose="02020603050405020304" pitchFamily="18" charset="0"/>
                  </a:rPr>
                  <a:t>城市；</a:t>
                </a:r>
                <a:endParaRPr lang="zh-CN" altLang="en-US" b="1" dirty="0">
                  <a:latin typeface="Times New Roman" panose="02020603050405020304" pitchFamily="18" charset="0"/>
                  <a:cs typeface="Times New Roman" panose="02020603050405020304" pitchFamily="18" charset="0"/>
                </a:endParaRPr>
              </a:p>
              <a:p>
                <a:r>
                  <a:rPr lang="en-US" altLang="zh-CN" b="1" dirty="0" smtClean="0">
                    <a:latin typeface="Times New Roman" panose="02020603050405020304" pitchFamily="18" charset="0"/>
                    <a:cs typeface="Times New Roman" panose="02020603050405020304" pitchFamily="18" charset="0"/>
                  </a:rPr>
                  <a:t>(3)</a:t>
                </a:r>
                <a:r>
                  <a:rPr lang="zh-CN" altLang="en-US" b="1" dirty="0" smtClean="0">
                    <a:latin typeface="Times New Roman" panose="02020603050405020304" pitchFamily="18" charset="0"/>
                    <a:cs typeface="Times New Roman" panose="02020603050405020304" pitchFamily="18" charset="0"/>
                  </a:rPr>
                  <a:t>阶段指标函数：</a:t>
                </a:r>
                <a:r>
                  <a:rPr lang="en-US" altLang="zh-CN" b="1" i="1" dirty="0" smtClean="0">
                    <a:latin typeface="Times New Roman" panose="02020603050405020304" pitchFamily="18" charset="0"/>
                    <a:cs typeface="Times New Roman" panose="02020603050405020304" pitchFamily="18" charset="0"/>
                  </a:rPr>
                  <a:t> </a:t>
                </a:r>
                <a:r>
                  <a:rPr lang="en-US" altLang="zh-CN" b="1" i="1" dirty="0" err="1" smtClean="0">
                    <a:latin typeface="Times New Roman" panose="02020603050405020304" pitchFamily="18" charset="0"/>
                    <a:cs typeface="Times New Roman" panose="02020603050405020304" pitchFamily="18" charset="0"/>
                  </a:rPr>
                  <a:t>v</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 </a:t>
                </a:r>
                <a:r>
                  <a:rPr lang="en-US" altLang="zh-CN" b="1" i="1" dirty="0" err="1" smtClean="0">
                    <a:latin typeface="Times New Roman" panose="02020603050405020304" pitchFamily="18" charset="0"/>
                    <a:cs typeface="Times New Roman" panose="02020603050405020304" pitchFamily="18" charset="0"/>
                  </a:rPr>
                  <a:t>x</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i="1" baseline="-25000"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a:t>
                </a:r>
                <a:r>
                  <a:rPr lang="en-US" altLang="zh-CN" b="1" i="1" baseline="-25000"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 </a:t>
                </a:r>
                <a:r>
                  <a:rPr lang="en-US" altLang="zh-CN" b="1" i="1" dirty="0" err="1" smtClean="0">
                    <a:latin typeface="Times New Roman" panose="02020603050405020304" pitchFamily="18" charset="0"/>
                    <a:cs typeface="Times New Roman" panose="02020603050405020304" pitchFamily="18" charset="0"/>
                  </a:rPr>
                  <a:t>d</a:t>
                </a:r>
                <a:r>
                  <a:rPr lang="en-US" altLang="zh-CN" b="1" i="1" baseline="-25000" dirty="0" err="1" smtClean="0">
                    <a:latin typeface="Times New Roman" panose="02020603050405020304" pitchFamily="18" charset="0"/>
                    <a:cs typeface="Times New Roman" panose="02020603050405020304" pitchFamily="18" charset="0"/>
                  </a:rPr>
                  <a:t>ji</a:t>
                </a:r>
                <a:endParaRPr lang="en-US" altLang="zh-CN" b="1" dirty="0" smtClean="0">
                  <a:latin typeface="Times New Roman" panose="02020603050405020304" pitchFamily="18" charset="0"/>
                  <a:cs typeface="Times New Roman" panose="02020603050405020304" pitchFamily="18" charset="0"/>
                </a:endParaRPr>
              </a:p>
              <a:p>
                <a:r>
                  <a:rPr lang="en-US" altLang="zh-CN" b="1" dirty="0" smtClean="0">
                    <a:latin typeface="Times New Roman" panose="02020603050405020304" pitchFamily="18" charset="0"/>
                    <a:cs typeface="Times New Roman" panose="02020603050405020304" pitchFamily="18" charset="0"/>
                  </a:rPr>
                  <a:t>(4)</a:t>
                </a:r>
                <a:r>
                  <a:rPr lang="zh-CN" altLang="en-US" b="1" dirty="0" smtClean="0">
                    <a:latin typeface="Times New Roman" panose="02020603050405020304" pitchFamily="18" charset="0"/>
                    <a:cs typeface="Times New Roman" panose="02020603050405020304" pitchFamily="18" charset="0"/>
                  </a:rPr>
                  <a:t>最优值函数</a:t>
                </a:r>
                <a:r>
                  <a:rPr lang="en-US" altLang="zh-CN" b="1" i="1" dirty="0" err="1" smtClean="0">
                    <a:latin typeface="Times New Roman" panose="02020603050405020304" pitchFamily="18" charset="0"/>
                    <a:cs typeface="Times New Roman" panose="02020603050405020304" pitchFamily="18" charset="0"/>
                  </a:rPr>
                  <a:t>f</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s</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：也即</a:t>
                </a:r>
                <a:r>
                  <a:rPr lang="en-US" altLang="zh-CN" b="1" i="1" dirty="0" err="1" smtClean="0">
                    <a:latin typeface="Times New Roman" panose="02020603050405020304" pitchFamily="18" charset="0"/>
                    <a:cs typeface="Times New Roman" panose="02020603050405020304" pitchFamily="18" charset="0"/>
                  </a:rPr>
                  <a:t>f</a:t>
                </a:r>
                <a:r>
                  <a:rPr lang="en-US" altLang="zh-CN" b="1" i="1" baseline="-25000" dirty="0" err="1" smtClean="0">
                    <a:latin typeface="Times New Roman" panose="02020603050405020304" pitchFamily="18" charset="0"/>
                    <a:cs typeface="Times New Roman" panose="02020603050405020304" pitchFamily="18" charset="0"/>
                  </a:rPr>
                  <a:t>k</a:t>
                </a:r>
                <a:r>
                  <a:rPr lang="en-US" altLang="zh-CN"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i</a:t>
                </a:r>
                <a:r>
                  <a:rPr lang="en-US" altLang="zh-CN" b="1" dirty="0" err="1"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S</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表示从</a:t>
                </a:r>
                <a:r>
                  <a:rPr lang="en-US" altLang="zh-CN" b="1" dirty="0" smtClean="0">
                    <a:latin typeface="Times New Roman" panose="02020603050405020304" pitchFamily="18" charset="0"/>
                    <a:cs typeface="Times New Roman" panose="02020603050405020304" pitchFamily="18" charset="0"/>
                  </a:rPr>
                  <a:t>1</a:t>
                </a:r>
                <a:r>
                  <a:rPr lang="zh-CN" altLang="en-US" b="1" dirty="0" smtClean="0">
                    <a:latin typeface="Times New Roman" panose="02020603050405020304" pitchFamily="18" charset="0"/>
                    <a:cs typeface="Times New Roman" panose="02020603050405020304" pitchFamily="18" charset="0"/>
                  </a:rPr>
                  <a:t>城开始经由</a:t>
                </a:r>
                <a:r>
                  <a:rPr lang="en-US" altLang="zh-CN" b="1" i="1" dirty="0" smtClean="0">
                    <a:latin typeface="Times New Roman" panose="02020603050405020304" pitchFamily="18" charset="0"/>
                    <a:cs typeface="Times New Roman" panose="02020603050405020304" pitchFamily="18" charset="0"/>
                  </a:rPr>
                  <a:t>k</a:t>
                </a:r>
                <a:r>
                  <a:rPr lang="zh-CN" altLang="en-US" b="1" dirty="0" smtClean="0">
                    <a:latin typeface="Times New Roman" panose="02020603050405020304" pitchFamily="18" charset="0"/>
                    <a:cs typeface="Times New Roman" panose="02020603050405020304" pitchFamily="18" charset="0"/>
                  </a:rPr>
                  <a:t>个中间城市的</a:t>
                </a:r>
                <a:r>
                  <a:rPr lang="en-US" altLang="zh-CN" b="1" i="1" dirty="0" smtClean="0">
                    <a:latin typeface="Times New Roman" panose="02020603050405020304" pitchFamily="18" charset="0"/>
                    <a:cs typeface="Times New Roman" panose="02020603050405020304" pitchFamily="18" charset="0"/>
                  </a:rPr>
                  <a:t>S</a:t>
                </a:r>
                <a:r>
                  <a:rPr lang="zh-CN" altLang="en-US" b="1" dirty="0" smtClean="0">
                    <a:latin typeface="Times New Roman" panose="02020603050405020304" pitchFamily="18" charset="0"/>
                    <a:cs typeface="Times New Roman" panose="02020603050405020304" pitchFamily="18" charset="0"/>
                  </a:rPr>
                  <a:t>集到</a:t>
                </a:r>
                <a:r>
                  <a:rPr lang="en-US" altLang="zh-CN" b="1" i="1" dirty="0" err="1" smtClean="0">
                    <a:latin typeface="Times New Roman" panose="02020603050405020304" pitchFamily="18" charset="0"/>
                    <a:cs typeface="Times New Roman" panose="02020603050405020304" pitchFamily="18" charset="0"/>
                  </a:rPr>
                  <a:t>i</a:t>
                </a:r>
                <a:r>
                  <a:rPr lang="zh-CN" altLang="en-US" b="1" dirty="0" smtClean="0">
                    <a:latin typeface="Times New Roman" panose="02020603050405020304" pitchFamily="18" charset="0"/>
                    <a:cs typeface="Times New Roman" panose="02020603050405020304" pitchFamily="18" charset="0"/>
                  </a:rPr>
                  <a:t>城的最短路线的距离</a:t>
                </a:r>
                <a:endParaRPr lang="en-US" altLang="zh-CN" b="1" dirty="0" smtClean="0">
                  <a:latin typeface="Times New Roman" panose="02020603050405020304" pitchFamily="18" charset="0"/>
                  <a:cs typeface="Times New Roman" panose="02020603050405020304" pitchFamily="18" charset="0"/>
                </a:endParaRPr>
              </a:p>
              <a:p>
                <a:r>
                  <a:rPr lang="en-US" altLang="zh-CN" b="1" dirty="0" smtClean="0">
                    <a:latin typeface="Times New Roman" panose="02020603050405020304" pitchFamily="18" charset="0"/>
                    <a:cs typeface="Times New Roman" panose="02020603050405020304" pitchFamily="18" charset="0"/>
                  </a:rPr>
                  <a:t>(6)</a:t>
                </a:r>
                <a:r>
                  <a:rPr lang="zh-CN" altLang="en-US" b="1" dirty="0" smtClean="0">
                    <a:latin typeface="Times New Roman" panose="02020603050405020304" pitchFamily="18" charset="0"/>
                    <a:cs typeface="Times New Roman" panose="02020603050405020304" pitchFamily="18" charset="0"/>
                  </a:rPr>
                  <a:t>递推方程</a:t>
                </a:r>
                <a:r>
                  <a:rPr lang="zh-CN" altLang="en-US" b="1" dirty="0" smtClean="0">
                    <a:cs typeface="Times New Roman" panose="02020603050405020304" pitchFamily="18" charset="0"/>
                  </a:rPr>
                  <a:t>：</a:t>
                </a:r>
                <a14:m>
                  <m:oMath xmlns:m="http://schemas.openxmlformats.org/officeDocument/2006/math">
                    <m:d>
                      <m:dPr>
                        <m:begChr m:val="{"/>
                        <m:endChr m:val=""/>
                        <m:ctrlPr>
                          <a:rPr lang="en-US" altLang="zh-CN" b="1" i="1" smtClean="0">
                            <a:latin typeface="Cambria Math" panose="02040503050406030204" pitchFamily="18" charset="0"/>
                            <a:cs typeface="Times New Roman" panose="02020603050405020304" pitchFamily="18" charset="0"/>
                          </a:rPr>
                        </m:ctrlPr>
                      </m:dPr>
                      <m:e>
                        <m:eqArr>
                          <m:eqArrPr>
                            <m:ctrlPr>
                              <a:rPr lang="en-US" altLang="zh-CN" b="1" i="1" smtClean="0">
                                <a:latin typeface="Cambria Math" panose="02040503050406030204" pitchFamily="18" charset="0"/>
                                <a:cs typeface="Times New Roman" panose="02020603050405020304" pitchFamily="18" charset="0"/>
                              </a:rPr>
                            </m:ctrlPr>
                          </m:eqArrPr>
                          <m:e>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dirty="0">
                                <a:latin typeface="Times New Roman" panose="02020603050405020304" pitchFamily="18" charset="0"/>
                                <a:cs typeface="Times New Roman" panose="02020603050405020304" pitchFamily="18" charset="0"/>
                              </a:rPr>
                              <m:t>)</m:t>
                            </m:r>
                            <m:r>
                              <a:rPr lang="en-US" altLang="zh-CN" b="1" i="1" dirty="0" smtClean="0">
                                <a:latin typeface="Cambria Math" panose="020405030504060302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i</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S</m:t>
                            </m:r>
                            <m:r>
                              <m:rPr>
                                <m:nor/>
                              </m:rPr>
                              <a:rPr lang="en-US" altLang="zh-CN" b="1" dirty="0">
                                <a:latin typeface="Times New Roman" panose="020206030504050203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m:t>
                            </m:r>
                            <m:func>
                              <m:funcPr>
                                <m:ctrlPr>
                                  <a:rPr lang="en-US" altLang="zh-CN" b="1" i="1">
                                    <a:latin typeface="Cambria Math" panose="02040503050406030204" pitchFamily="18" charset="0"/>
                                    <a:cs typeface="Times New Roman" panose="02020603050405020304" pitchFamily="18" charset="0"/>
                                  </a:rPr>
                                </m:ctrlPr>
                              </m:funcPr>
                              <m:fName>
                                <m:limLow>
                                  <m:limLowPr>
                                    <m:ctrlPr>
                                      <a:rPr lang="en-US" altLang="zh-CN" b="1" i="1">
                                        <a:latin typeface="Cambria Math" panose="02040503050406030204" pitchFamily="18" charset="0"/>
                                        <a:cs typeface="Times New Roman" panose="02020603050405020304" pitchFamily="18" charset="0"/>
                                      </a:rPr>
                                    </m:ctrlPr>
                                  </m:limLowPr>
                                  <m:e>
                                    <m:r>
                                      <m:rPr>
                                        <m:sty m:val="p"/>
                                      </m:rPr>
                                      <a:rPr lang="en-US" altLang="zh-CN">
                                        <a:latin typeface="Cambria Math" panose="02040503050406030204" pitchFamily="18" charset="0"/>
                                        <a:cs typeface="Times New Roman" panose="02020603050405020304" pitchFamily="18" charset="0"/>
                                      </a:rPr>
                                      <m:t>min</m:t>
                                    </m:r>
                                  </m:e>
                                  <m:lim>
                                    <m:r>
                                      <a:rPr lang="en-US" altLang="zh-CN" b="1" i="1">
                                        <a:latin typeface="Cambria Math" panose="02040503050406030204" pitchFamily="18" charset="0"/>
                                        <a:cs typeface="Times New Roman" panose="02020603050405020304" pitchFamily="18" charset="0"/>
                                      </a:rPr>
                                      <m:t>𝒋</m:t>
                                    </m:r>
                                    <m:r>
                                      <a:rPr lang="en-US" altLang="zh-CN" b="1" i="1">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𝑺</m:t>
                                    </m:r>
                                  </m:lim>
                                </m:limLow>
                              </m:fName>
                              <m:e>
                                <m:d>
                                  <m:dPr>
                                    <m:begChr m:val="{"/>
                                    <m:endChr m:val="}"/>
                                    <m:ctrlPr>
                                      <a:rPr lang="en-US" altLang="zh-CN" b="1" i="1">
                                        <a:latin typeface="Cambria Math" panose="02040503050406030204" pitchFamily="18" charset="0"/>
                                        <a:cs typeface="Times New Roman" panose="02020603050405020304" pitchFamily="18" charset="0"/>
                                      </a:rPr>
                                    </m:ctrlPr>
                                  </m:dPr>
                                  <m:e>
                                    <m:r>
                                      <m:rPr>
                                        <m:nor/>
                                      </m:rPr>
                                      <a:rPr lang="en-US" altLang="zh-CN" b="1" i="1" dirty="0">
                                        <a:latin typeface="Times New Roman" panose="02020603050405020304" pitchFamily="18" charset="0"/>
                                        <a:cs typeface="Times New Roman" panose="02020603050405020304" pitchFamily="18" charset="0"/>
                                      </a:rPr>
                                      <m:t>d</m:t>
                                    </m:r>
                                    <m:r>
                                      <m:rPr>
                                        <m:nor/>
                                      </m:rPr>
                                      <a:rPr lang="en-US" altLang="zh-CN" b="1" i="1" baseline="-25000" dirty="0">
                                        <a:latin typeface="Times New Roman" panose="02020603050405020304" pitchFamily="18" charset="0"/>
                                        <a:cs typeface="Times New Roman" panose="02020603050405020304" pitchFamily="18" charset="0"/>
                                      </a:rPr>
                                      <m:t>ji</m:t>
                                    </m:r>
                                    <m:r>
                                      <a:rPr lang="en-US" altLang="zh-CN" b="1" i="1">
                                        <a:latin typeface="Cambria Math" panose="020405030504060302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a:latin typeface="Times New Roman" panose="02020603050405020304" pitchFamily="18" charset="0"/>
                                        <a:cs typeface="Times New Roman" panose="02020603050405020304" pitchFamily="18" charset="0"/>
                                      </a:rPr>
                                      <m:t>k</m:t>
                                    </m:r>
                                    <m:r>
                                      <m:rPr>
                                        <m:nor/>
                                      </m:rPr>
                                      <a:rPr lang="en-US" altLang="zh-CN" b="1" i="1" baseline="-25000" dirty="0">
                                        <a:latin typeface="Times New Roman" panose="02020603050405020304" pitchFamily="18" charset="0"/>
                                        <a:cs typeface="Times New Roman" panose="02020603050405020304" pitchFamily="18" charset="0"/>
                                      </a:rPr>
                                      <m:t>−1</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smtClean="0">
                                        <a:latin typeface="Times New Roman" panose="02020603050405020304" pitchFamily="18" charset="0"/>
                                        <a:cs typeface="Times New Roman" panose="02020603050405020304" pitchFamily="18" charset="0"/>
                                      </a:rPr>
                                      <m:t>j</m:t>
                                    </m:r>
                                    <m:r>
                                      <m:rPr>
                                        <m:nor/>
                                      </m:rPr>
                                      <a:rPr lang="en-US" altLang="zh-CN" b="1" i="0" dirty="0" smtClean="0">
                                        <a:latin typeface="Times New Roman" panose="02020603050405020304" pitchFamily="18" charset="0"/>
                                        <a:cs typeface="Times New Roman" panose="02020603050405020304" pitchFamily="18" charset="0"/>
                                      </a:rPr>
                                      <m:t>,</m:t>
                                    </m:r>
                                    <m:r>
                                      <m:rPr>
                                        <m:nor/>
                                      </m:rPr>
                                      <a:rPr lang="en-US" altLang="zh-CN" b="1" i="1" dirty="0" smtClean="0">
                                        <a:latin typeface="Times New Roman" panose="02020603050405020304" pitchFamily="18" charset="0"/>
                                        <a:cs typeface="Times New Roman" panose="02020603050405020304" pitchFamily="18" charset="0"/>
                                      </a:rPr>
                                      <m:t>S</m:t>
                                    </m:r>
                                    <m:r>
                                      <m:rPr>
                                        <m:nor/>
                                      </m:rPr>
                                      <a:rPr lang="en-US" altLang="zh-CN" b="1" i="1" dirty="0" smtClean="0">
                                        <a:latin typeface="Times New Roman" panose="02020603050405020304" pitchFamily="18" charset="0"/>
                                        <a:cs typeface="Times New Roman" panose="02020603050405020304" pitchFamily="18" charset="0"/>
                                      </a:rPr>
                                      <m:t>−{</m:t>
                                    </m:r>
                                    <m:r>
                                      <m:rPr>
                                        <m:nor/>
                                      </m:rPr>
                                      <a:rPr lang="en-US" altLang="zh-CN" b="1" i="1" dirty="0" smtClean="0">
                                        <a:latin typeface="Times New Roman" panose="02020603050405020304" pitchFamily="18" charset="0"/>
                                        <a:cs typeface="Times New Roman" panose="02020603050405020304" pitchFamily="18" charset="0"/>
                                      </a:rPr>
                                      <m:t>j</m:t>
                                    </m:r>
                                    <m:r>
                                      <m:rPr>
                                        <m:nor/>
                                      </m:rPr>
                                      <a:rPr lang="en-US" altLang="zh-CN" b="1" i="1" dirty="0" smtClean="0">
                                        <a:latin typeface="Times New Roman" panose="02020603050405020304" pitchFamily="18" charset="0"/>
                                        <a:cs typeface="Times New Roman" panose="02020603050405020304" pitchFamily="18" charset="0"/>
                                      </a:rPr>
                                      <m:t>}</m:t>
                                    </m:r>
                                    <m:r>
                                      <m:rPr>
                                        <m:nor/>
                                      </m:rPr>
                                      <a:rPr lang="en-US" altLang="zh-CN" b="1" dirty="0">
                                        <a:latin typeface="Times New Roman" panose="02020603050405020304" pitchFamily="18" charset="0"/>
                                        <a:cs typeface="Times New Roman" panose="02020603050405020304" pitchFamily="18" charset="0"/>
                                      </a:rPr>
                                      <m:t>)</m:t>
                                    </m:r>
                                  </m:e>
                                </m:d>
                                <m:r>
                                  <a:rPr lang="zh-CN" altLang="en-US" b="1"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𝑘</m:t>
                                </m:r>
                                <m:r>
                                  <a:rPr lang="en-US" altLang="zh-CN" i="1">
                                    <a:latin typeface="Cambria Math" panose="02040503050406030204" pitchFamily="18" charset="0"/>
                                    <a:cs typeface="Times New Roman" panose="02020603050405020304" pitchFamily="18" charset="0"/>
                                  </a:rPr>
                                  <m:t>=1,2,⋯,</m:t>
                                </m:r>
                                <m:r>
                                  <a:rPr lang="en-US" altLang="zh-CN" b="0" i="1" smtClean="0">
                                    <a:latin typeface="Cambria Math" panose="02040503050406030204" pitchFamily="18" charset="0"/>
                                    <a:cs typeface="Times New Roman" panose="02020603050405020304" pitchFamily="18" charset="0"/>
                                  </a:rPr>
                                  <m:t>𝑛</m:t>
                                </m:r>
                                <m:r>
                                  <a:rPr lang="en-US" altLang="zh-CN" b="0" i="1" smtClean="0">
                                    <a:latin typeface="Cambria Math" panose="02040503050406030204" pitchFamily="18" charset="0"/>
                                    <a:cs typeface="Times New Roman" panose="02020603050405020304" pitchFamily="18" charset="0"/>
                                  </a:rPr>
                                  <m:t>−1,</m:t>
                                </m:r>
                                <m:r>
                                  <a:rPr lang="en-US" altLang="zh-CN" b="0" i="1" smtClean="0">
                                    <a:latin typeface="Cambria Math" panose="02040503050406030204" pitchFamily="18" charset="0"/>
                                    <a:cs typeface="Times New Roman" panose="02020603050405020304" pitchFamily="18" charset="0"/>
                                  </a:rPr>
                                  <m:t>𝑖</m:t>
                                </m:r>
                                <m:r>
                                  <a:rPr lang="en-US" altLang="zh-CN" i="1">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2</m:t>
                                </m:r>
                                <m:r>
                                  <a:rPr lang="en-US" altLang="zh-CN" i="1">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3</m:t>
                                </m:r>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𝑛</m:t>
                                </m:r>
                              </m:e>
                            </m:func>
                          </m:e>
                          <m:e>
                            <m:r>
                              <m:rPr>
                                <m:nor/>
                              </m:rPr>
                              <a:rPr lang="en-US" altLang="zh-CN" b="1" i="1" dirty="0">
                                <a:latin typeface="Times New Roman" panose="02020603050405020304" pitchFamily="18" charset="0"/>
                                <a:cs typeface="Times New Roman" panose="02020603050405020304" pitchFamily="18" charset="0"/>
                              </a:rPr>
                              <m:t>f</m:t>
                            </m:r>
                            <m:r>
                              <m:rPr>
                                <m:nor/>
                              </m:rPr>
                              <a:rPr lang="en-US" altLang="zh-CN" b="1" i="1" baseline="-25000" dirty="0" smtClean="0">
                                <a:latin typeface="Times New Roman" panose="02020603050405020304" pitchFamily="18" charset="0"/>
                                <a:cs typeface="Times New Roman" panose="02020603050405020304" pitchFamily="18" charset="0"/>
                              </a:rPr>
                              <m:t>0</m:t>
                            </m:r>
                            <m:r>
                              <m:rPr>
                                <m:nor/>
                              </m:rPr>
                              <a:rPr lang="en-US" altLang="zh-CN" b="1" dirty="0">
                                <a:latin typeface="Times New Roman" panose="020206030504050203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i</m:t>
                            </m:r>
                            <m:r>
                              <m:rPr>
                                <m:nor/>
                              </m:rPr>
                              <a:rPr lang="en-US" altLang="zh-CN" b="1" dirty="0">
                                <a:latin typeface="Times New Roman" panose="02020603050405020304" pitchFamily="18" charset="0"/>
                                <a:cs typeface="Times New Roman" panose="02020603050405020304" pitchFamily="18" charset="0"/>
                              </a:rPr>
                              <m:t>,</m:t>
                            </m:r>
                            <m:r>
                              <m:rPr>
                                <m:nor/>
                              </m:rPr>
                              <a:rPr lang="el-GR" altLang="zh-CN" b="1" i="1" dirty="0">
                                <a:latin typeface="Times New Roman" panose="02020603050405020304" pitchFamily="18" charset="0"/>
                                <a:cs typeface="Times New Roman" panose="02020603050405020304" pitchFamily="18" charset="0"/>
                              </a:rPr>
                              <m:t>Φ</m:t>
                            </m:r>
                            <m:r>
                              <m:rPr>
                                <m:nor/>
                              </m:rPr>
                              <a:rPr lang="en-US" altLang="zh-CN" b="1" dirty="0">
                                <a:latin typeface="Times New Roman" panose="02020603050405020304" pitchFamily="18" charset="0"/>
                                <a:cs typeface="Times New Roman" panose="02020603050405020304" pitchFamily="18" charset="0"/>
                              </a:rPr>
                              <m:t>)</m:t>
                            </m:r>
                            <m:r>
                              <a:rPr lang="en-US" altLang="zh-CN" b="1" i="1" dirty="0" smtClean="0">
                                <a:latin typeface="Cambria Math" panose="02040503050406030204" pitchFamily="18" charset="0"/>
                                <a:cs typeface="Times New Roman" panose="02020603050405020304" pitchFamily="18" charset="0"/>
                              </a:rPr>
                              <m:t>=</m:t>
                            </m:r>
                            <m:r>
                              <m:rPr>
                                <m:nor/>
                              </m:rPr>
                              <a:rPr lang="en-US" altLang="zh-CN" b="1" i="1" dirty="0">
                                <a:latin typeface="Times New Roman" panose="02020603050405020304" pitchFamily="18" charset="0"/>
                                <a:cs typeface="Times New Roman" panose="02020603050405020304" pitchFamily="18" charset="0"/>
                              </a:rPr>
                              <m:t>d</m:t>
                            </m:r>
                            <m:r>
                              <m:rPr>
                                <m:nor/>
                              </m:rPr>
                              <a:rPr lang="en-US" altLang="zh-CN" b="1" i="1" baseline="-25000" dirty="0" smtClean="0">
                                <a:latin typeface="Times New Roman" panose="02020603050405020304" pitchFamily="18" charset="0"/>
                                <a:cs typeface="Times New Roman" panose="02020603050405020304" pitchFamily="18" charset="0"/>
                              </a:rPr>
                              <m:t>1</m:t>
                            </m:r>
                            <m:r>
                              <m:rPr>
                                <m:nor/>
                              </m:rPr>
                              <a:rPr lang="en-US" altLang="zh-CN" b="1" i="1" baseline="-25000" dirty="0">
                                <a:latin typeface="Times New Roman" panose="02020603050405020304" pitchFamily="18" charset="0"/>
                                <a:cs typeface="Times New Roman" panose="02020603050405020304" pitchFamily="18" charset="0"/>
                              </a:rPr>
                              <m:t>i</m:t>
                            </m:r>
                            <m:r>
                              <m:rPr>
                                <m:nor/>
                              </m:rPr>
                              <a:rPr lang="en-US" altLang="zh-CN" b="1" dirty="0">
                                <a:latin typeface="Times New Roman" panose="02020603050405020304" pitchFamily="18" charset="0"/>
                                <a:cs typeface="Times New Roman" panose="02020603050405020304" pitchFamily="18" charset="0"/>
                              </a:rPr>
                              <m:t> </m:t>
                            </m:r>
                            <m:r>
                              <a:rPr lang="en-US" altLang="zh-CN" b="1" i="1" dirty="0" smtClean="0">
                                <a:latin typeface="Cambria Math" panose="02040503050406030204" pitchFamily="18" charset="0"/>
                                <a:cs typeface="Times New Roman" panose="02020603050405020304" pitchFamily="18" charset="0"/>
                              </a:rPr>
                              <m:t>                                                                                                                    </m:t>
                            </m:r>
                          </m:e>
                        </m:eqArr>
                      </m:e>
                    </m:d>
                  </m:oMath>
                </a14:m>
                <a:endParaRPr lang="zh-CN" altLang="en-US" b="1" dirty="0">
                  <a:latin typeface="Times New Roman" panose="02020603050405020304" pitchFamily="18" charset="0"/>
                  <a:cs typeface="Times New Roman" panose="02020603050405020304" pitchFamily="18" charset="0"/>
                </a:endParaRPr>
              </a:p>
            </p:txBody>
          </p:sp>
        </mc:Choice>
        <mc:Fallback xmlns="">
          <p:sp>
            <p:nvSpPr>
              <p:cNvPr id="5" name="Rectangle 20"/>
              <p:cNvSpPr>
                <a:spLocks noRot="1" noChangeAspect="1" noMove="1" noResize="1" noEditPoints="1" noAdjustHandles="1" noChangeArrowheads="1" noChangeShapeType="1" noTextEdit="1"/>
              </p:cNvSpPr>
              <p:nvPr/>
            </p:nvSpPr>
            <p:spPr bwMode="auto">
              <a:xfrm>
                <a:off x="899592" y="1916832"/>
                <a:ext cx="8064896" cy="3844899"/>
              </a:xfrm>
              <a:prstGeom prst="rect">
                <a:avLst/>
              </a:prstGeom>
              <a:blipFill>
                <a:blip r:embed="rId3"/>
                <a:stretch>
                  <a:fillRect l="-831" t="-634" r="-7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158553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6" name="Rectangle 2"/>
          <p:cNvSpPr>
            <a:spLocks noGrp="1" noChangeArrowheads="1"/>
          </p:cNvSpPr>
          <p:nvPr>
            <p:ph type="title"/>
          </p:nvPr>
        </p:nvSpPr>
        <p:spPr/>
        <p:txBody>
          <a:bodyPr/>
          <a:lstStyle/>
          <a:p>
            <a:r>
              <a:rPr lang="en-US" altLang="zh-CN" dirty="0" smtClean="0"/>
              <a:t>8.4.6</a:t>
            </a:r>
            <a:r>
              <a:rPr lang="zh-CN" altLang="en-US" dirty="0" smtClean="0"/>
              <a:t> </a:t>
            </a:r>
            <a:r>
              <a:rPr lang="zh-CN" altLang="en-US" dirty="0"/>
              <a:t>货郎担问题</a:t>
            </a:r>
          </a:p>
        </p:txBody>
      </p:sp>
      <p:sp>
        <p:nvSpPr>
          <p:cNvPr id="2" name="内容占位符 1"/>
          <p:cNvSpPr>
            <a:spLocks noGrp="1"/>
          </p:cNvSpPr>
          <p:nvPr>
            <p:ph idx="1"/>
          </p:nvPr>
        </p:nvSpPr>
        <p:spPr>
          <a:xfrm>
            <a:off x="539552" y="1337268"/>
            <a:ext cx="8280920" cy="2012859"/>
          </a:xfrm>
        </p:spPr>
        <p:txBody>
          <a:bodyPr/>
          <a:lstStyle/>
          <a:p>
            <a:r>
              <a:rPr lang="zh-CN" altLang="en-US" dirty="0" smtClean="0"/>
              <a:t>例</a:t>
            </a:r>
            <a:r>
              <a:rPr lang="en-US" altLang="zh-CN" dirty="0" smtClean="0"/>
              <a:t>8-9: </a:t>
            </a:r>
            <a:r>
              <a:rPr lang="zh-CN" altLang="en-US" dirty="0" smtClean="0"/>
              <a:t>求解</a:t>
            </a:r>
            <a:r>
              <a:rPr lang="zh-CN" altLang="en-US" dirty="0"/>
              <a:t>四个城市旅行推销员问题，其距离矩阵如</a:t>
            </a:r>
            <a:r>
              <a:rPr lang="zh-CN" altLang="en-US" dirty="0" smtClean="0"/>
              <a:t>表</a:t>
            </a:r>
            <a:r>
              <a:rPr lang="en-US" altLang="zh-CN" dirty="0" smtClean="0"/>
              <a:t>8-13</a:t>
            </a:r>
            <a:r>
              <a:rPr lang="zh-CN" altLang="en-US" dirty="0"/>
              <a:t>所示。当推销员从</a:t>
            </a:r>
            <a:r>
              <a:rPr lang="en-US" altLang="zh-CN" dirty="0"/>
              <a:t>1</a:t>
            </a:r>
            <a:r>
              <a:rPr lang="zh-CN" altLang="en-US" dirty="0"/>
              <a:t>城出发，经过每个城市一次且仅一次，最后回到</a:t>
            </a:r>
            <a:r>
              <a:rPr lang="en-US" altLang="zh-CN" dirty="0"/>
              <a:t>1</a:t>
            </a:r>
            <a:r>
              <a:rPr lang="zh-CN" altLang="en-US" dirty="0"/>
              <a:t>城，问按怎样的路线走，使总的行程距离最短。</a:t>
            </a:r>
          </a:p>
          <a:p>
            <a:endParaRPr lang="zh-CN" altLang="en-US" dirty="0"/>
          </a:p>
        </p:txBody>
      </p:sp>
      <p:sp>
        <p:nvSpPr>
          <p:cNvPr id="15667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8C76DA0D-1420-43FB-9881-5B02B9B2E96D}" type="slidenum">
              <a:rPr lang="en-US" altLang="zh-CN" sz="1000"/>
              <a:pPr/>
              <a:t>80</a:t>
            </a:fld>
            <a:endParaRPr lang="en-US" altLang="zh-CN" sz="1000"/>
          </a:p>
        </p:txBody>
      </p:sp>
      <p:sp>
        <p:nvSpPr>
          <p:cNvPr id="15667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56679" name="Rectangle 18"/>
          <p:cNvSpPr>
            <a:spLocks noChangeArrowheads="1"/>
          </p:cNvSpPr>
          <p:nvPr/>
        </p:nvSpPr>
        <p:spPr bwMode="auto">
          <a:xfrm>
            <a:off x="4094946" y="2746020"/>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dirty="0" smtClean="0">
                <a:cs typeface="Times New Roman" panose="02020603050405020304" pitchFamily="18" charset="0"/>
              </a:rPr>
              <a:t>表</a:t>
            </a:r>
            <a:r>
              <a:rPr lang="en-US" altLang="zh-CN" dirty="0" smtClean="0">
                <a:cs typeface="Times New Roman" panose="02020603050405020304" pitchFamily="18" charset="0"/>
              </a:rPr>
              <a:t>8-13</a:t>
            </a:r>
            <a:endParaRPr lang="en-US" altLang="zh-CN" dirty="0"/>
          </a:p>
        </p:txBody>
      </p:sp>
      <p:sp>
        <p:nvSpPr>
          <p:cNvPr id="156680" name="Rectangle 19"/>
          <p:cNvSpPr>
            <a:spLocks noChangeArrowheads="1"/>
          </p:cNvSpPr>
          <p:nvPr/>
        </p:nvSpPr>
        <p:spPr bwMode="auto">
          <a:xfrm>
            <a:off x="982663" y="2319338"/>
            <a:ext cx="10826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10" name="Group 203"/>
          <p:cNvGraphicFramePr>
            <a:graphicFrameLocks noGrp="1"/>
          </p:cNvGraphicFramePr>
          <p:nvPr>
            <p:extLst>
              <p:ext uri="{D42A27DB-BD31-4B8C-83A1-F6EECF244321}">
                <p14:modId xmlns:p14="http://schemas.microsoft.com/office/powerpoint/2010/main" val="1132104220"/>
              </p:ext>
            </p:extLst>
          </p:nvPr>
        </p:nvGraphicFramePr>
        <p:xfrm>
          <a:off x="2215687" y="3270036"/>
          <a:ext cx="5296370" cy="2103180"/>
        </p:xfrm>
        <a:graphic>
          <a:graphicData uri="http://schemas.openxmlformats.org/drawingml/2006/table">
            <a:tbl>
              <a:tblPr/>
              <a:tblGrid>
                <a:gridCol w="1099764">
                  <a:extLst>
                    <a:ext uri="{9D8B030D-6E8A-4147-A177-3AD203B41FA5}">
                      <a16:colId xmlns:a16="http://schemas.microsoft.com/office/drawing/2014/main" val="20000"/>
                    </a:ext>
                  </a:extLst>
                </a:gridCol>
                <a:gridCol w="1099764">
                  <a:extLst>
                    <a:ext uri="{9D8B030D-6E8A-4147-A177-3AD203B41FA5}">
                      <a16:colId xmlns:a16="http://schemas.microsoft.com/office/drawing/2014/main" val="20001"/>
                    </a:ext>
                  </a:extLst>
                </a:gridCol>
                <a:gridCol w="1099764">
                  <a:extLst>
                    <a:ext uri="{9D8B030D-6E8A-4147-A177-3AD203B41FA5}">
                      <a16:colId xmlns:a16="http://schemas.microsoft.com/office/drawing/2014/main" val="20002"/>
                    </a:ext>
                  </a:extLst>
                </a:gridCol>
                <a:gridCol w="1099764">
                  <a:extLst>
                    <a:ext uri="{9D8B030D-6E8A-4147-A177-3AD203B41FA5}">
                      <a16:colId xmlns:a16="http://schemas.microsoft.com/office/drawing/2014/main" val="20003"/>
                    </a:ext>
                  </a:extLst>
                </a:gridCol>
                <a:gridCol w="897314">
                  <a:extLst>
                    <a:ext uri="{9D8B030D-6E8A-4147-A177-3AD203B41FA5}">
                      <a16:colId xmlns:a16="http://schemas.microsoft.com/office/drawing/2014/main" val="20004"/>
                    </a:ext>
                  </a:extLst>
                </a:gridCol>
              </a:tblGrid>
              <a:tr h="565582">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i</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j</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9270">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9270">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9270">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7</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9270">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7</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cxnSp>
        <p:nvCxnSpPr>
          <p:cNvPr id="11" name="直接连接符 10"/>
          <p:cNvCxnSpPr/>
          <p:nvPr/>
        </p:nvCxnSpPr>
        <p:spPr bwMode="auto">
          <a:xfrm>
            <a:off x="2215687" y="3270036"/>
            <a:ext cx="1060169" cy="6490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slow"/>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6" name="Rectangle 2"/>
          <p:cNvSpPr>
            <a:spLocks noGrp="1" noChangeArrowheads="1"/>
          </p:cNvSpPr>
          <p:nvPr>
            <p:ph type="title"/>
          </p:nvPr>
        </p:nvSpPr>
        <p:spPr/>
        <p:txBody>
          <a:bodyPr/>
          <a:lstStyle/>
          <a:p>
            <a:r>
              <a:rPr lang="en-US" altLang="zh-CN" dirty="0" smtClean="0"/>
              <a:t>8.4.6</a:t>
            </a:r>
            <a:r>
              <a:rPr lang="zh-CN" altLang="en-US" dirty="0" smtClean="0"/>
              <a:t> </a:t>
            </a:r>
            <a:r>
              <a:rPr lang="zh-CN" altLang="en-US" dirty="0"/>
              <a:t>货郎担问题</a:t>
            </a:r>
          </a:p>
        </p:txBody>
      </p:sp>
      <p:sp>
        <p:nvSpPr>
          <p:cNvPr id="2" name="内容占位符 1"/>
          <p:cNvSpPr>
            <a:spLocks noGrp="1"/>
          </p:cNvSpPr>
          <p:nvPr>
            <p:ph idx="1"/>
          </p:nvPr>
        </p:nvSpPr>
        <p:spPr>
          <a:xfrm>
            <a:off x="539552" y="1337268"/>
            <a:ext cx="8280920" cy="461665"/>
          </a:xfrm>
        </p:spPr>
        <p:txBody>
          <a:bodyPr/>
          <a:lstStyle/>
          <a:p>
            <a:r>
              <a:rPr lang="zh-CN" altLang="en-US" dirty="0"/>
              <a:t>例</a:t>
            </a:r>
            <a:r>
              <a:rPr lang="en-US" altLang="zh-CN" dirty="0"/>
              <a:t>8-9:</a:t>
            </a:r>
            <a:endParaRPr lang="zh-CN" altLang="en-US" dirty="0"/>
          </a:p>
        </p:txBody>
      </p:sp>
      <p:sp>
        <p:nvSpPr>
          <p:cNvPr id="15667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8C76DA0D-1420-43FB-9881-5B02B9B2E96D}" type="slidenum">
              <a:rPr lang="en-US" altLang="zh-CN" sz="1000"/>
              <a:pPr/>
              <a:t>81</a:t>
            </a:fld>
            <a:endParaRPr lang="en-US" altLang="zh-CN" sz="1000"/>
          </a:p>
        </p:txBody>
      </p:sp>
      <p:sp>
        <p:nvSpPr>
          <p:cNvPr id="15667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56680" name="Rectangle 19"/>
          <p:cNvSpPr>
            <a:spLocks noChangeArrowheads="1"/>
          </p:cNvSpPr>
          <p:nvPr/>
        </p:nvSpPr>
        <p:spPr bwMode="auto">
          <a:xfrm>
            <a:off x="982663" y="2319338"/>
            <a:ext cx="10826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383179" name="Group 203"/>
          <p:cNvGraphicFramePr>
            <a:graphicFrameLocks noGrp="1"/>
          </p:cNvGraphicFramePr>
          <p:nvPr>
            <p:extLst>
              <p:ext uri="{D42A27DB-BD31-4B8C-83A1-F6EECF244321}">
                <p14:modId xmlns:p14="http://schemas.microsoft.com/office/powerpoint/2010/main" val="3668315768"/>
              </p:ext>
            </p:extLst>
          </p:nvPr>
        </p:nvGraphicFramePr>
        <p:xfrm>
          <a:off x="2215687" y="1124744"/>
          <a:ext cx="5296370" cy="2103180"/>
        </p:xfrm>
        <a:graphic>
          <a:graphicData uri="http://schemas.openxmlformats.org/drawingml/2006/table">
            <a:tbl>
              <a:tblPr/>
              <a:tblGrid>
                <a:gridCol w="1099764">
                  <a:extLst>
                    <a:ext uri="{9D8B030D-6E8A-4147-A177-3AD203B41FA5}">
                      <a16:colId xmlns:a16="http://schemas.microsoft.com/office/drawing/2014/main" val="20000"/>
                    </a:ext>
                  </a:extLst>
                </a:gridCol>
                <a:gridCol w="1099764">
                  <a:extLst>
                    <a:ext uri="{9D8B030D-6E8A-4147-A177-3AD203B41FA5}">
                      <a16:colId xmlns:a16="http://schemas.microsoft.com/office/drawing/2014/main" val="20001"/>
                    </a:ext>
                  </a:extLst>
                </a:gridCol>
                <a:gridCol w="1099764">
                  <a:extLst>
                    <a:ext uri="{9D8B030D-6E8A-4147-A177-3AD203B41FA5}">
                      <a16:colId xmlns:a16="http://schemas.microsoft.com/office/drawing/2014/main" val="20002"/>
                    </a:ext>
                  </a:extLst>
                </a:gridCol>
                <a:gridCol w="1099764">
                  <a:extLst>
                    <a:ext uri="{9D8B030D-6E8A-4147-A177-3AD203B41FA5}">
                      <a16:colId xmlns:a16="http://schemas.microsoft.com/office/drawing/2014/main" val="20003"/>
                    </a:ext>
                  </a:extLst>
                </a:gridCol>
                <a:gridCol w="897314">
                  <a:extLst>
                    <a:ext uri="{9D8B030D-6E8A-4147-A177-3AD203B41FA5}">
                      <a16:colId xmlns:a16="http://schemas.microsoft.com/office/drawing/2014/main" val="20004"/>
                    </a:ext>
                  </a:extLst>
                </a:gridCol>
              </a:tblGrid>
              <a:tr h="565582">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i</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j</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9270">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9270">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9270">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7</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9270">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7</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cxnSp>
        <p:nvCxnSpPr>
          <p:cNvPr id="4" name="直接连接符 3"/>
          <p:cNvCxnSpPr/>
          <p:nvPr/>
        </p:nvCxnSpPr>
        <p:spPr bwMode="auto">
          <a:xfrm>
            <a:off x="2215687" y="1124744"/>
            <a:ext cx="1060169" cy="6490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5" name="Object 52"/>
          <p:cNvGraphicFramePr>
            <a:graphicFrameLocks noChangeAspect="1"/>
          </p:cNvGraphicFramePr>
          <p:nvPr>
            <p:extLst>
              <p:ext uri="{D42A27DB-BD31-4B8C-83A1-F6EECF244321}">
                <p14:modId xmlns:p14="http://schemas.microsoft.com/office/powerpoint/2010/main" val="4184516111"/>
              </p:ext>
            </p:extLst>
          </p:nvPr>
        </p:nvGraphicFramePr>
        <p:xfrm>
          <a:off x="3300413" y="3376613"/>
          <a:ext cx="4071937" cy="280987"/>
        </p:xfrm>
        <a:graphic>
          <a:graphicData uri="http://schemas.openxmlformats.org/presentationml/2006/ole">
            <mc:AlternateContent xmlns:mc="http://schemas.openxmlformats.org/markup-compatibility/2006">
              <mc:Choice xmlns:v="urn:schemas-microsoft-com:vml" Requires="v">
                <p:oleObj spid="_x0000_s210035" name="Equation" r:id="rId3" imgW="3314520" imgH="228600" progId="Equation.DSMT4">
                  <p:embed/>
                </p:oleObj>
              </mc:Choice>
              <mc:Fallback>
                <p:oleObj name="Equation" r:id="rId3" imgW="3314520" imgH="228600" progId="Equation.DSMT4">
                  <p:embed/>
                  <p:pic>
                    <p:nvPicPr>
                      <p:cNvPr id="157702" name="Object 52"/>
                      <p:cNvPicPr>
                        <a:picLocks noChangeAspect="1" noChangeArrowheads="1"/>
                      </p:cNvPicPr>
                      <p:nvPr/>
                    </p:nvPicPr>
                    <p:blipFill>
                      <a:blip r:embed="rId4"/>
                      <a:srcRect/>
                      <a:stretch>
                        <a:fillRect/>
                      </a:stretch>
                    </p:blipFill>
                    <p:spPr bwMode="auto">
                      <a:xfrm>
                        <a:off x="3300413" y="3376613"/>
                        <a:ext cx="4071937"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50"/>
          <p:cNvGraphicFramePr>
            <a:graphicFrameLocks noChangeAspect="1"/>
          </p:cNvGraphicFramePr>
          <p:nvPr>
            <p:extLst>
              <p:ext uri="{D42A27DB-BD31-4B8C-83A1-F6EECF244321}">
                <p14:modId xmlns:p14="http://schemas.microsoft.com/office/powerpoint/2010/main" val="878027281"/>
              </p:ext>
            </p:extLst>
          </p:nvPr>
        </p:nvGraphicFramePr>
        <p:xfrm>
          <a:off x="1207231" y="4057501"/>
          <a:ext cx="5954713" cy="955675"/>
        </p:xfrm>
        <a:graphic>
          <a:graphicData uri="http://schemas.openxmlformats.org/presentationml/2006/ole">
            <mc:AlternateContent xmlns:mc="http://schemas.openxmlformats.org/markup-compatibility/2006">
              <mc:Choice xmlns:v="urn:schemas-microsoft-com:vml" Requires="v">
                <p:oleObj spid="_x0000_s210036" name="Equation" r:id="rId5" imgW="4762440" imgH="761760" progId="Equation.DSMT4">
                  <p:embed/>
                </p:oleObj>
              </mc:Choice>
              <mc:Fallback>
                <p:oleObj name="Equation" r:id="rId5" imgW="4762440" imgH="761760" progId="Equation.DSMT4">
                  <p:embed/>
                  <p:pic>
                    <p:nvPicPr>
                      <p:cNvPr id="157703" name="Object 50"/>
                      <p:cNvPicPr>
                        <a:picLocks noChangeAspect="1" noChangeArrowheads="1"/>
                      </p:cNvPicPr>
                      <p:nvPr/>
                    </p:nvPicPr>
                    <p:blipFill>
                      <a:blip r:embed="rId6"/>
                      <a:srcRect/>
                      <a:stretch>
                        <a:fillRect/>
                      </a:stretch>
                    </p:blipFill>
                    <p:spPr bwMode="auto">
                      <a:xfrm>
                        <a:off x="1207231" y="4057501"/>
                        <a:ext cx="5954713"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ectangle 53"/>
          <p:cNvSpPr>
            <a:spLocks noChangeArrowheads="1"/>
          </p:cNvSpPr>
          <p:nvPr/>
        </p:nvSpPr>
        <p:spPr bwMode="auto">
          <a:xfrm>
            <a:off x="611188" y="3284984"/>
            <a:ext cx="27334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a:cs typeface="Times New Roman" panose="02020603050405020304" pitchFamily="18" charset="0"/>
              </a:rPr>
              <a:t>解</a:t>
            </a:r>
            <a:r>
              <a:rPr lang="en-US" altLang="zh-CN" b="1">
                <a:cs typeface="Times New Roman" panose="02020603050405020304" pitchFamily="18" charset="0"/>
              </a:rPr>
              <a:t>:  </a:t>
            </a:r>
            <a:r>
              <a:rPr lang="zh-CN" altLang="en-US" b="1">
                <a:cs typeface="Times New Roman" panose="02020603050405020304" pitchFamily="18" charset="0"/>
              </a:rPr>
              <a:t>由边界条件可知：</a:t>
            </a:r>
            <a:endParaRPr lang="zh-CN" altLang="en-US" b="1"/>
          </a:p>
        </p:txBody>
      </p:sp>
      <p:sp>
        <p:nvSpPr>
          <p:cNvPr id="18" name="Rectangle 54"/>
          <p:cNvSpPr>
            <a:spLocks noChangeArrowheads="1"/>
          </p:cNvSpPr>
          <p:nvPr/>
        </p:nvSpPr>
        <p:spPr bwMode="auto">
          <a:xfrm>
            <a:off x="1113284" y="3694175"/>
            <a:ext cx="79232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Times New Roman" panose="02020603050405020304" pitchFamily="18" charset="0"/>
              </a:rPr>
              <a:t>当</a:t>
            </a:r>
            <a:r>
              <a:rPr lang="en-US" altLang="zh-CN" b="1" i="1" dirty="0">
                <a:latin typeface="Times New Roman" panose="02020603050405020304" pitchFamily="18" charset="0"/>
                <a:cs typeface="Times New Roman" panose="02020603050405020304" pitchFamily="18" charset="0"/>
              </a:rPr>
              <a:t>k</a:t>
            </a:r>
            <a:r>
              <a:rPr lang="en-US" altLang="zh-CN" b="1" dirty="0">
                <a:cs typeface="Times New Roman" panose="02020603050405020304" pitchFamily="18" charset="0"/>
              </a:rPr>
              <a:t>=1</a:t>
            </a:r>
            <a:r>
              <a:rPr lang="zh-CN" altLang="en-US" b="1" dirty="0"/>
              <a:t>时，即从</a:t>
            </a:r>
            <a:r>
              <a:rPr lang="en-US" altLang="zh-CN" b="1" dirty="0"/>
              <a:t>1</a:t>
            </a:r>
            <a:r>
              <a:rPr lang="zh-CN" altLang="en-US" b="1" dirty="0"/>
              <a:t>城开始，中间</a:t>
            </a:r>
            <a:r>
              <a:rPr lang="zh-CN" altLang="en-US" b="1" dirty="0" smtClean="0"/>
              <a:t>经过</a:t>
            </a:r>
            <a:r>
              <a:rPr lang="en-US" altLang="zh-CN" b="1" dirty="0" smtClean="0"/>
              <a:t>1</a:t>
            </a:r>
            <a:r>
              <a:rPr lang="zh-CN" altLang="en-US" b="1" dirty="0" smtClean="0"/>
              <a:t>个</a:t>
            </a:r>
            <a:r>
              <a:rPr lang="zh-CN" altLang="en-US" b="1" dirty="0"/>
              <a:t>城市到达</a:t>
            </a:r>
            <a:r>
              <a:rPr lang="en-US" altLang="zh-CN" b="1" i="1" dirty="0" err="1">
                <a:latin typeface="Times New Roman" panose="02020603050405020304" pitchFamily="18" charset="0"/>
                <a:cs typeface="Times New Roman" panose="02020603050405020304" pitchFamily="18" charset="0"/>
              </a:rPr>
              <a:t>i</a:t>
            </a:r>
            <a:r>
              <a:rPr lang="zh-CN" altLang="en-US" b="1" dirty="0"/>
              <a:t>城的最短距离是：</a:t>
            </a:r>
          </a:p>
        </p:txBody>
      </p:sp>
      <p:graphicFrame>
        <p:nvGraphicFramePr>
          <p:cNvPr id="19" name="Object 8"/>
          <p:cNvGraphicFramePr>
            <a:graphicFrameLocks noChangeAspect="1"/>
          </p:cNvGraphicFramePr>
          <p:nvPr>
            <p:extLst>
              <p:ext uri="{D42A27DB-BD31-4B8C-83A1-F6EECF244321}">
                <p14:modId xmlns:p14="http://schemas.microsoft.com/office/powerpoint/2010/main" val="3551395445"/>
              </p:ext>
            </p:extLst>
          </p:nvPr>
        </p:nvGraphicFramePr>
        <p:xfrm>
          <a:off x="1200000" y="5556374"/>
          <a:ext cx="7910557" cy="1001010"/>
        </p:xfrm>
        <a:graphic>
          <a:graphicData uri="http://schemas.openxmlformats.org/presentationml/2006/ole">
            <mc:AlternateContent xmlns:mc="http://schemas.openxmlformats.org/markup-compatibility/2006">
              <mc:Choice xmlns:v="urn:schemas-microsoft-com:vml" Requires="v">
                <p:oleObj spid="_x0000_s210037" name="Equation" r:id="rId7" imgW="6197400" imgH="787320" progId="Equation.DSMT4">
                  <p:embed/>
                </p:oleObj>
              </mc:Choice>
              <mc:Fallback>
                <p:oleObj name="Equation" r:id="rId7" imgW="6197400" imgH="787320" progId="Equation.DSMT4">
                  <p:embed/>
                  <p:pic>
                    <p:nvPicPr>
                      <p:cNvPr id="158726" name="Object 8"/>
                      <p:cNvPicPr>
                        <a:picLocks noChangeAspect="1" noChangeArrowheads="1"/>
                      </p:cNvPicPr>
                      <p:nvPr/>
                    </p:nvPicPr>
                    <p:blipFill>
                      <a:blip r:embed="rId8"/>
                      <a:srcRect/>
                      <a:stretch>
                        <a:fillRect/>
                      </a:stretch>
                    </p:blipFill>
                    <p:spPr bwMode="auto">
                      <a:xfrm>
                        <a:off x="1200000" y="5556374"/>
                        <a:ext cx="7910557" cy="1001010"/>
                      </a:xfrm>
                      <a:prstGeom prst="rect">
                        <a:avLst/>
                      </a:prstGeom>
                      <a:noFill/>
                      <a:ln>
                        <a:noFill/>
                      </a:ln>
                      <a:extLst/>
                    </p:spPr>
                  </p:pic>
                </p:oleObj>
              </mc:Fallback>
            </mc:AlternateContent>
          </a:graphicData>
        </a:graphic>
      </p:graphicFrame>
      <p:sp>
        <p:nvSpPr>
          <p:cNvPr id="20" name="Rectangle 10"/>
          <p:cNvSpPr>
            <a:spLocks noChangeArrowheads="1"/>
          </p:cNvSpPr>
          <p:nvPr/>
        </p:nvSpPr>
        <p:spPr bwMode="auto">
          <a:xfrm>
            <a:off x="1115616" y="5176191"/>
            <a:ext cx="78848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smtClean="0">
                <a:cs typeface="Times New Roman" panose="02020603050405020304" pitchFamily="18" charset="0"/>
              </a:rPr>
              <a:t>当</a:t>
            </a:r>
            <a:r>
              <a:rPr lang="en-US" altLang="zh-CN" b="1" i="1" dirty="0">
                <a:latin typeface="Times New Roman" panose="02020603050405020304" pitchFamily="18" charset="0"/>
                <a:cs typeface="Times New Roman" panose="02020603050405020304" pitchFamily="18" charset="0"/>
              </a:rPr>
              <a:t>k</a:t>
            </a:r>
            <a:r>
              <a:rPr lang="en-US" altLang="zh-CN" b="1" dirty="0" smtClean="0">
                <a:cs typeface="Times New Roman" panose="02020603050405020304" pitchFamily="18" charset="0"/>
              </a:rPr>
              <a:t>=2</a:t>
            </a:r>
            <a:r>
              <a:rPr lang="zh-CN" altLang="en-US" b="1" dirty="0"/>
              <a:t>时，即从</a:t>
            </a:r>
            <a:r>
              <a:rPr lang="en-US" altLang="zh-CN" b="1" dirty="0"/>
              <a:t>1</a:t>
            </a:r>
            <a:r>
              <a:rPr lang="zh-CN" altLang="en-US" b="1" dirty="0"/>
              <a:t>城开始，中间</a:t>
            </a:r>
            <a:r>
              <a:rPr lang="zh-CN" altLang="en-US" b="1" dirty="0" smtClean="0"/>
              <a:t>经过</a:t>
            </a:r>
            <a:r>
              <a:rPr lang="en-US" altLang="zh-CN" b="1" dirty="0" smtClean="0"/>
              <a:t>2</a:t>
            </a:r>
            <a:r>
              <a:rPr lang="zh-CN" altLang="en-US" b="1" dirty="0" smtClean="0"/>
              <a:t>个城市到达</a:t>
            </a:r>
            <a:r>
              <a:rPr lang="en-US" altLang="zh-CN" b="1" i="1" dirty="0" err="1">
                <a:latin typeface="Times New Roman" panose="02020603050405020304" pitchFamily="18" charset="0"/>
                <a:cs typeface="Times New Roman" panose="02020603050405020304" pitchFamily="18" charset="0"/>
              </a:rPr>
              <a:t>i</a:t>
            </a:r>
            <a:r>
              <a:rPr lang="zh-CN" altLang="en-US" b="1" dirty="0" smtClean="0"/>
              <a:t>城</a:t>
            </a:r>
            <a:r>
              <a:rPr lang="zh-CN" altLang="en-US" b="1" dirty="0"/>
              <a:t>的最短距离是：</a:t>
            </a:r>
          </a:p>
        </p:txBody>
      </p:sp>
    </p:spTree>
    <p:extLst>
      <p:ext uri="{BB962C8B-B14F-4D97-AF65-F5344CB8AC3E}">
        <p14:creationId xmlns:p14="http://schemas.microsoft.com/office/powerpoint/2010/main" val="146074230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0"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6" name="Rectangle 2"/>
          <p:cNvSpPr>
            <a:spLocks noGrp="1" noChangeArrowheads="1"/>
          </p:cNvSpPr>
          <p:nvPr>
            <p:ph type="title"/>
          </p:nvPr>
        </p:nvSpPr>
        <p:spPr/>
        <p:txBody>
          <a:bodyPr/>
          <a:lstStyle/>
          <a:p>
            <a:r>
              <a:rPr lang="en-US" altLang="zh-CN" dirty="0" smtClean="0"/>
              <a:t>8.4.6</a:t>
            </a:r>
            <a:r>
              <a:rPr lang="zh-CN" altLang="en-US" dirty="0" smtClean="0"/>
              <a:t> </a:t>
            </a:r>
            <a:r>
              <a:rPr lang="zh-CN" altLang="en-US" dirty="0"/>
              <a:t>货郎担问题</a:t>
            </a:r>
          </a:p>
        </p:txBody>
      </p:sp>
      <p:sp>
        <p:nvSpPr>
          <p:cNvPr id="2" name="内容占位符 1"/>
          <p:cNvSpPr>
            <a:spLocks noGrp="1"/>
          </p:cNvSpPr>
          <p:nvPr>
            <p:ph idx="1"/>
          </p:nvPr>
        </p:nvSpPr>
        <p:spPr>
          <a:xfrm>
            <a:off x="539552" y="1337268"/>
            <a:ext cx="8280920" cy="461665"/>
          </a:xfrm>
        </p:spPr>
        <p:txBody>
          <a:bodyPr/>
          <a:lstStyle/>
          <a:p>
            <a:r>
              <a:rPr lang="zh-CN" altLang="en-US" dirty="0"/>
              <a:t>例</a:t>
            </a:r>
            <a:r>
              <a:rPr lang="en-US" altLang="zh-CN" dirty="0"/>
              <a:t>8-9:</a:t>
            </a:r>
            <a:endParaRPr lang="zh-CN" altLang="en-US" dirty="0"/>
          </a:p>
        </p:txBody>
      </p:sp>
      <p:sp>
        <p:nvSpPr>
          <p:cNvPr id="15667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8C76DA0D-1420-43FB-9881-5B02B9B2E96D}" type="slidenum">
              <a:rPr lang="en-US" altLang="zh-CN" sz="1000"/>
              <a:pPr/>
              <a:t>82</a:t>
            </a:fld>
            <a:endParaRPr lang="en-US" altLang="zh-CN" sz="1000"/>
          </a:p>
        </p:txBody>
      </p:sp>
      <p:sp>
        <p:nvSpPr>
          <p:cNvPr id="15667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56680" name="Rectangle 19"/>
          <p:cNvSpPr>
            <a:spLocks noChangeArrowheads="1"/>
          </p:cNvSpPr>
          <p:nvPr/>
        </p:nvSpPr>
        <p:spPr bwMode="auto">
          <a:xfrm>
            <a:off x="982663" y="2319338"/>
            <a:ext cx="10826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383179" name="Group 203"/>
          <p:cNvGraphicFramePr>
            <a:graphicFrameLocks noGrp="1"/>
          </p:cNvGraphicFramePr>
          <p:nvPr/>
        </p:nvGraphicFramePr>
        <p:xfrm>
          <a:off x="2215687" y="1124744"/>
          <a:ext cx="5296370" cy="2103180"/>
        </p:xfrm>
        <a:graphic>
          <a:graphicData uri="http://schemas.openxmlformats.org/drawingml/2006/table">
            <a:tbl>
              <a:tblPr/>
              <a:tblGrid>
                <a:gridCol w="1099764">
                  <a:extLst>
                    <a:ext uri="{9D8B030D-6E8A-4147-A177-3AD203B41FA5}">
                      <a16:colId xmlns:a16="http://schemas.microsoft.com/office/drawing/2014/main" val="20000"/>
                    </a:ext>
                  </a:extLst>
                </a:gridCol>
                <a:gridCol w="1099764">
                  <a:extLst>
                    <a:ext uri="{9D8B030D-6E8A-4147-A177-3AD203B41FA5}">
                      <a16:colId xmlns:a16="http://schemas.microsoft.com/office/drawing/2014/main" val="20001"/>
                    </a:ext>
                  </a:extLst>
                </a:gridCol>
                <a:gridCol w="1099764">
                  <a:extLst>
                    <a:ext uri="{9D8B030D-6E8A-4147-A177-3AD203B41FA5}">
                      <a16:colId xmlns:a16="http://schemas.microsoft.com/office/drawing/2014/main" val="20002"/>
                    </a:ext>
                  </a:extLst>
                </a:gridCol>
                <a:gridCol w="1099764">
                  <a:extLst>
                    <a:ext uri="{9D8B030D-6E8A-4147-A177-3AD203B41FA5}">
                      <a16:colId xmlns:a16="http://schemas.microsoft.com/office/drawing/2014/main" val="20003"/>
                    </a:ext>
                  </a:extLst>
                </a:gridCol>
                <a:gridCol w="897314">
                  <a:extLst>
                    <a:ext uri="{9D8B030D-6E8A-4147-A177-3AD203B41FA5}">
                      <a16:colId xmlns:a16="http://schemas.microsoft.com/office/drawing/2014/main" val="20004"/>
                    </a:ext>
                  </a:extLst>
                </a:gridCol>
              </a:tblGrid>
              <a:tr h="565582">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i</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j</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9270">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9270">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9270">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7</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9270">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7</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Arial" panose="020B0604020202020204" pitchFamily="34" charset="0"/>
                          <a:ea typeface="宋体" panose="02010600030101010101" pitchFamily="2" charset="-122"/>
                        </a:defRPr>
                      </a:lvl1pPr>
                      <a:lvl2pPr>
                        <a:buClr>
                          <a:srgbClr val="0051C8"/>
                        </a:buClr>
                        <a:buSzPct val="65000"/>
                        <a:defRPr sz="2400">
                          <a:solidFill>
                            <a:schemeClr val="tx1"/>
                          </a:solidFill>
                          <a:latin typeface="Arial" panose="020B0604020202020204" pitchFamily="34" charset="0"/>
                          <a:ea typeface="宋体" panose="02010600030101010101" pitchFamily="2" charset="-122"/>
                        </a:defRPr>
                      </a:lvl2pPr>
                      <a:lvl3pPr>
                        <a:buClr>
                          <a:srgbClr val="0066FF"/>
                        </a:buClr>
                        <a:defRPr sz="2000">
                          <a:solidFill>
                            <a:schemeClr val="tx1"/>
                          </a:solidFill>
                          <a:latin typeface="Arial" panose="020B0604020202020204" pitchFamily="34" charset="0"/>
                          <a:ea typeface="宋体" panose="02010600030101010101" pitchFamily="2" charset="-122"/>
                        </a:defRPr>
                      </a:lvl3pPr>
                      <a:lvl4pPr>
                        <a:buClr>
                          <a:srgbClr val="0051C8"/>
                        </a:buClr>
                        <a:buSzPct val="75000"/>
                        <a:defRPr>
                          <a:solidFill>
                            <a:schemeClr val="tx1"/>
                          </a:solidFill>
                          <a:latin typeface="Arial" panose="020B0604020202020204" pitchFamily="34" charset="0"/>
                          <a:ea typeface="宋体" panose="02010600030101010101" pitchFamily="2" charset="-122"/>
                        </a:defRPr>
                      </a:lvl4pPr>
                      <a:lvl5pPr>
                        <a:buClr>
                          <a:srgbClr val="0064F6"/>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0064F6"/>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cxnSp>
        <p:nvCxnSpPr>
          <p:cNvPr id="4" name="直接连接符 3"/>
          <p:cNvCxnSpPr/>
          <p:nvPr/>
        </p:nvCxnSpPr>
        <p:spPr bwMode="auto">
          <a:xfrm>
            <a:off x="2215687" y="1124744"/>
            <a:ext cx="1060169" cy="6490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Rectangle 53"/>
          <p:cNvSpPr>
            <a:spLocks noChangeArrowheads="1"/>
          </p:cNvSpPr>
          <p:nvPr/>
        </p:nvSpPr>
        <p:spPr bwMode="auto">
          <a:xfrm>
            <a:off x="611188" y="3284984"/>
            <a:ext cx="5277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Times New Roman" panose="02020603050405020304" pitchFamily="18" charset="0"/>
              </a:rPr>
              <a:t>解</a:t>
            </a:r>
            <a:r>
              <a:rPr lang="en-US" altLang="zh-CN" b="1" dirty="0" smtClean="0">
                <a:cs typeface="Times New Roman" panose="02020603050405020304" pitchFamily="18" charset="0"/>
              </a:rPr>
              <a:t>:</a:t>
            </a:r>
            <a:endParaRPr lang="zh-CN" altLang="en-US" b="1" dirty="0"/>
          </a:p>
        </p:txBody>
      </p:sp>
      <p:sp>
        <p:nvSpPr>
          <p:cNvPr id="18" name="Rectangle 54"/>
          <p:cNvSpPr>
            <a:spLocks noChangeArrowheads="1"/>
          </p:cNvSpPr>
          <p:nvPr/>
        </p:nvSpPr>
        <p:spPr bwMode="auto">
          <a:xfrm>
            <a:off x="1115616" y="4669108"/>
            <a:ext cx="79232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Times New Roman" panose="02020603050405020304" pitchFamily="18" charset="0"/>
              </a:rPr>
              <a:t>当</a:t>
            </a:r>
            <a:r>
              <a:rPr lang="en-US" altLang="zh-CN" b="1" i="1" dirty="0" smtClean="0">
                <a:latin typeface="Times New Roman" panose="02020603050405020304" pitchFamily="18" charset="0"/>
                <a:cs typeface="Times New Roman" panose="02020603050405020304" pitchFamily="18" charset="0"/>
              </a:rPr>
              <a:t>k</a:t>
            </a:r>
            <a:r>
              <a:rPr lang="en-US" altLang="zh-CN" b="1" dirty="0" smtClean="0">
                <a:cs typeface="Times New Roman" panose="02020603050405020304" pitchFamily="18" charset="0"/>
              </a:rPr>
              <a:t>=3</a:t>
            </a:r>
            <a:r>
              <a:rPr lang="zh-CN" altLang="en-US" b="1" dirty="0" smtClean="0"/>
              <a:t>时</a:t>
            </a:r>
            <a:r>
              <a:rPr lang="zh-CN" altLang="en-US" b="1" dirty="0"/>
              <a:t>，即从</a:t>
            </a:r>
            <a:r>
              <a:rPr lang="en-US" altLang="zh-CN" b="1" dirty="0"/>
              <a:t>1</a:t>
            </a:r>
            <a:r>
              <a:rPr lang="zh-CN" altLang="en-US" b="1" dirty="0"/>
              <a:t>城开始，中间</a:t>
            </a:r>
            <a:r>
              <a:rPr lang="zh-CN" altLang="en-US" b="1" dirty="0" smtClean="0"/>
              <a:t>经过</a:t>
            </a:r>
            <a:r>
              <a:rPr lang="en-US" altLang="zh-CN" b="1" dirty="0" smtClean="0"/>
              <a:t>3</a:t>
            </a:r>
            <a:r>
              <a:rPr lang="zh-CN" altLang="en-US" b="1" dirty="0" smtClean="0"/>
              <a:t>个</a:t>
            </a:r>
            <a:r>
              <a:rPr lang="zh-CN" altLang="en-US" b="1" dirty="0"/>
              <a:t>城市到达</a:t>
            </a:r>
            <a:r>
              <a:rPr lang="en-US" altLang="zh-CN" b="1" i="1" dirty="0" err="1">
                <a:latin typeface="Times New Roman" panose="02020603050405020304" pitchFamily="18" charset="0"/>
                <a:cs typeface="Times New Roman" panose="02020603050405020304" pitchFamily="18" charset="0"/>
              </a:rPr>
              <a:t>i</a:t>
            </a:r>
            <a:r>
              <a:rPr lang="zh-CN" altLang="en-US" b="1" dirty="0"/>
              <a:t>城的最短距离是：</a:t>
            </a:r>
          </a:p>
        </p:txBody>
      </p:sp>
      <p:graphicFrame>
        <p:nvGraphicFramePr>
          <p:cNvPr id="21" name="Object 7"/>
          <p:cNvGraphicFramePr>
            <a:graphicFrameLocks noChangeAspect="1"/>
          </p:cNvGraphicFramePr>
          <p:nvPr>
            <p:extLst>
              <p:ext uri="{D42A27DB-BD31-4B8C-83A1-F6EECF244321}">
                <p14:modId xmlns:p14="http://schemas.microsoft.com/office/powerpoint/2010/main" val="3318752781"/>
              </p:ext>
            </p:extLst>
          </p:nvPr>
        </p:nvGraphicFramePr>
        <p:xfrm>
          <a:off x="579331" y="5073891"/>
          <a:ext cx="8531226" cy="360363"/>
        </p:xfrm>
        <a:graphic>
          <a:graphicData uri="http://schemas.openxmlformats.org/presentationml/2006/ole">
            <mc:AlternateContent xmlns:mc="http://schemas.openxmlformats.org/markup-compatibility/2006">
              <mc:Choice xmlns:v="urn:schemas-microsoft-com:vml" Requires="v">
                <p:oleObj spid="_x0000_s211057" name="Equation" r:id="rId3" imgW="6603840" imgH="279360" progId="Equation.DSMT4">
                  <p:embed/>
                </p:oleObj>
              </mc:Choice>
              <mc:Fallback>
                <p:oleObj name="Equation" r:id="rId3" imgW="6603840" imgH="279360" progId="Equation.DSMT4">
                  <p:embed/>
                  <p:pic>
                    <p:nvPicPr>
                      <p:cNvPr id="159750" name="Object 7"/>
                      <p:cNvPicPr>
                        <a:picLocks noChangeAspect="1" noChangeArrowheads="1"/>
                      </p:cNvPicPr>
                      <p:nvPr/>
                    </p:nvPicPr>
                    <p:blipFill>
                      <a:blip r:embed="rId4"/>
                      <a:srcRect/>
                      <a:stretch>
                        <a:fillRect/>
                      </a:stretch>
                    </p:blipFill>
                    <p:spPr bwMode="auto">
                      <a:xfrm>
                        <a:off x="579331" y="5073891"/>
                        <a:ext cx="8531226"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6"/>
          <p:cNvGraphicFramePr>
            <a:graphicFrameLocks noChangeAspect="1"/>
          </p:cNvGraphicFramePr>
          <p:nvPr>
            <p:extLst>
              <p:ext uri="{D42A27DB-BD31-4B8C-83A1-F6EECF244321}">
                <p14:modId xmlns:p14="http://schemas.microsoft.com/office/powerpoint/2010/main" val="2311639134"/>
              </p:ext>
            </p:extLst>
          </p:nvPr>
        </p:nvGraphicFramePr>
        <p:xfrm>
          <a:off x="1728400" y="5404374"/>
          <a:ext cx="1728787" cy="406400"/>
        </p:xfrm>
        <a:graphic>
          <a:graphicData uri="http://schemas.openxmlformats.org/presentationml/2006/ole">
            <mc:AlternateContent xmlns:mc="http://schemas.openxmlformats.org/markup-compatibility/2006">
              <mc:Choice xmlns:v="urn:schemas-microsoft-com:vml" Requires="v">
                <p:oleObj spid="_x0000_s211058" r:id="rId5" imgW="1091726" imgH="253890" progId="Equation.DSMT4">
                  <p:embed/>
                </p:oleObj>
              </mc:Choice>
              <mc:Fallback>
                <p:oleObj r:id="rId5" imgW="1091726" imgH="253890" progId="Equation.DSMT4">
                  <p:embed/>
                  <p:pic>
                    <p:nvPicPr>
                      <p:cNvPr id="15975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8400" y="5404374"/>
                        <a:ext cx="172878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Rectangle 11"/>
          <p:cNvSpPr>
            <a:spLocks noChangeArrowheads="1"/>
          </p:cNvSpPr>
          <p:nvPr/>
        </p:nvSpPr>
        <p:spPr bwMode="auto">
          <a:xfrm>
            <a:off x="1152783" y="5421807"/>
            <a:ext cx="1098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a:cs typeface="Courier New" panose="02070309020205020404" pitchFamily="49" charset="0"/>
              </a:rPr>
              <a:t>所以	</a:t>
            </a:r>
            <a:endParaRPr lang="zh-CN" altLang="en-US" b="1" dirty="0"/>
          </a:p>
        </p:txBody>
      </p:sp>
      <p:sp>
        <p:nvSpPr>
          <p:cNvPr id="24" name="Rectangle 12"/>
          <p:cNvSpPr>
            <a:spLocks noChangeArrowheads="1"/>
          </p:cNvSpPr>
          <p:nvPr/>
        </p:nvSpPr>
        <p:spPr bwMode="auto">
          <a:xfrm>
            <a:off x="1166164" y="5752253"/>
            <a:ext cx="78870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smtClean="0">
                <a:cs typeface="Courier New" panose="02070309020205020404" pitchFamily="49" charset="0"/>
              </a:rPr>
              <a:t>即：推销员</a:t>
            </a:r>
            <a:r>
              <a:rPr lang="zh-CN" altLang="en-US" b="1" dirty="0">
                <a:cs typeface="Courier New" panose="02070309020205020404" pitchFamily="49" charset="0"/>
              </a:rPr>
              <a:t>的最短旅行路线是</a:t>
            </a:r>
            <a:r>
              <a:rPr lang="en-US" altLang="zh-CN" b="1" dirty="0">
                <a:cs typeface="Courier New" panose="02070309020205020404" pitchFamily="49" charset="0"/>
              </a:rPr>
              <a:t>1→3→4→2→1</a:t>
            </a:r>
            <a:r>
              <a:rPr lang="zh-CN" altLang="en-US" b="1" dirty="0">
                <a:cs typeface="Courier New" panose="02070309020205020404" pitchFamily="49" charset="0"/>
              </a:rPr>
              <a:t>，最短总距离为</a:t>
            </a:r>
            <a:r>
              <a:rPr lang="en-US" altLang="zh-CN" b="1" dirty="0">
                <a:cs typeface="Courier New" panose="02070309020205020404" pitchFamily="49" charset="0"/>
              </a:rPr>
              <a:t>23</a:t>
            </a:r>
            <a:r>
              <a:rPr lang="zh-CN" altLang="en-US" b="1" dirty="0">
                <a:cs typeface="Courier New" panose="02070309020205020404" pitchFamily="49" charset="0"/>
              </a:rPr>
              <a:t>。</a:t>
            </a:r>
            <a:endParaRPr lang="zh-CN" altLang="en-US" b="1" dirty="0"/>
          </a:p>
        </p:txBody>
      </p:sp>
      <p:graphicFrame>
        <p:nvGraphicFramePr>
          <p:cNvPr id="16" name="Object 8"/>
          <p:cNvGraphicFramePr>
            <a:graphicFrameLocks noChangeAspect="1"/>
          </p:cNvGraphicFramePr>
          <p:nvPr>
            <p:extLst>
              <p:ext uri="{D42A27DB-BD31-4B8C-83A1-F6EECF244321}">
                <p14:modId xmlns:p14="http://schemas.microsoft.com/office/powerpoint/2010/main" val="527116661"/>
              </p:ext>
            </p:extLst>
          </p:nvPr>
        </p:nvGraphicFramePr>
        <p:xfrm>
          <a:off x="1200000" y="3665167"/>
          <a:ext cx="7910557" cy="1001010"/>
        </p:xfrm>
        <a:graphic>
          <a:graphicData uri="http://schemas.openxmlformats.org/presentationml/2006/ole">
            <mc:AlternateContent xmlns:mc="http://schemas.openxmlformats.org/markup-compatibility/2006">
              <mc:Choice xmlns:v="urn:schemas-microsoft-com:vml" Requires="v">
                <p:oleObj spid="_x0000_s211059" name="Equation" r:id="rId7" imgW="6197400" imgH="787320" progId="Equation.DSMT4">
                  <p:embed/>
                </p:oleObj>
              </mc:Choice>
              <mc:Fallback>
                <p:oleObj name="Equation" r:id="rId7" imgW="6197400" imgH="787320" progId="Equation.DSMT4">
                  <p:embed/>
                  <p:pic>
                    <p:nvPicPr>
                      <p:cNvPr id="19" name="Object 8"/>
                      <p:cNvPicPr>
                        <a:picLocks noChangeAspect="1" noChangeArrowheads="1"/>
                      </p:cNvPicPr>
                      <p:nvPr/>
                    </p:nvPicPr>
                    <p:blipFill>
                      <a:blip r:embed="rId8"/>
                      <a:srcRect/>
                      <a:stretch>
                        <a:fillRect/>
                      </a:stretch>
                    </p:blipFill>
                    <p:spPr bwMode="auto">
                      <a:xfrm>
                        <a:off x="1200000" y="3665167"/>
                        <a:ext cx="7910557" cy="1001010"/>
                      </a:xfrm>
                      <a:prstGeom prst="rect">
                        <a:avLst/>
                      </a:prstGeom>
                      <a:noFill/>
                      <a:ln>
                        <a:noFill/>
                      </a:ln>
                      <a:extLst/>
                    </p:spPr>
                  </p:pic>
                </p:oleObj>
              </mc:Fallback>
            </mc:AlternateContent>
          </a:graphicData>
        </a:graphic>
      </p:graphicFrame>
      <p:sp>
        <p:nvSpPr>
          <p:cNvPr id="19" name="Rectangle 10"/>
          <p:cNvSpPr>
            <a:spLocks noChangeArrowheads="1"/>
          </p:cNvSpPr>
          <p:nvPr/>
        </p:nvSpPr>
        <p:spPr bwMode="auto">
          <a:xfrm>
            <a:off x="1115616" y="3284984"/>
            <a:ext cx="78848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zh-CN" altLang="en-US" b="1" dirty="0" smtClean="0">
                <a:cs typeface="Times New Roman" panose="02020603050405020304" pitchFamily="18" charset="0"/>
              </a:rPr>
              <a:t>当</a:t>
            </a:r>
            <a:r>
              <a:rPr lang="en-US" altLang="zh-CN" b="1" i="1" dirty="0">
                <a:latin typeface="Times New Roman" panose="02020603050405020304" pitchFamily="18" charset="0"/>
                <a:cs typeface="Times New Roman" panose="02020603050405020304" pitchFamily="18" charset="0"/>
              </a:rPr>
              <a:t>k</a:t>
            </a:r>
            <a:r>
              <a:rPr lang="en-US" altLang="zh-CN" b="1" dirty="0" smtClean="0">
                <a:cs typeface="Times New Roman" panose="02020603050405020304" pitchFamily="18" charset="0"/>
              </a:rPr>
              <a:t>=2</a:t>
            </a:r>
            <a:r>
              <a:rPr lang="zh-CN" altLang="en-US" b="1" dirty="0"/>
              <a:t>时，即从</a:t>
            </a:r>
            <a:r>
              <a:rPr lang="en-US" altLang="zh-CN" b="1" dirty="0"/>
              <a:t>1</a:t>
            </a:r>
            <a:r>
              <a:rPr lang="zh-CN" altLang="en-US" b="1" dirty="0"/>
              <a:t>城开始，中间</a:t>
            </a:r>
            <a:r>
              <a:rPr lang="zh-CN" altLang="en-US" b="1" dirty="0" smtClean="0"/>
              <a:t>经过</a:t>
            </a:r>
            <a:r>
              <a:rPr lang="en-US" altLang="zh-CN" b="1" dirty="0" smtClean="0"/>
              <a:t>2</a:t>
            </a:r>
            <a:r>
              <a:rPr lang="zh-CN" altLang="en-US" b="1" dirty="0" smtClean="0"/>
              <a:t>个城市到达</a:t>
            </a:r>
            <a:r>
              <a:rPr lang="en-US" altLang="zh-CN" b="1" i="1" dirty="0" err="1">
                <a:latin typeface="Times New Roman" panose="02020603050405020304" pitchFamily="18" charset="0"/>
                <a:cs typeface="Times New Roman" panose="02020603050405020304" pitchFamily="18" charset="0"/>
              </a:rPr>
              <a:t>i</a:t>
            </a:r>
            <a:r>
              <a:rPr lang="zh-CN" altLang="en-US" b="1" dirty="0" smtClean="0"/>
              <a:t>城</a:t>
            </a:r>
            <a:r>
              <a:rPr lang="zh-CN" altLang="en-US" b="1" dirty="0"/>
              <a:t>的最短距离是：</a:t>
            </a:r>
          </a:p>
        </p:txBody>
      </p:sp>
      <p:sp>
        <p:nvSpPr>
          <p:cNvPr id="3" name="椭圆 2"/>
          <p:cNvSpPr/>
          <p:nvPr/>
        </p:nvSpPr>
        <p:spPr bwMode="auto">
          <a:xfrm>
            <a:off x="3248818" y="5445224"/>
            <a:ext cx="181331" cy="341390"/>
          </a:xfrm>
          <a:prstGeom prst="ellipse">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 name="椭圆 19"/>
          <p:cNvSpPr/>
          <p:nvPr/>
        </p:nvSpPr>
        <p:spPr bwMode="auto">
          <a:xfrm>
            <a:off x="8948162" y="3678479"/>
            <a:ext cx="181331" cy="341390"/>
          </a:xfrm>
          <a:prstGeom prst="ellipse">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2079319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P spid="24" grpId="0"/>
      <p:bldP spid="3" grpId="0" animBg="1"/>
      <p:bldP spid="20"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本章练习题</a:t>
            </a:r>
            <a:endParaRPr lang="zh-CN" altLang="en-US" dirty="0"/>
          </a:p>
        </p:txBody>
      </p:sp>
      <p:sp>
        <p:nvSpPr>
          <p:cNvPr id="3" name="内容占位符 2"/>
          <p:cNvSpPr>
            <a:spLocks noGrp="1"/>
          </p:cNvSpPr>
          <p:nvPr>
            <p:ph idx="1"/>
          </p:nvPr>
        </p:nvSpPr>
        <p:spPr>
          <a:xfrm>
            <a:off x="539552" y="1337268"/>
            <a:ext cx="8280920" cy="2700035"/>
          </a:xfrm>
        </p:spPr>
        <p:txBody>
          <a:bodyPr/>
          <a:lstStyle/>
          <a:p>
            <a:pPr marL="0" indent="0" algn="just">
              <a:lnSpc>
                <a:spcPct val="173000"/>
              </a:lnSpc>
              <a:spcBef>
                <a:spcPts val="1300"/>
              </a:spcBef>
              <a:spcAft>
                <a:spcPts val="1300"/>
              </a:spcAft>
              <a:buNone/>
            </a:pPr>
            <a:r>
              <a:rPr lang="zh-CN" altLang="zh-CN" sz="1400" kern="100" dirty="0">
                <a:latin typeface="等线 Light" panose="02010600030101010101" pitchFamily="2" charset="-122"/>
                <a:ea typeface="等线 Light" panose="02010600030101010101" pitchFamily="2" charset="-122"/>
                <a:cs typeface="Times New Roman" panose="02020603050405020304" pitchFamily="18" charset="0"/>
              </a:rPr>
              <a:t>一、选择题</a:t>
            </a:r>
          </a:p>
          <a:p>
            <a:pPr marL="0" indent="0" algn="just">
              <a:spcAft>
                <a:spcPts val="0"/>
              </a:spcAft>
              <a:buNone/>
            </a:pP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用</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DP </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方法处理资源分配问题时，通常总是选阶段初资源的拥有量作为决策变量</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zh-CN" altLang="zh-CN" sz="1400" kern="100" dirty="0" smtClean="0">
                <a:latin typeface="等线" panose="02010600030101010101" pitchFamily="2" charset="-122"/>
                <a:ea typeface="等线" panose="02010600030101010101" pitchFamily="2" charset="-122"/>
                <a:cs typeface="Times New Roman" panose="02020603050405020304" pitchFamily="18" charset="0"/>
              </a:rPr>
              <a:t>正确 </a:t>
            </a:r>
            <a:r>
              <a:rPr lang="en-US" altLang="zh-CN" sz="1400" kern="100" dirty="0" smtClean="0">
                <a:solidFill>
                  <a:srgbClr val="FF0000"/>
                </a:solidFill>
                <a:latin typeface="等线" panose="02010600030101010101" pitchFamily="2" charset="-122"/>
                <a:ea typeface="等线" panose="02010600030101010101" pitchFamily="2" charset="-122"/>
                <a:cs typeface="Times New Roman" panose="02020603050405020304" pitchFamily="18" charset="0"/>
              </a:rPr>
              <a:t>	</a:t>
            </a:r>
            <a:r>
              <a:rPr lang="zh-CN" altLang="zh-CN" sz="1400" kern="100" dirty="0" smtClean="0">
                <a:solidFill>
                  <a:srgbClr val="FF0000"/>
                </a:solidFill>
                <a:latin typeface="等线" panose="02010600030101010101" pitchFamily="2" charset="-122"/>
                <a:ea typeface="等线" panose="02010600030101010101" pitchFamily="2" charset="-122"/>
                <a:cs typeface="Times New Roman" panose="02020603050405020304" pitchFamily="18" charset="0"/>
              </a:rPr>
              <a:t>错误</a:t>
            </a:r>
            <a:r>
              <a:rPr lang="en-US" altLang="zh-CN" sz="14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400" kern="100" dirty="0" smtClean="0">
                <a:latin typeface="等线" panose="02010600030101010101" pitchFamily="2" charset="-122"/>
                <a:ea typeface="等线" panose="02010600030101010101" pitchFamily="2" charset="-122"/>
                <a:cs typeface="Times New Roman" panose="02020603050405020304" pitchFamily="18" charset="0"/>
              </a:rPr>
              <a:t>不一定</a:t>
            </a:r>
            <a:r>
              <a:rPr lang="en-US" altLang="zh-CN" sz="14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400" kern="100" dirty="0" smtClean="0">
                <a:latin typeface="等线" panose="02010600030101010101" pitchFamily="2" charset="-122"/>
                <a:ea typeface="等线" panose="02010600030101010101" pitchFamily="2" charset="-122"/>
                <a:cs typeface="Times New Roman" panose="02020603050405020304" pitchFamily="18" charset="0"/>
              </a:rPr>
              <a:t>无法</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判断</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endParaRPr lang="en-US" altLang="zh-CN" sz="1400" kern="100" dirty="0" smtClean="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zh-CN" altLang="en-US" sz="1400" kern="100" dirty="0" smtClean="0">
                <a:latin typeface="等线" panose="02010600030101010101" pitchFamily="2" charset="-122"/>
                <a:ea typeface="等线" panose="02010600030101010101" pitchFamily="2" charset="-122"/>
                <a:cs typeface="Times New Roman" panose="02020603050405020304" pitchFamily="18" charset="0"/>
              </a:rPr>
              <a:t>二</a:t>
            </a:r>
            <a:r>
              <a:rPr lang="zh-CN"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填空题</a:t>
            </a:r>
          </a:p>
          <a:p>
            <a:pPr marL="342900" lvl="0" indent="-342900" algn="just">
              <a:spcAft>
                <a:spcPts val="0"/>
              </a:spcAft>
              <a:buFont typeface="+mj-lt"/>
              <a:buAutoNum type="arabicPeriod"/>
            </a:pP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设备更新问题中，状态变量通常</a:t>
            </a:r>
            <a:r>
              <a:rPr lang="zh-CN" altLang="zh-CN" sz="1400" kern="100" dirty="0" smtClean="0">
                <a:latin typeface="等线" panose="02010600030101010101" pitchFamily="2" charset="-122"/>
                <a:ea typeface="等线" panose="02010600030101010101" pitchFamily="2" charset="-122"/>
                <a:cs typeface="Times New Roman" panose="02020603050405020304" pitchFamily="18" charset="0"/>
              </a:rPr>
              <a:t>表示</a:t>
            </a:r>
            <a:r>
              <a:rPr lang="en-US" altLang="zh-CN" sz="1400" u="sng"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eriod"/>
            </a:pP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动态规划的两种基本解法</a:t>
            </a:r>
            <a:r>
              <a:rPr lang="zh-CN" altLang="zh-CN" sz="1400" kern="100" dirty="0" smtClean="0">
                <a:latin typeface="等线" panose="02010600030101010101" pitchFamily="2" charset="-122"/>
                <a:ea typeface="等线" panose="02010600030101010101" pitchFamily="2" charset="-122"/>
                <a:cs typeface="Times New Roman" panose="02020603050405020304" pitchFamily="18" charset="0"/>
              </a:rPr>
              <a:t>是</a:t>
            </a:r>
            <a:r>
              <a:rPr lang="en-US" altLang="zh-CN" sz="1400" u="sng"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eriod"/>
            </a:pP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动态规划中反映当前阶段决策产生结果的指标</a:t>
            </a:r>
            <a:r>
              <a:rPr lang="zh-CN" altLang="zh-CN" sz="1400" kern="100" dirty="0" smtClean="0">
                <a:latin typeface="等线" panose="02010600030101010101" pitchFamily="2" charset="-122"/>
                <a:ea typeface="等线" panose="02010600030101010101" pitchFamily="2" charset="-122"/>
                <a:cs typeface="Times New Roman" panose="02020603050405020304" pitchFamily="18" charset="0"/>
              </a:rPr>
              <a:t>称为</a:t>
            </a:r>
            <a:r>
              <a:rPr lang="en-US" altLang="zh-CN" sz="1400" u="sng"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en-US" sz="14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sz="1400" dirty="0"/>
          </a:p>
        </p:txBody>
      </p:sp>
      <p:sp>
        <p:nvSpPr>
          <p:cNvPr id="4" name="灯片编号占位符 3"/>
          <p:cNvSpPr>
            <a:spLocks noGrp="1"/>
          </p:cNvSpPr>
          <p:nvPr>
            <p:ph type="sldNum" sz="quarter" idx="12"/>
          </p:nvPr>
        </p:nvSpPr>
        <p:spPr/>
        <p:txBody>
          <a:bodyPr/>
          <a:lstStyle/>
          <a:p>
            <a:fld id="{D6B2FC51-1DE3-4359-9B39-6CC27C545D80}" type="slidenum">
              <a:rPr lang="en-US" altLang="zh-CN" smtClean="0"/>
              <a:pPr/>
              <a:t>83</a:t>
            </a:fld>
            <a:endParaRPr lang="en-US" altLang="zh-CN"/>
          </a:p>
        </p:txBody>
      </p:sp>
    </p:spTree>
    <p:extLst>
      <p:ext uri="{BB962C8B-B14F-4D97-AF65-F5344CB8AC3E}">
        <p14:creationId xmlns:p14="http://schemas.microsoft.com/office/powerpoint/2010/main" val="25832240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本章练习题</a:t>
            </a:r>
            <a:endParaRPr lang="zh-CN" altLang="en-US" dirty="0"/>
          </a:p>
        </p:txBody>
      </p:sp>
      <p:sp>
        <p:nvSpPr>
          <p:cNvPr id="3" name="内容占位符 2"/>
          <p:cNvSpPr>
            <a:spLocks noGrp="1"/>
          </p:cNvSpPr>
          <p:nvPr>
            <p:ph idx="1"/>
          </p:nvPr>
        </p:nvSpPr>
        <p:spPr>
          <a:xfrm>
            <a:off x="539552" y="1337268"/>
            <a:ext cx="8280920" cy="4825808"/>
          </a:xfrm>
        </p:spPr>
        <p:txBody>
          <a:bodyPr/>
          <a:lstStyle/>
          <a:p>
            <a:pPr marL="0" indent="0" algn="just">
              <a:lnSpc>
                <a:spcPct val="173000"/>
              </a:lnSpc>
              <a:spcBef>
                <a:spcPts val="1300"/>
              </a:spcBef>
              <a:spcAft>
                <a:spcPts val="1300"/>
              </a:spcAft>
              <a:buNone/>
            </a:pPr>
            <a:r>
              <a:rPr lang="zh-CN" altLang="en-US" sz="1200" kern="100" dirty="0" smtClean="0">
                <a:latin typeface="等线 Light" panose="02010600030101010101" pitchFamily="2" charset="-122"/>
                <a:ea typeface="等线 Light" panose="02010600030101010101" pitchFamily="2" charset="-122"/>
                <a:cs typeface="Times New Roman" panose="02020603050405020304" pitchFamily="18" charset="0"/>
              </a:rPr>
              <a:t>三</a:t>
            </a:r>
            <a:r>
              <a:rPr lang="zh-CN" altLang="zh-CN" sz="1200" kern="100" dirty="0" smtClean="0">
                <a:latin typeface="等线 Light" panose="02010600030101010101" pitchFamily="2" charset="-122"/>
                <a:ea typeface="等线 Light" panose="02010600030101010101" pitchFamily="2" charset="-122"/>
                <a:cs typeface="Times New Roman" panose="02020603050405020304" pitchFamily="18" charset="0"/>
              </a:rPr>
              <a:t>、</a:t>
            </a:r>
            <a:r>
              <a:rPr lang="zh-CN" altLang="zh-CN" sz="1200" kern="100" dirty="0">
                <a:latin typeface="等线 Light" panose="02010600030101010101" pitchFamily="2" charset="-122"/>
                <a:ea typeface="等线 Light" panose="02010600030101010101" pitchFamily="2" charset="-122"/>
                <a:cs typeface="Times New Roman" panose="02020603050405020304" pitchFamily="18" charset="0"/>
              </a:rPr>
              <a:t>判断题</a:t>
            </a:r>
          </a:p>
          <a:p>
            <a:pPr marL="342900" lvl="0" indent="-34290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在动态规划模型中，问题的阶段数等于问题中的子问题的数目。</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动态规划中，定义状态时应保证在各个阶段中所做决策的相互独立性</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 </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动态规划的最优性原理保证了从某一状态开始的未来决策独立于先前已做出的决策。</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p>
          <a:p>
            <a:pPr marL="342900" lvl="0" indent="-342900" algn="just">
              <a:spcAft>
                <a:spcPts val="0"/>
              </a:spcAft>
              <a:buFont typeface="+mj-lt"/>
              <a:buAutoNum type="arabicPeriod"/>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对</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一个动态规划问题，应用顺推或逆推解法可能会得出不同的最优解。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动态规划计算中的“维数障碍”主要是由于问题中阶段数的急剧增加而引起。</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假如一个线性规划问题含有</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5</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个变量和</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3</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个约束，则用动态规划方法求解时将划分为</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3</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个阶段，每个阶段的状态将由一个</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5</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维的向量组成。</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个动态规划问题若能用网络表达时，节点代表各阶段的状态值，各条弧代表了可行的方案选择。</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动态规划的基本方程是将一个多阶段的决策问题转化为一系列具有递推关系的单阶段的决策问题。</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在动态规划基本方程中，凡子问题具有看加性质的，其边界条件取值均为零</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子问题为乘积型的，边界条件取值均为</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1</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 </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个线性规划问题若转化为动态规划方法求解时，应严格按变量的下标顺序来划分阶段，如将决定</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x</a:t>
            </a:r>
            <a:r>
              <a:rPr lang="en-US" altLang="zh-CN" sz="1200" kern="100" baseline="-25000" dirty="0">
                <a:latin typeface="等线" panose="02010600030101010101" pitchFamily="2" charset="-122"/>
                <a:ea typeface="等线" panose="02010600030101010101" pitchFamily="2" charset="-122"/>
                <a:cs typeface="Times New Roman" panose="02020603050405020304" pitchFamily="18" charset="0"/>
              </a:rPr>
              <a:t>1</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的值作为第决定必</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x</a:t>
            </a:r>
            <a:r>
              <a:rPr lang="en-US" altLang="zh-CN" sz="1200" kern="100" baseline="-25000" dirty="0">
                <a:latin typeface="等线" panose="02010600030101010101" pitchFamily="2" charset="-122"/>
                <a:ea typeface="等线" panose="02010600030101010101" pitchFamily="2" charset="-122"/>
                <a:cs typeface="Times New Roman" panose="02020603050405020304" pitchFamily="18" charset="0"/>
              </a:rPr>
              <a:t>2</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的值作为第二阶段等。</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动态规划的最优性原理简而言之就是一个最优策略的子策略总是最优的。</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动态规划方法有逆序解法和顺序解法之分，其关键在于正确写出动态规划的递推关系式，故递推方式有逆推和顺推两种形式。一般而言，当初始状态给定时，用逆推解法比较方便</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而当终止状态给定时，用顺推解法比较方便。</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某些资源</a:t>
            </a:r>
            <a:r>
              <a:rPr lang="en-US" altLang="zh-CN" sz="1200" kern="100" dirty="0" err="1">
                <a:latin typeface="等线" panose="02010600030101010101" pitchFamily="2" charset="-122"/>
                <a:ea typeface="等线" panose="02010600030101010101" pitchFamily="2" charset="-122"/>
                <a:cs typeface="Times New Roman" panose="02020603050405020304" pitchFamily="18" charset="0"/>
                <a:hlinkClick r:id="rId2"/>
              </a:rPr>
              <a:t>分配问题</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除用动态</a:t>
            </a:r>
            <a:r>
              <a:rPr lang="en-US" altLang="zh-CN" sz="1200" kern="100" dirty="0" err="1">
                <a:latin typeface="等线" panose="02010600030101010101" pitchFamily="2" charset="-122"/>
                <a:ea typeface="等线" panose="02010600030101010101" pitchFamily="2" charset="-122"/>
                <a:cs typeface="Times New Roman" panose="02020603050405020304" pitchFamily="18" charset="0"/>
                <a:hlinkClick r:id="rId3"/>
              </a:rPr>
              <a:t>规划求解</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外，也可用线性规划或</a:t>
            </a:r>
            <a:r>
              <a:rPr lang="en-US" altLang="zh-CN" sz="1200" kern="100" dirty="0" err="1">
                <a:latin typeface="等线" panose="02010600030101010101" pitchFamily="2" charset="-122"/>
                <a:ea typeface="等线" panose="02010600030101010101" pitchFamily="2" charset="-122"/>
                <a:cs typeface="Times New Roman" panose="02020603050405020304" pitchFamily="18" charset="0"/>
                <a:hlinkClick r:id="rId4"/>
              </a:rPr>
              <a:t>非线性规划</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求解。某些资源分配问题除用动态规划求解外，也可用线性规划或非线性规划求解</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p>
          <a:p>
            <a:pPr marL="342900" lvl="0" indent="-342900" algn="just">
              <a:spcAft>
                <a:spcPts val="0"/>
              </a:spcAft>
              <a:buFont typeface="+mj-lt"/>
              <a:buAutoNum type="arabicPeriod"/>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动态规划</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中的阶段是按时间划分的</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eriod"/>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k</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阶段指标函数一般也称为</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k</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子过程指标函数</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smtClean="0">
                <a:latin typeface="等线" panose="02010600030101010101" pitchFamily="2" charset="-122"/>
                <a:ea typeface="等线" panose="02010600030101010101" pitchFamily="2" charset="-122"/>
                <a:cs typeface="Times New Roman" panose="02020603050405020304" pitchFamily="18" charset="0"/>
              </a:rPr>
              <a:t>()</a:t>
            </a:r>
            <a:endParaRPr lang="zh-CN" altLang="en-US" sz="1200" dirty="0"/>
          </a:p>
        </p:txBody>
      </p:sp>
      <p:sp>
        <p:nvSpPr>
          <p:cNvPr id="4" name="灯片编号占位符 3"/>
          <p:cNvSpPr>
            <a:spLocks noGrp="1"/>
          </p:cNvSpPr>
          <p:nvPr>
            <p:ph type="sldNum" sz="quarter" idx="12"/>
          </p:nvPr>
        </p:nvSpPr>
        <p:spPr/>
        <p:txBody>
          <a:bodyPr/>
          <a:lstStyle/>
          <a:p>
            <a:fld id="{D6B2FC51-1DE3-4359-9B39-6CC27C545D80}" type="slidenum">
              <a:rPr lang="en-US" altLang="zh-CN" smtClean="0"/>
              <a:pPr/>
              <a:t>84</a:t>
            </a:fld>
            <a:endParaRPr lang="en-US" altLang="zh-CN"/>
          </a:p>
        </p:txBody>
      </p:sp>
    </p:spTree>
    <p:extLst>
      <p:ext uri="{BB962C8B-B14F-4D97-AF65-F5344CB8AC3E}">
        <p14:creationId xmlns:p14="http://schemas.microsoft.com/office/powerpoint/2010/main" val="2672280116"/>
      </p:ext>
    </p:extLst>
  </p:cSld>
  <p:clrMapOvr>
    <a:masterClrMapping/>
  </p:clrMapOvr>
</p:sld>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Verdana"/>
        <a:ea typeface="Arial Unicode MS"/>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def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447675" marR="0" indent="-447675" algn="l" defTabSz="914400" rtl="0" eaLnBrk="1" fontAlgn="base" latinLnBrk="0" hangingPunct="1">
          <a:lnSpc>
            <a:spcPct val="100000"/>
          </a:lnSpc>
          <a:spcBef>
            <a:spcPct val="20000"/>
          </a:spcBef>
          <a:spcAft>
            <a:spcPct val="0"/>
          </a:spcAft>
          <a:buClr>
            <a:srgbClr val="553AF8"/>
          </a:buClr>
          <a:buSzPct val="70000"/>
          <a:buFont typeface="Wingdings" panose="05000000000000000000" pitchFamily="2" charset="2"/>
          <a:buChar char="v"/>
          <a:tabLst/>
          <a:def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algn="just" eaLnBrk="1" hangingPunct="1">
          <a:lnSpc>
            <a:spcPct val="110000"/>
          </a:lnSpc>
          <a:spcBef>
            <a:spcPct val="0"/>
          </a:spcBef>
          <a:buClrTx/>
          <a:buSzTx/>
          <a:buFontTx/>
          <a:buNone/>
          <a:defRPr sz="1800" dirty="0">
            <a:latin typeface="Times New Roman" panose="02020603050405020304" pitchFamily="18" charset="0"/>
            <a:cs typeface="Courier New" panose="02070309020205020404" pitchFamily="49" charset="0"/>
          </a:defRPr>
        </a:defPPr>
      </a:lstStyle>
    </a:tx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Axis</Template>
  <TotalTime>12225</TotalTime>
  <Words>10324</Words>
  <Application>Microsoft Office PowerPoint</Application>
  <PresentationFormat>全屏显示(4:3)</PresentationFormat>
  <Paragraphs>3002</Paragraphs>
  <Slides>84</Slides>
  <Notes>25</Notes>
  <HiddenSlides>1</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5</vt:i4>
      </vt:variant>
      <vt:variant>
        <vt:lpstr>幻灯片标题</vt:lpstr>
      </vt:variant>
      <vt:variant>
        <vt:i4>84</vt:i4>
      </vt:variant>
    </vt:vector>
  </HeadingPairs>
  <TitlesOfParts>
    <vt:vector size="104" baseType="lpstr">
      <vt:lpstr>Arial Unicode MS</vt:lpstr>
      <vt:lpstr>等线</vt:lpstr>
      <vt:lpstr>等线 Light</vt:lpstr>
      <vt:lpstr>黑体</vt:lpstr>
      <vt:lpstr>楷体</vt:lpstr>
      <vt:lpstr>楷体_GB2312</vt:lpstr>
      <vt:lpstr>宋体</vt:lpstr>
      <vt:lpstr>Arial</vt:lpstr>
      <vt:lpstr>Arial Narrow</vt:lpstr>
      <vt:lpstr>Cambria Math</vt:lpstr>
      <vt:lpstr>Courier New</vt:lpstr>
      <vt:lpstr>Times New Roman</vt:lpstr>
      <vt:lpstr>Verdana</vt:lpstr>
      <vt:lpstr>Wingdings</vt:lpstr>
      <vt:lpstr>Axis</vt:lpstr>
      <vt:lpstr>Equation</vt:lpstr>
      <vt:lpstr>MathType 6.0 Equation</vt:lpstr>
      <vt:lpstr>Microsoft 公式 3.0</vt:lpstr>
      <vt:lpstr>公式</vt:lpstr>
      <vt:lpstr>文档</vt:lpstr>
      <vt:lpstr>8.1 动态规划的基本概念和基本方程</vt:lpstr>
      <vt:lpstr>8.1.1  动态规划的基本概念 </vt:lpstr>
      <vt:lpstr>8.1.1  动态规划的基本概念 </vt:lpstr>
      <vt:lpstr>8.1.1  动态规划的基本概念 </vt:lpstr>
      <vt:lpstr>8.1.1  动态规划的基本概念 </vt:lpstr>
      <vt:lpstr>8.1.1  动态规划的基本概念 </vt:lpstr>
      <vt:lpstr>8.1.1  动态规划的基本概念 </vt:lpstr>
      <vt:lpstr>8.1.1  动态规划的基本概念 </vt:lpstr>
      <vt:lpstr>8.1.1  动态规划的基本概念 </vt:lpstr>
      <vt:lpstr>8.1.1  动态规划的基本概念 </vt:lpstr>
      <vt:lpstr>8.1.1  动态规划的基本概念 </vt:lpstr>
      <vt:lpstr>8.1.2  动态规划的基本思想和基本方程</vt:lpstr>
      <vt:lpstr>8.1.2  动态规划的基本思想和基本方程</vt:lpstr>
      <vt:lpstr>8.1.2  动态规划的基本思想和基本方程</vt:lpstr>
      <vt:lpstr>8.1.2  动态规划的基本思想和基本方程</vt:lpstr>
      <vt:lpstr>8.1.2  动态规划的基本思想和基本方程</vt:lpstr>
      <vt:lpstr>8.1.2  动态规划的基本思想和基本方程</vt:lpstr>
      <vt:lpstr>8.1.2  动态规划的基本思想和基本方程</vt:lpstr>
      <vt:lpstr>8.1.2  动态规划的基本思想和基本方程</vt:lpstr>
      <vt:lpstr>8.1.2  动态规划的基本思想和基本方程</vt:lpstr>
      <vt:lpstr>8.1.2  动态规划的基本思想和基本方程</vt:lpstr>
      <vt:lpstr>8.1.2  动态规划的基本思想和基本方程</vt:lpstr>
      <vt:lpstr>8.1.2  动态规划的基本思想和基本方程</vt:lpstr>
      <vt:lpstr>8.1.2  动态规划的基本思想和基本方程</vt:lpstr>
      <vt:lpstr>8.2  动态规划的最优性原理</vt:lpstr>
      <vt:lpstr>8.3.1 逆推解法</vt:lpstr>
      <vt:lpstr>8.3  动态规划的求解方法</vt:lpstr>
      <vt:lpstr>8.3.1 逆推解法</vt:lpstr>
      <vt:lpstr>8.3.1 逆推解法</vt:lpstr>
      <vt:lpstr>8.3.1 逆推解法</vt:lpstr>
      <vt:lpstr>8.3.2  顺推解法</vt:lpstr>
      <vt:lpstr>8.3.2  顺推解法</vt:lpstr>
      <vt:lpstr>8.3.2  顺推解法</vt:lpstr>
      <vt:lpstr>8.3.2  顺推解法</vt:lpstr>
      <vt:lpstr>8.3.2  顺推解法</vt:lpstr>
      <vt:lpstr>8.3.2  顺推解法</vt:lpstr>
      <vt:lpstr>8.3.2  顺推解法</vt:lpstr>
      <vt:lpstr>8.3.2  顺推解法</vt:lpstr>
      <vt:lpstr>8.3.2  顺推解法</vt:lpstr>
      <vt:lpstr>8.3.2  顺推解法</vt:lpstr>
      <vt:lpstr>8.3.2  顺推解法</vt:lpstr>
      <vt:lpstr>8.3.2  顺推解法</vt:lpstr>
      <vt:lpstr>8.3.2  顺推解法</vt:lpstr>
      <vt:lpstr>8.3.2  顺推解法</vt:lpstr>
      <vt:lpstr>8.3.2  顺推解法</vt:lpstr>
      <vt:lpstr>8.4.1 资源分配问题</vt:lpstr>
      <vt:lpstr>8.4.1资源分配问题</vt:lpstr>
      <vt:lpstr>8.4.1资源分配问题</vt:lpstr>
      <vt:lpstr>8.4.1资源分配问题</vt:lpstr>
      <vt:lpstr>8.4.1资源分配问题</vt:lpstr>
      <vt:lpstr>8.4.1资源分配问题</vt:lpstr>
      <vt:lpstr>8.4.1资源分配问题</vt:lpstr>
      <vt:lpstr>8.4.2 生产与存储问题</vt:lpstr>
      <vt:lpstr>8.4.2.1  生产计划问题 </vt:lpstr>
      <vt:lpstr>8.4.2.1  生产计划问题 </vt:lpstr>
      <vt:lpstr>8.4.2.1  生产计划问题 </vt:lpstr>
      <vt:lpstr>8.4.2.1  生产计划问题 </vt:lpstr>
      <vt:lpstr>8.4.2.1  生产计划问题 </vt:lpstr>
      <vt:lpstr>8.4.2.1  生产计划问题 </vt:lpstr>
      <vt:lpstr>8.4.2.1  生产计划问题 </vt:lpstr>
      <vt:lpstr>8.4.2.1  生产计划问题 </vt:lpstr>
      <vt:lpstr>8.4.2.2 不确定性的采购问题 </vt:lpstr>
      <vt:lpstr>8.4.2.2 不确定性的采购问题 </vt:lpstr>
      <vt:lpstr>8.4.2.2 不确定性的采购问题 </vt:lpstr>
      <vt:lpstr>8.4.2.2 不确定性的采购问题 </vt:lpstr>
      <vt:lpstr>8.4.2.2 不确定性的采购问题 </vt:lpstr>
      <vt:lpstr>8.4.2.2 不确定性的采购问题 </vt:lpstr>
      <vt:lpstr>8.4.2.2 不确定性的采购问题 </vt:lpstr>
      <vt:lpstr>8.4.5  设备更新问题</vt:lpstr>
      <vt:lpstr>8.4.5  设备更新问题</vt:lpstr>
      <vt:lpstr>8.4.5  设备更新问题</vt:lpstr>
      <vt:lpstr>8.4.5  设备更新问题</vt:lpstr>
      <vt:lpstr>8.4.5  设备更新问题</vt:lpstr>
      <vt:lpstr>8.4.5  设备更新问题</vt:lpstr>
      <vt:lpstr>8.4.5  设备更新问题</vt:lpstr>
      <vt:lpstr>8.4.5  设备更新问题</vt:lpstr>
      <vt:lpstr>8.4.5  设备更新问题</vt:lpstr>
      <vt:lpstr>8.4.6 货郎担问题</vt:lpstr>
      <vt:lpstr>8.4.6 货郎担问题</vt:lpstr>
      <vt:lpstr>8.4.6 货郎担问题</vt:lpstr>
      <vt:lpstr>8.4.6 货郎担问题</vt:lpstr>
      <vt:lpstr>8.4.6 货郎担问题</vt:lpstr>
      <vt:lpstr>本章练习题</vt:lpstr>
      <vt:lpstr>本章练习题</vt:lpstr>
    </vt:vector>
  </TitlesOfParts>
  <Company>Tsinghua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zoeyleo</dc:creator>
  <cp:lastModifiedBy>zhang</cp:lastModifiedBy>
  <cp:revision>568</cp:revision>
  <cp:lastPrinted>2024-05-19T16:19:37Z</cp:lastPrinted>
  <dcterms:created xsi:type="dcterms:W3CDTF">2006-05-22T13:27:53Z</dcterms:created>
  <dcterms:modified xsi:type="dcterms:W3CDTF">2025-06-12T10:20:33Z</dcterms:modified>
</cp:coreProperties>
</file>