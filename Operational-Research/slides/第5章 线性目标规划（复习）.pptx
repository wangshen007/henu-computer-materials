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5"/>
  </p:notesMasterIdLst>
  <p:handoutMasterIdLst>
    <p:handoutMasterId r:id="rId16"/>
  </p:handoutMasterIdLst>
  <p:sldIdLst>
    <p:sldId id="723" r:id="rId2"/>
    <p:sldId id="724" r:id="rId3"/>
    <p:sldId id="725" r:id="rId4"/>
    <p:sldId id="726" r:id="rId5"/>
    <p:sldId id="727" r:id="rId6"/>
    <p:sldId id="769" r:id="rId7"/>
    <p:sldId id="775" r:id="rId8"/>
    <p:sldId id="728" r:id="rId9"/>
    <p:sldId id="774" r:id="rId10"/>
    <p:sldId id="783" r:id="rId11"/>
    <p:sldId id="733" r:id="rId12"/>
    <p:sldId id="784" r:id="rId13"/>
    <p:sldId id="785" r:id="rId14"/>
  </p:sldIdLst>
  <p:sldSz cx="9144000" cy="6858000" type="screen4x3"/>
  <p:notesSz cx="6735763" cy="9866313"/>
  <p:defaultTextStyle>
    <a:defPPr>
      <a:defRPr lang="zh-CN"/>
    </a:defPPr>
    <a:lvl1pPr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4F6"/>
    <a:srgbClr val="AE9FFB"/>
    <a:srgbClr val="BAD2E0"/>
    <a:srgbClr val="008000"/>
    <a:srgbClr val="3B8AFF"/>
    <a:srgbClr val="0046AC"/>
    <a:srgbClr val="553AF8"/>
    <a:srgbClr val="0051C8"/>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70" autoAdjust="0"/>
    <p:restoredTop sz="81410" autoAdjust="0"/>
  </p:normalViewPr>
  <p:slideViewPr>
    <p:cSldViewPr>
      <p:cViewPr varScale="1">
        <p:scale>
          <a:sx n="74" d="100"/>
          <a:sy n="74" d="100"/>
        </p:scale>
        <p:origin x="902" y="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C8D7E842-D472-40C6-A0C0-297AA18E9C7C}" type="datetimeFigureOut">
              <a:rPr lang="zh-CN" altLang="en-US" smtClean="0"/>
              <a:t>2025/6/12</a:t>
            </a:fld>
            <a:endParaRPr lang="zh-CN" altLang="en-US"/>
          </a:p>
        </p:txBody>
      </p:sp>
      <p:sp>
        <p:nvSpPr>
          <p:cNvPr id="4" name="页脚占位符 3"/>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A709EED9-EAAB-4353-92BD-55FDAC5738F7}" type="slidenum">
              <a:rPr lang="zh-CN" altLang="en-US" smtClean="0"/>
              <a:t>‹#›</a:t>
            </a:fld>
            <a:endParaRPr lang="zh-CN" altLang="en-US"/>
          </a:p>
        </p:txBody>
      </p:sp>
    </p:spTree>
    <p:extLst>
      <p:ext uri="{BB962C8B-B14F-4D97-AF65-F5344CB8AC3E}">
        <p14:creationId xmlns:p14="http://schemas.microsoft.com/office/powerpoint/2010/main" val="2347725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C3207F49-6818-4B0A-982D-AE1BE4D17D78}"/>
              </a:ext>
            </a:extLst>
          </p:cNvPr>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b="0"/>
            </a:lvl1pPr>
          </a:lstStyle>
          <a:p>
            <a:endParaRPr lang="en-US" altLang="zh-CN"/>
          </a:p>
        </p:txBody>
      </p:sp>
      <p:sp>
        <p:nvSpPr>
          <p:cNvPr id="434179" name="Rectangle 3">
            <a:extLst>
              <a:ext uri="{FF2B5EF4-FFF2-40B4-BE49-F238E27FC236}">
                <a16:creationId xmlns:a16="http://schemas.microsoft.com/office/drawing/2014/main" id="{877266AE-65EA-4CB9-8CB5-3049A6A3F73C}"/>
              </a:ext>
            </a:extLst>
          </p:cNvPr>
          <p:cNvSpPr>
            <a:spLocks noGrp="1" noChangeArrowheads="1"/>
          </p:cNvSpPr>
          <p:nvPr>
            <p:ph type="dt" idx="1"/>
          </p:nvPr>
        </p:nvSpPr>
        <p:spPr bwMode="auto">
          <a:xfrm>
            <a:off x="3815373"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b="0"/>
            </a:lvl1pPr>
          </a:lstStyle>
          <a:p>
            <a:endParaRPr lang="en-US" altLang="zh-CN"/>
          </a:p>
        </p:txBody>
      </p:sp>
      <p:sp>
        <p:nvSpPr>
          <p:cNvPr id="434180" name="Rectangle 4">
            <a:extLst>
              <a:ext uri="{FF2B5EF4-FFF2-40B4-BE49-F238E27FC236}">
                <a16:creationId xmlns:a16="http://schemas.microsoft.com/office/drawing/2014/main" id="{1F72FCF5-E132-480E-BBA3-D5652653BD7A}"/>
              </a:ext>
            </a:extLst>
          </p:cNvPr>
          <p:cNvSpPr>
            <a:spLocks noGrp="1" noRot="1" noChangeAspect="1" noChangeArrowheads="1" noTextEdit="1"/>
          </p:cNvSpPr>
          <p:nvPr>
            <p:ph type="sldImg" idx="2"/>
          </p:nvPr>
        </p:nvSpPr>
        <p:spPr bwMode="auto">
          <a:xfrm>
            <a:off x="901700" y="739775"/>
            <a:ext cx="4932363" cy="37004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4181" name="Rectangle 5">
            <a:extLst>
              <a:ext uri="{FF2B5EF4-FFF2-40B4-BE49-F238E27FC236}">
                <a16:creationId xmlns:a16="http://schemas.microsoft.com/office/drawing/2014/main" id="{8B99C1FB-CBF6-4F26-80EC-EAEDEB63F874}"/>
              </a:ext>
            </a:extLst>
          </p:cNvPr>
          <p:cNvSpPr>
            <a:spLocks noGrp="1" noChangeArrowheads="1"/>
          </p:cNvSpPr>
          <p:nvPr>
            <p:ph type="body" sz="quarter" idx="3"/>
          </p:nvPr>
        </p:nvSpPr>
        <p:spPr bwMode="auto">
          <a:xfrm>
            <a:off x="673577" y="4686499"/>
            <a:ext cx="5388610" cy="4439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34182" name="Rectangle 6">
            <a:extLst>
              <a:ext uri="{FF2B5EF4-FFF2-40B4-BE49-F238E27FC236}">
                <a16:creationId xmlns:a16="http://schemas.microsoft.com/office/drawing/2014/main" id="{61BC827E-95BB-4D43-B3D9-FAA40310145F}"/>
              </a:ext>
            </a:extLst>
          </p:cNvPr>
          <p:cNvSpPr>
            <a:spLocks noGrp="1" noChangeArrowheads="1"/>
          </p:cNvSpPr>
          <p:nvPr>
            <p:ph type="ftr" sz="quarter" idx="4"/>
          </p:nvPr>
        </p:nvSpPr>
        <p:spPr bwMode="auto">
          <a:xfrm>
            <a:off x="0" y="9371285"/>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200" b="0"/>
            </a:lvl1pPr>
          </a:lstStyle>
          <a:p>
            <a:endParaRPr lang="en-US" altLang="zh-CN"/>
          </a:p>
        </p:txBody>
      </p:sp>
      <p:sp>
        <p:nvSpPr>
          <p:cNvPr id="434183" name="Rectangle 7">
            <a:extLst>
              <a:ext uri="{FF2B5EF4-FFF2-40B4-BE49-F238E27FC236}">
                <a16:creationId xmlns:a16="http://schemas.microsoft.com/office/drawing/2014/main" id="{E256D96A-530D-4475-AF1F-6EDE8A13A287}"/>
              </a:ext>
            </a:extLst>
          </p:cNvPr>
          <p:cNvSpPr>
            <a:spLocks noGrp="1" noChangeArrowheads="1"/>
          </p:cNvSpPr>
          <p:nvPr>
            <p:ph type="sldNum" sz="quarter" idx="5"/>
          </p:nvPr>
        </p:nvSpPr>
        <p:spPr bwMode="auto">
          <a:xfrm>
            <a:off x="3815373" y="9371285"/>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b="0"/>
            </a:lvl1pPr>
          </a:lstStyle>
          <a:p>
            <a:fld id="{3034931A-543A-4A67-995C-79DCBB2D1B15}"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分三种情况考虑</a:t>
            </a:r>
            <a:endParaRPr lang="zh-CN" altLang="en-US" dirty="0"/>
          </a:p>
        </p:txBody>
      </p:sp>
      <p:sp>
        <p:nvSpPr>
          <p:cNvPr id="4" name="灯片编号占位符 3"/>
          <p:cNvSpPr>
            <a:spLocks noGrp="1"/>
          </p:cNvSpPr>
          <p:nvPr>
            <p:ph type="sldNum" sz="quarter" idx="10"/>
          </p:nvPr>
        </p:nvSpPr>
        <p:spPr/>
        <p:txBody>
          <a:bodyPr/>
          <a:lstStyle/>
          <a:p>
            <a:fld id="{3034931A-543A-4A67-995C-79DCBB2D1B15}" type="slidenum">
              <a:rPr lang="en-US" altLang="zh-CN" smtClean="0"/>
              <a:pPr/>
              <a:t>1</a:t>
            </a:fld>
            <a:endParaRPr lang="en-US" altLang="zh-CN"/>
          </a:p>
        </p:txBody>
      </p:sp>
    </p:spTree>
    <p:extLst>
      <p:ext uri="{BB962C8B-B14F-4D97-AF65-F5344CB8AC3E}">
        <p14:creationId xmlns:p14="http://schemas.microsoft.com/office/powerpoint/2010/main" val="2745270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gn="just">
              <a:lnSpc>
                <a:spcPct val="120000"/>
              </a:lnSpc>
            </a:pPr>
            <a:r>
              <a:rPr lang="zh-CN" altLang="en-US" sz="2000" dirty="0" smtClean="0">
                <a:solidFill>
                  <a:srgbClr val="FF0000"/>
                </a:solidFill>
                <a:latin typeface="Times New Roman" panose="02020603050405020304" pitchFamily="18" charset="0"/>
                <a:cs typeface="Times New Roman" panose="02020603050405020304" pitchFamily="18" charset="0"/>
              </a:rPr>
              <a:t>绝对约束：</a:t>
            </a:r>
            <a:r>
              <a:rPr lang="zh-CN" altLang="en-US" sz="2000" dirty="0" smtClean="0">
                <a:latin typeface="Times New Roman" panose="02020603050405020304" pitchFamily="18" charset="0"/>
                <a:cs typeface="Times New Roman" panose="02020603050405020304" pitchFamily="18" charset="0"/>
              </a:rPr>
              <a:t>必须</a:t>
            </a:r>
            <a:r>
              <a:rPr lang="zh-CN" altLang="en-US" sz="2000" dirty="0" smtClean="0">
                <a:solidFill>
                  <a:srgbClr val="FF0000"/>
                </a:solidFill>
                <a:latin typeface="Times New Roman" panose="02020603050405020304" pitchFamily="18" charset="0"/>
                <a:cs typeface="Times New Roman" panose="02020603050405020304" pitchFamily="18" charset="0"/>
              </a:rPr>
              <a:t>严格满足</a:t>
            </a:r>
            <a:r>
              <a:rPr lang="zh-CN" altLang="en-US" sz="2000" dirty="0" smtClean="0">
                <a:latin typeface="Times New Roman" panose="02020603050405020304" pitchFamily="18" charset="0"/>
                <a:cs typeface="Times New Roman" panose="02020603050405020304" pitchFamily="18" charset="0"/>
              </a:rPr>
              <a:t>的等式约束和不等式约束，如线性规划问题的所有约束条件，不能满足这些约束条件的解称为非可行解，所以它们是</a:t>
            </a:r>
            <a:r>
              <a:rPr lang="zh-CN" altLang="en-US" sz="2000" dirty="0" smtClean="0">
                <a:solidFill>
                  <a:srgbClr val="FF0000"/>
                </a:solidFill>
                <a:latin typeface="Times New Roman" panose="02020603050405020304" pitchFamily="18" charset="0"/>
                <a:cs typeface="Times New Roman" panose="02020603050405020304" pitchFamily="18" charset="0"/>
              </a:rPr>
              <a:t>硬约束</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marL="457200" marR="0" lvl="1" indent="0" algn="just" defTabSz="914400" rtl="0" eaLnBrk="1" fontAlgn="base" latinLnBrk="0" hangingPunct="1">
              <a:lnSpc>
                <a:spcPct val="120000"/>
              </a:lnSpc>
              <a:spcBef>
                <a:spcPct val="30000"/>
              </a:spcBef>
              <a:spcAft>
                <a:spcPct val="0"/>
              </a:spcAft>
              <a:buClrTx/>
              <a:buSzTx/>
              <a:buFontTx/>
              <a:buNone/>
              <a:tabLst/>
              <a:defRPr/>
            </a:pPr>
            <a:r>
              <a:rPr lang="zh-CN" altLang="en-US" sz="2000" dirty="0" smtClean="0">
                <a:solidFill>
                  <a:srgbClr val="FF0000"/>
                </a:solidFill>
                <a:latin typeface="Times New Roman" panose="02020603050405020304" pitchFamily="18" charset="0"/>
                <a:cs typeface="Times New Roman" panose="02020603050405020304" pitchFamily="18" charset="0"/>
              </a:rPr>
              <a:t>目标约束：</a:t>
            </a:r>
            <a:r>
              <a:rPr lang="zh-CN" altLang="en-US" sz="2000" dirty="0" smtClean="0">
                <a:latin typeface="Times New Roman" panose="02020603050405020304" pitchFamily="18" charset="0"/>
                <a:cs typeface="Times New Roman" panose="02020603050405020304" pitchFamily="18" charset="0"/>
              </a:rPr>
              <a:t>目标规划特有的，可把</a:t>
            </a:r>
            <a:r>
              <a:rPr lang="zh-CN" altLang="en-US" sz="2000" dirty="0" smtClean="0">
                <a:solidFill>
                  <a:srgbClr val="FF0000"/>
                </a:solidFill>
                <a:latin typeface="Times New Roman" panose="02020603050405020304" pitchFamily="18" charset="0"/>
                <a:cs typeface="Times New Roman" panose="02020603050405020304" pitchFamily="18" charset="0"/>
              </a:rPr>
              <a:t>约束右端项看作要追求的目标值</a:t>
            </a:r>
            <a:r>
              <a:rPr lang="zh-CN" altLang="en-US" sz="2000" dirty="0" smtClean="0">
                <a:latin typeface="Times New Roman" panose="02020603050405020304" pitchFamily="18" charset="0"/>
                <a:cs typeface="Times New Roman" panose="02020603050405020304" pitchFamily="18" charset="0"/>
              </a:rPr>
              <a:t>。在达到此目标值时</a:t>
            </a:r>
            <a:r>
              <a:rPr lang="zh-CN" altLang="en-US" sz="2000" dirty="0" smtClean="0">
                <a:solidFill>
                  <a:srgbClr val="FF0000"/>
                </a:solidFill>
                <a:latin typeface="Times New Roman" panose="02020603050405020304" pitchFamily="18" charset="0"/>
                <a:cs typeface="Times New Roman" panose="02020603050405020304" pitchFamily="18" charset="0"/>
              </a:rPr>
              <a:t>允许发生正或负偏差</a:t>
            </a:r>
            <a:r>
              <a:rPr lang="zh-CN" altLang="en-US" sz="2000" dirty="0" smtClean="0">
                <a:latin typeface="Times New Roman" panose="02020603050405020304" pitchFamily="18" charset="0"/>
                <a:cs typeface="Times New Roman" panose="02020603050405020304" pitchFamily="18" charset="0"/>
              </a:rPr>
              <a:t>。因此在这些约束中加入正、负偏差变量，它们是</a:t>
            </a:r>
            <a:r>
              <a:rPr lang="zh-CN" altLang="en-US" sz="2000" dirty="0" smtClean="0">
                <a:solidFill>
                  <a:srgbClr val="FF0000"/>
                </a:solidFill>
                <a:latin typeface="Times New Roman" panose="02020603050405020304" pitchFamily="18" charset="0"/>
                <a:cs typeface="Times New Roman" panose="02020603050405020304" pitchFamily="18" charset="0"/>
              </a:rPr>
              <a:t>软约束</a:t>
            </a:r>
            <a:r>
              <a:rPr lang="zh-CN" altLang="en-US" sz="2000" dirty="0" smtClean="0">
                <a:latin typeface="Times New Roman" panose="02020603050405020304" pitchFamily="18" charset="0"/>
                <a:cs typeface="Times New Roman" panose="02020603050405020304" pitchFamily="18" charset="0"/>
              </a:rPr>
              <a:t>。</a:t>
            </a:r>
          </a:p>
          <a:p>
            <a:pPr lvl="1" algn="just">
              <a:lnSpc>
                <a:spcPct val="120000"/>
              </a:lnSpc>
            </a:pPr>
            <a:r>
              <a:rPr lang="zh-CN" altLang="en-US" sz="2000" dirty="0" smtClean="0">
                <a:latin typeface="Times New Roman" panose="02020603050405020304" pitchFamily="18" charset="0"/>
                <a:cs typeface="Times New Roman" panose="02020603050405020304" pitchFamily="18" charset="0"/>
              </a:rPr>
              <a:t>线性规划问题的</a:t>
            </a:r>
            <a:r>
              <a:rPr lang="zh-CN" altLang="en-US" sz="2000" dirty="0" smtClean="0">
                <a:solidFill>
                  <a:srgbClr val="FF0000"/>
                </a:solidFill>
                <a:latin typeface="Times New Roman" panose="02020603050405020304" pitchFamily="18" charset="0"/>
                <a:cs typeface="Times New Roman" panose="02020603050405020304" pitchFamily="18" charset="0"/>
              </a:rPr>
              <a:t>目标函数在给定目标值和加入正、负偏差变量后可变换为目标约束</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lgn="just">
              <a:lnSpc>
                <a:spcPct val="120000"/>
              </a:lnSpc>
            </a:pPr>
            <a:r>
              <a:rPr lang="zh-CN" altLang="en-US" sz="2000" dirty="0" smtClean="0">
                <a:latin typeface="Times New Roman" panose="02020603050405020304" pitchFamily="18" charset="0"/>
                <a:cs typeface="Times New Roman" panose="02020603050405020304" pitchFamily="18" charset="0"/>
              </a:rPr>
              <a:t>也可根据问题的需要</a:t>
            </a:r>
            <a:r>
              <a:rPr lang="zh-CN" altLang="en-US" sz="2000" dirty="0" smtClean="0">
                <a:solidFill>
                  <a:srgbClr val="FF0000"/>
                </a:solidFill>
                <a:latin typeface="Times New Roman" panose="02020603050405020304" pitchFamily="18" charset="0"/>
                <a:cs typeface="Times New Roman" panose="02020603050405020304" pitchFamily="18" charset="0"/>
              </a:rPr>
              <a:t>将绝对约束变换为目标约束。</a:t>
            </a:r>
            <a:endParaRPr lang="zh-CN" altLang="en-US" sz="2000" dirty="0" smtClean="0">
              <a:latin typeface="Times New Roman" panose="02020603050405020304" pitchFamily="18" charset="0"/>
              <a:cs typeface="Times New Roman" panose="02020603050405020304" pitchFamily="18" charset="0"/>
            </a:endParaRPr>
          </a:p>
          <a:p>
            <a:pPr lvl="1" algn="just">
              <a:lnSpc>
                <a:spcPct val="120000"/>
              </a:lnSpc>
            </a:pPr>
            <a:endParaRPr lang="zh-CN" altLang="en-US" sz="20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3034931A-543A-4A67-995C-79DCBB2D1B15}" type="slidenum">
              <a:rPr lang="en-US" altLang="zh-CN" smtClean="0"/>
              <a:pPr/>
              <a:t>2</a:t>
            </a:fld>
            <a:endParaRPr lang="en-US" altLang="zh-CN"/>
          </a:p>
        </p:txBody>
      </p:sp>
    </p:spTree>
    <p:extLst>
      <p:ext uri="{BB962C8B-B14F-4D97-AF65-F5344CB8AC3E}">
        <p14:creationId xmlns:p14="http://schemas.microsoft.com/office/powerpoint/2010/main" val="4006408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2">
              <a:lnSpc>
                <a:spcPct val="120000"/>
              </a:lnSpc>
            </a:pPr>
            <a:r>
              <a:rPr lang="zh-CN" altLang="en-US" dirty="0" smtClean="0">
                <a:latin typeface="Times New Roman" panose="02020603050405020304" pitchFamily="18" charset="0"/>
                <a:cs typeface="Times New Roman" panose="02020603050405020304" pitchFamily="18" charset="0"/>
              </a:rPr>
              <a:t>个规划问题常常有若干目标。但决策者在要求达到这些目标时，会有主次或轻重缓急的不同。例如，要求第一位达到的目标赋予优先因子</a:t>
            </a:r>
            <a:r>
              <a:rPr lang="en-US" altLang="zh-CN" i="1" dirty="0" smtClean="0">
                <a:latin typeface="Times New Roman" panose="02020603050405020304" pitchFamily="18" charset="0"/>
                <a:cs typeface="Times New Roman" panose="02020603050405020304" pitchFamily="18" charset="0"/>
              </a:rPr>
              <a:t>P</a:t>
            </a:r>
            <a:r>
              <a:rPr lang="en-US" altLang="zh-CN" baseline="-30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，次位的目标赋予优先因子</a:t>
            </a:r>
            <a:r>
              <a:rPr lang="en-US" altLang="zh-CN" i="1" dirty="0" smtClean="0">
                <a:latin typeface="Times New Roman" panose="02020603050405020304" pitchFamily="18" charset="0"/>
                <a:cs typeface="Times New Roman" panose="02020603050405020304" pitchFamily="18" charset="0"/>
              </a:rPr>
              <a:t>P</a:t>
            </a:r>
            <a:r>
              <a:rPr lang="en-US" altLang="zh-CN" baseline="-30000" dirty="0" smtClean="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，并规定</a:t>
            </a:r>
          </a:p>
          <a:p>
            <a:pPr lvl="2">
              <a:lnSpc>
                <a:spcPct val="120000"/>
              </a:lnSpc>
              <a:buFont typeface="Wingdings" panose="05000000000000000000" pitchFamily="2" charset="2"/>
              <a:buNone/>
            </a:pPr>
            <a:r>
              <a:rPr lang="zh-CN" altLang="en-US" i="1"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优先等级：</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1 </a:t>
            </a:r>
            <a:r>
              <a:rPr lang="nn-NO" altLang="zh-CN" i="1" dirty="0" smtClean="0">
                <a:latin typeface="Times New Roman" panose="02020603050405020304" pitchFamily="18" charset="0"/>
                <a:cs typeface="Times New Roman" panose="02020603050405020304" pitchFamily="18" charset="0"/>
              </a:rPr>
              <a:t>&gt;&gt;</a:t>
            </a:r>
            <a:r>
              <a:rPr lang="en-US" altLang="zh-CN" i="1" dirty="0" smtClean="0">
                <a:latin typeface="Times New Roman" panose="02020603050405020304" pitchFamily="18" charset="0"/>
                <a:cs typeface="Times New Roman" panose="02020603050405020304" pitchFamily="18" charset="0"/>
              </a:rPr>
              <a:t> P</a:t>
            </a:r>
            <a:r>
              <a:rPr lang="en-US" altLang="zh-CN" i="1" baseline="-30000" dirty="0" smtClean="0">
                <a:latin typeface="Times New Roman" panose="02020603050405020304" pitchFamily="18" charset="0"/>
                <a:cs typeface="Times New Roman" panose="02020603050405020304" pitchFamily="18" charset="0"/>
              </a:rPr>
              <a:t>2 </a:t>
            </a:r>
            <a:r>
              <a:rPr lang="nn-NO" altLang="zh-CN" i="1" dirty="0" smtClean="0">
                <a:latin typeface="Times New Roman" panose="02020603050405020304" pitchFamily="18" charset="0"/>
                <a:cs typeface="Times New Roman" panose="02020603050405020304" pitchFamily="18" charset="0"/>
              </a:rPr>
              <a:t>&gt;&gt;....... &gt;&gt;</a:t>
            </a:r>
            <a:r>
              <a:rPr lang="en-US" altLang="zh-CN" i="1" dirty="0" err="1" smtClean="0">
                <a:latin typeface="Times New Roman" panose="02020603050405020304" pitchFamily="18" charset="0"/>
                <a:cs typeface="Times New Roman" panose="02020603050405020304" pitchFamily="18" charset="0"/>
              </a:rPr>
              <a:t>P</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&gt;&gt;</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k</a:t>
            </a:r>
            <a:r>
              <a:rPr lang="en-US" altLang="zh-CN" baseline="-30000" dirty="0" smtClean="0">
                <a:latin typeface="Times New Roman" panose="02020603050405020304" pitchFamily="18" charset="0"/>
                <a:cs typeface="Times New Roman" panose="02020603050405020304" pitchFamily="18" charset="0"/>
              </a:rPr>
              <a:t>+1 </a:t>
            </a:r>
            <a:r>
              <a:rPr lang="nn-NO" altLang="zh-CN" i="1" dirty="0" smtClean="0">
                <a:latin typeface="Times New Roman" panose="02020603050405020304" pitchFamily="18" charset="0"/>
                <a:cs typeface="Times New Roman" panose="02020603050405020304" pitchFamily="18" charset="0"/>
              </a:rPr>
              <a:t>&gt;&gt;....... &gt;&gt; </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K </a:t>
            </a:r>
            <a:r>
              <a:rPr lang="nn-NO" altLang="zh-CN" i="1" dirty="0" smtClean="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=1,2,…</a:t>
            </a:r>
            <a:r>
              <a:rPr lang="zh-CN" altLang="en-US"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K</a:t>
            </a:r>
          </a:p>
          <a:p>
            <a:pPr lvl="2">
              <a:lnSpc>
                <a:spcPct val="120000"/>
              </a:lnSpc>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    表示</a:t>
            </a:r>
            <a:r>
              <a:rPr lang="en-US" altLang="zh-CN" i="1" dirty="0" err="1" smtClean="0">
                <a:latin typeface="Times New Roman" panose="02020603050405020304" pitchFamily="18" charset="0"/>
                <a:cs typeface="Times New Roman" panose="02020603050405020304" pitchFamily="18" charset="0"/>
              </a:rPr>
              <a:t>P</a:t>
            </a:r>
            <a:r>
              <a:rPr lang="en-US" altLang="zh-CN" i="1" baseline="-30000" dirty="0" err="1" smtClean="0">
                <a:latin typeface="Times New Roman" panose="02020603050405020304" pitchFamily="18" charset="0"/>
                <a:cs typeface="Times New Roman" panose="02020603050405020304" pitchFamily="18" charset="0"/>
              </a:rPr>
              <a:t>k</a:t>
            </a:r>
            <a:r>
              <a:rPr lang="zh-CN" altLang="en-US" dirty="0" smtClean="0">
                <a:latin typeface="Times New Roman" panose="02020603050405020304" pitchFamily="18" charset="0"/>
                <a:cs typeface="Times New Roman" panose="02020603050405020304" pitchFamily="18" charset="0"/>
              </a:rPr>
              <a:t>比</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k</a:t>
            </a:r>
            <a:r>
              <a:rPr lang="en-US" altLang="zh-CN" baseline="-30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有更大的优先权。即首先保证</a:t>
            </a:r>
            <a:r>
              <a:rPr lang="en-US" altLang="zh-CN" dirty="0" smtClean="0">
                <a:latin typeface="Times New Roman" panose="02020603050405020304" pitchFamily="18" charset="0"/>
                <a:cs typeface="Times New Roman" panose="02020603050405020304" pitchFamily="18" charset="0"/>
              </a:rPr>
              <a:t>P</a:t>
            </a:r>
            <a:r>
              <a:rPr lang="en-US" altLang="zh-CN" baseline="-30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级目标的实现，这时可不考虑次级目标；而</a:t>
            </a:r>
            <a:r>
              <a:rPr lang="en-US" altLang="zh-CN" i="1" dirty="0" smtClean="0">
                <a:latin typeface="Times New Roman" panose="02020603050405020304" pitchFamily="18" charset="0"/>
                <a:cs typeface="Times New Roman" panose="02020603050405020304" pitchFamily="18" charset="0"/>
              </a:rPr>
              <a:t>P</a:t>
            </a:r>
            <a:r>
              <a:rPr lang="en-US" altLang="zh-CN" baseline="-30000" dirty="0" smtClean="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级目标仅在实现</a:t>
            </a:r>
            <a:r>
              <a:rPr lang="en-US" altLang="zh-CN" i="1" dirty="0" smtClean="0">
                <a:latin typeface="Times New Roman" panose="02020603050405020304" pitchFamily="18" charset="0"/>
                <a:cs typeface="Times New Roman" panose="02020603050405020304" pitchFamily="18" charset="0"/>
              </a:rPr>
              <a:t>P</a:t>
            </a:r>
            <a:r>
              <a:rPr lang="en-US" altLang="zh-CN" baseline="-30000" dirty="0" smtClean="0">
                <a:latin typeface="Times New Roman" panose="02020603050405020304" pitchFamily="18" charset="0"/>
                <a:cs typeface="Times New Roman" panose="02020603050405020304" pitchFamily="18" charset="0"/>
              </a:rPr>
              <a:t>1</a:t>
            </a:r>
            <a:r>
              <a:rPr lang="zh-CN" altLang="en-US" dirty="0" smtClean="0">
                <a:latin typeface="Times New Roman" panose="02020603050405020304" pitchFamily="18" charset="0"/>
                <a:cs typeface="Times New Roman" panose="02020603050405020304" pitchFamily="18" charset="0"/>
              </a:rPr>
              <a:t>级目标的基础上才会考虑；依此类推。</a:t>
            </a:r>
            <a:endParaRPr lang="en-US" altLang="zh-CN" dirty="0" smtClean="0">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pPr>
            <a:r>
              <a:rPr lang="en-US" altLang="zh-CN" dirty="0" smtClean="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若要区别具有相同优先因子的两个目标的差别，可分别赋予它们不同的权系数</a:t>
            </a:r>
            <a:r>
              <a:rPr lang="en-US" altLang="zh-CN" i="1" dirty="0" err="1" smtClean="0">
                <a:latin typeface="Times New Roman" panose="02020603050405020304" pitchFamily="18" charset="0"/>
                <a:cs typeface="Times New Roman" panose="02020603050405020304" pitchFamily="18" charset="0"/>
              </a:rPr>
              <a:t>w</a:t>
            </a:r>
            <a:r>
              <a:rPr lang="en-US" altLang="zh-CN" i="1" baseline="-30000" dirty="0" err="1" smtClean="0">
                <a:latin typeface="Times New Roman" panose="02020603050405020304" pitchFamily="18" charset="0"/>
                <a:cs typeface="Times New Roman" panose="02020603050405020304" pitchFamily="18" charset="0"/>
              </a:rPr>
              <a:t>j</a:t>
            </a:r>
            <a:r>
              <a:rPr lang="zh-CN" altLang="en-US" dirty="0" smtClean="0">
                <a:latin typeface="Times New Roman" panose="02020603050405020304" pitchFamily="18" charset="0"/>
                <a:cs typeface="Times New Roman" panose="02020603050405020304" pitchFamily="18" charset="0"/>
              </a:rPr>
              <a:t>，这些都由决策者按具体情况而定。 </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3034931A-543A-4A67-995C-79DCBB2D1B15}" type="slidenum">
              <a:rPr lang="en-US" altLang="zh-CN" smtClean="0"/>
              <a:pPr/>
              <a:t>3</a:t>
            </a:fld>
            <a:endParaRPr lang="en-US" altLang="zh-CN"/>
          </a:p>
        </p:txBody>
      </p:sp>
    </p:spTree>
    <p:extLst>
      <p:ext uri="{BB962C8B-B14F-4D97-AF65-F5344CB8AC3E}">
        <p14:creationId xmlns:p14="http://schemas.microsoft.com/office/powerpoint/2010/main" val="1100686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90000"/>
              </a:lnSpc>
            </a:pPr>
            <a:r>
              <a:rPr lang="en-US" altLang="zh-CN" sz="2000" dirty="0" smtClean="0">
                <a:solidFill>
                  <a:srgbClr val="FF0000"/>
                </a:solidFill>
                <a:latin typeface="Times New Roman" panose="02020603050405020304" pitchFamily="18" charset="0"/>
                <a:cs typeface="Times New Roman" panose="02020603050405020304" pitchFamily="18" charset="0"/>
              </a:rPr>
              <a:t>4.</a:t>
            </a:r>
            <a:r>
              <a:rPr lang="zh-CN" altLang="en-US" sz="2000" dirty="0" smtClean="0">
                <a:solidFill>
                  <a:srgbClr val="FF0000"/>
                </a:solidFill>
                <a:latin typeface="Times New Roman" panose="02020603050405020304" pitchFamily="18" charset="0"/>
                <a:cs typeface="Times New Roman" panose="02020603050405020304" pitchFamily="18" charset="0"/>
              </a:rPr>
              <a:t>目标规划的目标函数</a:t>
            </a:r>
          </a:p>
          <a:p>
            <a:pPr lvl="2">
              <a:lnSpc>
                <a:spcPct val="90000"/>
              </a:lnSpc>
            </a:pPr>
            <a:r>
              <a:rPr lang="zh-CN" altLang="en-US" dirty="0" smtClean="0">
                <a:latin typeface="Times New Roman" panose="02020603050405020304" pitchFamily="18" charset="0"/>
                <a:cs typeface="Times New Roman" panose="02020603050405020304" pitchFamily="18" charset="0"/>
              </a:rPr>
              <a:t>目标规划的目标函数</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准则函数</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是按各目标约束的正、负偏差变量和赋予的优先因子及权系数而构造的。当每一目标值确定后，决策者的要求是</a:t>
            </a:r>
            <a:r>
              <a:rPr lang="zh-CN" altLang="en-US" dirty="0" smtClean="0">
                <a:solidFill>
                  <a:srgbClr val="FF0000"/>
                </a:solidFill>
                <a:latin typeface="Times New Roman" panose="02020603050405020304" pitchFamily="18" charset="0"/>
                <a:cs typeface="Times New Roman" panose="02020603050405020304" pitchFamily="18" charset="0"/>
              </a:rPr>
              <a:t>尽可能缩小和目标值的偏差</a:t>
            </a:r>
            <a:r>
              <a:rPr lang="zh-CN" altLang="en-US" dirty="0" smtClean="0">
                <a:latin typeface="Times New Roman" panose="02020603050405020304" pitchFamily="18" charset="0"/>
                <a:cs typeface="Times New Roman" panose="02020603050405020304" pitchFamily="18" charset="0"/>
              </a:rPr>
              <a:t>。因此目标规划的目标函数的形式通常是：</a:t>
            </a:r>
          </a:p>
          <a:p>
            <a:pPr lvl="3">
              <a:lnSpc>
                <a:spcPct val="90000"/>
              </a:lnSpc>
              <a:spcBef>
                <a:spcPct val="0"/>
              </a:spcBef>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min </a:t>
            </a:r>
            <a:r>
              <a:rPr lang="en-US" altLang="zh-CN" i="1" dirty="0" smtClean="0">
                <a:latin typeface="Times New Roman" panose="02020603050405020304" pitchFamily="18" charset="0"/>
                <a:cs typeface="Times New Roman" panose="02020603050405020304" pitchFamily="18" charset="0"/>
              </a:rPr>
              <a:t>z</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f</a:t>
            </a:r>
            <a:r>
              <a:rPr lang="en-US" altLang="zh-CN" dirty="0"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d</a:t>
            </a:r>
            <a:r>
              <a:rPr lang="en-US" altLang="zh-CN" baseline="30000" dirty="0" err="1" smtClean="0">
                <a:latin typeface="Times New Roman" panose="02020603050405020304" pitchFamily="18" charset="0"/>
                <a:cs typeface="Times New Roman" panose="02020603050405020304" pitchFamily="18" charset="0"/>
              </a:rPr>
              <a:t>+</a:t>
            </a:r>
            <a:r>
              <a:rPr lang="en-US" altLang="zh-CN" dirty="0" err="1" smtClean="0">
                <a:latin typeface="Times New Roman" panose="02020603050405020304" pitchFamily="18" charset="0"/>
                <a:cs typeface="Times New Roman" panose="02020603050405020304" pitchFamily="18" charset="0"/>
              </a:rPr>
              <a:t>,</a:t>
            </a:r>
            <a:r>
              <a:rPr lang="en-US" altLang="zh-CN" i="1" dirty="0" err="1" smtClean="0">
                <a:latin typeface="Times New Roman" panose="02020603050405020304" pitchFamily="18" charset="0"/>
                <a:cs typeface="Times New Roman" panose="02020603050405020304" pitchFamily="18" charset="0"/>
              </a:rPr>
              <a:t>d</a:t>
            </a:r>
            <a:r>
              <a:rPr lang="en-US" altLang="zh-CN" baseline="30000"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p>
          <a:p>
            <a:pPr lvl="3">
              <a:lnSpc>
                <a:spcPct val="90000"/>
              </a:lnSpc>
              <a:spcBef>
                <a:spcPct val="0"/>
              </a:spcBef>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其具体形式大致有三种：</a:t>
            </a:r>
          </a:p>
          <a:p>
            <a:pPr lvl="3" algn="just">
              <a:lnSpc>
                <a:spcPct val="90000"/>
              </a:lnSpc>
              <a:buFont typeface="Wingdings" panose="05000000000000000000" pitchFamily="2" charset="2"/>
              <a:buNone/>
            </a:pPr>
            <a:r>
              <a:rPr lang="en-US" altLang="zh-CN" dirty="0" smtClean="0">
                <a:latin typeface="Times New Roman" panose="02020603050405020304" pitchFamily="18" charset="0"/>
                <a:cs typeface="Times New Roman" panose="02020603050405020304" pitchFamily="18" charset="0"/>
              </a:rPr>
              <a:t>(1) </a:t>
            </a:r>
            <a:r>
              <a:rPr lang="zh-CN" altLang="en-US" dirty="0" smtClean="0">
                <a:latin typeface="Times New Roman" panose="02020603050405020304" pitchFamily="18" charset="0"/>
                <a:cs typeface="Times New Roman" panose="02020603050405020304" pitchFamily="18" charset="0"/>
              </a:rPr>
              <a:t>第</a:t>
            </a:r>
            <a:r>
              <a:rPr lang="en-US" altLang="zh-CN" i="1" dirty="0" err="1" smtClean="0">
                <a:latin typeface="Times New Roman" panose="02020603050405020304" pitchFamily="18" charset="0"/>
                <a:cs typeface="Times New Roman" panose="02020603050405020304" pitchFamily="18" charset="0"/>
              </a:rPr>
              <a:t>i</a:t>
            </a:r>
            <a:r>
              <a:rPr lang="zh-CN" altLang="en-US" dirty="0" smtClean="0">
                <a:latin typeface="Times New Roman" panose="02020603050405020304" pitchFamily="18" charset="0"/>
                <a:cs typeface="Times New Roman" panose="02020603050405020304" pitchFamily="18" charset="0"/>
              </a:rPr>
              <a:t>个目标若要求</a:t>
            </a:r>
            <a:r>
              <a:rPr lang="zh-CN" altLang="en-US" dirty="0" smtClean="0">
                <a:solidFill>
                  <a:srgbClr val="FF0000"/>
                </a:solidFill>
                <a:latin typeface="Times New Roman" panose="02020603050405020304" pitchFamily="18" charset="0"/>
                <a:cs typeface="Times New Roman" panose="02020603050405020304" pitchFamily="18" charset="0"/>
              </a:rPr>
              <a:t>恰好达到目标值</a:t>
            </a:r>
            <a:r>
              <a:rPr lang="zh-CN" altLang="en-US" dirty="0" smtClean="0">
                <a:latin typeface="Times New Roman" panose="02020603050405020304" pitchFamily="18" charset="0"/>
                <a:cs typeface="Times New Roman" panose="02020603050405020304" pitchFamily="18" charset="0"/>
              </a:rPr>
              <a:t>，则应要求正、负偏差变量均尽可能地小，这时，目标函数的形式为：</a:t>
            </a:r>
          </a:p>
          <a:p>
            <a:pPr lvl="3" algn="just">
              <a:lnSpc>
                <a:spcPct val="90000"/>
              </a:lnSpc>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min </a:t>
            </a:r>
            <a:r>
              <a:rPr lang="en-US" altLang="zh-CN" i="1" dirty="0" smtClean="0">
                <a:latin typeface="Times New Roman" panose="02020603050405020304" pitchFamily="18" charset="0"/>
                <a:cs typeface="Times New Roman" panose="02020603050405020304" pitchFamily="18" charset="0"/>
              </a:rPr>
              <a:t>z</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f</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d</a:t>
            </a:r>
            <a:r>
              <a:rPr lang="en-US" altLang="zh-CN" baseline="30000"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d</a:t>
            </a:r>
            <a:r>
              <a:rPr lang="en-US" altLang="zh-CN" baseline="30000"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p>
          <a:p>
            <a:pPr lvl="3" algn="just">
              <a:lnSpc>
                <a:spcPct val="90000"/>
              </a:lnSpc>
              <a:buFont typeface="Wingdings" panose="05000000000000000000" pitchFamily="2" charset="2"/>
              <a:buNone/>
            </a:pPr>
            <a:r>
              <a:rPr lang="en-US" altLang="zh-CN" dirty="0" smtClean="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第</a:t>
            </a:r>
            <a:r>
              <a:rPr lang="en-US" altLang="zh-CN" i="1" dirty="0" err="1" smtClean="0">
                <a:latin typeface="Times New Roman" panose="02020603050405020304" pitchFamily="18" charset="0"/>
                <a:cs typeface="Times New Roman" panose="02020603050405020304" pitchFamily="18" charset="0"/>
              </a:rPr>
              <a:t>i</a:t>
            </a:r>
            <a:r>
              <a:rPr lang="zh-CN" altLang="en-US" dirty="0" smtClean="0">
                <a:latin typeface="Times New Roman" panose="02020603050405020304" pitchFamily="18" charset="0"/>
                <a:cs typeface="Times New Roman" panose="02020603050405020304" pitchFamily="18" charset="0"/>
              </a:rPr>
              <a:t>个目标若要求</a:t>
            </a:r>
            <a:r>
              <a:rPr lang="zh-CN" altLang="en-US" dirty="0" smtClean="0">
                <a:solidFill>
                  <a:srgbClr val="FF0000"/>
                </a:solidFill>
                <a:latin typeface="Times New Roman" panose="02020603050405020304" pitchFamily="18" charset="0"/>
                <a:cs typeface="Times New Roman" panose="02020603050405020304" pitchFamily="18" charset="0"/>
              </a:rPr>
              <a:t>不超过目标值</a:t>
            </a:r>
            <a:r>
              <a:rPr lang="zh-CN" altLang="en-US" dirty="0" smtClean="0">
                <a:latin typeface="Times New Roman" panose="02020603050405020304" pitchFamily="18" charset="0"/>
                <a:cs typeface="Times New Roman" panose="02020603050405020304" pitchFamily="18" charset="0"/>
              </a:rPr>
              <a:t>，即允许达不到目标值，就是正偏差变量要尽可能地小，这时目标函数的形式为：</a:t>
            </a:r>
          </a:p>
          <a:p>
            <a:pPr lvl="3" algn="just">
              <a:lnSpc>
                <a:spcPct val="90000"/>
              </a:lnSpc>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min</a:t>
            </a:r>
            <a:r>
              <a:rPr lang="en-US" altLang="zh-CN" i="1" dirty="0" smtClean="0">
                <a:latin typeface="Times New Roman" panose="02020603050405020304" pitchFamily="18" charset="0"/>
                <a:cs typeface="Times New Roman" panose="02020603050405020304" pitchFamily="18" charset="0"/>
              </a:rPr>
              <a:t> z</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f</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d</a:t>
            </a:r>
            <a:r>
              <a:rPr lang="en-US" altLang="zh-CN" baseline="30000"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p>
          <a:p>
            <a:pPr lvl="3" algn="just">
              <a:lnSpc>
                <a:spcPct val="90000"/>
              </a:lnSpc>
              <a:buFont typeface="Wingdings" panose="05000000000000000000" pitchFamily="2" charset="2"/>
              <a:buNone/>
            </a:pPr>
            <a:r>
              <a:rPr lang="en-US" altLang="zh-CN" dirty="0" smtClean="0">
                <a:latin typeface="Times New Roman" panose="02020603050405020304" pitchFamily="18" charset="0"/>
                <a:cs typeface="Times New Roman" panose="02020603050405020304" pitchFamily="18" charset="0"/>
              </a:rPr>
              <a:t>(3) </a:t>
            </a:r>
            <a:r>
              <a:rPr lang="zh-CN" altLang="en-US" dirty="0" smtClean="0">
                <a:latin typeface="Times New Roman" panose="02020603050405020304" pitchFamily="18" charset="0"/>
                <a:cs typeface="Times New Roman" panose="02020603050405020304" pitchFamily="18" charset="0"/>
              </a:rPr>
              <a:t>若要求</a:t>
            </a:r>
            <a:r>
              <a:rPr lang="zh-CN" altLang="en-US" dirty="0" smtClean="0">
                <a:solidFill>
                  <a:srgbClr val="FF0000"/>
                </a:solidFill>
                <a:latin typeface="Times New Roman" panose="02020603050405020304" pitchFamily="18" charset="0"/>
                <a:cs typeface="Times New Roman" panose="02020603050405020304" pitchFamily="18" charset="0"/>
              </a:rPr>
              <a:t>超过目标值</a:t>
            </a:r>
            <a:r>
              <a:rPr lang="zh-CN" altLang="en-US" dirty="0" smtClean="0">
                <a:latin typeface="Times New Roman" panose="02020603050405020304" pitchFamily="18" charset="0"/>
                <a:cs typeface="Times New Roman" panose="02020603050405020304" pitchFamily="18" charset="0"/>
              </a:rPr>
              <a:t>，即超过量不限，但负偏差变量要尽可能地小，这时目标函数的形式为：</a:t>
            </a:r>
          </a:p>
          <a:p>
            <a:pPr lvl="3" algn="just">
              <a:lnSpc>
                <a:spcPct val="90000"/>
              </a:lnSpc>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min z=</a:t>
            </a:r>
            <a:r>
              <a:rPr lang="en-US" altLang="zh-CN" i="1" dirty="0" smtClean="0">
                <a:latin typeface="Times New Roman" panose="02020603050405020304" pitchFamily="18" charset="0"/>
                <a:cs typeface="Times New Roman" panose="02020603050405020304" pitchFamily="18" charset="0"/>
              </a:rPr>
              <a:t>f</a:t>
            </a:r>
            <a:r>
              <a:rPr lang="en-US" altLang="zh-CN" dirty="0" smtClean="0">
                <a:latin typeface="Times New Roman" panose="02020603050405020304" pitchFamily="18" charset="0"/>
                <a:cs typeface="Times New Roman" panose="02020603050405020304" pitchFamily="18" charset="0"/>
              </a:rPr>
              <a:t>(</a:t>
            </a:r>
            <a:r>
              <a:rPr lang="en-US" altLang="zh-CN" i="1" dirty="0" smtClean="0">
                <a:latin typeface="Times New Roman" panose="02020603050405020304" pitchFamily="18" charset="0"/>
                <a:cs typeface="Times New Roman" panose="02020603050405020304" pitchFamily="18" charset="0"/>
              </a:rPr>
              <a:t>d</a:t>
            </a:r>
            <a:r>
              <a:rPr lang="en-US" altLang="zh-CN" baseline="30000"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3034931A-543A-4A67-995C-79DCBB2D1B15}" type="slidenum">
              <a:rPr lang="en-US" altLang="zh-CN" smtClean="0"/>
              <a:pPr/>
              <a:t>4</a:t>
            </a:fld>
            <a:endParaRPr lang="en-US" altLang="zh-CN"/>
          </a:p>
        </p:txBody>
      </p:sp>
    </p:spTree>
    <p:extLst>
      <p:ext uri="{BB962C8B-B14F-4D97-AF65-F5344CB8AC3E}">
        <p14:creationId xmlns:p14="http://schemas.microsoft.com/office/powerpoint/2010/main" val="3373879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8FFFFCE3-EB99-4BB2-88F2-4D8DB23415DF}"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80468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lvl1pPr>
              <a:defRPr b="1"/>
            </a:lvl1pPr>
            <a:lvl2pPr>
              <a:defRPr b="1"/>
            </a:lvl2pPr>
            <a:lvl3pPr>
              <a:defRPr b="1"/>
            </a:lvl3pPr>
            <a:lvl4pPr>
              <a:defRPr b="1"/>
            </a:lvl4pPr>
            <a:lvl5pPr>
              <a:defRPr b="1"/>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3EBD2E7D-C37C-4795-8898-D5E1C36CF231}"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9549102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7E96C395-8327-469C-91AE-B7D56BD15D39}"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535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C0274855-4376-47EC-99E4-749804395E67}"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6834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077C0244-4050-4D98-9A78-519087134B79}"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9392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784435D2-B3F2-44DD-952F-C7BA5620240B}"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8034396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5AC8E24F-7B6C-4B1D-A8A7-A7F8B20DC8C0}"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74996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E933CC1F-92F2-4E5B-AEBD-98CC213720AD}"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05048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1AEF09B7-FFB3-4AD9-B0FF-C6803DAEFA4B}"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11965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7A9496B0-F4B8-40AD-9B93-574FD137F886}"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22503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40221CE6-83E5-4DBC-99BD-B30D10EE2845}"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47147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Char char="•"/>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a:t>单击此处编辑母版标题样式</a:t>
            </a:r>
          </a:p>
        </p:txBody>
      </p:sp>
      <p:sp>
        <p:nvSpPr>
          <p:cNvPr id="2052" name="Rectangle 4" descr="浅色横线"/>
          <p:cNvSpPr>
            <a:spLocks noChangeArrowheads="1"/>
          </p:cNvSpPr>
          <p:nvPr/>
        </p:nvSpPr>
        <p:spPr bwMode="auto">
          <a:xfrm>
            <a:off x="76200" y="1066800"/>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Char char="•"/>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53"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dirty="0">
                <a:solidFill>
                  <a:srgbClr val="FF3300"/>
                </a:solidFill>
              </a:defRPr>
            </a:lvl1p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EB9A4CC2-CCB7-4E01-B090-9C2AF932F9CB}" type="slidenum">
              <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
        <p:nvSpPr>
          <p:cNvPr id="2059" name="任意多边形 1024"/>
          <p:cNvSpPr>
            <a:spLocks noChangeArrowheads="1"/>
          </p:cNvSpPr>
          <p:nvPr/>
        </p:nvSpPr>
        <p:spPr bwMode="auto">
          <a:xfrm>
            <a:off x="0"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056" name="图片 2"/>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 y="7938"/>
            <a:ext cx="1241425"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09034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1.png"/><Relationship Id="rId5" Type="http://schemas.openxmlformats.org/officeDocument/2006/relationships/image" Target="../media/image4.wmf"/><Relationship Id="rId10" Type="http://schemas.openxmlformats.org/officeDocument/2006/relationships/image" Target="../media/image25.png"/><Relationship Id="rId4" Type="http://schemas.openxmlformats.org/officeDocument/2006/relationships/oleObject" Target="../embeddings/oleObject2.bin"/><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340768"/>
            <a:ext cx="8352928" cy="4114800"/>
          </a:xfrm>
        </p:spPr>
        <p:txBody>
          <a:bodyPr/>
          <a:lstStyle/>
          <a:p>
            <a:pPr algn="just"/>
            <a:r>
              <a:rPr lang="zh-CN" altLang="en-US" dirty="0" smtClean="0">
                <a:solidFill>
                  <a:srgbClr val="FF0000"/>
                </a:solidFill>
                <a:latin typeface="Times New Roman" panose="02020603050405020304" pitchFamily="18" charset="0"/>
                <a:cs typeface="Times New Roman" panose="02020603050405020304" pitchFamily="18" charset="0"/>
              </a:rPr>
              <a:t>目标规划</a:t>
            </a:r>
            <a:r>
              <a:rPr lang="zh-CN" altLang="en-US" dirty="0" smtClean="0">
                <a:latin typeface="Times New Roman" panose="02020603050405020304" pitchFamily="18" charset="0"/>
                <a:cs typeface="Times New Roman" panose="02020603050405020304" pitchFamily="18" charset="0"/>
              </a:rPr>
              <a:t>方法是</a:t>
            </a:r>
            <a:r>
              <a:rPr lang="zh-CN" altLang="en-US" dirty="0">
                <a:latin typeface="Times New Roman" panose="02020603050405020304" pitchFamily="18" charset="0"/>
                <a:cs typeface="Times New Roman" panose="02020603050405020304" pitchFamily="18" charset="0"/>
              </a:rPr>
              <a:t>解</a:t>
            </a:r>
            <a:r>
              <a:rPr lang="zh-CN" altLang="en-US" dirty="0" smtClean="0">
                <a:latin typeface="Times New Roman" panose="02020603050405020304" pitchFamily="18" charset="0"/>
                <a:cs typeface="Times New Roman" panose="02020603050405020304" pitchFamily="18" charset="0"/>
              </a:rPr>
              <a:t>这</a:t>
            </a:r>
            <a:r>
              <a:rPr lang="zh-CN" altLang="en-US" dirty="0" smtClean="0">
                <a:solidFill>
                  <a:srgbClr val="FF0000"/>
                </a:solidFill>
                <a:latin typeface="Times New Roman" panose="02020603050405020304" pitchFamily="18" charset="0"/>
                <a:cs typeface="Times New Roman" panose="02020603050405020304" pitchFamily="18" charset="0"/>
              </a:rPr>
              <a:t>多目标决策</a:t>
            </a:r>
            <a:r>
              <a:rPr lang="zh-CN" altLang="en-US" dirty="0" smtClean="0">
                <a:latin typeface="Times New Roman" panose="02020603050405020304" pitchFamily="18" charset="0"/>
                <a:cs typeface="Times New Roman" panose="02020603050405020304" pitchFamily="18" charset="0"/>
              </a:rPr>
              <a:t>问题</a:t>
            </a:r>
            <a:r>
              <a:rPr lang="zh-CN" altLang="en-US" dirty="0">
                <a:latin typeface="Times New Roman" panose="02020603050405020304" pitchFamily="18" charset="0"/>
                <a:cs typeface="Times New Roman" panose="02020603050405020304" pitchFamily="18" charset="0"/>
              </a:rPr>
              <a:t>的方法之一</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algn="just"/>
            <a:r>
              <a:rPr lang="zh-CN" altLang="en-US" dirty="0" smtClean="0">
                <a:solidFill>
                  <a:srgbClr val="FF0000"/>
                </a:solidFill>
                <a:latin typeface="Times New Roman" panose="02020603050405020304" pitchFamily="18" charset="0"/>
                <a:cs typeface="Times New Roman" panose="02020603050405020304" pitchFamily="18" charset="0"/>
              </a:rPr>
              <a:t>目标规划的思路</a:t>
            </a:r>
            <a:r>
              <a:rPr lang="zh-CN" altLang="en-US" dirty="0" smtClean="0">
                <a:latin typeface="Times New Roman" panose="02020603050405020304" pitchFamily="18" charset="0"/>
                <a:cs typeface="Times New Roman" panose="02020603050405020304" pitchFamily="18" charset="0"/>
              </a:rPr>
              <a:t>：将每一个目标不等式（或等式）转化为一个</a:t>
            </a:r>
            <a:r>
              <a:rPr lang="zh-CN" altLang="en-US" dirty="0" smtClean="0">
                <a:solidFill>
                  <a:srgbClr val="FF0000"/>
                </a:solidFill>
                <a:latin typeface="Times New Roman" panose="02020603050405020304" pitchFamily="18" charset="0"/>
                <a:cs typeface="Times New Roman" panose="02020603050405020304" pitchFamily="18" charset="0"/>
              </a:rPr>
              <a:t>弹性目标</a:t>
            </a:r>
            <a:r>
              <a:rPr lang="zh-CN" altLang="en-US" dirty="0" smtClean="0">
                <a:latin typeface="Times New Roman" panose="02020603050405020304" pitchFamily="18" charset="0"/>
                <a:cs typeface="Times New Roman" panose="02020603050405020304" pitchFamily="18" charset="0"/>
              </a:rPr>
              <a:t>，尽可能使得结果达到预定目标值，即使达不到目标值也使得与目标值的偏差最小。</a:t>
            </a:r>
            <a:endParaRPr lang="en-US" altLang="zh-CN" dirty="0" smtClean="0">
              <a:latin typeface="Times New Roman" panose="02020603050405020304" pitchFamily="18" charset="0"/>
              <a:cs typeface="Times New Roman" panose="02020603050405020304" pitchFamily="18" charset="0"/>
            </a:endParaRPr>
          </a:p>
          <a:p>
            <a:pPr algn="just"/>
            <a:r>
              <a:rPr lang="zh-CN" altLang="en-US" dirty="0" smtClean="0">
                <a:latin typeface="Times New Roman" panose="02020603050405020304" pitchFamily="18" charset="0"/>
                <a:cs typeface="Times New Roman" panose="02020603050405020304" pitchFamily="18" charset="0"/>
              </a:rPr>
              <a:t>相关概念</a:t>
            </a:r>
            <a:endParaRPr lang="en-US" altLang="zh-CN" dirty="0" smtClean="0">
              <a:latin typeface="Times New Roman" panose="02020603050405020304" pitchFamily="18" charset="0"/>
              <a:cs typeface="Times New Roman" panose="02020603050405020304" pitchFamily="18" charset="0"/>
            </a:endParaRPr>
          </a:p>
          <a:p>
            <a:pPr lvl="1" algn="just"/>
            <a:r>
              <a:rPr lang="en-US" altLang="zh-CN" sz="2000" dirty="0" smtClean="0">
                <a:solidFill>
                  <a:srgbClr val="FF0000"/>
                </a:solidFill>
                <a:latin typeface="Times New Roman" panose="02020603050405020304" pitchFamily="18" charset="0"/>
                <a:cs typeface="Times New Roman" panose="02020603050405020304" pitchFamily="18" charset="0"/>
              </a:rPr>
              <a:t>1.</a:t>
            </a:r>
            <a:r>
              <a:rPr lang="zh-CN" altLang="en-US" sz="2000" dirty="0" smtClean="0">
                <a:solidFill>
                  <a:srgbClr val="FF0000"/>
                </a:solidFill>
                <a:latin typeface="Times New Roman" panose="02020603050405020304" pitchFamily="18" charset="0"/>
                <a:cs typeface="Times New Roman" panose="02020603050405020304" pitchFamily="18" charset="0"/>
              </a:rPr>
              <a:t>正</a:t>
            </a:r>
            <a:r>
              <a:rPr lang="zh-CN" altLang="en-US" sz="2000" dirty="0">
                <a:solidFill>
                  <a:srgbClr val="FF0000"/>
                </a:solidFill>
                <a:latin typeface="Times New Roman" panose="02020603050405020304" pitchFamily="18" charset="0"/>
                <a:cs typeface="Times New Roman" panose="02020603050405020304" pitchFamily="18" charset="0"/>
              </a:rPr>
              <a:t>、负偏差变量</a:t>
            </a:r>
            <a:r>
              <a:rPr lang="en-US" altLang="zh-CN" sz="2000" i="1" dirty="0">
                <a:solidFill>
                  <a:srgbClr val="FF0000"/>
                </a:solidFill>
                <a:latin typeface="Times New Roman" panose="02020603050405020304" pitchFamily="18" charset="0"/>
                <a:cs typeface="Times New Roman" panose="02020603050405020304" pitchFamily="18" charset="0"/>
              </a:rPr>
              <a:t>d</a:t>
            </a:r>
            <a:r>
              <a:rPr lang="en-US" altLang="zh-CN" sz="2000" baseline="30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i="1" dirty="0">
                <a:solidFill>
                  <a:srgbClr val="FF0000"/>
                </a:solidFill>
                <a:latin typeface="Times New Roman" panose="02020603050405020304" pitchFamily="18" charset="0"/>
                <a:cs typeface="Times New Roman" panose="02020603050405020304" pitchFamily="18" charset="0"/>
              </a:rPr>
              <a:t>d</a:t>
            </a:r>
            <a:r>
              <a:rPr lang="en-US" altLang="zh-CN" sz="2000" baseline="30000" dirty="0">
                <a:solidFill>
                  <a:srgbClr val="FF0000"/>
                </a:solidFill>
                <a:latin typeface="Times New Roman" panose="02020603050405020304" pitchFamily="18" charset="0"/>
                <a:cs typeface="Times New Roman" panose="02020603050405020304" pitchFamily="18" charset="0"/>
              </a:rPr>
              <a:t>−</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2"/>
            <a:r>
              <a:rPr lang="zh-CN" altLang="en-US" sz="1800" dirty="0"/>
              <a:t>目标值：是指预先给定的某个目标的一个期望值</a:t>
            </a:r>
          </a:p>
          <a:p>
            <a:pPr lvl="2"/>
            <a:r>
              <a:rPr lang="zh-CN" altLang="en-US" sz="1800" dirty="0"/>
              <a:t>决策值（现实值）：当决策变量</a:t>
            </a:r>
            <a:r>
              <a:rPr lang="en-US" altLang="zh-CN" sz="1800" i="1" dirty="0" err="1"/>
              <a:t>x</a:t>
            </a:r>
            <a:r>
              <a:rPr lang="en-US" altLang="zh-CN" sz="1800" i="1" baseline="-25000" dirty="0" err="1"/>
              <a:t>j</a:t>
            </a:r>
            <a:r>
              <a:rPr lang="zh-CN" altLang="en-US" sz="1800" dirty="0"/>
              <a:t>选定以后，</a:t>
            </a:r>
            <a:r>
              <a:rPr lang="zh-CN" altLang="en-US" sz="1800" dirty="0">
                <a:solidFill>
                  <a:srgbClr val="FF0000"/>
                </a:solidFill>
              </a:rPr>
              <a:t>目标函数的对应值</a:t>
            </a:r>
            <a:r>
              <a:rPr lang="zh-CN" altLang="en-US" sz="1800" dirty="0" smtClean="0"/>
              <a:t>。</a:t>
            </a:r>
            <a:endParaRPr lang="en-US" altLang="zh-CN" sz="1800" dirty="0" smtClean="0">
              <a:latin typeface="+mn-ea"/>
              <a:ea typeface="+mn-ea"/>
              <a:cs typeface="Times New Roman" panose="02020603050405020304" pitchFamily="18" charset="0"/>
            </a:endParaRPr>
          </a:p>
          <a:p>
            <a:pPr lvl="2" algn="just"/>
            <a:r>
              <a:rPr lang="zh-CN" altLang="en-US" sz="1800" dirty="0" smtClean="0">
                <a:latin typeface="+mn-ea"/>
                <a:ea typeface="+mn-ea"/>
                <a:cs typeface="Times New Roman" panose="02020603050405020304" pitchFamily="18" charset="0"/>
              </a:rPr>
              <a:t>正偏差</a:t>
            </a:r>
            <a:r>
              <a:rPr lang="zh-CN" altLang="en-US" sz="1800" dirty="0">
                <a:latin typeface="+mn-ea"/>
                <a:ea typeface="+mn-ea"/>
                <a:cs typeface="Times New Roman" panose="02020603050405020304" pitchFamily="18" charset="0"/>
              </a:rPr>
              <a:t>变量</a:t>
            </a:r>
            <a:r>
              <a:rPr lang="en-US" altLang="zh-CN" sz="1800" dirty="0">
                <a:latin typeface="+mn-ea"/>
                <a:ea typeface="+mn-ea"/>
                <a:cs typeface="Times New Roman" panose="02020603050405020304" pitchFamily="18" charset="0"/>
              </a:rPr>
              <a:t>d</a:t>
            </a:r>
            <a:r>
              <a:rPr lang="zh-CN" altLang="en-US" sz="1800" baseline="30000" dirty="0">
                <a:latin typeface="+mn-ea"/>
                <a:ea typeface="+mn-ea"/>
                <a:cs typeface="Times New Roman" panose="02020603050405020304" pitchFamily="18" charset="0"/>
              </a:rPr>
              <a:t>＋</a:t>
            </a:r>
            <a:r>
              <a:rPr lang="zh-CN" altLang="en-US" sz="1800" dirty="0">
                <a:latin typeface="+mn-ea"/>
                <a:ea typeface="+mn-ea"/>
                <a:cs typeface="Times New Roman" panose="02020603050405020304" pitchFamily="18" charset="0"/>
              </a:rPr>
              <a:t>表示</a:t>
            </a:r>
            <a:r>
              <a:rPr lang="zh-CN" altLang="en-US" sz="1800" dirty="0">
                <a:solidFill>
                  <a:srgbClr val="FF0000"/>
                </a:solidFill>
                <a:latin typeface="+mn-ea"/>
                <a:ea typeface="+mn-ea"/>
                <a:cs typeface="Times New Roman" panose="02020603050405020304" pitchFamily="18" charset="0"/>
              </a:rPr>
              <a:t>决策值超过目标值</a:t>
            </a:r>
            <a:r>
              <a:rPr lang="zh-CN" altLang="en-US" sz="1800" dirty="0">
                <a:latin typeface="+mn-ea"/>
                <a:ea typeface="+mn-ea"/>
                <a:cs typeface="Times New Roman" panose="02020603050405020304" pitchFamily="18" charset="0"/>
              </a:rPr>
              <a:t>的</a:t>
            </a:r>
            <a:r>
              <a:rPr lang="zh-CN" altLang="en-US" sz="1800" dirty="0" smtClean="0">
                <a:latin typeface="+mn-ea"/>
                <a:ea typeface="+mn-ea"/>
                <a:cs typeface="Times New Roman" panose="02020603050405020304" pitchFamily="18" charset="0"/>
              </a:rPr>
              <a:t>部分，即</a:t>
            </a:r>
            <a:r>
              <a:rPr lang="en-US" altLang="zh-CN" sz="1800" dirty="0" smtClean="0">
                <a:latin typeface="+mn-ea"/>
                <a:cs typeface="Times New Roman" panose="02020603050405020304" pitchFamily="18" charset="0"/>
              </a:rPr>
              <a:t> </a:t>
            </a:r>
            <a:r>
              <a:rPr lang="en-US" altLang="zh-CN" sz="1800" dirty="0">
                <a:latin typeface="+mn-ea"/>
                <a:cs typeface="Times New Roman" panose="02020603050405020304" pitchFamily="18" charset="0"/>
              </a:rPr>
              <a:t>d</a:t>
            </a:r>
            <a:r>
              <a:rPr lang="zh-CN" altLang="en-US" sz="1800" baseline="30000" dirty="0">
                <a:latin typeface="+mn-ea"/>
                <a:cs typeface="Times New Roman" panose="02020603050405020304" pitchFamily="18" charset="0"/>
              </a:rPr>
              <a:t>＋ </a:t>
            </a:r>
            <a:r>
              <a:rPr lang="en-US" altLang="zh-CN" sz="1800" dirty="0" smtClean="0">
                <a:latin typeface="+mn-ea"/>
                <a:ea typeface="+mn-ea"/>
                <a:cs typeface="Times New Roman" panose="02020603050405020304" pitchFamily="18" charset="0"/>
              </a:rPr>
              <a:t>=</a:t>
            </a:r>
            <a:r>
              <a:rPr lang="en-US" altLang="zh-CN" sz="1800" dirty="0">
                <a:latin typeface="+mn-ea"/>
                <a:ea typeface="+mn-ea"/>
                <a:cs typeface="Times New Roman" panose="02020603050405020304" pitchFamily="18" charset="0"/>
              </a:rPr>
              <a:t>f(x)-</a:t>
            </a:r>
            <a:r>
              <a:rPr lang="en-US" altLang="zh-CN" sz="1800" dirty="0" smtClean="0">
                <a:latin typeface="+mn-ea"/>
                <a:ea typeface="+mn-ea"/>
                <a:cs typeface="Times New Roman" panose="02020603050405020304" pitchFamily="18" charset="0"/>
              </a:rPr>
              <a:t>g</a:t>
            </a:r>
          </a:p>
          <a:p>
            <a:pPr lvl="2" algn="just"/>
            <a:r>
              <a:rPr lang="zh-CN" altLang="en-US" sz="1800" dirty="0" smtClean="0">
                <a:latin typeface="+mn-ea"/>
                <a:ea typeface="+mn-ea"/>
                <a:cs typeface="Times New Roman" panose="02020603050405020304" pitchFamily="18" charset="0"/>
              </a:rPr>
              <a:t>负偏差</a:t>
            </a:r>
            <a:r>
              <a:rPr lang="zh-CN" altLang="en-US" sz="1800" dirty="0">
                <a:latin typeface="+mn-ea"/>
                <a:ea typeface="+mn-ea"/>
                <a:cs typeface="Times New Roman" panose="02020603050405020304" pitchFamily="18" charset="0"/>
              </a:rPr>
              <a:t>变量</a:t>
            </a:r>
            <a:r>
              <a:rPr lang="en-US" altLang="zh-CN" sz="1800" dirty="0">
                <a:latin typeface="+mn-ea"/>
                <a:ea typeface="+mn-ea"/>
                <a:cs typeface="Times New Roman" panose="02020603050405020304" pitchFamily="18" charset="0"/>
              </a:rPr>
              <a:t>d</a:t>
            </a:r>
            <a:r>
              <a:rPr lang="en-US" altLang="zh-CN" sz="1800" baseline="30000" dirty="0">
                <a:latin typeface="+mn-ea"/>
                <a:ea typeface="+mn-ea"/>
                <a:cs typeface="Times New Roman" panose="02020603050405020304" pitchFamily="18" charset="0"/>
              </a:rPr>
              <a:t>−</a:t>
            </a:r>
            <a:r>
              <a:rPr lang="zh-CN" altLang="en-US" sz="1800" dirty="0">
                <a:latin typeface="+mn-ea"/>
                <a:ea typeface="+mn-ea"/>
                <a:cs typeface="Times New Roman" panose="02020603050405020304" pitchFamily="18" charset="0"/>
              </a:rPr>
              <a:t>表示</a:t>
            </a:r>
            <a:r>
              <a:rPr lang="zh-CN" altLang="en-US" sz="1800" dirty="0">
                <a:solidFill>
                  <a:srgbClr val="FF0000"/>
                </a:solidFill>
                <a:latin typeface="+mn-ea"/>
                <a:ea typeface="+mn-ea"/>
                <a:cs typeface="Times New Roman" panose="02020603050405020304" pitchFamily="18" charset="0"/>
              </a:rPr>
              <a:t>决策值未达到目标值</a:t>
            </a:r>
            <a:r>
              <a:rPr lang="zh-CN" altLang="en-US" sz="1800" dirty="0">
                <a:latin typeface="+mn-ea"/>
                <a:ea typeface="+mn-ea"/>
                <a:cs typeface="Times New Roman" panose="02020603050405020304" pitchFamily="18" charset="0"/>
              </a:rPr>
              <a:t>的</a:t>
            </a:r>
            <a:r>
              <a:rPr lang="zh-CN" altLang="en-US" sz="1800" dirty="0" smtClean="0">
                <a:latin typeface="+mn-ea"/>
                <a:ea typeface="+mn-ea"/>
                <a:cs typeface="Times New Roman" panose="02020603050405020304" pitchFamily="18" charset="0"/>
              </a:rPr>
              <a:t>部分</a:t>
            </a:r>
            <a:r>
              <a:rPr lang="zh-CN" altLang="en-US" sz="1800" dirty="0">
                <a:latin typeface="+mn-ea"/>
                <a:cs typeface="Times New Roman" panose="02020603050405020304" pitchFamily="18" charset="0"/>
              </a:rPr>
              <a:t>，即</a:t>
            </a:r>
            <a:r>
              <a:rPr lang="en-US" altLang="zh-CN" sz="1800" dirty="0" smtClean="0">
                <a:latin typeface="+mn-ea"/>
                <a:cs typeface="Times New Roman" panose="02020603050405020304" pitchFamily="18" charset="0"/>
              </a:rPr>
              <a:t>d</a:t>
            </a:r>
            <a:r>
              <a:rPr lang="en-US" altLang="zh-CN" sz="1800" baseline="30000" dirty="0">
                <a:latin typeface="+mn-ea"/>
                <a:cs typeface="Times New Roman" panose="02020603050405020304" pitchFamily="18" charset="0"/>
              </a:rPr>
              <a:t>− </a:t>
            </a:r>
            <a:r>
              <a:rPr lang="en-US" altLang="zh-CN" sz="1800" dirty="0" smtClean="0">
                <a:latin typeface="+mn-ea"/>
                <a:ea typeface="+mn-ea"/>
                <a:cs typeface="Times New Roman" panose="02020603050405020304" pitchFamily="18" charset="0"/>
              </a:rPr>
              <a:t>=g-f(x)</a:t>
            </a:r>
            <a:r>
              <a:rPr lang="zh-CN" altLang="en-US" sz="1800" dirty="0">
                <a:latin typeface="+mn-ea"/>
                <a:cs typeface="Times New Roman" panose="02020603050405020304" pitchFamily="18" charset="0"/>
              </a:rPr>
              <a:t> </a:t>
            </a:r>
            <a:endParaRPr lang="en-US" altLang="zh-CN" sz="1800" dirty="0" smtClean="0">
              <a:latin typeface="+mn-ea"/>
              <a:cs typeface="Times New Roman" panose="02020603050405020304" pitchFamily="18" charset="0"/>
            </a:endParaRPr>
          </a:p>
          <a:p>
            <a:pPr lvl="2" algn="just"/>
            <a:r>
              <a:rPr lang="zh-CN" altLang="en-US" sz="1800" dirty="0" smtClean="0">
                <a:latin typeface="+mn-ea"/>
                <a:ea typeface="+mn-ea"/>
                <a:cs typeface="Times New Roman" panose="02020603050405020304" pitchFamily="18" charset="0"/>
              </a:rPr>
              <a:t>因</a:t>
            </a:r>
            <a:r>
              <a:rPr lang="zh-CN" altLang="en-US" sz="1800" dirty="0">
                <a:latin typeface="+mn-ea"/>
                <a:ea typeface="+mn-ea"/>
                <a:cs typeface="Times New Roman" panose="02020603050405020304" pitchFamily="18" charset="0"/>
              </a:rPr>
              <a:t>决策值不可能既超过目标值同时又未达到目标值</a:t>
            </a:r>
            <a:r>
              <a:rPr lang="zh-CN" altLang="en-US" sz="1800" dirty="0" smtClean="0">
                <a:latin typeface="+mn-ea"/>
                <a:ea typeface="+mn-ea"/>
                <a:cs typeface="Times New Roman" panose="02020603050405020304" pitchFamily="18" charset="0"/>
              </a:rPr>
              <a:t>，即</a:t>
            </a:r>
            <a:r>
              <a:rPr lang="zh-CN" altLang="en-US" sz="1800" dirty="0">
                <a:latin typeface="+mn-ea"/>
                <a:ea typeface="+mn-ea"/>
                <a:cs typeface="Times New Roman" panose="02020603050405020304" pitchFamily="18" charset="0"/>
              </a:rPr>
              <a:t>恒</a:t>
            </a:r>
            <a:r>
              <a:rPr lang="zh-CN" altLang="en-US" sz="1800" dirty="0" smtClean="0">
                <a:latin typeface="+mn-ea"/>
                <a:ea typeface="+mn-ea"/>
                <a:cs typeface="Times New Roman" panose="02020603050405020304" pitchFamily="18" charset="0"/>
              </a:rPr>
              <a:t>有：</a:t>
            </a:r>
            <a:endParaRPr lang="zh-CN" altLang="en-US" sz="1800" dirty="0">
              <a:latin typeface="+mn-ea"/>
              <a:ea typeface="+mn-ea"/>
              <a:cs typeface="Times New Roman" panose="02020603050405020304" pitchFamily="18" charset="0"/>
            </a:endParaRPr>
          </a:p>
          <a:p>
            <a:pPr lvl="3" algn="just">
              <a:buFont typeface="Wingdings" panose="05000000000000000000" pitchFamily="2" charset="2"/>
              <a:buNone/>
            </a:pPr>
            <a:r>
              <a:rPr lang="en-US" altLang="zh-CN" sz="1800" b="0" i="1" dirty="0" smtClean="0">
                <a:latin typeface="Times New Roman" panose="02020603050405020304" pitchFamily="18" charset="0"/>
                <a:cs typeface="Times New Roman" panose="02020603050405020304" pitchFamily="18" charset="0"/>
              </a:rPr>
              <a:t>d</a:t>
            </a:r>
            <a:r>
              <a:rPr lang="en-US" altLang="zh-CN" sz="1800" b="0" baseline="30000" dirty="0">
                <a:latin typeface="Times New Roman" panose="02020603050405020304" pitchFamily="18" charset="0"/>
                <a:cs typeface="Times New Roman" panose="02020603050405020304" pitchFamily="18" charset="0"/>
              </a:rPr>
              <a:t>+</a:t>
            </a:r>
            <a:r>
              <a:rPr lang="en-US" altLang="zh-CN" sz="1800" b="0" dirty="0">
                <a:latin typeface="宋体" panose="02010600030101010101" pitchFamily="2" charset="-122"/>
                <a:cs typeface="Times New Roman" panose="02020603050405020304" pitchFamily="18" charset="0"/>
              </a:rPr>
              <a:t>×</a:t>
            </a:r>
            <a:r>
              <a:rPr lang="en-US" altLang="zh-CN" sz="1800" b="0" i="1" dirty="0">
                <a:latin typeface="Times New Roman" panose="02020603050405020304" pitchFamily="18" charset="0"/>
                <a:cs typeface="Times New Roman" panose="02020603050405020304" pitchFamily="18" charset="0"/>
              </a:rPr>
              <a:t>d</a:t>
            </a:r>
            <a:r>
              <a:rPr lang="en-US" altLang="zh-CN" sz="1800" b="0" baseline="30000" dirty="0">
                <a:latin typeface="Times New Roman" panose="02020603050405020304" pitchFamily="18" charset="0"/>
                <a:cs typeface="Times New Roman" panose="02020603050405020304" pitchFamily="18" charset="0"/>
              </a:rPr>
              <a:t>− </a:t>
            </a:r>
            <a:r>
              <a:rPr lang="en-US" altLang="zh-CN" sz="1800" b="0" dirty="0">
                <a:latin typeface="Times New Roman" panose="02020603050405020304" pitchFamily="18" charset="0"/>
                <a:cs typeface="Times New Roman" panose="02020603050405020304" pitchFamily="18" charset="0"/>
              </a:rPr>
              <a:t>= 0</a:t>
            </a:r>
            <a:r>
              <a:rPr lang="zh-CN" altLang="en-US" sz="1800" b="0" dirty="0" smtClean="0">
                <a:latin typeface="Times New Roman" panose="02020603050405020304" pitchFamily="18" charset="0"/>
                <a:cs typeface="Times New Roman" panose="02020603050405020304" pitchFamily="18" charset="0"/>
              </a:rPr>
              <a:t>。</a:t>
            </a:r>
            <a:endParaRPr lang="en-US" altLang="zh-CN" sz="1800" b="0" dirty="0" smtClean="0">
              <a:latin typeface="Times New Roman" panose="02020603050405020304" pitchFamily="18" charset="0"/>
              <a:cs typeface="Times New Roman" panose="02020603050405020304" pitchFamily="18" charset="0"/>
            </a:endParaRPr>
          </a:p>
        </p:txBody>
      </p:sp>
      <p:sp>
        <p:nvSpPr>
          <p:cNvPr id="2" name="标题 1"/>
          <p:cNvSpPr>
            <a:spLocks noGrp="1"/>
          </p:cNvSpPr>
          <p:nvPr>
            <p:ph type="title"/>
          </p:nvPr>
        </p:nvSpPr>
        <p:spPr/>
        <p:txBody>
          <a:bodyPr/>
          <a:lstStyle/>
          <a:p>
            <a:r>
              <a:rPr lang="en-US" altLang="zh-CN" dirty="0"/>
              <a:t>5.1 </a:t>
            </a:r>
            <a:r>
              <a:rPr lang="zh-CN" altLang="en-US" dirty="0"/>
              <a:t>目标规划的数学模型</a:t>
            </a:r>
          </a:p>
        </p:txBody>
      </p:sp>
      <p:graphicFrame>
        <p:nvGraphicFramePr>
          <p:cNvPr id="4" name="表格 3"/>
          <p:cNvGraphicFramePr>
            <a:graphicFrameLocks noGrp="1"/>
          </p:cNvGraphicFramePr>
          <p:nvPr>
            <p:extLst>
              <p:ext uri="{D42A27DB-BD31-4B8C-83A1-F6EECF244321}">
                <p14:modId xmlns:p14="http://schemas.microsoft.com/office/powerpoint/2010/main" val="2401780224"/>
              </p:ext>
            </p:extLst>
          </p:nvPr>
        </p:nvGraphicFramePr>
        <p:xfrm>
          <a:off x="4499992" y="5455568"/>
          <a:ext cx="3528392" cy="1463040"/>
        </p:xfrm>
        <a:graphic>
          <a:graphicData uri="http://schemas.openxmlformats.org/drawingml/2006/table">
            <a:tbl>
              <a:tblPr firstRow="1" bandRow="1">
                <a:tableStyleId>{00A15C55-8517-42AA-B614-E9B94910E393}</a:tableStyleId>
              </a:tblPr>
              <a:tblGrid>
                <a:gridCol w="882098">
                  <a:extLst>
                    <a:ext uri="{9D8B030D-6E8A-4147-A177-3AD203B41FA5}">
                      <a16:colId xmlns:a16="http://schemas.microsoft.com/office/drawing/2014/main" val="1856046317"/>
                    </a:ext>
                  </a:extLst>
                </a:gridCol>
                <a:gridCol w="882098">
                  <a:extLst>
                    <a:ext uri="{9D8B030D-6E8A-4147-A177-3AD203B41FA5}">
                      <a16:colId xmlns:a16="http://schemas.microsoft.com/office/drawing/2014/main" val="537053419"/>
                    </a:ext>
                  </a:extLst>
                </a:gridCol>
                <a:gridCol w="882098">
                  <a:extLst>
                    <a:ext uri="{9D8B030D-6E8A-4147-A177-3AD203B41FA5}">
                      <a16:colId xmlns:a16="http://schemas.microsoft.com/office/drawing/2014/main" val="3217266631"/>
                    </a:ext>
                  </a:extLst>
                </a:gridCol>
                <a:gridCol w="882098">
                  <a:extLst>
                    <a:ext uri="{9D8B030D-6E8A-4147-A177-3AD203B41FA5}">
                      <a16:colId xmlns:a16="http://schemas.microsoft.com/office/drawing/2014/main" val="4289552523"/>
                    </a:ext>
                  </a:extLst>
                </a:gridCol>
              </a:tblGrid>
              <a:tr h="321450">
                <a:tc>
                  <a:txBody>
                    <a:bodyPr/>
                    <a:lstStyle/>
                    <a:p>
                      <a:r>
                        <a:rPr lang="zh-CN" altLang="en-US" dirty="0" smtClean="0"/>
                        <a:t>目标值</a:t>
                      </a:r>
                      <a:endParaRPr lang="zh-CN" altLang="en-US" dirty="0"/>
                    </a:p>
                  </a:txBody>
                  <a:tcPr/>
                </a:tc>
                <a:tc>
                  <a:txBody>
                    <a:bodyPr/>
                    <a:lstStyle/>
                    <a:p>
                      <a:r>
                        <a:rPr lang="zh-CN" altLang="en-US" dirty="0" smtClean="0"/>
                        <a:t>决策值</a:t>
                      </a:r>
                      <a:endParaRPr lang="zh-CN" altLang="en-US" dirty="0"/>
                    </a:p>
                  </a:txBody>
                  <a:tcPr/>
                </a:tc>
                <a:tc>
                  <a:txBody>
                    <a:bodyPr/>
                    <a:lstStyle/>
                    <a:p>
                      <a:r>
                        <a:rPr lang="en-US" altLang="zh-CN" sz="1800" dirty="0" smtClean="0"/>
                        <a:t>d</a:t>
                      </a:r>
                      <a:r>
                        <a:rPr lang="zh-CN" altLang="en-US" sz="1800" baseline="30000" dirty="0" smtClean="0"/>
                        <a:t>＋</a:t>
                      </a:r>
                      <a:endParaRPr lang="zh-CN" altLang="en-US" dirty="0"/>
                    </a:p>
                  </a:txBody>
                  <a:tcPr/>
                </a:tc>
                <a:tc>
                  <a:txBody>
                    <a:bodyPr/>
                    <a:lstStyle/>
                    <a:p>
                      <a:r>
                        <a:rPr lang="en-US" altLang="zh-CN" sz="1800" dirty="0" smtClean="0"/>
                        <a:t>d</a:t>
                      </a:r>
                      <a:r>
                        <a:rPr lang="en-US" altLang="zh-CN" sz="1800" baseline="30000" dirty="0" smtClean="0"/>
                        <a:t>−</a:t>
                      </a:r>
                      <a:endParaRPr lang="zh-CN" altLang="en-US" dirty="0"/>
                    </a:p>
                  </a:txBody>
                  <a:tcPr/>
                </a:tc>
                <a:extLst>
                  <a:ext uri="{0D108BD9-81ED-4DB2-BD59-A6C34878D82A}">
                    <a16:rowId xmlns:a16="http://schemas.microsoft.com/office/drawing/2014/main" val="67989450"/>
                  </a:ext>
                </a:extLst>
              </a:tr>
              <a:tr h="321450">
                <a:tc>
                  <a:txBody>
                    <a:bodyPr/>
                    <a:lstStyle/>
                    <a:p>
                      <a:r>
                        <a:rPr lang="en-US" altLang="zh-CN" dirty="0" smtClean="0"/>
                        <a:t>100</a:t>
                      </a:r>
                      <a:endParaRPr lang="zh-CN" altLang="en-US" dirty="0"/>
                    </a:p>
                  </a:txBody>
                  <a:tcPr/>
                </a:tc>
                <a:tc>
                  <a:txBody>
                    <a:bodyPr/>
                    <a:lstStyle/>
                    <a:p>
                      <a:r>
                        <a:rPr lang="en-US" altLang="zh-CN" dirty="0" smtClean="0"/>
                        <a:t>105</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0</a:t>
                      </a:r>
                      <a:endParaRPr lang="zh-CN" altLang="en-US" dirty="0"/>
                    </a:p>
                  </a:txBody>
                  <a:tcPr/>
                </a:tc>
                <a:extLst>
                  <a:ext uri="{0D108BD9-81ED-4DB2-BD59-A6C34878D82A}">
                    <a16:rowId xmlns:a16="http://schemas.microsoft.com/office/drawing/2014/main" val="3564611702"/>
                  </a:ext>
                </a:extLst>
              </a:tr>
              <a:tr h="321450">
                <a:tc>
                  <a:txBody>
                    <a:bodyPr/>
                    <a:lstStyle/>
                    <a:p>
                      <a:r>
                        <a:rPr lang="en-US" altLang="zh-CN" dirty="0" smtClean="0"/>
                        <a:t>100</a:t>
                      </a:r>
                      <a:endParaRPr lang="zh-CN" altLang="en-US" dirty="0"/>
                    </a:p>
                  </a:txBody>
                  <a:tcPr/>
                </a:tc>
                <a:tc>
                  <a:txBody>
                    <a:bodyPr/>
                    <a:lstStyle/>
                    <a:p>
                      <a:r>
                        <a:rPr lang="en-US" altLang="zh-CN" dirty="0" smtClean="0"/>
                        <a:t>98</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2</a:t>
                      </a:r>
                      <a:endParaRPr lang="zh-CN" altLang="en-US" dirty="0"/>
                    </a:p>
                  </a:txBody>
                  <a:tcPr/>
                </a:tc>
                <a:extLst>
                  <a:ext uri="{0D108BD9-81ED-4DB2-BD59-A6C34878D82A}">
                    <a16:rowId xmlns:a16="http://schemas.microsoft.com/office/drawing/2014/main" val="36433798"/>
                  </a:ext>
                </a:extLst>
              </a:tr>
              <a:tr h="321450">
                <a:tc>
                  <a:txBody>
                    <a:bodyPr/>
                    <a:lstStyle/>
                    <a:p>
                      <a:r>
                        <a:rPr lang="en-US" altLang="zh-CN" dirty="0" smtClean="0"/>
                        <a:t>100</a:t>
                      </a:r>
                      <a:endParaRPr lang="zh-CN" altLang="en-US" dirty="0"/>
                    </a:p>
                  </a:txBody>
                  <a:tcPr/>
                </a:tc>
                <a:tc>
                  <a:txBody>
                    <a:bodyPr/>
                    <a:lstStyle/>
                    <a:p>
                      <a:r>
                        <a:rPr lang="en-US" altLang="zh-CN" dirty="0" smtClean="0"/>
                        <a:t>100</a:t>
                      </a:r>
                      <a:endParaRPr lang="zh-CN" altLang="en-US" dirty="0"/>
                    </a:p>
                  </a:txBody>
                  <a:tcPr/>
                </a:tc>
                <a:tc>
                  <a:txBody>
                    <a:bodyPr/>
                    <a:lstStyle/>
                    <a:p>
                      <a:r>
                        <a:rPr lang="en-US" altLang="zh-CN" dirty="0" smtClean="0"/>
                        <a:t>0</a:t>
                      </a:r>
                      <a:endParaRPr lang="zh-CN" altLang="en-US" dirty="0"/>
                    </a:p>
                  </a:txBody>
                  <a:tcPr/>
                </a:tc>
                <a:tc>
                  <a:txBody>
                    <a:bodyPr/>
                    <a:lstStyle/>
                    <a:p>
                      <a:r>
                        <a:rPr lang="en-US" altLang="zh-CN" dirty="0" smtClean="0"/>
                        <a:t>0</a:t>
                      </a:r>
                      <a:endParaRPr lang="zh-CN" altLang="en-US" dirty="0"/>
                    </a:p>
                  </a:txBody>
                  <a:tcPr/>
                </a:tc>
                <a:extLst>
                  <a:ext uri="{0D108BD9-81ED-4DB2-BD59-A6C34878D82A}">
                    <a16:rowId xmlns:a16="http://schemas.microsoft.com/office/drawing/2014/main" val="204297991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8E01FBFC-E13D-404E-B906-AA2E5A901CA4}"/>
              </a:ext>
            </a:extLst>
          </p:cNvPr>
          <p:cNvSpPr>
            <a:spLocks noGrp="1" noChangeArrowheads="1"/>
          </p:cNvSpPr>
          <p:nvPr>
            <p:ph type="title"/>
          </p:nvPr>
        </p:nvSpPr>
        <p:spPr/>
        <p:txBody>
          <a:bodyPr/>
          <a:lstStyle/>
          <a:p>
            <a:r>
              <a:rPr lang="en-US" altLang="zh-CN" dirty="0" smtClean="0"/>
              <a:t>5.1 </a:t>
            </a:r>
            <a:r>
              <a:rPr lang="zh-CN" altLang="en-US" dirty="0" smtClean="0"/>
              <a:t>目标规划</a:t>
            </a:r>
            <a:r>
              <a:rPr lang="zh-CN" altLang="en-US" dirty="0"/>
              <a:t>的数学模型</a:t>
            </a:r>
          </a:p>
        </p:txBody>
      </p:sp>
      <p:sp>
        <p:nvSpPr>
          <p:cNvPr id="3" name="内容占位符 2"/>
          <p:cNvSpPr>
            <a:spLocks noGrp="1"/>
          </p:cNvSpPr>
          <p:nvPr>
            <p:ph idx="1"/>
          </p:nvPr>
        </p:nvSpPr>
        <p:spPr>
          <a:xfrm>
            <a:off x="611560" y="1196752"/>
            <a:ext cx="8352928" cy="4114800"/>
          </a:xfrm>
        </p:spPr>
        <p:txBody>
          <a:bodyPr/>
          <a:lstStyle/>
          <a:p>
            <a:pPr>
              <a:lnSpc>
                <a:spcPct val="120000"/>
              </a:lnSpc>
            </a:pPr>
            <a:r>
              <a:rPr lang="zh-CN" altLang="en-US" dirty="0" smtClean="0">
                <a:latin typeface="Times New Roman" panose="02020603050405020304" pitchFamily="18" charset="0"/>
                <a:cs typeface="Times New Roman" panose="02020603050405020304" pitchFamily="18" charset="0"/>
              </a:rPr>
              <a:t>相关概念</a:t>
            </a:r>
            <a:endParaRPr lang="en-US" altLang="zh-CN" dirty="0" smtClean="0">
              <a:latin typeface="Times New Roman" panose="02020603050405020304" pitchFamily="18" charset="0"/>
              <a:cs typeface="Times New Roman" panose="02020603050405020304" pitchFamily="18" charset="0"/>
            </a:endParaRPr>
          </a:p>
          <a:p>
            <a:pPr lvl="1">
              <a:lnSpc>
                <a:spcPct val="120000"/>
              </a:lnSpc>
            </a:pPr>
            <a:r>
              <a:rPr lang="en-US" altLang="zh-CN" sz="2000" dirty="0" smtClean="0">
                <a:solidFill>
                  <a:srgbClr val="FF0000"/>
                </a:solidFill>
                <a:latin typeface="Times New Roman" panose="02020603050405020304" pitchFamily="18" charset="0"/>
                <a:cs typeface="Times New Roman" panose="02020603050405020304" pitchFamily="18" charset="0"/>
              </a:rPr>
              <a:t>2</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绝对约束和目标约束</a:t>
            </a:r>
          </a:p>
          <a:p>
            <a:pPr lvl="2" algn="just">
              <a:lnSpc>
                <a:spcPct val="120000"/>
              </a:lnSpc>
            </a:pPr>
            <a:r>
              <a:rPr lang="zh-CN" altLang="en-US" dirty="0">
                <a:solidFill>
                  <a:srgbClr val="FF0000"/>
                </a:solidFill>
                <a:latin typeface="Times New Roman" panose="02020603050405020304" pitchFamily="18" charset="0"/>
                <a:cs typeface="Times New Roman" panose="02020603050405020304" pitchFamily="18" charset="0"/>
              </a:rPr>
              <a:t>绝对</a:t>
            </a:r>
            <a:r>
              <a:rPr lang="zh-CN" altLang="en-US" dirty="0" smtClean="0">
                <a:solidFill>
                  <a:srgbClr val="FF0000"/>
                </a:solidFill>
                <a:latin typeface="Times New Roman" panose="02020603050405020304" pitchFamily="18" charset="0"/>
                <a:cs typeface="Times New Roman" panose="02020603050405020304" pitchFamily="18" charset="0"/>
              </a:rPr>
              <a:t>约束：</a:t>
            </a:r>
            <a:r>
              <a:rPr lang="zh-CN" altLang="en-US" dirty="0" smtClean="0">
                <a:latin typeface="Times New Roman" panose="02020603050405020304" pitchFamily="18" charset="0"/>
                <a:cs typeface="Times New Roman" panose="02020603050405020304" pitchFamily="18" charset="0"/>
              </a:rPr>
              <a:t>必须</a:t>
            </a:r>
            <a:r>
              <a:rPr lang="zh-CN" altLang="en-US" dirty="0">
                <a:solidFill>
                  <a:srgbClr val="FF0000"/>
                </a:solidFill>
                <a:latin typeface="Times New Roman" panose="02020603050405020304" pitchFamily="18" charset="0"/>
                <a:cs typeface="Times New Roman" panose="02020603050405020304" pitchFamily="18" charset="0"/>
              </a:rPr>
              <a:t>严格满足</a:t>
            </a:r>
            <a:r>
              <a:rPr lang="zh-CN" altLang="en-US" dirty="0">
                <a:latin typeface="Times New Roman" panose="02020603050405020304" pitchFamily="18" charset="0"/>
                <a:cs typeface="Times New Roman" panose="02020603050405020304" pitchFamily="18" charset="0"/>
              </a:rPr>
              <a:t>的等式约束和</a:t>
            </a:r>
            <a:r>
              <a:rPr lang="zh-CN" altLang="en-US" dirty="0" smtClean="0">
                <a:latin typeface="Times New Roman" panose="02020603050405020304" pitchFamily="18" charset="0"/>
                <a:cs typeface="Times New Roman" panose="02020603050405020304" pitchFamily="18" charset="0"/>
              </a:rPr>
              <a:t>不等式约束，又称为“</a:t>
            </a:r>
            <a:r>
              <a:rPr lang="zh-CN" altLang="en-US" dirty="0">
                <a:solidFill>
                  <a:srgbClr val="FF0000"/>
                </a:solidFill>
                <a:latin typeface="Times New Roman" panose="02020603050405020304" pitchFamily="18" charset="0"/>
                <a:cs typeface="Times New Roman" panose="02020603050405020304" pitchFamily="18" charset="0"/>
              </a:rPr>
              <a:t>硬约束</a:t>
            </a:r>
            <a:r>
              <a:rPr lang="zh-CN" altLang="en-US" dirty="0" smtClean="0">
                <a:latin typeface="Times New Roman" panose="02020603050405020304" pitchFamily="18" charset="0"/>
                <a:cs typeface="Times New Roman" panose="02020603050405020304" pitchFamily="18" charset="0"/>
              </a:rPr>
              <a:t>”</a:t>
            </a:r>
            <a:r>
              <a:rPr lang="zh-CN" altLang="en-US" dirty="0" smtClean="0">
                <a:solidFill>
                  <a:srgbClr val="FF0000"/>
                </a:solidFill>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pPr lvl="2" algn="just">
              <a:lnSpc>
                <a:spcPct val="120000"/>
              </a:lnSpc>
            </a:pPr>
            <a:r>
              <a:rPr lang="zh-CN" altLang="en-US" dirty="0" smtClean="0">
                <a:solidFill>
                  <a:srgbClr val="FF0000"/>
                </a:solidFill>
                <a:latin typeface="Times New Roman" panose="02020603050405020304" pitchFamily="18" charset="0"/>
                <a:cs typeface="Times New Roman" panose="02020603050405020304" pitchFamily="18" charset="0"/>
              </a:rPr>
              <a:t>目标约束：</a:t>
            </a:r>
            <a:r>
              <a:rPr lang="zh-CN" altLang="en-US" dirty="0" smtClean="0">
                <a:latin typeface="Times New Roman" panose="02020603050405020304" pitchFamily="18" charset="0"/>
                <a:cs typeface="Times New Roman" panose="02020603050405020304" pitchFamily="18" charset="0"/>
              </a:rPr>
              <a:t>把</a:t>
            </a:r>
            <a:r>
              <a:rPr lang="zh-CN" altLang="en-US" dirty="0">
                <a:latin typeface="Times New Roman" panose="02020603050405020304" pitchFamily="18" charset="0"/>
                <a:cs typeface="Times New Roman" panose="02020603050405020304" pitchFamily="18" charset="0"/>
              </a:rPr>
              <a:t>约束右端项看作要追求的</a:t>
            </a:r>
            <a:r>
              <a:rPr lang="zh-CN" altLang="en-US" dirty="0">
                <a:solidFill>
                  <a:srgbClr val="FF0000"/>
                </a:solidFill>
                <a:latin typeface="Times New Roman" panose="02020603050405020304" pitchFamily="18" charset="0"/>
                <a:cs typeface="Times New Roman" panose="02020603050405020304" pitchFamily="18" charset="0"/>
              </a:rPr>
              <a:t>目标值</a:t>
            </a:r>
            <a:r>
              <a:rPr lang="zh-CN" altLang="en-US" dirty="0">
                <a:latin typeface="Times New Roman" panose="02020603050405020304" pitchFamily="18" charset="0"/>
                <a:cs typeface="Times New Roman" panose="02020603050405020304" pitchFamily="18" charset="0"/>
              </a:rPr>
              <a:t>。在</a:t>
            </a:r>
            <a:r>
              <a:rPr lang="zh-CN" altLang="en-US" dirty="0" smtClean="0">
                <a:latin typeface="Times New Roman" panose="02020603050405020304" pitchFamily="18" charset="0"/>
                <a:cs typeface="Times New Roman" panose="02020603050405020304" pitchFamily="18" charset="0"/>
              </a:rPr>
              <a:t>达到目标值</a:t>
            </a:r>
            <a:r>
              <a:rPr lang="zh-CN" altLang="en-US" dirty="0">
                <a:latin typeface="Times New Roman" panose="02020603050405020304" pitchFamily="18" charset="0"/>
                <a:cs typeface="Times New Roman" panose="02020603050405020304" pitchFamily="18" charset="0"/>
              </a:rPr>
              <a:t>时</a:t>
            </a:r>
            <a:r>
              <a:rPr lang="zh-CN" altLang="en-US" dirty="0">
                <a:solidFill>
                  <a:srgbClr val="FF0000"/>
                </a:solidFill>
                <a:latin typeface="Times New Roman" panose="02020603050405020304" pitchFamily="18" charset="0"/>
                <a:cs typeface="Times New Roman" panose="02020603050405020304" pitchFamily="18" charset="0"/>
              </a:rPr>
              <a:t>允许发生正或负偏差</a:t>
            </a:r>
            <a:r>
              <a:rPr lang="zh-CN" altLang="en-US" dirty="0">
                <a:latin typeface="Times New Roman" panose="02020603050405020304" pitchFamily="18" charset="0"/>
                <a:cs typeface="Times New Roman" panose="02020603050405020304" pitchFamily="18" charset="0"/>
              </a:rPr>
              <a:t>。因此在这些约束中加入正、负偏差变量</a:t>
            </a:r>
            <a:r>
              <a:rPr lang="zh-CN" altLang="en-US" dirty="0" smtClean="0">
                <a:latin typeface="Times New Roman" panose="02020603050405020304" pitchFamily="18" charset="0"/>
                <a:cs typeface="Times New Roman" panose="02020603050405020304" pitchFamily="18" charset="0"/>
              </a:rPr>
              <a:t>，称为目标约束，又称为“</a:t>
            </a:r>
            <a:r>
              <a:rPr lang="zh-CN" altLang="en-US" dirty="0" smtClean="0">
                <a:solidFill>
                  <a:srgbClr val="FF0000"/>
                </a:solidFill>
                <a:latin typeface="Times New Roman" panose="02020603050405020304" pitchFamily="18" charset="0"/>
                <a:cs typeface="Times New Roman" panose="02020603050405020304" pitchFamily="18" charset="0"/>
              </a:rPr>
              <a:t>软约束</a:t>
            </a:r>
            <a:r>
              <a:rPr lang="zh-CN" altLang="en-US" dirty="0" smtClean="0">
                <a:latin typeface="Times New Roman" panose="02020603050405020304" pitchFamily="18" charset="0"/>
                <a:cs typeface="Times New Roman" panose="02020603050405020304" pitchFamily="18" charset="0"/>
              </a:rPr>
              <a:t>” </a:t>
            </a:r>
            <a:r>
              <a:rPr lang="zh-CN" altLang="en-US"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a:p>
            <a:endParaRPr lang="zh-CN" altLang="en-US" dirty="0"/>
          </a:p>
        </p:txBody>
      </p:sp>
      <p:sp>
        <p:nvSpPr>
          <p:cNvPr id="5" name="灯片编号占位符 5">
            <a:extLst>
              <a:ext uri="{FF2B5EF4-FFF2-40B4-BE49-F238E27FC236}">
                <a16:creationId xmlns:a16="http://schemas.microsoft.com/office/drawing/2014/main" id="{2E1CEC18-6710-4AF0-A827-6F6B26093AD2}"/>
              </a:ext>
            </a:extLst>
          </p:cNvPr>
          <p:cNvSpPr>
            <a:spLocks noGrp="1"/>
          </p:cNvSpPr>
          <p:nvPr>
            <p:ph type="sldNum" sz="quarter" idx="10"/>
          </p:nvPr>
        </p:nvSpPr>
        <p:spPr/>
        <p:txBody>
          <a:bodyPr/>
          <a:lstStyle/>
          <a:p>
            <a:fld id="{EB75638D-4362-4C3A-A2F1-E89C9FCE3F28}" type="slidenum">
              <a:rPr lang="en-US" altLang="zh-CN"/>
              <a:pPr/>
              <a:t>2</a:t>
            </a:fld>
            <a:endParaRPr lang="en-US" altLang="zh-CN"/>
          </a:p>
        </p:txBody>
      </p:sp>
      <mc:AlternateContent xmlns:mc="http://schemas.openxmlformats.org/markup-compatibility/2006" xmlns:a14="http://schemas.microsoft.com/office/drawing/2010/main">
        <mc:Choice Requires="a14">
          <p:sp>
            <p:nvSpPr>
              <p:cNvPr id="2" name="矩形 1"/>
              <p:cNvSpPr/>
              <p:nvPr/>
            </p:nvSpPr>
            <p:spPr>
              <a:xfrm>
                <a:off x="5800666" y="4202139"/>
                <a:ext cx="3240360" cy="1663404"/>
              </a:xfrm>
              <a:prstGeom prst="rect">
                <a:avLst/>
              </a:prstGeom>
            </p:spPr>
            <p:txBody>
              <a:bodyPr wrap="square">
                <a:spAutoFit/>
              </a:bodyPr>
              <a:lstStyle/>
              <a:p>
                <a:pPr>
                  <a:buNone/>
                </a:pPr>
                <a14:m>
                  <m:oMathPara xmlns:m="http://schemas.openxmlformats.org/officeDocument/2006/math">
                    <m:oMathParaPr>
                      <m:jc m:val="left"/>
                    </m:oMathParaPr>
                    <m:oMath xmlns:m="http://schemas.openxmlformats.org/officeDocument/2006/math">
                      <m:m>
                        <m:mPr>
                          <m:mcs>
                            <m:mc>
                              <m:mcPr>
                                <m:count m:val="1"/>
                                <m:mcJc m:val="center"/>
                              </m:mcPr>
                            </m:mc>
                          </m:mcs>
                          <m:ctrlPr>
                            <a:rPr lang="zh-CN" altLang="en-US" sz="1800" b="0" i="1" smtClean="0">
                              <a:latin typeface="Cambria Math" panose="02040503050406030204" pitchFamily="18" charset="0"/>
                            </a:rPr>
                          </m:ctrlPr>
                        </m:mPr>
                        <m:mr>
                          <m:e>
                            <m:d>
                              <m:dPr>
                                <m:begChr m:val="（"/>
                                <m:endChr m:val="）"/>
                                <m:ctrlPr>
                                  <a:rPr lang="zh-CN" altLang="en-US" sz="1800" b="0" i="1" smtClean="0">
                                    <a:latin typeface="Cambria Math" panose="02040503050406030204" pitchFamily="18" charset="0"/>
                                  </a:rPr>
                                </m:ctrlPr>
                              </m:dPr>
                              <m:e>
                                <m:r>
                                  <m:rPr>
                                    <m:brk m:alnAt="7"/>
                                  </m:rPr>
                                  <a:rPr lang="en-US" altLang="zh-CN" sz="1800" b="0" i="1" smtClean="0">
                                    <a:latin typeface="Cambria Math" panose="02040503050406030204" pitchFamily="18" charset="0"/>
                                  </a:rPr>
                                  <m:t>1</m:t>
                                </m:r>
                              </m:e>
                            </m:d>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a:latin typeface="Cambria Math" panose="02040503050406030204" pitchFamily="18" charset="0"/>
                                  </a:rPr>
                                  <m:t>1</m:t>
                                </m:r>
                              </m:sub>
                            </m:sSub>
                            <m:r>
                              <a:rPr lang="zh-CN" altLang="en-US" sz="1800" b="0">
                                <a:latin typeface="Cambria Math" panose="02040503050406030204" pitchFamily="18" charset="0"/>
                              </a:rPr>
                              <m:t>−</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a:latin typeface="Cambria Math" panose="02040503050406030204" pitchFamily="18" charset="0"/>
                                  </a:rPr>
                                  <m:t>2</m:t>
                                </m:r>
                              </m:sub>
                            </m:sSub>
                            <m:r>
                              <a:rPr lang="zh-CN" altLang="en-US" sz="1800" b="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a:latin typeface="Cambria Math" panose="02040503050406030204" pitchFamily="18" charset="0"/>
                                  </a:rPr>
                                  <m:t>1</m:t>
                                </m:r>
                              </m:sub>
                              <m:sup>
                                <m:r>
                                  <a:rPr lang="zh-CN" altLang="en-US" sz="1800" b="0">
                                    <a:latin typeface="Cambria Math" panose="02040503050406030204" pitchFamily="18" charset="0"/>
                                  </a:rPr>
                                  <m:t>−</m:t>
                                </m:r>
                              </m:sup>
                            </m:sSubSup>
                            <m:r>
                              <a:rPr lang="zh-CN" altLang="en-US" sz="1800" b="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a:latin typeface="Cambria Math" panose="02040503050406030204" pitchFamily="18" charset="0"/>
                                  </a:rPr>
                                  <m:t>1</m:t>
                                </m:r>
                              </m:sub>
                              <m:sup>
                                <m:r>
                                  <a:rPr lang="zh-CN" altLang="en-US" sz="1800" b="0">
                                    <a:latin typeface="Cambria Math" panose="02040503050406030204" pitchFamily="18" charset="0"/>
                                  </a:rPr>
                                  <m:t>+</m:t>
                                </m:r>
                              </m:sup>
                            </m:sSubSup>
                            <m:r>
                              <a:rPr lang="zh-CN" altLang="en-US" sz="1800" b="0">
                                <a:latin typeface="Cambria Math" panose="02040503050406030204" pitchFamily="18" charset="0"/>
                              </a:rPr>
                              <m:t>=0</m:t>
                            </m:r>
                            <m:r>
                              <a:rPr lang="en-US" altLang="zh-CN" sz="1800" b="0" i="0" smtClean="0">
                                <a:latin typeface="Cambria Math" panose="02040503050406030204" pitchFamily="18" charset="0"/>
                              </a:rPr>
                              <m:t>                </m:t>
                            </m:r>
                          </m:e>
                        </m:mr>
                        <m:mr>
                          <m:e>
                            <m:d>
                              <m:dPr>
                                <m:begChr m:val="（"/>
                                <m:endChr m:val="）"/>
                                <m:ctrlPr>
                                  <a:rPr lang="zh-CN" altLang="en-US" sz="1800" b="0" i="1" smtClean="0">
                                    <a:latin typeface="Cambria Math" panose="02040503050406030204" pitchFamily="18" charset="0"/>
                                  </a:rPr>
                                </m:ctrlPr>
                              </m:dPr>
                              <m:e>
                                <m:r>
                                  <a:rPr lang="en-US" altLang="zh-CN" sz="1800" b="0" i="1" smtClean="0">
                                    <a:latin typeface="Cambria Math" panose="02040503050406030204" pitchFamily="18" charset="0"/>
                                  </a:rPr>
                                  <m:t>2</m:t>
                                </m:r>
                              </m:e>
                            </m:d>
                            <m:r>
                              <a:rPr lang="zh-CN" altLang="en-US" sz="1800" b="0" i="1">
                                <a:latin typeface="Cambria Math" panose="02040503050406030204" pitchFamily="18" charset="0"/>
                              </a:rPr>
                              <m:t>2</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a:latin typeface="Cambria Math" panose="02040503050406030204" pitchFamily="18" charset="0"/>
                                  </a:rPr>
                                  <m:t>1</m:t>
                                </m:r>
                              </m:sub>
                            </m:sSub>
                            <m:r>
                              <a:rPr lang="zh-CN" altLang="en-US" sz="1800" b="0">
                                <a:latin typeface="Cambria Math" panose="02040503050406030204" pitchFamily="18" charset="0"/>
                              </a:rPr>
                              <m:t>+</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a:latin typeface="Cambria Math" panose="02040503050406030204" pitchFamily="18" charset="0"/>
                                  </a:rPr>
                                  <m:t>2</m:t>
                                </m:r>
                              </m:sub>
                            </m:sSub>
                            <m:r>
                              <a:rPr lang="zh-CN" altLang="en-US" sz="1800" b="0">
                                <a:latin typeface="Cambria Math" panose="02040503050406030204" pitchFamily="18" charset="0"/>
                              </a:rPr>
                              <m:t>≤11</m:t>
                            </m:r>
                            <m:r>
                              <a:rPr lang="en-US" altLang="zh-CN" sz="1800" b="0" i="1" smtClean="0">
                                <a:latin typeface="Cambria Math" panose="02040503050406030204" pitchFamily="18" charset="0"/>
                              </a:rPr>
                              <m:t>                                </m:t>
                            </m:r>
                          </m:e>
                        </m:mr>
                        <m:mr>
                          <m:e>
                            <m:d>
                              <m:dPr>
                                <m:begChr m:val="（"/>
                                <m:endChr m:val="）"/>
                                <m:ctrlPr>
                                  <a:rPr lang="zh-CN" altLang="en-US" sz="1800" b="0" i="1" smtClean="0">
                                    <a:latin typeface="Cambria Math" panose="02040503050406030204" pitchFamily="18" charset="0"/>
                                  </a:rPr>
                                </m:ctrlPr>
                              </m:dPr>
                              <m:e>
                                <m:r>
                                  <a:rPr lang="en-US" altLang="zh-CN" sz="1800" b="0" i="1" smtClean="0">
                                    <a:latin typeface="Cambria Math" panose="02040503050406030204" pitchFamily="18" charset="0"/>
                                  </a:rPr>
                                  <m:t>3</m:t>
                                </m:r>
                              </m:e>
                            </m:d>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0">
                                    <a:latin typeface="Cambria Math" panose="02040503050406030204" pitchFamily="18" charset="0"/>
                                  </a:rPr>
                                  <m:t>1</m:t>
                                </m:r>
                              </m:sub>
                            </m:sSub>
                            <m:r>
                              <a:rPr lang="zh-CN" altLang="en-US" sz="1800" b="0" i="0">
                                <a:latin typeface="Cambria Math" panose="02040503050406030204" pitchFamily="18" charset="0"/>
                              </a:rPr>
                              <m:t>+2</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0">
                                    <a:latin typeface="Cambria Math" panose="02040503050406030204" pitchFamily="18" charset="0"/>
                                  </a:rPr>
                                  <m:t>2</m:t>
                                </m:r>
                              </m:sub>
                            </m:sSub>
                            <m:r>
                              <a:rPr lang="zh-CN" altLang="en-US" sz="1800" b="0" i="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i="0">
                                    <a:latin typeface="Cambria Math" panose="02040503050406030204" pitchFamily="18" charset="0"/>
                                  </a:rPr>
                                  <m:t>2</m:t>
                                </m:r>
                              </m:sub>
                              <m:sup>
                                <m:r>
                                  <a:rPr lang="zh-CN" altLang="en-US" sz="1800" b="0" i="0">
                                    <a:latin typeface="Cambria Math" panose="02040503050406030204" pitchFamily="18" charset="0"/>
                                  </a:rPr>
                                  <m:t>−</m:t>
                                </m:r>
                              </m:sup>
                            </m:sSubSup>
                            <m:r>
                              <a:rPr lang="zh-CN" altLang="en-US" sz="1800" b="0" i="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i="0">
                                    <a:latin typeface="Cambria Math" panose="02040503050406030204" pitchFamily="18" charset="0"/>
                                  </a:rPr>
                                  <m:t>2</m:t>
                                </m:r>
                              </m:sub>
                              <m:sup>
                                <m:r>
                                  <a:rPr lang="zh-CN" altLang="en-US" sz="1800" b="0" i="0">
                                    <a:latin typeface="Cambria Math" panose="02040503050406030204" pitchFamily="18" charset="0"/>
                                  </a:rPr>
                                  <m:t>+</m:t>
                                </m:r>
                              </m:sup>
                            </m:sSubSup>
                            <m:r>
                              <a:rPr lang="zh-CN" altLang="en-US" sz="1800" b="0" i="0">
                                <a:latin typeface="Cambria Math" panose="02040503050406030204" pitchFamily="18" charset="0"/>
                              </a:rPr>
                              <m:t>=10</m:t>
                            </m:r>
                            <m:r>
                              <a:rPr lang="en-US" altLang="zh-CN" sz="1800" b="0" i="0" smtClean="0">
                                <a:latin typeface="Cambria Math" panose="02040503050406030204" pitchFamily="18" charset="0"/>
                              </a:rPr>
                              <m:t>          </m:t>
                            </m:r>
                          </m:e>
                        </m:mr>
                        <m:mr>
                          <m:e>
                            <m:d>
                              <m:dPr>
                                <m:begChr m:val="（"/>
                                <m:endChr m:val="）"/>
                                <m:ctrlPr>
                                  <a:rPr lang="zh-CN" altLang="en-US" sz="1800" b="0" i="1" smtClean="0">
                                    <a:latin typeface="Cambria Math" panose="02040503050406030204" pitchFamily="18" charset="0"/>
                                  </a:rPr>
                                </m:ctrlPr>
                              </m:dPr>
                              <m:e>
                                <m:r>
                                  <a:rPr lang="en-US" altLang="zh-CN" sz="1800" b="0" i="1" smtClean="0">
                                    <a:latin typeface="Cambria Math" panose="02040503050406030204" pitchFamily="18" charset="0"/>
                                  </a:rPr>
                                  <m:t>4</m:t>
                                </m:r>
                              </m:e>
                            </m:d>
                            <m:r>
                              <a:rPr lang="zh-CN" altLang="en-US" sz="1800" b="0" i="0">
                                <a:latin typeface="Cambria Math" panose="02040503050406030204" pitchFamily="18" charset="0"/>
                              </a:rPr>
                              <m:t>8</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0">
                                    <a:latin typeface="Cambria Math" panose="02040503050406030204" pitchFamily="18" charset="0"/>
                                  </a:rPr>
                                  <m:t>1</m:t>
                                </m:r>
                              </m:sub>
                            </m:sSub>
                            <m:r>
                              <a:rPr lang="zh-CN" altLang="en-US" sz="1800" b="0" i="0">
                                <a:latin typeface="Cambria Math" panose="02040503050406030204" pitchFamily="18" charset="0"/>
                              </a:rPr>
                              <m:t>+10</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0">
                                    <a:latin typeface="Cambria Math" panose="02040503050406030204" pitchFamily="18" charset="0"/>
                                  </a:rPr>
                                  <m:t>2</m:t>
                                </m:r>
                              </m:sub>
                            </m:sSub>
                            <m:r>
                              <a:rPr lang="zh-CN" altLang="en-US" sz="1800" b="0" i="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i="0">
                                    <a:latin typeface="Cambria Math" panose="02040503050406030204" pitchFamily="18" charset="0"/>
                                  </a:rPr>
                                  <m:t>3</m:t>
                                </m:r>
                              </m:sub>
                              <m:sup>
                                <m:r>
                                  <a:rPr lang="zh-CN" altLang="en-US" sz="1800" b="0" i="0">
                                    <a:latin typeface="Cambria Math" panose="02040503050406030204" pitchFamily="18" charset="0"/>
                                  </a:rPr>
                                  <m:t>−</m:t>
                                </m:r>
                              </m:sup>
                            </m:sSubSup>
                            <m:r>
                              <a:rPr lang="zh-CN" altLang="en-US" sz="1800" b="0" i="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i="0">
                                    <a:latin typeface="Cambria Math" panose="02040503050406030204" pitchFamily="18" charset="0"/>
                                  </a:rPr>
                                  <m:t>3</m:t>
                                </m:r>
                              </m:sub>
                              <m:sup>
                                <m:r>
                                  <a:rPr lang="zh-CN" altLang="en-US" sz="1800" b="0" i="0">
                                    <a:latin typeface="Cambria Math" panose="02040503050406030204" pitchFamily="18" charset="0"/>
                                  </a:rPr>
                                  <m:t>+</m:t>
                                </m:r>
                              </m:sup>
                            </m:sSubSup>
                            <m:r>
                              <a:rPr lang="zh-CN" altLang="en-US" sz="1800" b="0" i="0">
                                <a:latin typeface="Cambria Math" panose="02040503050406030204" pitchFamily="18" charset="0"/>
                              </a:rPr>
                              <m:t>=56</m:t>
                            </m:r>
                            <m:r>
                              <a:rPr lang="en-US" altLang="zh-CN" sz="1800" b="0" i="0" smtClean="0">
                                <a:latin typeface="Cambria Math" panose="02040503050406030204" pitchFamily="18" charset="0"/>
                              </a:rPr>
                              <m:t>  </m:t>
                            </m:r>
                            <m:r>
                              <a:rPr lang="en-US" altLang="zh-CN" sz="1800" b="0" i="1" smtClean="0">
                                <a:latin typeface="Cambria Math" panose="02040503050406030204" pitchFamily="18" charset="0"/>
                              </a:rPr>
                              <m:t>   </m:t>
                            </m:r>
                          </m:e>
                        </m:mr>
                        <m:mr>
                          <m:e>
                            <m:d>
                              <m:dPr>
                                <m:begChr m:val="（"/>
                                <m:endChr m:val="）"/>
                                <m:ctrlPr>
                                  <a:rPr lang="zh-CN" altLang="en-US" sz="1800" b="0" i="1" smtClean="0">
                                    <a:latin typeface="Cambria Math" panose="02040503050406030204" pitchFamily="18" charset="0"/>
                                  </a:rPr>
                                </m:ctrlPr>
                              </m:dPr>
                              <m:e>
                                <m:r>
                                  <a:rPr lang="en-US" altLang="zh-CN" sz="1800" b="0" i="1" smtClean="0">
                                    <a:latin typeface="Cambria Math" panose="02040503050406030204" pitchFamily="18" charset="0"/>
                                  </a:rPr>
                                  <m:t>5</m:t>
                                </m:r>
                              </m:e>
                            </m:d>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0">
                                    <a:latin typeface="Cambria Math" panose="02040503050406030204" pitchFamily="18" charset="0"/>
                                  </a:rPr>
                                  <m:t>1</m:t>
                                </m:r>
                              </m:sub>
                            </m:sSub>
                            <m:r>
                              <a:rPr lang="zh-CN" altLang="en-US" sz="1800" b="0" i="0">
                                <a:latin typeface="Cambria Math" panose="02040503050406030204" pitchFamily="18" charset="0"/>
                              </a:rPr>
                              <m:t>,</m:t>
                            </m:r>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0">
                                    <a:latin typeface="Cambria Math" panose="02040503050406030204" pitchFamily="18" charset="0"/>
                                  </a:rPr>
                                  <m:t>2</m:t>
                                </m:r>
                              </m:sub>
                            </m:sSub>
                            <m:r>
                              <a:rPr lang="zh-CN" altLang="en-US" sz="1800" b="0" i="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i="1">
                                    <a:latin typeface="Cambria Math" panose="02040503050406030204" pitchFamily="18" charset="0"/>
                                  </a:rPr>
                                  <m:t>𝑖</m:t>
                                </m:r>
                              </m:sub>
                              <m:sup>
                                <m:r>
                                  <a:rPr lang="zh-CN" altLang="en-US" sz="1800" b="0" i="0">
                                    <a:latin typeface="Cambria Math" panose="02040503050406030204" pitchFamily="18" charset="0"/>
                                  </a:rPr>
                                  <m:t>−</m:t>
                                </m:r>
                              </m:sup>
                            </m:sSubSup>
                            <m:r>
                              <a:rPr lang="zh-CN" altLang="en-US" sz="1800" b="0" i="0">
                                <a:latin typeface="Cambria Math" panose="02040503050406030204" pitchFamily="18" charset="0"/>
                              </a:rPr>
                              <m:t>,</m:t>
                            </m:r>
                            <m:sSubSup>
                              <m:sSubSupPr>
                                <m:ctrlPr>
                                  <a:rPr lang="zh-CN" altLang="en-US" sz="1800" b="0" i="1">
                                    <a:latin typeface="Cambria Math" panose="02040503050406030204" pitchFamily="18" charset="0"/>
                                  </a:rPr>
                                </m:ctrlPr>
                              </m:sSubSupPr>
                              <m:e>
                                <m:r>
                                  <a:rPr lang="zh-CN" altLang="en-US" sz="1800" b="0" i="1">
                                    <a:latin typeface="Cambria Math" panose="02040503050406030204" pitchFamily="18" charset="0"/>
                                  </a:rPr>
                                  <m:t>𝑑</m:t>
                                </m:r>
                              </m:e>
                              <m:sub>
                                <m:r>
                                  <a:rPr lang="zh-CN" altLang="en-US" sz="1800" b="0" i="1">
                                    <a:latin typeface="Cambria Math" panose="02040503050406030204" pitchFamily="18" charset="0"/>
                                  </a:rPr>
                                  <m:t>𝑖</m:t>
                                </m:r>
                              </m:sub>
                              <m:sup>
                                <m:r>
                                  <a:rPr lang="zh-CN" altLang="en-US" sz="1800" b="0" i="0">
                                    <a:latin typeface="Cambria Math" panose="02040503050406030204" pitchFamily="18" charset="0"/>
                                  </a:rPr>
                                  <m:t>+</m:t>
                                </m:r>
                              </m:sup>
                            </m:sSubSup>
                            <m:r>
                              <a:rPr lang="zh-CN" altLang="en-US" sz="1800" b="0" i="0">
                                <a:latin typeface="Cambria Math" panose="02040503050406030204" pitchFamily="18" charset="0"/>
                              </a:rPr>
                              <m:t>≥0,</m:t>
                            </m:r>
                            <m:r>
                              <m:rPr>
                                <m:nor/>
                              </m:rPr>
                              <a:rPr lang="zh-CN" altLang="en-US" sz="1800" b="0" i="1">
                                <a:latin typeface="Cambria Math" panose="02040503050406030204" pitchFamily="18" charset="0"/>
                              </a:rPr>
                              <m:t> </m:t>
                            </m:r>
                            <m:r>
                              <a:rPr lang="zh-CN" altLang="en-US" sz="1800" b="0" i="1">
                                <a:latin typeface="Cambria Math" panose="02040503050406030204" pitchFamily="18" charset="0"/>
                              </a:rPr>
                              <m:t>𝑖</m:t>
                            </m:r>
                            <m:r>
                              <a:rPr lang="zh-CN" altLang="en-US" sz="1800" b="0" i="0">
                                <a:latin typeface="Cambria Math" panose="02040503050406030204" pitchFamily="18" charset="0"/>
                              </a:rPr>
                              <m:t>=1,2,3</m:t>
                            </m:r>
                            <m:r>
                              <a:rPr lang="en-US" altLang="zh-CN" sz="1800" b="0" i="0" smtClean="0">
                                <a:latin typeface="Cambria Math" panose="02040503050406030204" pitchFamily="18" charset="0"/>
                              </a:rPr>
                              <m:t>   </m:t>
                            </m:r>
                          </m:e>
                        </m:mr>
                      </m:m>
                    </m:oMath>
                  </m:oMathPara>
                </a14:m>
                <a:endParaRPr lang="zh-CN" altLang="en-US" sz="1800" b="0" dirty="0"/>
              </a:p>
            </p:txBody>
          </p:sp>
        </mc:Choice>
        <mc:Fallback xmlns="">
          <p:sp>
            <p:nvSpPr>
              <p:cNvPr id="2" name="矩形 1"/>
              <p:cNvSpPr>
                <a:spLocks noRot="1" noChangeAspect="1" noMove="1" noResize="1" noEditPoints="1" noAdjustHandles="1" noChangeArrowheads="1" noChangeShapeType="1" noTextEdit="1"/>
              </p:cNvSpPr>
              <p:nvPr/>
            </p:nvSpPr>
            <p:spPr>
              <a:xfrm>
                <a:off x="5800666" y="4202139"/>
                <a:ext cx="3240360" cy="1663404"/>
              </a:xfrm>
              <a:prstGeom prst="rect">
                <a:avLst/>
              </a:prstGeom>
              <a:blipFill>
                <a:blip r:embed="rId4"/>
                <a:stretch>
                  <a:fillRect r="-753"/>
                </a:stretch>
              </a:blipFill>
            </p:spPr>
            <p:txBody>
              <a:bodyPr/>
              <a:lstStyle/>
              <a:p>
                <a:r>
                  <a:rPr lang="zh-CN" altLang="en-US">
                    <a:noFill/>
                  </a:rPr>
                  <a:t> </a:t>
                </a:r>
              </a:p>
            </p:txBody>
          </p:sp>
        </mc:Fallback>
      </mc:AlternateContent>
      <p:graphicFrame>
        <p:nvGraphicFramePr>
          <p:cNvPr id="6" name="Object 5">
            <a:extLst>
              <a:ext uri="{FF2B5EF4-FFF2-40B4-BE49-F238E27FC236}">
                <a16:creationId xmlns:a16="http://schemas.microsoft.com/office/drawing/2014/main" id="{D6544CA5-7730-4A04-AAAF-51DC20B03CBC}"/>
              </a:ext>
            </a:extLst>
          </p:cNvPr>
          <p:cNvGraphicFramePr>
            <a:graphicFrameLocks noChangeAspect="1"/>
          </p:cNvGraphicFramePr>
          <p:nvPr>
            <p:extLst>
              <p:ext uri="{D42A27DB-BD31-4B8C-83A1-F6EECF244321}">
                <p14:modId xmlns:p14="http://schemas.microsoft.com/office/powerpoint/2010/main" val="1181868363"/>
              </p:ext>
            </p:extLst>
          </p:nvPr>
        </p:nvGraphicFramePr>
        <p:xfrm>
          <a:off x="784225" y="4130675"/>
          <a:ext cx="2039938" cy="1746250"/>
        </p:xfrm>
        <a:graphic>
          <a:graphicData uri="http://schemas.openxmlformats.org/presentationml/2006/ole">
            <mc:AlternateContent xmlns:mc="http://schemas.openxmlformats.org/markup-compatibility/2006">
              <mc:Choice xmlns:v="urn:schemas-microsoft-com:vml" Requires="v">
                <p:oleObj spid="_x0000_s757785" name="Equation" r:id="rId5" imgW="1333440" imgH="1143000" progId="Equation.DSMT4">
                  <p:embed/>
                </p:oleObj>
              </mc:Choice>
              <mc:Fallback>
                <p:oleObj name="Equation" r:id="rId5" imgW="1333440" imgH="1143000" progId="Equation.DSMT4">
                  <p:embed/>
                  <p:pic>
                    <p:nvPicPr>
                      <p:cNvPr id="13" name="Object 5">
                        <a:extLst>
                          <a:ext uri="{FF2B5EF4-FFF2-40B4-BE49-F238E27FC236}">
                            <a16:creationId xmlns:a16="http://schemas.microsoft.com/office/drawing/2014/main" id="{D6544CA5-7730-4A04-AAAF-51DC20B03CBC}"/>
                          </a:ext>
                        </a:extLst>
                      </p:cNvPr>
                      <p:cNvPicPr>
                        <a:picLocks noChangeAspect="1" noChangeArrowheads="1"/>
                      </p:cNvPicPr>
                      <p:nvPr/>
                    </p:nvPicPr>
                    <p:blipFill>
                      <a:blip r:embed="rId6"/>
                      <a:srcRect/>
                      <a:stretch>
                        <a:fillRect/>
                      </a:stretch>
                    </p:blipFill>
                    <p:spPr bwMode="auto">
                      <a:xfrm>
                        <a:off x="784225" y="4130675"/>
                        <a:ext cx="2039938" cy="1746250"/>
                      </a:xfrm>
                      <a:prstGeom prst="rect">
                        <a:avLst/>
                      </a:prstGeom>
                      <a:noFill/>
                      <a:ln>
                        <a:noFill/>
                      </a:ln>
                      <a:effectLst/>
                      <a:extLst/>
                    </p:spPr>
                  </p:pic>
                </p:oleObj>
              </mc:Fallback>
            </mc:AlternateContent>
          </a:graphicData>
        </a:graphic>
      </p:graphicFrame>
      <p:sp>
        <p:nvSpPr>
          <p:cNvPr id="4" name="矩形 3"/>
          <p:cNvSpPr/>
          <p:nvPr/>
        </p:nvSpPr>
        <p:spPr>
          <a:xfrm>
            <a:off x="2627784" y="4264327"/>
            <a:ext cx="3018138" cy="1224951"/>
          </a:xfrm>
          <a:prstGeom prst="rect">
            <a:avLst/>
          </a:prstGeom>
        </p:spPr>
        <p:txBody>
          <a:bodyPr wrap="square">
            <a:spAutoFit/>
          </a:bodyPr>
          <a:lstStyle/>
          <a:p>
            <a:pPr lvl="1"/>
            <a:r>
              <a:rPr lang="en-US" altLang="zh-CN" sz="1600" dirty="0"/>
              <a:t>(1</a:t>
            </a:r>
            <a:r>
              <a:rPr lang="en-US" altLang="zh-CN" sz="1600" dirty="0" smtClean="0"/>
              <a:t>)</a:t>
            </a:r>
            <a:r>
              <a:rPr lang="zh-CN" altLang="en-US" sz="1600" dirty="0" smtClean="0"/>
              <a:t> 不</a:t>
            </a:r>
            <a:r>
              <a:rPr lang="zh-CN" altLang="en-US" sz="1600" dirty="0"/>
              <a:t>应</a:t>
            </a:r>
            <a:r>
              <a:rPr lang="zh-CN" altLang="en-US" sz="1600" dirty="0" smtClean="0"/>
              <a:t>大于</a:t>
            </a:r>
            <a:endParaRPr lang="zh-CN" altLang="en-US" sz="1600" dirty="0"/>
          </a:p>
          <a:p>
            <a:pPr lvl="1"/>
            <a:r>
              <a:rPr lang="en-US" altLang="zh-CN" sz="1600" dirty="0"/>
              <a:t>(2</a:t>
            </a:r>
            <a:r>
              <a:rPr lang="en-US" altLang="zh-CN" sz="1600" dirty="0" smtClean="0"/>
              <a:t>)</a:t>
            </a:r>
            <a:r>
              <a:rPr lang="zh-CN" altLang="en-US" sz="1600" dirty="0" smtClean="0"/>
              <a:t> 成本</a:t>
            </a:r>
            <a:r>
              <a:rPr lang="zh-CN" altLang="en-US" sz="1600" dirty="0"/>
              <a:t>大幅度</a:t>
            </a:r>
            <a:r>
              <a:rPr lang="zh-CN" altLang="en-US" sz="1600" dirty="0" smtClean="0"/>
              <a:t>增加</a:t>
            </a:r>
            <a:endParaRPr lang="zh-CN" altLang="en-US" sz="1600" dirty="0"/>
          </a:p>
          <a:p>
            <a:pPr lvl="1"/>
            <a:r>
              <a:rPr lang="en-US" altLang="zh-CN" sz="1600" dirty="0"/>
              <a:t>(3)</a:t>
            </a:r>
            <a:r>
              <a:rPr lang="zh-CN" altLang="en-US" sz="1600" dirty="0"/>
              <a:t>应</a:t>
            </a:r>
            <a:r>
              <a:rPr lang="zh-CN" altLang="en-US" sz="1600" dirty="0" smtClean="0"/>
              <a:t>尽可能，但不</a:t>
            </a:r>
            <a:endParaRPr lang="zh-CN" altLang="en-US" sz="1600" dirty="0"/>
          </a:p>
          <a:p>
            <a:pPr lvl="1"/>
            <a:r>
              <a:rPr lang="en-US" altLang="zh-CN" sz="1600" dirty="0"/>
              <a:t>(4)</a:t>
            </a:r>
            <a:r>
              <a:rPr lang="zh-CN" altLang="en-US" sz="1600" dirty="0"/>
              <a:t>应尽可能达到并</a:t>
            </a:r>
            <a:r>
              <a:rPr lang="zh-CN" altLang="en-US" sz="1600" dirty="0" smtClean="0"/>
              <a:t>超过</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a:extLst>
              <a:ext uri="{FF2B5EF4-FFF2-40B4-BE49-F238E27FC236}">
                <a16:creationId xmlns:a16="http://schemas.microsoft.com/office/drawing/2014/main" id="{3F25AF84-95E8-49E7-804C-4AF7BB678463}"/>
              </a:ext>
            </a:extLst>
          </p:cNvPr>
          <p:cNvSpPr>
            <a:spLocks noGrp="1" noChangeArrowheads="1"/>
          </p:cNvSpPr>
          <p:nvPr>
            <p:ph type="title"/>
          </p:nvPr>
        </p:nvSpPr>
        <p:spPr/>
        <p:txBody>
          <a:bodyPr/>
          <a:lstStyle/>
          <a:p>
            <a:r>
              <a:rPr lang="en-US" altLang="zh-CN" dirty="0" smtClean="0"/>
              <a:t>5.1 </a:t>
            </a:r>
            <a:r>
              <a:rPr lang="zh-CN" altLang="en-US" dirty="0" smtClean="0"/>
              <a:t>目标规划</a:t>
            </a:r>
            <a:r>
              <a:rPr lang="zh-CN" altLang="en-US" dirty="0"/>
              <a:t>的数学模型</a:t>
            </a:r>
          </a:p>
        </p:txBody>
      </p:sp>
      <p:sp>
        <p:nvSpPr>
          <p:cNvPr id="3" name="内容占位符 2"/>
          <p:cNvSpPr>
            <a:spLocks noGrp="1"/>
          </p:cNvSpPr>
          <p:nvPr>
            <p:ph idx="1"/>
          </p:nvPr>
        </p:nvSpPr>
        <p:spPr>
          <a:xfrm>
            <a:off x="611560" y="1412776"/>
            <a:ext cx="8352928" cy="4114800"/>
          </a:xfrm>
        </p:spPr>
        <p:txBody>
          <a:bodyPr/>
          <a:lstStyle/>
          <a:p>
            <a:pPr>
              <a:lnSpc>
                <a:spcPct val="120000"/>
              </a:lnSpc>
            </a:pPr>
            <a:r>
              <a:rPr lang="zh-CN" altLang="en-US" dirty="0">
                <a:latin typeface="Times New Roman" panose="02020603050405020304" pitchFamily="18" charset="0"/>
                <a:cs typeface="Times New Roman" panose="02020603050405020304" pitchFamily="18" charset="0"/>
              </a:rPr>
              <a:t>相关概念</a:t>
            </a:r>
            <a:endParaRPr lang="en-US" altLang="zh-CN" dirty="0">
              <a:latin typeface="Times New Roman" panose="02020603050405020304" pitchFamily="18" charset="0"/>
              <a:cs typeface="Times New Roman" panose="02020603050405020304" pitchFamily="18" charset="0"/>
            </a:endParaRPr>
          </a:p>
          <a:p>
            <a:pPr lvl="1">
              <a:lnSpc>
                <a:spcPct val="120000"/>
              </a:lnSpc>
            </a:pPr>
            <a:r>
              <a:rPr lang="en-US" altLang="zh-CN" sz="2000" dirty="0" smtClean="0">
                <a:solidFill>
                  <a:srgbClr val="FF0000"/>
                </a:solidFill>
                <a:latin typeface="Times New Roman" panose="02020603050405020304" pitchFamily="18" charset="0"/>
                <a:cs typeface="Times New Roman" panose="02020603050405020304" pitchFamily="18" charset="0"/>
              </a:rPr>
              <a:t>3</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优先因子</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优先等级</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与权系数</a:t>
            </a:r>
          </a:p>
          <a:p>
            <a:pPr lvl="2">
              <a:lnSpc>
                <a:spcPct val="120000"/>
              </a:lnSpc>
            </a:pPr>
            <a:r>
              <a:rPr lang="zh-CN" altLang="en-US" dirty="0">
                <a:latin typeface="Times New Roman" panose="02020603050405020304" pitchFamily="18" charset="0"/>
                <a:cs typeface="Times New Roman" panose="02020603050405020304" pitchFamily="18" charset="0"/>
              </a:rPr>
              <a:t>优先</a:t>
            </a:r>
            <a:r>
              <a:rPr lang="zh-CN" altLang="en-US" dirty="0" smtClean="0">
                <a:latin typeface="Times New Roman" panose="02020603050405020304" pitchFamily="18" charset="0"/>
                <a:cs typeface="Times New Roman" panose="02020603050405020304" pitchFamily="18" charset="0"/>
              </a:rPr>
              <a:t>因子：要求</a:t>
            </a:r>
            <a:r>
              <a:rPr lang="zh-CN" altLang="en-US" dirty="0">
                <a:latin typeface="Times New Roman" panose="02020603050405020304" pitchFamily="18" charset="0"/>
                <a:cs typeface="Times New Roman" panose="02020603050405020304" pitchFamily="18" charset="0"/>
              </a:rPr>
              <a:t>第一位达到的目标赋予优先因子</a:t>
            </a:r>
            <a:r>
              <a:rPr lang="en-US" altLang="zh-CN" i="1" dirty="0">
                <a:latin typeface="Times New Roman" panose="02020603050405020304" pitchFamily="18" charset="0"/>
                <a:cs typeface="Times New Roman" panose="02020603050405020304" pitchFamily="18" charset="0"/>
              </a:rPr>
              <a:t>P</a:t>
            </a:r>
            <a:r>
              <a:rPr lang="en-US" altLang="zh-CN" baseline="-30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，次位的目标赋予优先因子</a:t>
            </a:r>
            <a:r>
              <a:rPr lang="en-US" altLang="zh-CN" i="1" dirty="0">
                <a:latin typeface="Times New Roman" panose="02020603050405020304" pitchFamily="18" charset="0"/>
                <a:cs typeface="Times New Roman" panose="02020603050405020304" pitchFamily="18" charset="0"/>
              </a:rPr>
              <a:t>P</a:t>
            </a:r>
            <a:r>
              <a:rPr lang="en-US" altLang="zh-CN" baseline="-30000" dirty="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，以此类推。</a:t>
            </a:r>
            <a:endParaRPr lang="en-US" altLang="zh-CN" dirty="0" smtClean="0">
              <a:latin typeface="Times New Roman" panose="02020603050405020304" pitchFamily="18" charset="0"/>
              <a:cs typeface="Times New Roman" panose="02020603050405020304" pitchFamily="18" charset="0"/>
            </a:endParaRPr>
          </a:p>
          <a:p>
            <a:pPr lvl="2">
              <a:lnSpc>
                <a:spcPct val="120000"/>
              </a:lnSpc>
            </a:pPr>
            <a:r>
              <a:rPr lang="zh-CN" altLang="en-US" dirty="0" smtClean="0">
                <a:latin typeface="Times New Roman" panose="02020603050405020304" pitchFamily="18" charset="0"/>
                <a:cs typeface="Times New Roman" panose="02020603050405020304" pitchFamily="18" charset="0"/>
              </a:rPr>
              <a:t>优先等级：</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1 </a:t>
            </a:r>
            <a:r>
              <a:rPr lang="nn-NO" altLang="zh-CN" i="1" dirty="0" smtClean="0">
                <a:latin typeface="Times New Roman" panose="02020603050405020304" pitchFamily="18" charset="0"/>
                <a:cs typeface="Times New Roman" panose="02020603050405020304" pitchFamily="18" charset="0"/>
              </a:rPr>
              <a:t>&gt;&gt;</a:t>
            </a:r>
            <a:r>
              <a:rPr lang="en-US" altLang="zh-CN" i="1" dirty="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2 </a:t>
            </a:r>
            <a:r>
              <a:rPr lang="nn-NO" altLang="zh-CN" i="1" dirty="0" smtClean="0">
                <a:latin typeface="Times New Roman" panose="02020603050405020304" pitchFamily="18" charset="0"/>
                <a:cs typeface="Times New Roman" panose="02020603050405020304" pitchFamily="18" charset="0"/>
              </a:rPr>
              <a:t>&gt;&gt;</a:t>
            </a:r>
            <a:r>
              <a:rPr lang="en-US" altLang="zh-CN" dirty="0">
                <a:latin typeface="Times New Roman" panose="02020603050405020304" pitchFamily="18" charset="0"/>
                <a:cs typeface="Times New Roman" panose="02020603050405020304" pitchFamily="18" charset="0"/>
              </a:rPr>
              <a:t>…</a:t>
            </a:r>
            <a:r>
              <a:rPr lang="nn-NO" altLang="zh-CN" i="1" dirty="0" smtClean="0">
                <a:latin typeface="Times New Roman" panose="02020603050405020304" pitchFamily="18" charset="0"/>
                <a:cs typeface="Times New Roman" panose="02020603050405020304" pitchFamily="18" charset="0"/>
              </a:rPr>
              <a:t>&gt;&gt;</a:t>
            </a:r>
            <a:r>
              <a:rPr lang="en-US" altLang="zh-CN" i="1" dirty="0" err="1" smtClean="0">
                <a:latin typeface="Times New Roman" panose="02020603050405020304" pitchFamily="18" charset="0"/>
                <a:cs typeface="Times New Roman" panose="02020603050405020304" pitchFamily="18" charset="0"/>
              </a:rPr>
              <a:t>P</a:t>
            </a:r>
            <a:r>
              <a:rPr lang="en-US" altLang="zh-CN" i="1" baseline="-30000" dirty="0" err="1" smtClean="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&gt;&gt;</a:t>
            </a:r>
            <a:r>
              <a:rPr lang="en-US" altLang="zh-CN" i="1" dirty="0">
                <a:latin typeface="Times New Roman" panose="02020603050405020304" pitchFamily="18" charset="0"/>
                <a:cs typeface="Times New Roman" panose="02020603050405020304" pitchFamily="18" charset="0"/>
              </a:rPr>
              <a:t>P</a:t>
            </a:r>
            <a:r>
              <a:rPr lang="en-US" altLang="zh-CN" i="1" baseline="-30000" dirty="0">
                <a:latin typeface="Times New Roman" panose="02020603050405020304" pitchFamily="18" charset="0"/>
                <a:cs typeface="Times New Roman" panose="02020603050405020304" pitchFamily="18" charset="0"/>
              </a:rPr>
              <a:t>k</a:t>
            </a:r>
            <a:r>
              <a:rPr lang="en-US" altLang="zh-CN" baseline="-30000" dirty="0">
                <a:latin typeface="Times New Roman" panose="02020603050405020304" pitchFamily="18" charset="0"/>
                <a:cs typeface="Times New Roman" panose="02020603050405020304" pitchFamily="18" charset="0"/>
              </a:rPr>
              <a:t>+1 </a:t>
            </a:r>
            <a:r>
              <a:rPr lang="nn-NO" altLang="zh-CN" i="1" dirty="0" smtClean="0">
                <a:latin typeface="Times New Roman" panose="02020603050405020304" pitchFamily="18" charset="0"/>
                <a:cs typeface="Times New Roman" panose="02020603050405020304" pitchFamily="18" charset="0"/>
              </a:rPr>
              <a:t>&gt;&gt;</a:t>
            </a:r>
            <a:r>
              <a:rPr lang="en-US" altLang="zh-CN" dirty="0">
                <a:latin typeface="Times New Roman" panose="02020603050405020304" pitchFamily="18" charset="0"/>
                <a:cs typeface="Times New Roman" panose="02020603050405020304" pitchFamily="18" charset="0"/>
              </a:rPr>
              <a:t>…</a:t>
            </a:r>
            <a:r>
              <a:rPr lang="nn-NO" altLang="zh-CN" i="1" dirty="0" smtClean="0">
                <a:latin typeface="Times New Roman" panose="02020603050405020304" pitchFamily="18" charset="0"/>
                <a:cs typeface="Times New Roman" panose="02020603050405020304" pitchFamily="18" charset="0"/>
              </a:rPr>
              <a:t>&gt;&gt; </a:t>
            </a:r>
            <a:r>
              <a:rPr lang="en-US" altLang="zh-CN" i="1" dirty="0" smtClean="0">
                <a:latin typeface="Times New Roman" panose="02020603050405020304" pitchFamily="18" charset="0"/>
                <a:cs typeface="Times New Roman" panose="02020603050405020304" pitchFamily="18" charset="0"/>
              </a:rPr>
              <a:t>P</a:t>
            </a:r>
            <a:r>
              <a:rPr lang="en-US" altLang="zh-CN" i="1" baseline="-30000" dirty="0" smtClean="0">
                <a:latin typeface="Times New Roman" panose="02020603050405020304" pitchFamily="18" charset="0"/>
                <a:cs typeface="Times New Roman" panose="02020603050405020304" pitchFamily="18" charset="0"/>
              </a:rPr>
              <a:t>K </a:t>
            </a:r>
            <a:r>
              <a:rPr lang="nn-NO" altLang="zh-CN" i="1" dirty="0" smtClean="0">
                <a:latin typeface="Times New Roman" panose="02020603050405020304" pitchFamily="18" charset="0"/>
                <a:cs typeface="Times New Roman" panose="02020603050405020304" pitchFamily="18" charset="0"/>
              </a:rPr>
              <a:t>    </a:t>
            </a:r>
            <a:r>
              <a:rPr lang="en-US" altLang="zh-CN" i="1" dirty="0" smtClean="0">
                <a:latin typeface="Times New Roman" panose="02020603050405020304" pitchFamily="18" charset="0"/>
                <a:cs typeface="Times New Roman" panose="02020603050405020304" pitchFamily="18" charset="0"/>
              </a:rPr>
              <a:t>k</a:t>
            </a:r>
            <a:r>
              <a:rPr lang="en-US" altLang="zh-CN" dirty="0" smtClean="0">
                <a:latin typeface="Times New Roman" panose="02020603050405020304" pitchFamily="18" charset="0"/>
                <a:cs typeface="Times New Roman" panose="02020603050405020304" pitchFamily="18" charset="0"/>
              </a:rPr>
              <a:t>=1,2</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K</a:t>
            </a:r>
          </a:p>
          <a:p>
            <a:pPr lvl="2">
              <a:lnSpc>
                <a:spcPct val="120000"/>
              </a:lnSpc>
              <a:buFont typeface="Wingdings" panose="05000000000000000000" pitchFamily="2" charset="2"/>
              <a:buNone/>
            </a:pPr>
            <a:r>
              <a:rPr lang="zh-CN" altLang="en-US" dirty="0" smtClean="0">
                <a:latin typeface="Times New Roman" panose="02020603050405020304" pitchFamily="18" charset="0"/>
                <a:cs typeface="Times New Roman" panose="02020603050405020304" pitchFamily="18" charset="0"/>
              </a:rPr>
              <a:t>    表示</a:t>
            </a:r>
            <a:r>
              <a:rPr lang="en-US" altLang="zh-CN" i="1" dirty="0" err="1">
                <a:latin typeface="Times New Roman" panose="02020603050405020304" pitchFamily="18" charset="0"/>
                <a:cs typeface="Times New Roman" panose="02020603050405020304" pitchFamily="18" charset="0"/>
              </a:rPr>
              <a:t>P</a:t>
            </a:r>
            <a:r>
              <a:rPr lang="en-US" altLang="zh-CN" i="1" baseline="-30000" dirty="0" err="1">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比</a:t>
            </a:r>
            <a:r>
              <a:rPr lang="en-US" altLang="zh-CN" i="1" dirty="0">
                <a:latin typeface="Times New Roman" panose="02020603050405020304" pitchFamily="18" charset="0"/>
                <a:cs typeface="Times New Roman" panose="02020603050405020304" pitchFamily="18" charset="0"/>
              </a:rPr>
              <a:t>P</a:t>
            </a:r>
            <a:r>
              <a:rPr lang="en-US" altLang="zh-CN" i="1" baseline="-30000" dirty="0">
                <a:latin typeface="Times New Roman" panose="02020603050405020304" pitchFamily="18" charset="0"/>
                <a:cs typeface="Times New Roman" panose="02020603050405020304" pitchFamily="18" charset="0"/>
              </a:rPr>
              <a:t>k</a:t>
            </a:r>
            <a:r>
              <a:rPr lang="en-US" altLang="zh-CN" baseline="-30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有更大的优先权。即首先保证</a:t>
            </a:r>
            <a:r>
              <a:rPr lang="en-US" altLang="zh-CN" dirty="0">
                <a:latin typeface="Times New Roman" panose="02020603050405020304" pitchFamily="18" charset="0"/>
                <a:cs typeface="Times New Roman" panose="02020603050405020304" pitchFamily="18" charset="0"/>
              </a:rPr>
              <a:t>P</a:t>
            </a:r>
            <a:r>
              <a:rPr lang="en-US" altLang="zh-CN" baseline="-30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级目标的实现，这时</a:t>
            </a:r>
            <a:r>
              <a:rPr lang="zh-CN" altLang="en-US" dirty="0">
                <a:solidFill>
                  <a:srgbClr val="FF0000"/>
                </a:solidFill>
                <a:latin typeface="Times New Roman" panose="02020603050405020304" pitchFamily="18" charset="0"/>
                <a:cs typeface="Times New Roman" panose="02020603050405020304" pitchFamily="18" charset="0"/>
              </a:rPr>
              <a:t>可不考虑次级目标</a:t>
            </a:r>
            <a:r>
              <a:rPr lang="zh-CN" altLang="en-US" dirty="0">
                <a:latin typeface="Times New Roman" panose="02020603050405020304" pitchFamily="18" charset="0"/>
                <a:cs typeface="Times New Roman" panose="02020603050405020304" pitchFamily="18" charset="0"/>
              </a:rPr>
              <a:t>；而</a:t>
            </a:r>
            <a:r>
              <a:rPr lang="en-US" altLang="zh-CN" i="1" dirty="0">
                <a:latin typeface="Times New Roman" panose="02020603050405020304" pitchFamily="18" charset="0"/>
                <a:cs typeface="Times New Roman" panose="02020603050405020304" pitchFamily="18" charset="0"/>
              </a:rPr>
              <a:t>P</a:t>
            </a:r>
            <a:r>
              <a:rPr lang="en-US" altLang="zh-CN" baseline="-30000"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级目标仅在实现</a:t>
            </a:r>
            <a:r>
              <a:rPr lang="en-US" altLang="zh-CN" i="1" dirty="0">
                <a:latin typeface="Times New Roman" panose="02020603050405020304" pitchFamily="18" charset="0"/>
                <a:cs typeface="Times New Roman" panose="02020603050405020304" pitchFamily="18" charset="0"/>
              </a:rPr>
              <a:t>P</a:t>
            </a:r>
            <a:r>
              <a:rPr lang="en-US" altLang="zh-CN" baseline="-30000"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级目标的基础上才会考虑；依此类推</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2">
              <a:lnSpc>
                <a:spcPct val="120000"/>
              </a:lnSpc>
              <a:buFont typeface="Arial" panose="020B0604020202020204" pitchFamily="34" charset="0"/>
              <a:buChar char="•"/>
            </a:pPr>
            <a:r>
              <a:rPr lang="zh-CN" altLang="en-US" dirty="0" smtClean="0">
                <a:latin typeface="Times New Roman" panose="02020603050405020304" pitchFamily="18" charset="0"/>
                <a:cs typeface="Times New Roman" panose="02020603050405020304" pitchFamily="18" charset="0"/>
              </a:rPr>
              <a:t>权系数：为区分</a:t>
            </a:r>
            <a:r>
              <a:rPr lang="zh-CN" altLang="en-US" dirty="0" smtClean="0">
                <a:solidFill>
                  <a:srgbClr val="FF0000"/>
                </a:solidFill>
                <a:latin typeface="Times New Roman" panose="02020603050405020304" pitchFamily="18" charset="0"/>
                <a:cs typeface="Times New Roman" panose="02020603050405020304" pitchFamily="18" charset="0"/>
              </a:rPr>
              <a:t>具有</a:t>
            </a:r>
            <a:r>
              <a:rPr lang="zh-CN" altLang="en-US" dirty="0">
                <a:solidFill>
                  <a:srgbClr val="FF0000"/>
                </a:solidFill>
                <a:latin typeface="Times New Roman" panose="02020603050405020304" pitchFamily="18" charset="0"/>
                <a:cs typeface="Times New Roman" panose="02020603050405020304" pitchFamily="18" charset="0"/>
              </a:rPr>
              <a:t>相同优先因子</a:t>
            </a:r>
            <a:r>
              <a:rPr lang="zh-CN" altLang="en-US" dirty="0">
                <a:latin typeface="Times New Roman" panose="02020603050405020304" pitchFamily="18" charset="0"/>
                <a:cs typeface="Times New Roman" panose="02020603050405020304" pitchFamily="18" charset="0"/>
              </a:rPr>
              <a:t>的两个目标的差别，可分别赋予它们不同的权系数</a:t>
            </a:r>
            <a:r>
              <a:rPr lang="en-US" altLang="zh-CN" i="1" dirty="0" err="1">
                <a:latin typeface="Times New Roman" panose="02020603050405020304" pitchFamily="18" charset="0"/>
                <a:cs typeface="Times New Roman" panose="02020603050405020304" pitchFamily="18" charset="0"/>
              </a:rPr>
              <a:t>w</a:t>
            </a:r>
            <a:r>
              <a:rPr lang="en-US" altLang="zh-CN" i="1" baseline="-30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，这些都由决策者按具体情况而定</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3">
              <a:lnSpc>
                <a:spcPct val="120000"/>
              </a:lnSpc>
              <a:buFont typeface="Arial" panose="020B0604020202020204" pitchFamily="34" charset="0"/>
              <a:buChar char="•"/>
            </a:pPr>
            <a:r>
              <a:rPr lang="zh-CN" altLang="en-US" dirty="0" smtClean="0">
                <a:latin typeface="Times New Roman" panose="02020603050405020304" pitchFamily="18" charset="0"/>
                <a:cs typeface="Times New Roman" panose="02020603050405020304" pitchFamily="18" charset="0"/>
              </a:rPr>
              <a:t>比如额外加一个约束，包括产品</a:t>
            </a:r>
            <a:r>
              <a:rPr lang="en-US" altLang="zh-CN" dirty="0" smtClean="0">
                <a:latin typeface="Times New Roman" panose="02020603050405020304" pitchFamily="18" charset="0"/>
                <a:cs typeface="Times New Roman" panose="02020603050405020304" pitchFamily="18" charset="0"/>
              </a:rPr>
              <a:t>I</a:t>
            </a:r>
            <a:r>
              <a:rPr lang="zh-CN" altLang="en-US" dirty="0" smtClean="0">
                <a:latin typeface="Times New Roman" panose="02020603050405020304" pitchFamily="18" charset="0"/>
                <a:cs typeface="Times New Roman" panose="02020603050405020304" pitchFamily="18" charset="0"/>
              </a:rPr>
              <a:t>数量不超过</a:t>
            </a:r>
            <a:r>
              <a:rPr lang="en-US" altLang="zh-CN" dirty="0" smtClean="0">
                <a:latin typeface="Times New Roman" panose="02020603050405020304" pitchFamily="18" charset="0"/>
                <a:cs typeface="Times New Roman" panose="02020603050405020304" pitchFamily="18" charset="0"/>
              </a:rPr>
              <a:t>5</a:t>
            </a:r>
            <a:r>
              <a:rPr lang="zh-CN" altLang="en-US" dirty="0" smtClean="0">
                <a:latin typeface="Times New Roman" panose="02020603050405020304" pitchFamily="18" charset="0"/>
                <a:cs typeface="Times New Roman" panose="02020603050405020304" pitchFamily="18" charset="0"/>
              </a:rPr>
              <a:t>件，产品</a:t>
            </a:r>
            <a:r>
              <a:rPr lang="en-US" altLang="zh-CN" dirty="0" smtClean="0">
                <a:latin typeface="Times New Roman" panose="02020603050405020304" pitchFamily="18" charset="0"/>
                <a:cs typeface="Times New Roman" panose="02020603050405020304" pitchFamily="18" charset="0"/>
              </a:rPr>
              <a:t>II</a:t>
            </a:r>
            <a:r>
              <a:rPr lang="zh-CN" altLang="en-US" dirty="0" smtClean="0">
                <a:latin typeface="Times New Roman" panose="02020603050405020304" pitchFamily="18" charset="0"/>
                <a:cs typeface="Times New Roman" panose="02020603050405020304" pitchFamily="18" charset="0"/>
              </a:rPr>
              <a:t>数量不低于</a:t>
            </a:r>
            <a:r>
              <a:rPr lang="en-US" altLang="zh-CN" dirty="0" smtClean="0">
                <a:latin typeface="Times New Roman" panose="02020603050405020304" pitchFamily="18" charset="0"/>
                <a:cs typeface="Times New Roman" panose="02020603050405020304" pitchFamily="18" charset="0"/>
              </a:rPr>
              <a:t>5</a:t>
            </a:r>
            <a:r>
              <a:rPr lang="zh-CN" altLang="en-US" dirty="0" smtClean="0">
                <a:latin typeface="Times New Roman" panose="02020603050405020304" pitchFamily="18" charset="0"/>
                <a:cs typeface="Times New Roman" panose="02020603050405020304" pitchFamily="18" charset="0"/>
              </a:rPr>
              <a:t>件 </a:t>
            </a:r>
            <a:r>
              <a:rPr lang="en-US" altLang="zh-CN" dirty="0" smtClean="0">
                <a:latin typeface="Times New Roman" panose="02020603050405020304" pitchFamily="18" charset="0"/>
                <a:cs typeface="Times New Roman" panose="02020603050405020304" pitchFamily="18" charset="0"/>
              </a:rPr>
              <a:t>,</a:t>
            </a:r>
            <a:r>
              <a:rPr lang="zh-CN" altLang="en-US" dirty="0" smtClean="0">
                <a:latin typeface="Times New Roman" panose="02020603050405020304" pitchFamily="18" charset="0"/>
                <a:cs typeface="Times New Roman" panose="02020603050405020304" pitchFamily="18" charset="0"/>
              </a:rPr>
              <a:t>这两个目标在一个约束中，可以给权重。</a:t>
            </a:r>
            <a:endParaRPr lang="zh-CN" altLang="en-US" dirty="0"/>
          </a:p>
        </p:txBody>
      </p:sp>
      <p:sp>
        <p:nvSpPr>
          <p:cNvPr id="5" name="灯片编号占位符 5">
            <a:extLst>
              <a:ext uri="{FF2B5EF4-FFF2-40B4-BE49-F238E27FC236}">
                <a16:creationId xmlns:a16="http://schemas.microsoft.com/office/drawing/2014/main" id="{DBB21CB7-8A0E-4B78-9C07-5468AC14191C}"/>
              </a:ext>
            </a:extLst>
          </p:cNvPr>
          <p:cNvSpPr>
            <a:spLocks noGrp="1"/>
          </p:cNvSpPr>
          <p:nvPr>
            <p:ph type="sldNum" sz="quarter" idx="10"/>
          </p:nvPr>
        </p:nvSpPr>
        <p:spPr/>
        <p:txBody>
          <a:bodyPr/>
          <a:lstStyle/>
          <a:p>
            <a:fld id="{14B2D58A-7026-47B9-A05C-55224110B157}" type="slidenum">
              <a:rPr lang="en-US" altLang="zh-CN"/>
              <a:pPr/>
              <a:t>3</a:t>
            </a:fld>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F8C57F50-281D-4855-B7CF-0EA116E54A79}"/>
              </a:ext>
            </a:extLst>
          </p:cNvPr>
          <p:cNvSpPr>
            <a:spLocks noGrp="1" noChangeArrowheads="1"/>
          </p:cNvSpPr>
          <p:nvPr>
            <p:ph type="title"/>
          </p:nvPr>
        </p:nvSpPr>
        <p:spPr/>
        <p:txBody>
          <a:bodyPr/>
          <a:lstStyle/>
          <a:p>
            <a:r>
              <a:rPr lang="en-US" altLang="zh-CN" dirty="0" smtClean="0"/>
              <a:t>5.1 </a:t>
            </a:r>
            <a:r>
              <a:rPr lang="zh-CN" altLang="en-US" dirty="0" smtClean="0"/>
              <a:t>目标规划</a:t>
            </a:r>
            <a:r>
              <a:rPr lang="zh-CN" altLang="en-US" dirty="0"/>
              <a:t>的数学模型</a:t>
            </a:r>
          </a:p>
        </p:txBody>
      </p:sp>
      <p:sp>
        <p:nvSpPr>
          <p:cNvPr id="3" name="内容占位符 2"/>
          <p:cNvSpPr>
            <a:spLocks noGrp="1"/>
          </p:cNvSpPr>
          <p:nvPr>
            <p:ph idx="1"/>
          </p:nvPr>
        </p:nvSpPr>
        <p:spPr>
          <a:xfrm>
            <a:off x="539552" y="1340768"/>
            <a:ext cx="8280920" cy="4114800"/>
          </a:xfrm>
        </p:spPr>
        <p:txBody>
          <a:bodyPr/>
          <a:lstStyle/>
          <a:p>
            <a:pPr>
              <a:lnSpc>
                <a:spcPct val="90000"/>
              </a:lnSpc>
            </a:pPr>
            <a:r>
              <a:rPr lang="zh-CN" altLang="en-US" dirty="0">
                <a:latin typeface="Times New Roman" panose="02020603050405020304" pitchFamily="18" charset="0"/>
                <a:cs typeface="Times New Roman" panose="02020603050405020304" pitchFamily="18" charset="0"/>
              </a:rPr>
              <a:t>相关</a:t>
            </a:r>
            <a:r>
              <a:rPr lang="zh-CN" altLang="en-US" dirty="0" smtClean="0">
                <a:latin typeface="Times New Roman" panose="02020603050405020304" pitchFamily="18" charset="0"/>
                <a:cs typeface="Times New Roman" panose="02020603050405020304" pitchFamily="18" charset="0"/>
              </a:rPr>
              <a:t>概念</a:t>
            </a:r>
            <a:endParaRPr lang="en-US" altLang="zh-CN" dirty="0" smtClean="0">
              <a:solidFill>
                <a:srgbClr val="FF0000"/>
              </a:solidFill>
              <a:latin typeface="Times New Roman" panose="02020603050405020304" pitchFamily="18" charset="0"/>
              <a:cs typeface="Times New Roman" panose="02020603050405020304" pitchFamily="18" charset="0"/>
            </a:endParaRPr>
          </a:p>
          <a:p>
            <a:pPr lvl="1">
              <a:lnSpc>
                <a:spcPct val="90000"/>
              </a:lnSpc>
            </a:pPr>
            <a:r>
              <a:rPr lang="en-US" altLang="zh-CN" sz="2000" dirty="0" smtClean="0">
                <a:solidFill>
                  <a:srgbClr val="FF0000"/>
                </a:solidFill>
                <a:latin typeface="Times New Roman" panose="02020603050405020304" pitchFamily="18" charset="0"/>
                <a:cs typeface="Times New Roman" panose="02020603050405020304" pitchFamily="18" charset="0"/>
              </a:rPr>
              <a:t>4</a:t>
            </a:r>
            <a:r>
              <a:rPr lang="en-US" altLang="zh-CN" sz="2000" dirty="0">
                <a:solidFill>
                  <a:srgbClr val="FF0000"/>
                </a:solidFill>
                <a:latin typeface="Times New Roman" panose="02020603050405020304" pitchFamily="18" charset="0"/>
                <a:cs typeface="Times New Roman" panose="02020603050405020304" pitchFamily="18" charset="0"/>
              </a:rPr>
              <a:t>.</a:t>
            </a:r>
            <a:r>
              <a:rPr lang="zh-CN" altLang="en-US" sz="2000" dirty="0">
                <a:solidFill>
                  <a:srgbClr val="FF0000"/>
                </a:solidFill>
                <a:latin typeface="Times New Roman" panose="02020603050405020304" pitchFamily="18" charset="0"/>
                <a:cs typeface="Times New Roman" panose="02020603050405020304" pitchFamily="18" charset="0"/>
              </a:rPr>
              <a:t>目标规划的目标函数</a:t>
            </a:r>
          </a:p>
          <a:p>
            <a:pPr lvl="2">
              <a:lnSpc>
                <a:spcPct val="90000"/>
              </a:lnSpc>
            </a:pPr>
            <a:r>
              <a:rPr lang="zh-CN" altLang="en-US" dirty="0" smtClean="0">
                <a:latin typeface="Times New Roman" panose="02020603050405020304" pitchFamily="18" charset="0"/>
                <a:cs typeface="Times New Roman" panose="02020603050405020304" pitchFamily="18" charset="0"/>
              </a:rPr>
              <a:t>由各</a:t>
            </a:r>
            <a:r>
              <a:rPr lang="zh-CN" altLang="en-US" dirty="0">
                <a:latin typeface="Times New Roman" panose="02020603050405020304" pitchFamily="18" charset="0"/>
                <a:cs typeface="Times New Roman" panose="02020603050405020304" pitchFamily="18" charset="0"/>
              </a:rPr>
              <a:t>目标约束的</a:t>
            </a:r>
            <a:r>
              <a:rPr lang="zh-CN" altLang="en-US" dirty="0">
                <a:solidFill>
                  <a:srgbClr val="FF0000"/>
                </a:solidFill>
                <a:latin typeface="Times New Roman" panose="02020603050405020304" pitchFamily="18" charset="0"/>
                <a:cs typeface="Times New Roman" panose="02020603050405020304" pitchFamily="18" charset="0"/>
              </a:rPr>
              <a:t>正、负偏差变量</a:t>
            </a:r>
            <a:r>
              <a:rPr lang="zh-CN" altLang="en-US" dirty="0">
                <a:latin typeface="Times New Roman" panose="02020603050405020304" pitchFamily="18" charset="0"/>
                <a:cs typeface="Times New Roman" panose="02020603050405020304" pitchFamily="18" charset="0"/>
              </a:rPr>
              <a:t>和赋予的</a:t>
            </a:r>
            <a:r>
              <a:rPr lang="zh-CN" altLang="en-US" dirty="0">
                <a:solidFill>
                  <a:srgbClr val="FF0000"/>
                </a:solidFill>
                <a:latin typeface="Times New Roman" panose="02020603050405020304" pitchFamily="18" charset="0"/>
                <a:cs typeface="Times New Roman" panose="02020603050405020304" pitchFamily="18" charset="0"/>
              </a:rPr>
              <a:t>优先因子</a:t>
            </a:r>
            <a:r>
              <a:rPr lang="zh-CN" altLang="en-US" dirty="0">
                <a:latin typeface="Times New Roman" panose="02020603050405020304" pitchFamily="18" charset="0"/>
                <a:cs typeface="Times New Roman" panose="02020603050405020304" pitchFamily="18" charset="0"/>
              </a:rPr>
              <a:t>及</a:t>
            </a:r>
            <a:r>
              <a:rPr lang="zh-CN" altLang="en-US" dirty="0">
                <a:solidFill>
                  <a:srgbClr val="FF0000"/>
                </a:solidFill>
                <a:latin typeface="Times New Roman" panose="02020603050405020304" pitchFamily="18" charset="0"/>
                <a:cs typeface="Times New Roman" panose="02020603050405020304" pitchFamily="18" charset="0"/>
              </a:rPr>
              <a:t>权系数</a:t>
            </a:r>
            <a:r>
              <a:rPr lang="zh-CN" altLang="en-US" dirty="0">
                <a:latin typeface="Times New Roman" panose="02020603050405020304" pitchFamily="18" charset="0"/>
                <a:cs typeface="Times New Roman" panose="02020603050405020304" pitchFamily="18" charset="0"/>
              </a:rPr>
              <a:t>而构造的</a:t>
            </a:r>
            <a:r>
              <a:rPr lang="zh-CN" altLang="en-US" dirty="0" smtClean="0">
                <a:latin typeface="Times New Roman" panose="02020603050405020304" pitchFamily="18" charset="0"/>
                <a:cs typeface="Times New Roman" panose="02020603050405020304" pitchFamily="18" charset="0"/>
              </a:rPr>
              <a:t>。要求</a:t>
            </a:r>
            <a:r>
              <a:rPr lang="zh-CN" altLang="en-US" dirty="0" smtClean="0">
                <a:solidFill>
                  <a:srgbClr val="FF0000"/>
                </a:solidFill>
                <a:latin typeface="Times New Roman" panose="02020603050405020304" pitchFamily="18" charset="0"/>
                <a:cs typeface="Times New Roman" panose="02020603050405020304" pitchFamily="18" charset="0"/>
              </a:rPr>
              <a:t>尽可能</a:t>
            </a:r>
            <a:r>
              <a:rPr lang="zh-CN" altLang="en-US" dirty="0">
                <a:solidFill>
                  <a:srgbClr val="FF0000"/>
                </a:solidFill>
                <a:latin typeface="Times New Roman" panose="02020603050405020304" pitchFamily="18" charset="0"/>
                <a:cs typeface="Times New Roman" panose="02020603050405020304" pitchFamily="18" charset="0"/>
              </a:rPr>
              <a:t>缩小和目标值的偏差</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2">
              <a:lnSpc>
                <a:spcPct val="90000"/>
              </a:lnSpc>
            </a:pPr>
            <a:r>
              <a:rPr lang="zh-CN" altLang="en-US" dirty="0" smtClean="0">
                <a:latin typeface="Times New Roman" panose="02020603050405020304" pitchFamily="18" charset="0"/>
                <a:cs typeface="Times New Roman" panose="02020603050405020304" pitchFamily="18" charset="0"/>
              </a:rPr>
              <a:t>目标规划</a:t>
            </a:r>
            <a:r>
              <a:rPr lang="zh-CN" altLang="en-US" dirty="0">
                <a:latin typeface="Times New Roman" panose="02020603050405020304" pitchFamily="18" charset="0"/>
                <a:cs typeface="Times New Roman" panose="02020603050405020304" pitchFamily="18" charset="0"/>
              </a:rPr>
              <a:t>的目标函数的形式通常</a:t>
            </a:r>
            <a:r>
              <a:rPr lang="zh-CN" altLang="en-US" dirty="0" smtClean="0">
                <a:latin typeface="Times New Roman" panose="02020603050405020304" pitchFamily="18" charset="0"/>
                <a:cs typeface="Times New Roman" panose="02020603050405020304" pitchFamily="18" charset="0"/>
              </a:rPr>
              <a:t>是：</a:t>
            </a:r>
            <a:endParaRPr lang="zh-CN" altLang="en-US" dirty="0">
              <a:latin typeface="Times New Roman" panose="02020603050405020304" pitchFamily="18" charset="0"/>
              <a:cs typeface="Times New Roman" panose="02020603050405020304" pitchFamily="18" charset="0"/>
            </a:endParaRPr>
          </a:p>
          <a:p>
            <a:pPr lvl="3">
              <a:lnSpc>
                <a:spcPct val="90000"/>
              </a:lnSpc>
              <a:spcBef>
                <a:spcPct val="0"/>
              </a:spcBef>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zh-CN" altLang="en-US" dirty="0" smtClean="0">
                <a:latin typeface="Times New Roman" panose="02020603050405020304" pitchFamily="18" charset="0"/>
                <a:cs typeface="Times New Roman" panose="02020603050405020304" pitchFamily="18" charset="0"/>
              </a:rPr>
              <a:t>        </a:t>
            </a:r>
            <a:r>
              <a:rPr lang="en-US" altLang="zh-CN" dirty="0" smtClean="0">
                <a:latin typeface="Times New Roman" panose="02020603050405020304" pitchFamily="18" charset="0"/>
                <a:cs typeface="Times New Roman" panose="02020603050405020304" pitchFamily="18" charset="0"/>
              </a:rPr>
              <a:t>min </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d</a:t>
            </a:r>
            <a:r>
              <a:rPr lang="en-US" altLang="zh-CN" baseline="30000" dirty="0" err="1">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d</a:t>
            </a:r>
            <a:r>
              <a:rPr lang="en-US" altLang="zh-CN"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p>
          <a:p>
            <a:pPr lvl="3">
              <a:lnSpc>
                <a:spcPct val="90000"/>
              </a:lnSpc>
              <a:spcBef>
                <a:spcPct val="0"/>
              </a:spcBef>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其具体形式大致有三种：</a:t>
            </a:r>
          </a:p>
          <a:p>
            <a:pPr lvl="3" algn="just">
              <a:lnSpc>
                <a:spcPct val="9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(1) </a:t>
            </a:r>
            <a:r>
              <a:rPr lang="zh-CN" altLang="en-US" dirty="0" smtClean="0">
                <a:latin typeface="Times New Roman" panose="02020603050405020304" pitchFamily="18" charset="0"/>
                <a:cs typeface="Times New Roman" panose="02020603050405020304" pitchFamily="18" charset="0"/>
              </a:rPr>
              <a:t>第</a:t>
            </a:r>
            <a:r>
              <a:rPr lang="en-US" altLang="zh-CN" i="1" dirty="0" err="1" smtClean="0">
                <a:latin typeface="Times New Roman" panose="02020603050405020304" pitchFamily="18" charset="0"/>
                <a:cs typeface="Times New Roman" panose="02020603050405020304" pitchFamily="18" charset="0"/>
              </a:rPr>
              <a:t>i</a:t>
            </a:r>
            <a:r>
              <a:rPr lang="zh-CN" altLang="en-US" dirty="0" smtClean="0">
                <a:latin typeface="Times New Roman" panose="02020603050405020304" pitchFamily="18" charset="0"/>
                <a:cs typeface="Times New Roman" panose="02020603050405020304" pitchFamily="18" charset="0"/>
              </a:rPr>
              <a:t>个目标若要</a:t>
            </a:r>
            <a:r>
              <a:rPr lang="zh-CN" altLang="en-US" dirty="0">
                <a:latin typeface="Times New Roman" panose="02020603050405020304" pitchFamily="18" charset="0"/>
                <a:cs typeface="Times New Roman" panose="02020603050405020304" pitchFamily="18" charset="0"/>
              </a:rPr>
              <a:t>求</a:t>
            </a:r>
            <a:r>
              <a:rPr lang="zh-CN" altLang="en-US" dirty="0">
                <a:solidFill>
                  <a:srgbClr val="FF0000"/>
                </a:solidFill>
                <a:latin typeface="Times New Roman" panose="02020603050405020304" pitchFamily="18" charset="0"/>
                <a:cs typeface="Times New Roman" panose="02020603050405020304" pitchFamily="18" charset="0"/>
              </a:rPr>
              <a:t>恰好达到目标值</a:t>
            </a:r>
            <a:r>
              <a:rPr lang="zh-CN" altLang="en-US" dirty="0">
                <a:latin typeface="Times New Roman" panose="02020603050405020304" pitchFamily="18" charset="0"/>
                <a:cs typeface="Times New Roman" panose="02020603050405020304" pitchFamily="18" charset="0"/>
              </a:rPr>
              <a:t>，则应要求正、负偏差变量均尽可能地小，这时，目标函数的形式</a:t>
            </a:r>
            <a:r>
              <a:rPr lang="zh-CN" altLang="en-US" dirty="0" smtClean="0">
                <a:latin typeface="Times New Roman" panose="02020603050405020304" pitchFamily="18" charset="0"/>
                <a:cs typeface="Times New Roman" panose="02020603050405020304" pitchFamily="18" charset="0"/>
              </a:rPr>
              <a:t>为：</a:t>
            </a:r>
            <a:endParaRPr lang="zh-CN" altLang="en-US" dirty="0">
              <a:latin typeface="Times New Roman" panose="02020603050405020304" pitchFamily="18" charset="0"/>
              <a:cs typeface="Times New Roman" panose="02020603050405020304" pitchFamily="18" charset="0"/>
            </a:endParaRPr>
          </a:p>
          <a:p>
            <a:pPr lvl="3" algn="just">
              <a:lnSpc>
                <a:spcPct val="9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min </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a:t>
            </a:r>
            <a:r>
              <a:rPr lang="en-US" altLang="zh-CN"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a:t>
            </a:r>
            <a:r>
              <a:rPr lang="en-US" altLang="zh-CN"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p>
          <a:p>
            <a:pPr lvl="3" algn="just">
              <a:lnSpc>
                <a:spcPct val="9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(2</a:t>
            </a:r>
            <a:r>
              <a:rPr lang="en-US" altLang="zh-CN" dirty="0" smtClean="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第</a:t>
            </a:r>
            <a:r>
              <a:rPr lang="en-US" altLang="zh-CN" i="1" dirty="0" err="1">
                <a:latin typeface="Times New Roman" panose="02020603050405020304" pitchFamily="18" charset="0"/>
                <a:cs typeface="Times New Roman" panose="02020603050405020304" pitchFamily="18" charset="0"/>
              </a:rPr>
              <a:t>i</a:t>
            </a:r>
            <a:r>
              <a:rPr lang="zh-CN" altLang="en-US" dirty="0">
                <a:latin typeface="Times New Roman" panose="02020603050405020304" pitchFamily="18" charset="0"/>
                <a:cs typeface="Times New Roman" panose="02020603050405020304" pitchFamily="18" charset="0"/>
              </a:rPr>
              <a:t>个目标若要求</a:t>
            </a:r>
            <a:r>
              <a:rPr lang="zh-CN" altLang="en-US" dirty="0">
                <a:solidFill>
                  <a:srgbClr val="FF0000"/>
                </a:solidFill>
                <a:latin typeface="Times New Roman" panose="02020603050405020304" pitchFamily="18" charset="0"/>
                <a:cs typeface="Times New Roman" panose="02020603050405020304" pitchFamily="18" charset="0"/>
              </a:rPr>
              <a:t>不超过目标值</a:t>
            </a:r>
            <a:r>
              <a:rPr lang="zh-CN" altLang="en-US" dirty="0">
                <a:latin typeface="Times New Roman" panose="02020603050405020304" pitchFamily="18" charset="0"/>
                <a:cs typeface="Times New Roman" panose="02020603050405020304" pitchFamily="18" charset="0"/>
              </a:rPr>
              <a:t>，即允许达不到目标值</a:t>
            </a:r>
            <a:r>
              <a:rPr lang="zh-CN" altLang="en-US" dirty="0" smtClean="0">
                <a:latin typeface="Times New Roman" panose="02020603050405020304" pitchFamily="18" charset="0"/>
                <a:cs typeface="Times New Roman" panose="02020603050405020304" pitchFamily="18" charset="0"/>
              </a:rPr>
              <a:t>，就是正偏差</a:t>
            </a:r>
            <a:r>
              <a:rPr lang="zh-CN" altLang="en-US" dirty="0">
                <a:latin typeface="Times New Roman" panose="02020603050405020304" pitchFamily="18" charset="0"/>
                <a:cs typeface="Times New Roman" panose="02020603050405020304" pitchFamily="18" charset="0"/>
              </a:rPr>
              <a:t>变量要尽可能地小，这时目标函数的形式</a:t>
            </a:r>
            <a:r>
              <a:rPr lang="zh-CN" altLang="en-US" dirty="0" smtClean="0">
                <a:latin typeface="Times New Roman" panose="02020603050405020304" pitchFamily="18" charset="0"/>
                <a:cs typeface="Times New Roman" panose="02020603050405020304" pitchFamily="18" charset="0"/>
              </a:rPr>
              <a:t>为：</a:t>
            </a:r>
            <a:endParaRPr lang="zh-CN" altLang="en-US" dirty="0">
              <a:latin typeface="Times New Roman" panose="02020603050405020304" pitchFamily="18" charset="0"/>
              <a:cs typeface="Times New Roman" panose="02020603050405020304" pitchFamily="18" charset="0"/>
            </a:endParaRPr>
          </a:p>
          <a:p>
            <a:pPr lvl="3" algn="just">
              <a:lnSpc>
                <a:spcPct val="9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min</a:t>
            </a:r>
            <a:r>
              <a:rPr lang="en-US" altLang="zh-CN" i="1" dirty="0">
                <a:latin typeface="Times New Roman" panose="02020603050405020304" pitchFamily="18" charset="0"/>
                <a:cs typeface="Times New Roman" panose="02020603050405020304" pitchFamily="18" charset="0"/>
              </a:rPr>
              <a:t> z</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a:t>
            </a:r>
            <a:r>
              <a:rPr lang="en-US" altLang="zh-CN"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p>
          <a:p>
            <a:pPr lvl="3" algn="just">
              <a:lnSpc>
                <a:spcPct val="90000"/>
              </a:lnSpc>
              <a:buFont typeface="Wingdings" panose="05000000000000000000" pitchFamily="2" charset="2"/>
              <a:buNone/>
            </a:pPr>
            <a:r>
              <a:rPr lang="en-US" altLang="zh-CN"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cs typeface="Times New Roman" panose="02020603050405020304" pitchFamily="18" charset="0"/>
              </a:rPr>
              <a:t>若要求</a:t>
            </a:r>
            <a:r>
              <a:rPr lang="zh-CN" altLang="en-US" dirty="0">
                <a:solidFill>
                  <a:srgbClr val="FF0000"/>
                </a:solidFill>
                <a:latin typeface="Times New Roman" panose="02020603050405020304" pitchFamily="18" charset="0"/>
                <a:cs typeface="Times New Roman" panose="02020603050405020304" pitchFamily="18" charset="0"/>
              </a:rPr>
              <a:t>超过目标值</a:t>
            </a:r>
            <a:r>
              <a:rPr lang="zh-CN" altLang="en-US" dirty="0">
                <a:latin typeface="Times New Roman" panose="02020603050405020304" pitchFamily="18" charset="0"/>
                <a:cs typeface="Times New Roman" panose="02020603050405020304" pitchFamily="18" charset="0"/>
              </a:rPr>
              <a:t>，即超过量不限，但负偏差变量要尽可能地小，这时目标函数的形式</a:t>
            </a:r>
            <a:r>
              <a:rPr lang="zh-CN" altLang="en-US" dirty="0" smtClean="0">
                <a:latin typeface="Times New Roman" panose="02020603050405020304" pitchFamily="18" charset="0"/>
                <a:cs typeface="Times New Roman" panose="02020603050405020304" pitchFamily="18" charset="0"/>
              </a:rPr>
              <a:t>为：</a:t>
            </a:r>
            <a:endParaRPr lang="zh-CN" altLang="en-US" dirty="0">
              <a:latin typeface="Times New Roman" panose="02020603050405020304" pitchFamily="18" charset="0"/>
              <a:cs typeface="Times New Roman" panose="02020603050405020304" pitchFamily="18" charset="0"/>
            </a:endParaRPr>
          </a:p>
          <a:p>
            <a:pPr lvl="3" algn="just">
              <a:lnSpc>
                <a:spcPct val="9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min z=</a:t>
            </a:r>
            <a:r>
              <a:rPr lang="en-US" altLang="zh-CN" i="1" dirty="0">
                <a:latin typeface="Times New Roman" panose="02020603050405020304" pitchFamily="18" charset="0"/>
                <a:cs typeface="Times New Roman" panose="02020603050405020304" pitchFamily="18" charset="0"/>
              </a:rPr>
              <a:t>f</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d</a:t>
            </a:r>
            <a:r>
              <a:rPr lang="en-US" altLang="zh-CN" baseline="30000" dirty="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p:txBody>
      </p:sp>
      <p:sp>
        <p:nvSpPr>
          <p:cNvPr id="5" name="灯片编号占位符 5">
            <a:extLst>
              <a:ext uri="{FF2B5EF4-FFF2-40B4-BE49-F238E27FC236}">
                <a16:creationId xmlns:a16="http://schemas.microsoft.com/office/drawing/2014/main" id="{9174DAB7-B6D1-4633-B897-0E8C920D3314}"/>
              </a:ext>
            </a:extLst>
          </p:cNvPr>
          <p:cNvSpPr>
            <a:spLocks noGrp="1"/>
          </p:cNvSpPr>
          <p:nvPr>
            <p:ph type="sldNum" sz="quarter" idx="10"/>
          </p:nvPr>
        </p:nvSpPr>
        <p:spPr/>
        <p:txBody>
          <a:bodyPr/>
          <a:lstStyle/>
          <a:p>
            <a:fld id="{4C04ED41-2DC8-41B2-B862-01845E760BA8}" type="slidenum">
              <a:rPr lang="en-US" altLang="zh-CN"/>
              <a:pPr/>
              <a:t>4</a:t>
            </a:fld>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a:extLst>
              <a:ext uri="{FF2B5EF4-FFF2-40B4-BE49-F238E27FC236}">
                <a16:creationId xmlns:a16="http://schemas.microsoft.com/office/drawing/2014/main" id="{19A61844-908D-4D23-BB44-D01757286EE3}"/>
              </a:ext>
            </a:extLst>
          </p:cNvPr>
          <p:cNvSpPr>
            <a:spLocks noGrp="1" noChangeArrowheads="1"/>
          </p:cNvSpPr>
          <p:nvPr>
            <p:ph type="title"/>
          </p:nvPr>
        </p:nvSpPr>
        <p:spPr/>
        <p:txBody>
          <a:bodyPr/>
          <a:lstStyle/>
          <a:p>
            <a:r>
              <a:rPr lang="en-US" altLang="zh-CN" dirty="0" smtClean="0"/>
              <a:t>5.1 </a:t>
            </a:r>
            <a:r>
              <a:rPr lang="zh-CN" altLang="en-US" dirty="0" smtClean="0"/>
              <a:t>目标规划</a:t>
            </a:r>
            <a:r>
              <a:rPr lang="zh-CN" altLang="en-US" dirty="0"/>
              <a:t>的数学模型</a:t>
            </a:r>
          </a:p>
        </p:txBody>
      </p:sp>
      <p:sp>
        <p:nvSpPr>
          <p:cNvPr id="6" name="灯片编号占位符 5">
            <a:extLst>
              <a:ext uri="{FF2B5EF4-FFF2-40B4-BE49-F238E27FC236}">
                <a16:creationId xmlns:a16="http://schemas.microsoft.com/office/drawing/2014/main" id="{AE50CBED-06FE-4488-B50B-47B75B3FADDA}"/>
              </a:ext>
            </a:extLst>
          </p:cNvPr>
          <p:cNvSpPr>
            <a:spLocks noGrp="1"/>
          </p:cNvSpPr>
          <p:nvPr>
            <p:ph type="sldNum" sz="quarter" idx="10"/>
          </p:nvPr>
        </p:nvSpPr>
        <p:spPr/>
        <p:txBody>
          <a:bodyPr/>
          <a:lstStyle/>
          <a:p>
            <a:fld id="{E96A9F22-CF3B-40ED-ADDA-F446B27C5762}" type="slidenum">
              <a:rPr lang="en-US" altLang="zh-CN"/>
              <a:pPr/>
              <a:t>5</a:t>
            </a:fld>
            <a:endParaRPr lang="en-US" altLang="zh-CN"/>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467544" y="1196752"/>
                <a:ext cx="8600256" cy="4114800"/>
              </a:xfrm>
            </p:spPr>
            <p:txBody>
              <a:bodyPr/>
              <a:lstStyle/>
              <a:p>
                <a:pPr>
                  <a:lnSpc>
                    <a:spcPct val="110000"/>
                  </a:lnSpc>
                  <a:spcBef>
                    <a:spcPct val="0"/>
                  </a:spcBef>
                </a:pPr>
                <a:r>
                  <a:rPr lang="zh-CN" altLang="en-US" sz="2000" dirty="0" smtClean="0">
                    <a:latin typeface="Times New Roman" panose="02020603050405020304" pitchFamily="18" charset="0"/>
                    <a:cs typeface="Times New Roman" panose="02020603050405020304" pitchFamily="18" charset="0"/>
                  </a:rPr>
                  <a:t>例</a:t>
                </a:r>
                <a:r>
                  <a:rPr lang="en-US" altLang="zh-CN" sz="2000" dirty="0" smtClean="0">
                    <a:latin typeface="Times New Roman" panose="02020603050405020304" pitchFamily="18" charset="0"/>
                    <a:cs typeface="Times New Roman" panose="02020603050405020304" pitchFamily="18" charset="0"/>
                  </a:rPr>
                  <a:t>5-2</a:t>
                </a:r>
                <a:r>
                  <a:rPr lang="zh-CN" altLang="en-US" sz="2000" dirty="0" smtClean="0">
                    <a:latin typeface="Times New Roman" panose="02020603050405020304" pitchFamily="18" charset="0"/>
                    <a:cs typeface="Times New Roman" panose="02020603050405020304" pitchFamily="18" charset="0"/>
                  </a:rPr>
                  <a:t>：例</a:t>
                </a:r>
                <a:r>
                  <a:rPr lang="en-US" altLang="zh-CN" sz="2000" dirty="0">
                    <a:latin typeface="Times New Roman" panose="02020603050405020304" pitchFamily="18" charset="0"/>
                    <a:cs typeface="Times New Roman" panose="02020603050405020304" pitchFamily="18" charset="0"/>
                  </a:rPr>
                  <a:t>5-1</a:t>
                </a:r>
                <a:r>
                  <a:rPr lang="zh-CN" altLang="en-US" sz="2000" dirty="0">
                    <a:latin typeface="Times New Roman" panose="02020603050405020304" pitchFamily="18" charset="0"/>
                    <a:cs typeface="Times New Roman" panose="02020603050405020304" pitchFamily="18" charset="0"/>
                  </a:rPr>
                  <a:t>的决策者在原材料供应受严格限制的基础上考虑</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lnSpc>
                    <a:spcPct val="110000"/>
                  </a:lnSpc>
                  <a:spcBef>
                    <a:spcPct val="0"/>
                  </a:spcBef>
                </a:pPr>
                <a:r>
                  <a:rPr lang="zh-CN" altLang="en-US" sz="2000" dirty="0" smtClean="0">
                    <a:latin typeface="Times New Roman" panose="02020603050405020304" pitchFamily="18" charset="0"/>
                    <a:cs typeface="Times New Roman" panose="02020603050405020304" pitchFamily="18" charset="0"/>
                  </a:rPr>
                  <a:t>首先</a:t>
                </a:r>
                <a:r>
                  <a:rPr lang="zh-CN" altLang="en-US" sz="2000" dirty="0">
                    <a:latin typeface="Times New Roman" panose="02020603050405020304" pitchFamily="18" charset="0"/>
                    <a:cs typeface="Times New Roman" panose="02020603050405020304" pitchFamily="18" charset="0"/>
                  </a:rPr>
                  <a:t>是产品</a:t>
                </a:r>
                <a:r>
                  <a:rPr lang="en-US" altLang="zh-CN" sz="2000" dirty="0">
                    <a:latin typeface="Times New Roman" panose="02020603050405020304" pitchFamily="18" charset="0"/>
                    <a:cs typeface="Times New Roman" panose="02020603050405020304" pitchFamily="18" charset="0"/>
                  </a:rPr>
                  <a:t>Ⅱ</a:t>
                </a:r>
                <a:r>
                  <a:rPr lang="zh-CN" altLang="en-US" sz="2000" dirty="0">
                    <a:latin typeface="Times New Roman" panose="02020603050405020304" pitchFamily="18" charset="0"/>
                    <a:cs typeface="Times New Roman" panose="02020603050405020304" pitchFamily="18" charset="0"/>
                  </a:rPr>
                  <a:t>的产量不低于产品</a:t>
                </a:r>
                <a:r>
                  <a:rPr lang="en-US" altLang="zh-CN" sz="2000" dirty="0">
                    <a:latin typeface="Times New Roman" panose="02020603050405020304" pitchFamily="18" charset="0"/>
                    <a:cs typeface="Times New Roman" panose="02020603050405020304" pitchFamily="18" charset="0"/>
                  </a:rPr>
                  <a:t>Ⅰ</a:t>
                </a:r>
                <a:r>
                  <a:rPr lang="zh-CN" altLang="en-US" sz="2000" dirty="0">
                    <a:latin typeface="Times New Roman" panose="02020603050405020304" pitchFamily="18" charset="0"/>
                    <a:cs typeface="Times New Roman" panose="02020603050405020304" pitchFamily="18" charset="0"/>
                  </a:rPr>
                  <a:t>的产量</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lnSpc>
                    <a:spcPct val="110000"/>
                  </a:lnSpc>
                  <a:spcBef>
                    <a:spcPct val="0"/>
                  </a:spcBef>
                </a:pPr>
                <a:endParaRPr lang="en-US" altLang="zh-CN" sz="2000" dirty="0" smtClean="0">
                  <a:latin typeface="Times New Roman" panose="02020603050405020304" pitchFamily="18" charset="0"/>
                  <a:cs typeface="Times New Roman" panose="02020603050405020304" pitchFamily="18" charset="0"/>
                </a:endParaRPr>
              </a:p>
              <a:p>
                <a:pPr lvl="1">
                  <a:lnSpc>
                    <a:spcPct val="110000"/>
                  </a:lnSpc>
                  <a:spcBef>
                    <a:spcPct val="0"/>
                  </a:spcBef>
                </a:pPr>
                <a:r>
                  <a:rPr lang="zh-CN" altLang="en-US" sz="2000" dirty="0" smtClean="0">
                    <a:latin typeface="Times New Roman" panose="02020603050405020304" pitchFamily="18" charset="0"/>
                    <a:cs typeface="Times New Roman" panose="02020603050405020304" pitchFamily="18" charset="0"/>
                  </a:rPr>
                  <a:t>其次</a:t>
                </a:r>
                <a:r>
                  <a:rPr lang="zh-CN" altLang="en-US" sz="2000" dirty="0">
                    <a:latin typeface="Times New Roman" panose="02020603050405020304" pitchFamily="18" charset="0"/>
                    <a:cs typeface="Times New Roman" panose="02020603050405020304" pitchFamily="18" charset="0"/>
                  </a:rPr>
                  <a:t>是充分利用设备有效台时，不加班</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lvl="1">
                  <a:lnSpc>
                    <a:spcPct val="110000"/>
                  </a:lnSpc>
                  <a:spcBef>
                    <a:spcPct val="0"/>
                  </a:spcBef>
                </a:pPr>
                <a:endParaRPr lang="en-US" altLang="zh-CN" sz="2000" dirty="0" smtClean="0">
                  <a:latin typeface="Times New Roman" panose="02020603050405020304" pitchFamily="18" charset="0"/>
                  <a:cs typeface="Times New Roman" panose="02020603050405020304" pitchFamily="18" charset="0"/>
                </a:endParaRPr>
              </a:p>
              <a:p>
                <a:pPr lvl="1">
                  <a:lnSpc>
                    <a:spcPct val="110000"/>
                  </a:lnSpc>
                  <a:spcBef>
                    <a:spcPct val="0"/>
                  </a:spcBef>
                </a:pPr>
                <a:r>
                  <a:rPr lang="zh-CN" altLang="en-US" sz="2000" dirty="0" smtClean="0">
                    <a:latin typeface="Times New Roman" panose="02020603050405020304" pitchFamily="18" charset="0"/>
                    <a:cs typeface="Times New Roman" panose="02020603050405020304" pitchFamily="18" charset="0"/>
                  </a:rPr>
                  <a:t>再次</a:t>
                </a:r>
                <a:r>
                  <a:rPr lang="zh-CN" altLang="en-US" sz="2000" dirty="0">
                    <a:latin typeface="Times New Roman" panose="02020603050405020304" pitchFamily="18" charset="0"/>
                    <a:cs typeface="Times New Roman" panose="02020603050405020304" pitchFamily="18" charset="0"/>
                  </a:rPr>
                  <a:t>是利润额不小于</a:t>
                </a:r>
                <a:r>
                  <a:rPr lang="en-US" altLang="zh-CN" sz="2000" dirty="0">
                    <a:latin typeface="Times New Roman" panose="02020603050405020304" pitchFamily="18" charset="0"/>
                    <a:cs typeface="Times New Roman" panose="02020603050405020304" pitchFamily="18" charset="0"/>
                  </a:rPr>
                  <a:t>56</a:t>
                </a:r>
                <a:r>
                  <a:rPr lang="zh-CN" altLang="en-US" sz="2000" dirty="0">
                    <a:latin typeface="Times New Roman" panose="02020603050405020304" pitchFamily="18" charset="0"/>
                    <a:cs typeface="Times New Roman" panose="02020603050405020304" pitchFamily="18" charset="0"/>
                  </a:rPr>
                  <a:t>元。求最佳决策方案 </a:t>
                </a:r>
                <a:r>
                  <a:rPr lang="zh-CN" altLang="en-US" sz="2000" dirty="0" smtClean="0">
                    <a:latin typeface="Times New Roman" panose="02020603050405020304" pitchFamily="18" charset="0"/>
                    <a:cs typeface="Times New Roman" panose="02020603050405020304" pitchFamily="18" charset="0"/>
                  </a:rPr>
                  <a:t>。</a:t>
                </a:r>
                <a:endParaRPr lang="en-US" altLang="zh-CN" sz="2000" dirty="0" smtClean="0">
                  <a:latin typeface="Times New Roman" panose="02020603050405020304" pitchFamily="18" charset="0"/>
                  <a:cs typeface="Times New Roman" panose="02020603050405020304" pitchFamily="18" charset="0"/>
                </a:endParaRPr>
              </a:p>
              <a:p>
                <a:pPr marL="457200" lvl="1" indent="0">
                  <a:lnSpc>
                    <a:spcPct val="110000"/>
                  </a:lnSpc>
                  <a:spcBef>
                    <a:spcPct val="0"/>
                  </a:spcBef>
                  <a:buNone/>
                </a:pPr>
                <a:r>
                  <a:rPr lang="zh-CN" altLang="en-US" sz="2000" b="0" dirty="0" smtClean="0"/>
                  <a:t>      </a:t>
                </a:r>
                <a14:m>
                  <m:oMath xmlns:m="http://schemas.openxmlformats.org/officeDocument/2006/math">
                    <m:r>
                      <a:rPr lang="zh-CN" altLang="en-US" sz="2000" b="0">
                        <a:latin typeface="Cambria Math" panose="02040503050406030204" pitchFamily="18" charset="0"/>
                      </a:rPr>
                      <m:t>8</m:t>
                    </m:r>
                    <m:sSub>
                      <m:sSubPr>
                        <m:ctrlPr>
                          <a:rPr lang="zh-CN" altLang="en-US" sz="2000" b="0" i="1">
                            <a:latin typeface="Cambria Math" panose="02040503050406030204" pitchFamily="18" charset="0"/>
                          </a:rPr>
                        </m:ctrlPr>
                      </m:sSubPr>
                      <m:e>
                        <m:r>
                          <a:rPr lang="zh-CN" altLang="en-US" sz="2000" b="0" i="1">
                            <a:latin typeface="Cambria Math" panose="02040503050406030204" pitchFamily="18" charset="0"/>
                          </a:rPr>
                          <m:t>𝑥</m:t>
                        </m:r>
                      </m:e>
                      <m:sub>
                        <m:r>
                          <a:rPr lang="zh-CN" altLang="en-US" sz="2000" b="0">
                            <a:latin typeface="Cambria Math" panose="02040503050406030204" pitchFamily="18" charset="0"/>
                          </a:rPr>
                          <m:t>1</m:t>
                        </m:r>
                      </m:sub>
                    </m:sSub>
                    <m:r>
                      <a:rPr lang="zh-CN" altLang="en-US" sz="2000" b="0">
                        <a:latin typeface="Cambria Math" panose="02040503050406030204" pitchFamily="18" charset="0"/>
                      </a:rPr>
                      <m:t>+10</m:t>
                    </m:r>
                    <m:sSub>
                      <m:sSubPr>
                        <m:ctrlPr>
                          <a:rPr lang="zh-CN" altLang="en-US" sz="2000" b="0" i="1">
                            <a:latin typeface="Cambria Math" panose="02040503050406030204" pitchFamily="18" charset="0"/>
                          </a:rPr>
                        </m:ctrlPr>
                      </m:sSubPr>
                      <m:e>
                        <m:r>
                          <a:rPr lang="zh-CN" altLang="en-US" sz="2000" b="0" i="1">
                            <a:latin typeface="Cambria Math" panose="02040503050406030204" pitchFamily="18" charset="0"/>
                          </a:rPr>
                          <m:t>𝑥</m:t>
                        </m:r>
                      </m:e>
                      <m:sub>
                        <m:r>
                          <a:rPr lang="zh-CN" altLang="en-US" sz="2000" b="0">
                            <a:latin typeface="Cambria Math" panose="02040503050406030204" pitchFamily="18" charset="0"/>
                          </a:rPr>
                          <m:t>2</m:t>
                        </m:r>
                      </m:sub>
                    </m:sSub>
                    <m:r>
                      <a:rPr lang="zh-CN" altLang="en-US" sz="2000" b="0">
                        <a:latin typeface="Cambria Math" panose="02040503050406030204" pitchFamily="18" charset="0"/>
                      </a:rPr>
                      <m:t>+</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3</m:t>
                        </m:r>
                      </m:sub>
                      <m:sup>
                        <m:r>
                          <a:rPr lang="zh-CN" altLang="en-US" sz="2000" b="0">
                            <a:latin typeface="Cambria Math" panose="02040503050406030204" pitchFamily="18" charset="0"/>
                          </a:rPr>
                          <m:t>−</m:t>
                        </m:r>
                      </m:sup>
                    </m:sSubSup>
                    <m:r>
                      <a:rPr lang="zh-CN" altLang="en-US" sz="2000" b="0">
                        <a:latin typeface="Cambria Math" panose="02040503050406030204" pitchFamily="18" charset="0"/>
                      </a:rPr>
                      <m:t>−</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3</m:t>
                        </m:r>
                      </m:sub>
                      <m:sup>
                        <m:r>
                          <a:rPr lang="zh-CN" altLang="en-US" sz="2000" b="0">
                            <a:latin typeface="Cambria Math" panose="02040503050406030204" pitchFamily="18" charset="0"/>
                          </a:rPr>
                          <m:t>+</m:t>
                        </m:r>
                      </m:sup>
                    </m:sSubSup>
                    <m:r>
                      <a:rPr lang="zh-CN" altLang="en-US" sz="2000" b="0">
                        <a:latin typeface="Cambria Math" panose="02040503050406030204" pitchFamily="18" charset="0"/>
                      </a:rPr>
                      <m:t>=56</m:t>
                    </m:r>
                    <m:r>
                      <a:rPr lang="en-US" altLang="zh-CN" sz="2000" b="0">
                        <a:latin typeface="Cambria Math" panose="02040503050406030204" pitchFamily="18" charset="0"/>
                      </a:rPr>
                      <m:t> </m:t>
                    </m:r>
                  </m:oMath>
                </a14:m>
                <a:r>
                  <a:rPr lang="zh-CN" altLang="en-US" sz="2000" dirty="0" smtClean="0">
                    <a:latin typeface="Times New Roman" panose="02020603050405020304" pitchFamily="18" charset="0"/>
                    <a:cs typeface="Times New Roman" panose="02020603050405020304" pitchFamily="18" charset="0"/>
                  </a:rPr>
                  <a:t> </a:t>
                </a:r>
                <a:endParaRPr lang="en-US" altLang="zh-CN" sz="2000" dirty="0" smtClean="0">
                  <a:latin typeface="Times New Roman" panose="02020603050405020304" pitchFamily="18" charset="0"/>
                  <a:cs typeface="Times New Roman" panose="02020603050405020304" pitchFamily="18" charset="0"/>
                </a:endParaRPr>
              </a:p>
              <a:p>
                <a:pPr>
                  <a:lnSpc>
                    <a:spcPct val="110000"/>
                  </a:lnSpc>
                  <a:spcBef>
                    <a:spcPct val="0"/>
                  </a:spcBef>
                </a:pPr>
                <a:r>
                  <a:rPr lang="zh-CN" altLang="en-US" sz="2000" dirty="0" smtClean="0">
                    <a:latin typeface="Times New Roman" panose="02020603050405020304" pitchFamily="18" charset="0"/>
                    <a:cs typeface="Times New Roman" panose="02020603050405020304" pitchFamily="18" charset="0"/>
                  </a:rPr>
                  <a:t>解</a:t>
                </a:r>
                <a:r>
                  <a:rPr lang="zh-CN" altLang="en-US" sz="2000" dirty="0">
                    <a:latin typeface="Times New Roman" panose="02020603050405020304" pitchFamily="18" charset="0"/>
                    <a:cs typeface="Times New Roman" panose="02020603050405020304" pitchFamily="18" charset="0"/>
                  </a:rPr>
                  <a:t>：按决策者所的要求，分别赋予这三个目标优先因子</a:t>
                </a:r>
                <a:r>
                  <a:rPr lang="en-US" altLang="zh-CN" sz="2000" i="1" dirty="0">
                    <a:latin typeface="Times New Roman" panose="02020603050405020304" pitchFamily="18" charset="0"/>
                    <a:cs typeface="Times New Roman" panose="02020603050405020304" pitchFamily="18" charset="0"/>
                  </a:rPr>
                  <a:t>P</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P</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P</a:t>
                </a:r>
                <a:r>
                  <a:rPr lang="en-US" altLang="zh-CN" sz="2000" baseline="-30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，得到本问题的数学模型为：</a:t>
                </a:r>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467544" y="1196752"/>
                <a:ext cx="8600256" cy="4114800"/>
              </a:xfrm>
              <a:blipFill>
                <a:blip r:embed="rId3"/>
                <a:stretch>
                  <a:fillRect l="-638" t="-1037"/>
                </a:stretch>
              </a:blipFill>
            </p:spPr>
            <p:txBody>
              <a:bodyPr/>
              <a:lstStyle/>
              <a:p>
                <a:r>
                  <a:rPr lang="zh-CN" altLang="en-US">
                    <a:noFill/>
                  </a:rPr>
                  <a:t> </a:t>
                </a:r>
              </a:p>
            </p:txBody>
          </p:sp>
        </mc:Fallback>
      </mc:AlternateContent>
      <p:graphicFrame>
        <p:nvGraphicFramePr>
          <p:cNvPr id="7" name="Object 4">
            <a:extLst>
              <a:ext uri="{FF2B5EF4-FFF2-40B4-BE49-F238E27FC236}">
                <a16:creationId xmlns:a16="http://schemas.microsoft.com/office/drawing/2014/main" id="{0BE2EFFD-2181-4974-A719-141D0C08887F}"/>
              </a:ext>
            </a:extLst>
          </p:cNvPr>
          <p:cNvGraphicFramePr>
            <a:graphicFrameLocks noChangeAspect="1"/>
          </p:cNvGraphicFramePr>
          <p:nvPr>
            <p:extLst>
              <p:ext uri="{D42A27DB-BD31-4B8C-83A1-F6EECF244321}">
                <p14:modId xmlns:p14="http://schemas.microsoft.com/office/powerpoint/2010/main" val="154390081"/>
              </p:ext>
            </p:extLst>
          </p:nvPr>
        </p:nvGraphicFramePr>
        <p:xfrm>
          <a:off x="2234053" y="4439690"/>
          <a:ext cx="4095142" cy="2127936"/>
        </p:xfrm>
        <a:graphic>
          <a:graphicData uri="http://schemas.openxmlformats.org/presentationml/2006/ole">
            <mc:AlternateContent xmlns:mc="http://schemas.openxmlformats.org/markup-compatibility/2006">
              <mc:Choice xmlns:v="urn:schemas-microsoft-com:vml" Requires="v">
                <p:oleObj spid="_x0000_s708665" name="Equation" r:id="rId4" imgW="2882880" imgH="1498320" progId="Equation.DSMT4">
                  <p:embed/>
                </p:oleObj>
              </mc:Choice>
              <mc:Fallback>
                <p:oleObj name="Equation" r:id="rId4" imgW="2882880" imgH="1498320" progId="Equation.DSMT4">
                  <p:embed/>
                  <p:pic>
                    <p:nvPicPr>
                      <p:cNvPr id="708612" name="Object 4">
                        <a:extLst>
                          <a:ext uri="{FF2B5EF4-FFF2-40B4-BE49-F238E27FC236}">
                            <a16:creationId xmlns:a16="http://schemas.microsoft.com/office/drawing/2014/main" id="{0BE2EFFD-2181-4974-A719-141D0C08887F}"/>
                          </a:ext>
                        </a:extLst>
                      </p:cNvPr>
                      <p:cNvPicPr>
                        <a:picLocks noChangeAspect="1" noChangeArrowheads="1"/>
                      </p:cNvPicPr>
                      <p:nvPr/>
                    </p:nvPicPr>
                    <p:blipFill>
                      <a:blip r:embed="rId5"/>
                      <a:srcRect/>
                      <a:stretch>
                        <a:fillRect/>
                      </a:stretch>
                    </p:blipFill>
                    <p:spPr bwMode="auto">
                      <a:xfrm>
                        <a:off x="2234053" y="4439690"/>
                        <a:ext cx="4095142" cy="2127936"/>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sp>
            <p:nvSpPr>
              <p:cNvPr id="3" name="矩形 2"/>
              <p:cNvSpPr/>
              <p:nvPr/>
            </p:nvSpPr>
            <p:spPr>
              <a:xfrm>
                <a:off x="1075289" y="1864529"/>
                <a:ext cx="2975686" cy="400110"/>
              </a:xfrm>
              <a:prstGeom prst="rect">
                <a:avLst/>
              </a:prstGeom>
            </p:spPr>
            <p:txBody>
              <a:bodyPr wrap="none">
                <a:spAutoFit/>
              </a:bodyPr>
              <a:lstStyle/>
              <a:p>
                <a14:m>
                  <m:oMath xmlns:m="http://schemas.openxmlformats.org/officeDocument/2006/math">
                    <m:sSub>
                      <m:sSubPr>
                        <m:ctrlPr>
                          <a:rPr lang="zh-CN" altLang="en-US" sz="2000" b="0" i="1">
                            <a:latin typeface="Cambria Math" panose="02040503050406030204" pitchFamily="18" charset="0"/>
                          </a:rPr>
                        </m:ctrlPr>
                      </m:sSubPr>
                      <m:e>
                        <m:r>
                          <a:rPr lang="zh-CN" altLang="en-US" sz="2000" b="0" i="1">
                            <a:latin typeface="Cambria Math" panose="02040503050406030204" pitchFamily="18" charset="0"/>
                          </a:rPr>
                          <m:t>𝑥</m:t>
                        </m:r>
                      </m:e>
                      <m:sub>
                        <m:r>
                          <a:rPr lang="zh-CN" altLang="en-US" sz="2000" b="0">
                            <a:latin typeface="Cambria Math" panose="02040503050406030204" pitchFamily="18" charset="0"/>
                          </a:rPr>
                          <m:t>1</m:t>
                        </m:r>
                      </m:sub>
                    </m:sSub>
                    <m:r>
                      <a:rPr lang="zh-CN" altLang="en-US" sz="2000" b="0">
                        <a:latin typeface="Cambria Math" panose="02040503050406030204" pitchFamily="18" charset="0"/>
                      </a:rPr>
                      <m:t>−</m:t>
                    </m:r>
                    <m:sSub>
                      <m:sSubPr>
                        <m:ctrlPr>
                          <a:rPr lang="zh-CN" altLang="en-US" sz="2000" b="0" i="1">
                            <a:latin typeface="Cambria Math" panose="02040503050406030204" pitchFamily="18" charset="0"/>
                          </a:rPr>
                        </m:ctrlPr>
                      </m:sSubPr>
                      <m:e>
                        <m:r>
                          <a:rPr lang="zh-CN" altLang="en-US" sz="2000" b="0" i="1">
                            <a:latin typeface="Cambria Math" panose="02040503050406030204" pitchFamily="18" charset="0"/>
                          </a:rPr>
                          <m:t>𝑥</m:t>
                        </m:r>
                      </m:e>
                      <m:sub>
                        <m:r>
                          <a:rPr lang="zh-CN" altLang="en-US" sz="2000" b="0">
                            <a:latin typeface="Cambria Math" panose="02040503050406030204" pitchFamily="18" charset="0"/>
                          </a:rPr>
                          <m:t>2</m:t>
                        </m:r>
                      </m:sub>
                    </m:sSub>
                    <m:r>
                      <a:rPr lang="zh-CN" altLang="en-US" sz="2000" b="0">
                        <a:latin typeface="Cambria Math" panose="02040503050406030204" pitchFamily="18" charset="0"/>
                      </a:rPr>
                      <m:t>+</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1</m:t>
                        </m:r>
                      </m:sub>
                      <m:sup>
                        <m:r>
                          <a:rPr lang="zh-CN" altLang="en-US" sz="2000" b="0">
                            <a:latin typeface="Cambria Math" panose="02040503050406030204" pitchFamily="18" charset="0"/>
                          </a:rPr>
                          <m:t>−</m:t>
                        </m:r>
                      </m:sup>
                    </m:sSubSup>
                    <m:r>
                      <a:rPr lang="zh-CN" altLang="en-US" sz="2000" b="0">
                        <a:latin typeface="Cambria Math" panose="02040503050406030204" pitchFamily="18" charset="0"/>
                      </a:rPr>
                      <m:t>−</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1</m:t>
                        </m:r>
                      </m:sub>
                      <m:sup>
                        <m:r>
                          <a:rPr lang="zh-CN" altLang="en-US" sz="2000" b="0">
                            <a:latin typeface="Cambria Math" panose="02040503050406030204" pitchFamily="18" charset="0"/>
                          </a:rPr>
                          <m:t>+</m:t>
                        </m:r>
                      </m:sup>
                    </m:sSubSup>
                    <m:r>
                      <a:rPr lang="zh-CN" altLang="en-US" sz="2000" b="0">
                        <a:latin typeface="Cambria Math" panose="02040503050406030204" pitchFamily="18" charset="0"/>
                      </a:rPr>
                      <m:t>=0</m:t>
                    </m:r>
                    <m:r>
                      <a:rPr lang="en-US" altLang="zh-CN" sz="2000" b="0">
                        <a:latin typeface="Cambria Math" panose="02040503050406030204" pitchFamily="18" charset="0"/>
                      </a:rPr>
                      <m:t> </m:t>
                    </m:r>
                  </m:oMath>
                </a14:m>
                <a:endParaRPr lang="zh-CN" altLang="en-US" sz="2000" dirty="0"/>
              </a:p>
            </p:txBody>
          </p:sp>
        </mc:Choice>
        <mc:Fallback xmlns="">
          <p:sp>
            <p:nvSpPr>
              <p:cNvPr id="3" name="矩形 2"/>
              <p:cNvSpPr>
                <a:spLocks noRot="1" noChangeAspect="1" noMove="1" noResize="1" noEditPoints="1" noAdjustHandles="1" noChangeArrowheads="1" noChangeShapeType="1" noTextEdit="1"/>
              </p:cNvSpPr>
              <p:nvPr/>
            </p:nvSpPr>
            <p:spPr>
              <a:xfrm>
                <a:off x="1075289" y="1864529"/>
                <a:ext cx="2975686" cy="400110"/>
              </a:xfrm>
              <a:prstGeom prst="rect">
                <a:avLst/>
              </a:prstGeom>
              <a:blipFill>
                <a:blip r:embed="rId6"/>
                <a:stretch>
                  <a:fillRect l="-1840" t="-3077" b="-2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767672" y="1826856"/>
                <a:ext cx="1222514" cy="400110"/>
              </a:xfrm>
              <a:prstGeom prst="rect">
                <a:avLst/>
              </a:prstGeom>
            </p:spPr>
            <p:txBody>
              <a:bodyPr wrap="none">
                <a:spAutoFit/>
              </a:bodyPr>
              <a:lstStyle/>
              <a:p>
                <a14:m>
                  <m:oMath xmlns:m="http://schemas.openxmlformats.org/officeDocument/2006/math">
                    <m:sSubSup>
                      <m:sSubSupPr>
                        <m:ctrlPr>
                          <a:rPr lang="zh-CN" altLang="en-US" sz="2000" b="0" i="1" smtClean="0">
                            <a:latin typeface="Cambria Math" panose="02040503050406030204" pitchFamily="18" charset="0"/>
                          </a:rPr>
                        </m:ctrlPr>
                      </m:sSubSupPr>
                      <m:e>
                        <m:r>
                          <a:rPr lang="en-US" altLang="zh-CN" sz="2000" b="0" i="1" smtClean="0">
                            <a:latin typeface="Cambria Math" panose="02040503050406030204" pitchFamily="18" charset="0"/>
                          </a:rPr>
                          <m:t>𝑚𝑖𝑛</m:t>
                        </m:r>
                        <m:r>
                          <a:rPr lang="en-US" altLang="zh-CN" sz="2000" b="0" i="1" smtClean="0">
                            <a:latin typeface="Cambria Math" panose="02040503050406030204" pitchFamily="18" charset="0"/>
                          </a:rPr>
                          <m:t> </m:t>
                        </m:r>
                        <m:r>
                          <a:rPr lang="zh-CN" altLang="en-US" sz="2000" b="0" i="1">
                            <a:latin typeface="Cambria Math" panose="02040503050406030204" pitchFamily="18" charset="0"/>
                          </a:rPr>
                          <m:t>𝑑</m:t>
                        </m:r>
                      </m:e>
                      <m:sub>
                        <m:r>
                          <a:rPr lang="zh-CN" altLang="en-US" sz="2000" b="0" i="0">
                            <a:latin typeface="Cambria Math" panose="02040503050406030204" pitchFamily="18" charset="0"/>
                          </a:rPr>
                          <m:t>1</m:t>
                        </m:r>
                      </m:sub>
                      <m:sup>
                        <m:r>
                          <a:rPr lang="zh-CN" altLang="en-US" sz="2000" b="0" i="0">
                            <a:latin typeface="Cambria Math" panose="02040503050406030204" pitchFamily="18" charset="0"/>
                          </a:rPr>
                          <m:t>+</m:t>
                        </m:r>
                      </m:sup>
                    </m:sSubSup>
                  </m:oMath>
                </a14:m>
                <a:endParaRPr lang="zh-CN" altLang="en-US" sz="2000" b="0" dirty="0"/>
              </a:p>
            </p:txBody>
          </p:sp>
        </mc:Choice>
        <mc:Fallback xmlns="">
          <p:sp>
            <p:nvSpPr>
              <p:cNvPr id="4" name="矩形 3"/>
              <p:cNvSpPr>
                <a:spLocks noRot="1" noChangeAspect="1" noMove="1" noResize="1" noEditPoints="1" noAdjustHandles="1" noChangeArrowheads="1" noChangeShapeType="1" noTextEdit="1"/>
              </p:cNvSpPr>
              <p:nvPr/>
            </p:nvSpPr>
            <p:spPr>
              <a:xfrm>
                <a:off x="4767672" y="1826856"/>
                <a:ext cx="1222514" cy="400110"/>
              </a:xfrm>
              <a:prstGeom prst="rect">
                <a:avLst/>
              </a:prstGeom>
              <a:blipFill>
                <a:blip r:embed="rId7"/>
                <a:stretch>
                  <a:fillRect l="-4478" t="-3077" b="-24615"/>
                </a:stretch>
              </a:blipFill>
            </p:spPr>
            <p:txBody>
              <a:bodyPr/>
              <a:lstStyle/>
              <a:p>
                <a:r>
                  <a:rPr lang="zh-CN" altLang="en-US">
                    <a:noFill/>
                  </a:rPr>
                  <a:t> </a:t>
                </a:r>
              </a:p>
            </p:txBody>
          </p:sp>
        </mc:Fallback>
      </mc:AlternateContent>
      <p:sp>
        <p:nvSpPr>
          <p:cNvPr id="5" name="右箭头 4"/>
          <p:cNvSpPr/>
          <p:nvPr/>
        </p:nvSpPr>
        <p:spPr bwMode="auto">
          <a:xfrm>
            <a:off x="4527820" y="1988840"/>
            <a:ext cx="404220" cy="143788"/>
          </a:xfrm>
          <a:prstGeom prst="rightArrow">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1" name="矩形 10"/>
              <p:cNvSpPr/>
              <p:nvPr/>
            </p:nvSpPr>
            <p:spPr>
              <a:xfrm>
                <a:off x="1076708" y="2482175"/>
                <a:ext cx="3204916" cy="400110"/>
              </a:xfrm>
              <a:prstGeom prst="rect">
                <a:avLst/>
              </a:prstGeom>
            </p:spPr>
            <p:txBody>
              <a:bodyPr wrap="none">
                <a:spAutoFit/>
              </a:bodyPr>
              <a:lstStyle/>
              <a:p>
                <a14:m>
                  <m:oMath xmlns:m="http://schemas.openxmlformats.org/officeDocument/2006/math">
                    <m:sSub>
                      <m:sSubPr>
                        <m:ctrlPr>
                          <a:rPr lang="zh-CN" altLang="en-US" sz="2000" b="0" i="1">
                            <a:latin typeface="Cambria Math" panose="02040503050406030204" pitchFamily="18" charset="0"/>
                          </a:rPr>
                        </m:ctrlPr>
                      </m:sSubPr>
                      <m:e>
                        <m:r>
                          <a:rPr lang="zh-CN" altLang="en-US" sz="2000" b="0" i="1">
                            <a:latin typeface="Cambria Math" panose="02040503050406030204" pitchFamily="18" charset="0"/>
                          </a:rPr>
                          <m:t>𝑥</m:t>
                        </m:r>
                      </m:e>
                      <m:sub>
                        <m:r>
                          <a:rPr lang="zh-CN" altLang="en-US" sz="2000" b="0">
                            <a:latin typeface="Cambria Math" panose="02040503050406030204" pitchFamily="18" charset="0"/>
                          </a:rPr>
                          <m:t>1</m:t>
                        </m:r>
                      </m:sub>
                    </m:sSub>
                    <m:r>
                      <a:rPr lang="zh-CN" altLang="en-US" sz="2000" b="0">
                        <a:latin typeface="Cambria Math" panose="02040503050406030204" pitchFamily="18" charset="0"/>
                      </a:rPr>
                      <m:t>+2</m:t>
                    </m:r>
                    <m:sSub>
                      <m:sSubPr>
                        <m:ctrlPr>
                          <a:rPr lang="zh-CN" altLang="en-US" sz="2000" b="0" i="1">
                            <a:latin typeface="Cambria Math" panose="02040503050406030204" pitchFamily="18" charset="0"/>
                          </a:rPr>
                        </m:ctrlPr>
                      </m:sSubPr>
                      <m:e>
                        <m:r>
                          <a:rPr lang="zh-CN" altLang="en-US" sz="2000" b="0" i="1">
                            <a:latin typeface="Cambria Math" panose="02040503050406030204" pitchFamily="18" charset="0"/>
                          </a:rPr>
                          <m:t>𝑥</m:t>
                        </m:r>
                      </m:e>
                      <m:sub>
                        <m:r>
                          <a:rPr lang="zh-CN" altLang="en-US" sz="2000" b="0">
                            <a:latin typeface="Cambria Math" panose="02040503050406030204" pitchFamily="18" charset="0"/>
                          </a:rPr>
                          <m:t>2</m:t>
                        </m:r>
                      </m:sub>
                    </m:sSub>
                    <m:r>
                      <a:rPr lang="zh-CN" altLang="en-US" sz="2000" b="0">
                        <a:latin typeface="Cambria Math" panose="02040503050406030204" pitchFamily="18" charset="0"/>
                      </a:rPr>
                      <m:t>+</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2</m:t>
                        </m:r>
                      </m:sub>
                      <m:sup>
                        <m:r>
                          <a:rPr lang="zh-CN" altLang="en-US" sz="2000" b="0">
                            <a:latin typeface="Cambria Math" panose="02040503050406030204" pitchFamily="18" charset="0"/>
                          </a:rPr>
                          <m:t>−</m:t>
                        </m:r>
                      </m:sup>
                    </m:sSubSup>
                    <m:r>
                      <a:rPr lang="zh-CN" altLang="en-US" sz="2000" b="0">
                        <a:latin typeface="Cambria Math" panose="02040503050406030204" pitchFamily="18" charset="0"/>
                      </a:rPr>
                      <m:t>−</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2</m:t>
                        </m:r>
                      </m:sub>
                      <m:sup>
                        <m:r>
                          <a:rPr lang="zh-CN" altLang="en-US" sz="2000" b="0">
                            <a:latin typeface="Cambria Math" panose="02040503050406030204" pitchFamily="18" charset="0"/>
                          </a:rPr>
                          <m:t>+</m:t>
                        </m:r>
                      </m:sup>
                    </m:sSubSup>
                    <m:r>
                      <a:rPr lang="zh-CN" altLang="en-US" sz="2000" b="0">
                        <a:latin typeface="Cambria Math" panose="02040503050406030204" pitchFamily="18" charset="0"/>
                      </a:rPr>
                      <m:t>=10</m:t>
                    </m:r>
                  </m:oMath>
                </a14:m>
                <a:endParaRPr lang="zh-CN" altLang="en-US" sz="2000" dirty="0"/>
              </a:p>
            </p:txBody>
          </p:sp>
        </mc:Choice>
        <mc:Fallback xmlns="">
          <p:sp>
            <p:nvSpPr>
              <p:cNvPr id="11" name="矩形 10"/>
              <p:cNvSpPr>
                <a:spLocks noRot="1" noChangeAspect="1" noMove="1" noResize="1" noEditPoints="1" noAdjustHandles="1" noChangeArrowheads="1" noChangeShapeType="1" noTextEdit="1"/>
              </p:cNvSpPr>
              <p:nvPr/>
            </p:nvSpPr>
            <p:spPr>
              <a:xfrm>
                <a:off x="1076708" y="2482175"/>
                <a:ext cx="3204916" cy="400110"/>
              </a:xfrm>
              <a:prstGeom prst="rect">
                <a:avLst/>
              </a:prstGeom>
              <a:blipFill>
                <a:blip r:embed="rId8"/>
                <a:stretch>
                  <a:fillRect l="-1714" t="-3030" b="-242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797140" y="2452826"/>
                <a:ext cx="2044599" cy="400110"/>
              </a:xfrm>
              <a:prstGeom prst="rect">
                <a:avLst/>
              </a:prstGeom>
            </p:spPr>
            <p:txBody>
              <a:bodyPr wrap="none">
                <a:spAutoFit/>
              </a:bodyPr>
              <a:lstStyle/>
              <a:p>
                <a14:m>
                  <m:oMath xmlns:m="http://schemas.openxmlformats.org/officeDocument/2006/math">
                    <m:sSubSup>
                      <m:sSubSupPr>
                        <m:ctrlPr>
                          <a:rPr lang="zh-CN" altLang="en-US" sz="2000" b="0" i="1" smtClean="0">
                            <a:latin typeface="Cambria Math" panose="02040503050406030204" pitchFamily="18" charset="0"/>
                          </a:rPr>
                        </m:ctrlPr>
                      </m:sSubSupPr>
                      <m:e>
                        <m:r>
                          <a:rPr lang="en-US" altLang="zh-CN" sz="2000" b="0" i="1" smtClean="0">
                            <a:latin typeface="Cambria Math" panose="02040503050406030204" pitchFamily="18" charset="0"/>
                          </a:rPr>
                          <m:t>𝑚𝑖𝑛</m:t>
                        </m:r>
                        <m:r>
                          <a:rPr lang="en-US" altLang="zh-CN" sz="2000" b="0" i="1" smtClean="0">
                            <a:latin typeface="Cambria Math" panose="02040503050406030204" pitchFamily="18" charset="0"/>
                          </a:rPr>
                          <m:t> (</m:t>
                        </m:r>
                        <m:sSubSup>
                          <m:sSubSupPr>
                            <m:ctrlPr>
                              <a:rPr lang="zh-CN" altLang="en-US" sz="2000" b="0" i="1">
                                <a:latin typeface="Cambria Math" panose="02040503050406030204" pitchFamily="18" charset="0"/>
                              </a:rPr>
                            </m:ctrlPr>
                          </m:sSubSupPr>
                          <m:e>
                            <m:r>
                              <a:rPr lang="zh-CN" altLang="en-US" sz="2000" b="0" i="1">
                                <a:latin typeface="Cambria Math" panose="02040503050406030204" pitchFamily="18" charset="0"/>
                              </a:rPr>
                              <m:t>𝑑</m:t>
                            </m:r>
                          </m:e>
                          <m:sub>
                            <m:r>
                              <a:rPr lang="zh-CN" altLang="en-US" sz="2000" b="0">
                                <a:latin typeface="Cambria Math" panose="02040503050406030204" pitchFamily="18" charset="0"/>
                              </a:rPr>
                              <m:t>2</m:t>
                            </m:r>
                          </m:sub>
                          <m:sup>
                            <m:r>
                              <a:rPr lang="zh-CN" altLang="en-US" sz="2000" b="0">
                                <a:latin typeface="Cambria Math" panose="02040503050406030204" pitchFamily="18" charset="0"/>
                              </a:rPr>
                              <m:t>−</m:t>
                            </m:r>
                          </m:sup>
                        </m:sSubSup>
                        <m:r>
                          <a:rPr lang="en-US" altLang="zh-CN" sz="2000" b="0" i="1" smtClean="0">
                            <a:latin typeface="Cambria Math" panose="02040503050406030204" pitchFamily="18" charset="0"/>
                          </a:rPr>
                          <m:t>+</m:t>
                        </m:r>
                        <m:r>
                          <a:rPr lang="zh-CN" altLang="en-US" sz="2000" b="0" i="1">
                            <a:latin typeface="Cambria Math" panose="02040503050406030204" pitchFamily="18" charset="0"/>
                          </a:rPr>
                          <m:t>𝑑</m:t>
                        </m:r>
                      </m:e>
                      <m:sub>
                        <m:r>
                          <a:rPr lang="en-US" altLang="zh-CN" sz="2000" b="0" i="0" smtClean="0">
                            <a:latin typeface="Cambria Math" panose="02040503050406030204" pitchFamily="18" charset="0"/>
                          </a:rPr>
                          <m:t>2</m:t>
                        </m:r>
                      </m:sub>
                      <m:sup>
                        <m:r>
                          <a:rPr lang="zh-CN" altLang="en-US" sz="2000" b="0" i="0">
                            <a:latin typeface="Cambria Math" panose="02040503050406030204" pitchFamily="18" charset="0"/>
                          </a:rPr>
                          <m:t>+</m:t>
                        </m:r>
                      </m:sup>
                    </m:sSubSup>
                    <m:r>
                      <a:rPr lang="en-US" altLang="zh-CN" sz="2000" b="0" i="1" smtClean="0">
                        <a:latin typeface="Cambria Math" panose="02040503050406030204" pitchFamily="18" charset="0"/>
                      </a:rPr>
                      <m:t>)</m:t>
                    </m:r>
                  </m:oMath>
                </a14:m>
                <a:endParaRPr lang="zh-CN" altLang="en-US" sz="2000" b="0" dirty="0"/>
              </a:p>
            </p:txBody>
          </p:sp>
        </mc:Choice>
        <mc:Fallback xmlns="">
          <p:sp>
            <p:nvSpPr>
              <p:cNvPr id="14" name="矩形 13"/>
              <p:cNvSpPr>
                <a:spLocks noRot="1" noChangeAspect="1" noMove="1" noResize="1" noEditPoints="1" noAdjustHandles="1" noChangeArrowheads="1" noChangeShapeType="1" noTextEdit="1"/>
              </p:cNvSpPr>
              <p:nvPr/>
            </p:nvSpPr>
            <p:spPr>
              <a:xfrm>
                <a:off x="4797140" y="2452826"/>
                <a:ext cx="2044599" cy="400110"/>
              </a:xfrm>
              <a:prstGeom prst="rect">
                <a:avLst/>
              </a:prstGeom>
              <a:blipFill>
                <a:blip r:embed="rId9"/>
                <a:stretch>
                  <a:fillRect l="-2687" t="-1515" r="-896" b="-24242"/>
                </a:stretch>
              </a:blipFill>
            </p:spPr>
            <p:txBody>
              <a:bodyPr/>
              <a:lstStyle/>
              <a:p>
                <a:r>
                  <a:rPr lang="zh-CN" altLang="en-US">
                    <a:noFill/>
                  </a:rPr>
                  <a:t> </a:t>
                </a:r>
              </a:p>
            </p:txBody>
          </p:sp>
        </mc:Fallback>
      </mc:AlternateContent>
      <p:sp>
        <p:nvSpPr>
          <p:cNvPr id="15" name="右箭头 14"/>
          <p:cNvSpPr/>
          <p:nvPr/>
        </p:nvSpPr>
        <p:spPr bwMode="auto">
          <a:xfrm>
            <a:off x="4527820" y="2614810"/>
            <a:ext cx="404220" cy="143788"/>
          </a:xfrm>
          <a:prstGeom prst="rightArrow">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6" name="矩形 15"/>
              <p:cNvSpPr/>
              <p:nvPr/>
            </p:nvSpPr>
            <p:spPr>
              <a:xfrm>
                <a:off x="4797140" y="3177922"/>
                <a:ext cx="1222514" cy="400110"/>
              </a:xfrm>
              <a:prstGeom prst="rect">
                <a:avLst/>
              </a:prstGeom>
            </p:spPr>
            <p:txBody>
              <a:bodyPr wrap="none">
                <a:spAutoFit/>
              </a:bodyPr>
              <a:lstStyle/>
              <a:p>
                <a14:m>
                  <m:oMath xmlns:m="http://schemas.openxmlformats.org/officeDocument/2006/math">
                    <m:sSubSup>
                      <m:sSubSupPr>
                        <m:ctrlPr>
                          <a:rPr lang="zh-CN" altLang="en-US" sz="2000" b="0" i="1" smtClean="0">
                            <a:latin typeface="Cambria Math" panose="02040503050406030204" pitchFamily="18" charset="0"/>
                          </a:rPr>
                        </m:ctrlPr>
                      </m:sSubSupPr>
                      <m:e>
                        <m:r>
                          <a:rPr lang="en-US" altLang="zh-CN" sz="2000" b="0" i="1" smtClean="0">
                            <a:latin typeface="Cambria Math" panose="02040503050406030204" pitchFamily="18" charset="0"/>
                          </a:rPr>
                          <m:t>𝑚𝑖𝑛</m:t>
                        </m:r>
                        <m:r>
                          <a:rPr lang="en-US" altLang="zh-CN" sz="2000" b="0" i="1" smtClean="0">
                            <a:latin typeface="Cambria Math" panose="02040503050406030204" pitchFamily="18" charset="0"/>
                          </a:rPr>
                          <m:t> </m:t>
                        </m:r>
                        <m:r>
                          <a:rPr lang="zh-CN" altLang="en-US" sz="2000" b="0" i="1">
                            <a:latin typeface="Cambria Math" panose="02040503050406030204" pitchFamily="18" charset="0"/>
                          </a:rPr>
                          <m:t>𝑑</m:t>
                        </m:r>
                      </m:e>
                      <m:sub>
                        <m:r>
                          <a:rPr lang="en-US" altLang="zh-CN" sz="2000" b="0" i="0" smtClean="0">
                            <a:latin typeface="Cambria Math" panose="02040503050406030204" pitchFamily="18" charset="0"/>
                          </a:rPr>
                          <m:t>3</m:t>
                        </m:r>
                      </m:sub>
                      <m:sup>
                        <m:r>
                          <a:rPr lang="zh-CN" altLang="en-US" sz="2000" b="0" i="0">
                            <a:latin typeface="Cambria Math" panose="02040503050406030204" pitchFamily="18" charset="0"/>
                          </a:rPr>
                          <m:t>+</m:t>
                        </m:r>
                      </m:sup>
                    </m:sSubSup>
                  </m:oMath>
                </a14:m>
                <a:endParaRPr lang="zh-CN" altLang="en-US" sz="2000" b="0" dirty="0"/>
              </a:p>
            </p:txBody>
          </p:sp>
        </mc:Choice>
        <mc:Fallback xmlns="">
          <p:sp>
            <p:nvSpPr>
              <p:cNvPr id="16" name="矩形 15"/>
              <p:cNvSpPr>
                <a:spLocks noRot="1" noChangeAspect="1" noMove="1" noResize="1" noEditPoints="1" noAdjustHandles="1" noChangeArrowheads="1" noChangeShapeType="1" noTextEdit="1"/>
              </p:cNvSpPr>
              <p:nvPr/>
            </p:nvSpPr>
            <p:spPr>
              <a:xfrm>
                <a:off x="4797140" y="3177922"/>
                <a:ext cx="1222514" cy="400110"/>
              </a:xfrm>
              <a:prstGeom prst="rect">
                <a:avLst/>
              </a:prstGeom>
              <a:blipFill>
                <a:blip r:embed="rId10"/>
                <a:stretch>
                  <a:fillRect l="-4500" t="-3030" b="-22727"/>
                </a:stretch>
              </a:blipFill>
            </p:spPr>
            <p:txBody>
              <a:bodyPr/>
              <a:lstStyle/>
              <a:p>
                <a:r>
                  <a:rPr lang="zh-CN" altLang="en-US">
                    <a:noFill/>
                  </a:rPr>
                  <a:t> </a:t>
                </a:r>
              </a:p>
            </p:txBody>
          </p:sp>
        </mc:Fallback>
      </mc:AlternateContent>
      <p:sp>
        <p:nvSpPr>
          <p:cNvPr id="17" name="右箭头 16"/>
          <p:cNvSpPr/>
          <p:nvPr/>
        </p:nvSpPr>
        <p:spPr bwMode="auto">
          <a:xfrm>
            <a:off x="4527820" y="3339906"/>
            <a:ext cx="404220" cy="143788"/>
          </a:xfrm>
          <a:prstGeom prst="rightArrow">
            <a:avLst/>
          </a:prstGeom>
          <a:solidFill>
            <a:schemeClr val="bg1">
              <a:lumMod val="95000"/>
            </a:schemeClr>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4" grpId="0"/>
      <p:bldP spid="15" grpId="0" animBg="1"/>
      <p:bldP spid="16" grpId="0"/>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a:t>
            </a:r>
            <a:r>
              <a:rPr lang="zh-CN" altLang="en-US" dirty="0"/>
              <a:t>目标规划的数学模型</a:t>
            </a:r>
          </a:p>
        </p:txBody>
      </p:sp>
      <p:sp>
        <p:nvSpPr>
          <p:cNvPr id="3" name="内容占位符 2"/>
          <p:cNvSpPr>
            <a:spLocks noGrp="1"/>
          </p:cNvSpPr>
          <p:nvPr>
            <p:ph idx="1"/>
          </p:nvPr>
        </p:nvSpPr>
        <p:spPr/>
        <p:txBody>
          <a:bodyPr/>
          <a:lstStyle/>
          <a:p>
            <a:r>
              <a:rPr lang="zh-CN" altLang="en-US" dirty="0" smtClean="0"/>
              <a:t>目标规划模型的</a:t>
            </a:r>
            <a:r>
              <a:rPr lang="zh-CN" altLang="en-US" dirty="0"/>
              <a:t>一般数学模型为</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3EBD2E7D-C37C-4795-8898-D5E1C36CF231}" type="slidenum">
              <a:rPr kumimoji="0" lang="zh-CN" altLang="en-US" sz="1400" b="1" i="0" u="none" strike="noStrike" kern="1200" cap="none" spc="0" normalizeH="0" baseline="0" noProof="1" smtClean="0">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6</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Object 6">
                <a:extLst>
                  <a:ext uri="{FF2B5EF4-FFF2-40B4-BE49-F238E27FC236}">
                    <a16:creationId xmlns:a16="http://schemas.microsoft.com/office/drawing/2014/main" id="{D3E3C940-B4B3-4C85-9F86-2156F62CD2AF}"/>
                  </a:ext>
                </a:extLst>
              </p:cNvPr>
              <p:cNvSpPr txBox="1">
                <a:spLocks/>
              </p:cNvSpPr>
              <p:nvPr/>
            </p:nvSpPr>
            <p:spPr bwMode="auto">
              <a:xfrm>
                <a:off x="827584" y="2114550"/>
                <a:ext cx="7772400" cy="411480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77500" lnSpcReduction="20000"/>
              </a:bodyPr>
              <a:lst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buClrTx/>
                  <a:buSzTx/>
                  <a:buFontTx/>
                  <a:buNone/>
                </a:pPr>
                <a14:m>
                  <m:oMathPara xmlns:m="http://schemas.openxmlformats.org/officeDocument/2006/math">
                    <m:oMathParaPr>
                      <m:jc m:val="centerGroup"/>
                    </m:oMathParaPr>
                    <m:oMath xmlns:m="http://schemas.openxmlformats.org/officeDocument/2006/math">
                      <m:r>
                        <a:rPr lang="zh-CN" altLang="en-US" i="1" kern="0" smtClean="0">
                          <a:solidFill>
                            <a:srgbClr val="000000"/>
                          </a:solidFill>
                          <a:latin typeface="Cambria Math" panose="02040503050406030204" pitchFamily="18" charset="0"/>
                        </a:rPr>
                        <m:t>目标函数：</m:t>
                      </m:r>
                      <m:r>
                        <a:rPr lang="zh-CN" altLang="en-US" i="1" kern="0" smtClean="0">
                          <a:solidFill>
                            <a:srgbClr val="000000"/>
                          </a:solidFill>
                          <a:latin typeface="Cambria Math" panose="02040503050406030204" pitchFamily="18" charset="0"/>
                        </a:rPr>
                        <m:t> </m:t>
                      </m:r>
                      <m:func>
                        <m:funcPr>
                          <m:ctrlPr>
                            <a:rPr lang="zh-CN" altLang="en-US" i="1" kern="0">
                              <a:solidFill>
                                <a:srgbClr val="000000"/>
                              </a:solidFill>
                              <a:latin typeface="Cambria Math" panose="02040503050406030204" pitchFamily="18" charset="0"/>
                            </a:rPr>
                          </m:ctrlPr>
                        </m:funcPr>
                        <m:fName>
                          <m:r>
                            <m:rPr>
                              <m:sty m:val="p"/>
                            </m:rPr>
                            <a:rPr lang="zh-CN" altLang="en-US" kern="0">
                              <a:solidFill>
                                <a:srgbClr val="000000"/>
                              </a:solidFill>
                              <a:latin typeface="Cambria Math" panose="02040503050406030204" pitchFamily="18" charset="0"/>
                            </a:rPr>
                            <m:t>min</m:t>
                          </m:r>
                        </m:fName>
                        <m:e>
                          <m:r>
                            <a:rPr lang="zh-CN" altLang="en-US" i="1" kern="0">
                              <a:solidFill>
                                <a:srgbClr val="000000"/>
                              </a:solidFill>
                              <a:latin typeface="Cambria Math" panose="02040503050406030204" pitchFamily="18" charset="0"/>
                            </a:rPr>
                            <m:t> </m:t>
                          </m:r>
                        </m:e>
                      </m:func>
                      <m:r>
                        <a:rPr lang="zh-CN" altLang="en-US" i="1" kern="0">
                          <a:solidFill>
                            <a:srgbClr val="000000"/>
                          </a:solidFill>
                          <a:latin typeface="Cambria Math" panose="02040503050406030204" pitchFamily="18" charset="0"/>
                        </a:rPr>
                        <m:t>𝑧</m:t>
                      </m:r>
                      <m:r>
                        <a:rPr lang="zh-CN" altLang="en-US" i="1" kern="0">
                          <a:solidFill>
                            <a:srgbClr val="000000"/>
                          </a:solidFill>
                          <a:latin typeface="Cambria Math" panose="02040503050406030204" pitchFamily="18" charset="0"/>
                        </a:rPr>
                        <m:t>=</m:t>
                      </m:r>
                      <m:nary>
                        <m:naryPr>
                          <m:chr m:val="∑"/>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𝑙</m:t>
                          </m:r>
                          <m:r>
                            <a:rPr lang="zh-CN" altLang="en-US" i="1" kern="0">
                              <a:solidFill>
                                <a:srgbClr val="000000"/>
                              </a:solidFill>
                              <a:latin typeface="Cambria Math" panose="02040503050406030204" pitchFamily="18" charset="0"/>
                            </a:rPr>
                            <m:t>=1</m:t>
                          </m:r>
                        </m:sub>
                        <m:sup>
                          <m:r>
                            <a:rPr lang="zh-CN" altLang="en-US" i="1" kern="0">
                              <a:solidFill>
                                <a:srgbClr val="000000"/>
                              </a:solidFill>
                              <a:latin typeface="Cambria Math" panose="02040503050406030204" pitchFamily="18" charset="0"/>
                            </a:rPr>
                            <m:t>𝐿</m:t>
                          </m:r>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𝑃</m:t>
                              </m:r>
                            </m:e>
                            <m:sub>
                              <m:r>
                                <a:rPr lang="zh-CN" altLang="en-US" i="1" kern="0">
                                  <a:solidFill>
                                    <a:srgbClr val="000000"/>
                                  </a:solidFill>
                                  <a:latin typeface="Cambria Math" panose="02040503050406030204" pitchFamily="18" charset="0"/>
                                </a:rPr>
                                <m:t>𝑙</m:t>
                              </m:r>
                            </m:sub>
                          </m:sSub>
                        </m:e>
                      </m:nary>
                      <m:nary>
                        <m:naryPr>
                          <m:chr m:val="∑"/>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𝑘</m:t>
                          </m:r>
                          <m:r>
                            <a:rPr lang="zh-CN" altLang="en-US" i="1" kern="0">
                              <a:solidFill>
                                <a:srgbClr val="000000"/>
                              </a:solidFill>
                              <a:latin typeface="Cambria Math" panose="02040503050406030204" pitchFamily="18" charset="0"/>
                            </a:rPr>
                            <m:t>=1</m:t>
                          </m:r>
                        </m:sub>
                        <m:sup>
                          <m:r>
                            <a:rPr lang="zh-CN" altLang="en-US" i="1" kern="0">
                              <a:solidFill>
                                <a:srgbClr val="000000"/>
                              </a:solidFill>
                              <a:latin typeface="Cambria Math" panose="02040503050406030204" pitchFamily="18" charset="0"/>
                            </a:rPr>
                            <m:t>𝐾</m:t>
                          </m:r>
                        </m:sup>
                        <m:e>
                          <m:r>
                            <a:rPr lang="zh-CN" altLang="en-US" i="1" kern="0">
                              <a:solidFill>
                                <a:srgbClr val="000000"/>
                              </a:solidFill>
                              <a:latin typeface="Cambria Math" panose="02040503050406030204" pitchFamily="18" charset="0"/>
                            </a:rPr>
                            <m:t>(</m:t>
                          </m:r>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𝜔</m:t>
                              </m:r>
                            </m:e>
                            <m:sub>
                              <m:r>
                                <a:rPr lang="zh-CN" altLang="en-US" i="1" kern="0">
                                  <a:solidFill>
                                    <a:srgbClr val="000000"/>
                                  </a:solidFill>
                                  <a:latin typeface="Cambria Math" panose="02040503050406030204" pitchFamily="18" charset="0"/>
                                </a:rPr>
                                <m:t>𝑙𝑘</m:t>
                              </m:r>
                            </m:sub>
                            <m:sup>
                              <m:r>
                                <a:rPr lang="zh-CN" altLang="en-US" i="1" kern="0">
                                  <a:solidFill>
                                    <a:srgbClr val="000000"/>
                                  </a:solidFill>
                                  <a:latin typeface="Cambria Math" panose="02040503050406030204" pitchFamily="18" charset="0"/>
                                </a:rPr>
                                <m:t>−</m:t>
                              </m:r>
                            </m:sup>
                          </m:sSubSup>
                        </m:e>
                      </m:nary>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𝑑</m:t>
                          </m:r>
                        </m:e>
                        <m:sub>
                          <m:r>
                            <a:rPr lang="zh-CN" altLang="en-US" i="1" kern="0">
                              <a:solidFill>
                                <a:srgbClr val="000000"/>
                              </a:solidFill>
                              <a:latin typeface="Cambria Math" panose="02040503050406030204" pitchFamily="18" charset="0"/>
                            </a:rPr>
                            <m:t>𝑘</m:t>
                          </m:r>
                        </m:sub>
                        <m:sup>
                          <m:r>
                            <a:rPr lang="zh-CN" altLang="en-US" i="1" kern="0">
                              <a:solidFill>
                                <a:srgbClr val="000000"/>
                              </a:solidFill>
                              <a:latin typeface="Cambria Math" panose="02040503050406030204" pitchFamily="18" charset="0"/>
                            </a:rPr>
                            <m:t>−</m:t>
                          </m:r>
                        </m:sup>
                      </m:sSubSup>
                      <m:r>
                        <a:rPr lang="zh-CN" altLang="en-US" i="1" kern="0">
                          <a:solidFill>
                            <a:srgbClr val="000000"/>
                          </a:solidFill>
                          <a:latin typeface="Cambria Math" panose="02040503050406030204" pitchFamily="18" charset="0"/>
                        </a:rPr>
                        <m:t>+</m:t>
                      </m:r>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𝜔</m:t>
                          </m:r>
                        </m:e>
                        <m:sub>
                          <m:r>
                            <a:rPr lang="zh-CN" altLang="en-US" i="1" kern="0">
                              <a:solidFill>
                                <a:srgbClr val="000000"/>
                              </a:solidFill>
                              <a:latin typeface="Cambria Math" panose="02040503050406030204" pitchFamily="18" charset="0"/>
                            </a:rPr>
                            <m:t>𝑙𝑘</m:t>
                          </m:r>
                        </m:sub>
                        <m:sup>
                          <m:r>
                            <a:rPr lang="zh-CN" altLang="en-US" i="1" kern="0">
                              <a:solidFill>
                                <a:srgbClr val="000000"/>
                              </a:solidFill>
                              <a:latin typeface="Cambria Math" panose="02040503050406030204" pitchFamily="18" charset="0"/>
                            </a:rPr>
                            <m:t>+</m:t>
                          </m:r>
                        </m:sup>
                      </m:sSubSup>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𝑑</m:t>
                          </m:r>
                        </m:e>
                        <m:sub>
                          <m:r>
                            <a:rPr lang="zh-CN" altLang="en-US" i="1" kern="0">
                              <a:solidFill>
                                <a:srgbClr val="000000"/>
                              </a:solidFill>
                              <a:latin typeface="Cambria Math" panose="02040503050406030204" pitchFamily="18" charset="0"/>
                            </a:rPr>
                            <m:t>𝑘</m:t>
                          </m:r>
                        </m:sub>
                        <m:sup>
                          <m:r>
                            <a:rPr lang="zh-CN" altLang="en-US" i="1" kern="0">
                              <a:solidFill>
                                <a:srgbClr val="000000"/>
                              </a:solidFill>
                              <a:latin typeface="Cambria Math" panose="02040503050406030204" pitchFamily="18" charset="0"/>
                            </a:rPr>
                            <m:t>+</m:t>
                          </m:r>
                        </m:sup>
                      </m:sSubSup>
                      <m:r>
                        <a:rPr lang="zh-CN" altLang="en-US" i="1" kern="0">
                          <a:solidFill>
                            <a:srgbClr val="000000"/>
                          </a:solidFill>
                          <a:latin typeface="Cambria Math" panose="02040503050406030204" pitchFamily="18" charset="0"/>
                        </a:rPr>
                        <m:t>)      (</m:t>
                      </m:r>
                      <m:r>
                        <a:rPr lang="en-US" altLang="zh-CN" b="0" i="1" kern="0" smtClean="0">
                          <a:solidFill>
                            <a:srgbClr val="000000"/>
                          </a:solidFill>
                          <a:latin typeface="Cambria Math" panose="02040503050406030204" pitchFamily="18" charset="0"/>
                        </a:rPr>
                        <m:t>5</m:t>
                      </m:r>
                      <m:r>
                        <a:rPr lang="zh-CN" altLang="en-US" i="1" kern="0">
                          <a:solidFill>
                            <a:srgbClr val="000000"/>
                          </a:solidFill>
                          <a:latin typeface="Cambria Math" panose="02040503050406030204" pitchFamily="18" charset="0"/>
                        </a:rPr>
                        <m:t>−1)</m:t>
                      </m:r>
                    </m:oMath>
                    <m:oMath xmlns:m="http://schemas.openxmlformats.org/officeDocument/2006/math">
                      <m:r>
                        <a:rPr lang="zh-CN" altLang="en-US" i="1" kern="0">
                          <a:solidFill>
                            <a:srgbClr val="000000"/>
                          </a:solidFill>
                          <a:latin typeface="Cambria Math" panose="02040503050406030204" pitchFamily="18" charset="0"/>
                        </a:rPr>
                        <m:t>满足约束条件：</m:t>
                      </m:r>
                      <m:r>
                        <a:rPr lang="zh-CN" altLang="en-US" i="1" kern="0">
                          <a:solidFill>
                            <a:srgbClr val="000000"/>
                          </a:solidFill>
                          <a:latin typeface="Cambria Math" panose="02040503050406030204" pitchFamily="18" charset="0"/>
                        </a:rPr>
                        <m:t> </m:t>
                      </m:r>
                      <m:d>
                        <m:dPr>
                          <m:begChr m:val="{"/>
                          <m:endChr m:val=""/>
                          <m:ctrlPr>
                            <a:rPr lang="zh-CN" altLang="en-US" i="1" kern="0">
                              <a:solidFill>
                                <a:srgbClr val="000000"/>
                              </a:solidFill>
                              <a:latin typeface="Cambria Math" panose="02040503050406030204" pitchFamily="18" charset="0"/>
                            </a:rPr>
                          </m:ctrlPr>
                        </m:dPr>
                        <m:e>
                          <m:eqArr>
                            <m:eqArrPr>
                              <m:ctrlPr>
                                <a:rPr lang="zh-CN" altLang="en-US" i="1" kern="0">
                                  <a:solidFill>
                                    <a:srgbClr val="000000"/>
                                  </a:solidFill>
                                  <a:latin typeface="Cambria Math" panose="02040503050406030204" pitchFamily="18" charset="0"/>
                                </a:rPr>
                              </m:ctrlPr>
                            </m:eqArrPr>
                            <m:e>
                              <m:nary>
                                <m:naryPr>
                                  <m:chr m:val="∑"/>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𝑗</m:t>
                                  </m:r>
                                  <m:r>
                                    <a:rPr lang="zh-CN" altLang="en-US" i="1" kern="0">
                                      <a:solidFill>
                                        <a:srgbClr val="000000"/>
                                      </a:solidFill>
                                      <a:latin typeface="Cambria Math" panose="02040503050406030204" pitchFamily="18" charset="0"/>
                                    </a:rPr>
                                    <m:t>=1</m:t>
                                  </m:r>
                                </m:sub>
                                <m:sup>
                                  <m:r>
                                    <a:rPr lang="zh-CN" altLang="en-US" i="1" kern="0">
                                      <a:solidFill>
                                        <a:srgbClr val="000000"/>
                                      </a:solidFill>
                                      <a:latin typeface="Cambria Math" panose="02040503050406030204" pitchFamily="18" charset="0"/>
                                    </a:rPr>
                                    <m:t>𝑛</m:t>
                                  </m:r>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𝑐</m:t>
                                      </m:r>
                                    </m:e>
                                    <m:sub>
                                      <m:r>
                                        <a:rPr lang="zh-CN" altLang="en-US" i="1" kern="0">
                                          <a:solidFill>
                                            <a:srgbClr val="000000"/>
                                          </a:solidFill>
                                          <a:latin typeface="Cambria Math" panose="02040503050406030204" pitchFamily="18" charset="0"/>
                                        </a:rPr>
                                        <m:t>𝑘𝑗</m:t>
                                      </m:r>
                                    </m:sub>
                                  </m:sSub>
                                </m:e>
                              </m:nary>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𝑥</m:t>
                                  </m:r>
                                </m:e>
                                <m:sub>
                                  <m:r>
                                    <a:rPr lang="zh-CN" altLang="en-US" i="1" kern="0">
                                      <a:solidFill>
                                        <a:srgbClr val="000000"/>
                                      </a:solidFill>
                                      <a:latin typeface="Cambria Math" panose="02040503050406030204" pitchFamily="18" charset="0"/>
                                    </a:rPr>
                                    <m:t>𝑗</m:t>
                                  </m:r>
                                </m:sub>
                              </m:sSub>
                              <m:r>
                                <a:rPr lang="zh-CN" altLang="en-US" i="1" kern="0">
                                  <a:solidFill>
                                    <a:srgbClr val="000000"/>
                                  </a:solidFill>
                                  <a:latin typeface="Cambria Math" panose="02040503050406030204" pitchFamily="18" charset="0"/>
                                </a:rPr>
                                <m:t>+</m:t>
                              </m:r>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𝑑</m:t>
                                  </m:r>
                                </m:e>
                                <m:sub>
                                  <m:r>
                                    <a:rPr lang="zh-CN" altLang="en-US" i="1" kern="0">
                                      <a:solidFill>
                                        <a:srgbClr val="000000"/>
                                      </a:solidFill>
                                      <a:latin typeface="Cambria Math" panose="02040503050406030204" pitchFamily="18" charset="0"/>
                                    </a:rPr>
                                    <m:t>𝑘</m:t>
                                  </m:r>
                                </m:sub>
                                <m:sup>
                                  <m:r>
                                    <a:rPr lang="zh-CN" altLang="en-US" i="1" kern="0">
                                      <a:solidFill>
                                        <a:srgbClr val="000000"/>
                                      </a:solidFill>
                                      <a:latin typeface="Cambria Math" panose="02040503050406030204" pitchFamily="18" charset="0"/>
                                    </a:rPr>
                                    <m:t>−</m:t>
                                  </m:r>
                                </m:sup>
                              </m:sSubSup>
                              <m:r>
                                <a:rPr lang="zh-CN" altLang="en-US" i="1" kern="0">
                                  <a:solidFill>
                                    <a:srgbClr val="000000"/>
                                  </a:solidFill>
                                  <a:latin typeface="Cambria Math" panose="02040503050406030204" pitchFamily="18" charset="0"/>
                                </a:rPr>
                                <m:t>−</m:t>
                              </m:r>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𝑑</m:t>
                                  </m:r>
                                </m:e>
                                <m:sub>
                                  <m:r>
                                    <a:rPr lang="zh-CN" altLang="en-US" i="1" kern="0">
                                      <a:solidFill>
                                        <a:srgbClr val="000000"/>
                                      </a:solidFill>
                                      <a:latin typeface="Cambria Math" panose="02040503050406030204" pitchFamily="18" charset="0"/>
                                    </a:rPr>
                                    <m:t>𝑘</m:t>
                                  </m:r>
                                </m:sub>
                                <m:sup>
                                  <m:r>
                                    <a:rPr lang="zh-CN" altLang="en-US" i="1" kern="0">
                                      <a:solidFill>
                                        <a:srgbClr val="000000"/>
                                      </a:solidFill>
                                      <a:latin typeface="Cambria Math" panose="02040503050406030204" pitchFamily="18" charset="0"/>
                                    </a:rPr>
                                    <m:t>+</m:t>
                                  </m:r>
                                </m:sup>
                              </m:sSubSup>
                              <m:r>
                                <a:rPr lang="zh-CN" altLang="en-US" i="1" kern="0">
                                  <a:solidFill>
                                    <a:srgbClr val="000000"/>
                                  </a:solidFill>
                                  <a:latin typeface="Cambria Math" panose="02040503050406030204" pitchFamily="18" charset="0"/>
                                </a:rPr>
                                <m:t>=</m:t>
                              </m:r>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𝑔</m:t>
                                  </m:r>
                                </m:e>
                                <m:sub>
                                  <m:r>
                                    <a:rPr lang="zh-CN" altLang="en-US" i="1" kern="0">
                                      <a:solidFill>
                                        <a:srgbClr val="000000"/>
                                      </a:solidFill>
                                      <a:latin typeface="Cambria Math" panose="02040503050406030204" pitchFamily="18" charset="0"/>
                                    </a:rPr>
                                    <m:t>𝑘</m:t>
                                  </m:r>
                                </m:sub>
                              </m:sSub>
                              <m:r>
                                <a:rPr lang="zh-CN" altLang="en-US" i="1" kern="0">
                                  <a:solidFill>
                                    <a:srgbClr val="000000"/>
                                  </a:solidFill>
                                  <a:latin typeface="Cambria Math" panose="02040503050406030204" pitchFamily="18" charset="0"/>
                                </a:rPr>
                                <m:t>, </m:t>
                              </m:r>
                              <m:r>
                                <a:rPr lang="zh-CN" altLang="en-US" i="1" kern="0">
                                  <a:solidFill>
                                    <a:srgbClr val="000000"/>
                                  </a:solidFill>
                                  <a:latin typeface="Cambria Math" panose="02040503050406030204" pitchFamily="18" charset="0"/>
                                </a:rPr>
                                <m:t>𝑘</m:t>
                              </m:r>
                              <m:r>
                                <a:rPr lang="zh-CN" altLang="en-US" i="1" kern="0">
                                  <a:solidFill>
                                    <a:srgbClr val="000000"/>
                                  </a:solidFill>
                                  <a:latin typeface="Cambria Math" panose="02040503050406030204" pitchFamily="18" charset="0"/>
                                </a:rPr>
                                <m:t>=1,⋯,</m:t>
                              </m:r>
                              <m:r>
                                <a:rPr lang="zh-CN" altLang="en-US" i="1" kern="0">
                                  <a:solidFill>
                                    <a:srgbClr val="000000"/>
                                  </a:solidFill>
                                  <a:latin typeface="Cambria Math" panose="02040503050406030204" pitchFamily="18" charset="0"/>
                                </a:rPr>
                                <m:t>𝐾</m:t>
                              </m:r>
                              <m:r>
                                <a:rPr lang="zh-CN" altLang="en-US" i="1" kern="0">
                                  <a:solidFill>
                                    <a:srgbClr val="000000"/>
                                  </a:solidFill>
                                  <a:latin typeface="Cambria Math" panose="02040503050406030204" pitchFamily="18" charset="0"/>
                                </a:rPr>
                                <m:t>  </m:t>
                              </m:r>
                              <m:r>
                                <a:rPr lang="en-US" altLang="zh-CN" b="1" i="1" kern="0" smtClean="0">
                                  <a:solidFill>
                                    <a:srgbClr val="000000"/>
                                  </a:solidFill>
                                  <a:latin typeface="Cambria Math" panose="02040503050406030204" pitchFamily="18" charset="0"/>
                                </a:rPr>
                                <m:t> </m:t>
                              </m:r>
                              <m:r>
                                <a:rPr lang="zh-CN" altLang="en-US" i="1" kern="0">
                                  <a:solidFill>
                                    <a:srgbClr val="000000"/>
                                  </a:solidFill>
                                  <a:latin typeface="Cambria Math" panose="02040503050406030204" pitchFamily="18" charset="0"/>
                                </a:rPr>
                                <m:t>(5−2)</m:t>
                              </m:r>
                            </m:e>
                            <m:e>
                              <m:nary>
                                <m:naryPr>
                                  <m:chr m:val="∑"/>
                                  <m:ctrlPr>
                                    <a:rPr lang="zh-CN" altLang="en-US" i="1" kern="0">
                                      <a:solidFill>
                                        <a:srgbClr val="000000"/>
                                      </a:solidFill>
                                      <a:latin typeface="Cambria Math" panose="02040503050406030204" pitchFamily="18" charset="0"/>
                                    </a:rPr>
                                  </m:ctrlPr>
                                </m:naryPr>
                                <m:sub>
                                  <m:r>
                                    <a:rPr lang="zh-CN" altLang="en-US" i="1" kern="0">
                                      <a:solidFill>
                                        <a:srgbClr val="000000"/>
                                      </a:solidFill>
                                      <a:latin typeface="Cambria Math" panose="02040503050406030204" pitchFamily="18" charset="0"/>
                                    </a:rPr>
                                    <m:t>𝑗</m:t>
                                  </m:r>
                                  <m:r>
                                    <a:rPr lang="zh-CN" altLang="en-US" i="1" kern="0">
                                      <a:solidFill>
                                        <a:srgbClr val="000000"/>
                                      </a:solidFill>
                                      <a:latin typeface="Cambria Math" panose="02040503050406030204" pitchFamily="18" charset="0"/>
                                    </a:rPr>
                                    <m:t>=1</m:t>
                                  </m:r>
                                </m:sub>
                                <m:sup>
                                  <m:r>
                                    <a:rPr lang="zh-CN" altLang="en-US" i="1" kern="0">
                                      <a:solidFill>
                                        <a:srgbClr val="000000"/>
                                      </a:solidFill>
                                      <a:latin typeface="Cambria Math" panose="02040503050406030204" pitchFamily="18" charset="0"/>
                                    </a:rPr>
                                    <m:t>𝑛</m:t>
                                  </m:r>
                                </m:sup>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𝑎</m:t>
                                      </m:r>
                                    </m:e>
                                    <m:sub>
                                      <m:r>
                                        <a:rPr lang="zh-CN" altLang="en-US" i="1" kern="0">
                                          <a:solidFill>
                                            <a:srgbClr val="000000"/>
                                          </a:solidFill>
                                          <a:latin typeface="Cambria Math" panose="02040503050406030204" pitchFamily="18" charset="0"/>
                                        </a:rPr>
                                        <m:t>𝑖𝑗</m:t>
                                      </m:r>
                                    </m:sub>
                                  </m:sSub>
                                </m:e>
                              </m:nary>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𝑥</m:t>
                                  </m:r>
                                </m:e>
                                <m:sub>
                                  <m:r>
                                    <a:rPr lang="zh-CN" altLang="en-US" i="1" kern="0">
                                      <a:solidFill>
                                        <a:srgbClr val="000000"/>
                                      </a:solidFill>
                                      <a:latin typeface="Cambria Math" panose="02040503050406030204" pitchFamily="18" charset="0"/>
                                    </a:rPr>
                                    <m:t>𝑗</m:t>
                                  </m:r>
                                </m:sub>
                              </m:sSub>
                              <m:r>
                                <a:rPr lang="zh-CN" altLang="en-US" i="1" kern="0">
                                  <a:solidFill>
                                    <a:srgbClr val="000000"/>
                                  </a:solidFill>
                                  <a:latin typeface="Cambria Math" panose="02040503050406030204" pitchFamily="18" charset="0"/>
                                </a:rPr>
                                <m:t>≤(=,≥)</m:t>
                              </m:r>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𝑏</m:t>
                                  </m:r>
                                </m:e>
                                <m:sub>
                                  <m:r>
                                    <a:rPr lang="zh-CN" altLang="en-US" i="1" kern="0">
                                      <a:solidFill>
                                        <a:srgbClr val="000000"/>
                                      </a:solidFill>
                                      <a:latin typeface="Cambria Math" panose="02040503050406030204" pitchFamily="18" charset="0"/>
                                    </a:rPr>
                                    <m:t>𝑖</m:t>
                                  </m:r>
                                </m:sub>
                              </m:sSub>
                              <m:r>
                                <a:rPr lang="zh-CN" altLang="en-US" i="1" kern="0">
                                  <a:solidFill>
                                    <a:srgbClr val="000000"/>
                                  </a:solidFill>
                                  <a:latin typeface="Cambria Math" panose="02040503050406030204" pitchFamily="18" charset="0"/>
                                </a:rPr>
                                <m:t>, </m:t>
                              </m:r>
                              <m:r>
                                <a:rPr lang="zh-CN" altLang="en-US" i="1" kern="0">
                                  <a:solidFill>
                                    <a:srgbClr val="000000"/>
                                  </a:solidFill>
                                  <a:latin typeface="Cambria Math" panose="02040503050406030204" pitchFamily="18" charset="0"/>
                                </a:rPr>
                                <m:t>𝑖</m:t>
                              </m:r>
                              <m:r>
                                <a:rPr lang="zh-CN" altLang="en-US" i="1" kern="0">
                                  <a:solidFill>
                                    <a:srgbClr val="000000"/>
                                  </a:solidFill>
                                  <a:latin typeface="Cambria Math" panose="02040503050406030204" pitchFamily="18" charset="0"/>
                                </a:rPr>
                                <m:t>=1,⋯,</m:t>
                              </m:r>
                              <m:r>
                                <a:rPr lang="zh-CN" altLang="en-US" i="1" kern="0">
                                  <a:solidFill>
                                    <a:srgbClr val="000000"/>
                                  </a:solidFill>
                                  <a:latin typeface="Cambria Math" panose="02040503050406030204" pitchFamily="18" charset="0"/>
                                </a:rPr>
                                <m:t>𝑚</m:t>
                              </m:r>
                              <m:r>
                                <a:rPr lang="zh-CN" altLang="en-US" i="1" kern="0">
                                  <a:solidFill>
                                    <a:srgbClr val="000000"/>
                                  </a:solidFill>
                                  <a:latin typeface="Cambria Math" panose="02040503050406030204" pitchFamily="18" charset="0"/>
                                </a:rPr>
                                <m:t>    (5−3)</m:t>
                              </m:r>
                            </m:e>
                            <m:e>
                              <m:sSub>
                                <m:sSubPr>
                                  <m:ctrlPr>
                                    <a:rPr lang="zh-CN" altLang="en-US" i="1" kern="0">
                                      <a:solidFill>
                                        <a:srgbClr val="000000"/>
                                      </a:solidFill>
                                      <a:latin typeface="Cambria Math" panose="02040503050406030204" pitchFamily="18" charset="0"/>
                                    </a:rPr>
                                  </m:ctrlPr>
                                </m:sSubPr>
                                <m:e>
                                  <m:r>
                                    <a:rPr lang="zh-CN" altLang="en-US" i="1" kern="0">
                                      <a:solidFill>
                                        <a:srgbClr val="000000"/>
                                      </a:solidFill>
                                      <a:latin typeface="Cambria Math" panose="02040503050406030204" pitchFamily="18" charset="0"/>
                                    </a:rPr>
                                    <m:t>𝑥</m:t>
                                  </m:r>
                                </m:e>
                                <m:sub>
                                  <m:r>
                                    <a:rPr lang="zh-CN" altLang="en-US" i="1" kern="0">
                                      <a:solidFill>
                                        <a:srgbClr val="000000"/>
                                      </a:solidFill>
                                      <a:latin typeface="Cambria Math" panose="02040503050406030204" pitchFamily="18" charset="0"/>
                                    </a:rPr>
                                    <m:t>𝑗</m:t>
                                  </m:r>
                                </m:sub>
                              </m:sSub>
                              <m:r>
                                <a:rPr lang="zh-CN" altLang="en-US" i="1" kern="0">
                                  <a:solidFill>
                                    <a:srgbClr val="000000"/>
                                  </a:solidFill>
                                  <a:latin typeface="Cambria Math" panose="02040503050406030204" pitchFamily="18" charset="0"/>
                                </a:rPr>
                                <m:t>≥0, </m:t>
                              </m:r>
                              <m:r>
                                <a:rPr lang="zh-CN" altLang="en-US" i="1" kern="0">
                                  <a:solidFill>
                                    <a:srgbClr val="000000"/>
                                  </a:solidFill>
                                  <a:latin typeface="Cambria Math" panose="02040503050406030204" pitchFamily="18" charset="0"/>
                                </a:rPr>
                                <m:t>𝑗</m:t>
                              </m:r>
                              <m:r>
                                <a:rPr lang="zh-CN" altLang="en-US" i="1" kern="0">
                                  <a:solidFill>
                                    <a:srgbClr val="000000"/>
                                  </a:solidFill>
                                  <a:latin typeface="Cambria Math" panose="02040503050406030204" pitchFamily="18" charset="0"/>
                                </a:rPr>
                                <m:t>=1,⋯,</m:t>
                              </m:r>
                              <m:r>
                                <a:rPr lang="zh-CN" altLang="en-US" i="1" kern="0">
                                  <a:solidFill>
                                    <a:srgbClr val="000000"/>
                                  </a:solidFill>
                                  <a:latin typeface="Cambria Math" panose="02040503050406030204" pitchFamily="18" charset="0"/>
                                </a:rPr>
                                <m:t>𝑛</m:t>
                              </m:r>
                              <m:r>
                                <a:rPr lang="zh-CN" altLang="en-US" i="1" kern="0">
                                  <a:solidFill>
                                    <a:srgbClr val="000000"/>
                                  </a:solidFill>
                                  <a:latin typeface="Cambria Math" panose="02040503050406030204" pitchFamily="18" charset="0"/>
                                </a:rPr>
                                <m:t>         </m:t>
                              </m:r>
                              <m:r>
                                <a:rPr lang="en-US" altLang="zh-CN" b="1" i="1" kern="0" smtClean="0">
                                  <a:solidFill>
                                    <a:srgbClr val="000000"/>
                                  </a:solidFill>
                                  <a:latin typeface="Cambria Math" panose="02040503050406030204" pitchFamily="18" charset="0"/>
                                </a:rPr>
                                <m:t>     </m:t>
                              </m:r>
                              <m:r>
                                <a:rPr lang="zh-CN" altLang="en-US" i="1" kern="0">
                                  <a:solidFill>
                                    <a:srgbClr val="000000"/>
                                  </a:solidFill>
                                  <a:latin typeface="Cambria Math" panose="02040503050406030204" pitchFamily="18" charset="0"/>
                                </a:rPr>
                                <m:t>(5−4)</m:t>
                              </m:r>
                            </m:e>
                            <m:e>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𝑑</m:t>
                                  </m:r>
                                </m:e>
                                <m:sub>
                                  <m:r>
                                    <a:rPr lang="zh-CN" altLang="en-US" i="1" kern="0">
                                      <a:solidFill>
                                        <a:srgbClr val="000000"/>
                                      </a:solidFill>
                                      <a:latin typeface="Cambria Math" panose="02040503050406030204" pitchFamily="18" charset="0"/>
                                    </a:rPr>
                                    <m:t>𝑘</m:t>
                                  </m:r>
                                </m:sub>
                                <m:sup>
                                  <m:r>
                                    <a:rPr lang="zh-CN" altLang="en-US" i="1" kern="0">
                                      <a:solidFill>
                                        <a:srgbClr val="000000"/>
                                      </a:solidFill>
                                      <a:latin typeface="Cambria Math" panose="02040503050406030204" pitchFamily="18" charset="0"/>
                                    </a:rPr>
                                    <m:t>−</m:t>
                                  </m:r>
                                </m:sup>
                              </m:sSubSup>
                              <m:r>
                                <a:rPr lang="zh-CN" altLang="en-US" i="1" kern="0">
                                  <a:solidFill>
                                    <a:srgbClr val="000000"/>
                                  </a:solidFill>
                                  <a:latin typeface="Cambria Math" panose="02040503050406030204" pitchFamily="18" charset="0"/>
                                </a:rPr>
                                <m:t>,</m:t>
                              </m:r>
                              <m:sSubSup>
                                <m:sSubSupPr>
                                  <m:ctrlPr>
                                    <a:rPr lang="zh-CN" altLang="en-US" i="1" kern="0">
                                      <a:solidFill>
                                        <a:srgbClr val="000000"/>
                                      </a:solidFill>
                                      <a:latin typeface="Cambria Math" panose="02040503050406030204" pitchFamily="18" charset="0"/>
                                    </a:rPr>
                                  </m:ctrlPr>
                                </m:sSubSupPr>
                                <m:e>
                                  <m:r>
                                    <a:rPr lang="zh-CN" altLang="en-US" i="1" kern="0">
                                      <a:solidFill>
                                        <a:srgbClr val="000000"/>
                                      </a:solidFill>
                                      <a:latin typeface="Cambria Math" panose="02040503050406030204" pitchFamily="18" charset="0"/>
                                    </a:rPr>
                                    <m:t>𝑑</m:t>
                                  </m:r>
                                </m:e>
                                <m:sub>
                                  <m:r>
                                    <a:rPr lang="zh-CN" altLang="en-US" i="1" kern="0">
                                      <a:solidFill>
                                        <a:srgbClr val="000000"/>
                                      </a:solidFill>
                                      <a:latin typeface="Cambria Math" panose="02040503050406030204" pitchFamily="18" charset="0"/>
                                    </a:rPr>
                                    <m:t>𝑘</m:t>
                                  </m:r>
                                </m:sub>
                                <m:sup>
                                  <m:r>
                                    <a:rPr lang="zh-CN" altLang="en-US" i="1" kern="0">
                                      <a:solidFill>
                                        <a:srgbClr val="000000"/>
                                      </a:solidFill>
                                      <a:latin typeface="Cambria Math" panose="02040503050406030204" pitchFamily="18" charset="0"/>
                                    </a:rPr>
                                    <m:t>+</m:t>
                                  </m:r>
                                </m:sup>
                              </m:sSubSup>
                              <m:r>
                                <a:rPr lang="zh-CN" altLang="en-US" i="1" kern="0">
                                  <a:solidFill>
                                    <a:srgbClr val="000000"/>
                                  </a:solidFill>
                                  <a:latin typeface="Cambria Math" panose="02040503050406030204" pitchFamily="18" charset="0"/>
                                </a:rPr>
                                <m:t>≥0, </m:t>
                              </m:r>
                              <m:r>
                                <a:rPr lang="zh-CN" altLang="en-US" i="1" kern="0">
                                  <a:solidFill>
                                    <a:srgbClr val="000000"/>
                                  </a:solidFill>
                                  <a:latin typeface="Cambria Math" panose="02040503050406030204" pitchFamily="18" charset="0"/>
                                </a:rPr>
                                <m:t>𝑘</m:t>
                              </m:r>
                              <m:r>
                                <a:rPr lang="zh-CN" altLang="en-US" i="1" kern="0">
                                  <a:solidFill>
                                    <a:srgbClr val="000000"/>
                                  </a:solidFill>
                                  <a:latin typeface="Cambria Math" panose="02040503050406030204" pitchFamily="18" charset="0"/>
                                </a:rPr>
                                <m:t>=1,2,3        </m:t>
                              </m:r>
                              <m:r>
                                <a:rPr lang="en-US" altLang="zh-CN" b="1" i="1" kern="0" smtClean="0">
                                  <a:solidFill>
                                    <a:srgbClr val="000000"/>
                                  </a:solidFill>
                                  <a:latin typeface="Cambria Math" panose="02040503050406030204" pitchFamily="18" charset="0"/>
                                </a:rPr>
                                <m:t>    </m:t>
                              </m:r>
                              <m:r>
                                <a:rPr lang="zh-CN" altLang="en-US" i="1" kern="0">
                                  <a:solidFill>
                                    <a:srgbClr val="000000"/>
                                  </a:solidFill>
                                  <a:latin typeface="Cambria Math" panose="02040503050406030204" pitchFamily="18" charset="0"/>
                                </a:rPr>
                                <m:t>(5−5)</m:t>
                              </m:r>
                            </m:e>
                          </m:eqArr>
                        </m:e>
                      </m:d>
                    </m:oMath>
                  </m:oMathPara>
                </a14:m>
                <a:endParaRPr lang="zh-CN" altLang="en-US" kern="0" dirty="0"/>
              </a:p>
            </p:txBody>
          </p:sp>
        </mc:Choice>
        <mc:Fallback xmlns="">
          <p:sp>
            <p:nvSpPr>
              <p:cNvPr id="5" name="Object 6">
                <a:extLst>
                  <a:ext uri="{FF2B5EF4-FFF2-40B4-BE49-F238E27FC236}">
                    <a16:creationId xmlns:a16="http://schemas.microsoft.com/office/drawing/2014/main" id="{D3E3C940-B4B3-4C85-9F86-2156F62CD2AF}"/>
                  </a:ext>
                </a:extLst>
              </p:cNvPr>
              <p:cNvSpPr txBox="1">
                <a:spLocks noRot="1" noChangeAspect="1" noMove="1" noResize="1" noEditPoints="1" noAdjustHandles="1" noChangeArrowheads="1" noChangeShapeType="1" noTextEdit="1"/>
              </p:cNvSpPr>
              <p:nvPr/>
            </p:nvSpPr>
            <p:spPr bwMode="auto">
              <a:xfrm>
                <a:off x="827584" y="2114550"/>
                <a:ext cx="7772400" cy="4114800"/>
              </a:xfrm>
              <a:prstGeom prst="rect">
                <a:avLst/>
              </a:prstGeom>
              <a:blipFill>
                <a:blip r:embed="rId3"/>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Rectangle 9">
            <a:extLst>
              <a:ext uri="{FF2B5EF4-FFF2-40B4-BE49-F238E27FC236}">
                <a16:creationId xmlns:a16="http://schemas.microsoft.com/office/drawing/2014/main" id="{4EB67219-8247-4E61-98F3-D0124A5C488D}"/>
              </a:ext>
            </a:extLst>
          </p:cNvPr>
          <p:cNvSpPr>
            <a:spLocks noChangeArrowheads="1"/>
          </p:cNvSpPr>
          <p:nvPr/>
        </p:nvSpPr>
        <p:spPr bwMode="auto">
          <a:xfrm>
            <a:off x="2039938" y="6029295"/>
            <a:ext cx="512286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SzTx/>
              <a:buFontTx/>
              <a:buNone/>
            </a:pPr>
            <a:r>
              <a:rPr kumimoji="1" lang="en-US" altLang="zh-CN" sz="2000" b="0" dirty="0" smtClean="0">
                <a:latin typeface="宋体" panose="02010600030101010101" pitchFamily="2" charset="-122"/>
              </a:rPr>
              <a:t>              </a:t>
            </a:r>
            <a:r>
              <a:rPr kumimoji="1" lang="zh-CN" altLang="en-US" sz="2000" b="0" dirty="0" smtClean="0">
                <a:latin typeface="宋体" panose="02010600030101010101" pitchFamily="2" charset="-122"/>
              </a:rPr>
              <a:t>为权系数。</a:t>
            </a:r>
            <a:r>
              <a:rPr kumimoji="1" lang="zh-CN" altLang="en-US" sz="2000" b="0" dirty="0" smtClean="0">
                <a:latin typeface="Times New Roman" panose="02020603050405020304" pitchFamily="18" charset="0"/>
              </a:rPr>
              <a:t> </a:t>
            </a:r>
            <a:endParaRPr kumimoji="1" lang="zh-CN" altLang="en-US" sz="2000" b="0" dirty="0">
              <a:latin typeface="Times New Roman" panose="02020603050405020304" pitchFamily="18" charset="0"/>
            </a:endParaRPr>
          </a:p>
        </p:txBody>
      </p:sp>
      <p:graphicFrame>
        <p:nvGraphicFramePr>
          <p:cNvPr id="7" name="Object 8">
            <a:extLst>
              <a:ext uri="{FF2B5EF4-FFF2-40B4-BE49-F238E27FC236}">
                <a16:creationId xmlns:a16="http://schemas.microsoft.com/office/drawing/2014/main" id="{D1BF9C37-FECA-4FA6-8C51-BF023FA4653E}"/>
              </a:ext>
            </a:extLst>
          </p:cNvPr>
          <p:cNvGraphicFramePr>
            <a:graphicFrameLocks noChangeAspect="1"/>
          </p:cNvGraphicFramePr>
          <p:nvPr>
            <p:extLst>
              <p:ext uri="{D42A27DB-BD31-4B8C-83A1-F6EECF244321}">
                <p14:modId xmlns:p14="http://schemas.microsoft.com/office/powerpoint/2010/main" val="1166596553"/>
              </p:ext>
            </p:extLst>
          </p:nvPr>
        </p:nvGraphicFramePr>
        <p:xfrm>
          <a:off x="2843808" y="5993049"/>
          <a:ext cx="863600" cy="423863"/>
        </p:xfrm>
        <a:graphic>
          <a:graphicData uri="http://schemas.openxmlformats.org/presentationml/2006/ole">
            <mc:AlternateContent xmlns:mc="http://schemas.openxmlformats.org/markup-compatibility/2006">
              <mc:Choice xmlns:v="urn:schemas-microsoft-com:vml" Requires="v">
                <p:oleObj spid="_x0000_s745502" r:id="rId4" imgW="558800" imgH="279400" progId="Equation.3">
                  <p:embed/>
                </p:oleObj>
              </mc:Choice>
              <mc:Fallback>
                <p:oleObj r:id="rId4" imgW="558800" imgH="279400" progId="Equation.3">
                  <p:embed/>
                  <p:pic>
                    <p:nvPicPr>
                      <p:cNvPr id="709640" name="Object 8">
                        <a:extLst>
                          <a:ext uri="{FF2B5EF4-FFF2-40B4-BE49-F238E27FC236}">
                            <a16:creationId xmlns:a16="http://schemas.microsoft.com/office/drawing/2014/main" id="{D1BF9C37-FECA-4FA6-8C51-BF023FA465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808" y="5993049"/>
                        <a:ext cx="8636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文本框 9"/>
          <p:cNvSpPr txBox="1"/>
          <p:nvPr/>
        </p:nvSpPr>
        <p:spPr>
          <a:xfrm>
            <a:off x="6072867" y="2564904"/>
            <a:ext cx="2994731" cy="400110"/>
          </a:xfrm>
          <a:prstGeom prst="rect">
            <a:avLst/>
          </a:prstGeom>
          <a:noFill/>
        </p:spPr>
        <p:txBody>
          <a:bodyPr wrap="none" rtlCol="0">
            <a:spAutoFit/>
          </a:bodyPr>
          <a:lstStyle/>
          <a:p>
            <a:r>
              <a:rPr lang="zh-CN" altLang="en-US" sz="2000" dirty="0" smtClean="0">
                <a:solidFill>
                  <a:srgbClr val="FF0000"/>
                </a:solidFill>
              </a:rPr>
              <a:t>目标函数（求极小值）</a:t>
            </a:r>
            <a:endParaRPr lang="zh-CN" altLang="en-US" sz="2000" dirty="0">
              <a:solidFill>
                <a:srgbClr val="FF0000"/>
              </a:solidFill>
            </a:endParaRPr>
          </a:p>
        </p:txBody>
      </p:sp>
      <p:sp>
        <p:nvSpPr>
          <p:cNvPr id="11" name="文本框 10"/>
          <p:cNvSpPr txBox="1"/>
          <p:nvPr/>
        </p:nvSpPr>
        <p:spPr>
          <a:xfrm>
            <a:off x="6072867" y="3806547"/>
            <a:ext cx="1446230" cy="400110"/>
          </a:xfrm>
          <a:prstGeom prst="rect">
            <a:avLst/>
          </a:prstGeom>
          <a:noFill/>
        </p:spPr>
        <p:txBody>
          <a:bodyPr wrap="none" rtlCol="0">
            <a:spAutoFit/>
          </a:bodyPr>
          <a:lstStyle/>
          <a:p>
            <a:r>
              <a:rPr lang="zh-CN" altLang="en-US" sz="2000" dirty="0" smtClean="0">
                <a:solidFill>
                  <a:srgbClr val="FF0000"/>
                </a:solidFill>
              </a:rPr>
              <a:t>目标约束</a:t>
            </a:r>
            <a:endParaRPr lang="zh-CN" altLang="en-US" sz="2000" dirty="0">
              <a:solidFill>
                <a:srgbClr val="FF0000"/>
              </a:solidFill>
            </a:endParaRPr>
          </a:p>
        </p:txBody>
      </p:sp>
      <p:sp>
        <p:nvSpPr>
          <p:cNvPr id="12" name="文本框 11"/>
          <p:cNvSpPr txBox="1"/>
          <p:nvPr/>
        </p:nvSpPr>
        <p:spPr>
          <a:xfrm>
            <a:off x="6084168" y="4613066"/>
            <a:ext cx="1446230" cy="400110"/>
          </a:xfrm>
          <a:prstGeom prst="rect">
            <a:avLst/>
          </a:prstGeom>
          <a:noFill/>
        </p:spPr>
        <p:txBody>
          <a:bodyPr wrap="none" rtlCol="0">
            <a:spAutoFit/>
          </a:bodyPr>
          <a:lstStyle/>
          <a:p>
            <a:r>
              <a:rPr lang="zh-CN" altLang="en-US" sz="2000" dirty="0" smtClean="0">
                <a:solidFill>
                  <a:srgbClr val="FF0000"/>
                </a:solidFill>
              </a:rPr>
              <a:t>绝对约束</a:t>
            </a:r>
            <a:endParaRPr lang="zh-CN" altLang="en-US" sz="2000" dirty="0">
              <a:solidFill>
                <a:srgbClr val="FF0000"/>
              </a:solidFill>
            </a:endParaRPr>
          </a:p>
        </p:txBody>
      </p:sp>
      <p:sp>
        <p:nvSpPr>
          <p:cNvPr id="13" name="文本框 12"/>
          <p:cNvSpPr txBox="1"/>
          <p:nvPr/>
        </p:nvSpPr>
        <p:spPr>
          <a:xfrm>
            <a:off x="7020272" y="5019475"/>
            <a:ext cx="2249334" cy="400110"/>
          </a:xfrm>
          <a:prstGeom prst="rect">
            <a:avLst/>
          </a:prstGeom>
          <a:noFill/>
        </p:spPr>
        <p:txBody>
          <a:bodyPr wrap="none" rtlCol="0">
            <a:spAutoFit/>
          </a:bodyPr>
          <a:lstStyle/>
          <a:p>
            <a:pPr>
              <a:buNone/>
            </a:pPr>
            <a:r>
              <a:rPr lang="zh-CN" altLang="en-US" sz="2000" dirty="0" smtClean="0">
                <a:solidFill>
                  <a:srgbClr val="FF0000"/>
                </a:solidFill>
              </a:rPr>
              <a:t>决策变量非负约束</a:t>
            </a:r>
            <a:endParaRPr lang="zh-CN" altLang="en-US" sz="2000" dirty="0">
              <a:solidFill>
                <a:srgbClr val="FF0000"/>
              </a:solidFill>
            </a:endParaRPr>
          </a:p>
        </p:txBody>
      </p:sp>
      <p:sp>
        <p:nvSpPr>
          <p:cNvPr id="14" name="文本框 13"/>
          <p:cNvSpPr txBox="1"/>
          <p:nvPr/>
        </p:nvSpPr>
        <p:spPr>
          <a:xfrm>
            <a:off x="7020272" y="5405154"/>
            <a:ext cx="2249334" cy="400110"/>
          </a:xfrm>
          <a:prstGeom prst="rect">
            <a:avLst/>
          </a:prstGeom>
          <a:noFill/>
        </p:spPr>
        <p:txBody>
          <a:bodyPr wrap="none" rtlCol="0">
            <a:spAutoFit/>
          </a:bodyPr>
          <a:lstStyle/>
          <a:p>
            <a:pPr>
              <a:buNone/>
            </a:pPr>
            <a:r>
              <a:rPr lang="zh-CN" altLang="en-US" sz="2000" dirty="0" smtClean="0">
                <a:solidFill>
                  <a:srgbClr val="FF0000"/>
                </a:solidFill>
              </a:rPr>
              <a:t>偏差变量非负约束</a:t>
            </a:r>
            <a:endParaRPr lang="zh-CN" altLang="en-US" sz="2000" dirty="0">
              <a:solidFill>
                <a:srgbClr val="FF0000"/>
              </a:solidFill>
            </a:endParaRPr>
          </a:p>
        </p:txBody>
      </p:sp>
    </p:spTree>
    <p:extLst>
      <p:ext uri="{BB962C8B-B14F-4D97-AF65-F5344CB8AC3E}">
        <p14:creationId xmlns:p14="http://schemas.microsoft.com/office/powerpoint/2010/main" val="281838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5.1 </a:t>
            </a:r>
            <a:r>
              <a:rPr lang="zh-CN" altLang="en-US" dirty="0"/>
              <a:t>目标规划的数学模型</a:t>
            </a:r>
          </a:p>
        </p:txBody>
      </p:sp>
      <p:sp>
        <p:nvSpPr>
          <p:cNvPr id="3" name="内容占位符 2"/>
          <p:cNvSpPr>
            <a:spLocks noGrp="1"/>
          </p:cNvSpPr>
          <p:nvPr>
            <p:ph idx="1"/>
          </p:nvPr>
        </p:nvSpPr>
        <p:spPr/>
        <p:txBody>
          <a:bodyPr/>
          <a:lstStyle/>
          <a:p>
            <a:r>
              <a:rPr lang="zh-CN" altLang="en-US" dirty="0" smtClean="0"/>
              <a:t>目标规划</a:t>
            </a:r>
            <a:r>
              <a:rPr lang="zh-CN" altLang="en-US" dirty="0"/>
              <a:t>的建模</a:t>
            </a:r>
            <a:r>
              <a:rPr lang="zh-CN" altLang="en-US" dirty="0" smtClean="0"/>
              <a:t>步骤：</a:t>
            </a:r>
            <a:endParaRPr lang="en-US" altLang="zh-CN" dirty="0" smtClean="0"/>
          </a:p>
          <a:p>
            <a:pPr lvl="1"/>
            <a:r>
              <a:rPr lang="zh-CN" altLang="en-US" sz="2000" dirty="0" smtClean="0"/>
              <a:t>设定</a:t>
            </a:r>
            <a:r>
              <a:rPr lang="zh-CN" altLang="en-US" sz="2000" dirty="0"/>
              <a:t>问题的</a:t>
            </a:r>
            <a:r>
              <a:rPr lang="zh-CN" altLang="en-US" sz="2000" dirty="0" smtClean="0"/>
              <a:t>决策变量；</a:t>
            </a:r>
            <a:endParaRPr lang="en-US" altLang="zh-CN" sz="2000" dirty="0" smtClean="0"/>
          </a:p>
          <a:p>
            <a:pPr lvl="1"/>
            <a:r>
              <a:rPr lang="zh-CN" altLang="en-US" sz="2000" dirty="0" smtClean="0"/>
              <a:t>列出</a:t>
            </a:r>
            <a:r>
              <a:rPr lang="zh-CN" altLang="en-US" sz="2000" dirty="0"/>
              <a:t>问题的绝对</a:t>
            </a:r>
            <a:r>
              <a:rPr lang="zh-CN" altLang="en-US" sz="2000" dirty="0" smtClean="0"/>
              <a:t>约束；</a:t>
            </a:r>
            <a:endParaRPr lang="en-US" altLang="zh-CN" sz="2000" dirty="0" smtClean="0"/>
          </a:p>
          <a:p>
            <a:pPr lvl="1"/>
            <a:r>
              <a:rPr lang="zh-CN" altLang="en-US" sz="2000" dirty="0" smtClean="0"/>
              <a:t>根据</a:t>
            </a:r>
            <a:r>
              <a:rPr lang="zh-CN" altLang="en-US" sz="2000" dirty="0"/>
              <a:t>决策者的需求和偏好，设定各个目标的优先级，当有多个目标同属于一</a:t>
            </a:r>
            <a:r>
              <a:rPr lang="zh-CN" altLang="en-US" sz="2000" dirty="0" smtClean="0"/>
              <a:t>个优先级</a:t>
            </a:r>
            <a:r>
              <a:rPr lang="zh-CN" altLang="en-US" sz="2000" dirty="0"/>
              <a:t>下时，还需根据约定设定各个目标的</a:t>
            </a:r>
            <a:r>
              <a:rPr lang="zh-CN" altLang="en-US" sz="2000" dirty="0" smtClean="0"/>
              <a:t>权重。然后</a:t>
            </a:r>
            <a:r>
              <a:rPr lang="zh-CN" altLang="en-US" sz="2000" dirty="0"/>
              <a:t>，写出各个目标的软约束和各优先级的达成</a:t>
            </a:r>
            <a:r>
              <a:rPr lang="zh-CN" altLang="en-US" sz="2000" dirty="0" smtClean="0"/>
              <a:t>函数；</a:t>
            </a:r>
            <a:endParaRPr lang="en-US" altLang="zh-CN" sz="2000" dirty="0" smtClean="0"/>
          </a:p>
          <a:p>
            <a:pPr lvl="1"/>
            <a:r>
              <a:rPr lang="zh-CN" altLang="en-US" sz="2000" dirty="0" smtClean="0"/>
              <a:t>用</a:t>
            </a:r>
            <a:r>
              <a:rPr lang="zh-CN" altLang="en-US" sz="2000" dirty="0"/>
              <a:t>优先因子和权系数为各个目标的达成函数加权，写出整个问题的达成函数</a:t>
            </a:r>
            <a:r>
              <a:rPr lang="en-US" altLang="zh-CN" sz="2000" dirty="0" smtClean="0"/>
              <a:t>;</a:t>
            </a:r>
          </a:p>
          <a:p>
            <a:pPr lvl="1"/>
            <a:r>
              <a:rPr lang="zh-CN" altLang="en-US" sz="2000" dirty="0" smtClean="0"/>
              <a:t>写出</a:t>
            </a:r>
            <a:r>
              <a:rPr lang="zh-CN" altLang="en-US" sz="2000" dirty="0"/>
              <a:t>决策变量与偏差变量的非负约束。</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3EBD2E7D-C37C-4795-8898-D5E1C36CF231}" type="slidenum">
              <a:rPr kumimoji="0" lang="zh-CN" altLang="en-US" sz="1400" b="1" i="0" u="none" strike="noStrike" kern="1200" cap="none" spc="0" normalizeH="0" baseline="0" noProof="1" smtClean="0">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7</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97150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D20760C4-C4F3-479B-B507-1BF2E148368B}"/>
              </a:ext>
            </a:extLst>
          </p:cNvPr>
          <p:cNvSpPr>
            <a:spLocks noGrp="1" noChangeArrowheads="1"/>
          </p:cNvSpPr>
          <p:nvPr>
            <p:ph type="title"/>
          </p:nvPr>
        </p:nvSpPr>
        <p:spPr/>
        <p:txBody>
          <a:bodyPr/>
          <a:lstStyle/>
          <a:p>
            <a:r>
              <a:rPr lang="en-US" altLang="zh-CN" dirty="0"/>
              <a:t>5.2 </a:t>
            </a:r>
            <a:r>
              <a:rPr lang="zh-CN" altLang="en-US" dirty="0">
                <a:latin typeface="Arial" panose="020B0604020202020204" pitchFamily="34" charset="0"/>
              </a:rPr>
              <a:t>解目标规划的图解法</a:t>
            </a:r>
            <a:endParaRPr lang="zh-CN" altLang="en-US" dirty="0"/>
          </a:p>
        </p:txBody>
      </p:sp>
      <p:sp>
        <p:nvSpPr>
          <p:cNvPr id="8" name="灯片编号占位符 5">
            <a:extLst>
              <a:ext uri="{FF2B5EF4-FFF2-40B4-BE49-F238E27FC236}">
                <a16:creationId xmlns:a16="http://schemas.microsoft.com/office/drawing/2014/main" id="{E180265C-7596-4FF8-9446-1D9E85D7A984}"/>
              </a:ext>
            </a:extLst>
          </p:cNvPr>
          <p:cNvSpPr>
            <a:spLocks noGrp="1"/>
          </p:cNvSpPr>
          <p:nvPr>
            <p:ph type="sldNum" sz="quarter" idx="10"/>
          </p:nvPr>
        </p:nvSpPr>
        <p:spPr/>
        <p:txBody>
          <a:bodyPr/>
          <a:lstStyle/>
          <a:p>
            <a:fld id="{2004C361-7C0B-4583-83D6-154C5F3AABE6}" type="slidenum">
              <a:rPr lang="en-US" altLang="zh-CN"/>
              <a:pPr/>
              <a:t>8</a:t>
            </a:fld>
            <a:endParaRPr lang="en-US" altLang="zh-CN" dirty="0"/>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50354" y="1286272"/>
                <a:ext cx="7954093" cy="4114800"/>
              </a:xfrm>
            </p:spPr>
            <p:txBody>
              <a:bodyPr/>
              <a:lstStyle/>
              <a:p>
                <a:r>
                  <a:rPr lang="zh-CN" altLang="en-US" dirty="0" smtClean="0"/>
                  <a:t>适用性：只有</a:t>
                </a:r>
                <a:r>
                  <a:rPr lang="zh-CN" altLang="en-US" dirty="0"/>
                  <a:t>两个决策变量的目标规划</a:t>
                </a:r>
                <a:r>
                  <a:rPr lang="zh-CN" altLang="en-US" dirty="0" smtClean="0"/>
                  <a:t>问题</a:t>
                </a:r>
                <a:endParaRPr lang="en-US" altLang="zh-CN" dirty="0" smtClean="0"/>
              </a:p>
              <a:p>
                <a:r>
                  <a:rPr lang="zh-CN" altLang="en-US" dirty="0" smtClean="0"/>
                  <a:t>步骤：</a:t>
                </a:r>
                <a:endParaRPr lang="zh-CN" altLang="en-US" sz="2000" dirty="0"/>
              </a:p>
              <a:p>
                <a:pPr lvl="1"/>
                <a:r>
                  <a:rPr lang="zh-CN" altLang="en-US" sz="2000" dirty="0" smtClean="0"/>
                  <a:t>在</a:t>
                </a:r>
                <a:r>
                  <a:rPr lang="zh-CN" altLang="en-US" sz="2000" dirty="0"/>
                  <a:t>由</a:t>
                </a:r>
                <a:r>
                  <a:rPr lang="zh-CN" altLang="en-US" sz="2000" dirty="0" smtClean="0"/>
                  <a:t>决策变量</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1" i="1" smtClean="0">
                            <a:latin typeface="Cambria Math" panose="02040503050406030204" pitchFamily="18" charset="0"/>
                          </a:rPr>
                          <m:t>𝒙</m:t>
                        </m:r>
                      </m:e>
                      <m:sub>
                        <m:r>
                          <a:rPr lang="en-US" altLang="zh-CN" sz="2000" b="1" i="1" smtClean="0">
                            <a:latin typeface="Cambria Math" panose="02040503050406030204" pitchFamily="18" charset="0"/>
                          </a:rPr>
                          <m:t>𝟏</m:t>
                        </m:r>
                      </m:sub>
                    </m:sSub>
                  </m:oMath>
                </a14:m>
                <a:r>
                  <a:rPr lang="en-US" altLang="zh-CN" sz="2000" dirty="0" smtClean="0"/>
                  <a:t>,</a:t>
                </a:r>
                <a:r>
                  <a:rPr lang="en-US" altLang="zh-CN" sz="2000" dirty="0"/>
                  <a:t>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𝒙</m:t>
                        </m:r>
                      </m:e>
                      <m:sub>
                        <m:r>
                          <a:rPr lang="en-US" altLang="zh-CN" sz="2000" b="1" i="1" smtClean="0">
                            <a:latin typeface="Cambria Math" panose="02040503050406030204" pitchFamily="18" charset="0"/>
                          </a:rPr>
                          <m:t>𝟐</m:t>
                        </m:r>
                      </m:sub>
                    </m:sSub>
                  </m:oMath>
                </a14:m>
                <a:r>
                  <a:rPr lang="en-US" altLang="zh-CN" sz="2000" dirty="0"/>
                  <a:t>,</a:t>
                </a:r>
                <a:r>
                  <a:rPr lang="zh-CN" altLang="en-US" sz="2000" dirty="0"/>
                  <a:t>构成的平面直角坐标系</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𝒙</m:t>
                        </m:r>
                      </m:e>
                      <m:sub>
                        <m:r>
                          <a:rPr lang="en-US" altLang="zh-CN" sz="2000" i="1">
                            <a:latin typeface="Cambria Math" panose="02040503050406030204" pitchFamily="18" charset="0"/>
                          </a:rPr>
                          <m:t>𝟏</m:t>
                        </m:r>
                      </m:sub>
                    </m:sSub>
                  </m:oMath>
                </a14:m>
                <a:r>
                  <a:rPr lang="en-US" altLang="zh-CN" sz="2000" dirty="0" smtClean="0"/>
                  <a:t>o</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𝒙</m:t>
                        </m:r>
                      </m:e>
                      <m:sub>
                        <m:r>
                          <a:rPr lang="en-US" altLang="zh-CN" sz="2000" i="1">
                            <a:latin typeface="Cambria Math" panose="02040503050406030204" pitchFamily="18" charset="0"/>
                          </a:rPr>
                          <m:t>𝟐</m:t>
                        </m:r>
                      </m:sub>
                    </m:sSub>
                  </m:oMath>
                </a14:m>
                <a:r>
                  <a:rPr lang="zh-CN" altLang="en-US" sz="2000" dirty="0" smtClean="0"/>
                  <a:t>的</a:t>
                </a:r>
                <a:r>
                  <a:rPr lang="zh-CN" altLang="en-US" sz="2000" dirty="0"/>
                  <a:t>第一象限内作各约束条件。绝对约束条件的作图与线性规划相同，作目标约束时，</a:t>
                </a:r>
                <a:r>
                  <a:rPr lang="zh-CN" altLang="en-US" sz="2000" dirty="0" smtClean="0"/>
                  <a:t>先令</a:t>
                </a:r>
                <a14:m>
                  <m:oMath xmlns:m="http://schemas.openxmlformats.org/officeDocument/2006/math">
                    <m:sSubSup>
                      <m:sSubSupPr>
                        <m:ctrlPr>
                          <a:rPr lang="en-US" altLang="zh-CN" sz="2000" i="1" smtClean="0">
                            <a:latin typeface="Cambria Math" panose="02040503050406030204" pitchFamily="18" charset="0"/>
                          </a:rPr>
                        </m:ctrlPr>
                      </m:sSubSupPr>
                      <m:e>
                        <m:r>
                          <a:rPr lang="en-US" altLang="zh-CN" sz="2000" b="1" i="1" smtClean="0">
                            <a:latin typeface="Cambria Math" panose="02040503050406030204" pitchFamily="18" charset="0"/>
                          </a:rPr>
                          <m:t>𝒅</m:t>
                        </m:r>
                      </m:e>
                      <m:sub>
                        <m:r>
                          <a:rPr lang="en-US" altLang="zh-CN" sz="2000" b="1" i="1" smtClean="0">
                            <a:latin typeface="Cambria Math" panose="02040503050406030204" pitchFamily="18" charset="0"/>
                          </a:rPr>
                          <m:t>𝒊</m:t>
                        </m:r>
                      </m:sub>
                      <m:sup>
                        <m:r>
                          <a:rPr lang="en-US" altLang="zh-CN" sz="2000" b="1" i="1" smtClean="0">
                            <a:latin typeface="Cambria Math" panose="02040503050406030204" pitchFamily="18" charset="0"/>
                          </a:rPr>
                          <m:t>+</m:t>
                        </m:r>
                      </m:sup>
                    </m:sSubSup>
                  </m:oMath>
                </a14:m>
                <a:r>
                  <a:rPr lang="en-US" altLang="zh-CN" sz="2000" dirty="0"/>
                  <a:t>,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𝒅</m:t>
                        </m:r>
                      </m:e>
                      <m:sub>
                        <m:r>
                          <a:rPr lang="en-US" altLang="zh-CN" sz="2000" i="1">
                            <a:latin typeface="Cambria Math" panose="02040503050406030204" pitchFamily="18" charset="0"/>
                          </a:rPr>
                          <m:t>𝒊</m:t>
                        </m:r>
                      </m:sub>
                      <m:sup>
                        <m:r>
                          <a:rPr lang="en-US" altLang="zh-CN" sz="2000" b="1" i="1" smtClean="0">
                            <a:latin typeface="Cambria Math" panose="02040503050406030204" pitchFamily="18" charset="0"/>
                          </a:rPr>
                          <m:t>−</m:t>
                        </m:r>
                      </m:sup>
                    </m:sSubSup>
                  </m:oMath>
                </a14:m>
                <a:r>
                  <a:rPr lang="en-US" altLang="zh-CN" sz="2000" dirty="0" smtClean="0"/>
                  <a:t>=</a:t>
                </a:r>
                <a:r>
                  <a:rPr lang="en-US" altLang="zh-CN" sz="2000" dirty="0"/>
                  <a:t>0</a:t>
                </a:r>
                <a:r>
                  <a:rPr lang="zh-CN" altLang="en-US" sz="2000" dirty="0"/>
                  <a:t>作相应的直线，然后在这直线旁标上</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𝒅</m:t>
                        </m:r>
                      </m:e>
                      <m:sub>
                        <m:r>
                          <a:rPr lang="en-US" altLang="zh-CN" sz="2000" i="1">
                            <a:latin typeface="Cambria Math" panose="02040503050406030204" pitchFamily="18" charset="0"/>
                          </a:rPr>
                          <m:t>𝒊</m:t>
                        </m:r>
                      </m:sub>
                      <m:sup>
                        <m:r>
                          <a:rPr lang="en-US" altLang="zh-CN" sz="2000" i="1">
                            <a:latin typeface="Cambria Math" panose="02040503050406030204" pitchFamily="18" charset="0"/>
                          </a:rPr>
                          <m:t>+</m:t>
                        </m:r>
                      </m:sup>
                    </m:sSubSup>
                  </m:oMath>
                </a14:m>
                <a:r>
                  <a:rPr lang="en-US" altLang="zh-CN" sz="2000" dirty="0"/>
                  <a:t>,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𝒅</m:t>
                        </m:r>
                      </m:e>
                      <m:sub>
                        <m:r>
                          <a:rPr lang="en-US" altLang="zh-CN" sz="2000" i="1">
                            <a:latin typeface="Cambria Math" panose="02040503050406030204" pitchFamily="18" charset="0"/>
                          </a:rPr>
                          <m:t>𝒊</m:t>
                        </m:r>
                      </m:sub>
                      <m:sup>
                        <m:r>
                          <a:rPr lang="en-US" altLang="zh-CN" sz="2000" i="1">
                            <a:latin typeface="Cambria Math" panose="02040503050406030204" pitchFamily="18" charset="0"/>
                          </a:rPr>
                          <m:t>−</m:t>
                        </m:r>
                      </m:sup>
                    </m:sSubSup>
                  </m:oMath>
                </a14:m>
                <a:r>
                  <a:rPr lang="zh-CN" altLang="en-US" sz="2000" dirty="0"/>
                  <a:t>增大的</a:t>
                </a:r>
                <a:r>
                  <a:rPr lang="zh-CN" altLang="en-US" sz="2000" dirty="0" smtClean="0"/>
                  <a:t>方向。</a:t>
                </a:r>
                <a:endParaRPr lang="en-US" altLang="zh-CN" sz="2000" dirty="0" smtClean="0"/>
              </a:p>
              <a:p>
                <a:pPr lvl="1"/>
                <a:r>
                  <a:rPr lang="zh-CN" altLang="en-US" sz="2000" dirty="0" smtClean="0"/>
                  <a:t>找到满足绝对约束的可行区域</a:t>
                </a:r>
                <a:endParaRPr lang="en-US" altLang="zh-CN" sz="2000" dirty="0" smtClean="0"/>
              </a:p>
              <a:p>
                <a:pPr lvl="1"/>
                <a:r>
                  <a:rPr lang="zh-CN" altLang="en-US" sz="2000" dirty="0" smtClean="0"/>
                  <a:t>按照</a:t>
                </a:r>
                <a:r>
                  <a:rPr lang="zh-CN" altLang="en-US" sz="2000" dirty="0"/>
                  <a:t>优先级从高到低的顺序，逐个考虑各个目标约束。一般地，若优先因子</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b="1" i="1" dirty="0" smtClean="0">
                            <a:latin typeface="Cambria Math" panose="02040503050406030204" pitchFamily="18" charset="0"/>
                          </a:rPr>
                          <m:t>𝑷</m:t>
                        </m:r>
                      </m:e>
                      <m:sub>
                        <m:r>
                          <a:rPr lang="en-US" altLang="zh-CN" sz="2000" b="1" i="1" dirty="0" smtClean="0">
                            <a:latin typeface="Cambria Math" panose="02040503050406030204" pitchFamily="18" charset="0"/>
                          </a:rPr>
                          <m:t>𝒋</m:t>
                        </m:r>
                      </m:sub>
                    </m:sSub>
                  </m:oMath>
                </a14:m>
                <a:r>
                  <a:rPr lang="zh-CN" altLang="en-US" sz="2000" dirty="0" smtClean="0"/>
                  <a:t>对应</a:t>
                </a:r>
                <a:r>
                  <a:rPr lang="zh-CN" altLang="en-US" sz="2000" dirty="0"/>
                  <a:t>的解空间为</a:t>
                </a:r>
                <a14:m>
                  <m:oMath xmlns:m="http://schemas.openxmlformats.org/officeDocument/2006/math">
                    <m:sSub>
                      <m:sSubPr>
                        <m:ctrlPr>
                          <a:rPr lang="en-US" altLang="zh-CN" sz="2000" i="1" dirty="0">
                            <a:latin typeface="Cambria Math" panose="02040503050406030204" pitchFamily="18" charset="0"/>
                          </a:rPr>
                        </m:ctrlPr>
                      </m:sSubPr>
                      <m:e>
                        <m:r>
                          <a:rPr lang="en-US" altLang="zh-CN" sz="2000" b="1" i="1" dirty="0" smtClean="0">
                            <a:latin typeface="Cambria Math" panose="02040503050406030204" pitchFamily="18" charset="0"/>
                          </a:rPr>
                          <m:t>𝑹</m:t>
                        </m:r>
                      </m:e>
                      <m:sub>
                        <m:r>
                          <a:rPr lang="en-US" altLang="zh-CN" sz="2000" i="1" dirty="0">
                            <a:latin typeface="Cambria Math" panose="02040503050406030204" pitchFamily="18" charset="0"/>
                          </a:rPr>
                          <m:t>𝒋</m:t>
                        </m:r>
                      </m:sub>
                    </m:sSub>
                  </m:oMath>
                </a14:m>
                <a:r>
                  <a:rPr lang="en-US" altLang="zh-CN" sz="2000" dirty="0"/>
                  <a:t>,</a:t>
                </a:r>
                <a:r>
                  <a:rPr lang="zh-CN" altLang="en-US" sz="2000" dirty="0"/>
                  <a:t>，则优先因子</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𝑷</m:t>
                        </m:r>
                      </m:e>
                      <m:sub>
                        <m:r>
                          <a:rPr lang="en-US" altLang="zh-CN" sz="2000" i="1" dirty="0">
                            <a:latin typeface="Cambria Math" panose="02040503050406030204" pitchFamily="18" charset="0"/>
                          </a:rPr>
                          <m:t>𝒋</m:t>
                        </m:r>
                        <m:r>
                          <a:rPr lang="en-US" altLang="zh-CN" sz="2000" b="1" i="1" dirty="0" smtClean="0">
                            <a:latin typeface="Cambria Math" panose="02040503050406030204" pitchFamily="18" charset="0"/>
                          </a:rPr>
                          <m:t>+</m:t>
                        </m:r>
                        <m:r>
                          <a:rPr lang="en-US" altLang="zh-CN" sz="2000" b="1" i="1" dirty="0" smtClean="0">
                            <a:latin typeface="Cambria Math" panose="02040503050406030204" pitchFamily="18" charset="0"/>
                          </a:rPr>
                          <m:t>𝟏</m:t>
                        </m:r>
                      </m:sub>
                    </m:sSub>
                  </m:oMath>
                </a14:m>
                <a:r>
                  <a:rPr lang="zh-CN" altLang="en-US" sz="2000" dirty="0"/>
                  <a:t>对应的解空间只能在</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𝑹</m:t>
                        </m:r>
                      </m:e>
                      <m:sub>
                        <m:r>
                          <a:rPr lang="en-US" altLang="zh-CN" sz="2000" i="1" dirty="0">
                            <a:latin typeface="Cambria Math" panose="02040503050406030204" pitchFamily="18" charset="0"/>
                          </a:rPr>
                          <m:t>𝒋</m:t>
                        </m:r>
                      </m:sub>
                    </m:sSub>
                  </m:oMath>
                </a14:m>
                <a:r>
                  <a:rPr lang="zh-CN" altLang="en-US" sz="2000" dirty="0" smtClean="0"/>
                  <a:t>中</a:t>
                </a:r>
                <a:r>
                  <a:rPr lang="zh-CN" altLang="en-US" sz="2000" dirty="0"/>
                  <a:t>考虑，</a:t>
                </a:r>
                <a:r>
                  <a:rPr lang="zh-CN" altLang="en-US" sz="2000" dirty="0" smtClean="0"/>
                  <a:t>即</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1" i="1" smtClean="0">
                            <a:latin typeface="Cambria Math" panose="02040503050406030204" pitchFamily="18" charset="0"/>
                          </a:rPr>
                          <m:t>𝑹</m:t>
                        </m:r>
                      </m:e>
                      <m:sub>
                        <m:r>
                          <a:rPr lang="en-US" altLang="zh-CN" sz="2000" b="1" i="1" smtClean="0">
                            <a:latin typeface="Cambria Math" panose="02040503050406030204" pitchFamily="18" charset="0"/>
                          </a:rPr>
                          <m:t>𝒋</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sub>
                    </m:sSub>
                    <m:r>
                      <a:rPr lang="en-US" altLang="zh-CN" sz="2000" i="1" smtClean="0">
                        <a:latin typeface="Cambria Math" panose="02040503050406030204" pitchFamily="18" charset="0"/>
                        <a:ea typeface="Cambria Math" panose="02040503050406030204" pitchFamily="18" charset="0"/>
                      </a:rPr>
                      <m:t>∈</m:t>
                    </m:r>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b="1" i="1" smtClean="0">
                            <a:latin typeface="Cambria Math" panose="02040503050406030204" pitchFamily="18" charset="0"/>
                            <a:ea typeface="Cambria Math" panose="02040503050406030204" pitchFamily="18" charset="0"/>
                          </a:rPr>
                          <m:t>𝑹</m:t>
                        </m:r>
                      </m:e>
                      <m:sub>
                        <m:r>
                          <a:rPr lang="en-US" altLang="zh-CN" sz="2000" b="1" i="1" smtClean="0">
                            <a:latin typeface="Cambria Math" panose="02040503050406030204" pitchFamily="18" charset="0"/>
                            <a:ea typeface="Cambria Math" panose="02040503050406030204" pitchFamily="18" charset="0"/>
                          </a:rPr>
                          <m:t>𝒋</m:t>
                        </m:r>
                      </m:sub>
                    </m:sSub>
                  </m:oMath>
                </a14:m>
                <a:r>
                  <a:rPr lang="zh-CN" altLang="en-US" sz="2000" dirty="0" smtClean="0"/>
                  <a:t>，</a:t>
                </a:r>
                <a:r>
                  <a:rPr lang="zh-CN" altLang="en-US" sz="2000" dirty="0"/>
                  <a:t>若</a:t>
                </a:r>
                <a14:m>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𝑹</m:t>
                        </m:r>
                      </m:e>
                      <m:sub>
                        <m:r>
                          <a:rPr lang="en-US" altLang="zh-CN" sz="2000" i="1">
                            <a:latin typeface="Cambria Math" panose="02040503050406030204" pitchFamily="18" charset="0"/>
                            <a:ea typeface="Cambria Math" panose="02040503050406030204" pitchFamily="18" charset="0"/>
                          </a:rPr>
                          <m:t>𝒋</m:t>
                        </m:r>
                      </m:sub>
                    </m:sSub>
                  </m:oMath>
                </a14:m>
                <a:r>
                  <a:rPr lang="en-US" altLang="zh-CN" sz="2000" dirty="0" smtClean="0"/>
                  <a:t>≠</a:t>
                </a:r>
                <a:r>
                  <a:rPr lang="en-US" altLang="zh-CN" sz="2000" dirty="0"/>
                  <a:t>φ</a:t>
                </a:r>
                <a:r>
                  <a:rPr lang="zh-CN" altLang="en-US" sz="2000" dirty="0" smtClean="0"/>
                  <a:t>，</a:t>
                </a:r>
                <a:r>
                  <a:rPr lang="zh-CN" altLang="en-US" sz="2000" dirty="0"/>
                  <a:t>而</a:t>
                </a:r>
                <a14:m>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𝑹</m:t>
                        </m:r>
                      </m:e>
                      <m:sub>
                        <m:r>
                          <a:rPr lang="en-US" altLang="zh-CN" sz="2000" i="1">
                            <a:latin typeface="Cambria Math" panose="02040503050406030204" pitchFamily="18" charset="0"/>
                            <a:ea typeface="Cambria Math" panose="02040503050406030204" pitchFamily="18" charset="0"/>
                          </a:rPr>
                          <m:t>𝒋</m:t>
                        </m:r>
                        <m:r>
                          <a:rPr lang="en-US" altLang="zh-CN" sz="2000" b="1" i="1" smtClean="0">
                            <a:latin typeface="Cambria Math" panose="02040503050406030204" pitchFamily="18" charset="0"/>
                            <a:ea typeface="Cambria Math" panose="02040503050406030204" pitchFamily="18" charset="0"/>
                          </a:rPr>
                          <m:t>+</m:t>
                        </m:r>
                        <m:r>
                          <a:rPr lang="en-US" altLang="zh-CN" sz="2000" b="1" i="1" smtClean="0">
                            <a:latin typeface="Cambria Math" panose="02040503050406030204" pitchFamily="18" charset="0"/>
                            <a:ea typeface="Cambria Math" panose="02040503050406030204" pitchFamily="18" charset="0"/>
                          </a:rPr>
                          <m:t>𝟏</m:t>
                        </m:r>
                      </m:sub>
                    </m:sSub>
                  </m:oMath>
                </a14:m>
                <a:r>
                  <a:rPr lang="en-US" altLang="zh-CN" sz="2000" dirty="0" smtClean="0"/>
                  <a:t>=φ</a:t>
                </a:r>
                <a:r>
                  <a:rPr lang="zh-CN" altLang="en-US" sz="2000" dirty="0"/>
                  <a:t>，则</a:t>
                </a:r>
                <a14:m>
                  <m:oMath xmlns:m="http://schemas.openxmlformats.org/officeDocument/2006/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𝑹</m:t>
                        </m:r>
                      </m:e>
                      <m:sub>
                        <m:r>
                          <a:rPr lang="en-US" altLang="zh-CN" sz="2000" i="1">
                            <a:latin typeface="Cambria Math" panose="02040503050406030204" pitchFamily="18" charset="0"/>
                            <a:ea typeface="Cambria Math" panose="02040503050406030204" pitchFamily="18" charset="0"/>
                          </a:rPr>
                          <m:t>𝒋</m:t>
                        </m:r>
                      </m:sub>
                    </m:sSub>
                  </m:oMath>
                </a14:m>
                <a:r>
                  <a:rPr lang="zh-CN" altLang="en-US" sz="2000" dirty="0"/>
                  <a:t>中的解为目标规划的满意解，它</a:t>
                </a:r>
                <a:r>
                  <a:rPr lang="zh-CN" altLang="en-US" sz="2000" dirty="0">
                    <a:solidFill>
                      <a:srgbClr val="FF0000"/>
                    </a:solidFill>
                  </a:rPr>
                  <a:t>只能保证满足</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𝑷</m:t>
                        </m:r>
                      </m:e>
                      <m:sub>
                        <m:r>
                          <a:rPr lang="en-US" altLang="zh-CN" sz="2000" i="1" dirty="0">
                            <a:latin typeface="Cambria Math" panose="02040503050406030204" pitchFamily="18" charset="0"/>
                          </a:rPr>
                          <m:t>𝟏</m:t>
                        </m:r>
                      </m:sub>
                    </m:sSub>
                  </m:oMath>
                </a14:m>
                <a:r>
                  <a:rPr lang="en-US" altLang="zh-CN" sz="2000" dirty="0"/>
                  <a:t>, </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𝑷</m:t>
                        </m:r>
                      </m:e>
                      <m:sub>
                        <m:r>
                          <a:rPr lang="en-US" altLang="zh-CN" sz="2000" b="1" i="1" dirty="0" smtClean="0">
                            <a:latin typeface="Cambria Math" panose="02040503050406030204" pitchFamily="18" charset="0"/>
                          </a:rPr>
                          <m:t>𝟐</m:t>
                        </m:r>
                      </m:sub>
                    </m:sSub>
                  </m:oMath>
                </a14:m>
                <a:r>
                  <a:rPr lang="en-US" altLang="zh-CN" sz="2000" dirty="0"/>
                  <a:t>…, </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𝑷</m:t>
                        </m:r>
                      </m:e>
                      <m:sub>
                        <m:r>
                          <a:rPr lang="en-US" altLang="zh-CN" sz="2000" i="1" dirty="0">
                            <a:latin typeface="Cambria Math" panose="02040503050406030204" pitchFamily="18" charset="0"/>
                          </a:rPr>
                          <m:t>𝒋</m:t>
                        </m:r>
                      </m:sub>
                    </m:sSub>
                  </m:oMath>
                </a14:m>
                <a:r>
                  <a:rPr lang="zh-CN" altLang="en-US" sz="2000" dirty="0"/>
                  <a:t>级目标，而</a:t>
                </a:r>
                <a:r>
                  <a:rPr lang="zh-CN" altLang="en-US" sz="2000" dirty="0">
                    <a:solidFill>
                      <a:srgbClr val="FF0000"/>
                    </a:solidFill>
                  </a:rPr>
                  <a:t>不保证满足其后的各级目标</a:t>
                </a:r>
                <a:r>
                  <a:rPr lang="zh-CN" altLang="en-US" sz="2000" dirty="0"/>
                  <a:t>是否能够实现。</a:t>
                </a:r>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50354" y="1286272"/>
                <a:ext cx="7954093" cy="4114800"/>
              </a:xfrm>
              <a:blipFill>
                <a:blip r:embed="rId2"/>
                <a:stretch>
                  <a:fillRect l="-1074" t="-1630" r="-1457" b="-488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D20760C4-C4F3-479B-B507-1BF2E148368B}"/>
              </a:ext>
            </a:extLst>
          </p:cNvPr>
          <p:cNvSpPr>
            <a:spLocks noGrp="1" noChangeArrowheads="1"/>
          </p:cNvSpPr>
          <p:nvPr>
            <p:ph type="title"/>
          </p:nvPr>
        </p:nvSpPr>
        <p:spPr/>
        <p:txBody>
          <a:bodyPr/>
          <a:lstStyle/>
          <a:p>
            <a:r>
              <a:rPr lang="en-US" altLang="zh-CN" dirty="0"/>
              <a:t>5.2 </a:t>
            </a:r>
            <a:r>
              <a:rPr lang="zh-CN" altLang="en-US" dirty="0">
                <a:latin typeface="Arial" panose="020B0604020202020204" pitchFamily="34" charset="0"/>
              </a:rPr>
              <a:t>解目标规划的图解法</a:t>
            </a:r>
            <a:endParaRPr lang="zh-CN" altLang="en-US" dirty="0"/>
          </a:p>
        </p:txBody>
      </p:sp>
      <p:sp>
        <p:nvSpPr>
          <p:cNvPr id="8" name="灯片编号占位符 5">
            <a:extLst>
              <a:ext uri="{FF2B5EF4-FFF2-40B4-BE49-F238E27FC236}">
                <a16:creationId xmlns:a16="http://schemas.microsoft.com/office/drawing/2014/main" id="{E180265C-7596-4FF8-9446-1D9E85D7A984}"/>
              </a:ext>
            </a:extLst>
          </p:cNvPr>
          <p:cNvSpPr>
            <a:spLocks noGrp="1"/>
          </p:cNvSpPr>
          <p:nvPr>
            <p:ph type="sldNum" sz="quarter" idx="10"/>
          </p:nvPr>
        </p:nvSpPr>
        <p:spPr/>
        <p:txBody>
          <a:bodyPr/>
          <a:lstStyle/>
          <a:p>
            <a:fld id="{2004C361-7C0B-4583-83D6-154C5F3AABE6}" type="slidenum">
              <a:rPr lang="en-US" altLang="zh-CN"/>
              <a:pPr/>
              <a:t>9</a:t>
            </a:fld>
            <a:endParaRPr lang="en-US" altLang="zh-CN" dirty="0"/>
          </a:p>
        </p:txBody>
      </p:sp>
      <p:sp>
        <p:nvSpPr>
          <p:cNvPr id="2" name="内容占位符 1"/>
          <p:cNvSpPr>
            <a:spLocks noGrp="1"/>
          </p:cNvSpPr>
          <p:nvPr>
            <p:ph idx="1"/>
          </p:nvPr>
        </p:nvSpPr>
        <p:spPr>
          <a:xfrm>
            <a:off x="650355" y="1286272"/>
            <a:ext cx="7772400" cy="4114800"/>
          </a:xfrm>
        </p:spPr>
        <p:txBody>
          <a:bodyPr/>
          <a:lstStyle/>
          <a:p>
            <a:r>
              <a:rPr lang="zh-CN" altLang="en-US" dirty="0" smtClean="0"/>
              <a:t>以</a:t>
            </a:r>
            <a:r>
              <a:rPr lang="zh-CN" altLang="en-US" dirty="0"/>
              <a:t>例</a:t>
            </a:r>
            <a:r>
              <a:rPr lang="en-US" altLang="zh-CN" dirty="0"/>
              <a:t>5-2</a:t>
            </a:r>
            <a:r>
              <a:rPr lang="zh-CN" altLang="en-US" dirty="0" smtClean="0"/>
              <a:t>说明。</a:t>
            </a:r>
            <a:endParaRPr lang="zh-CN" altLang="en-US" dirty="0"/>
          </a:p>
          <a:p>
            <a:endParaRPr lang="zh-CN" altLang="en-US" dirty="0"/>
          </a:p>
        </p:txBody>
      </p:sp>
      <p:grpSp>
        <p:nvGrpSpPr>
          <p:cNvPr id="9" name="Group 8">
            <a:extLst>
              <a:ext uri="{FF2B5EF4-FFF2-40B4-BE49-F238E27FC236}">
                <a16:creationId xmlns:a16="http://schemas.microsoft.com/office/drawing/2014/main" id="{737ACEB9-1C43-4FCF-873C-25CBCA786008}"/>
              </a:ext>
            </a:extLst>
          </p:cNvPr>
          <p:cNvGrpSpPr>
            <a:grpSpLocks/>
          </p:cNvGrpSpPr>
          <p:nvPr/>
        </p:nvGrpSpPr>
        <p:grpSpPr bwMode="auto">
          <a:xfrm>
            <a:off x="358775" y="1789177"/>
            <a:ext cx="8709025" cy="3632200"/>
            <a:chOff x="192" y="1824"/>
            <a:chExt cx="5486" cy="2288"/>
          </a:xfrm>
        </p:grpSpPr>
        <p:pic>
          <p:nvPicPr>
            <p:cNvPr id="10" name="Picture 9" descr="4g1">
              <a:extLst>
                <a:ext uri="{FF2B5EF4-FFF2-40B4-BE49-F238E27FC236}">
                  <a16:creationId xmlns:a16="http://schemas.microsoft.com/office/drawing/2014/main" id="{CBF00D45-7958-4EC9-AD40-50568265B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1824"/>
              <a:ext cx="2496" cy="22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Object 10">
              <a:extLst>
                <a:ext uri="{FF2B5EF4-FFF2-40B4-BE49-F238E27FC236}">
                  <a16:creationId xmlns:a16="http://schemas.microsoft.com/office/drawing/2014/main" id="{853D68E3-53A1-4CD0-B61A-4AFF66397B0F}"/>
                </a:ext>
              </a:extLst>
            </p:cNvPr>
            <p:cNvGraphicFramePr>
              <a:graphicFrameLocks noChangeAspect="1"/>
            </p:cNvGraphicFramePr>
            <p:nvPr>
              <p:extLst>
                <p:ext uri="{D42A27DB-BD31-4B8C-83A1-F6EECF244321}">
                  <p14:modId xmlns:p14="http://schemas.microsoft.com/office/powerpoint/2010/main" val="1389482803"/>
                </p:ext>
              </p:extLst>
            </p:nvPr>
          </p:nvGraphicFramePr>
          <p:xfrm>
            <a:off x="2986" y="1987"/>
            <a:ext cx="2692" cy="1971"/>
          </p:xfrm>
          <a:graphic>
            <a:graphicData uri="http://schemas.openxmlformats.org/presentationml/2006/ole">
              <mc:AlternateContent xmlns:mc="http://schemas.openxmlformats.org/markup-compatibility/2006">
                <mc:Choice xmlns:v="urn:schemas-microsoft-com:vml" Requires="v">
                  <p:oleObj spid="_x0000_s759833" name="Equation" r:id="rId4" imgW="2514600" imgH="1841400" progId="Equation.DSMT4">
                    <p:embed/>
                  </p:oleObj>
                </mc:Choice>
                <mc:Fallback>
                  <p:oleObj name="Equation" r:id="rId4" imgW="2514600" imgH="1841400" progId="Equation.DSMT4">
                    <p:embed/>
                    <p:pic>
                      <p:nvPicPr>
                        <p:cNvPr id="11" name="Object 10">
                          <a:extLst>
                            <a:ext uri="{FF2B5EF4-FFF2-40B4-BE49-F238E27FC236}">
                              <a16:creationId xmlns:a16="http://schemas.microsoft.com/office/drawing/2014/main" id="{853D68E3-53A1-4CD0-B61A-4AFF66397B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6" y="1987"/>
                          <a:ext cx="2692" cy="1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Line 12">
              <a:extLst>
                <a:ext uri="{FF2B5EF4-FFF2-40B4-BE49-F238E27FC236}">
                  <a16:creationId xmlns:a16="http://schemas.microsoft.com/office/drawing/2014/main" id="{A3A2C91F-D655-4B38-8DEE-F161DDD64D67}"/>
                </a:ext>
              </a:extLst>
            </p:cNvPr>
            <p:cNvSpPr>
              <a:spLocks noChangeShapeType="1"/>
            </p:cNvSpPr>
            <p:nvPr/>
          </p:nvSpPr>
          <p:spPr bwMode="auto">
            <a:xfrm flipH="1" flipV="1">
              <a:off x="1872" y="2448"/>
              <a:ext cx="110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3">
              <a:extLst>
                <a:ext uri="{FF2B5EF4-FFF2-40B4-BE49-F238E27FC236}">
                  <a16:creationId xmlns:a16="http://schemas.microsoft.com/office/drawing/2014/main" id="{72C97F7D-197D-4EF1-B852-2FF99F8D2C75}"/>
                </a:ext>
              </a:extLst>
            </p:cNvPr>
            <p:cNvSpPr>
              <a:spLocks noChangeShapeType="1"/>
            </p:cNvSpPr>
            <p:nvPr/>
          </p:nvSpPr>
          <p:spPr bwMode="auto">
            <a:xfrm flipH="1">
              <a:off x="1296" y="3072"/>
              <a:ext cx="172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4">
              <a:extLst>
                <a:ext uri="{FF2B5EF4-FFF2-40B4-BE49-F238E27FC236}">
                  <a16:creationId xmlns:a16="http://schemas.microsoft.com/office/drawing/2014/main" id="{A469C3CE-4E5E-42DD-92EC-9B309192BC39}"/>
                </a:ext>
              </a:extLst>
            </p:cNvPr>
            <p:cNvSpPr>
              <a:spLocks noChangeShapeType="1"/>
            </p:cNvSpPr>
            <p:nvPr/>
          </p:nvSpPr>
          <p:spPr bwMode="auto">
            <a:xfrm flipH="1">
              <a:off x="2016" y="3360"/>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矩形 2"/>
          <p:cNvSpPr/>
          <p:nvPr/>
        </p:nvSpPr>
        <p:spPr>
          <a:xfrm>
            <a:off x="107504" y="5517232"/>
            <a:ext cx="9108504" cy="1015663"/>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注意：求解目标规划问题时，把绝对约束作为最高优先级考虑。在本例中，能依先后次序都满足</a:t>
            </a:r>
            <a:r>
              <a:rPr lang="en-US" altLang="zh-CN" sz="2000" i="1" dirty="0">
                <a:latin typeface="Times New Roman" panose="02020603050405020304" pitchFamily="18" charset="0"/>
                <a:cs typeface="Times New Roman" panose="02020603050405020304" pitchFamily="18" charset="0"/>
              </a:rPr>
              <a:t>d</a:t>
            </a:r>
            <a:r>
              <a:rPr lang="en-US" altLang="zh-CN" sz="2000" baseline="-30000" dirty="0">
                <a:latin typeface="Times New Roman" panose="02020603050405020304" pitchFamily="18" charset="0"/>
                <a:cs typeface="Times New Roman" panose="02020603050405020304" pitchFamily="18" charset="0"/>
              </a:rPr>
              <a:t>1</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en-US" altLang="zh-CN" sz="2000" baseline="-30000" dirty="0">
                <a:latin typeface="Times New Roman" panose="02020603050405020304" pitchFamily="18" charset="0"/>
                <a:cs typeface="Times New Roman" panose="02020603050405020304" pitchFamily="18" charset="0"/>
              </a:rPr>
              <a:t>2</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en-US" altLang="zh-CN" sz="2000" baseline="-30000" dirty="0">
                <a:latin typeface="Times New Roman" panose="02020603050405020304" pitchFamily="18" charset="0"/>
                <a:cs typeface="Times New Roman" panose="02020603050405020304" pitchFamily="18" charset="0"/>
              </a:rPr>
              <a:t>2</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en-US" altLang="zh-CN" sz="2000" baseline="-25000" dirty="0">
                <a:latin typeface="Times New Roman" panose="02020603050405020304" pitchFamily="18" charset="0"/>
                <a:cs typeface="Times New Roman" panose="02020603050405020304" pitchFamily="18" charset="0"/>
              </a:rPr>
              <a:t>3</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，因而</a:t>
            </a:r>
            <a:r>
              <a:rPr lang="en-US" altLang="zh-CN" sz="2000" i="1" dirty="0">
                <a:latin typeface="Times New Roman" panose="02020603050405020304" pitchFamily="18" charset="0"/>
                <a:cs typeface="Times New Roman" panose="02020603050405020304" pitchFamily="18" charset="0"/>
              </a:rPr>
              <a:t>z</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。但在大多数问题中并非如此，会出现某些约束得不到满足，故将</a:t>
            </a:r>
            <a:r>
              <a:rPr lang="zh-CN" altLang="en-US" sz="2000" dirty="0">
                <a:solidFill>
                  <a:srgbClr val="FF0000"/>
                </a:solidFill>
                <a:latin typeface="Times New Roman" panose="02020603050405020304" pitchFamily="18" charset="0"/>
                <a:cs typeface="Times New Roman" panose="02020603050405020304" pitchFamily="18" charset="0"/>
              </a:rPr>
              <a:t>目标规划问题的最优解称为满意解</a:t>
            </a:r>
            <a:r>
              <a:rPr lang="zh-CN" altLang="en-US" sz="2000" dirty="0">
                <a:latin typeface="Times New Roman" panose="02020603050405020304" pitchFamily="18" charset="0"/>
                <a:cs typeface="Times New Roman" panose="02020603050405020304" pitchFamily="18" charset="0"/>
              </a:rPr>
              <a:t>。 </a:t>
            </a:r>
          </a:p>
        </p:txBody>
      </p:sp>
      <p:sp>
        <p:nvSpPr>
          <p:cNvPr id="4" name="文本框 3"/>
          <p:cNvSpPr txBox="1"/>
          <p:nvPr/>
        </p:nvSpPr>
        <p:spPr>
          <a:xfrm>
            <a:off x="7740352" y="2852936"/>
            <a:ext cx="630301" cy="461665"/>
          </a:xfrm>
          <a:prstGeom prst="rect">
            <a:avLst/>
          </a:prstGeom>
          <a:noFill/>
        </p:spPr>
        <p:txBody>
          <a:bodyPr wrap="none" rtlCol="0">
            <a:spAutoFit/>
          </a:bodyPr>
          <a:lstStyle/>
          <a:p>
            <a:r>
              <a:rPr lang="en-US" altLang="zh-CN" dirty="0" smtClean="0"/>
              <a:t>s</a:t>
            </a:r>
            <a:endParaRPr lang="zh-CN" altLang="en-US" dirty="0"/>
          </a:p>
        </p:txBody>
      </p:sp>
      <p:sp>
        <p:nvSpPr>
          <p:cNvPr id="5" name="等腰三角形 4"/>
          <p:cNvSpPr/>
          <p:nvPr/>
        </p:nvSpPr>
        <p:spPr bwMode="auto">
          <a:xfrm>
            <a:off x="748885" y="2132856"/>
            <a:ext cx="1008113" cy="1944216"/>
          </a:xfrm>
          <a:prstGeom prst="triangle">
            <a:avLst>
              <a:gd name="adj" fmla="val 0"/>
            </a:avLst>
          </a:prstGeom>
          <a:solidFill>
            <a:srgbClr val="AE9FFB">
              <a:alpha val="41176"/>
            </a:srgbClr>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6" name="等腰三角形 15"/>
          <p:cNvSpPr/>
          <p:nvPr/>
        </p:nvSpPr>
        <p:spPr bwMode="auto">
          <a:xfrm flipH="1" flipV="1">
            <a:off x="748882" y="4077071"/>
            <a:ext cx="1008113" cy="961457"/>
          </a:xfrm>
          <a:prstGeom prst="triangle">
            <a:avLst>
              <a:gd name="adj" fmla="val 99075"/>
            </a:avLst>
          </a:prstGeom>
          <a:solidFill>
            <a:srgbClr val="AE9FFB">
              <a:alpha val="41176"/>
            </a:srgbClr>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cxnSp>
        <p:nvCxnSpPr>
          <p:cNvPr id="7" name="直接连接符 6"/>
          <p:cNvCxnSpPr/>
          <p:nvPr/>
        </p:nvCxnSpPr>
        <p:spPr bwMode="auto">
          <a:xfrm>
            <a:off x="748879" y="3686276"/>
            <a:ext cx="905296" cy="486651"/>
          </a:xfrm>
          <a:prstGeom prst="line">
            <a:avLst/>
          </a:prstGeom>
          <a:solidFill>
            <a:srgbClr val="6CAAC0"/>
          </a:solidFill>
          <a:ln w="28575" cap="flat" cmpd="sng" algn="ctr">
            <a:solidFill>
              <a:srgbClr val="0064F6"/>
            </a:solidFill>
            <a:prstDash val="solid"/>
            <a:round/>
            <a:headEnd type="none" w="med" len="med"/>
            <a:tailEnd type="none" w="med" len="med"/>
          </a:ln>
        </p:spPr>
      </p:cxnSp>
      <p:cxnSp>
        <p:nvCxnSpPr>
          <p:cNvPr id="22" name="直接连接符 21"/>
          <p:cNvCxnSpPr/>
          <p:nvPr/>
        </p:nvCxnSpPr>
        <p:spPr bwMode="auto">
          <a:xfrm>
            <a:off x="1262269" y="3967205"/>
            <a:ext cx="385362" cy="192943"/>
          </a:xfrm>
          <a:prstGeom prst="line">
            <a:avLst/>
          </a:prstGeom>
          <a:solidFill>
            <a:srgbClr val="6CAAC0"/>
          </a:solidFill>
          <a:ln w="28575" cap="flat" cmpd="sng" algn="ctr">
            <a:solidFill>
              <a:srgbClr val="FF0000"/>
            </a:solidFill>
            <a:prstDash val="solid"/>
            <a:round/>
            <a:headEnd type="none" w="med" len="med"/>
            <a:tailEnd type="none" w="med" len="med"/>
          </a:ln>
        </p:spPr>
      </p:cxnSp>
    </p:spTree>
    <p:extLst>
      <p:ext uri="{BB962C8B-B14F-4D97-AF65-F5344CB8AC3E}">
        <p14:creationId xmlns:p14="http://schemas.microsoft.com/office/powerpoint/2010/main" val="359407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D20760C4-C4F3-479B-B507-1BF2E148368B}"/>
              </a:ext>
            </a:extLst>
          </p:cNvPr>
          <p:cNvSpPr>
            <a:spLocks noGrp="1" noChangeArrowheads="1"/>
          </p:cNvSpPr>
          <p:nvPr>
            <p:ph type="title"/>
          </p:nvPr>
        </p:nvSpPr>
        <p:spPr/>
        <p:txBody>
          <a:bodyPr/>
          <a:lstStyle/>
          <a:p>
            <a:r>
              <a:rPr lang="en-US" altLang="zh-CN" dirty="0"/>
              <a:t>5.2 </a:t>
            </a:r>
            <a:r>
              <a:rPr lang="zh-CN" altLang="en-US" dirty="0">
                <a:latin typeface="Arial" panose="020B0604020202020204" pitchFamily="34" charset="0"/>
              </a:rPr>
              <a:t>解目标规划的图解法</a:t>
            </a:r>
            <a:endParaRPr lang="zh-CN" altLang="en-US" dirty="0"/>
          </a:p>
        </p:txBody>
      </p:sp>
      <p:sp>
        <p:nvSpPr>
          <p:cNvPr id="8" name="灯片编号占位符 5">
            <a:extLst>
              <a:ext uri="{FF2B5EF4-FFF2-40B4-BE49-F238E27FC236}">
                <a16:creationId xmlns:a16="http://schemas.microsoft.com/office/drawing/2014/main" id="{E180265C-7596-4FF8-9446-1D9E85D7A984}"/>
              </a:ext>
            </a:extLst>
          </p:cNvPr>
          <p:cNvSpPr>
            <a:spLocks noGrp="1"/>
          </p:cNvSpPr>
          <p:nvPr>
            <p:ph type="sldNum" sz="quarter" idx="10"/>
          </p:nvPr>
        </p:nvSpPr>
        <p:spPr/>
        <p:txBody>
          <a:bodyPr/>
          <a:lstStyle/>
          <a:p>
            <a:fld id="{2004C361-7C0B-4583-83D6-154C5F3AABE6}" type="slidenum">
              <a:rPr lang="en-US" altLang="zh-CN"/>
              <a:pPr/>
              <a:t>10</a:t>
            </a:fld>
            <a:endParaRPr lang="en-US" altLang="zh-CN" dirty="0"/>
          </a:p>
        </p:txBody>
      </p:sp>
      <p:sp>
        <p:nvSpPr>
          <p:cNvPr id="2" name="内容占位符 1"/>
          <p:cNvSpPr>
            <a:spLocks noGrp="1"/>
          </p:cNvSpPr>
          <p:nvPr>
            <p:ph idx="1"/>
          </p:nvPr>
        </p:nvSpPr>
        <p:spPr>
          <a:xfrm>
            <a:off x="650355" y="1286272"/>
            <a:ext cx="7772400" cy="4114800"/>
          </a:xfrm>
        </p:spPr>
        <p:txBody>
          <a:bodyPr/>
          <a:lstStyle/>
          <a:p>
            <a:r>
              <a:rPr lang="zh-CN" altLang="en-US" dirty="0" smtClean="0"/>
              <a:t>以</a:t>
            </a:r>
            <a:r>
              <a:rPr lang="zh-CN" altLang="en-US" dirty="0"/>
              <a:t>例</a:t>
            </a:r>
            <a:r>
              <a:rPr lang="en-US" altLang="zh-CN" dirty="0"/>
              <a:t>5-2</a:t>
            </a:r>
            <a:r>
              <a:rPr lang="zh-CN" altLang="en-US" dirty="0" smtClean="0"/>
              <a:t>说明。</a:t>
            </a:r>
            <a:endParaRPr lang="zh-CN" altLang="en-US" dirty="0"/>
          </a:p>
          <a:p>
            <a:endParaRPr lang="zh-CN" altLang="en-US" dirty="0"/>
          </a:p>
        </p:txBody>
      </p:sp>
      <p:grpSp>
        <p:nvGrpSpPr>
          <p:cNvPr id="9" name="Group 8">
            <a:extLst>
              <a:ext uri="{FF2B5EF4-FFF2-40B4-BE49-F238E27FC236}">
                <a16:creationId xmlns:a16="http://schemas.microsoft.com/office/drawing/2014/main" id="{737ACEB9-1C43-4FCF-873C-25CBCA786008}"/>
              </a:ext>
            </a:extLst>
          </p:cNvPr>
          <p:cNvGrpSpPr>
            <a:grpSpLocks/>
          </p:cNvGrpSpPr>
          <p:nvPr/>
        </p:nvGrpSpPr>
        <p:grpSpPr bwMode="auto">
          <a:xfrm>
            <a:off x="358775" y="1789177"/>
            <a:ext cx="8362950" cy="3632200"/>
            <a:chOff x="192" y="1824"/>
            <a:chExt cx="5268" cy="2288"/>
          </a:xfrm>
        </p:grpSpPr>
        <p:pic>
          <p:nvPicPr>
            <p:cNvPr id="10" name="Picture 9" descr="4g1">
              <a:extLst>
                <a:ext uri="{FF2B5EF4-FFF2-40B4-BE49-F238E27FC236}">
                  <a16:creationId xmlns:a16="http://schemas.microsoft.com/office/drawing/2014/main" id="{CBF00D45-7958-4EC9-AD40-50568265B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1824"/>
              <a:ext cx="2496" cy="22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Object 10">
              <a:extLst>
                <a:ext uri="{FF2B5EF4-FFF2-40B4-BE49-F238E27FC236}">
                  <a16:creationId xmlns:a16="http://schemas.microsoft.com/office/drawing/2014/main" id="{853D68E3-53A1-4CD0-B61A-4AFF66397B0F}"/>
                </a:ext>
              </a:extLst>
            </p:cNvPr>
            <p:cNvGraphicFramePr>
              <a:graphicFrameLocks noChangeAspect="1"/>
            </p:cNvGraphicFramePr>
            <p:nvPr>
              <p:extLst>
                <p:ext uri="{D42A27DB-BD31-4B8C-83A1-F6EECF244321}">
                  <p14:modId xmlns:p14="http://schemas.microsoft.com/office/powerpoint/2010/main" val="1459969976"/>
                </p:ext>
              </p:extLst>
            </p:nvPr>
          </p:nvGraphicFramePr>
          <p:xfrm>
            <a:off x="3203" y="2170"/>
            <a:ext cx="2257" cy="1604"/>
          </p:xfrm>
          <a:graphic>
            <a:graphicData uri="http://schemas.openxmlformats.org/presentationml/2006/ole">
              <mc:AlternateContent xmlns:mc="http://schemas.openxmlformats.org/markup-compatibility/2006">
                <mc:Choice xmlns:v="urn:schemas-microsoft-com:vml" Requires="v">
                  <p:oleObj spid="_x0000_s762899" name="Equation" r:id="rId4" imgW="2108160" imgH="1498320" progId="Equation.DSMT4">
                    <p:embed/>
                  </p:oleObj>
                </mc:Choice>
                <mc:Fallback>
                  <p:oleObj name="Equation" r:id="rId4" imgW="2108160" imgH="1498320" progId="Equation.DSMT4">
                    <p:embed/>
                    <p:pic>
                      <p:nvPicPr>
                        <p:cNvPr id="11" name="Object 10">
                          <a:extLst>
                            <a:ext uri="{FF2B5EF4-FFF2-40B4-BE49-F238E27FC236}">
                              <a16:creationId xmlns:a16="http://schemas.microsoft.com/office/drawing/2014/main" id="{853D68E3-53A1-4CD0-B61A-4AFF66397B0F}"/>
                            </a:ext>
                          </a:extLst>
                        </p:cNvPr>
                        <p:cNvPicPr>
                          <a:picLocks noChangeAspect="1" noChangeArrowheads="1"/>
                        </p:cNvPicPr>
                        <p:nvPr/>
                      </p:nvPicPr>
                      <p:blipFill>
                        <a:blip r:embed="rId5"/>
                        <a:srcRect/>
                        <a:stretch>
                          <a:fillRect/>
                        </a:stretch>
                      </p:blipFill>
                      <p:spPr bwMode="auto">
                        <a:xfrm>
                          <a:off x="3203" y="2170"/>
                          <a:ext cx="2257" cy="1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Line 12">
              <a:extLst>
                <a:ext uri="{FF2B5EF4-FFF2-40B4-BE49-F238E27FC236}">
                  <a16:creationId xmlns:a16="http://schemas.microsoft.com/office/drawing/2014/main" id="{A3A2C91F-D655-4B38-8DEE-F161DDD64D67}"/>
                </a:ext>
              </a:extLst>
            </p:cNvPr>
            <p:cNvSpPr>
              <a:spLocks noChangeShapeType="1"/>
            </p:cNvSpPr>
            <p:nvPr/>
          </p:nvSpPr>
          <p:spPr bwMode="auto">
            <a:xfrm flipH="1" flipV="1">
              <a:off x="1872" y="2448"/>
              <a:ext cx="110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3">
              <a:extLst>
                <a:ext uri="{FF2B5EF4-FFF2-40B4-BE49-F238E27FC236}">
                  <a16:creationId xmlns:a16="http://schemas.microsoft.com/office/drawing/2014/main" id="{72C97F7D-197D-4EF1-B852-2FF99F8D2C75}"/>
                </a:ext>
              </a:extLst>
            </p:cNvPr>
            <p:cNvSpPr>
              <a:spLocks noChangeShapeType="1"/>
            </p:cNvSpPr>
            <p:nvPr/>
          </p:nvSpPr>
          <p:spPr bwMode="auto">
            <a:xfrm flipH="1">
              <a:off x="1296" y="3072"/>
              <a:ext cx="1728"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4">
              <a:extLst>
                <a:ext uri="{FF2B5EF4-FFF2-40B4-BE49-F238E27FC236}">
                  <a16:creationId xmlns:a16="http://schemas.microsoft.com/office/drawing/2014/main" id="{A469C3CE-4E5E-42DD-92EC-9B309192BC39}"/>
                </a:ext>
              </a:extLst>
            </p:cNvPr>
            <p:cNvSpPr>
              <a:spLocks noChangeShapeType="1"/>
            </p:cNvSpPr>
            <p:nvPr/>
          </p:nvSpPr>
          <p:spPr bwMode="auto">
            <a:xfrm flipH="1">
              <a:off x="2016" y="3360"/>
              <a:ext cx="1008"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 name="矩形 2"/>
          <p:cNvSpPr/>
          <p:nvPr/>
        </p:nvSpPr>
        <p:spPr>
          <a:xfrm>
            <a:off x="107504" y="5517232"/>
            <a:ext cx="9108504" cy="1015663"/>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注意：求解目标规划问题时，把绝对约束作为最高优先级考虑。在本例中，能依先后次序都满足</a:t>
            </a:r>
            <a:r>
              <a:rPr lang="en-US" altLang="zh-CN" sz="2000" i="1" dirty="0">
                <a:latin typeface="Times New Roman" panose="02020603050405020304" pitchFamily="18" charset="0"/>
                <a:cs typeface="Times New Roman" panose="02020603050405020304" pitchFamily="18" charset="0"/>
              </a:rPr>
              <a:t>d</a:t>
            </a:r>
            <a:r>
              <a:rPr lang="en-US" altLang="zh-CN" sz="2000" baseline="-30000" dirty="0">
                <a:latin typeface="Times New Roman" panose="02020603050405020304" pitchFamily="18" charset="0"/>
                <a:cs typeface="Times New Roman" panose="02020603050405020304" pitchFamily="18" charset="0"/>
              </a:rPr>
              <a:t>1</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en-US" altLang="zh-CN" sz="2000" baseline="-30000" dirty="0">
                <a:latin typeface="Times New Roman" panose="02020603050405020304" pitchFamily="18" charset="0"/>
                <a:cs typeface="Times New Roman" panose="02020603050405020304" pitchFamily="18" charset="0"/>
              </a:rPr>
              <a:t>2</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en-US" altLang="zh-CN" sz="2000" baseline="-30000" dirty="0">
                <a:latin typeface="Times New Roman" panose="02020603050405020304" pitchFamily="18" charset="0"/>
                <a:cs typeface="Times New Roman" panose="02020603050405020304" pitchFamily="18" charset="0"/>
              </a:rPr>
              <a:t>2</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en-US" altLang="zh-CN" sz="2000" baseline="-25000" dirty="0">
                <a:latin typeface="Times New Roman" panose="02020603050405020304" pitchFamily="18" charset="0"/>
                <a:cs typeface="Times New Roman" panose="02020603050405020304" pitchFamily="18" charset="0"/>
              </a:rPr>
              <a:t>3</a:t>
            </a:r>
            <a:r>
              <a:rPr lang="en-US" altLang="zh-CN" sz="2000" baseline="30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，因而</a:t>
            </a:r>
            <a:r>
              <a:rPr lang="en-US" altLang="zh-CN" sz="2000" i="1" dirty="0">
                <a:latin typeface="Times New Roman" panose="02020603050405020304" pitchFamily="18" charset="0"/>
                <a:cs typeface="Times New Roman" panose="02020603050405020304" pitchFamily="18" charset="0"/>
              </a:rPr>
              <a:t>z</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。但在大多数问题中并非如此，会出现某些约束得不到满足，故将</a:t>
            </a:r>
            <a:r>
              <a:rPr lang="zh-CN" altLang="en-US" sz="2000" dirty="0">
                <a:solidFill>
                  <a:srgbClr val="FF0000"/>
                </a:solidFill>
                <a:latin typeface="Times New Roman" panose="02020603050405020304" pitchFamily="18" charset="0"/>
                <a:cs typeface="Times New Roman" panose="02020603050405020304" pitchFamily="18" charset="0"/>
              </a:rPr>
              <a:t>目标规划问题的最优解称为满意解</a:t>
            </a:r>
            <a:r>
              <a:rPr lang="zh-CN" altLang="en-US" sz="2000" dirty="0">
                <a:latin typeface="Times New Roman" panose="02020603050405020304" pitchFamily="18" charset="0"/>
                <a:cs typeface="Times New Roman" panose="02020603050405020304" pitchFamily="18" charset="0"/>
              </a:rPr>
              <a:t>。 </a:t>
            </a:r>
          </a:p>
        </p:txBody>
      </p:sp>
      <p:cxnSp>
        <p:nvCxnSpPr>
          <p:cNvPr id="7" name="直接连接符 6"/>
          <p:cNvCxnSpPr/>
          <p:nvPr/>
        </p:nvCxnSpPr>
        <p:spPr bwMode="auto">
          <a:xfrm flipV="1">
            <a:off x="683568" y="4077072"/>
            <a:ext cx="1008112" cy="1008113"/>
          </a:xfrm>
          <a:prstGeom prst="line">
            <a:avLst/>
          </a:prstGeom>
          <a:solidFill>
            <a:srgbClr val="6CAAC0"/>
          </a:solidFill>
          <a:ln w="28575" cap="flat" cmpd="sng" algn="ctr">
            <a:solidFill>
              <a:srgbClr val="AE9FFB"/>
            </a:solidFill>
            <a:prstDash val="solid"/>
            <a:round/>
            <a:headEnd type="none" w="med" len="med"/>
            <a:tailEnd type="none" w="med" len="med"/>
          </a:ln>
        </p:spPr>
      </p:cxnSp>
      <p:cxnSp>
        <p:nvCxnSpPr>
          <p:cNvPr id="20" name="直接连接符 19"/>
          <p:cNvCxnSpPr/>
          <p:nvPr/>
        </p:nvCxnSpPr>
        <p:spPr bwMode="auto">
          <a:xfrm flipV="1">
            <a:off x="1619672" y="4077072"/>
            <a:ext cx="81029" cy="83077"/>
          </a:xfrm>
          <a:prstGeom prst="line">
            <a:avLst/>
          </a:prstGeom>
          <a:solidFill>
            <a:srgbClr val="6CAAC0"/>
          </a:solidFill>
          <a:ln w="28575" cap="flat" cmpd="sng" algn="ctr">
            <a:solidFill>
              <a:srgbClr val="0064F6"/>
            </a:solidFill>
            <a:prstDash val="solid"/>
            <a:round/>
            <a:headEnd type="none" w="med" len="med"/>
            <a:tailEnd type="none" w="med" len="med"/>
          </a:ln>
        </p:spPr>
      </p:cxnSp>
      <p:sp>
        <p:nvSpPr>
          <p:cNvPr id="25" name="椭圆 24"/>
          <p:cNvSpPr/>
          <p:nvPr/>
        </p:nvSpPr>
        <p:spPr bwMode="auto">
          <a:xfrm>
            <a:off x="1619672" y="4118610"/>
            <a:ext cx="45719" cy="45719"/>
          </a:xfrm>
          <a:prstGeom prst="ellipse">
            <a:avLst/>
          </a:prstGeom>
          <a:solidFill>
            <a:srgbClr val="FF0000"/>
          </a:solid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aphicFrame>
        <p:nvGraphicFramePr>
          <p:cNvPr id="28" name="Object 10">
            <a:extLst>
              <a:ext uri="{FF2B5EF4-FFF2-40B4-BE49-F238E27FC236}">
                <a16:creationId xmlns:a16="http://schemas.microsoft.com/office/drawing/2014/main" id="{853D68E3-53A1-4CD0-B61A-4AFF66397B0F}"/>
              </a:ext>
            </a:extLst>
          </p:cNvPr>
          <p:cNvGraphicFramePr>
            <a:graphicFrameLocks noChangeAspect="1"/>
          </p:cNvGraphicFramePr>
          <p:nvPr>
            <p:extLst>
              <p:ext uri="{D42A27DB-BD31-4B8C-83A1-F6EECF244321}">
                <p14:modId xmlns:p14="http://schemas.microsoft.com/office/powerpoint/2010/main" val="291911672"/>
              </p:ext>
            </p:extLst>
          </p:nvPr>
        </p:nvGraphicFramePr>
        <p:xfrm>
          <a:off x="3707904" y="1344716"/>
          <a:ext cx="5178425" cy="411163"/>
        </p:xfrm>
        <a:graphic>
          <a:graphicData uri="http://schemas.openxmlformats.org/presentationml/2006/ole">
            <mc:AlternateContent xmlns:mc="http://schemas.openxmlformats.org/markup-compatibility/2006">
              <mc:Choice xmlns:v="urn:schemas-microsoft-com:vml" Requires="v">
                <p:oleObj spid="_x0000_s762900" name="Equation" r:id="rId6" imgW="3047760" imgH="241200" progId="Equation.DSMT4">
                  <p:embed/>
                </p:oleObj>
              </mc:Choice>
              <mc:Fallback>
                <p:oleObj name="Equation" r:id="rId6" imgW="3047760" imgH="241200" progId="Equation.DSMT4">
                  <p:embed/>
                  <p:pic>
                    <p:nvPicPr>
                      <p:cNvPr id="11" name="Object 10">
                        <a:extLst>
                          <a:ext uri="{FF2B5EF4-FFF2-40B4-BE49-F238E27FC236}">
                            <a16:creationId xmlns:a16="http://schemas.microsoft.com/office/drawing/2014/main" id="{853D68E3-53A1-4CD0-B61A-4AFF66397B0F}"/>
                          </a:ext>
                        </a:extLst>
                      </p:cNvPr>
                      <p:cNvPicPr>
                        <a:picLocks noChangeAspect="1" noChangeArrowheads="1"/>
                      </p:cNvPicPr>
                      <p:nvPr/>
                    </p:nvPicPr>
                    <p:blipFill>
                      <a:blip r:embed="rId7"/>
                      <a:srcRect/>
                      <a:stretch>
                        <a:fillRect/>
                      </a:stretch>
                    </p:blipFill>
                    <p:spPr bwMode="auto">
                      <a:xfrm>
                        <a:off x="3707904" y="1344716"/>
                        <a:ext cx="517842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0607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DF232E68-593E-4D7E-89EB-99531638FE79}"/>
              </a:ext>
            </a:extLst>
          </p:cNvPr>
          <p:cNvSpPr>
            <a:spLocks noGrp="1" noChangeArrowheads="1"/>
          </p:cNvSpPr>
          <p:nvPr>
            <p:ph type="title"/>
          </p:nvPr>
        </p:nvSpPr>
        <p:spPr/>
        <p:txBody>
          <a:bodyPr/>
          <a:lstStyle/>
          <a:p>
            <a:r>
              <a:rPr lang="en-US" altLang="zh-CN" dirty="0"/>
              <a:t>5.3 </a:t>
            </a:r>
            <a:r>
              <a:rPr lang="zh-CN" altLang="en-US" dirty="0">
                <a:latin typeface="Arial" panose="020B0604020202020204" pitchFamily="34" charset="0"/>
              </a:rPr>
              <a:t>解目标规划的单纯形法</a:t>
            </a:r>
          </a:p>
        </p:txBody>
      </p:sp>
      <p:sp>
        <p:nvSpPr>
          <p:cNvPr id="3" name="内容占位符 2"/>
          <p:cNvSpPr>
            <a:spLocks noGrp="1"/>
          </p:cNvSpPr>
          <p:nvPr>
            <p:ph idx="1"/>
          </p:nvPr>
        </p:nvSpPr>
        <p:spPr>
          <a:xfrm>
            <a:off x="658163" y="1340768"/>
            <a:ext cx="7772400" cy="4114800"/>
          </a:xfrm>
        </p:spPr>
        <p:txBody>
          <a:bodyPr/>
          <a:lstStyle/>
          <a:p>
            <a:r>
              <a:rPr lang="zh-CN" altLang="en-US" dirty="0">
                <a:latin typeface="Times New Roman" panose="02020603050405020304" pitchFamily="18" charset="0"/>
                <a:cs typeface="Times New Roman" panose="02020603050405020304" pitchFamily="18" charset="0"/>
              </a:rPr>
              <a:t>目标规划的数学模型结构与线性规划的数学模型结构形式上没有本质的区别，所以可用单纯形法求解。但要根据目标规划的特点，作以下规定：</a:t>
            </a:r>
          </a:p>
          <a:p>
            <a:pPr lvl="1" algn="just"/>
            <a:r>
              <a:rPr lang="en-US" altLang="zh-CN" sz="2000" dirty="0">
                <a:latin typeface="Times New Roman" panose="02020603050405020304" pitchFamily="18" charset="0"/>
                <a:cs typeface="Times New Roman" panose="02020603050405020304" pitchFamily="18" charset="0"/>
              </a:rPr>
              <a:t>(1) </a:t>
            </a:r>
            <a:r>
              <a:rPr lang="zh-CN" altLang="en-US" sz="2000" dirty="0">
                <a:latin typeface="Times New Roman" panose="02020603050405020304" pitchFamily="18" charset="0"/>
                <a:cs typeface="Times New Roman" panose="02020603050405020304" pitchFamily="18" charset="0"/>
              </a:rPr>
              <a:t>因目标规划问题的目标函数</a:t>
            </a:r>
            <a:r>
              <a:rPr lang="zh-CN" altLang="en-US" sz="2000" dirty="0">
                <a:solidFill>
                  <a:srgbClr val="FF0000"/>
                </a:solidFill>
                <a:latin typeface="Times New Roman" panose="02020603050405020304" pitchFamily="18" charset="0"/>
                <a:cs typeface="Times New Roman" panose="02020603050405020304" pitchFamily="18" charset="0"/>
              </a:rPr>
              <a:t>都是求最小化，所以</a:t>
            </a:r>
            <a:r>
              <a:rPr lang="zh-CN" altLang="en-US" sz="2000" dirty="0" smtClean="0">
                <a:solidFill>
                  <a:srgbClr val="FF0000"/>
                </a:solidFill>
                <a:latin typeface="Times New Roman" panose="02020603050405020304" pitchFamily="18" charset="0"/>
                <a:cs typeface="Times New Roman" panose="02020603050405020304" pitchFamily="18" charset="0"/>
              </a:rPr>
              <a:t>以</a:t>
            </a:r>
            <a:r>
              <a:rPr lang="el-GR" altLang="zh-CN" sz="2000" i="1" dirty="0" smtClean="0">
                <a:solidFill>
                  <a:srgbClr val="FF0000"/>
                </a:solidFill>
                <a:latin typeface="Times New Roman" panose="02020603050405020304" pitchFamily="18" charset="0"/>
                <a:cs typeface="Times New Roman" panose="02020603050405020304" pitchFamily="18" charset="0"/>
              </a:rPr>
              <a:t>λ</a:t>
            </a:r>
            <a:r>
              <a:rPr lang="en-US" altLang="zh-CN" sz="2000" i="1" baseline="-30000" dirty="0" smtClean="0">
                <a:solidFill>
                  <a:srgbClr val="FF0000"/>
                </a:solidFill>
                <a:latin typeface="Times New Roman" panose="02020603050405020304" pitchFamily="18" charset="0"/>
                <a:cs typeface="Times New Roman" panose="02020603050405020304" pitchFamily="18" charset="0"/>
              </a:rPr>
              <a:t>j</a:t>
            </a:r>
            <a:r>
              <a:rPr lang="en-US" altLang="zh-CN" sz="2000" dirty="0" smtClean="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j</a:t>
            </a:r>
            <a:r>
              <a:rPr lang="en-US" altLang="zh-CN" sz="2000" dirty="0">
                <a:latin typeface="Times New Roman" panose="02020603050405020304" pitchFamily="18" charset="0"/>
                <a:cs typeface="Times New Roman" panose="02020603050405020304" pitchFamily="18" charset="0"/>
              </a:rPr>
              <a:t>=1,2,…</a:t>
            </a:r>
            <a:r>
              <a:rPr lang="zh-CN" altLang="en-US"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n</a:t>
            </a:r>
            <a:r>
              <a:rPr lang="zh-CN" altLang="en-US" sz="2000" dirty="0">
                <a:latin typeface="Times New Roman" panose="02020603050405020304" pitchFamily="18" charset="0"/>
                <a:cs typeface="Times New Roman" panose="02020603050405020304" pitchFamily="18" charset="0"/>
              </a:rPr>
              <a:t>作为最优性判别准则。</a:t>
            </a:r>
          </a:p>
          <a:p>
            <a:pPr lvl="1" algn="just"/>
            <a:r>
              <a:rPr lang="en-US" altLang="zh-CN" sz="2000" dirty="0">
                <a:latin typeface="Times New Roman" panose="02020603050405020304" pitchFamily="18" charset="0"/>
                <a:cs typeface="Times New Roman" panose="02020603050405020304" pitchFamily="18" charset="0"/>
              </a:rPr>
              <a:t>(2) </a:t>
            </a:r>
            <a:r>
              <a:rPr lang="zh-CN" altLang="en-US" sz="2000" dirty="0">
                <a:latin typeface="Times New Roman" panose="02020603050405020304" pitchFamily="18" charset="0"/>
                <a:cs typeface="Times New Roman" panose="02020603050405020304" pitchFamily="18" charset="0"/>
              </a:rPr>
              <a:t>因非基变量的检验数中含有不同等级的优先因子，即</a:t>
            </a:r>
          </a:p>
          <a:p>
            <a:pPr lvl="1" algn="just">
              <a:buFont typeface="Wingdings" panose="05000000000000000000" pitchFamily="2" charset="2"/>
              <a:buNone/>
            </a:pPr>
            <a:endParaRPr lang="zh-CN" alt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          </a:t>
            </a:r>
            <a:endParaRPr lang="en-US" altLang="zh-CN" sz="2000" dirty="0" smtClean="0">
              <a:latin typeface="Times New Roman" panose="02020603050405020304" pitchFamily="18" charset="0"/>
              <a:cs typeface="Times New Roman" panose="02020603050405020304" pitchFamily="18" charset="0"/>
            </a:endParaRPr>
          </a:p>
          <a:p>
            <a:pPr lvl="1" algn="just">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 </a:t>
            </a:r>
            <a:r>
              <a:rPr lang="en-US" altLang="zh-CN" sz="2000" dirty="0" smtClean="0">
                <a:latin typeface="Times New Roman" panose="02020603050405020304" pitchFamily="18" charset="0"/>
                <a:cs typeface="Times New Roman" panose="02020603050405020304" pitchFamily="18" charset="0"/>
              </a:rPr>
              <a:t>          </a:t>
            </a:r>
            <a:r>
              <a:rPr lang="zh-CN" altLang="en-US" sz="2000" dirty="0" smtClean="0">
                <a:latin typeface="Times New Roman" panose="02020603050405020304" pitchFamily="18" charset="0"/>
                <a:cs typeface="Times New Roman" panose="02020603050405020304" pitchFamily="18" charset="0"/>
              </a:rPr>
              <a:t>因为   </a:t>
            </a:r>
            <a:r>
              <a:rPr lang="en-US" altLang="zh-CN" sz="2000" i="1" dirty="0" smtClean="0">
                <a:latin typeface="Times New Roman" panose="02020603050405020304" pitchFamily="18" charset="0"/>
                <a:cs typeface="Times New Roman" panose="02020603050405020304" pitchFamily="18" charset="0"/>
              </a:rPr>
              <a:t>P</a:t>
            </a:r>
            <a:r>
              <a:rPr lang="en-US" altLang="zh-CN" sz="2000" baseline="-30000" dirty="0" smtClean="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cs typeface="Times New Roman" panose="02020603050405020304" pitchFamily="18" charset="0"/>
              </a:rPr>
              <a:t>&gt;&gt;P</a:t>
            </a:r>
            <a:r>
              <a:rPr lang="en-US" altLang="zh-CN" sz="2000" baseline="-30000" dirty="0">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&gt;&gt;…&gt;&gt;P</a:t>
            </a:r>
            <a:r>
              <a:rPr lang="en-US" altLang="zh-CN" sz="2000" baseline="-30000" dirty="0">
                <a:latin typeface="Times New Roman" panose="02020603050405020304" pitchFamily="18" charset="0"/>
                <a:cs typeface="Times New Roman" panose="02020603050405020304" pitchFamily="18" charset="0"/>
              </a:rPr>
              <a:t>K</a:t>
            </a:r>
          </a:p>
          <a:p>
            <a:pPr lvl="1" algn="just">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故从每个检验数的整体来看，检验数的正、负首先决定于</a:t>
            </a:r>
            <a:r>
              <a:rPr lang="en-US" altLang="zh-CN" sz="2000" i="1" dirty="0">
                <a:latin typeface="Times New Roman" panose="02020603050405020304" pitchFamily="18" charset="0"/>
                <a:cs typeface="Times New Roman" panose="02020603050405020304" pitchFamily="18" charset="0"/>
              </a:rPr>
              <a:t>P</a:t>
            </a:r>
            <a:r>
              <a:rPr lang="en-US" altLang="zh-CN" sz="2000" baseline="-30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的系数</a:t>
            </a:r>
            <a:r>
              <a:rPr lang="en-US" altLang="zh-CN" sz="2000" i="1" dirty="0">
                <a:latin typeface="Times New Roman" panose="02020603050405020304" pitchFamily="18" charset="0"/>
                <a:cs typeface="Times New Roman" panose="02020603050405020304" pitchFamily="18" charset="0"/>
              </a:rPr>
              <a:t>α</a:t>
            </a:r>
            <a:r>
              <a:rPr lang="en-US" altLang="zh-CN" sz="2000" baseline="-30000" dirty="0">
                <a:latin typeface="Times New Roman" panose="02020603050405020304" pitchFamily="18" charset="0"/>
                <a:cs typeface="Times New Roman" panose="02020603050405020304" pitchFamily="18" charset="0"/>
              </a:rPr>
              <a:t>1</a:t>
            </a:r>
            <a:r>
              <a:rPr lang="en-US" altLang="zh-CN" sz="2000" i="1" baseline="-30000" dirty="0">
                <a:latin typeface="Times New Roman" panose="02020603050405020304" pitchFamily="18" charset="0"/>
                <a:cs typeface="Times New Roman" panose="02020603050405020304" pitchFamily="18" charset="0"/>
              </a:rPr>
              <a:t>j</a:t>
            </a:r>
            <a:r>
              <a:rPr lang="zh-CN" altLang="en-US" sz="2000" dirty="0">
                <a:latin typeface="Times New Roman" panose="02020603050405020304" pitchFamily="18" charset="0"/>
                <a:cs typeface="Times New Roman" panose="02020603050405020304" pitchFamily="18" charset="0"/>
              </a:rPr>
              <a:t>的正、负；若</a:t>
            </a:r>
            <a:r>
              <a:rPr lang="en-US" altLang="zh-CN" sz="2000" i="1" dirty="0">
                <a:latin typeface="Times New Roman" panose="02020603050405020304" pitchFamily="18" charset="0"/>
                <a:cs typeface="Times New Roman" panose="02020603050405020304" pitchFamily="18" charset="0"/>
              </a:rPr>
              <a:t>α</a:t>
            </a:r>
            <a:r>
              <a:rPr lang="en-US" altLang="zh-CN" sz="2000" baseline="-30000" dirty="0">
                <a:latin typeface="Times New Roman" panose="02020603050405020304" pitchFamily="18" charset="0"/>
                <a:cs typeface="Times New Roman" panose="02020603050405020304" pitchFamily="18" charset="0"/>
              </a:rPr>
              <a:t>1</a:t>
            </a:r>
            <a:r>
              <a:rPr lang="en-US" altLang="zh-CN" sz="2000" i="1" baseline="-30000" dirty="0">
                <a:latin typeface="Times New Roman" panose="02020603050405020304" pitchFamily="18" charset="0"/>
                <a:cs typeface="Times New Roman" panose="02020603050405020304" pitchFamily="18" charset="0"/>
              </a:rPr>
              <a:t>j</a:t>
            </a:r>
            <a:r>
              <a:rPr lang="en-US" altLang="zh-CN" sz="2000" dirty="0">
                <a:latin typeface="Times New Roman" panose="02020603050405020304" pitchFamily="18" charset="0"/>
                <a:cs typeface="Times New Roman" panose="02020603050405020304" pitchFamily="18" charset="0"/>
              </a:rPr>
              <a:t>=0</a:t>
            </a:r>
            <a:r>
              <a:rPr lang="zh-CN" altLang="en-US" sz="2000" dirty="0">
                <a:latin typeface="Times New Roman" panose="02020603050405020304" pitchFamily="18" charset="0"/>
                <a:cs typeface="Times New Roman" panose="02020603050405020304" pitchFamily="18" charset="0"/>
              </a:rPr>
              <a:t>，则此检验数的正、负就决定于</a:t>
            </a:r>
            <a:r>
              <a:rPr lang="en-US" altLang="zh-CN" sz="2000" i="1" dirty="0">
                <a:latin typeface="Times New Roman" panose="02020603050405020304" pitchFamily="18" charset="0"/>
                <a:cs typeface="Times New Roman" panose="02020603050405020304" pitchFamily="18" charset="0"/>
              </a:rPr>
              <a:t>P</a:t>
            </a:r>
            <a:r>
              <a:rPr lang="en-US" altLang="zh-CN" sz="2000" baseline="-30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的系数</a:t>
            </a:r>
            <a:r>
              <a:rPr lang="en-US" altLang="zh-CN" sz="2000" i="1" dirty="0">
                <a:latin typeface="Times New Roman" panose="02020603050405020304" pitchFamily="18" charset="0"/>
                <a:cs typeface="Times New Roman" panose="02020603050405020304" pitchFamily="18" charset="0"/>
              </a:rPr>
              <a:t>α</a:t>
            </a:r>
            <a:r>
              <a:rPr lang="en-US" altLang="zh-CN" sz="2000" baseline="-30000" dirty="0">
                <a:latin typeface="Times New Roman" panose="02020603050405020304" pitchFamily="18" charset="0"/>
                <a:cs typeface="Times New Roman" panose="02020603050405020304" pitchFamily="18" charset="0"/>
              </a:rPr>
              <a:t>2</a:t>
            </a:r>
            <a:r>
              <a:rPr lang="en-US" altLang="zh-CN" sz="2000" i="1" baseline="-30000" dirty="0">
                <a:latin typeface="Times New Roman" panose="02020603050405020304" pitchFamily="18" charset="0"/>
                <a:cs typeface="Times New Roman" panose="02020603050405020304" pitchFamily="18" charset="0"/>
              </a:rPr>
              <a:t>j</a:t>
            </a:r>
            <a:r>
              <a:rPr lang="zh-CN" altLang="en-US" sz="2000" dirty="0">
                <a:latin typeface="Times New Roman" panose="02020603050405020304" pitchFamily="18" charset="0"/>
                <a:cs typeface="Times New Roman" panose="02020603050405020304" pitchFamily="18" charset="0"/>
              </a:rPr>
              <a:t>的正、负；下面依此类推</a:t>
            </a:r>
            <a:r>
              <a:rPr lang="zh-CN" altLang="en-US" sz="2000" dirty="0" smtClean="0">
                <a:latin typeface="Times New Roman" panose="02020603050405020304" pitchFamily="18" charset="0"/>
                <a:cs typeface="Times New Roman" panose="02020603050405020304" pitchFamily="18" charset="0"/>
              </a:rPr>
              <a:t>。</a:t>
            </a:r>
            <a:endParaRPr lang="zh-CN" altLang="en-US" dirty="0"/>
          </a:p>
        </p:txBody>
      </p:sp>
      <p:sp>
        <p:nvSpPr>
          <p:cNvPr id="6" name="灯片编号占位符 5">
            <a:extLst>
              <a:ext uri="{FF2B5EF4-FFF2-40B4-BE49-F238E27FC236}">
                <a16:creationId xmlns:a16="http://schemas.microsoft.com/office/drawing/2014/main" id="{9AC0C218-C750-42C2-B2FE-00474C3F624C}"/>
              </a:ext>
            </a:extLst>
          </p:cNvPr>
          <p:cNvSpPr>
            <a:spLocks noGrp="1"/>
          </p:cNvSpPr>
          <p:nvPr>
            <p:ph type="sldNum" sz="quarter" idx="10"/>
          </p:nvPr>
        </p:nvSpPr>
        <p:spPr/>
        <p:txBody>
          <a:bodyPr/>
          <a:lstStyle/>
          <a:p>
            <a:fld id="{E0C48D88-4DB5-4B8B-BFBF-287203995D87}" type="slidenum">
              <a:rPr lang="en-US" altLang="zh-CN"/>
              <a:pPr/>
              <a:t>11</a:t>
            </a:fld>
            <a:endParaRPr lang="en-US" altLang="zh-CN"/>
          </a:p>
        </p:txBody>
      </p:sp>
      <p:sp>
        <p:nvSpPr>
          <p:cNvPr id="714755" name="Rectangle 3">
            <a:extLst>
              <a:ext uri="{FF2B5EF4-FFF2-40B4-BE49-F238E27FC236}">
                <a16:creationId xmlns:a16="http://schemas.microsoft.com/office/drawing/2014/main" id="{ABB76448-D278-4987-8F64-980335F744D3}"/>
              </a:ext>
            </a:extLst>
          </p:cNvPr>
          <p:cNvSpPr>
            <a:spLocks noChangeArrowheads="1"/>
          </p:cNvSpPr>
          <p:nvPr/>
        </p:nvSpPr>
        <p:spPr bwMode="auto">
          <a:xfrm>
            <a:off x="250825" y="1557338"/>
            <a:ext cx="86423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endParaRPr lang="zh-CN" altLang="en-US" sz="2400" b="0" dirty="0">
              <a:latin typeface="宋体" panose="02010600030101010101" pitchFamily="2" charset="-122"/>
            </a:endParaRPr>
          </a:p>
        </p:txBody>
      </p:sp>
      <p:graphicFrame>
        <p:nvGraphicFramePr>
          <p:cNvPr id="7" name="Object 4">
            <a:extLst>
              <a:ext uri="{FF2B5EF4-FFF2-40B4-BE49-F238E27FC236}">
                <a16:creationId xmlns:a16="http://schemas.microsoft.com/office/drawing/2014/main" id="{BD7001DA-8842-4A93-8498-19DE87BB0EF2}"/>
              </a:ext>
            </a:extLst>
          </p:cNvPr>
          <p:cNvGraphicFramePr>
            <a:graphicFrameLocks noChangeAspect="1"/>
          </p:cNvGraphicFramePr>
          <p:nvPr>
            <p:extLst>
              <p:ext uri="{D42A27DB-BD31-4B8C-83A1-F6EECF244321}">
                <p14:modId xmlns:p14="http://schemas.microsoft.com/office/powerpoint/2010/main" val="2359730464"/>
              </p:ext>
            </p:extLst>
          </p:nvPr>
        </p:nvGraphicFramePr>
        <p:xfrm>
          <a:off x="3690938" y="3587750"/>
          <a:ext cx="2336800" cy="595313"/>
        </p:xfrm>
        <a:graphic>
          <a:graphicData uri="http://schemas.openxmlformats.org/presentationml/2006/ole">
            <mc:AlternateContent xmlns:mc="http://schemas.openxmlformats.org/markup-compatibility/2006">
              <mc:Choice xmlns:v="urn:schemas-microsoft-com:vml" Requires="v">
                <p:oleObj spid="_x0000_s747549" name="Equation" r:id="rId3" imgW="1701720" imgH="431640" progId="Equation.DSMT4">
                  <p:embed/>
                </p:oleObj>
              </mc:Choice>
              <mc:Fallback>
                <p:oleObj name="Equation" r:id="rId3" imgW="1701720" imgH="431640" progId="Equation.DSMT4">
                  <p:embed/>
                  <p:pic>
                    <p:nvPicPr>
                      <p:cNvPr id="716804" name="Object 4">
                        <a:extLst>
                          <a:ext uri="{FF2B5EF4-FFF2-40B4-BE49-F238E27FC236}">
                            <a16:creationId xmlns:a16="http://schemas.microsoft.com/office/drawing/2014/main" id="{BD7001DA-8842-4A93-8498-19DE87BB0EF2}"/>
                          </a:ext>
                        </a:extLst>
                      </p:cNvPr>
                      <p:cNvPicPr>
                        <a:picLocks noChangeAspect="1" noChangeArrowheads="1"/>
                      </p:cNvPicPr>
                      <p:nvPr/>
                    </p:nvPicPr>
                    <p:blipFill>
                      <a:blip r:embed="rId4"/>
                      <a:srcRect/>
                      <a:stretch>
                        <a:fillRect/>
                      </a:stretch>
                    </p:blipFill>
                    <p:spPr bwMode="auto">
                      <a:xfrm>
                        <a:off x="3690938" y="3587750"/>
                        <a:ext cx="2336800"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lgn="just">
                  <a:lnSpc>
                    <a:spcPct val="173000"/>
                  </a:lnSpc>
                  <a:spcBef>
                    <a:spcPts val="1300"/>
                  </a:spcBef>
                  <a:spcAft>
                    <a:spcPts val="1300"/>
                  </a:spcAft>
                  <a:buNone/>
                </a:pPr>
                <a:r>
                  <a:rPr lang="zh-CN" altLang="zh-CN" sz="1200" kern="100" dirty="0" smtClean="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要求不超过第一目标值、恰好完成第二目标值，目标函数是</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下列正确的目标规划的目标函数是</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max</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max</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目标函数</a:t>
                </a:r>
                <a14:m>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3</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e>
                    </m:func>
                  </m:oMath>
                </a14:m>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的含义是</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首先第一和第二目标同时不低于目标值，然后第三目标不低于目标值</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第二和第三目标同时不超过目标值</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第一和第二目标恰好达到目标值，第三目标不超过目标值</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首先第一和第二目标同时不超过目标值，然后第三目标不超过目标值</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3EBD2E7D-C37C-4795-8898-D5E1C36CF231}" type="slidenum">
              <a:rPr kumimoji="0" lang="zh-CN" altLang="en-US" sz="1400" b="1" i="0" u="none" strike="noStrike" kern="1200" cap="none" spc="0" normalizeH="0" baseline="0" noProof="1" smtClean="0">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12</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62499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lgn="just">
                  <a:lnSpc>
                    <a:spcPct val="173000"/>
                  </a:lnSpc>
                  <a:spcBef>
                    <a:spcPts val="1300"/>
                  </a:spcBef>
                  <a:spcAft>
                    <a:spcPts val="1300"/>
                  </a:spcAft>
                  <a:buNone/>
                </a:pPr>
                <a:r>
                  <a:rPr lang="zh-CN" altLang="zh-CN" sz="1200" kern="100" dirty="0" smtClean="0">
                    <a:solidFill>
                      <a:schemeClr val="tx1"/>
                    </a:solidFill>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14:m>
                  <m:oMathPara xmlns:m="http://schemas.openxmlformats.org/officeDocument/2006/math">
                    <m:oMathParaPr>
                      <m:jc m:val="left"/>
                    </m:oMathParaPr>
                    <m:oMath xmlns:m="http://schemas.openxmlformats.org/officeDocument/2006/math">
                      <m:func>
                        <m:func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200"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min</m:t>
                          </m:r>
                        </m:fName>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3</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3</m:t>
                              </m:r>
                            </m:sub>
                          </m:sSub>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e>
                      </m:func>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26670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目标规划</a:t>
                </a:r>
                <a14:m>
                  <m:oMath xmlns:m="http://schemas.openxmlformats.org/officeDocument/2006/math">
                    <m:d>
                      <m:dPr>
                        <m:begChr m:val="{"/>
                        <m:endChr m:val=""/>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=40             </m:t>
                              </m:r>
                            </m:e>
                          </m:mr>
                          <m:mr>
                            <m:e>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=60             </m:t>
                              </m:r>
                            </m:e>
                          </m:mr>
                          <m:mr>
                            <m:e>
                              <m:m>
                                <m:mPr>
                                  <m:mcs>
                                    <m:mc>
                                      <m:mcPr>
                                        <m:count m:val="1"/>
                                        <m:mcJc m:val="center"/>
                                      </m:mcPr>
                                    </m:mc>
                                  </m:mcs>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3</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3</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=50                       </m:t>
                                    </m:r>
                                  </m:e>
                                </m:mr>
                                <m:mr>
                                  <m:e>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4</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=20                        </m:t>
                                    </m:r>
                                  </m:e>
                                </m:mr>
                                <m:mr>
                                  <m:e>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𝑖</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SubSup>
                                      <m:sSub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𝑖</m:t>
                                        </m:r>
                                      </m:sub>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≥0   (</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=1,⋯,4)</m:t>
                                    </m:r>
                                  </m:e>
                                </m:mr>
                              </m:m>
                            </m:e>
                          </m:mr>
                        </m:m>
                      </m:e>
                    </m:d>
                  </m:oMath>
                </a14:m>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的满意解是（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(50</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20</a:t>
                </a:r>
                <a:r>
                  <a:rPr lang="en-US" altLang="zh-CN" sz="1200" kern="100" dirty="0" smtClean="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40</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0</a:t>
                </a:r>
                <a:r>
                  <a:rPr lang="en-US" altLang="zh-CN" sz="1200" kern="100" dirty="0" smtClean="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60</a:t>
                </a:r>
                <a:r>
                  <a:rPr lang="en-US" altLang="zh-CN" sz="1200" kern="100" dirty="0" smtClean="0">
                    <a:solidFill>
                      <a:schemeClr val="tx1"/>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50</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10)</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下列线性规划与目标规划之间错误的关系是</a:t>
                </a: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线性规划的目标函数由决策变量构成，目标规划的目标函数由偏差变量构成</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线性规划模型不包含目标约束，目标规划模型不包含系统约束</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线性规划求最优解，，目标规划求满意解</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线性规划求最大值或最小值，目标规划只求最小值</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solidFill>
                      <a:schemeClr val="tx1"/>
                    </a:solidFill>
                    <a:latin typeface="宋体" panose="02010600030101010101" pitchFamily="2" charset="-122"/>
                    <a:ea typeface="等线" panose="02010600030101010101" pitchFamily="2" charset="-122"/>
                    <a:cs typeface="Times New Roman" panose="02020603050405020304" pitchFamily="18" charset="0"/>
                  </a:rPr>
                  <a:t>如果要使</a:t>
                </a:r>
                <a:r>
                  <a:rPr lang="zh-CN" altLang="zh-CN" sz="1200" kern="100" dirty="0">
                    <a:solidFill>
                      <a:schemeClr val="tx1"/>
                    </a:solidFill>
                    <a:latin typeface="等线" panose="02010600030101010101" pitchFamily="2" charset="-122"/>
                    <a:ea typeface="等线" panose="02010600030101010101" pitchFamily="2" charset="-122"/>
                    <a:cs typeface="Times New Roman" panose="02020603050405020304" pitchFamily="18" charset="0"/>
                  </a:rPr>
                  <a:t>目标规划</a:t>
                </a:r>
                <a:r>
                  <a:rPr lang="zh-CN" altLang="zh-CN" sz="1200" kern="100" dirty="0">
                    <a:solidFill>
                      <a:schemeClr val="tx1"/>
                    </a:solidFill>
                    <a:latin typeface="宋体" panose="02010600030101010101" pitchFamily="2" charset="-122"/>
                    <a:ea typeface="等线" panose="02010600030101010101" pitchFamily="2" charset="-122"/>
                    <a:cs typeface="Times New Roman" panose="02020603050405020304" pitchFamily="18" charset="0"/>
                  </a:rPr>
                  <a:t>实际实现值不超过目标值。则相应的偏离变量应满足</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&gt;0</m:t>
                      </m:r>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=0</m:t>
                      </m:r>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=0</m:t>
                      </m:r>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14:m>
                  <m:oMathPara xmlns:m="http://schemas.openxmlformats.org/officeDocument/2006/math">
                    <m:oMathParaPr>
                      <m:jc m:val="centerGroup"/>
                    </m:oMathParaPr>
                    <m:oMath xmlns:m="http://schemas.openxmlformats.org/officeDocument/2006/math">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lang="zh-CN" altLang="zh-CN" sz="1200" i="1" kern="10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&gt;0</m:t>
                          </m:r>
                          <m:r>
                            <a:rPr lang="zh-CN"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i="1" kern="100">
                          <a:solidFill>
                            <a:schemeClr val="tx1"/>
                          </a:solidFill>
                          <a:latin typeface="Cambria Math" panose="02040503050406030204" pitchFamily="18" charset="0"/>
                          <a:ea typeface="等线" panose="02010600030101010101" pitchFamily="2" charset="-122"/>
                          <a:cs typeface="Times New Roman" panose="02020603050405020304" pitchFamily="18" charset="0"/>
                        </a:rPr>
                        <m:t>&gt;0</m:t>
                      </m:r>
                    </m:oMath>
                  </m:oMathPara>
                </a14:m>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pPr indent="0" algn="just">
                  <a:spcAft>
                    <a:spcPts val="0"/>
                  </a:spcAft>
                  <a:buNone/>
                </a:pPr>
                <a:r>
                  <a:rPr lang="en-US" altLang="zh-CN" sz="1200" kern="100" dirty="0">
                    <a:solidFill>
                      <a:schemeClr val="tx1"/>
                    </a:solidFill>
                    <a:latin typeface="宋体" panose="02010600030101010101" pitchFamily="2" charset="-122"/>
                    <a:ea typeface="等线" panose="02010600030101010101" pitchFamily="2" charset="-122"/>
                    <a:cs typeface="Times New Roman" panose="02020603050405020304" pitchFamily="18" charset="0"/>
                  </a:rPr>
                  <a:t> </a:t>
                </a:r>
                <a:endParaRPr lang="zh-CN" altLang="zh-CN" sz="12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b="-14222"/>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fld id="{3EBD2E7D-C37C-4795-8898-D5E1C36CF231}" type="slidenum">
              <a:rPr kumimoji="0" lang="zh-CN" altLang="en-US" sz="1400" b="1" i="0" u="none" strike="noStrike" kern="1200" cap="none" spc="0" normalizeH="0" baseline="0" noProof="1" smtClean="0">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20000"/>
                </a:spcBef>
                <a:spcAft>
                  <a:spcPct val="0"/>
                </a:spcAft>
                <a:buClr>
                  <a:srgbClr val="FFFFFF"/>
                </a:buClr>
                <a:buSzPct val="100000"/>
                <a:buFont typeface="Arial" panose="020B0604020202020204" pitchFamily="34" charset="0"/>
                <a:buNone/>
                <a:tabLst/>
                <a:defRPr/>
              </a:pPr>
              <a:t>13</a:t>
            </a:fld>
            <a:endParaRPr kumimoji="0" lang="zh-CN" altLang="en-US" sz="1400" b="1" i="0" u="none" strike="noStrike" kern="1200" cap="none" spc="0" normalizeH="0" baseline="0" noProof="1">
              <a:ln>
                <a:noFill/>
              </a:ln>
              <a:solidFill>
                <a:srgbClr val="FF3300"/>
              </a:solidFill>
              <a:effectLst/>
              <a:uLnTx/>
              <a:uFillTx/>
              <a:latin typeface="Arial" panose="020B060402020202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72319117"/>
      </p:ext>
    </p:extLst>
  </p:cSld>
  <p:clrMapOvr>
    <a:masterClrMapping/>
  </p:clrMapOvr>
</p:sld>
</file>

<file path=ppt/theme/theme1.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9606</TotalTime>
  <Words>1764</Words>
  <Application>Microsoft Office PowerPoint</Application>
  <PresentationFormat>全屏显示(4:3)</PresentationFormat>
  <Paragraphs>182</Paragraphs>
  <Slides>13</Slides>
  <Notes>4</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13</vt:i4>
      </vt:variant>
    </vt:vector>
  </HeadingPairs>
  <TitlesOfParts>
    <vt:vector size="25" baseType="lpstr">
      <vt:lpstr>等线</vt:lpstr>
      <vt:lpstr>等线 Light</vt:lpstr>
      <vt:lpstr>黑体</vt:lpstr>
      <vt:lpstr>楷体_GB2312</vt:lpstr>
      <vt:lpstr>宋体</vt:lpstr>
      <vt:lpstr>Arial</vt:lpstr>
      <vt:lpstr>Cambria Math</vt:lpstr>
      <vt:lpstr>Times New Roman</vt:lpstr>
      <vt:lpstr>Wingdings</vt:lpstr>
      <vt:lpstr>1_默认设计模板</vt:lpstr>
      <vt:lpstr>Equation</vt:lpstr>
      <vt:lpstr>Equation.3</vt:lpstr>
      <vt:lpstr>5.1 目标规划的数学模型</vt:lpstr>
      <vt:lpstr>5.1 目标规划的数学模型</vt:lpstr>
      <vt:lpstr>5.1 目标规划的数学模型</vt:lpstr>
      <vt:lpstr>5.1 目标规划的数学模型</vt:lpstr>
      <vt:lpstr>5.1 目标规划的数学模型</vt:lpstr>
      <vt:lpstr>5.1 目标规划的数学模型</vt:lpstr>
      <vt:lpstr>5.1 目标规划的数学模型</vt:lpstr>
      <vt:lpstr>5.2 解目标规划的图解法</vt:lpstr>
      <vt:lpstr>5.2 解目标规划的图解法</vt:lpstr>
      <vt:lpstr>5.2 解目标规划的图解法</vt:lpstr>
      <vt:lpstr>5.3 解目标规划的单纯形法</vt:lpstr>
      <vt:lpstr>本章练习题</vt:lpstr>
      <vt:lpstr>本章练习题</vt:lpstr>
    </vt:vector>
  </TitlesOfParts>
  <Company>Tsinghua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zoeyleo</dc:creator>
  <cp:lastModifiedBy>zhang</cp:lastModifiedBy>
  <cp:revision>449</cp:revision>
  <cp:lastPrinted>2024-04-22T00:53:25Z</cp:lastPrinted>
  <dcterms:created xsi:type="dcterms:W3CDTF">2006-05-22T13:27:53Z</dcterms:created>
  <dcterms:modified xsi:type="dcterms:W3CDTF">2025-06-12T10:08:53Z</dcterms:modified>
</cp:coreProperties>
</file>